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Lato" panose="020F0502020204030203" pitchFamily="34" charset="0"/>
      <p:regular r:id="rId15"/>
      <p:bold r:id="rId16"/>
      <p:italic r:id="rId17"/>
      <p:boldItalic r:id="rId18"/>
    </p:embeddedFont>
    <p:embeddedFont>
      <p:font typeface="Poppins" pitchFamily="2" charset="77"/>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7978D3-F39F-4772-BD46-F5F44E156AD5}">
  <a:tblStyle styleId="{107978D3-F39F-4772-BD46-F5F44E156AD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p:cViewPr varScale="1">
        <p:scale>
          <a:sx n="120" d="100"/>
          <a:sy n="120" d="100"/>
        </p:scale>
        <p:origin x="800"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86" name="Google Shape;86;p13"/>
          <p:cNvSpPr txBox="1"/>
          <p:nvPr/>
        </p:nvSpPr>
        <p:spPr>
          <a:xfrm>
            <a:off x="571500" y="2708969"/>
            <a:ext cx="8991123" cy="693390"/>
          </a:xfrm>
          <a:prstGeom prst="rect">
            <a:avLst/>
          </a:prstGeom>
          <a:noFill/>
          <a:ln>
            <a:noFill/>
          </a:ln>
        </p:spPr>
        <p:txBody>
          <a:bodyPr spcFirstLastPara="1" wrap="square" lIns="0" tIns="0" rIns="0" bIns="0" anchor="t" anchorCtr="0">
            <a:spAutoFit/>
          </a:bodyPr>
          <a:lstStyle/>
          <a:p>
            <a:pPr marL="0" marR="0" lvl="0" indent="0" algn="l" rtl="0">
              <a:lnSpc>
                <a:spcPct val="129976"/>
              </a:lnSpc>
              <a:spcBef>
                <a:spcPts val="0"/>
              </a:spcBef>
              <a:spcAft>
                <a:spcPts val="0"/>
              </a:spcAft>
              <a:buNone/>
            </a:pPr>
            <a:r>
              <a:rPr lang="en-US" sz="4200" b="1" i="0" u="none" strike="noStrike" cap="none">
                <a:solidFill>
                  <a:srgbClr val="0A2540"/>
                </a:solidFill>
                <a:latin typeface="Poppins"/>
                <a:ea typeface="Poppins"/>
                <a:cs typeface="Poppins"/>
                <a:sym typeface="Poppins"/>
              </a:rPr>
              <a:t>Building Intelligent Flutter Apps</a:t>
            </a:r>
            <a:endParaRPr/>
          </a:p>
        </p:txBody>
      </p:sp>
      <p:sp>
        <p:nvSpPr>
          <p:cNvPr id="87" name="Google Shape;87;p13"/>
          <p:cNvSpPr txBox="1"/>
          <p:nvPr/>
        </p:nvSpPr>
        <p:spPr>
          <a:xfrm>
            <a:off x="571500" y="3592859"/>
            <a:ext cx="750570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5568"/>
                </a:solidFill>
                <a:latin typeface="Lato"/>
                <a:ea typeface="Lato"/>
                <a:cs typeface="Lato"/>
                <a:sym typeface="Lato"/>
              </a:rPr>
              <a:t>From On-Device ML (ML Kit) to Cloud-Native Agents (Firebase AI &amp; Genkit)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2362200"/>
            <a:ext cx="5286375" cy="3086100"/>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6334125" y="2362200"/>
            <a:ext cx="5286375" cy="3086100"/>
          </a:xfrm>
          <a:prstGeom prst="rect">
            <a:avLst/>
          </a:prstGeom>
          <a:noFill/>
          <a:ln>
            <a:noFill/>
          </a:ln>
        </p:spPr>
      </p:pic>
      <p:sp>
        <p:nvSpPr>
          <p:cNvPr id="95" name="Google Shape;95;p14"/>
          <p:cNvSpPr txBox="1"/>
          <p:nvPr/>
        </p:nvSpPr>
        <p:spPr>
          <a:xfrm>
            <a:off x="962025" y="2752725"/>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7DFD"/>
                </a:solidFill>
                <a:latin typeface="Poppins"/>
                <a:ea typeface="Poppins"/>
                <a:cs typeface="Poppins"/>
                <a:sym typeface="Poppins"/>
              </a:rPr>
              <a:t>The Paradigm Shift</a:t>
            </a:r>
            <a:endParaRPr/>
          </a:p>
        </p:txBody>
      </p:sp>
      <p:sp>
        <p:nvSpPr>
          <p:cNvPr id="96" name="Google Shape;96;p14"/>
          <p:cNvSpPr txBox="1"/>
          <p:nvPr/>
        </p:nvSpPr>
        <p:spPr>
          <a:xfrm>
            <a:off x="962025" y="3343275"/>
            <a:ext cx="450532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The "mobile-first" approach is no longer the benchmark. Users now expect applications that are predictive, responsive, and intuitive. The global AI market is projected to surpass $826 billion by 2030.</a:t>
            </a:r>
            <a:endParaRPr/>
          </a:p>
        </p:txBody>
      </p:sp>
      <p:sp>
        <p:nvSpPr>
          <p:cNvPr id="97" name="Google Shape;97;p14"/>
          <p:cNvSpPr txBox="1"/>
          <p:nvPr/>
        </p:nvSpPr>
        <p:spPr>
          <a:xfrm>
            <a:off x="6724650" y="2752725"/>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7DFD"/>
                </a:solidFill>
                <a:latin typeface="Poppins"/>
                <a:ea typeface="Poppins"/>
                <a:cs typeface="Poppins"/>
                <a:sym typeface="Poppins"/>
              </a:rPr>
              <a:t>What is "Flutter AI"?</a:t>
            </a:r>
            <a:endParaRPr/>
          </a:p>
        </p:txBody>
      </p:sp>
      <p:sp>
        <p:nvSpPr>
          <p:cNvPr id="98" name="Google Shape;98;p14"/>
          <p:cNvSpPr txBox="1"/>
          <p:nvPr/>
        </p:nvSpPr>
        <p:spPr>
          <a:xfrm>
            <a:off x="6724650" y="3343275"/>
            <a:ext cx="450532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It's an architectural philosophy: the fusion of Flutter's unparalleled UI capabilities with the power of ML, NLP, and intelligent automation. The goal is to build apps where AI is the core, and Flutter delivers that intelligence to any screen.</a:t>
            </a:r>
            <a:endParaRPr/>
          </a:p>
        </p:txBody>
      </p:sp>
      <p:sp>
        <p:nvSpPr>
          <p:cNvPr id="99" name="Google Shape;99;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The New Mandate: "AI-First"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03"/>
        <p:cNvGrpSpPr/>
        <p:nvPr/>
      </p:nvGrpSpPr>
      <p:grpSpPr>
        <a:xfrm>
          <a:off x="0" y="0"/>
          <a:ext cx="0" cy="0"/>
          <a:chOff x="0" y="0"/>
          <a:chExt cx="0" cy="0"/>
        </a:xfrm>
      </p:grpSpPr>
      <p:pic>
        <p:nvPicPr>
          <p:cNvPr id="104" name="Google Shape;104;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5" name="Google Shape;105;p15" descr="image.png"/>
          <p:cNvPicPr preferRelativeResize="0"/>
          <p:nvPr/>
        </p:nvPicPr>
        <p:blipFill rotWithShape="1">
          <a:blip r:embed="rId4">
            <a:alphaModFix/>
          </a:blip>
          <a:srcRect/>
          <a:stretch/>
        </p:blipFill>
        <p:spPr>
          <a:xfrm>
            <a:off x="571500" y="2381250"/>
            <a:ext cx="3492549" cy="3048000"/>
          </a:xfrm>
          <a:prstGeom prst="rect">
            <a:avLst/>
          </a:prstGeom>
          <a:noFill/>
          <a:ln>
            <a:noFill/>
          </a:ln>
        </p:spPr>
      </p:pic>
      <p:pic>
        <p:nvPicPr>
          <p:cNvPr id="106" name="Google Shape;106;p15" descr="image.png"/>
          <p:cNvPicPr preferRelativeResize="0"/>
          <p:nvPr/>
        </p:nvPicPr>
        <p:blipFill rotWithShape="1">
          <a:blip r:embed="rId5">
            <a:alphaModFix/>
          </a:blip>
          <a:srcRect/>
          <a:stretch/>
        </p:blipFill>
        <p:spPr>
          <a:xfrm>
            <a:off x="4349799" y="2381250"/>
            <a:ext cx="3492549" cy="3048000"/>
          </a:xfrm>
          <a:prstGeom prst="rect">
            <a:avLst/>
          </a:prstGeom>
          <a:noFill/>
          <a:ln>
            <a:noFill/>
          </a:ln>
        </p:spPr>
      </p:pic>
      <p:pic>
        <p:nvPicPr>
          <p:cNvPr id="107" name="Google Shape;107;p15" descr="image.png"/>
          <p:cNvPicPr preferRelativeResize="0"/>
          <p:nvPr/>
        </p:nvPicPr>
        <p:blipFill rotWithShape="1">
          <a:blip r:embed="rId6">
            <a:alphaModFix/>
          </a:blip>
          <a:srcRect/>
          <a:stretch/>
        </p:blipFill>
        <p:spPr>
          <a:xfrm>
            <a:off x="8128099" y="2381250"/>
            <a:ext cx="3492549" cy="3048000"/>
          </a:xfrm>
          <a:prstGeom prst="rect">
            <a:avLst/>
          </a:prstGeom>
          <a:noFill/>
          <a:ln>
            <a:noFill/>
          </a:ln>
        </p:spPr>
      </p:pic>
      <p:pic>
        <p:nvPicPr>
          <p:cNvPr id="108" name="Google Shape;108;p15" descr="image.png"/>
          <p:cNvPicPr preferRelativeResize="0"/>
          <p:nvPr/>
        </p:nvPicPr>
        <p:blipFill rotWithShape="1">
          <a:blip r:embed="rId7">
            <a:alphaModFix/>
          </a:blip>
          <a:srcRect/>
          <a:stretch/>
        </p:blipFill>
        <p:spPr>
          <a:xfrm>
            <a:off x="2031950" y="2676525"/>
            <a:ext cx="571500" cy="571500"/>
          </a:xfrm>
          <a:prstGeom prst="rect">
            <a:avLst/>
          </a:prstGeom>
          <a:noFill/>
          <a:ln>
            <a:noFill/>
          </a:ln>
        </p:spPr>
      </p:pic>
      <p:sp>
        <p:nvSpPr>
          <p:cNvPr id="109" name="Google Shape;109;p15"/>
          <p:cNvSpPr txBox="1"/>
          <p:nvPr/>
        </p:nvSpPr>
        <p:spPr>
          <a:xfrm>
            <a:off x="1397585" y="3438525"/>
            <a:ext cx="184023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A202C"/>
                </a:solidFill>
                <a:latin typeface="Poppins"/>
                <a:ea typeface="Poppins"/>
                <a:cs typeface="Poppins"/>
                <a:sym typeface="Poppins"/>
              </a:rPr>
              <a:t>1. On-Device AI</a:t>
            </a:r>
            <a:endParaRPr/>
          </a:p>
        </p:txBody>
      </p:sp>
      <p:sp>
        <p:nvSpPr>
          <p:cNvPr id="110" name="Google Shape;110;p15"/>
          <p:cNvSpPr txBox="1"/>
          <p:nvPr/>
        </p:nvSpPr>
        <p:spPr>
          <a:xfrm>
            <a:off x="866775" y="4067175"/>
            <a:ext cx="290199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4A5568"/>
                </a:solidFill>
                <a:latin typeface="Lato"/>
                <a:ea typeface="Lato"/>
                <a:cs typeface="Lato"/>
                <a:sym typeface="Lato"/>
              </a:rPr>
              <a:t>The ML model runs entirely on the user's device. Characterized by high speed, strong data privacy, and offline functionality. (e.g., Google ML Kit)</a:t>
            </a:r>
            <a:endParaRPr/>
          </a:p>
        </p:txBody>
      </p:sp>
      <p:pic>
        <p:nvPicPr>
          <p:cNvPr id="111" name="Google Shape;111;p15" descr="image.png"/>
          <p:cNvPicPr preferRelativeResize="0"/>
          <p:nvPr/>
        </p:nvPicPr>
        <p:blipFill rotWithShape="1">
          <a:blip r:embed="rId7">
            <a:alphaModFix/>
          </a:blip>
          <a:srcRect/>
          <a:stretch/>
        </p:blipFill>
        <p:spPr>
          <a:xfrm>
            <a:off x="5810250" y="2676525"/>
            <a:ext cx="571500" cy="571500"/>
          </a:xfrm>
          <a:prstGeom prst="rect">
            <a:avLst/>
          </a:prstGeom>
          <a:noFill/>
          <a:ln>
            <a:noFill/>
          </a:ln>
        </p:spPr>
      </p:pic>
      <p:sp>
        <p:nvSpPr>
          <p:cNvPr id="112" name="Google Shape;112;p15"/>
          <p:cNvSpPr txBox="1"/>
          <p:nvPr/>
        </p:nvSpPr>
        <p:spPr>
          <a:xfrm>
            <a:off x="5445918" y="3438525"/>
            <a:ext cx="1300162"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A202C"/>
                </a:solidFill>
                <a:latin typeface="Poppins"/>
                <a:ea typeface="Poppins"/>
                <a:cs typeface="Poppins"/>
                <a:sym typeface="Poppins"/>
              </a:rPr>
              <a:t>2. Cloud AI</a:t>
            </a:r>
            <a:endParaRPr/>
          </a:p>
        </p:txBody>
      </p:sp>
      <p:sp>
        <p:nvSpPr>
          <p:cNvPr id="113" name="Google Shape;113;p15"/>
          <p:cNvSpPr txBox="1"/>
          <p:nvPr/>
        </p:nvSpPr>
        <p:spPr>
          <a:xfrm>
            <a:off x="4645074" y="4067175"/>
            <a:ext cx="290199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4A5568"/>
                </a:solidFill>
                <a:latin typeface="Lato"/>
                <a:ea typeface="Lato"/>
                <a:cs typeface="Lato"/>
                <a:sym typeface="Lato"/>
              </a:rPr>
              <a:t>The model resides on a server. Provides access to near-unlimited computational power for massive, complex models. (e.g., Firebase AI Logic)</a:t>
            </a:r>
            <a:endParaRPr/>
          </a:p>
        </p:txBody>
      </p:sp>
      <p:pic>
        <p:nvPicPr>
          <p:cNvPr id="114" name="Google Shape;114;p15" descr="image.png"/>
          <p:cNvPicPr preferRelativeResize="0"/>
          <p:nvPr/>
        </p:nvPicPr>
        <p:blipFill rotWithShape="1">
          <a:blip r:embed="rId7">
            <a:alphaModFix/>
          </a:blip>
          <a:srcRect/>
          <a:stretch/>
        </p:blipFill>
        <p:spPr>
          <a:xfrm>
            <a:off x="9588549" y="2676525"/>
            <a:ext cx="571500" cy="571500"/>
          </a:xfrm>
          <a:prstGeom prst="rect">
            <a:avLst/>
          </a:prstGeom>
          <a:noFill/>
          <a:ln>
            <a:noFill/>
          </a:ln>
        </p:spPr>
      </p:pic>
      <p:sp>
        <p:nvSpPr>
          <p:cNvPr id="115" name="Google Shape;115;p15"/>
          <p:cNvSpPr txBox="1"/>
          <p:nvPr/>
        </p:nvSpPr>
        <p:spPr>
          <a:xfrm>
            <a:off x="9184213" y="3438525"/>
            <a:ext cx="1380172"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A202C"/>
                </a:solidFill>
                <a:latin typeface="Poppins"/>
                <a:ea typeface="Poppins"/>
                <a:cs typeface="Poppins"/>
                <a:sym typeface="Poppins"/>
              </a:rPr>
              <a:t>3. Hybrid AI</a:t>
            </a:r>
            <a:endParaRPr/>
          </a:p>
        </p:txBody>
      </p:sp>
      <p:sp>
        <p:nvSpPr>
          <p:cNvPr id="116" name="Google Shape;116;p15"/>
          <p:cNvSpPr txBox="1"/>
          <p:nvPr/>
        </p:nvSpPr>
        <p:spPr>
          <a:xfrm>
            <a:off x="8423374" y="4067175"/>
            <a:ext cx="290199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4A5568"/>
                </a:solidFill>
                <a:latin typeface="Lato"/>
                <a:ea typeface="Lato"/>
                <a:cs typeface="Lato"/>
                <a:sym typeface="Lato"/>
              </a:rPr>
              <a:t>A sophisticated architecture that balances both. A lightweight on-device model can trigger a more powerful cloud-based API for heavy lifting.</a:t>
            </a:r>
            <a:endParaRPr/>
          </a:p>
        </p:txBody>
      </p:sp>
      <p:pic>
        <p:nvPicPr>
          <p:cNvPr id="117" name="Google Shape;117;p15" descr="image.png"/>
          <p:cNvPicPr preferRelativeResize="0"/>
          <p:nvPr/>
        </p:nvPicPr>
        <p:blipFill rotWithShape="1">
          <a:blip r:embed="rId8">
            <a:alphaModFix/>
          </a:blip>
          <a:srcRect/>
          <a:stretch/>
        </p:blipFill>
        <p:spPr>
          <a:xfrm>
            <a:off x="2174825" y="2771775"/>
            <a:ext cx="285750" cy="381000"/>
          </a:xfrm>
          <a:prstGeom prst="rect">
            <a:avLst/>
          </a:prstGeom>
          <a:noFill/>
          <a:ln>
            <a:noFill/>
          </a:ln>
        </p:spPr>
      </p:pic>
      <p:pic>
        <p:nvPicPr>
          <p:cNvPr id="118" name="Google Shape;118;p15" descr="image.png"/>
          <p:cNvPicPr preferRelativeResize="0"/>
          <p:nvPr/>
        </p:nvPicPr>
        <p:blipFill rotWithShape="1">
          <a:blip r:embed="rId9">
            <a:alphaModFix/>
          </a:blip>
          <a:srcRect/>
          <a:stretch/>
        </p:blipFill>
        <p:spPr>
          <a:xfrm>
            <a:off x="5857875" y="2771775"/>
            <a:ext cx="476250" cy="381000"/>
          </a:xfrm>
          <a:prstGeom prst="rect">
            <a:avLst/>
          </a:prstGeom>
          <a:noFill/>
          <a:ln>
            <a:noFill/>
          </a:ln>
        </p:spPr>
      </p:pic>
      <p:pic>
        <p:nvPicPr>
          <p:cNvPr id="119" name="Google Shape;119;p15" descr="image.png"/>
          <p:cNvPicPr preferRelativeResize="0"/>
          <p:nvPr/>
        </p:nvPicPr>
        <p:blipFill rotWithShape="1">
          <a:blip r:embed="rId10">
            <a:alphaModFix/>
          </a:blip>
          <a:srcRect/>
          <a:stretch/>
        </p:blipFill>
        <p:spPr>
          <a:xfrm>
            <a:off x="9683799" y="2771775"/>
            <a:ext cx="381000" cy="381000"/>
          </a:xfrm>
          <a:prstGeom prst="rect">
            <a:avLst/>
          </a:prstGeom>
          <a:noFill/>
          <a:ln>
            <a:noFill/>
          </a:ln>
        </p:spPr>
      </p:pic>
      <p:sp>
        <p:nvSpPr>
          <p:cNvPr id="120" name="Google Shape;120;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The Core Architectural Decision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6" name="Google Shape;126;p16"/>
          <p:cNvSpPr txBox="1"/>
          <p:nvPr/>
        </p:nvSpPr>
        <p:spPr>
          <a:xfrm>
            <a:off x="1809750" y="2352675"/>
            <a:ext cx="8572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On-device AI, or "edge inference," performs all processing locally. No data is sent to a remote server. This provides three powerful advantages:</a:t>
            </a:r>
            <a:endParaRPr/>
          </a:p>
        </p:txBody>
      </p:sp>
      <p:pic>
        <p:nvPicPr>
          <p:cNvPr id="127" name="Google Shape;127;p16" descr="image.png"/>
          <p:cNvPicPr preferRelativeResize="0"/>
          <p:nvPr/>
        </p:nvPicPr>
        <p:blipFill rotWithShape="1">
          <a:blip r:embed="rId4">
            <a:alphaModFix/>
          </a:blip>
          <a:srcRect/>
          <a:stretch/>
        </p:blipFill>
        <p:spPr>
          <a:xfrm>
            <a:off x="1809750" y="3295650"/>
            <a:ext cx="285750" cy="228600"/>
          </a:xfrm>
          <a:prstGeom prst="rect">
            <a:avLst/>
          </a:prstGeom>
          <a:noFill/>
          <a:ln>
            <a:noFill/>
          </a:ln>
        </p:spPr>
      </p:pic>
      <p:sp>
        <p:nvSpPr>
          <p:cNvPr id="128" name="Google Shape;128;p16"/>
          <p:cNvSpPr txBox="1"/>
          <p:nvPr/>
        </p:nvSpPr>
        <p:spPr>
          <a:xfrm>
            <a:off x="2238375" y="3248025"/>
            <a:ext cx="8143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Lato"/>
                <a:ea typeface="Lato"/>
                <a:cs typeface="Lato"/>
                <a:sym typeface="Lato"/>
              </a:rPr>
              <a:t>Speed:</a:t>
            </a:r>
            <a:r>
              <a:rPr lang="en-US" sz="1500" b="0" i="0" u="none" strike="noStrike" cap="none">
                <a:solidFill>
                  <a:srgbClr val="4A5568"/>
                </a:solidFill>
                <a:latin typeface="Lato"/>
                <a:ea typeface="Lato"/>
                <a:cs typeface="Lato"/>
                <a:sym typeface="Lato"/>
              </a:rPr>
              <a:t> Processing happens locally, eliminating network latency. This is essential for real-time use cases like processing a live camera feed.</a:t>
            </a:r>
            <a:endParaRPr/>
          </a:p>
        </p:txBody>
      </p:sp>
      <p:pic>
        <p:nvPicPr>
          <p:cNvPr id="129" name="Google Shape;129;p16" descr="image.png"/>
          <p:cNvPicPr preferRelativeResize="0"/>
          <p:nvPr/>
        </p:nvPicPr>
        <p:blipFill rotWithShape="1">
          <a:blip r:embed="rId5">
            <a:alphaModFix/>
          </a:blip>
          <a:srcRect/>
          <a:stretch/>
        </p:blipFill>
        <p:spPr>
          <a:xfrm>
            <a:off x="1809750" y="4095750"/>
            <a:ext cx="285750" cy="228600"/>
          </a:xfrm>
          <a:prstGeom prst="rect">
            <a:avLst/>
          </a:prstGeom>
          <a:noFill/>
          <a:ln>
            <a:noFill/>
          </a:ln>
        </p:spPr>
      </p:pic>
      <p:sp>
        <p:nvSpPr>
          <p:cNvPr id="130" name="Google Shape;130;p16"/>
          <p:cNvSpPr txBox="1"/>
          <p:nvPr/>
        </p:nvSpPr>
        <p:spPr>
          <a:xfrm>
            <a:off x="2238375" y="4048125"/>
            <a:ext cx="8143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Lato"/>
                <a:ea typeface="Lato"/>
                <a:cs typeface="Lato"/>
                <a:sym typeface="Lato"/>
              </a:rPr>
              <a:t>Privacy:</a:t>
            </a:r>
            <a:r>
              <a:rPr lang="en-US" sz="1500" b="0" i="0" u="none" strike="noStrike" cap="none">
                <a:solidFill>
                  <a:srgbClr val="4A5568"/>
                </a:solidFill>
                <a:latin typeface="Lato"/>
                <a:ea typeface="Lato"/>
                <a:cs typeface="Lato"/>
                <a:sym typeface="Lato"/>
              </a:rPr>
              <a:t> The greatest strength. Sensitive user data (images, messages) never leaves the device, simplifying data privacy compliance.</a:t>
            </a:r>
            <a:endParaRPr/>
          </a:p>
        </p:txBody>
      </p:sp>
      <p:sp>
        <p:nvSpPr>
          <p:cNvPr id="131" name="Google Shape;131;p16"/>
          <p:cNvSpPr txBox="1"/>
          <p:nvPr/>
        </p:nvSpPr>
        <p:spPr>
          <a:xfrm>
            <a:off x="2238375" y="4848225"/>
            <a:ext cx="8143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Lato"/>
                <a:ea typeface="Lato"/>
                <a:cs typeface="Lato"/>
                <a:sym typeface="Lato"/>
              </a:rPr>
              <a:t>Offline Functionality:</a:t>
            </a:r>
            <a:r>
              <a:rPr lang="en-US" sz="1500" b="0" i="0" u="none" strike="noStrike" cap="none">
                <a:solidFill>
                  <a:srgbClr val="4A5568"/>
                </a:solidFill>
                <a:latin typeface="Lato"/>
                <a:ea typeface="Lato"/>
                <a:cs typeface="Lato"/>
                <a:sym typeface="Lato"/>
              </a:rPr>
              <a:t> Core features work without an internet connection, a critical requirement for apps in low-connectivity areas.</a:t>
            </a:r>
            <a:endParaRPr/>
          </a:p>
        </p:txBody>
      </p:sp>
      <p:sp>
        <p:nvSpPr>
          <p:cNvPr id="132" name="Google Shape;132;p1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On-Device Intelligence: Google ML Kit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36"/>
        <p:cNvGrpSpPr/>
        <p:nvPr/>
      </p:nvGrpSpPr>
      <p:grpSpPr>
        <a:xfrm>
          <a:off x="0" y="0"/>
          <a:ext cx="0" cy="0"/>
          <a:chOff x="0" y="0"/>
          <a:chExt cx="0" cy="0"/>
        </a:xfrm>
      </p:grpSpPr>
      <p:pic>
        <p:nvPicPr>
          <p:cNvPr id="137" name="Google Shape;13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8" name="Google Shape;138;p17" descr="image.png"/>
          <p:cNvPicPr preferRelativeResize="0"/>
          <p:nvPr/>
        </p:nvPicPr>
        <p:blipFill rotWithShape="1">
          <a:blip r:embed="rId4">
            <a:alphaModFix/>
          </a:blip>
          <a:srcRect/>
          <a:stretch/>
        </p:blipFill>
        <p:spPr>
          <a:xfrm>
            <a:off x="6334125" y="1943100"/>
            <a:ext cx="5286375" cy="3810000"/>
          </a:xfrm>
          <a:prstGeom prst="rect">
            <a:avLst/>
          </a:prstGeom>
          <a:noFill/>
          <a:ln>
            <a:noFill/>
          </a:ln>
        </p:spPr>
      </p:pic>
      <p:pic>
        <p:nvPicPr>
          <p:cNvPr id="139" name="Google Shape;139;p17" descr="image.png"/>
          <p:cNvPicPr preferRelativeResize="0"/>
          <p:nvPr/>
        </p:nvPicPr>
        <p:blipFill rotWithShape="1">
          <a:blip r:embed="rId5">
            <a:alphaModFix/>
          </a:blip>
          <a:srcRect/>
          <a:stretch/>
        </p:blipFill>
        <p:spPr>
          <a:xfrm>
            <a:off x="6343650" y="1952625"/>
            <a:ext cx="5267325" cy="3790950"/>
          </a:xfrm>
          <a:prstGeom prst="rect">
            <a:avLst/>
          </a:prstGeom>
          <a:noFill/>
          <a:ln>
            <a:noFill/>
          </a:ln>
        </p:spPr>
      </p:pic>
      <p:sp>
        <p:nvSpPr>
          <p:cNvPr id="140" name="Google Shape;140;p17"/>
          <p:cNvSpPr txBox="1"/>
          <p:nvPr/>
        </p:nvSpPr>
        <p:spPr>
          <a:xfrm>
            <a:off x="695325" y="1943100"/>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a:t>
            </a:r>
            <a:endParaRPr/>
          </a:p>
        </p:txBody>
      </p:sp>
      <p:sp>
        <p:nvSpPr>
          <p:cNvPr id="141" name="Google Shape;141;p17"/>
          <p:cNvSpPr txBox="1"/>
          <p:nvPr/>
        </p:nvSpPr>
        <p:spPr>
          <a:xfrm>
            <a:off x="809625" y="1943100"/>
            <a:ext cx="5048250" cy="9144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A5568"/>
                </a:solidFill>
                <a:latin typeface="Lato"/>
                <a:ea typeface="Lato"/>
                <a:cs typeface="Lato"/>
                <a:sym typeface="Lato"/>
              </a:rPr>
              <a:t>Community Maintained:</a:t>
            </a:r>
            <a:r>
              <a:rPr lang="en-US" sz="1500" b="0" i="0" u="none" strike="noStrike" cap="none">
                <a:solidFill>
                  <a:srgbClr val="4A5568"/>
                </a:solidFill>
                <a:latin typeface="Lato"/>
                <a:ea typeface="Lato"/>
                <a:cs typeface="Lato"/>
                <a:sym typeface="Lato"/>
              </a:rPr>
              <a:t> The Flutter plugins (e.g., `google_mlkit_face_detection`) are high-quality, community-driven wrappers, not officially Google-sponsored.</a:t>
            </a:r>
            <a:endParaRPr/>
          </a:p>
        </p:txBody>
      </p:sp>
      <p:sp>
        <p:nvSpPr>
          <p:cNvPr id="142" name="Google Shape;142;p17"/>
          <p:cNvSpPr txBox="1"/>
          <p:nvPr/>
        </p:nvSpPr>
        <p:spPr>
          <a:xfrm>
            <a:off x="695325" y="3000375"/>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a:t>
            </a:r>
            <a:endParaRPr/>
          </a:p>
        </p:txBody>
      </p:sp>
      <p:sp>
        <p:nvSpPr>
          <p:cNvPr id="143" name="Google Shape;143;p17"/>
          <p:cNvSpPr txBox="1"/>
          <p:nvPr/>
        </p:nvSpPr>
        <p:spPr>
          <a:xfrm>
            <a:off x="809625" y="3000375"/>
            <a:ext cx="5048250" cy="9144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A5568"/>
                </a:solidFill>
                <a:latin typeface="Lato"/>
                <a:ea typeface="Lato"/>
                <a:cs typeface="Lato"/>
                <a:sym typeface="Lato"/>
              </a:rPr>
              <a:t>Platform Channels:</a:t>
            </a:r>
            <a:r>
              <a:rPr lang="en-US" sz="1500" b="0" i="0" u="none" strike="noStrike" cap="none">
                <a:solidFill>
                  <a:srgbClr val="4A5568"/>
                </a:solidFill>
                <a:latin typeface="Lato"/>
                <a:ea typeface="Lato"/>
                <a:cs typeface="Lato"/>
                <a:sym typeface="Lato"/>
              </a:rPr>
              <a:t> Plugins use Flutter's Platform Channel mechanism to call native Google ML Kit APIs on iOS and Android.</a:t>
            </a:r>
            <a:endParaRPr/>
          </a:p>
        </p:txBody>
      </p:sp>
      <p:sp>
        <p:nvSpPr>
          <p:cNvPr id="144" name="Google Shape;144;p17"/>
          <p:cNvSpPr txBox="1"/>
          <p:nvPr/>
        </p:nvSpPr>
        <p:spPr>
          <a:xfrm>
            <a:off x="695325" y="4057650"/>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a:t>
            </a:r>
            <a:endParaRPr/>
          </a:p>
        </p:txBody>
      </p:sp>
      <p:sp>
        <p:nvSpPr>
          <p:cNvPr id="145" name="Google Shape;145;p17"/>
          <p:cNvSpPr txBox="1"/>
          <p:nvPr/>
        </p:nvSpPr>
        <p:spPr>
          <a:xfrm>
            <a:off x="809625" y="4057650"/>
            <a:ext cx="5048250" cy="6096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A5568"/>
                </a:solidFill>
                <a:latin typeface="Lato"/>
                <a:ea typeface="Lato"/>
                <a:cs typeface="Lato"/>
                <a:sym typeface="Lato"/>
              </a:rPr>
              <a:t>Mobile Only:</a:t>
            </a:r>
            <a:r>
              <a:rPr lang="en-US" sz="1500" b="0" i="0" u="none" strike="noStrike" cap="none">
                <a:solidFill>
                  <a:srgbClr val="4A5568"/>
                </a:solidFill>
                <a:latin typeface="Lato"/>
                <a:ea typeface="Lato"/>
                <a:cs typeface="Lato"/>
                <a:sym typeface="Lato"/>
              </a:rPr>
              <a:t> ML Kit is designed exclusively for mobile (iOS and Android). It does *not* support web.</a:t>
            </a:r>
            <a:endParaRPr/>
          </a:p>
        </p:txBody>
      </p:sp>
      <p:sp>
        <p:nvSpPr>
          <p:cNvPr id="146" name="Google Shape;146;p17"/>
          <p:cNvSpPr txBox="1"/>
          <p:nvPr/>
        </p:nvSpPr>
        <p:spPr>
          <a:xfrm>
            <a:off x="695325" y="4810125"/>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a:t>
            </a:r>
            <a:endParaRPr/>
          </a:p>
        </p:txBody>
      </p:sp>
      <p:sp>
        <p:nvSpPr>
          <p:cNvPr id="147" name="Google Shape;147;p17"/>
          <p:cNvSpPr txBox="1"/>
          <p:nvPr/>
        </p:nvSpPr>
        <p:spPr>
          <a:xfrm>
            <a:off x="809625" y="4810125"/>
            <a:ext cx="5048250" cy="9144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A5568"/>
                </a:solidFill>
                <a:latin typeface="Lato"/>
                <a:ea typeface="Lato"/>
                <a:cs typeface="Lato"/>
                <a:sym typeface="Lato"/>
              </a:rPr>
              <a:t>Dependency:</a:t>
            </a:r>
            <a:r>
              <a:rPr lang="en-US" sz="1500" b="0" i="0" u="none" strike="noStrike" cap="none">
                <a:solidFill>
                  <a:srgbClr val="4A5568"/>
                </a:solidFill>
                <a:latin typeface="Lato"/>
                <a:ea typeface="Lato"/>
                <a:cs typeface="Lato"/>
                <a:sym typeface="Lato"/>
              </a:rPr>
              <a:t> Do NOT use the `google_ml_kit` umbrella package. Add only the specific plugins you need (e.g., `google_mlkit_barcode_scanning`) to avoid bloating your app.</a:t>
            </a:r>
            <a:endParaRPr/>
          </a:p>
        </p:txBody>
      </p:sp>
      <p:sp>
        <p:nvSpPr>
          <p:cNvPr id="148" name="Google Shape;148;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ML Kit: Production Considerations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155" name="Google Shape;155;p18"/>
          <p:cNvSpPr txBox="1"/>
          <p:nvPr/>
        </p:nvSpPr>
        <p:spPr>
          <a:xfrm>
            <a:off x="571500" y="571500"/>
            <a:ext cx="5550693"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The New Wave: Gemini Nano</a:t>
            </a:r>
            <a:endParaRPr/>
          </a:p>
        </p:txBody>
      </p:sp>
      <p:sp>
        <p:nvSpPr>
          <p:cNvPr id="156" name="Google Shape;156;p18"/>
          <p:cNvSpPr txBox="1"/>
          <p:nvPr/>
        </p:nvSpPr>
        <p:spPr>
          <a:xfrm>
            <a:off x="571500" y="1905000"/>
            <a:ext cx="5550693"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A202C"/>
                </a:solidFill>
                <a:latin typeface="Poppins"/>
                <a:ea typeface="Poppins"/>
                <a:cs typeface="Poppins"/>
                <a:sym typeface="Poppins"/>
              </a:rPr>
              <a:t>On-Device Generative AI</a:t>
            </a:r>
            <a:endParaRPr/>
          </a:p>
        </p:txBody>
      </p:sp>
      <p:sp>
        <p:nvSpPr>
          <p:cNvPr id="157" name="Google Shape;157;p18"/>
          <p:cNvSpPr txBox="1"/>
          <p:nvPr/>
        </p:nvSpPr>
        <p:spPr>
          <a:xfrm>
            <a:off x="571500" y="2638425"/>
            <a:ext cx="52863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On-device AI is evolving beyond classic ML (detection, classification) and into generative AI. Google is now providing access to Gemini Nano, its smallest and most efficient model, for on-device execution.</a:t>
            </a:r>
            <a:endParaRPr/>
          </a:p>
        </p:txBody>
      </p:sp>
      <p:sp>
        <p:nvSpPr>
          <p:cNvPr id="158" name="Google Shape;158;p18"/>
          <p:cNvSpPr txBox="1"/>
          <p:nvPr/>
        </p:nvSpPr>
        <p:spPr>
          <a:xfrm>
            <a:off x="571500" y="4200525"/>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This is exposed through new ML Kit GenAI APIs for tasks like summarization, proofreading, and rewriting.</a:t>
            </a:r>
            <a:endParaRPr/>
          </a:p>
        </p:txBody>
      </p:sp>
      <p:sp>
        <p:nvSpPr>
          <p:cNvPr id="159" name="Google Shape;159;p18"/>
          <p:cNvSpPr txBox="1"/>
          <p:nvPr/>
        </p:nvSpPr>
        <p:spPr>
          <a:xfrm>
            <a:off x="571500" y="5153025"/>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A5568"/>
                </a:solidFill>
                <a:latin typeface="Lato"/>
                <a:ea typeface="Lato"/>
                <a:cs typeface="Lato"/>
                <a:sym typeface="Lato"/>
              </a:rPr>
              <a:t>Limitation:</a:t>
            </a:r>
            <a:r>
              <a:rPr lang="en-US" sz="1500" b="0" i="0" u="none" strike="noStrike" cap="none">
                <a:solidFill>
                  <a:srgbClr val="4A5568"/>
                </a:solidFill>
                <a:latin typeface="Lato"/>
                <a:ea typeface="Lato"/>
                <a:cs typeface="Lato"/>
                <a:sym typeface="Lato"/>
              </a:rPr>
              <a:t> This is bleeding-edge technology, only available on a limited set of high-end devices (e.g., Pixel 8 Pro, Samsung S24 series) as of mid-2024.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63"/>
        <p:cNvGrpSpPr/>
        <p:nvPr/>
      </p:nvGrpSpPr>
      <p:grpSpPr>
        <a:xfrm>
          <a:off x="0" y="0"/>
          <a:ext cx="0" cy="0"/>
          <a:chOff x="0" y="0"/>
          <a:chExt cx="0" cy="0"/>
        </a:xfrm>
      </p:grpSpPr>
      <p:pic>
        <p:nvPicPr>
          <p:cNvPr id="164" name="Google Shape;16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65" name="Google Shape;165;p19"/>
          <p:cNvGraphicFramePr/>
          <p:nvPr/>
        </p:nvGraphicFramePr>
        <p:xfrm>
          <a:off x="571500" y="2272605"/>
          <a:ext cx="11039450" cy="3265125"/>
        </p:xfrm>
        <a:graphic>
          <a:graphicData uri="http://schemas.openxmlformats.org/drawingml/2006/table">
            <a:tbl>
              <a:tblPr firstRow="1" bandRow="1">
                <a:noFill/>
                <a:tableStyleId>{107978D3-F39F-4772-BD46-F5F44E156AD5}</a:tableStyleId>
              </a:tblPr>
              <a:tblGrid>
                <a:gridCol w="2691850">
                  <a:extLst>
                    <a:ext uri="{9D8B030D-6E8A-4147-A177-3AD203B41FA5}">
                      <a16:colId xmlns:a16="http://schemas.microsoft.com/office/drawing/2014/main" val="20000"/>
                    </a:ext>
                  </a:extLst>
                </a:gridCol>
                <a:gridCol w="4386250">
                  <a:extLst>
                    <a:ext uri="{9D8B030D-6E8A-4147-A177-3AD203B41FA5}">
                      <a16:colId xmlns:a16="http://schemas.microsoft.com/office/drawing/2014/main" val="20001"/>
                    </a:ext>
                  </a:extLst>
                </a:gridCol>
                <a:gridCol w="3961350">
                  <a:extLst>
                    <a:ext uri="{9D8B030D-6E8A-4147-A177-3AD203B41FA5}">
                      <a16:colId xmlns:a16="http://schemas.microsoft.com/office/drawing/2014/main" val="20002"/>
                    </a:ext>
                  </a:extLst>
                </a:gridCol>
              </a:tblGrid>
              <a:tr h="653025">
                <a:tc>
                  <a:txBody>
                    <a:bodyPr/>
                    <a:lstStyle/>
                    <a:p>
                      <a:pPr marL="0" marR="0" lvl="0" indent="0" algn="l" rtl="0">
                        <a:spcBef>
                          <a:spcPts val="0"/>
                        </a:spcBef>
                        <a:spcAft>
                          <a:spcPts val="0"/>
                        </a:spcAft>
                        <a:buNone/>
                      </a:pPr>
                      <a:r>
                        <a:rPr lang="en-US" sz="1350" b="1" i="0" u="none" strike="noStrike" cap="none">
                          <a:solidFill>
                            <a:srgbClr val="1A202C"/>
                          </a:solidFill>
                          <a:latin typeface="Poppins"/>
                          <a:ea typeface="Poppins"/>
                          <a:cs typeface="Poppins"/>
                          <a:sym typeface="Poppins"/>
                        </a:rPr>
                        <a:t>Feature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C"/>
                    </a:solidFill>
                  </a:tcPr>
                </a:tc>
                <a:tc>
                  <a:txBody>
                    <a:bodyPr/>
                    <a:lstStyle/>
                    <a:p>
                      <a:pPr marL="0" marR="0" lvl="0" indent="0" algn="l" rtl="0">
                        <a:spcBef>
                          <a:spcPts val="0"/>
                        </a:spcBef>
                        <a:spcAft>
                          <a:spcPts val="0"/>
                        </a:spcAft>
                        <a:buNone/>
                      </a:pPr>
                      <a:r>
                        <a:rPr lang="en-US" sz="1350" b="1" i="0" u="none" strike="noStrike" cap="none">
                          <a:solidFill>
                            <a:srgbClr val="1A202C"/>
                          </a:solidFill>
                          <a:latin typeface="Poppins"/>
                          <a:ea typeface="Poppins"/>
                          <a:cs typeface="Poppins"/>
                          <a:sym typeface="Poppins"/>
                        </a:rPr>
                        <a:t>On-Device AI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C"/>
                    </a:solidFill>
                  </a:tcPr>
                </a:tc>
                <a:tc>
                  <a:txBody>
                    <a:bodyPr/>
                    <a:lstStyle/>
                    <a:p>
                      <a:pPr marL="0" marR="0" lvl="0" indent="0" algn="l" rtl="0">
                        <a:spcBef>
                          <a:spcPts val="0"/>
                        </a:spcBef>
                        <a:spcAft>
                          <a:spcPts val="0"/>
                        </a:spcAft>
                        <a:buNone/>
                      </a:pPr>
                      <a:r>
                        <a:rPr lang="en-US" sz="1350" b="1" i="0" u="none" strike="noStrike" cap="none">
                          <a:solidFill>
                            <a:srgbClr val="1A202C"/>
                          </a:solidFill>
                          <a:latin typeface="Poppins"/>
                          <a:ea typeface="Poppins"/>
                          <a:cs typeface="Poppins"/>
                          <a:sym typeface="Poppins"/>
                        </a:rPr>
                        <a:t>Cloud AI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C"/>
                    </a:solidFill>
                  </a:tcPr>
                </a:tc>
                <a:extLst>
                  <a:ext uri="{0D108BD9-81ED-4DB2-BD59-A6C34878D82A}">
                    <a16:rowId xmlns:a16="http://schemas.microsoft.com/office/drawing/2014/main" val="10000"/>
                  </a:ext>
                </a:extLst>
              </a:tr>
              <a:tr h="6530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Privacy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High</a:t>
                      </a:r>
                      <a:r>
                        <a:rPr lang="en-US" sz="1500" b="0" i="0" u="none" strike="noStrike" cap="none">
                          <a:solidFill>
                            <a:srgbClr val="4A5568"/>
                          </a:solidFill>
                          <a:latin typeface="Lato"/>
                          <a:ea typeface="Lato"/>
                          <a:cs typeface="Lato"/>
                          <a:sym typeface="Lato"/>
                        </a:rPr>
                        <a:t> (data stays on device)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Lower (data is sent to servers)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30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Computational Power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Limited to device capabilities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Near-unlimited</a:t>
                      </a:r>
                      <a:r>
                        <a:rPr lang="en-US" sz="1500" b="0" i="0" u="none" strike="noStrike" cap="none">
                          <a:solidFill>
                            <a:srgbClr val="4A5568"/>
                          </a:solidFill>
                          <a:latin typeface="Lato"/>
                          <a:ea typeface="Lato"/>
                          <a:cs typeface="Lato"/>
                          <a:sym typeface="Lato"/>
                        </a:rPr>
                        <a:t> cloud resources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30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Internet Dependence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Works offline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Requires stable connection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530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Model Updates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Must be pushed to devices (app update)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Can be instantly deployed</a:t>
                      </a:r>
                      <a:r>
                        <a:rPr lang="en-US" sz="1500" b="0" i="0" u="none" strike="noStrike" cap="none">
                          <a:solidFill>
                            <a:srgbClr val="4A5568"/>
                          </a:solidFill>
                          <a:latin typeface="Lato"/>
                          <a:ea typeface="Lato"/>
                          <a:cs typeface="Lato"/>
                          <a:sym typeface="Lato"/>
                        </a:rPr>
                        <a:t> to cloud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6" name="Google Shape;166;p19"/>
          <p:cNvSpPr/>
          <p:nvPr/>
        </p:nvSpPr>
        <p:spPr>
          <a:xfrm>
            <a:off x="576262" y="2894558"/>
            <a:ext cx="26918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9"/>
          <p:cNvSpPr/>
          <p:nvPr/>
        </p:nvSpPr>
        <p:spPr>
          <a:xfrm>
            <a:off x="3268116" y="2894558"/>
            <a:ext cx="438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9"/>
          <p:cNvSpPr/>
          <p:nvPr/>
        </p:nvSpPr>
        <p:spPr>
          <a:xfrm>
            <a:off x="7654379" y="2894558"/>
            <a:ext cx="396135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9"/>
          <p:cNvSpPr/>
          <p:nvPr/>
        </p:nvSpPr>
        <p:spPr>
          <a:xfrm>
            <a:off x="576262" y="3551783"/>
            <a:ext cx="26918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9"/>
          <p:cNvSpPr/>
          <p:nvPr/>
        </p:nvSpPr>
        <p:spPr>
          <a:xfrm>
            <a:off x="3268116" y="3551783"/>
            <a:ext cx="438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9"/>
          <p:cNvSpPr/>
          <p:nvPr/>
        </p:nvSpPr>
        <p:spPr>
          <a:xfrm>
            <a:off x="7654379" y="3551783"/>
            <a:ext cx="396135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9"/>
          <p:cNvSpPr/>
          <p:nvPr/>
        </p:nvSpPr>
        <p:spPr>
          <a:xfrm>
            <a:off x="576262" y="4209008"/>
            <a:ext cx="26918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9"/>
          <p:cNvSpPr/>
          <p:nvPr/>
        </p:nvSpPr>
        <p:spPr>
          <a:xfrm>
            <a:off x="3268116" y="4209008"/>
            <a:ext cx="438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9"/>
          <p:cNvSpPr/>
          <p:nvPr/>
        </p:nvSpPr>
        <p:spPr>
          <a:xfrm>
            <a:off x="7654379" y="4209008"/>
            <a:ext cx="396135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9"/>
          <p:cNvSpPr/>
          <p:nvPr/>
        </p:nvSpPr>
        <p:spPr>
          <a:xfrm>
            <a:off x="576262" y="4866233"/>
            <a:ext cx="26918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9"/>
          <p:cNvSpPr/>
          <p:nvPr/>
        </p:nvSpPr>
        <p:spPr>
          <a:xfrm>
            <a:off x="3268116" y="4866233"/>
            <a:ext cx="438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9"/>
          <p:cNvSpPr/>
          <p:nvPr/>
        </p:nvSpPr>
        <p:spPr>
          <a:xfrm>
            <a:off x="7654379" y="4866233"/>
            <a:ext cx="396135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Architectural Crossroads: On-Device vs. Cloud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82"/>
        <p:cNvGrpSpPr/>
        <p:nvPr/>
      </p:nvGrpSpPr>
      <p:grpSpPr>
        <a:xfrm>
          <a:off x="0" y="0"/>
          <a:ext cx="0" cy="0"/>
          <a:chOff x="0" y="0"/>
          <a:chExt cx="0" cy="0"/>
        </a:xfrm>
      </p:grpSpPr>
      <p:pic>
        <p:nvPicPr>
          <p:cNvPr id="183" name="Google Shape;18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4" name="Google Shape;184;p20"/>
          <p:cNvSpPr txBox="1"/>
          <p:nvPr/>
        </p:nvSpPr>
        <p:spPr>
          <a:xfrm>
            <a:off x="571500" y="4448175"/>
            <a:ext cx="528637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E53E3E"/>
                </a:solidFill>
                <a:latin typeface="Lato"/>
                <a:ea typeface="Lato"/>
                <a:cs typeface="Lato"/>
                <a:sym typeface="Lato"/>
              </a:rPr>
              <a:t>Security Vulnerability</a:t>
            </a:r>
            <a:endParaRPr/>
          </a:p>
        </p:txBody>
      </p:sp>
      <p:sp>
        <p:nvSpPr>
          <p:cNvPr id="185" name="Google Shape;185;p20"/>
          <p:cNvSpPr txBox="1"/>
          <p:nvPr/>
        </p:nvSpPr>
        <p:spPr>
          <a:xfrm>
            <a:off x="6334125" y="1895475"/>
            <a:ext cx="5550693"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A202C"/>
                </a:solidFill>
                <a:latin typeface="Poppins"/>
                <a:ea typeface="Poppins"/>
                <a:cs typeface="Poppins"/>
                <a:sym typeface="Poppins"/>
              </a:rPr>
              <a:t>The Trap</a:t>
            </a:r>
            <a:endParaRPr/>
          </a:p>
        </p:txBody>
      </p:sp>
      <p:sp>
        <p:nvSpPr>
          <p:cNvPr id="186" name="Google Shape;186;p20"/>
          <p:cNvSpPr txBox="1"/>
          <p:nvPr/>
        </p:nvSpPr>
        <p:spPr>
          <a:xfrm>
            <a:off x="6334125" y="2486025"/>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Using the `generative_ai` package and embedding your API key directly in the client-side code.</a:t>
            </a:r>
            <a:endParaRPr/>
          </a:p>
        </p:txBody>
      </p:sp>
      <p:sp>
        <p:nvSpPr>
          <p:cNvPr id="187" name="Google Shape;187;p20"/>
          <p:cNvSpPr txBox="1"/>
          <p:nvPr/>
        </p:nvSpPr>
        <p:spPr>
          <a:xfrm>
            <a:off x="6334125" y="4524375"/>
            <a:ext cx="5550693"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A202C"/>
                </a:solidFill>
                <a:latin typeface="Poppins"/>
                <a:ea typeface="Poppins"/>
                <a:cs typeface="Poppins"/>
                <a:sym typeface="Poppins"/>
              </a:rPr>
              <a:t>The Risk</a:t>
            </a:r>
            <a:endParaRPr/>
          </a:p>
        </p:txBody>
      </p:sp>
      <p:sp>
        <p:nvSpPr>
          <p:cNvPr id="188" name="Google Shape;188;p20"/>
          <p:cNvSpPr txBox="1"/>
          <p:nvPr/>
        </p:nvSpPr>
        <p:spPr>
          <a:xfrm>
            <a:off x="6334125" y="5114925"/>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A malicious actor can decompile your app, extract this key, and use it on your behalf, resulting in catastrophic billing.</a:t>
            </a:r>
            <a:endParaRPr/>
          </a:p>
        </p:txBody>
      </p:sp>
      <p:pic>
        <p:nvPicPr>
          <p:cNvPr id="189" name="Google Shape;189;p20" descr="image.png"/>
          <p:cNvPicPr preferRelativeResize="0"/>
          <p:nvPr/>
        </p:nvPicPr>
        <p:blipFill rotWithShape="1">
          <a:blip r:embed="rId4">
            <a:alphaModFix/>
          </a:blip>
          <a:srcRect/>
          <a:stretch/>
        </p:blipFill>
        <p:spPr>
          <a:xfrm>
            <a:off x="2547937" y="3086100"/>
            <a:ext cx="1333500" cy="1333500"/>
          </a:xfrm>
          <a:prstGeom prst="rect">
            <a:avLst/>
          </a:prstGeom>
          <a:noFill/>
          <a:ln>
            <a:noFill/>
          </a:ln>
        </p:spPr>
      </p:pic>
      <p:sp>
        <p:nvSpPr>
          <p:cNvPr id="190" name="Google Shape;190;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Cloud AI: The "Prototyping Trap"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94"/>
        <p:cNvGrpSpPr/>
        <p:nvPr/>
      </p:nvGrpSpPr>
      <p:grpSpPr>
        <a:xfrm>
          <a:off x="0" y="0"/>
          <a:ext cx="0" cy="0"/>
          <a:chOff x="0" y="0"/>
          <a:chExt cx="0" cy="0"/>
        </a:xfrm>
      </p:grpSpPr>
      <p:pic>
        <p:nvPicPr>
          <p:cNvPr id="195" name="Google Shape;19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6" name="Google Shape;196;p21"/>
          <p:cNvSpPr txBox="1"/>
          <p:nvPr/>
        </p:nvSpPr>
        <p:spPr>
          <a:xfrm>
            <a:off x="1809750" y="2352675"/>
            <a:ext cx="8572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The secure, production-ready solution. Firebase AI Logic is a serverless gateway that mediates all requests from your client app.</a:t>
            </a:r>
            <a:endParaRPr/>
          </a:p>
        </p:txBody>
      </p:sp>
      <p:pic>
        <p:nvPicPr>
          <p:cNvPr id="197" name="Google Shape;197;p21" descr="image.png"/>
          <p:cNvPicPr preferRelativeResize="0"/>
          <p:nvPr/>
        </p:nvPicPr>
        <p:blipFill rotWithShape="1">
          <a:blip r:embed="rId4">
            <a:alphaModFix/>
          </a:blip>
          <a:srcRect/>
          <a:stretch/>
        </p:blipFill>
        <p:spPr>
          <a:xfrm>
            <a:off x="1809750" y="3295650"/>
            <a:ext cx="285750" cy="228600"/>
          </a:xfrm>
          <a:prstGeom prst="rect">
            <a:avLst/>
          </a:prstGeom>
          <a:noFill/>
          <a:ln>
            <a:noFill/>
          </a:ln>
        </p:spPr>
      </p:pic>
      <p:sp>
        <p:nvSpPr>
          <p:cNvPr id="198" name="Google Shape;198;p21"/>
          <p:cNvSpPr txBox="1"/>
          <p:nvPr/>
        </p:nvSpPr>
        <p:spPr>
          <a:xfrm>
            <a:off x="2238375" y="3248025"/>
            <a:ext cx="8143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Lato"/>
                <a:ea typeface="Lato"/>
                <a:cs typeface="Lato"/>
                <a:sym typeface="Lato"/>
              </a:rPr>
              <a:t>No API Key in Client:</a:t>
            </a:r>
            <a:r>
              <a:rPr lang="en-US" sz="1500" b="0" i="0" u="none" strike="noStrike" cap="none">
                <a:solidFill>
                  <a:srgbClr val="4A5568"/>
                </a:solidFill>
                <a:latin typeface="Lato"/>
                <a:ea typeface="Lato"/>
                <a:cs typeface="Lato"/>
                <a:sym typeface="Lato"/>
              </a:rPr>
              <a:t> The Flutter app never includes a secret API key. The API signature conspicuously omits it.</a:t>
            </a:r>
            <a:endParaRPr/>
          </a:p>
        </p:txBody>
      </p:sp>
      <p:pic>
        <p:nvPicPr>
          <p:cNvPr id="199" name="Google Shape;199;p21" descr="image.png"/>
          <p:cNvPicPr preferRelativeResize="0"/>
          <p:nvPr/>
        </p:nvPicPr>
        <p:blipFill rotWithShape="1">
          <a:blip r:embed="rId5">
            <a:alphaModFix/>
          </a:blip>
          <a:srcRect/>
          <a:stretch/>
        </p:blipFill>
        <p:spPr>
          <a:xfrm>
            <a:off x="1809750" y="4095750"/>
            <a:ext cx="285750" cy="228600"/>
          </a:xfrm>
          <a:prstGeom prst="rect">
            <a:avLst/>
          </a:prstGeom>
          <a:noFill/>
          <a:ln>
            <a:noFill/>
          </a:ln>
        </p:spPr>
      </p:pic>
      <p:sp>
        <p:nvSpPr>
          <p:cNvPr id="200" name="Google Shape;200;p21"/>
          <p:cNvSpPr txBox="1"/>
          <p:nvPr/>
        </p:nvSpPr>
        <p:spPr>
          <a:xfrm>
            <a:off x="2238375" y="4048125"/>
            <a:ext cx="8143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Lato"/>
                <a:ea typeface="Lato"/>
                <a:cs typeface="Lato"/>
                <a:sym typeface="Lato"/>
              </a:rPr>
              <a:t>App Check Integration:</a:t>
            </a:r>
            <a:r>
              <a:rPr lang="en-US" sz="1500" b="0" i="0" u="none" strike="noStrike" cap="none">
                <a:solidFill>
                  <a:srgbClr val="4A5568"/>
                </a:solidFill>
                <a:latin typeface="Lato"/>
                <a:ea typeface="Lato"/>
                <a:cs typeface="Lato"/>
                <a:sym typeface="Lato"/>
              </a:rPr>
              <a:t> Verifies that requests are from a legitimate, untampered instance of *your* application, blocking bots.</a:t>
            </a:r>
            <a:endParaRPr/>
          </a:p>
        </p:txBody>
      </p:sp>
      <p:pic>
        <p:nvPicPr>
          <p:cNvPr id="201" name="Google Shape;201;p21" descr="image.png"/>
          <p:cNvPicPr preferRelativeResize="0"/>
          <p:nvPr/>
        </p:nvPicPr>
        <p:blipFill rotWithShape="1">
          <a:blip r:embed="rId6">
            <a:alphaModFix/>
          </a:blip>
          <a:srcRect/>
          <a:stretch/>
        </p:blipFill>
        <p:spPr>
          <a:xfrm>
            <a:off x="1809750" y="4895850"/>
            <a:ext cx="285750" cy="228600"/>
          </a:xfrm>
          <a:prstGeom prst="rect">
            <a:avLst/>
          </a:prstGeom>
          <a:noFill/>
          <a:ln>
            <a:noFill/>
          </a:ln>
        </p:spPr>
      </p:pic>
      <p:sp>
        <p:nvSpPr>
          <p:cNvPr id="202" name="Google Shape;202;p21"/>
          <p:cNvSpPr txBox="1"/>
          <p:nvPr/>
        </p:nvSpPr>
        <p:spPr>
          <a:xfrm>
            <a:off x="2238375" y="4848225"/>
            <a:ext cx="8143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Lato"/>
                <a:ea typeface="Lato"/>
                <a:cs typeface="Lato"/>
                <a:sym typeface="Lato"/>
              </a:rPr>
              <a:t>Standard Firebase SDKs:</a:t>
            </a:r>
            <a:r>
              <a:rPr lang="en-US" sz="1500" b="0" i="0" u="none" strike="noStrike" cap="none">
                <a:solidFill>
                  <a:srgbClr val="4A5568"/>
                </a:solidFill>
                <a:latin typeface="Lato"/>
                <a:ea typeface="Lato"/>
                <a:cs typeface="Lato"/>
                <a:sym typeface="Lato"/>
              </a:rPr>
              <a:t> The client interacts with the service using the standard, client-side Firebase SDKs you already trust.</a:t>
            </a:r>
            <a:endParaRPr/>
          </a:p>
        </p:txBody>
      </p:sp>
      <p:sp>
        <p:nvSpPr>
          <p:cNvPr id="203" name="Google Shape;203;p2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The Solution: Firebase AI Logic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207"/>
        <p:cNvGrpSpPr/>
        <p:nvPr/>
      </p:nvGrpSpPr>
      <p:grpSpPr>
        <a:xfrm>
          <a:off x="0" y="0"/>
          <a:ext cx="0" cy="0"/>
          <a:chOff x="0" y="0"/>
          <a:chExt cx="0" cy="0"/>
        </a:xfrm>
      </p:grpSpPr>
      <p:pic>
        <p:nvPicPr>
          <p:cNvPr id="208" name="Google Shape;208;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9" name="Google Shape;209;p22" descr="image.png"/>
          <p:cNvPicPr preferRelativeResize="0"/>
          <p:nvPr/>
        </p:nvPicPr>
        <p:blipFill rotWithShape="1">
          <a:blip r:embed="rId4">
            <a:alphaModFix/>
          </a:blip>
          <a:srcRect/>
          <a:stretch/>
        </p:blipFill>
        <p:spPr>
          <a:xfrm>
            <a:off x="571500" y="2209800"/>
            <a:ext cx="5286375" cy="3390900"/>
          </a:xfrm>
          <a:prstGeom prst="rect">
            <a:avLst/>
          </a:prstGeom>
          <a:noFill/>
          <a:ln>
            <a:noFill/>
          </a:ln>
        </p:spPr>
      </p:pic>
      <p:pic>
        <p:nvPicPr>
          <p:cNvPr id="210" name="Google Shape;210;p22" descr="image.png"/>
          <p:cNvPicPr preferRelativeResize="0"/>
          <p:nvPr/>
        </p:nvPicPr>
        <p:blipFill rotWithShape="1">
          <a:blip r:embed="rId5">
            <a:alphaModFix/>
          </a:blip>
          <a:srcRect/>
          <a:stretch/>
        </p:blipFill>
        <p:spPr>
          <a:xfrm>
            <a:off x="6334125" y="2209800"/>
            <a:ext cx="5286375" cy="3390900"/>
          </a:xfrm>
          <a:prstGeom prst="rect">
            <a:avLst/>
          </a:prstGeom>
          <a:noFill/>
          <a:ln>
            <a:noFill/>
          </a:ln>
        </p:spPr>
      </p:pic>
      <p:sp>
        <p:nvSpPr>
          <p:cNvPr id="211" name="Google Shape;211;p22"/>
          <p:cNvSpPr txBox="1"/>
          <p:nvPr/>
        </p:nvSpPr>
        <p:spPr>
          <a:xfrm>
            <a:off x="962025" y="2600325"/>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7DFD"/>
                </a:solidFill>
                <a:latin typeface="Poppins"/>
                <a:ea typeface="Poppins"/>
                <a:cs typeface="Poppins"/>
                <a:sym typeface="Poppins"/>
              </a:rPr>
              <a:t>A "Brain in a Jar"</a:t>
            </a:r>
            <a:endParaRPr/>
          </a:p>
        </p:txBody>
      </p:sp>
      <p:sp>
        <p:nvSpPr>
          <p:cNvPr id="212" name="Google Shape;212;p22"/>
          <p:cNvSpPr txBox="1"/>
          <p:nvPr/>
        </p:nvSpPr>
        <p:spPr>
          <a:xfrm>
            <a:off x="962025" y="3190875"/>
            <a:ext cx="45053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5568"/>
                </a:solidFill>
                <a:latin typeface="Lato"/>
                <a:ea typeface="Lato"/>
                <a:cs typeface="Lato"/>
                <a:sym typeface="Lato"/>
              </a:rPr>
              <a:t>An LLM, by itself, is trained on a static, finite dataset. It doesn't know the current weather, it can't access your private database, and it can't change your app's theme.</a:t>
            </a:r>
            <a:endParaRPr/>
          </a:p>
        </p:txBody>
      </p:sp>
      <p:sp>
        <p:nvSpPr>
          <p:cNvPr id="213" name="Google Shape;213;p22"/>
          <p:cNvSpPr txBox="1"/>
          <p:nvPr/>
        </p:nvSpPr>
        <p:spPr>
          <a:xfrm>
            <a:off x="6724650" y="2600325"/>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7DFD"/>
                </a:solidFill>
                <a:latin typeface="Poppins"/>
                <a:ea typeface="Poppins"/>
                <a:cs typeface="Poppins"/>
                <a:sym typeface="Poppins"/>
              </a:rPr>
              <a:t>Giving it "Arms and Legs"</a:t>
            </a:r>
            <a:endParaRPr/>
          </a:p>
        </p:txBody>
      </p:sp>
      <p:sp>
        <p:nvSpPr>
          <p:cNvPr id="214" name="Google Shape;214;p22"/>
          <p:cNvSpPr txBox="1"/>
          <p:nvPr/>
        </p:nvSpPr>
        <p:spPr>
          <a:xfrm>
            <a:off x="6724650" y="3190875"/>
            <a:ext cx="4505325"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A5568"/>
                </a:solidFill>
                <a:latin typeface="Lato"/>
                <a:ea typeface="Lato"/>
                <a:cs typeface="Lato"/>
                <a:sym typeface="Lato"/>
              </a:rPr>
              <a:t>Tool Calling (or Function Calling)</a:t>
            </a:r>
            <a:r>
              <a:rPr lang="en-US" sz="1500" b="0" i="0" u="none" strike="noStrike" cap="none">
                <a:solidFill>
                  <a:srgbClr val="4A5568"/>
                </a:solidFill>
                <a:latin typeface="Lato"/>
                <a:ea typeface="Lato"/>
                <a:cs typeface="Lato"/>
                <a:sym typeface="Lato"/>
              </a:rPr>
              <a:t> solves this. You provide the LLM a *description* of your Dart functions. The LLM then "pauses" and *requests* to run a function with specific arguments. Your app executes its own code, sends the result back, and the LLM synthesizes the final answer.</a:t>
            </a:r>
            <a:endParaRPr/>
          </a:p>
        </p:txBody>
      </p:sp>
      <p:sp>
        <p:nvSpPr>
          <p:cNvPr id="215" name="Google Shape;215;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Beyond Chat: What is an Agent?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219"/>
        <p:cNvGrpSpPr/>
        <p:nvPr/>
      </p:nvGrpSpPr>
      <p:grpSpPr>
        <a:xfrm>
          <a:off x="0" y="0"/>
          <a:ext cx="0" cy="0"/>
          <a:chOff x="0" y="0"/>
          <a:chExt cx="0" cy="0"/>
        </a:xfrm>
      </p:grpSpPr>
      <p:pic>
        <p:nvPicPr>
          <p:cNvPr id="220" name="Google Shape;22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221" name="Google Shape;221;p23"/>
          <p:cNvGraphicFramePr/>
          <p:nvPr/>
        </p:nvGraphicFramePr>
        <p:xfrm>
          <a:off x="571500" y="1943992"/>
          <a:ext cx="3000000" cy="3000000"/>
        </p:xfrm>
        <a:graphic>
          <a:graphicData uri="http://schemas.openxmlformats.org/drawingml/2006/table">
            <a:tbl>
              <a:tblPr firstRow="1" bandRow="1">
                <a:noFill/>
                <a:tableStyleId>{107978D3-F39F-4772-BD46-F5F44E156AD5}</a:tableStyleId>
              </a:tblPr>
              <a:tblGrid>
                <a:gridCol w="2137475">
                  <a:extLst>
                    <a:ext uri="{9D8B030D-6E8A-4147-A177-3AD203B41FA5}">
                      <a16:colId xmlns:a16="http://schemas.microsoft.com/office/drawing/2014/main" val="20000"/>
                    </a:ext>
                  </a:extLst>
                </a:gridCol>
                <a:gridCol w="3984875">
                  <a:extLst>
                    <a:ext uri="{9D8B030D-6E8A-4147-A177-3AD203B41FA5}">
                      <a16:colId xmlns:a16="http://schemas.microsoft.com/office/drawing/2014/main" val="20001"/>
                    </a:ext>
                  </a:extLst>
                </a:gridCol>
                <a:gridCol w="4917125">
                  <a:extLst>
                    <a:ext uri="{9D8B030D-6E8A-4147-A177-3AD203B41FA5}">
                      <a16:colId xmlns:a16="http://schemas.microsoft.com/office/drawing/2014/main" val="20002"/>
                    </a:ext>
                  </a:extLst>
                </a:gridCol>
              </a:tblGrid>
              <a:tr h="653725">
                <a:tc>
                  <a:txBody>
                    <a:bodyPr/>
                    <a:lstStyle/>
                    <a:p>
                      <a:pPr marL="0" marR="0" lvl="0" indent="0" algn="l" rtl="0">
                        <a:spcBef>
                          <a:spcPts val="0"/>
                        </a:spcBef>
                        <a:spcAft>
                          <a:spcPts val="0"/>
                        </a:spcAft>
                        <a:buNone/>
                      </a:pPr>
                      <a:r>
                        <a:rPr lang="en-US" sz="1350" b="1" i="0" u="none" strike="noStrike" cap="none">
                          <a:solidFill>
                            <a:srgbClr val="1A202C"/>
                          </a:solidFill>
                          <a:latin typeface="Poppins"/>
                          <a:ea typeface="Poppins"/>
                          <a:cs typeface="Poppins"/>
                          <a:sym typeface="Poppins"/>
                        </a:rPr>
                        <a:t>Feature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C"/>
                    </a:solidFill>
                  </a:tcPr>
                </a:tc>
                <a:tc>
                  <a:txBody>
                    <a:bodyPr/>
                    <a:lstStyle/>
                    <a:p>
                      <a:pPr marL="0" marR="0" lvl="0" indent="0" algn="l" rtl="0">
                        <a:spcBef>
                          <a:spcPts val="0"/>
                        </a:spcBef>
                        <a:spcAft>
                          <a:spcPts val="0"/>
                        </a:spcAft>
                        <a:buNone/>
                      </a:pPr>
                      <a:r>
                        <a:rPr lang="en-US" sz="1350" b="1" i="0" u="none" strike="noStrike" cap="none">
                          <a:solidFill>
                            <a:srgbClr val="1A202C"/>
                          </a:solidFill>
                          <a:latin typeface="Poppins"/>
                          <a:ea typeface="Poppins"/>
                          <a:cs typeface="Poppins"/>
                          <a:sym typeface="Poppins"/>
                        </a:rPr>
                        <a:t>Firebase AI Logic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C"/>
                    </a:solidFill>
                  </a:tcPr>
                </a:tc>
                <a:tc>
                  <a:txBody>
                    <a:bodyPr/>
                    <a:lstStyle/>
                    <a:p>
                      <a:pPr marL="0" marR="0" lvl="0" indent="0" algn="l" rtl="0">
                        <a:spcBef>
                          <a:spcPts val="0"/>
                        </a:spcBef>
                        <a:spcAft>
                          <a:spcPts val="0"/>
                        </a:spcAft>
                        <a:buNone/>
                      </a:pPr>
                      <a:r>
                        <a:rPr lang="en-US" sz="1350" b="1" i="0" u="none" strike="noStrike" cap="none">
                          <a:solidFill>
                            <a:srgbClr val="1A202C"/>
                          </a:solidFill>
                          <a:latin typeface="Poppins"/>
                          <a:ea typeface="Poppins"/>
                          <a:cs typeface="Poppins"/>
                          <a:sym typeface="Poppins"/>
                        </a:rPr>
                        <a:t>Firebase Genkit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C"/>
                    </a:solidFill>
                  </a:tcPr>
                </a:tc>
                <a:extLst>
                  <a:ext uri="{0D108BD9-81ED-4DB2-BD59-A6C34878D82A}">
                    <a16:rowId xmlns:a16="http://schemas.microsoft.com/office/drawing/2014/main" val="10000"/>
                  </a:ext>
                </a:extLst>
              </a:tr>
              <a:tr h="6537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What it is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Client-side SDK (in Dart)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Server-side Framework</a:t>
                      </a:r>
                      <a:r>
                        <a:rPr lang="en-US" sz="1500" b="0" i="0" u="none" strike="noStrike" cap="none">
                          <a:solidFill>
                            <a:srgbClr val="4A5568"/>
                          </a:solidFill>
                          <a:latin typeface="Lato"/>
                          <a:ea typeface="Lato"/>
                          <a:cs typeface="Lato"/>
                          <a:sym typeface="Lato"/>
                        </a:rPr>
                        <a:t> (Node.js/Go)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37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Core Use Case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Simple, direct LLM calls from Flutter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Complex, multi-step "Flows"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37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Model Providers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Google-only (Gemini)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Multi-provider</a:t>
                      </a:r>
                      <a:r>
                        <a:rPr lang="en-US" sz="1500" b="0" i="0" u="none" strike="noStrike" cap="none">
                          <a:solidFill>
                            <a:srgbClr val="4A5568"/>
                          </a:solidFill>
                          <a:latin typeface="Lato"/>
                          <a:ea typeface="Lato"/>
                          <a:cs typeface="Lato"/>
                          <a:sym typeface="Lato"/>
                        </a:rPr>
                        <a:t> (Google, OpenAI, Anthropic...)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537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Advanced Logic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Basic (Tool Calling)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4A5568"/>
                          </a:solidFill>
                          <a:latin typeface="Lato"/>
                          <a:ea typeface="Lato"/>
                          <a:cs typeface="Lato"/>
                          <a:sym typeface="Lato"/>
                        </a:rPr>
                        <a:t>Advanced</a:t>
                      </a:r>
                      <a:r>
                        <a:rPr lang="en-US" sz="1500" b="0" i="0" u="none" strike="noStrike" cap="none">
                          <a:solidFill>
                            <a:srgbClr val="4A5568"/>
                          </a:solidFill>
                          <a:latin typeface="Lato"/>
                          <a:ea typeface="Lato"/>
                          <a:cs typeface="Lato"/>
                          <a:sym typeface="Lato"/>
                        </a:rPr>
                        <a:t> (RAG, Caching, custom logic)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53725">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Flutter Dev</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All in Dart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5568"/>
                          </a:solidFill>
                          <a:latin typeface="Lato"/>
                          <a:ea typeface="Lato"/>
                          <a:cs typeface="Lato"/>
                          <a:sym typeface="Lato"/>
                        </a:rPr>
                        <a:t>Flutter calls a backend (e.g., Cloud Function)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22" name="Google Shape;222;p23"/>
          <p:cNvSpPr/>
          <p:nvPr/>
        </p:nvSpPr>
        <p:spPr>
          <a:xfrm>
            <a:off x="576262" y="2565945"/>
            <a:ext cx="21374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3"/>
          <p:cNvSpPr/>
          <p:nvPr/>
        </p:nvSpPr>
        <p:spPr>
          <a:xfrm>
            <a:off x="2713732" y="2565945"/>
            <a:ext cx="39848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3"/>
          <p:cNvSpPr/>
          <p:nvPr/>
        </p:nvSpPr>
        <p:spPr>
          <a:xfrm>
            <a:off x="6698605" y="2565945"/>
            <a:ext cx="49171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23"/>
          <p:cNvSpPr/>
          <p:nvPr/>
        </p:nvSpPr>
        <p:spPr>
          <a:xfrm>
            <a:off x="576262" y="3223170"/>
            <a:ext cx="21374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3"/>
          <p:cNvSpPr/>
          <p:nvPr/>
        </p:nvSpPr>
        <p:spPr>
          <a:xfrm>
            <a:off x="2713732" y="3223170"/>
            <a:ext cx="39848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3"/>
          <p:cNvSpPr/>
          <p:nvPr/>
        </p:nvSpPr>
        <p:spPr>
          <a:xfrm>
            <a:off x="6698605" y="3223170"/>
            <a:ext cx="49171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3"/>
          <p:cNvSpPr/>
          <p:nvPr/>
        </p:nvSpPr>
        <p:spPr>
          <a:xfrm>
            <a:off x="576262" y="3880395"/>
            <a:ext cx="21374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3"/>
          <p:cNvSpPr/>
          <p:nvPr/>
        </p:nvSpPr>
        <p:spPr>
          <a:xfrm>
            <a:off x="2713732" y="3880395"/>
            <a:ext cx="39848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3"/>
          <p:cNvSpPr/>
          <p:nvPr/>
        </p:nvSpPr>
        <p:spPr>
          <a:xfrm>
            <a:off x="6698605" y="3880395"/>
            <a:ext cx="49171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3"/>
          <p:cNvSpPr/>
          <p:nvPr/>
        </p:nvSpPr>
        <p:spPr>
          <a:xfrm>
            <a:off x="576262" y="4537620"/>
            <a:ext cx="21374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23"/>
          <p:cNvSpPr/>
          <p:nvPr/>
        </p:nvSpPr>
        <p:spPr>
          <a:xfrm>
            <a:off x="2713732" y="4537620"/>
            <a:ext cx="39848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3"/>
          <p:cNvSpPr/>
          <p:nvPr/>
        </p:nvSpPr>
        <p:spPr>
          <a:xfrm>
            <a:off x="6698605" y="4537620"/>
            <a:ext cx="49171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23"/>
          <p:cNvSpPr/>
          <p:nvPr/>
        </p:nvSpPr>
        <p:spPr>
          <a:xfrm>
            <a:off x="576262" y="5194845"/>
            <a:ext cx="21374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5" name="Google Shape;235;p23"/>
          <p:cNvSpPr/>
          <p:nvPr/>
        </p:nvSpPr>
        <p:spPr>
          <a:xfrm>
            <a:off x="2713732" y="5194845"/>
            <a:ext cx="39848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23"/>
          <p:cNvSpPr/>
          <p:nvPr/>
        </p:nvSpPr>
        <p:spPr>
          <a:xfrm>
            <a:off x="6698605" y="5194845"/>
            <a:ext cx="49171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3"/>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Advanced Orchestration: AI Logic vs. Genkit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241"/>
        <p:cNvGrpSpPr/>
        <p:nvPr/>
      </p:nvGrpSpPr>
      <p:grpSpPr>
        <a:xfrm>
          <a:off x="0" y="0"/>
          <a:ext cx="0" cy="0"/>
          <a:chOff x="0" y="0"/>
          <a:chExt cx="0" cy="0"/>
        </a:xfrm>
      </p:grpSpPr>
      <p:pic>
        <p:nvPicPr>
          <p:cNvPr id="242" name="Google Shape;242;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3" name="Google Shape;243;p24" descr="image.png"/>
          <p:cNvPicPr preferRelativeResize="0"/>
          <p:nvPr/>
        </p:nvPicPr>
        <p:blipFill rotWithShape="1">
          <a:blip r:embed="rId4">
            <a:alphaModFix/>
          </a:blip>
          <a:srcRect/>
          <a:stretch/>
        </p:blipFill>
        <p:spPr>
          <a:xfrm>
            <a:off x="571500" y="2214562"/>
            <a:ext cx="3492549" cy="3381375"/>
          </a:xfrm>
          <a:prstGeom prst="rect">
            <a:avLst/>
          </a:prstGeom>
          <a:noFill/>
          <a:ln>
            <a:noFill/>
          </a:ln>
        </p:spPr>
      </p:pic>
      <p:pic>
        <p:nvPicPr>
          <p:cNvPr id="244" name="Google Shape;244;p24" descr="image.png"/>
          <p:cNvPicPr preferRelativeResize="0"/>
          <p:nvPr/>
        </p:nvPicPr>
        <p:blipFill rotWithShape="1">
          <a:blip r:embed="rId5">
            <a:alphaModFix/>
          </a:blip>
          <a:srcRect/>
          <a:stretch/>
        </p:blipFill>
        <p:spPr>
          <a:xfrm>
            <a:off x="4349799" y="2214562"/>
            <a:ext cx="3492549" cy="3381375"/>
          </a:xfrm>
          <a:prstGeom prst="rect">
            <a:avLst/>
          </a:prstGeom>
          <a:noFill/>
          <a:ln>
            <a:noFill/>
          </a:ln>
        </p:spPr>
      </p:pic>
      <p:pic>
        <p:nvPicPr>
          <p:cNvPr id="245" name="Google Shape;245;p24" descr="image.png"/>
          <p:cNvPicPr preferRelativeResize="0"/>
          <p:nvPr/>
        </p:nvPicPr>
        <p:blipFill rotWithShape="1">
          <a:blip r:embed="rId6">
            <a:alphaModFix/>
          </a:blip>
          <a:srcRect/>
          <a:stretch/>
        </p:blipFill>
        <p:spPr>
          <a:xfrm>
            <a:off x="8128099" y="2214562"/>
            <a:ext cx="3492549" cy="3381375"/>
          </a:xfrm>
          <a:prstGeom prst="rect">
            <a:avLst/>
          </a:prstGeom>
          <a:noFill/>
          <a:ln>
            <a:noFill/>
          </a:ln>
        </p:spPr>
      </p:pic>
      <p:pic>
        <p:nvPicPr>
          <p:cNvPr id="246" name="Google Shape;246;p24" descr="image.png"/>
          <p:cNvPicPr preferRelativeResize="0"/>
          <p:nvPr/>
        </p:nvPicPr>
        <p:blipFill rotWithShape="1">
          <a:blip r:embed="rId7">
            <a:alphaModFix/>
          </a:blip>
          <a:srcRect/>
          <a:stretch/>
        </p:blipFill>
        <p:spPr>
          <a:xfrm>
            <a:off x="2031950" y="2509837"/>
            <a:ext cx="571500" cy="571500"/>
          </a:xfrm>
          <a:prstGeom prst="rect">
            <a:avLst/>
          </a:prstGeom>
          <a:noFill/>
          <a:ln>
            <a:noFill/>
          </a:ln>
        </p:spPr>
      </p:pic>
      <p:sp>
        <p:nvSpPr>
          <p:cNvPr id="247" name="Google Shape;247;p24"/>
          <p:cNvSpPr txBox="1"/>
          <p:nvPr/>
        </p:nvSpPr>
        <p:spPr>
          <a:xfrm>
            <a:off x="912524" y="3271837"/>
            <a:ext cx="2810351"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A202C"/>
                </a:solidFill>
                <a:latin typeface="Poppins"/>
                <a:ea typeface="Poppins"/>
                <a:cs typeface="Poppins"/>
                <a:sym typeface="Poppins"/>
              </a:rPr>
              <a:t>Hyper-Personalization</a:t>
            </a:r>
            <a:endParaRPr/>
          </a:p>
        </p:txBody>
      </p:sp>
      <p:sp>
        <p:nvSpPr>
          <p:cNvPr id="248" name="Google Shape;248;p24"/>
          <p:cNvSpPr txBox="1"/>
          <p:nvPr/>
        </p:nvSpPr>
        <p:spPr>
          <a:xfrm>
            <a:off x="866775" y="3900487"/>
            <a:ext cx="290199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4A5568"/>
                </a:solidFill>
                <a:latin typeface="Lato"/>
                <a:ea typeface="Lato"/>
                <a:cs typeface="Lato"/>
                <a:sym typeface="Lato"/>
              </a:rPr>
              <a:t>AI will move beyond discrete features to personalizing the entire user journey, proactively offering suggestions and dynamically re-ranking UI elements.</a:t>
            </a:r>
            <a:endParaRPr/>
          </a:p>
        </p:txBody>
      </p:sp>
      <p:pic>
        <p:nvPicPr>
          <p:cNvPr id="249" name="Google Shape;249;p24" descr="image.png"/>
          <p:cNvPicPr preferRelativeResize="0"/>
          <p:nvPr/>
        </p:nvPicPr>
        <p:blipFill rotWithShape="1">
          <a:blip r:embed="rId7">
            <a:alphaModFix/>
          </a:blip>
          <a:srcRect/>
          <a:stretch/>
        </p:blipFill>
        <p:spPr>
          <a:xfrm>
            <a:off x="5810250" y="2509837"/>
            <a:ext cx="571500" cy="571500"/>
          </a:xfrm>
          <a:prstGeom prst="rect">
            <a:avLst/>
          </a:prstGeom>
          <a:noFill/>
          <a:ln>
            <a:noFill/>
          </a:ln>
        </p:spPr>
      </p:pic>
      <p:sp>
        <p:nvSpPr>
          <p:cNvPr id="250" name="Google Shape;250;p24"/>
          <p:cNvSpPr txBox="1"/>
          <p:nvPr/>
        </p:nvSpPr>
        <p:spPr>
          <a:xfrm>
            <a:off x="4980860" y="3271837"/>
            <a:ext cx="2230278"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A202C"/>
                </a:solidFill>
                <a:latin typeface="Poppins"/>
                <a:ea typeface="Poppins"/>
                <a:cs typeface="Poppins"/>
                <a:sym typeface="Poppins"/>
              </a:rPr>
              <a:t>Truly Multi-Modal</a:t>
            </a:r>
            <a:endParaRPr/>
          </a:p>
        </p:txBody>
      </p:sp>
      <p:sp>
        <p:nvSpPr>
          <p:cNvPr id="251" name="Google Shape;251;p24"/>
          <p:cNvSpPr txBox="1"/>
          <p:nvPr/>
        </p:nvSpPr>
        <p:spPr>
          <a:xfrm>
            <a:off x="4645074" y="3900487"/>
            <a:ext cx="290199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4A5568"/>
                </a:solidFill>
                <a:latin typeface="Lato"/>
                <a:ea typeface="Lato"/>
                <a:cs typeface="Lato"/>
                <a:sym typeface="Lato"/>
              </a:rPr>
              <a:t>A seamless blend of voice, vision, and text. Users will interact in the most natural way possible, and the app will be expected to understand and synthesize these inputs.</a:t>
            </a:r>
            <a:endParaRPr/>
          </a:p>
        </p:txBody>
      </p:sp>
      <p:pic>
        <p:nvPicPr>
          <p:cNvPr id="252" name="Google Shape;252;p24" descr="image.png"/>
          <p:cNvPicPr preferRelativeResize="0"/>
          <p:nvPr/>
        </p:nvPicPr>
        <p:blipFill rotWithShape="1">
          <a:blip r:embed="rId7">
            <a:alphaModFix/>
          </a:blip>
          <a:srcRect/>
          <a:stretch/>
        </p:blipFill>
        <p:spPr>
          <a:xfrm>
            <a:off x="9588549" y="2509837"/>
            <a:ext cx="571500" cy="571500"/>
          </a:xfrm>
          <a:prstGeom prst="rect">
            <a:avLst/>
          </a:prstGeom>
          <a:noFill/>
          <a:ln>
            <a:noFill/>
          </a:ln>
        </p:spPr>
      </p:pic>
      <p:sp>
        <p:nvSpPr>
          <p:cNvPr id="253" name="Google Shape;253;p24"/>
          <p:cNvSpPr txBox="1"/>
          <p:nvPr/>
        </p:nvSpPr>
        <p:spPr>
          <a:xfrm>
            <a:off x="8350824" y="3271837"/>
            <a:ext cx="3047099"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A202C"/>
                </a:solidFill>
                <a:latin typeface="Poppins"/>
                <a:ea typeface="Poppins"/>
                <a:cs typeface="Poppins"/>
                <a:sym typeface="Poppins"/>
              </a:rPr>
              <a:t>AI-Assisted Development</a:t>
            </a:r>
            <a:endParaRPr/>
          </a:p>
        </p:txBody>
      </p:sp>
      <p:sp>
        <p:nvSpPr>
          <p:cNvPr id="254" name="Google Shape;254;p24"/>
          <p:cNvSpPr txBox="1"/>
          <p:nvPr/>
        </p:nvSpPr>
        <p:spPr>
          <a:xfrm>
            <a:off x="8423374" y="4233862"/>
            <a:ext cx="290199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4A5568"/>
                </a:solidFill>
                <a:latin typeface="Lato"/>
                <a:ea typeface="Lato"/>
                <a:cs typeface="Lato"/>
                <a:sym typeface="Lato"/>
              </a:rPr>
              <a:t>AI will not only power the apps; it will help build them. AI-powered pipelines will auto-generate Flutter and Firebase code from a high-level idea.</a:t>
            </a:r>
            <a:endParaRPr/>
          </a:p>
        </p:txBody>
      </p:sp>
      <p:pic>
        <p:nvPicPr>
          <p:cNvPr id="255" name="Google Shape;255;p24" descr="image.png"/>
          <p:cNvPicPr preferRelativeResize="0"/>
          <p:nvPr/>
        </p:nvPicPr>
        <p:blipFill rotWithShape="1">
          <a:blip r:embed="rId8">
            <a:alphaModFix/>
          </a:blip>
          <a:srcRect/>
          <a:stretch/>
        </p:blipFill>
        <p:spPr>
          <a:xfrm>
            <a:off x="2079575" y="2605087"/>
            <a:ext cx="476250" cy="381000"/>
          </a:xfrm>
          <a:prstGeom prst="rect">
            <a:avLst/>
          </a:prstGeom>
          <a:noFill/>
          <a:ln>
            <a:noFill/>
          </a:ln>
        </p:spPr>
      </p:pic>
      <p:pic>
        <p:nvPicPr>
          <p:cNvPr id="256" name="Google Shape;256;p24" descr="image.png"/>
          <p:cNvPicPr preferRelativeResize="0"/>
          <p:nvPr/>
        </p:nvPicPr>
        <p:blipFill rotWithShape="1">
          <a:blip r:embed="rId9">
            <a:alphaModFix/>
          </a:blip>
          <a:srcRect/>
          <a:stretch/>
        </p:blipFill>
        <p:spPr>
          <a:xfrm>
            <a:off x="5953125" y="2605087"/>
            <a:ext cx="285750" cy="381000"/>
          </a:xfrm>
          <a:prstGeom prst="rect">
            <a:avLst/>
          </a:prstGeom>
          <a:noFill/>
          <a:ln>
            <a:noFill/>
          </a:ln>
        </p:spPr>
      </p:pic>
      <p:pic>
        <p:nvPicPr>
          <p:cNvPr id="257" name="Google Shape;257;p24" descr="image.png"/>
          <p:cNvPicPr preferRelativeResize="0"/>
          <p:nvPr/>
        </p:nvPicPr>
        <p:blipFill rotWithShape="1">
          <a:blip r:embed="rId10">
            <a:alphaModFix/>
          </a:blip>
          <a:srcRect/>
          <a:stretch/>
        </p:blipFill>
        <p:spPr>
          <a:xfrm>
            <a:off x="9636174" y="2605087"/>
            <a:ext cx="476250" cy="381000"/>
          </a:xfrm>
          <a:prstGeom prst="rect">
            <a:avLst/>
          </a:prstGeom>
          <a:noFill/>
          <a:ln>
            <a:noFill/>
          </a:ln>
        </p:spPr>
      </p:pic>
      <p:sp>
        <p:nvSpPr>
          <p:cNvPr id="258" name="Google Shape;258;p2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A2540"/>
                </a:solidFill>
                <a:latin typeface="Poppins"/>
                <a:ea typeface="Poppins"/>
                <a:cs typeface="Poppins"/>
                <a:sym typeface="Poppins"/>
              </a:rPr>
              <a:t>The Future: Agentic Flutter Apps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1065</Words>
  <Application>Microsoft Macintosh PowerPoint</Application>
  <PresentationFormat>Widescreen</PresentationFormat>
  <Paragraphs>91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Poppins</vt:lpstr>
      <vt:lpstr>Lato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Stefan Dinu Rusu | Tazz, IT</cp:lastModifiedBy>
  <cp:revision>1</cp:revision>
  <dcterms:modified xsi:type="dcterms:W3CDTF">2025-11-15T12:36:53Z</dcterms:modified>
</cp:coreProperties>
</file>