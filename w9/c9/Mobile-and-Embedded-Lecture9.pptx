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9144000"/>
  <p:embeddedFontLst>
    <p:embeddedFont>
      <p:font typeface="Lato" panose="020F0502020204030203" pitchFamily="34" charset="0"/>
      <p:regular r:id="rId15"/>
      <p:bold r:id="rId16"/>
      <p:italic r:id="rId17"/>
      <p:boldItalic r:id="rId18"/>
    </p:embeddedFont>
    <p:embeddedFont>
      <p:font typeface="Poppins" pitchFamily="2" charset="77"/>
      <p:regular r:id="rId19"/>
      <p:bold r:id="rId20"/>
      <p:italic r:id="rId21"/>
      <p:boldItalic r:id="rId2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107978D3-F39F-4772-BD46-F5F44E156AD5}">
  <a:tblStyle styleId="{107978D3-F39F-4772-BD46-F5F44E156AD5}"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CF4"/>
          </a:solidFill>
        </a:fill>
      </a:tcStyle>
    </a:wholeTbl>
    <a:band1H>
      <a:tcTxStyle/>
      <a:tcStyle>
        <a:tcBdr/>
        <a:fill>
          <a:solidFill>
            <a:srgbClr val="CFD7E7"/>
          </a:solidFill>
        </a:fill>
      </a:tcStyle>
    </a:band1H>
    <a:band2H>
      <a:tcTxStyle/>
      <a:tcStyle>
        <a:tcBdr/>
      </a:tcStyle>
    </a:band2H>
    <a:band1V>
      <a:tcTxStyle/>
      <a:tcStyle>
        <a:tcBdr/>
        <a:fill>
          <a:solidFill>
            <a:srgbClr val="CFD7E7"/>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26"/>
  </p:normalViewPr>
  <p:slideViewPr>
    <p:cSldViewPr snapToGrid="0">
      <p:cViewPr varScale="1">
        <p:scale>
          <a:sx n="121" d="100"/>
          <a:sy n="121" d="100"/>
        </p:scale>
        <p:origin x="744" y="168"/>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4.fntdata"/><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font" Target="fonts/font7.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3.fntdata"/><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font" Target="fonts/font2.fntdata"/><Relationship Id="rId20" Type="http://schemas.openxmlformats.org/officeDocument/2006/relationships/font" Target="fonts/font6.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font" Target="fonts/font1.fntdata"/><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font" Target="fonts/font5.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 Id="rId22" Type="http://schemas.openxmlformats.org/officeDocument/2006/relationships/font" Target="fonts/font8.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2" name="Google Shape;82;p1: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
        <p:cNvGrpSpPr/>
        <p:nvPr/>
      </p:nvGrpSpPr>
      <p:grpSpPr>
        <a:xfrm>
          <a:off x="0" y="0"/>
          <a:ext cx="0" cy="0"/>
          <a:chOff x="0" y="0"/>
          <a:chExt cx="0" cy="0"/>
        </a:xfrm>
      </p:grpSpPr>
      <p:sp>
        <p:nvSpPr>
          <p:cNvPr id="89" name="Google Shape;89;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0" name="Google Shape;90;p2: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p:cNvGrpSpPr/>
        <p:nvPr/>
      </p:nvGrpSpPr>
      <p:grpSpPr>
        <a:xfrm>
          <a:off x="0" y="0"/>
          <a:ext cx="0" cy="0"/>
          <a:chOff x="0" y="0"/>
          <a:chExt cx="0" cy="0"/>
        </a:xfrm>
      </p:grpSpPr>
      <p:sp>
        <p:nvSpPr>
          <p:cNvPr id="122" name="Google Shape;122;p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23" name="Google Shape;123;p4: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
        <p:cNvGrpSpPr/>
        <p:nvPr/>
      </p:nvGrpSpPr>
      <p:grpSpPr>
        <a:xfrm>
          <a:off x="0" y="0"/>
          <a:ext cx="0" cy="0"/>
          <a:chOff x="0" y="0"/>
          <a:chExt cx="0" cy="0"/>
        </a:xfrm>
      </p:grpSpPr>
      <p:sp>
        <p:nvSpPr>
          <p:cNvPr id="134" name="Google Shape;134;p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5" name="Google Shape;135;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p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1" name="Google Shape;151;p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
        <p:cNvGrpSpPr/>
        <p:nvPr/>
      </p:nvGrpSpPr>
      <p:grpSpPr>
        <a:xfrm>
          <a:off x="0" y="0"/>
          <a:ext cx="0" cy="0"/>
          <a:chOff x="0" y="0"/>
          <a:chExt cx="0" cy="0"/>
        </a:xfrm>
      </p:grpSpPr>
      <p:sp>
        <p:nvSpPr>
          <p:cNvPr id="161" name="Google Shape;161;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62" name="Google Shape;162;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9"/>
        <p:cNvGrpSpPr/>
        <p:nvPr/>
      </p:nvGrpSpPr>
      <p:grpSpPr>
        <a:xfrm>
          <a:off x="0" y="0"/>
          <a:ext cx="0" cy="0"/>
          <a:chOff x="0" y="0"/>
          <a:chExt cx="0" cy="0"/>
        </a:xfrm>
      </p:grpSpPr>
      <p:sp>
        <p:nvSpPr>
          <p:cNvPr id="180" name="Google Shape;180;p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81" name="Google Shape;181;p8: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1"/>
        <p:cNvGrpSpPr/>
        <p:nvPr/>
      </p:nvGrpSpPr>
      <p:grpSpPr>
        <a:xfrm>
          <a:off x="0" y="0"/>
          <a:ext cx="0" cy="0"/>
          <a:chOff x="0" y="0"/>
          <a:chExt cx="0" cy="0"/>
        </a:xfrm>
      </p:grpSpPr>
      <p:sp>
        <p:nvSpPr>
          <p:cNvPr id="192" name="Google Shape;192;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3" name="Google Shape;193;p9: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4"/>
        <p:cNvGrpSpPr/>
        <p:nvPr/>
      </p:nvGrpSpPr>
      <p:grpSpPr>
        <a:xfrm>
          <a:off x="0" y="0"/>
          <a:ext cx="0" cy="0"/>
          <a:chOff x="0" y="0"/>
          <a:chExt cx="0" cy="0"/>
        </a:xfrm>
      </p:grpSpPr>
      <p:sp>
        <p:nvSpPr>
          <p:cNvPr id="205" name="Google Shape;205;p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06" name="Google Shape;206;p10: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6"/>
        <p:cNvGrpSpPr/>
        <p:nvPr/>
      </p:nvGrpSpPr>
      <p:grpSpPr>
        <a:xfrm>
          <a:off x="0" y="0"/>
          <a:ext cx="0" cy="0"/>
          <a:chOff x="0" y="0"/>
          <a:chExt cx="0" cy="0"/>
        </a:xfrm>
      </p:grpSpPr>
      <p:sp>
        <p:nvSpPr>
          <p:cNvPr id="217" name="Google Shape;217;p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18" name="Google Shape;218;p11: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8"/>
        <p:cNvGrpSpPr/>
        <p:nvPr/>
      </p:nvGrpSpPr>
      <p:grpSpPr>
        <a:xfrm>
          <a:off x="0" y="0"/>
          <a:ext cx="0" cy="0"/>
          <a:chOff x="0" y="0"/>
          <a:chExt cx="0" cy="0"/>
        </a:xfrm>
      </p:grpSpPr>
      <p:sp>
        <p:nvSpPr>
          <p:cNvPr id="239" name="Google Shape;239;p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40" name="Google Shape;240;p12: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1"/>
        <p:cNvGrpSpPr/>
        <p:nvPr/>
      </p:nvGrpSpPr>
      <p:grpSpPr>
        <a:xfrm>
          <a:off x="0" y="0"/>
          <a:ext cx="0" cy="0"/>
          <a:chOff x="0" y="0"/>
          <a:chExt cx="0" cy="0"/>
        </a:xfrm>
      </p:grpSpPr>
      <p:sp>
        <p:nvSpPr>
          <p:cNvPr id="12" name="Google Shape;12;p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3" name="Google Shape;13;p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4" name="Google Shape;14;p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3"/>
          <p:cNvSpPr txBox="1">
            <a:spLocks noGrp="1"/>
          </p:cNvSpPr>
          <p:nvPr>
            <p:ph type="ctrTitle"/>
          </p:nvPr>
        </p:nvSpPr>
        <p:spPr>
          <a:xfrm>
            <a:off x="685800" y="2130425"/>
            <a:ext cx="7772400" cy="1470025"/>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3"/>
          <p:cNvSpPr txBox="1">
            <a:spLocks noGrp="1"/>
          </p:cNvSpPr>
          <p:nvPr>
            <p:ph type="subTitle" idx="1"/>
          </p:nvPr>
        </p:nvSpPr>
        <p:spPr>
          <a:xfrm>
            <a:off x="1371600" y="3886200"/>
            <a:ext cx="6400800" cy="1752600"/>
          </a:xfrm>
          <a:prstGeom prst="rect">
            <a:avLst/>
          </a:prstGeom>
          <a:noFill/>
          <a:ln>
            <a:noFill/>
          </a:ln>
        </p:spPr>
        <p:txBody>
          <a:bodyPr spcFirstLastPara="1" wrap="square" lIns="91425" tIns="45700" rIns="91425" bIns="45700" anchor="t" anchorCtr="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a:endParaRPr/>
          </a:p>
        </p:txBody>
      </p:sp>
      <p:sp>
        <p:nvSpPr>
          <p:cNvPr id="18" name="Google Shape;18;p3"/>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3"/>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3"/>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4"/>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4"/>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4" name="Google Shape;24;p4"/>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4"/>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4"/>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5"/>
          <p:cNvSpPr txBox="1">
            <a:spLocks noGrp="1"/>
          </p:cNvSpPr>
          <p:nvPr>
            <p:ph type="title"/>
          </p:nvPr>
        </p:nvSpPr>
        <p:spPr>
          <a:xfrm>
            <a:off x="722313" y="4406900"/>
            <a:ext cx="7772400" cy="1362075"/>
          </a:xfrm>
          <a:prstGeom prst="rect">
            <a:avLst/>
          </a:prstGeom>
          <a:noFill/>
          <a:ln>
            <a:noFill/>
          </a:ln>
        </p:spPr>
        <p:txBody>
          <a:bodyPr spcFirstLastPara="1" wrap="square" lIns="91425" tIns="45700" rIns="91425" bIns="45700" anchor="t" anchorCtr="0">
            <a:normAutofit/>
          </a:bodyPr>
          <a:lstStyle>
            <a:lvl1pPr lvl="0" algn="l">
              <a:spcBef>
                <a:spcPts val="0"/>
              </a:spcBef>
              <a:spcAft>
                <a:spcPts val="0"/>
              </a:spcAft>
              <a:buClr>
                <a:schemeClr val="dk1"/>
              </a:buClr>
              <a:buSzPts val="4000"/>
              <a:buFont typeface="Calibri"/>
              <a:buNone/>
              <a:defRPr sz="40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 name="Google Shape;29;p5"/>
          <p:cNvSpPr txBox="1">
            <a:spLocks noGrp="1"/>
          </p:cNvSpPr>
          <p:nvPr>
            <p:ph type="body" idx="1"/>
          </p:nvPr>
        </p:nvSpPr>
        <p:spPr>
          <a:xfrm>
            <a:off x="722313" y="2906713"/>
            <a:ext cx="7772400" cy="1500187"/>
          </a:xfrm>
          <a:prstGeom prst="rect">
            <a:avLst/>
          </a:prstGeom>
          <a:noFill/>
          <a:ln>
            <a:noFill/>
          </a:ln>
        </p:spPr>
        <p:txBody>
          <a:bodyPr spcFirstLastPara="1" wrap="square" lIns="91425" tIns="45700" rIns="91425" bIns="45700" anchor="b" anchorCtr="0">
            <a:normAutofit/>
          </a:bodyPr>
          <a:lstStyle>
            <a:lvl1pPr marL="457200" lvl="0" indent="-228600" algn="l">
              <a:spcBef>
                <a:spcPts val="400"/>
              </a:spcBef>
              <a:spcAft>
                <a:spcPts val="0"/>
              </a:spcAft>
              <a:buClr>
                <a:srgbClr val="888888"/>
              </a:buClr>
              <a:buSzPts val="2000"/>
              <a:buNone/>
              <a:defRPr sz="2000">
                <a:solidFill>
                  <a:srgbClr val="888888"/>
                </a:solidFill>
              </a:defRPr>
            </a:lvl1pPr>
            <a:lvl2pPr marL="914400" lvl="1" indent="-228600" algn="l">
              <a:spcBef>
                <a:spcPts val="360"/>
              </a:spcBef>
              <a:spcAft>
                <a:spcPts val="0"/>
              </a:spcAft>
              <a:buClr>
                <a:srgbClr val="888888"/>
              </a:buClr>
              <a:buSzPts val="1800"/>
              <a:buNone/>
              <a:defRPr sz="1800">
                <a:solidFill>
                  <a:srgbClr val="888888"/>
                </a:solidFill>
              </a:defRPr>
            </a:lvl2pPr>
            <a:lvl3pPr marL="1371600" lvl="2" indent="-228600" algn="l">
              <a:spcBef>
                <a:spcPts val="320"/>
              </a:spcBef>
              <a:spcAft>
                <a:spcPts val="0"/>
              </a:spcAft>
              <a:buClr>
                <a:srgbClr val="888888"/>
              </a:buClr>
              <a:buSzPts val="1600"/>
              <a:buNone/>
              <a:defRPr sz="1600">
                <a:solidFill>
                  <a:srgbClr val="888888"/>
                </a:solidFill>
              </a:defRPr>
            </a:lvl3pPr>
            <a:lvl4pPr marL="1828800" lvl="3" indent="-228600" algn="l">
              <a:spcBef>
                <a:spcPts val="280"/>
              </a:spcBef>
              <a:spcAft>
                <a:spcPts val="0"/>
              </a:spcAft>
              <a:buClr>
                <a:srgbClr val="888888"/>
              </a:buClr>
              <a:buSzPts val="1400"/>
              <a:buNone/>
              <a:defRPr sz="1400">
                <a:solidFill>
                  <a:srgbClr val="888888"/>
                </a:solidFill>
              </a:defRPr>
            </a:lvl4pPr>
            <a:lvl5pPr marL="2286000" lvl="4" indent="-228600" algn="l">
              <a:spcBef>
                <a:spcPts val="280"/>
              </a:spcBef>
              <a:spcAft>
                <a:spcPts val="0"/>
              </a:spcAft>
              <a:buClr>
                <a:srgbClr val="888888"/>
              </a:buClr>
              <a:buSzPts val="1400"/>
              <a:buNone/>
              <a:defRPr sz="1400">
                <a:solidFill>
                  <a:srgbClr val="888888"/>
                </a:solidFill>
              </a:defRPr>
            </a:lvl5pPr>
            <a:lvl6pPr marL="2743200" lvl="5" indent="-228600" algn="l">
              <a:spcBef>
                <a:spcPts val="280"/>
              </a:spcBef>
              <a:spcAft>
                <a:spcPts val="0"/>
              </a:spcAft>
              <a:buClr>
                <a:srgbClr val="888888"/>
              </a:buClr>
              <a:buSzPts val="1400"/>
              <a:buNone/>
              <a:defRPr sz="1400">
                <a:solidFill>
                  <a:srgbClr val="888888"/>
                </a:solidFill>
              </a:defRPr>
            </a:lvl6pPr>
            <a:lvl7pPr marL="3200400" lvl="6" indent="-228600" algn="l">
              <a:spcBef>
                <a:spcPts val="280"/>
              </a:spcBef>
              <a:spcAft>
                <a:spcPts val="0"/>
              </a:spcAft>
              <a:buClr>
                <a:srgbClr val="888888"/>
              </a:buClr>
              <a:buSzPts val="1400"/>
              <a:buNone/>
              <a:defRPr sz="1400">
                <a:solidFill>
                  <a:srgbClr val="888888"/>
                </a:solidFill>
              </a:defRPr>
            </a:lvl7pPr>
            <a:lvl8pPr marL="3657600" lvl="7" indent="-228600" algn="l">
              <a:spcBef>
                <a:spcPts val="280"/>
              </a:spcBef>
              <a:spcAft>
                <a:spcPts val="0"/>
              </a:spcAft>
              <a:buClr>
                <a:srgbClr val="888888"/>
              </a:buClr>
              <a:buSzPts val="1400"/>
              <a:buNone/>
              <a:defRPr sz="1400">
                <a:solidFill>
                  <a:srgbClr val="888888"/>
                </a:solidFill>
              </a:defRPr>
            </a:lvl8pPr>
            <a:lvl9pPr marL="4114800" lvl="8" indent="-228600" algn="l">
              <a:spcBef>
                <a:spcPts val="280"/>
              </a:spcBef>
              <a:spcAft>
                <a:spcPts val="0"/>
              </a:spcAft>
              <a:buClr>
                <a:srgbClr val="888888"/>
              </a:buClr>
              <a:buSzPts val="1400"/>
              <a:buNone/>
              <a:defRPr sz="1400">
                <a:solidFill>
                  <a:srgbClr val="888888"/>
                </a:solidFill>
              </a:defRPr>
            </a:lvl9pPr>
          </a:lstStyle>
          <a:p>
            <a:endParaRPr/>
          </a:p>
        </p:txBody>
      </p:sp>
      <p:sp>
        <p:nvSpPr>
          <p:cNvPr id="30" name="Google Shape;30;p5"/>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 name="Google Shape;31;p5"/>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5"/>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6"/>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 name="Google Shape;35;p6"/>
          <p:cNvSpPr txBox="1">
            <a:spLocks noGrp="1"/>
          </p:cNvSpPr>
          <p:nvPr>
            <p:ph type="body" idx="1"/>
          </p:nvPr>
        </p:nvSpPr>
        <p:spPr>
          <a:xfrm>
            <a:off x="457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6" name="Google Shape;36;p6"/>
          <p:cNvSpPr txBox="1">
            <a:spLocks noGrp="1"/>
          </p:cNvSpPr>
          <p:nvPr>
            <p:ph type="body" idx="2"/>
          </p:nvPr>
        </p:nvSpPr>
        <p:spPr>
          <a:xfrm>
            <a:off x="4648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7" name="Google Shape;37;p6"/>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8" name="Google Shape;38;p6"/>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6"/>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7"/>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2" name="Google Shape;42;p7"/>
          <p:cNvSpPr txBox="1">
            <a:spLocks noGrp="1"/>
          </p:cNvSpPr>
          <p:nvPr>
            <p:ph type="body" idx="1"/>
          </p:nvPr>
        </p:nvSpPr>
        <p:spPr>
          <a:xfrm>
            <a:off x="457200" y="1535113"/>
            <a:ext cx="4040188"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3" name="Google Shape;43;p7"/>
          <p:cNvSpPr txBox="1">
            <a:spLocks noGrp="1"/>
          </p:cNvSpPr>
          <p:nvPr>
            <p:ph type="body" idx="2"/>
          </p:nvPr>
        </p:nvSpPr>
        <p:spPr>
          <a:xfrm>
            <a:off x="457200" y="2174875"/>
            <a:ext cx="4040188"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4" name="Google Shape;44;p7"/>
          <p:cNvSpPr txBox="1">
            <a:spLocks noGrp="1"/>
          </p:cNvSpPr>
          <p:nvPr>
            <p:ph type="body" idx="3"/>
          </p:nvPr>
        </p:nvSpPr>
        <p:spPr>
          <a:xfrm>
            <a:off x="4645025" y="1535113"/>
            <a:ext cx="4041775"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5" name="Google Shape;45;p7"/>
          <p:cNvSpPr txBox="1">
            <a:spLocks noGrp="1"/>
          </p:cNvSpPr>
          <p:nvPr>
            <p:ph type="body" idx="4"/>
          </p:nvPr>
        </p:nvSpPr>
        <p:spPr>
          <a:xfrm>
            <a:off x="4645025" y="2174875"/>
            <a:ext cx="4041775"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6" name="Google Shape;46;p7"/>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7"/>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7"/>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8"/>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8"/>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8"/>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8"/>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9"/>
          <p:cNvSpPr txBox="1">
            <a:spLocks noGrp="1"/>
          </p:cNvSpPr>
          <p:nvPr>
            <p:ph type="title"/>
          </p:nvPr>
        </p:nvSpPr>
        <p:spPr>
          <a:xfrm>
            <a:off x="457200" y="273050"/>
            <a:ext cx="3008313" cy="116205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9"/>
          <p:cNvSpPr txBox="1">
            <a:spLocks noGrp="1"/>
          </p:cNvSpPr>
          <p:nvPr>
            <p:ph type="body" idx="1"/>
          </p:nvPr>
        </p:nvSpPr>
        <p:spPr>
          <a:xfrm>
            <a:off x="3575050" y="273050"/>
            <a:ext cx="5111750" cy="5853113"/>
          </a:xfrm>
          <a:prstGeom prst="rect">
            <a:avLst/>
          </a:prstGeom>
          <a:noFill/>
          <a:ln>
            <a:noFill/>
          </a:ln>
        </p:spPr>
        <p:txBody>
          <a:bodyPr spcFirstLastPara="1" wrap="square" lIns="91425" tIns="45700" rIns="91425" bIns="45700" anchor="t" anchorCtr="0">
            <a:normAutofit/>
          </a:bodyPr>
          <a:lstStyle>
            <a:lvl1pPr marL="457200" lvl="0" indent="-431800" algn="l">
              <a:spcBef>
                <a:spcPts val="640"/>
              </a:spcBef>
              <a:spcAft>
                <a:spcPts val="0"/>
              </a:spcAft>
              <a:buClr>
                <a:schemeClr val="dk1"/>
              </a:buClr>
              <a:buSzPts val="3200"/>
              <a:buChar char="•"/>
              <a:defRPr sz="3200"/>
            </a:lvl1pPr>
            <a:lvl2pPr marL="914400" lvl="1" indent="-406400" algn="l">
              <a:spcBef>
                <a:spcPts val="560"/>
              </a:spcBef>
              <a:spcAft>
                <a:spcPts val="0"/>
              </a:spcAft>
              <a:buClr>
                <a:schemeClr val="dk1"/>
              </a:buClr>
              <a:buSzPts val="2800"/>
              <a:buChar char="–"/>
              <a:defRPr sz="2800"/>
            </a:lvl2pPr>
            <a:lvl3pPr marL="1371600" lvl="2" indent="-381000" algn="l">
              <a:spcBef>
                <a:spcPts val="480"/>
              </a:spcBef>
              <a:spcAft>
                <a:spcPts val="0"/>
              </a:spcAft>
              <a:buClr>
                <a:schemeClr val="dk1"/>
              </a:buClr>
              <a:buSzPts val="2400"/>
              <a:buChar char="•"/>
              <a:defRPr sz="2400"/>
            </a:lvl3pPr>
            <a:lvl4pPr marL="1828800" lvl="3" indent="-355600" algn="l">
              <a:spcBef>
                <a:spcPts val="400"/>
              </a:spcBef>
              <a:spcAft>
                <a:spcPts val="0"/>
              </a:spcAft>
              <a:buClr>
                <a:schemeClr val="dk1"/>
              </a:buClr>
              <a:buSzPts val="2000"/>
              <a:buChar char="–"/>
              <a:defRPr sz="2000"/>
            </a:lvl4pPr>
            <a:lvl5pPr marL="2286000" lvl="4" indent="-355600" algn="l">
              <a:spcBef>
                <a:spcPts val="400"/>
              </a:spcBef>
              <a:spcAft>
                <a:spcPts val="0"/>
              </a:spcAft>
              <a:buClr>
                <a:schemeClr val="dk1"/>
              </a:buClr>
              <a:buSzPts val="2000"/>
              <a:buChar char="»"/>
              <a:defRPr sz="2000"/>
            </a:lvl5pPr>
            <a:lvl6pPr marL="2743200" lvl="5" indent="-355600" algn="l">
              <a:spcBef>
                <a:spcPts val="400"/>
              </a:spcBef>
              <a:spcAft>
                <a:spcPts val="0"/>
              </a:spcAft>
              <a:buClr>
                <a:schemeClr val="dk1"/>
              </a:buClr>
              <a:buSzPts val="2000"/>
              <a:buChar char="•"/>
              <a:defRPr sz="2000"/>
            </a:lvl6pPr>
            <a:lvl7pPr marL="3200400" lvl="6" indent="-355600" algn="l">
              <a:spcBef>
                <a:spcPts val="400"/>
              </a:spcBef>
              <a:spcAft>
                <a:spcPts val="0"/>
              </a:spcAft>
              <a:buClr>
                <a:schemeClr val="dk1"/>
              </a:buClr>
              <a:buSzPts val="2000"/>
              <a:buChar char="•"/>
              <a:defRPr sz="2000"/>
            </a:lvl7pPr>
            <a:lvl8pPr marL="3657600" lvl="7" indent="-355600" algn="l">
              <a:spcBef>
                <a:spcPts val="400"/>
              </a:spcBef>
              <a:spcAft>
                <a:spcPts val="0"/>
              </a:spcAft>
              <a:buClr>
                <a:schemeClr val="dk1"/>
              </a:buClr>
              <a:buSzPts val="2000"/>
              <a:buChar char="•"/>
              <a:defRPr sz="2000"/>
            </a:lvl8pPr>
            <a:lvl9pPr marL="4114800" lvl="8" indent="-355600" algn="l">
              <a:spcBef>
                <a:spcPts val="400"/>
              </a:spcBef>
              <a:spcAft>
                <a:spcPts val="0"/>
              </a:spcAft>
              <a:buClr>
                <a:schemeClr val="dk1"/>
              </a:buClr>
              <a:buSzPts val="2000"/>
              <a:buChar char="•"/>
              <a:defRPr sz="2000"/>
            </a:lvl9pPr>
          </a:lstStyle>
          <a:p>
            <a:endParaRPr/>
          </a:p>
        </p:txBody>
      </p:sp>
      <p:sp>
        <p:nvSpPr>
          <p:cNvPr id="57" name="Google Shape;57;p9"/>
          <p:cNvSpPr txBox="1">
            <a:spLocks noGrp="1"/>
          </p:cNvSpPr>
          <p:nvPr>
            <p:ph type="body" idx="2"/>
          </p:nvPr>
        </p:nvSpPr>
        <p:spPr>
          <a:xfrm>
            <a:off x="457200" y="1435100"/>
            <a:ext cx="3008313" cy="4691063"/>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58" name="Google Shape;58;p9"/>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9"/>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9"/>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10"/>
          <p:cNvSpPr txBox="1">
            <a:spLocks noGrp="1"/>
          </p:cNvSpPr>
          <p:nvPr>
            <p:ph type="title"/>
          </p:nvPr>
        </p:nvSpPr>
        <p:spPr>
          <a:xfrm>
            <a:off x="1792288" y="4800600"/>
            <a:ext cx="5486400" cy="566738"/>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10"/>
          <p:cNvSpPr>
            <a:spLocks noGrp="1"/>
          </p:cNvSpPr>
          <p:nvPr>
            <p:ph type="pic" idx="2"/>
          </p:nvPr>
        </p:nvSpPr>
        <p:spPr>
          <a:xfrm>
            <a:off x="1792288" y="612775"/>
            <a:ext cx="5486400" cy="4114800"/>
          </a:xfrm>
          <a:prstGeom prst="rect">
            <a:avLst/>
          </a:prstGeom>
          <a:noFill/>
          <a:ln>
            <a:noFill/>
          </a:ln>
        </p:spPr>
      </p:sp>
      <p:sp>
        <p:nvSpPr>
          <p:cNvPr id="64" name="Google Shape;64;p10"/>
          <p:cNvSpPr txBox="1">
            <a:spLocks noGrp="1"/>
          </p:cNvSpPr>
          <p:nvPr>
            <p:ph type="body" idx="1"/>
          </p:nvPr>
        </p:nvSpPr>
        <p:spPr>
          <a:xfrm>
            <a:off x="1792288" y="5367338"/>
            <a:ext cx="5486400" cy="804862"/>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65" name="Google Shape;65;p10"/>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10"/>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10"/>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11"/>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11"/>
          <p:cNvSpPr txBox="1">
            <a:spLocks noGrp="1"/>
          </p:cNvSpPr>
          <p:nvPr>
            <p:ph type="body" idx="1"/>
          </p:nvPr>
        </p:nvSpPr>
        <p:spPr>
          <a:xfrm rot="5400000">
            <a:off x="2309019" y="-251618"/>
            <a:ext cx="4525963" cy="82296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1" name="Google Shape;71;p1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1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1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12"/>
          <p:cNvSpPr txBox="1">
            <a:spLocks noGrp="1"/>
          </p:cNvSpPr>
          <p:nvPr>
            <p:ph type="title"/>
          </p:nvPr>
        </p:nvSpPr>
        <p:spPr>
          <a:xfrm rot="5400000">
            <a:off x="4732338" y="2171701"/>
            <a:ext cx="5851525" cy="20574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12"/>
          <p:cNvSpPr txBox="1">
            <a:spLocks noGrp="1"/>
          </p:cNvSpPr>
          <p:nvPr>
            <p:ph type="body" idx="1"/>
          </p:nvPr>
        </p:nvSpPr>
        <p:spPr>
          <a:xfrm rot="5400000">
            <a:off x="541338" y="190500"/>
            <a:ext cx="5851525" cy="60198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7" name="Google Shape;77;p1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1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1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marR="0" lvl="0" algn="ctr" rtl="0">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1"/>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marR="0" lvl="0"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8" name="Google Shape;8;p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3.png"/><Relationship Id="rId7"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10" Type="http://schemas.openxmlformats.org/officeDocument/2006/relationships/image" Target="../media/image12.png"/><Relationship Id="rId4" Type="http://schemas.openxmlformats.org/officeDocument/2006/relationships/image" Target="../media/image6.png"/><Relationship Id="rId9" Type="http://schemas.openxmlformats.org/officeDocument/2006/relationships/image" Target="../media/image11.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xml"/><Relationship Id="rId5" Type="http://schemas.openxmlformats.org/officeDocument/2006/relationships/image" Target="../media/image14.png"/><Relationship Id="rId4" Type="http://schemas.openxmlformats.org/officeDocument/2006/relationships/image" Target="../media/image13.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16.pn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3.png"/><Relationship Id="rId7"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image" Target="../media/image23.png"/><Relationship Id="rId10" Type="http://schemas.openxmlformats.org/officeDocument/2006/relationships/image" Target="../media/image27.png"/><Relationship Id="rId4" Type="http://schemas.openxmlformats.org/officeDocument/2006/relationships/image" Target="../media/image22.png"/><Relationship Id="rId9" Type="http://schemas.openxmlformats.org/officeDocument/2006/relationships/image" Target="../media/image26.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Shape 83"/>
        <p:cNvGrpSpPr/>
        <p:nvPr/>
      </p:nvGrpSpPr>
      <p:grpSpPr>
        <a:xfrm>
          <a:off x="0" y="0"/>
          <a:ext cx="0" cy="0"/>
          <a:chOff x="0" y="0"/>
          <a:chExt cx="0" cy="0"/>
        </a:xfrm>
      </p:grpSpPr>
      <p:pic>
        <p:nvPicPr>
          <p:cNvPr id="84" name="Google Shape;84;p13"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85" name="Google Shape;85;p13" descr="image.png"/>
          <p:cNvPicPr preferRelativeResize="0"/>
          <p:nvPr/>
        </p:nvPicPr>
        <p:blipFill rotWithShape="1">
          <a:blip r:embed="rId4">
            <a:alphaModFix/>
          </a:blip>
          <a:srcRect/>
          <a:stretch/>
        </p:blipFill>
        <p:spPr>
          <a:xfrm>
            <a:off x="0" y="0"/>
            <a:ext cx="12192000" cy="6858000"/>
          </a:xfrm>
          <a:prstGeom prst="rect">
            <a:avLst/>
          </a:prstGeom>
          <a:noFill/>
          <a:ln>
            <a:noFill/>
          </a:ln>
        </p:spPr>
      </p:pic>
      <p:sp>
        <p:nvSpPr>
          <p:cNvPr id="86" name="Google Shape;86;p13"/>
          <p:cNvSpPr txBox="1"/>
          <p:nvPr/>
        </p:nvSpPr>
        <p:spPr>
          <a:xfrm>
            <a:off x="571500" y="2708969"/>
            <a:ext cx="8991123" cy="693390"/>
          </a:xfrm>
          <a:prstGeom prst="rect">
            <a:avLst/>
          </a:prstGeom>
          <a:noFill/>
          <a:ln>
            <a:noFill/>
          </a:ln>
        </p:spPr>
        <p:txBody>
          <a:bodyPr spcFirstLastPara="1" wrap="square" lIns="0" tIns="0" rIns="0" bIns="0" anchor="t" anchorCtr="0">
            <a:spAutoFit/>
          </a:bodyPr>
          <a:lstStyle/>
          <a:p>
            <a:pPr marL="0" marR="0" lvl="0" indent="0" algn="l" rtl="0">
              <a:lnSpc>
                <a:spcPct val="129976"/>
              </a:lnSpc>
              <a:spcBef>
                <a:spcPts val="0"/>
              </a:spcBef>
              <a:spcAft>
                <a:spcPts val="0"/>
              </a:spcAft>
              <a:buNone/>
            </a:pPr>
            <a:r>
              <a:rPr lang="en-US" sz="4200" b="1" i="0" u="none" strike="noStrike" cap="none">
                <a:solidFill>
                  <a:srgbClr val="0A2540"/>
                </a:solidFill>
                <a:latin typeface="Poppins"/>
                <a:ea typeface="Poppins"/>
                <a:cs typeface="Poppins"/>
                <a:sym typeface="Poppins"/>
              </a:rPr>
              <a:t>Building Intelligent Flutter Apps</a:t>
            </a:r>
            <a:endParaRPr/>
          </a:p>
        </p:txBody>
      </p:sp>
      <p:sp>
        <p:nvSpPr>
          <p:cNvPr id="87" name="Google Shape;87;p13"/>
          <p:cNvSpPr txBox="1"/>
          <p:nvPr/>
        </p:nvSpPr>
        <p:spPr>
          <a:xfrm>
            <a:off x="571500" y="3592859"/>
            <a:ext cx="7505700" cy="365670"/>
          </a:xfrm>
          <a:prstGeom prst="rect">
            <a:avLst/>
          </a:prstGeom>
          <a:noFill/>
          <a:ln>
            <a:noFill/>
          </a:ln>
        </p:spPr>
        <p:txBody>
          <a:bodyPr spcFirstLastPara="1" wrap="square" lIns="0" tIns="0" rIns="0" bIns="0" anchor="t" anchorCtr="0">
            <a:spAutoFit/>
          </a:bodyPr>
          <a:lstStyle/>
          <a:p>
            <a:pPr marL="0" marR="0" lvl="0" indent="0" algn="l" rtl="0">
              <a:lnSpc>
                <a:spcPct val="159944"/>
              </a:lnSpc>
              <a:spcBef>
                <a:spcPts val="0"/>
              </a:spcBef>
              <a:spcAft>
                <a:spcPts val="0"/>
              </a:spcAft>
              <a:buNone/>
            </a:pPr>
            <a:r>
              <a:rPr lang="en-US" sz="1800" b="0" i="0" u="none" strike="noStrike" cap="none">
                <a:solidFill>
                  <a:srgbClr val="4A5568"/>
                </a:solidFill>
                <a:latin typeface="Lato"/>
                <a:ea typeface="Lato"/>
                <a:cs typeface="Lato"/>
                <a:sym typeface="Lato"/>
              </a:rPr>
              <a:t>From On-Device ML (ML Kit) to Cloud-Native Agents (Firebase AI &amp; Genkit)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Shape 91"/>
        <p:cNvGrpSpPr/>
        <p:nvPr/>
      </p:nvGrpSpPr>
      <p:grpSpPr>
        <a:xfrm>
          <a:off x="0" y="0"/>
          <a:ext cx="0" cy="0"/>
          <a:chOff x="0" y="0"/>
          <a:chExt cx="0" cy="0"/>
        </a:xfrm>
      </p:grpSpPr>
      <p:pic>
        <p:nvPicPr>
          <p:cNvPr id="92" name="Google Shape;92;p14"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93" name="Google Shape;93;p14" descr="image.png"/>
          <p:cNvPicPr preferRelativeResize="0"/>
          <p:nvPr/>
        </p:nvPicPr>
        <p:blipFill rotWithShape="1">
          <a:blip r:embed="rId4">
            <a:alphaModFix/>
          </a:blip>
          <a:srcRect/>
          <a:stretch/>
        </p:blipFill>
        <p:spPr>
          <a:xfrm>
            <a:off x="571500" y="2362200"/>
            <a:ext cx="5286375" cy="3086100"/>
          </a:xfrm>
          <a:prstGeom prst="rect">
            <a:avLst/>
          </a:prstGeom>
          <a:noFill/>
          <a:ln>
            <a:noFill/>
          </a:ln>
        </p:spPr>
      </p:pic>
      <p:pic>
        <p:nvPicPr>
          <p:cNvPr id="94" name="Google Shape;94;p14" descr="image.png"/>
          <p:cNvPicPr preferRelativeResize="0"/>
          <p:nvPr/>
        </p:nvPicPr>
        <p:blipFill rotWithShape="1">
          <a:blip r:embed="rId5">
            <a:alphaModFix/>
          </a:blip>
          <a:srcRect/>
          <a:stretch/>
        </p:blipFill>
        <p:spPr>
          <a:xfrm>
            <a:off x="6334125" y="2362200"/>
            <a:ext cx="5286375" cy="3086100"/>
          </a:xfrm>
          <a:prstGeom prst="rect">
            <a:avLst/>
          </a:prstGeom>
          <a:noFill/>
          <a:ln>
            <a:noFill/>
          </a:ln>
        </p:spPr>
      </p:pic>
      <p:sp>
        <p:nvSpPr>
          <p:cNvPr id="95" name="Google Shape;95;p14"/>
          <p:cNvSpPr txBox="1"/>
          <p:nvPr/>
        </p:nvSpPr>
        <p:spPr>
          <a:xfrm>
            <a:off x="962025" y="2752725"/>
            <a:ext cx="4730591" cy="4000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100" b="1" i="0" u="none" strike="noStrike" cap="none">
                <a:solidFill>
                  <a:srgbClr val="027DFD"/>
                </a:solidFill>
                <a:latin typeface="Poppins"/>
                <a:ea typeface="Poppins"/>
                <a:cs typeface="Poppins"/>
                <a:sym typeface="Poppins"/>
              </a:rPr>
              <a:t>The Paradigm Shift</a:t>
            </a:r>
            <a:endParaRPr/>
          </a:p>
        </p:txBody>
      </p:sp>
      <p:sp>
        <p:nvSpPr>
          <p:cNvPr id="96" name="Google Shape;96;p14"/>
          <p:cNvSpPr txBox="1"/>
          <p:nvPr/>
        </p:nvSpPr>
        <p:spPr>
          <a:xfrm>
            <a:off x="962025" y="3343275"/>
            <a:ext cx="4505325" cy="12192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4A5568"/>
                </a:solidFill>
                <a:latin typeface="Lato"/>
                <a:ea typeface="Lato"/>
                <a:cs typeface="Lato"/>
                <a:sym typeface="Lato"/>
              </a:rPr>
              <a:t>The "mobile-first" approach is no longer the benchmark. Users now expect applications that are predictive, responsive, and intuitive. The global AI market is projected to surpass $826 billion by 2030.</a:t>
            </a:r>
            <a:endParaRPr/>
          </a:p>
        </p:txBody>
      </p:sp>
      <p:sp>
        <p:nvSpPr>
          <p:cNvPr id="97" name="Google Shape;97;p14"/>
          <p:cNvSpPr txBox="1"/>
          <p:nvPr/>
        </p:nvSpPr>
        <p:spPr>
          <a:xfrm>
            <a:off x="6724650" y="2752725"/>
            <a:ext cx="4730591" cy="4000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100" b="1" i="0" u="none" strike="noStrike" cap="none">
                <a:solidFill>
                  <a:srgbClr val="027DFD"/>
                </a:solidFill>
                <a:latin typeface="Poppins"/>
                <a:ea typeface="Poppins"/>
                <a:cs typeface="Poppins"/>
                <a:sym typeface="Poppins"/>
              </a:rPr>
              <a:t>What is "Flutter AI"?</a:t>
            </a:r>
            <a:endParaRPr/>
          </a:p>
        </p:txBody>
      </p:sp>
      <p:sp>
        <p:nvSpPr>
          <p:cNvPr id="98" name="Google Shape;98;p14"/>
          <p:cNvSpPr txBox="1"/>
          <p:nvPr/>
        </p:nvSpPr>
        <p:spPr>
          <a:xfrm>
            <a:off x="6724650" y="3343275"/>
            <a:ext cx="4505325" cy="15240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4A5568"/>
                </a:solidFill>
                <a:latin typeface="Lato"/>
                <a:ea typeface="Lato"/>
                <a:cs typeface="Lato"/>
                <a:sym typeface="Lato"/>
              </a:rPr>
              <a:t>It's an architectural philosophy: the fusion of Flutter's unparalleled UI capabilities with the power of ML, NLP, and intelligent automation. The goal is to build apps where AI is the core, and Flutter delivers that intelligence to any screen.</a:t>
            </a:r>
            <a:endParaRPr/>
          </a:p>
        </p:txBody>
      </p:sp>
      <p:sp>
        <p:nvSpPr>
          <p:cNvPr id="99" name="Google Shape;99;p14"/>
          <p:cNvSpPr txBox="1"/>
          <p:nvPr/>
        </p:nvSpPr>
        <p:spPr>
          <a:xfrm>
            <a:off x="571500" y="571500"/>
            <a:ext cx="11601450" cy="5715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000" b="1" i="0" u="none" strike="noStrike" cap="none">
                <a:solidFill>
                  <a:srgbClr val="0A2540"/>
                </a:solidFill>
                <a:latin typeface="Poppins"/>
                <a:ea typeface="Poppins"/>
                <a:cs typeface="Poppins"/>
                <a:sym typeface="Poppins"/>
              </a:rPr>
              <a:t>The New Mandate: "AI-First"</a:t>
            </a: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Shape 103"/>
        <p:cNvGrpSpPr/>
        <p:nvPr/>
      </p:nvGrpSpPr>
      <p:grpSpPr>
        <a:xfrm>
          <a:off x="0" y="0"/>
          <a:ext cx="0" cy="0"/>
          <a:chOff x="0" y="0"/>
          <a:chExt cx="0" cy="0"/>
        </a:xfrm>
      </p:grpSpPr>
      <p:pic>
        <p:nvPicPr>
          <p:cNvPr id="104" name="Google Shape;104;p15"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105" name="Google Shape;105;p15" descr="image.png"/>
          <p:cNvPicPr preferRelativeResize="0"/>
          <p:nvPr/>
        </p:nvPicPr>
        <p:blipFill rotWithShape="1">
          <a:blip r:embed="rId4">
            <a:alphaModFix/>
          </a:blip>
          <a:srcRect/>
          <a:stretch/>
        </p:blipFill>
        <p:spPr>
          <a:xfrm>
            <a:off x="571500" y="2381250"/>
            <a:ext cx="3492549" cy="3048000"/>
          </a:xfrm>
          <a:prstGeom prst="rect">
            <a:avLst/>
          </a:prstGeom>
          <a:noFill/>
          <a:ln>
            <a:noFill/>
          </a:ln>
        </p:spPr>
      </p:pic>
      <p:pic>
        <p:nvPicPr>
          <p:cNvPr id="106" name="Google Shape;106;p15" descr="image.png"/>
          <p:cNvPicPr preferRelativeResize="0"/>
          <p:nvPr/>
        </p:nvPicPr>
        <p:blipFill rotWithShape="1">
          <a:blip r:embed="rId5">
            <a:alphaModFix/>
          </a:blip>
          <a:srcRect/>
          <a:stretch/>
        </p:blipFill>
        <p:spPr>
          <a:xfrm>
            <a:off x="4349799" y="2381250"/>
            <a:ext cx="3492549" cy="3048000"/>
          </a:xfrm>
          <a:prstGeom prst="rect">
            <a:avLst/>
          </a:prstGeom>
          <a:noFill/>
          <a:ln>
            <a:noFill/>
          </a:ln>
        </p:spPr>
      </p:pic>
      <p:pic>
        <p:nvPicPr>
          <p:cNvPr id="107" name="Google Shape;107;p15" descr="image.png"/>
          <p:cNvPicPr preferRelativeResize="0"/>
          <p:nvPr/>
        </p:nvPicPr>
        <p:blipFill rotWithShape="1">
          <a:blip r:embed="rId6">
            <a:alphaModFix/>
          </a:blip>
          <a:srcRect/>
          <a:stretch/>
        </p:blipFill>
        <p:spPr>
          <a:xfrm>
            <a:off x="8128099" y="2381250"/>
            <a:ext cx="3492549" cy="3048000"/>
          </a:xfrm>
          <a:prstGeom prst="rect">
            <a:avLst/>
          </a:prstGeom>
          <a:noFill/>
          <a:ln>
            <a:noFill/>
          </a:ln>
        </p:spPr>
      </p:pic>
      <p:pic>
        <p:nvPicPr>
          <p:cNvPr id="108" name="Google Shape;108;p15" descr="image.png"/>
          <p:cNvPicPr preferRelativeResize="0"/>
          <p:nvPr/>
        </p:nvPicPr>
        <p:blipFill rotWithShape="1">
          <a:blip r:embed="rId7">
            <a:alphaModFix/>
          </a:blip>
          <a:srcRect/>
          <a:stretch/>
        </p:blipFill>
        <p:spPr>
          <a:xfrm>
            <a:off x="2031950" y="2676525"/>
            <a:ext cx="571500" cy="571500"/>
          </a:xfrm>
          <a:prstGeom prst="rect">
            <a:avLst/>
          </a:prstGeom>
          <a:noFill/>
          <a:ln>
            <a:noFill/>
          </a:ln>
        </p:spPr>
      </p:pic>
      <p:sp>
        <p:nvSpPr>
          <p:cNvPr id="109" name="Google Shape;109;p15"/>
          <p:cNvSpPr txBox="1"/>
          <p:nvPr/>
        </p:nvSpPr>
        <p:spPr>
          <a:xfrm>
            <a:off x="1397585" y="3438525"/>
            <a:ext cx="1840230" cy="33337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800" b="1" i="0" u="none" strike="noStrike" cap="none">
                <a:solidFill>
                  <a:srgbClr val="1A202C"/>
                </a:solidFill>
                <a:latin typeface="Poppins"/>
                <a:ea typeface="Poppins"/>
                <a:cs typeface="Poppins"/>
                <a:sym typeface="Poppins"/>
              </a:rPr>
              <a:t>1. On-Device AI</a:t>
            </a:r>
            <a:endParaRPr/>
          </a:p>
        </p:txBody>
      </p:sp>
      <p:sp>
        <p:nvSpPr>
          <p:cNvPr id="110" name="Google Shape;110;p15"/>
          <p:cNvSpPr txBox="1"/>
          <p:nvPr/>
        </p:nvSpPr>
        <p:spPr>
          <a:xfrm>
            <a:off x="866775" y="4067175"/>
            <a:ext cx="2901999" cy="914400"/>
          </a:xfrm>
          <a:prstGeom prst="rect">
            <a:avLst/>
          </a:prstGeom>
          <a:noFill/>
          <a:ln>
            <a:noFill/>
          </a:ln>
        </p:spPr>
        <p:txBody>
          <a:bodyPr spcFirstLastPara="1" wrap="square" lIns="0" tIns="0" rIns="0" bIns="0" anchor="t" anchorCtr="0">
            <a:spAutoFit/>
          </a:bodyPr>
          <a:lstStyle/>
          <a:p>
            <a:pPr marL="0" marR="0" lvl="0" indent="0" algn="ctr" rtl="0">
              <a:lnSpc>
                <a:spcPct val="150000"/>
              </a:lnSpc>
              <a:spcBef>
                <a:spcPts val="0"/>
              </a:spcBef>
              <a:spcAft>
                <a:spcPts val="0"/>
              </a:spcAft>
              <a:buNone/>
            </a:pPr>
            <a:r>
              <a:rPr lang="en-US" sz="1200" b="0" i="0" u="none" strike="noStrike" cap="none">
                <a:solidFill>
                  <a:srgbClr val="4A5568"/>
                </a:solidFill>
                <a:latin typeface="Lato"/>
                <a:ea typeface="Lato"/>
                <a:cs typeface="Lato"/>
                <a:sym typeface="Lato"/>
              </a:rPr>
              <a:t>The ML model runs entirely on the user's device. Characterized by high speed, strong data privacy, and offline functionality. (e.g., Google ML Kit)</a:t>
            </a:r>
            <a:endParaRPr/>
          </a:p>
        </p:txBody>
      </p:sp>
      <p:pic>
        <p:nvPicPr>
          <p:cNvPr id="111" name="Google Shape;111;p15" descr="image.png"/>
          <p:cNvPicPr preferRelativeResize="0"/>
          <p:nvPr/>
        </p:nvPicPr>
        <p:blipFill rotWithShape="1">
          <a:blip r:embed="rId7">
            <a:alphaModFix/>
          </a:blip>
          <a:srcRect/>
          <a:stretch/>
        </p:blipFill>
        <p:spPr>
          <a:xfrm>
            <a:off x="5810250" y="2676525"/>
            <a:ext cx="571500" cy="571500"/>
          </a:xfrm>
          <a:prstGeom prst="rect">
            <a:avLst/>
          </a:prstGeom>
          <a:noFill/>
          <a:ln>
            <a:noFill/>
          </a:ln>
        </p:spPr>
      </p:pic>
      <p:sp>
        <p:nvSpPr>
          <p:cNvPr id="112" name="Google Shape;112;p15"/>
          <p:cNvSpPr txBox="1"/>
          <p:nvPr/>
        </p:nvSpPr>
        <p:spPr>
          <a:xfrm>
            <a:off x="5445918" y="3438525"/>
            <a:ext cx="1300162" cy="33337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800" b="1" i="0" u="none" strike="noStrike" cap="none">
                <a:solidFill>
                  <a:srgbClr val="1A202C"/>
                </a:solidFill>
                <a:latin typeface="Poppins"/>
                <a:ea typeface="Poppins"/>
                <a:cs typeface="Poppins"/>
                <a:sym typeface="Poppins"/>
              </a:rPr>
              <a:t>2. Cloud AI</a:t>
            </a:r>
            <a:endParaRPr/>
          </a:p>
        </p:txBody>
      </p:sp>
      <p:sp>
        <p:nvSpPr>
          <p:cNvPr id="113" name="Google Shape;113;p15"/>
          <p:cNvSpPr txBox="1"/>
          <p:nvPr/>
        </p:nvSpPr>
        <p:spPr>
          <a:xfrm>
            <a:off x="4645074" y="4067175"/>
            <a:ext cx="2901999" cy="914400"/>
          </a:xfrm>
          <a:prstGeom prst="rect">
            <a:avLst/>
          </a:prstGeom>
          <a:noFill/>
          <a:ln>
            <a:noFill/>
          </a:ln>
        </p:spPr>
        <p:txBody>
          <a:bodyPr spcFirstLastPara="1" wrap="square" lIns="0" tIns="0" rIns="0" bIns="0" anchor="t" anchorCtr="0">
            <a:spAutoFit/>
          </a:bodyPr>
          <a:lstStyle/>
          <a:p>
            <a:pPr marL="0" marR="0" lvl="0" indent="0" algn="ctr" rtl="0">
              <a:lnSpc>
                <a:spcPct val="150000"/>
              </a:lnSpc>
              <a:spcBef>
                <a:spcPts val="0"/>
              </a:spcBef>
              <a:spcAft>
                <a:spcPts val="0"/>
              </a:spcAft>
              <a:buNone/>
            </a:pPr>
            <a:r>
              <a:rPr lang="en-US" sz="1200" b="0" i="0" u="none" strike="noStrike" cap="none">
                <a:solidFill>
                  <a:srgbClr val="4A5568"/>
                </a:solidFill>
                <a:latin typeface="Lato"/>
                <a:ea typeface="Lato"/>
                <a:cs typeface="Lato"/>
                <a:sym typeface="Lato"/>
              </a:rPr>
              <a:t>The model resides on a server. Provides access to near-unlimited computational power for massive, complex models. (e.g., Firebase AI Logic)</a:t>
            </a:r>
            <a:endParaRPr/>
          </a:p>
        </p:txBody>
      </p:sp>
      <p:pic>
        <p:nvPicPr>
          <p:cNvPr id="114" name="Google Shape;114;p15" descr="image.png"/>
          <p:cNvPicPr preferRelativeResize="0"/>
          <p:nvPr/>
        </p:nvPicPr>
        <p:blipFill rotWithShape="1">
          <a:blip r:embed="rId7">
            <a:alphaModFix/>
          </a:blip>
          <a:srcRect/>
          <a:stretch/>
        </p:blipFill>
        <p:spPr>
          <a:xfrm>
            <a:off x="9588549" y="2676525"/>
            <a:ext cx="571500" cy="571500"/>
          </a:xfrm>
          <a:prstGeom prst="rect">
            <a:avLst/>
          </a:prstGeom>
          <a:noFill/>
          <a:ln>
            <a:noFill/>
          </a:ln>
        </p:spPr>
      </p:pic>
      <p:sp>
        <p:nvSpPr>
          <p:cNvPr id="115" name="Google Shape;115;p15"/>
          <p:cNvSpPr txBox="1"/>
          <p:nvPr/>
        </p:nvSpPr>
        <p:spPr>
          <a:xfrm>
            <a:off x="9184213" y="3438525"/>
            <a:ext cx="1380172" cy="33337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800" b="1" i="0" u="none" strike="noStrike" cap="none">
                <a:solidFill>
                  <a:srgbClr val="1A202C"/>
                </a:solidFill>
                <a:latin typeface="Poppins"/>
                <a:ea typeface="Poppins"/>
                <a:cs typeface="Poppins"/>
                <a:sym typeface="Poppins"/>
              </a:rPr>
              <a:t>3. Hybrid AI</a:t>
            </a:r>
            <a:endParaRPr/>
          </a:p>
        </p:txBody>
      </p:sp>
      <p:sp>
        <p:nvSpPr>
          <p:cNvPr id="116" name="Google Shape;116;p15"/>
          <p:cNvSpPr txBox="1"/>
          <p:nvPr/>
        </p:nvSpPr>
        <p:spPr>
          <a:xfrm>
            <a:off x="8423374" y="4067175"/>
            <a:ext cx="2901999" cy="914400"/>
          </a:xfrm>
          <a:prstGeom prst="rect">
            <a:avLst/>
          </a:prstGeom>
          <a:noFill/>
          <a:ln>
            <a:noFill/>
          </a:ln>
        </p:spPr>
        <p:txBody>
          <a:bodyPr spcFirstLastPara="1" wrap="square" lIns="0" tIns="0" rIns="0" bIns="0" anchor="t" anchorCtr="0">
            <a:spAutoFit/>
          </a:bodyPr>
          <a:lstStyle/>
          <a:p>
            <a:pPr marL="0" marR="0" lvl="0" indent="0" algn="ctr" rtl="0">
              <a:lnSpc>
                <a:spcPct val="150000"/>
              </a:lnSpc>
              <a:spcBef>
                <a:spcPts val="0"/>
              </a:spcBef>
              <a:spcAft>
                <a:spcPts val="0"/>
              </a:spcAft>
              <a:buNone/>
            </a:pPr>
            <a:r>
              <a:rPr lang="en-US" sz="1200" b="0" i="0" u="none" strike="noStrike" cap="none">
                <a:solidFill>
                  <a:srgbClr val="4A5568"/>
                </a:solidFill>
                <a:latin typeface="Lato"/>
                <a:ea typeface="Lato"/>
                <a:cs typeface="Lato"/>
                <a:sym typeface="Lato"/>
              </a:rPr>
              <a:t>A sophisticated architecture that balances both. A lightweight on-device model can trigger a more powerful cloud-based API for heavy lifting.</a:t>
            </a:r>
            <a:endParaRPr/>
          </a:p>
        </p:txBody>
      </p:sp>
      <p:pic>
        <p:nvPicPr>
          <p:cNvPr id="117" name="Google Shape;117;p15" descr="image.png"/>
          <p:cNvPicPr preferRelativeResize="0"/>
          <p:nvPr/>
        </p:nvPicPr>
        <p:blipFill rotWithShape="1">
          <a:blip r:embed="rId8">
            <a:alphaModFix/>
          </a:blip>
          <a:srcRect/>
          <a:stretch/>
        </p:blipFill>
        <p:spPr>
          <a:xfrm>
            <a:off x="2174825" y="2771775"/>
            <a:ext cx="285750" cy="381000"/>
          </a:xfrm>
          <a:prstGeom prst="rect">
            <a:avLst/>
          </a:prstGeom>
          <a:noFill/>
          <a:ln>
            <a:noFill/>
          </a:ln>
        </p:spPr>
      </p:pic>
      <p:pic>
        <p:nvPicPr>
          <p:cNvPr id="118" name="Google Shape;118;p15" descr="image.png"/>
          <p:cNvPicPr preferRelativeResize="0"/>
          <p:nvPr/>
        </p:nvPicPr>
        <p:blipFill rotWithShape="1">
          <a:blip r:embed="rId9">
            <a:alphaModFix/>
          </a:blip>
          <a:srcRect/>
          <a:stretch/>
        </p:blipFill>
        <p:spPr>
          <a:xfrm>
            <a:off x="5857875" y="2771775"/>
            <a:ext cx="476250" cy="381000"/>
          </a:xfrm>
          <a:prstGeom prst="rect">
            <a:avLst/>
          </a:prstGeom>
          <a:noFill/>
          <a:ln>
            <a:noFill/>
          </a:ln>
        </p:spPr>
      </p:pic>
      <p:pic>
        <p:nvPicPr>
          <p:cNvPr id="119" name="Google Shape;119;p15" descr="image.png"/>
          <p:cNvPicPr preferRelativeResize="0"/>
          <p:nvPr/>
        </p:nvPicPr>
        <p:blipFill rotWithShape="1">
          <a:blip r:embed="rId10">
            <a:alphaModFix/>
          </a:blip>
          <a:srcRect/>
          <a:stretch/>
        </p:blipFill>
        <p:spPr>
          <a:xfrm>
            <a:off x="9683799" y="2771775"/>
            <a:ext cx="381000" cy="381000"/>
          </a:xfrm>
          <a:prstGeom prst="rect">
            <a:avLst/>
          </a:prstGeom>
          <a:noFill/>
          <a:ln>
            <a:noFill/>
          </a:ln>
        </p:spPr>
      </p:pic>
      <p:sp>
        <p:nvSpPr>
          <p:cNvPr id="120" name="Google Shape;120;p15"/>
          <p:cNvSpPr txBox="1"/>
          <p:nvPr/>
        </p:nvSpPr>
        <p:spPr>
          <a:xfrm>
            <a:off x="571500" y="571500"/>
            <a:ext cx="11601450" cy="5715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000" b="1" i="0" u="none" strike="noStrike" cap="none">
                <a:solidFill>
                  <a:srgbClr val="0A2540"/>
                </a:solidFill>
                <a:latin typeface="Poppins"/>
                <a:ea typeface="Poppins"/>
                <a:cs typeface="Poppins"/>
                <a:sym typeface="Poppins"/>
              </a:rPr>
              <a:t>The Core Architectural Decision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Shape 124"/>
        <p:cNvGrpSpPr/>
        <p:nvPr/>
      </p:nvGrpSpPr>
      <p:grpSpPr>
        <a:xfrm>
          <a:off x="0" y="0"/>
          <a:ext cx="0" cy="0"/>
          <a:chOff x="0" y="0"/>
          <a:chExt cx="0" cy="0"/>
        </a:xfrm>
      </p:grpSpPr>
      <p:pic>
        <p:nvPicPr>
          <p:cNvPr id="125" name="Google Shape;125;p16"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126" name="Google Shape;126;p16"/>
          <p:cNvSpPr txBox="1"/>
          <p:nvPr/>
        </p:nvSpPr>
        <p:spPr>
          <a:xfrm>
            <a:off x="1809750" y="2352675"/>
            <a:ext cx="8572500" cy="609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4A5568"/>
                </a:solidFill>
                <a:latin typeface="Lato"/>
                <a:ea typeface="Lato"/>
                <a:cs typeface="Lato"/>
                <a:sym typeface="Lato"/>
              </a:rPr>
              <a:t>On-device AI, or "edge inference," performs all processing locally. No data is sent to a remote server. This provides three powerful advantages:</a:t>
            </a:r>
            <a:endParaRPr/>
          </a:p>
        </p:txBody>
      </p:sp>
      <p:pic>
        <p:nvPicPr>
          <p:cNvPr id="127" name="Google Shape;127;p16" descr="image.png"/>
          <p:cNvPicPr preferRelativeResize="0"/>
          <p:nvPr/>
        </p:nvPicPr>
        <p:blipFill rotWithShape="1">
          <a:blip r:embed="rId4">
            <a:alphaModFix/>
          </a:blip>
          <a:srcRect/>
          <a:stretch/>
        </p:blipFill>
        <p:spPr>
          <a:xfrm>
            <a:off x="1809750" y="3295650"/>
            <a:ext cx="285750" cy="228600"/>
          </a:xfrm>
          <a:prstGeom prst="rect">
            <a:avLst/>
          </a:prstGeom>
          <a:noFill/>
          <a:ln>
            <a:noFill/>
          </a:ln>
        </p:spPr>
      </p:pic>
      <p:sp>
        <p:nvSpPr>
          <p:cNvPr id="128" name="Google Shape;128;p16"/>
          <p:cNvSpPr txBox="1"/>
          <p:nvPr/>
        </p:nvSpPr>
        <p:spPr>
          <a:xfrm>
            <a:off x="2238375" y="3248025"/>
            <a:ext cx="8143875" cy="609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1" i="0" u="none" strike="noStrike" cap="none">
                <a:solidFill>
                  <a:srgbClr val="1A202C"/>
                </a:solidFill>
                <a:latin typeface="Lato"/>
                <a:ea typeface="Lato"/>
                <a:cs typeface="Lato"/>
                <a:sym typeface="Lato"/>
              </a:rPr>
              <a:t>Speed:</a:t>
            </a:r>
            <a:r>
              <a:rPr lang="en-US" sz="1500" b="0" i="0" u="none" strike="noStrike" cap="none">
                <a:solidFill>
                  <a:srgbClr val="4A5568"/>
                </a:solidFill>
                <a:latin typeface="Lato"/>
                <a:ea typeface="Lato"/>
                <a:cs typeface="Lato"/>
                <a:sym typeface="Lato"/>
              </a:rPr>
              <a:t> Processing happens locally, eliminating network latency. This is essential for real-time use cases like processing a live camera feed.</a:t>
            </a:r>
            <a:endParaRPr/>
          </a:p>
        </p:txBody>
      </p:sp>
      <p:pic>
        <p:nvPicPr>
          <p:cNvPr id="129" name="Google Shape;129;p16" descr="image.png"/>
          <p:cNvPicPr preferRelativeResize="0"/>
          <p:nvPr/>
        </p:nvPicPr>
        <p:blipFill rotWithShape="1">
          <a:blip r:embed="rId5">
            <a:alphaModFix/>
          </a:blip>
          <a:srcRect/>
          <a:stretch/>
        </p:blipFill>
        <p:spPr>
          <a:xfrm>
            <a:off x="1809750" y="4095750"/>
            <a:ext cx="285750" cy="228600"/>
          </a:xfrm>
          <a:prstGeom prst="rect">
            <a:avLst/>
          </a:prstGeom>
          <a:noFill/>
          <a:ln>
            <a:noFill/>
          </a:ln>
        </p:spPr>
      </p:pic>
      <p:sp>
        <p:nvSpPr>
          <p:cNvPr id="130" name="Google Shape;130;p16"/>
          <p:cNvSpPr txBox="1"/>
          <p:nvPr/>
        </p:nvSpPr>
        <p:spPr>
          <a:xfrm>
            <a:off x="2238375" y="4048125"/>
            <a:ext cx="8143875" cy="609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1" i="0" u="none" strike="noStrike" cap="none">
                <a:solidFill>
                  <a:srgbClr val="1A202C"/>
                </a:solidFill>
                <a:latin typeface="Lato"/>
                <a:ea typeface="Lato"/>
                <a:cs typeface="Lato"/>
                <a:sym typeface="Lato"/>
              </a:rPr>
              <a:t>Privacy:</a:t>
            </a:r>
            <a:r>
              <a:rPr lang="en-US" sz="1500" b="0" i="0" u="none" strike="noStrike" cap="none">
                <a:solidFill>
                  <a:srgbClr val="4A5568"/>
                </a:solidFill>
                <a:latin typeface="Lato"/>
                <a:ea typeface="Lato"/>
                <a:cs typeface="Lato"/>
                <a:sym typeface="Lato"/>
              </a:rPr>
              <a:t> The greatest strength. Sensitive user data (images, messages) never leaves the device, simplifying data privacy compliance.</a:t>
            </a:r>
            <a:endParaRPr/>
          </a:p>
        </p:txBody>
      </p:sp>
      <p:sp>
        <p:nvSpPr>
          <p:cNvPr id="131" name="Google Shape;131;p16"/>
          <p:cNvSpPr txBox="1"/>
          <p:nvPr/>
        </p:nvSpPr>
        <p:spPr>
          <a:xfrm>
            <a:off x="2238375" y="4848225"/>
            <a:ext cx="8143875" cy="609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1" i="0" u="none" strike="noStrike" cap="none">
                <a:solidFill>
                  <a:srgbClr val="1A202C"/>
                </a:solidFill>
                <a:latin typeface="Lato"/>
                <a:ea typeface="Lato"/>
                <a:cs typeface="Lato"/>
                <a:sym typeface="Lato"/>
              </a:rPr>
              <a:t>Offline Functionality:</a:t>
            </a:r>
            <a:r>
              <a:rPr lang="en-US" sz="1500" b="0" i="0" u="none" strike="noStrike" cap="none">
                <a:solidFill>
                  <a:srgbClr val="4A5568"/>
                </a:solidFill>
                <a:latin typeface="Lato"/>
                <a:ea typeface="Lato"/>
                <a:cs typeface="Lato"/>
                <a:sym typeface="Lato"/>
              </a:rPr>
              <a:t> Core features work without an internet connection, a critical requirement for apps in low-connectivity areas.</a:t>
            </a:r>
            <a:endParaRPr/>
          </a:p>
        </p:txBody>
      </p:sp>
      <p:sp>
        <p:nvSpPr>
          <p:cNvPr id="132" name="Google Shape;132;p16"/>
          <p:cNvSpPr txBox="1"/>
          <p:nvPr/>
        </p:nvSpPr>
        <p:spPr>
          <a:xfrm>
            <a:off x="571500" y="571500"/>
            <a:ext cx="11601450" cy="5715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000" b="1" i="0" u="none" strike="noStrike" cap="none">
                <a:solidFill>
                  <a:srgbClr val="0A2540"/>
                </a:solidFill>
                <a:latin typeface="Poppins"/>
                <a:ea typeface="Poppins"/>
                <a:cs typeface="Poppins"/>
                <a:sym typeface="Poppins"/>
              </a:rPr>
              <a:t>On-Device Intelligence: Google ML Kit</a:t>
            </a: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Shape 136"/>
        <p:cNvGrpSpPr/>
        <p:nvPr/>
      </p:nvGrpSpPr>
      <p:grpSpPr>
        <a:xfrm>
          <a:off x="0" y="0"/>
          <a:ext cx="0" cy="0"/>
          <a:chOff x="0" y="0"/>
          <a:chExt cx="0" cy="0"/>
        </a:xfrm>
      </p:grpSpPr>
      <p:sp>
        <p:nvSpPr>
          <p:cNvPr id="141" name="Google Shape;141;p17"/>
          <p:cNvSpPr txBox="1"/>
          <p:nvPr/>
        </p:nvSpPr>
        <p:spPr>
          <a:xfrm>
            <a:off x="819150" y="1495425"/>
            <a:ext cx="5048250" cy="914400"/>
          </a:xfrm>
          <a:prstGeom prst="rect">
            <a:avLst/>
          </a:prstGeom>
          <a:noFill/>
          <a:ln>
            <a:noFill/>
          </a:ln>
        </p:spPr>
        <p:txBody>
          <a:bodyPr spcFirstLastPara="1" wrap="square" lIns="114300" tIns="0" rIns="0" bIns="0" anchor="t" anchorCtr="0">
            <a:spAutoFit/>
          </a:bodyPr>
          <a:lstStyle/>
          <a:p>
            <a:pPr marL="0" marR="0" lvl="0" indent="0" algn="l" rtl="0">
              <a:lnSpc>
                <a:spcPct val="160000"/>
              </a:lnSpc>
              <a:spcBef>
                <a:spcPts val="0"/>
              </a:spcBef>
              <a:spcAft>
                <a:spcPts val="0"/>
              </a:spcAft>
              <a:buNone/>
            </a:pPr>
            <a:r>
              <a:rPr lang="en-US" sz="1500" b="1" i="0" u="none" strike="noStrike" cap="none" dirty="0">
                <a:solidFill>
                  <a:srgbClr val="4A5568"/>
                </a:solidFill>
                <a:latin typeface="Lato"/>
                <a:ea typeface="Lato"/>
                <a:cs typeface="Lato"/>
                <a:sym typeface="Lato"/>
              </a:rPr>
              <a:t>Community Maintained:</a:t>
            </a:r>
            <a:r>
              <a:rPr lang="en-US" sz="1500" b="0" i="0" u="none" strike="noStrike" cap="none" dirty="0">
                <a:solidFill>
                  <a:srgbClr val="4A5568"/>
                </a:solidFill>
                <a:latin typeface="Lato"/>
                <a:ea typeface="Lato"/>
                <a:cs typeface="Lato"/>
                <a:sym typeface="Lato"/>
              </a:rPr>
              <a:t> The Flutter plugins (e.g., `</a:t>
            </a:r>
            <a:r>
              <a:rPr lang="en-US" sz="1500" b="0" i="0" u="none" strike="noStrike" cap="none" dirty="0" err="1">
                <a:solidFill>
                  <a:srgbClr val="4A5568"/>
                </a:solidFill>
                <a:latin typeface="Lato"/>
                <a:ea typeface="Lato"/>
                <a:cs typeface="Lato"/>
                <a:sym typeface="Lato"/>
              </a:rPr>
              <a:t>google_mlkit_face_detection</a:t>
            </a:r>
            <a:r>
              <a:rPr lang="en-US" sz="1500" b="0" i="0" u="none" strike="noStrike" cap="none" dirty="0">
                <a:solidFill>
                  <a:srgbClr val="4A5568"/>
                </a:solidFill>
                <a:latin typeface="Lato"/>
                <a:ea typeface="Lato"/>
                <a:cs typeface="Lato"/>
                <a:sym typeface="Lato"/>
              </a:rPr>
              <a:t>`) are high-quality, community-driven wrappers, not officially Google-sponsored.</a:t>
            </a:r>
            <a:endParaRPr dirty="0"/>
          </a:p>
        </p:txBody>
      </p:sp>
      <p:sp>
        <p:nvSpPr>
          <p:cNvPr id="143" name="Google Shape;143;p17"/>
          <p:cNvSpPr txBox="1"/>
          <p:nvPr/>
        </p:nvSpPr>
        <p:spPr>
          <a:xfrm>
            <a:off x="809625" y="3000375"/>
            <a:ext cx="5048250" cy="914400"/>
          </a:xfrm>
          <a:prstGeom prst="rect">
            <a:avLst/>
          </a:prstGeom>
          <a:noFill/>
          <a:ln>
            <a:noFill/>
          </a:ln>
        </p:spPr>
        <p:txBody>
          <a:bodyPr spcFirstLastPara="1" wrap="square" lIns="114300" tIns="0" rIns="0" bIns="0" anchor="t" anchorCtr="0">
            <a:spAutoFit/>
          </a:bodyPr>
          <a:lstStyle/>
          <a:p>
            <a:pPr marL="0" marR="0" lvl="0" indent="0" algn="l" rtl="0">
              <a:lnSpc>
                <a:spcPct val="160000"/>
              </a:lnSpc>
              <a:spcBef>
                <a:spcPts val="0"/>
              </a:spcBef>
              <a:spcAft>
                <a:spcPts val="0"/>
              </a:spcAft>
              <a:buNone/>
            </a:pPr>
            <a:r>
              <a:rPr lang="en-US" sz="1500" b="1" i="0" u="none" strike="noStrike" cap="none" dirty="0">
                <a:solidFill>
                  <a:srgbClr val="4A5568"/>
                </a:solidFill>
                <a:latin typeface="Lato"/>
                <a:ea typeface="Lato"/>
                <a:cs typeface="Lato"/>
                <a:sym typeface="Lato"/>
              </a:rPr>
              <a:t>Platform Channels:</a:t>
            </a:r>
            <a:r>
              <a:rPr lang="en-US" sz="1500" b="0" i="0" u="none" strike="noStrike" cap="none" dirty="0">
                <a:solidFill>
                  <a:srgbClr val="4A5568"/>
                </a:solidFill>
                <a:latin typeface="Lato"/>
                <a:ea typeface="Lato"/>
                <a:cs typeface="Lato"/>
                <a:sym typeface="Lato"/>
              </a:rPr>
              <a:t> Plugins use Flutter's Platform Channel mechanism to call native Google ML Kit APIs on iOS and Android.</a:t>
            </a:r>
            <a:endParaRPr dirty="0"/>
          </a:p>
        </p:txBody>
      </p:sp>
      <p:sp>
        <p:nvSpPr>
          <p:cNvPr id="145" name="Google Shape;145;p17"/>
          <p:cNvSpPr txBox="1"/>
          <p:nvPr/>
        </p:nvSpPr>
        <p:spPr>
          <a:xfrm>
            <a:off x="809625" y="4057650"/>
            <a:ext cx="5048250" cy="609600"/>
          </a:xfrm>
          <a:prstGeom prst="rect">
            <a:avLst/>
          </a:prstGeom>
          <a:noFill/>
          <a:ln>
            <a:noFill/>
          </a:ln>
        </p:spPr>
        <p:txBody>
          <a:bodyPr spcFirstLastPara="1" wrap="square" lIns="114300" tIns="0" rIns="0" bIns="0" anchor="t" anchorCtr="0">
            <a:spAutoFit/>
          </a:bodyPr>
          <a:lstStyle/>
          <a:p>
            <a:pPr marL="0" marR="0" lvl="0" indent="0" algn="l" rtl="0">
              <a:lnSpc>
                <a:spcPct val="160000"/>
              </a:lnSpc>
              <a:spcBef>
                <a:spcPts val="0"/>
              </a:spcBef>
              <a:spcAft>
                <a:spcPts val="0"/>
              </a:spcAft>
              <a:buNone/>
            </a:pPr>
            <a:r>
              <a:rPr lang="en-US" sz="1500" b="1" i="0" u="none" strike="noStrike" cap="none" dirty="0">
                <a:solidFill>
                  <a:srgbClr val="4A5568"/>
                </a:solidFill>
                <a:latin typeface="Lato"/>
                <a:ea typeface="Lato"/>
                <a:cs typeface="Lato"/>
                <a:sym typeface="Lato"/>
              </a:rPr>
              <a:t>Mobile Only:</a:t>
            </a:r>
            <a:r>
              <a:rPr lang="en-US" sz="1500" b="0" i="0" u="none" strike="noStrike" cap="none" dirty="0">
                <a:solidFill>
                  <a:srgbClr val="4A5568"/>
                </a:solidFill>
                <a:latin typeface="Lato"/>
                <a:ea typeface="Lato"/>
                <a:cs typeface="Lato"/>
                <a:sym typeface="Lato"/>
              </a:rPr>
              <a:t> ML Kit is designed exclusively for mobile (iOS and Android). It does *not* support web.</a:t>
            </a:r>
            <a:endParaRPr dirty="0"/>
          </a:p>
        </p:txBody>
      </p:sp>
      <p:sp>
        <p:nvSpPr>
          <p:cNvPr id="147" name="Google Shape;147;p17"/>
          <p:cNvSpPr txBox="1"/>
          <p:nvPr/>
        </p:nvSpPr>
        <p:spPr>
          <a:xfrm>
            <a:off x="809625" y="4810125"/>
            <a:ext cx="5048250" cy="914400"/>
          </a:xfrm>
          <a:prstGeom prst="rect">
            <a:avLst/>
          </a:prstGeom>
          <a:noFill/>
          <a:ln>
            <a:noFill/>
          </a:ln>
        </p:spPr>
        <p:txBody>
          <a:bodyPr spcFirstLastPara="1" wrap="square" lIns="114300" tIns="0" rIns="0" bIns="0" anchor="t" anchorCtr="0">
            <a:spAutoFit/>
          </a:bodyPr>
          <a:lstStyle/>
          <a:p>
            <a:pPr marL="0" marR="0" lvl="0" indent="0" algn="l" rtl="0">
              <a:lnSpc>
                <a:spcPct val="160000"/>
              </a:lnSpc>
              <a:spcBef>
                <a:spcPts val="0"/>
              </a:spcBef>
              <a:spcAft>
                <a:spcPts val="0"/>
              </a:spcAft>
              <a:buNone/>
            </a:pPr>
            <a:r>
              <a:rPr lang="en-US" sz="1500" b="1" i="0" u="none" strike="noStrike" cap="none">
                <a:solidFill>
                  <a:srgbClr val="4A5568"/>
                </a:solidFill>
                <a:latin typeface="Lato"/>
                <a:ea typeface="Lato"/>
                <a:cs typeface="Lato"/>
                <a:sym typeface="Lato"/>
              </a:rPr>
              <a:t>Dependency:</a:t>
            </a:r>
            <a:r>
              <a:rPr lang="en-US" sz="1500" b="0" i="0" u="none" strike="noStrike" cap="none">
                <a:solidFill>
                  <a:srgbClr val="4A5568"/>
                </a:solidFill>
                <a:latin typeface="Lato"/>
                <a:ea typeface="Lato"/>
                <a:cs typeface="Lato"/>
                <a:sym typeface="Lato"/>
              </a:rPr>
              <a:t> Do NOT use the `google_ml_kit` umbrella package. Add only the specific plugins you need (e.g., `google_mlkit_barcode_scanning`) to avoid bloating your app.</a:t>
            </a:r>
            <a:endParaRPr/>
          </a:p>
        </p:txBody>
      </p:sp>
      <p:sp>
        <p:nvSpPr>
          <p:cNvPr id="148" name="Google Shape;148;p17"/>
          <p:cNvSpPr txBox="1"/>
          <p:nvPr/>
        </p:nvSpPr>
        <p:spPr>
          <a:xfrm>
            <a:off x="571500" y="571500"/>
            <a:ext cx="11601450" cy="5715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000" b="1" i="0" u="none" strike="noStrike" cap="none">
                <a:solidFill>
                  <a:srgbClr val="0A2540"/>
                </a:solidFill>
                <a:latin typeface="Poppins"/>
                <a:ea typeface="Poppins"/>
                <a:cs typeface="Poppins"/>
                <a:sym typeface="Poppins"/>
              </a:rPr>
              <a:t>ML Kit: Production Considerations</a:t>
            </a: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Shape 152"/>
        <p:cNvGrpSpPr/>
        <p:nvPr/>
      </p:nvGrpSpPr>
      <p:grpSpPr>
        <a:xfrm>
          <a:off x="0" y="0"/>
          <a:ext cx="0" cy="0"/>
          <a:chOff x="0" y="0"/>
          <a:chExt cx="0" cy="0"/>
        </a:xfrm>
      </p:grpSpPr>
      <p:sp>
        <p:nvSpPr>
          <p:cNvPr id="155" name="Google Shape;155;p18"/>
          <p:cNvSpPr txBox="1"/>
          <p:nvPr/>
        </p:nvSpPr>
        <p:spPr>
          <a:xfrm>
            <a:off x="571500" y="571500"/>
            <a:ext cx="5550693" cy="11430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000" b="1" i="0" u="none" strike="noStrike" cap="none">
                <a:solidFill>
                  <a:srgbClr val="0A2540"/>
                </a:solidFill>
                <a:latin typeface="Poppins"/>
                <a:ea typeface="Poppins"/>
                <a:cs typeface="Poppins"/>
                <a:sym typeface="Poppins"/>
              </a:rPr>
              <a:t>The New Wave: Gemini Nano</a:t>
            </a:r>
            <a:endParaRPr/>
          </a:p>
        </p:txBody>
      </p:sp>
      <p:sp>
        <p:nvSpPr>
          <p:cNvPr id="156" name="Google Shape;156;p18"/>
          <p:cNvSpPr txBox="1"/>
          <p:nvPr/>
        </p:nvSpPr>
        <p:spPr>
          <a:xfrm>
            <a:off x="571500" y="1905000"/>
            <a:ext cx="5550693" cy="4000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100" b="1" i="0" u="none" strike="noStrike" cap="none">
                <a:solidFill>
                  <a:srgbClr val="1A202C"/>
                </a:solidFill>
                <a:latin typeface="Poppins"/>
                <a:ea typeface="Poppins"/>
                <a:cs typeface="Poppins"/>
                <a:sym typeface="Poppins"/>
              </a:rPr>
              <a:t>On-Device Generative AI</a:t>
            </a:r>
            <a:endParaRPr/>
          </a:p>
        </p:txBody>
      </p:sp>
      <p:sp>
        <p:nvSpPr>
          <p:cNvPr id="157" name="Google Shape;157;p18"/>
          <p:cNvSpPr txBox="1"/>
          <p:nvPr/>
        </p:nvSpPr>
        <p:spPr>
          <a:xfrm>
            <a:off x="571500" y="2638425"/>
            <a:ext cx="5286375" cy="12192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4A5568"/>
                </a:solidFill>
                <a:latin typeface="Lato"/>
                <a:ea typeface="Lato"/>
                <a:cs typeface="Lato"/>
                <a:sym typeface="Lato"/>
              </a:rPr>
              <a:t>On-device AI is evolving beyond classic ML (detection, classification) and into generative AI. Google is now providing access to Gemini Nano, its smallest and most efficient model, for on-device execution.</a:t>
            </a:r>
            <a:endParaRPr/>
          </a:p>
        </p:txBody>
      </p:sp>
      <p:sp>
        <p:nvSpPr>
          <p:cNvPr id="158" name="Google Shape;158;p18"/>
          <p:cNvSpPr txBox="1"/>
          <p:nvPr/>
        </p:nvSpPr>
        <p:spPr>
          <a:xfrm>
            <a:off x="571500" y="4200525"/>
            <a:ext cx="5286375" cy="609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dirty="0">
                <a:solidFill>
                  <a:srgbClr val="4A5568"/>
                </a:solidFill>
                <a:latin typeface="Lato"/>
                <a:ea typeface="Lato"/>
                <a:cs typeface="Lato"/>
                <a:sym typeface="Lato"/>
              </a:rPr>
              <a:t>This is exposed through new ML Kit GenAI APIs for tasks like summarization, proofreading, and rewriting.</a:t>
            </a:r>
            <a:endParaRPr dirty="0"/>
          </a:p>
        </p:txBody>
      </p:sp>
      <p:sp>
        <p:nvSpPr>
          <p:cNvPr id="159" name="Google Shape;159;p18"/>
          <p:cNvSpPr txBox="1"/>
          <p:nvPr/>
        </p:nvSpPr>
        <p:spPr>
          <a:xfrm>
            <a:off x="571500" y="5153025"/>
            <a:ext cx="5286375" cy="9144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1" i="0" u="none" strike="noStrike" cap="none">
                <a:solidFill>
                  <a:srgbClr val="4A5568"/>
                </a:solidFill>
                <a:latin typeface="Lato"/>
                <a:ea typeface="Lato"/>
                <a:cs typeface="Lato"/>
                <a:sym typeface="Lato"/>
              </a:rPr>
              <a:t>Limitation:</a:t>
            </a:r>
            <a:r>
              <a:rPr lang="en-US" sz="1500" b="0" i="0" u="none" strike="noStrike" cap="none">
                <a:solidFill>
                  <a:srgbClr val="4A5568"/>
                </a:solidFill>
                <a:latin typeface="Lato"/>
                <a:ea typeface="Lato"/>
                <a:cs typeface="Lato"/>
                <a:sym typeface="Lato"/>
              </a:rPr>
              <a:t> This is bleeding-edge technology, only available on a limited set of high-end devices (e.g., Pixel 8 Pro, Samsung S24 series) as of mid-2024.</a:t>
            </a: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Shape 163"/>
        <p:cNvGrpSpPr/>
        <p:nvPr/>
      </p:nvGrpSpPr>
      <p:grpSpPr>
        <a:xfrm>
          <a:off x="0" y="0"/>
          <a:ext cx="0" cy="0"/>
          <a:chOff x="0" y="0"/>
          <a:chExt cx="0" cy="0"/>
        </a:xfrm>
      </p:grpSpPr>
      <p:pic>
        <p:nvPicPr>
          <p:cNvPr id="164" name="Google Shape;164;p19" descr="image.png"/>
          <p:cNvPicPr preferRelativeResize="0"/>
          <p:nvPr/>
        </p:nvPicPr>
        <p:blipFill rotWithShape="1">
          <a:blip r:embed="rId3">
            <a:alphaModFix/>
          </a:blip>
          <a:srcRect/>
          <a:stretch/>
        </p:blipFill>
        <p:spPr>
          <a:xfrm>
            <a:off x="0" y="0"/>
            <a:ext cx="12192000" cy="6858000"/>
          </a:xfrm>
          <a:prstGeom prst="rect">
            <a:avLst/>
          </a:prstGeom>
          <a:noFill/>
          <a:ln>
            <a:noFill/>
          </a:ln>
        </p:spPr>
      </p:pic>
      <p:graphicFrame>
        <p:nvGraphicFramePr>
          <p:cNvPr id="165" name="Google Shape;165;p19"/>
          <p:cNvGraphicFramePr/>
          <p:nvPr/>
        </p:nvGraphicFramePr>
        <p:xfrm>
          <a:off x="571500" y="2272605"/>
          <a:ext cx="11039450" cy="3265125"/>
        </p:xfrm>
        <a:graphic>
          <a:graphicData uri="http://schemas.openxmlformats.org/drawingml/2006/table">
            <a:tbl>
              <a:tblPr firstRow="1" bandRow="1">
                <a:noFill/>
                <a:tableStyleId>{107978D3-F39F-4772-BD46-F5F44E156AD5}</a:tableStyleId>
              </a:tblPr>
              <a:tblGrid>
                <a:gridCol w="2691850">
                  <a:extLst>
                    <a:ext uri="{9D8B030D-6E8A-4147-A177-3AD203B41FA5}">
                      <a16:colId xmlns:a16="http://schemas.microsoft.com/office/drawing/2014/main" val="20000"/>
                    </a:ext>
                  </a:extLst>
                </a:gridCol>
                <a:gridCol w="4386250">
                  <a:extLst>
                    <a:ext uri="{9D8B030D-6E8A-4147-A177-3AD203B41FA5}">
                      <a16:colId xmlns:a16="http://schemas.microsoft.com/office/drawing/2014/main" val="20001"/>
                    </a:ext>
                  </a:extLst>
                </a:gridCol>
                <a:gridCol w="3961350">
                  <a:extLst>
                    <a:ext uri="{9D8B030D-6E8A-4147-A177-3AD203B41FA5}">
                      <a16:colId xmlns:a16="http://schemas.microsoft.com/office/drawing/2014/main" val="20002"/>
                    </a:ext>
                  </a:extLst>
                </a:gridCol>
              </a:tblGrid>
              <a:tr h="653025">
                <a:tc>
                  <a:txBody>
                    <a:bodyPr/>
                    <a:lstStyle/>
                    <a:p>
                      <a:pPr marL="0" marR="0" lvl="0" indent="0" algn="l" rtl="0">
                        <a:spcBef>
                          <a:spcPts val="0"/>
                        </a:spcBef>
                        <a:spcAft>
                          <a:spcPts val="0"/>
                        </a:spcAft>
                        <a:buNone/>
                      </a:pPr>
                      <a:r>
                        <a:rPr lang="en-US" sz="1350" b="1" i="0" u="none" strike="noStrike" cap="none">
                          <a:solidFill>
                            <a:srgbClr val="1A202C"/>
                          </a:solidFill>
                          <a:latin typeface="Poppins"/>
                          <a:ea typeface="Poppins"/>
                          <a:cs typeface="Poppins"/>
                          <a:sym typeface="Poppins"/>
                        </a:rPr>
                        <a:t>Feature</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7FAFC"/>
                    </a:solidFill>
                  </a:tcPr>
                </a:tc>
                <a:tc>
                  <a:txBody>
                    <a:bodyPr/>
                    <a:lstStyle/>
                    <a:p>
                      <a:pPr marL="0" marR="0" lvl="0" indent="0" algn="l" rtl="0">
                        <a:spcBef>
                          <a:spcPts val="0"/>
                        </a:spcBef>
                        <a:spcAft>
                          <a:spcPts val="0"/>
                        </a:spcAft>
                        <a:buNone/>
                      </a:pPr>
                      <a:r>
                        <a:rPr lang="en-US" sz="1350" b="1" i="0" u="none" strike="noStrike" cap="none">
                          <a:solidFill>
                            <a:srgbClr val="1A202C"/>
                          </a:solidFill>
                          <a:latin typeface="Poppins"/>
                          <a:ea typeface="Poppins"/>
                          <a:cs typeface="Poppins"/>
                          <a:sym typeface="Poppins"/>
                        </a:rPr>
                        <a:t>On-Device AI</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7FAFC"/>
                    </a:solidFill>
                  </a:tcPr>
                </a:tc>
                <a:tc>
                  <a:txBody>
                    <a:bodyPr/>
                    <a:lstStyle/>
                    <a:p>
                      <a:pPr marL="0" marR="0" lvl="0" indent="0" algn="l" rtl="0">
                        <a:spcBef>
                          <a:spcPts val="0"/>
                        </a:spcBef>
                        <a:spcAft>
                          <a:spcPts val="0"/>
                        </a:spcAft>
                        <a:buNone/>
                      </a:pPr>
                      <a:r>
                        <a:rPr lang="en-US" sz="1350" b="1" i="0" u="none" strike="noStrike" cap="none">
                          <a:solidFill>
                            <a:srgbClr val="1A202C"/>
                          </a:solidFill>
                          <a:latin typeface="Poppins"/>
                          <a:ea typeface="Poppins"/>
                          <a:cs typeface="Poppins"/>
                          <a:sym typeface="Poppins"/>
                        </a:rPr>
                        <a:t>Cloud AI</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7FAFC"/>
                    </a:solidFill>
                  </a:tcPr>
                </a:tc>
                <a:extLst>
                  <a:ext uri="{0D108BD9-81ED-4DB2-BD59-A6C34878D82A}">
                    <a16:rowId xmlns:a16="http://schemas.microsoft.com/office/drawing/2014/main" val="10000"/>
                  </a:ext>
                </a:extLst>
              </a:tr>
              <a:tr h="653025">
                <a:tc>
                  <a:txBody>
                    <a:bodyPr/>
                    <a:lstStyle/>
                    <a:p>
                      <a:pPr marL="0" marR="0" lvl="0" indent="0" algn="l" rtl="0">
                        <a:spcBef>
                          <a:spcPts val="0"/>
                        </a:spcBef>
                        <a:spcAft>
                          <a:spcPts val="0"/>
                        </a:spcAft>
                        <a:buNone/>
                      </a:pPr>
                      <a:r>
                        <a:rPr lang="en-US" sz="1500" b="0" i="0" u="none" strike="noStrike" cap="none">
                          <a:solidFill>
                            <a:srgbClr val="4A5568"/>
                          </a:solidFill>
                          <a:latin typeface="Lato"/>
                          <a:ea typeface="Lato"/>
                          <a:cs typeface="Lato"/>
                          <a:sym typeface="Lato"/>
                        </a:rPr>
                        <a:t>Privacy</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500" b="1" i="0" u="none" strike="noStrike" cap="none">
                          <a:solidFill>
                            <a:srgbClr val="4A5568"/>
                          </a:solidFill>
                          <a:latin typeface="Lato"/>
                          <a:ea typeface="Lato"/>
                          <a:cs typeface="Lato"/>
                          <a:sym typeface="Lato"/>
                        </a:rPr>
                        <a:t>High</a:t>
                      </a:r>
                      <a:r>
                        <a:rPr lang="en-US" sz="1500" b="0" i="0" u="none" strike="noStrike" cap="none">
                          <a:solidFill>
                            <a:srgbClr val="4A5568"/>
                          </a:solidFill>
                          <a:latin typeface="Lato"/>
                          <a:ea typeface="Lato"/>
                          <a:cs typeface="Lato"/>
                          <a:sym typeface="Lato"/>
                        </a:rPr>
                        <a:t> (data stays on device)</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500" b="0" i="0" u="none" strike="noStrike" cap="none">
                          <a:solidFill>
                            <a:srgbClr val="4A5568"/>
                          </a:solidFill>
                          <a:latin typeface="Lato"/>
                          <a:ea typeface="Lato"/>
                          <a:cs typeface="Lato"/>
                          <a:sym typeface="Lato"/>
                        </a:rPr>
                        <a:t>Lower (data is sent to servers)</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1"/>
                  </a:ext>
                </a:extLst>
              </a:tr>
              <a:tr h="653025">
                <a:tc>
                  <a:txBody>
                    <a:bodyPr/>
                    <a:lstStyle/>
                    <a:p>
                      <a:pPr marL="0" marR="0" lvl="0" indent="0" algn="l" rtl="0">
                        <a:spcBef>
                          <a:spcPts val="0"/>
                        </a:spcBef>
                        <a:spcAft>
                          <a:spcPts val="0"/>
                        </a:spcAft>
                        <a:buNone/>
                      </a:pPr>
                      <a:r>
                        <a:rPr lang="en-US" sz="1500" b="0" i="0" u="none" strike="noStrike" cap="none">
                          <a:solidFill>
                            <a:srgbClr val="4A5568"/>
                          </a:solidFill>
                          <a:latin typeface="Lato"/>
                          <a:ea typeface="Lato"/>
                          <a:cs typeface="Lato"/>
                          <a:sym typeface="Lato"/>
                        </a:rPr>
                        <a:t>Computational Power</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500" b="0" i="0" u="none" strike="noStrike" cap="none">
                          <a:solidFill>
                            <a:srgbClr val="4A5568"/>
                          </a:solidFill>
                          <a:latin typeface="Lato"/>
                          <a:ea typeface="Lato"/>
                          <a:cs typeface="Lato"/>
                          <a:sym typeface="Lato"/>
                        </a:rPr>
                        <a:t>Limited to device capabilities</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500" b="1" i="0" u="none" strike="noStrike" cap="none">
                          <a:solidFill>
                            <a:srgbClr val="4A5568"/>
                          </a:solidFill>
                          <a:latin typeface="Lato"/>
                          <a:ea typeface="Lato"/>
                          <a:cs typeface="Lato"/>
                          <a:sym typeface="Lato"/>
                        </a:rPr>
                        <a:t>Near-unlimited</a:t>
                      </a:r>
                      <a:r>
                        <a:rPr lang="en-US" sz="1500" b="0" i="0" u="none" strike="noStrike" cap="none">
                          <a:solidFill>
                            <a:srgbClr val="4A5568"/>
                          </a:solidFill>
                          <a:latin typeface="Lato"/>
                          <a:ea typeface="Lato"/>
                          <a:cs typeface="Lato"/>
                          <a:sym typeface="Lato"/>
                        </a:rPr>
                        <a:t> cloud resources</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2"/>
                  </a:ext>
                </a:extLst>
              </a:tr>
              <a:tr h="653025">
                <a:tc>
                  <a:txBody>
                    <a:bodyPr/>
                    <a:lstStyle/>
                    <a:p>
                      <a:pPr marL="0" marR="0" lvl="0" indent="0" algn="l" rtl="0">
                        <a:spcBef>
                          <a:spcPts val="0"/>
                        </a:spcBef>
                        <a:spcAft>
                          <a:spcPts val="0"/>
                        </a:spcAft>
                        <a:buNone/>
                      </a:pPr>
                      <a:r>
                        <a:rPr lang="en-US" sz="1500" b="0" i="0" u="none" strike="noStrike" cap="none">
                          <a:solidFill>
                            <a:srgbClr val="4A5568"/>
                          </a:solidFill>
                          <a:latin typeface="Lato"/>
                          <a:ea typeface="Lato"/>
                          <a:cs typeface="Lato"/>
                          <a:sym typeface="Lato"/>
                        </a:rPr>
                        <a:t>Internet Dependence</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500" b="0" i="0" u="none" strike="noStrike" cap="none">
                          <a:solidFill>
                            <a:srgbClr val="4A5568"/>
                          </a:solidFill>
                          <a:latin typeface="Lato"/>
                          <a:ea typeface="Lato"/>
                          <a:cs typeface="Lato"/>
                          <a:sym typeface="Lato"/>
                        </a:rPr>
                        <a:t>Works offline</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500" b="1" i="0" u="none" strike="noStrike" cap="none">
                          <a:solidFill>
                            <a:srgbClr val="4A5568"/>
                          </a:solidFill>
                          <a:latin typeface="Lato"/>
                          <a:ea typeface="Lato"/>
                          <a:cs typeface="Lato"/>
                          <a:sym typeface="Lato"/>
                        </a:rPr>
                        <a:t>Requires stable connection</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3"/>
                  </a:ext>
                </a:extLst>
              </a:tr>
              <a:tr h="653025">
                <a:tc>
                  <a:txBody>
                    <a:bodyPr/>
                    <a:lstStyle/>
                    <a:p>
                      <a:pPr marL="0" marR="0" lvl="0" indent="0" algn="l" rtl="0">
                        <a:spcBef>
                          <a:spcPts val="0"/>
                        </a:spcBef>
                        <a:spcAft>
                          <a:spcPts val="0"/>
                        </a:spcAft>
                        <a:buNone/>
                      </a:pPr>
                      <a:r>
                        <a:rPr lang="en-US" sz="1500" b="0" i="0" u="none" strike="noStrike" cap="none">
                          <a:solidFill>
                            <a:srgbClr val="4A5568"/>
                          </a:solidFill>
                          <a:latin typeface="Lato"/>
                          <a:ea typeface="Lato"/>
                          <a:cs typeface="Lato"/>
                          <a:sym typeface="Lato"/>
                        </a:rPr>
                        <a:t>Model Updates</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500" b="0" i="0" u="none" strike="noStrike" cap="none">
                          <a:solidFill>
                            <a:srgbClr val="4A5568"/>
                          </a:solidFill>
                          <a:latin typeface="Lato"/>
                          <a:ea typeface="Lato"/>
                          <a:cs typeface="Lato"/>
                          <a:sym typeface="Lato"/>
                        </a:rPr>
                        <a:t>Must be pushed to devices (app update)</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500" b="1" i="0" u="none" strike="noStrike" cap="none">
                          <a:solidFill>
                            <a:srgbClr val="4A5568"/>
                          </a:solidFill>
                          <a:latin typeface="Lato"/>
                          <a:ea typeface="Lato"/>
                          <a:cs typeface="Lato"/>
                          <a:sym typeface="Lato"/>
                        </a:rPr>
                        <a:t>Can be instantly deployed</a:t>
                      </a:r>
                      <a:r>
                        <a:rPr lang="en-US" sz="1500" b="0" i="0" u="none" strike="noStrike" cap="none">
                          <a:solidFill>
                            <a:srgbClr val="4A5568"/>
                          </a:solidFill>
                          <a:latin typeface="Lato"/>
                          <a:ea typeface="Lato"/>
                          <a:cs typeface="Lato"/>
                          <a:sym typeface="Lato"/>
                        </a:rPr>
                        <a:t> to cloud</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
        <p:nvSpPr>
          <p:cNvPr id="166" name="Google Shape;166;p19"/>
          <p:cNvSpPr/>
          <p:nvPr/>
        </p:nvSpPr>
        <p:spPr>
          <a:xfrm>
            <a:off x="576262" y="2894558"/>
            <a:ext cx="2691854"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67" name="Google Shape;167;p19"/>
          <p:cNvSpPr/>
          <p:nvPr/>
        </p:nvSpPr>
        <p:spPr>
          <a:xfrm>
            <a:off x="3268116" y="2894558"/>
            <a:ext cx="4386262"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68" name="Google Shape;168;p19"/>
          <p:cNvSpPr/>
          <p:nvPr/>
        </p:nvSpPr>
        <p:spPr>
          <a:xfrm>
            <a:off x="7654379" y="2894558"/>
            <a:ext cx="3961358"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69" name="Google Shape;169;p19"/>
          <p:cNvSpPr/>
          <p:nvPr/>
        </p:nvSpPr>
        <p:spPr>
          <a:xfrm>
            <a:off x="576262" y="3551783"/>
            <a:ext cx="2691854"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70" name="Google Shape;170;p19"/>
          <p:cNvSpPr/>
          <p:nvPr/>
        </p:nvSpPr>
        <p:spPr>
          <a:xfrm>
            <a:off x="3268116" y="3551783"/>
            <a:ext cx="4386262"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71" name="Google Shape;171;p19"/>
          <p:cNvSpPr/>
          <p:nvPr/>
        </p:nvSpPr>
        <p:spPr>
          <a:xfrm>
            <a:off x="7654379" y="3551783"/>
            <a:ext cx="3961358"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72" name="Google Shape;172;p19"/>
          <p:cNvSpPr/>
          <p:nvPr/>
        </p:nvSpPr>
        <p:spPr>
          <a:xfrm>
            <a:off x="576262" y="4209008"/>
            <a:ext cx="2691854"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73" name="Google Shape;173;p19"/>
          <p:cNvSpPr/>
          <p:nvPr/>
        </p:nvSpPr>
        <p:spPr>
          <a:xfrm>
            <a:off x="3268116" y="4209008"/>
            <a:ext cx="4386262"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74" name="Google Shape;174;p19"/>
          <p:cNvSpPr/>
          <p:nvPr/>
        </p:nvSpPr>
        <p:spPr>
          <a:xfrm>
            <a:off x="7654379" y="4209008"/>
            <a:ext cx="3961358"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75" name="Google Shape;175;p19"/>
          <p:cNvSpPr/>
          <p:nvPr/>
        </p:nvSpPr>
        <p:spPr>
          <a:xfrm>
            <a:off x="576262" y="4866233"/>
            <a:ext cx="2691854"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76" name="Google Shape;176;p19"/>
          <p:cNvSpPr/>
          <p:nvPr/>
        </p:nvSpPr>
        <p:spPr>
          <a:xfrm>
            <a:off x="3268116" y="4866233"/>
            <a:ext cx="4386262"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77" name="Google Shape;177;p19"/>
          <p:cNvSpPr/>
          <p:nvPr/>
        </p:nvSpPr>
        <p:spPr>
          <a:xfrm>
            <a:off x="7654379" y="4866233"/>
            <a:ext cx="3961358"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78" name="Google Shape;178;p19"/>
          <p:cNvSpPr txBox="1"/>
          <p:nvPr/>
        </p:nvSpPr>
        <p:spPr>
          <a:xfrm>
            <a:off x="571500" y="571500"/>
            <a:ext cx="11601450" cy="5715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000" b="1" i="0" u="none" strike="noStrike" cap="none">
                <a:solidFill>
                  <a:srgbClr val="0A2540"/>
                </a:solidFill>
                <a:latin typeface="Poppins"/>
                <a:ea typeface="Poppins"/>
                <a:cs typeface="Poppins"/>
                <a:sym typeface="Poppins"/>
              </a:rPr>
              <a:t>Architectural Crossroads: On-Device vs. Cloud</a:t>
            </a: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Shape 182"/>
        <p:cNvGrpSpPr/>
        <p:nvPr/>
      </p:nvGrpSpPr>
      <p:grpSpPr>
        <a:xfrm>
          <a:off x="0" y="0"/>
          <a:ext cx="0" cy="0"/>
          <a:chOff x="0" y="0"/>
          <a:chExt cx="0" cy="0"/>
        </a:xfrm>
      </p:grpSpPr>
      <p:pic>
        <p:nvPicPr>
          <p:cNvPr id="183" name="Google Shape;183;p20"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184" name="Google Shape;184;p20"/>
          <p:cNvSpPr txBox="1"/>
          <p:nvPr/>
        </p:nvSpPr>
        <p:spPr>
          <a:xfrm>
            <a:off x="571500" y="4448175"/>
            <a:ext cx="5286375" cy="27622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800" b="1" i="0" u="none" strike="noStrike" cap="none">
                <a:solidFill>
                  <a:srgbClr val="E53E3E"/>
                </a:solidFill>
                <a:latin typeface="Lato"/>
                <a:ea typeface="Lato"/>
                <a:cs typeface="Lato"/>
                <a:sym typeface="Lato"/>
              </a:rPr>
              <a:t>Security Vulnerability</a:t>
            </a:r>
            <a:endParaRPr/>
          </a:p>
        </p:txBody>
      </p:sp>
      <p:sp>
        <p:nvSpPr>
          <p:cNvPr id="185" name="Google Shape;185;p20"/>
          <p:cNvSpPr txBox="1"/>
          <p:nvPr/>
        </p:nvSpPr>
        <p:spPr>
          <a:xfrm>
            <a:off x="6334125" y="1895475"/>
            <a:ext cx="5550693" cy="4000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100" b="1" i="0" u="none" strike="noStrike" cap="none">
                <a:solidFill>
                  <a:srgbClr val="1A202C"/>
                </a:solidFill>
                <a:latin typeface="Poppins"/>
                <a:ea typeface="Poppins"/>
                <a:cs typeface="Poppins"/>
                <a:sym typeface="Poppins"/>
              </a:rPr>
              <a:t>The Trap</a:t>
            </a:r>
            <a:endParaRPr/>
          </a:p>
        </p:txBody>
      </p:sp>
      <p:sp>
        <p:nvSpPr>
          <p:cNvPr id="186" name="Google Shape;186;p20"/>
          <p:cNvSpPr txBox="1"/>
          <p:nvPr/>
        </p:nvSpPr>
        <p:spPr>
          <a:xfrm>
            <a:off x="6334125" y="2486025"/>
            <a:ext cx="5286375" cy="609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4A5568"/>
                </a:solidFill>
                <a:latin typeface="Lato"/>
                <a:ea typeface="Lato"/>
                <a:cs typeface="Lato"/>
                <a:sym typeface="Lato"/>
              </a:rPr>
              <a:t>Using the `generative_ai` package and embedding your API key directly in the client-side code.</a:t>
            </a:r>
            <a:endParaRPr/>
          </a:p>
        </p:txBody>
      </p:sp>
      <p:sp>
        <p:nvSpPr>
          <p:cNvPr id="187" name="Google Shape;187;p20"/>
          <p:cNvSpPr txBox="1"/>
          <p:nvPr/>
        </p:nvSpPr>
        <p:spPr>
          <a:xfrm>
            <a:off x="6334125" y="4524375"/>
            <a:ext cx="5550693" cy="4000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100" b="1" i="0" u="none" strike="noStrike" cap="none">
                <a:solidFill>
                  <a:srgbClr val="1A202C"/>
                </a:solidFill>
                <a:latin typeface="Poppins"/>
                <a:ea typeface="Poppins"/>
                <a:cs typeface="Poppins"/>
                <a:sym typeface="Poppins"/>
              </a:rPr>
              <a:t>The Risk</a:t>
            </a:r>
            <a:endParaRPr/>
          </a:p>
        </p:txBody>
      </p:sp>
      <p:sp>
        <p:nvSpPr>
          <p:cNvPr id="188" name="Google Shape;188;p20"/>
          <p:cNvSpPr txBox="1"/>
          <p:nvPr/>
        </p:nvSpPr>
        <p:spPr>
          <a:xfrm>
            <a:off x="6334125" y="5114925"/>
            <a:ext cx="5286375" cy="609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4A5568"/>
                </a:solidFill>
                <a:latin typeface="Lato"/>
                <a:ea typeface="Lato"/>
                <a:cs typeface="Lato"/>
                <a:sym typeface="Lato"/>
              </a:rPr>
              <a:t>A malicious actor can decompile your app, extract this key, and use it on your behalf, resulting in catastrophic billing.</a:t>
            </a:r>
            <a:endParaRPr/>
          </a:p>
        </p:txBody>
      </p:sp>
      <p:pic>
        <p:nvPicPr>
          <p:cNvPr id="189" name="Google Shape;189;p20" descr="image.png"/>
          <p:cNvPicPr preferRelativeResize="0"/>
          <p:nvPr/>
        </p:nvPicPr>
        <p:blipFill rotWithShape="1">
          <a:blip r:embed="rId4">
            <a:alphaModFix/>
          </a:blip>
          <a:srcRect/>
          <a:stretch/>
        </p:blipFill>
        <p:spPr>
          <a:xfrm>
            <a:off x="2547937" y="3086100"/>
            <a:ext cx="1333500" cy="1333500"/>
          </a:xfrm>
          <a:prstGeom prst="rect">
            <a:avLst/>
          </a:prstGeom>
          <a:noFill/>
          <a:ln>
            <a:noFill/>
          </a:ln>
        </p:spPr>
      </p:pic>
      <p:sp>
        <p:nvSpPr>
          <p:cNvPr id="190" name="Google Shape;190;p20"/>
          <p:cNvSpPr txBox="1"/>
          <p:nvPr/>
        </p:nvSpPr>
        <p:spPr>
          <a:xfrm>
            <a:off x="571500" y="571500"/>
            <a:ext cx="11601450" cy="5715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000" b="1" i="0" u="none" strike="noStrike" cap="none">
                <a:solidFill>
                  <a:srgbClr val="0A2540"/>
                </a:solidFill>
                <a:latin typeface="Poppins"/>
                <a:ea typeface="Poppins"/>
                <a:cs typeface="Poppins"/>
                <a:sym typeface="Poppins"/>
              </a:rPr>
              <a:t>Cloud AI: The "Prototyping Trap"</a:t>
            </a: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Shape 194"/>
        <p:cNvGrpSpPr/>
        <p:nvPr/>
      </p:nvGrpSpPr>
      <p:grpSpPr>
        <a:xfrm>
          <a:off x="0" y="0"/>
          <a:ext cx="0" cy="0"/>
          <a:chOff x="0" y="0"/>
          <a:chExt cx="0" cy="0"/>
        </a:xfrm>
      </p:grpSpPr>
      <p:pic>
        <p:nvPicPr>
          <p:cNvPr id="195" name="Google Shape;195;p21"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196" name="Google Shape;196;p21"/>
          <p:cNvSpPr txBox="1"/>
          <p:nvPr/>
        </p:nvSpPr>
        <p:spPr>
          <a:xfrm>
            <a:off x="1809750" y="2352675"/>
            <a:ext cx="8572500" cy="609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4A5568"/>
                </a:solidFill>
                <a:latin typeface="Lato"/>
                <a:ea typeface="Lato"/>
                <a:cs typeface="Lato"/>
                <a:sym typeface="Lato"/>
              </a:rPr>
              <a:t>The secure, production-ready solution. Firebase AI Logic is a serverless gateway that mediates all requests from your client app.</a:t>
            </a:r>
            <a:endParaRPr/>
          </a:p>
        </p:txBody>
      </p:sp>
      <p:pic>
        <p:nvPicPr>
          <p:cNvPr id="197" name="Google Shape;197;p21" descr="image.png"/>
          <p:cNvPicPr preferRelativeResize="0"/>
          <p:nvPr/>
        </p:nvPicPr>
        <p:blipFill rotWithShape="1">
          <a:blip r:embed="rId4">
            <a:alphaModFix/>
          </a:blip>
          <a:srcRect/>
          <a:stretch/>
        </p:blipFill>
        <p:spPr>
          <a:xfrm>
            <a:off x="1809750" y="3295650"/>
            <a:ext cx="285750" cy="228600"/>
          </a:xfrm>
          <a:prstGeom prst="rect">
            <a:avLst/>
          </a:prstGeom>
          <a:noFill/>
          <a:ln>
            <a:noFill/>
          </a:ln>
        </p:spPr>
      </p:pic>
      <p:sp>
        <p:nvSpPr>
          <p:cNvPr id="198" name="Google Shape;198;p21"/>
          <p:cNvSpPr txBox="1"/>
          <p:nvPr/>
        </p:nvSpPr>
        <p:spPr>
          <a:xfrm>
            <a:off x="2238375" y="3248025"/>
            <a:ext cx="8143875" cy="609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1" i="0" u="none" strike="noStrike" cap="none">
                <a:solidFill>
                  <a:srgbClr val="1A202C"/>
                </a:solidFill>
                <a:latin typeface="Lato"/>
                <a:ea typeface="Lato"/>
                <a:cs typeface="Lato"/>
                <a:sym typeface="Lato"/>
              </a:rPr>
              <a:t>No API Key in Client:</a:t>
            </a:r>
            <a:r>
              <a:rPr lang="en-US" sz="1500" b="0" i="0" u="none" strike="noStrike" cap="none">
                <a:solidFill>
                  <a:srgbClr val="4A5568"/>
                </a:solidFill>
                <a:latin typeface="Lato"/>
                <a:ea typeface="Lato"/>
                <a:cs typeface="Lato"/>
                <a:sym typeface="Lato"/>
              </a:rPr>
              <a:t> The Flutter app never includes a secret API key. The API signature conspicuously omits it.</a:t>
            </a:r>
            <a:endParaRPr/>
          </a:p>
        </p:txBody>
      </p:sp>
      <p:pic>
        <p:nvPicPr>
          <p:cNvPr id="199" name="Google Shape;199;p21" descr="image.png"/>
          <p:cNvPicPr preferRelativeResize="0"/>
          <p:nvPr/>
        </p:nvPicPr>
        <p:blipFill rotWithShape="1">
          <a:blip r:embed="rId5">
            <a:alphaModFix/>
          </a:blip>
          <a:srcRect/>
          <a:stretch/>
        </p:blipFill>
        <p:spPr>
          <a:xfrm>
            <a:off x="1809750" y="4095750"/>
            <a:ext cx="285750" cy="228600"/>
          </a:xfrm>
          <a:prstGeom prst="rect">
            <a:avLst/>
          </a:prstGeom>
          <a:noFill/>
          <a:ln>
            <a:noFill/>
          </a:ln>
        </p:spPr>
      </p:pic>
      <p:sp>
        <p:nvSpPr>
          <p:cNvPr id="200" name="Google Shape;200;p21"/>
          <p:cNvSpPr txBox="1"/>
          <p:nvPr/>
        </p:nvSpPr>
        <p:spPr>
          <a:xfrm>
            <a:off x="2238375" y="4048125"/>
            <a:ext cx="8143875" cy="609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1" i="0" u="none" strike="noStrike" cap="none">
                <a:solidFill>
                  <a:srgbClr val="1A202C"/>
                </a:solidFill>
                <a:latin typeface="Lato"/>
                <a:ea typeface="Lato"/>
                <a:cs typeface="Lato"/>
                <a:sym typeface="Lato"/>
              </a:rPr>
              <a:t>App Check Integration:</a:t>
            </a:r>
            <a:r>
              <a:rPr lang="en-US" sz="1500" b="0" i="0" u="none" strike="noStrike" cap="none">
                <a:solidFill>
                  <a:srgbClr val="4A5568"/>
                </a:solidFill>
                <a:latin typeface="Lato"/>
                <a:ea typeface="Lato"/>
                <a:cs typeface="Lato"/>
                <a:sym typeface="Lato"/>
              </a:rPr>
              <a:t> Verifies that requests are from a legitimate, untampered instance of *your* application, blocking bots.</a:t>
            </a:r>
            <a:endParaRPr/>
          </a:p>
        </p:txBody>
      </p:sp>
      <p:pic>
        <p:nvPicPr>
          <p:cNvPr id="201" name="Google Shape;201;p21" descr="image.png"/>
          <p:cNvPicPr preferRelativeResize="0"/>
          <p:nvPr/>
        </p:nvPicPr>
        <p:blipFill rotWithShape="1">
          <a:blip r:embed="rId6">
            <a:alphaModFix/>
          </a:blip>
          <a:srcRect/>
          <a:stretch/>
        </p:blipFill>
        <p:spPr>
          <a:xfrm>
            <a:off x="1809750" y="4895850"/>
            <a:ext cx="285750" cy="228600"/>
          </a:xfrm>
          <a:prstGeom prst="rect">
            <a:avLst/>
          </a:prstGeom>
          <a:noFill/>
          <a:ln>
            <a:noFill/>
          </a:ln>
        </p:spPr>
      </p:pic>
      <p:sp>
        <p:nvSpPr>
          <p:cNvPr id="202" name="Google Shape;202;p21"/>
          <p:cNvSpPr txBox="1"/>
          <p:nvPr/>
        </p:nvSpPr>
        <p:spPr>
          <a:xfrm>
            <a:off x="2238375" y="4848225"/>
            <a:ext cx="8143875" cy="609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1" i="0" u="none" strike="noStrike" cap="none">
                <a:solidFill>
                  <a:srgbClr val="1A202C"/>
                </a:solidFill>
                <a:latin typeface="Lato"/>
                <a:ea typeface="Lato"/>
                <a:cs typeface="Lato"/>
                <a:sym typeface="Lato"/>
              </a:rPr>
              <a:t>Standard Firebase SDKs:</a:t>
            </a:r>
            <a:r>
              <a:rPr lang="en-US" sz="1500" b="0" i="0" u="none" strike="noStrike" cap="none">
                <a:solidFill>
                  <a:srgbClr val="4A5568"/>
                </a:solidFill>
                <a:latin typeface="Lato"/>
                <a:ea typeface="Lato"/>
                <a:cs typeface="Lato"/>
                <a:sym typeface="Lato"/>
              </a:rPr>
              <a:t> The client interacts with the service using the standard, client-side Firebase SDKs you already trust.</a:t>
            </a:r>
            <a:endParaRPr/>
          </a:p>
        </p:txBody>
      </p:sp>
      <p:sp>
        <p:nvSpPr>
          <p:cNvPr id="203" name="Google Shape;203;p21"/>
          <p:cNvSpPr txBox="1"/>
          <p:nvPr/>
        </p:nvSpPr>
        <p:spPr>
          <a:xfrm>
            <a:off x="571500" y="571500"/>
            <a:ext cx="11601450" cy="5715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000" b="1" i="0" u="none" strike="noStrike" cap="none">
                <a:solidFill>
                  <a:srgbClr val="0A2540"/>
                </a:solidFill>
                <a:latin typeface="Poppins"/>
                <a:ea typeface="Poppins"/>
                <a:cs typeface="Poppins"/>
                <a:sym typeface="Poppins"/>
              </a:rPr>
              <a:t>The Solution: Firebase AI Logic</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Shape 207"/>
        <p:cNvGrpSpPr/>
        <p:nvPr/>
      </p:nvGrpSpPr>
      <p:grpSpPr>
        <a:xfrm>
          <a:off x="0" y="0"/>
          <a:ext cx="0" cy="0"/>
          <a:chOff x="0" y="0"/>
          <a:chExt cx="0" cy="0"/>
        </a:xfrm>
      </p:grpSpPr>
      <p:pic>
        <p:nvPicPr>
          <p:cNvPr id="208" name="Google Shape;208;p22"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209" name="Google Shape;209;p22" descr="image.png"/>
          <p:cNvPicPr preferRelativeResize="0"/>
          <p:nvPr/>
        </p:nvPicPr>
        <p:blipFill rotWithShape="1">
          <a:blip r:embed="rId4">
            <a:alphaModFix/>
          </a:blip>
          <a:srcRect/>
          <a:stretch/>
        </p:blipFill>
        <p:spPr>
          <a:xfrm>
            <a:off x="571500" y="2209800"/>
            <a:ext cx="5286375" cy="3390900"/>
          </a:xfrm>
          <a:prstGeom prst="rect">
            <a:avLst/>
          </a:prstGeom>
          <a:noFill/>
          <a:ln>
            <a:noFill/>
          </a:ln>
        </p:spPr>
      </p:pic>
      <p:pic>
        <p:nvPicPr>
          <p:cNvPr id="210" name="Google Shape;210;p22" descr="image.png"/>
          <p:cNvPicPr preferRelativeResize="0"/>
          <p:nvPr/>
        </p:nvPicPr>
        <p:blipFill rotWithShape="1">
          <a:blip r:embed="rId5">
            <a:alphaModFix/>
          </a:blip>
          <a:srcRect/>
          <a:stretch/>
        </p:blipFill>
        <p:spPr>
          <a:xfrm>
            <a:off x="6334125" y="2209800"/>
            <a:ext cx="5286375" cy="3390900"/>
          </a:xfrm>
          <a:prstGeom prst="rect">
            <a:avLst/>
          </a:prstGeom>
          <a:noFill/>
          <a:ln>
            <a:noFill/>
          </a:ln>
        </p:spPr>
      </p:pic>
      <p:sp>
        <p:nvSpPr>
          <p:cNvPr id="211" name="Google Shape;211;p22"/>
          <p:cNvSpPr txBox="1"/>
          <p:nvPr/>
        </p:nvSpPr>
        <p:spPr>
          <a:xfrm>
            <a:off x="962025" y="2600325"/>
            <a:ext cx="4730591" cy="4000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100" b="1" i="0" u="none" strike="noStrike" cap="none">
                <a:solidFill>
                  <a:srgbClr val="027DFD"/>
                </a:solidFill>
                <a:latin typeface="Poppins"/>
                <a:ea typeface="Poppins"/>
                <a:cs typeface="Poppins"/>
                <a:sym typeface="Poppins"/>
              </a:rPr>
              <a:t>A "Brain in a Jar"</a:t>
            </a:r>
            <a:endParaRPr/>
          </a:p>
        </p:txBody>
      </p:sp>
      <p:sp>
        <p:nvSpPr>
          <p:cNvPr id="212" name="Google Shape;212;p22"/>
          <p:cNvSpPr txBox="1"/>
          <p:nvPr/>
        </p:nvSpPr>
        <p:spPr>
          <a:xfrm>
            <a:off x="962025" y="3190875"/>
            <a:ext cx="4505325" cy="9144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4A5568"/>
                </a:solidFill>
                <a:latin typeface="Lato"/>
                <a:ea typeface="Lato"/>
                <a:cs typeface="Lato"/>
                <a:sym typeface="Lato"/>
              </a:rPr>
              <a:t>An LLM, by itself, is trained on a static, finite dataset. It doesn't know the current weather, it can't access your private database, and it can't change your app's theme.</a:t>
            </a:r>
            <a:endParaRPr/>
          </a:p>
        </p:txBody>
      </p:sp>
      <p:sp>
        <p:nvSpPr>
          <p:cNvPr id="213" name="Google Shape;213;p22"/>
          <p:cNvSpPr txBox="1"/>
          <p:nvPr/>
        </p:nvSpPr>
        <p:spPr>
          <a:xfrm>
            <a:off x="6724650" y="2600325"/>
            <a:ext cx="4730591" cy="4000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100" b="1" i="0" u="none" strike="noStrike" cap="none">
                <a:solidFill>
                  <a:srgbClr val="027DFD"/>
                </a:solidFill>
                <a:latin typeface="Poppins"/>
                <a:ea typeface="Poppins"/>
                <a:cs typeface="Poppins"/>
                <a:sym typeface="Poppins"/>
              </a:rPr>
              <a:t>Giving it "Arms and Legs"</a:t>
            </a:r>
            <a:endParaRPr/>
          </a:p>
        </p:txBody>
      </p:sp>
      <p:sp>
        <p:nvSpPr>
          <p:cNvPr id="214" name="Google Shape;214;p22"/>
          <p:cNvSpPr txBox="1"/>
          <p:nvPr/>
        </p:nvSpPr>
        <p:spPr>
          <a:xfrm>
            <a:off x="6724650" y="3190875"/>
            <a:ext cx="4505325" cy="18288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1" i="0" u="none" strike="noStrike" cap="none">
                <a:solidFill>
                  <a:srgbClr val="4A5568"/>
                </a:solidFill>
                <a:latin typeface="Lato"/>
                <a:ea typeface="Lato"/>
                <a:cs typeface="Lato"/>
                <a:sym typeface="Lato"/>
              </a:rPr>
              <a:t>Tool Calling (or Function Calling)</a:t>
            </a:r>
            <a:r>
              <a:rPr lang="en-US" sz="1500" b="0" i="0" u="none" strike="noStrike" cap="none">
                <a:solidFill>
                  <a:srgbClr val="4A5568"/>
                </a:solidFill>
                <a:latin typeface="Lato"/>
                <a:ea typeface="Lato"/>
                <a:cs typeface="Lato"/>
                <a:sym typeface="Lato"/>
              </a:rPr>
              <a:t> solves this. You provide the LLM a *description* of your Dart functions. The LLM then "pauses" and *requests* to run a function with specific arguments. Your app executes its own code, sends the result back, and the LLM synthesizes the final answer.</a:t>
            </a:r>
            <a:endParaRPr/>
          </a:p>
        </p:txBody>
      </p:sp>
      <p:sp>
        <p:nvSpPr>
          <p:cNvPr id="215" name="Google Shape;215;p22"/>
          <p:cNvSpPr txBox="1"/>
          <p:nvPr/>
        </p:nvSpPr>
        <p:spPr>
          <a:xfrm>
            <a:off x="571500" y="571500"/>
            <a:ext cx="11601450" cy="5715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000" b="1" i="0" u="none" strike="noStrike" cap="none">
                <a:solidFill>
                  <a:srgbClr val="0A2540"/>
                </a:solidFill>
                <a:latin typeface="Poppins"/>
                <a:ea typeface="Poppins"/>
                <a:cs typeface="Poppins"/>
                <a:sym typeface="Poppins"/>
              </a:rPr>
              <a:t>Beyond Chat: What is an Agent?</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Shape 219"/>
        <p:cNvGrpSpPr/>
        <p:nvPr/>
      </p:nvGrpSpPr>
      <p:grpSpPr>
        <a:xfrm>
          <a:off x="0" y="0"/>
          <a:ext cx="0" cy="0"/>
          <a:chOff x="0" y="0"/>
          <a:chExt cx="0" cy="0"/>
        </a:xfrm>
      </p:grpSpPr>
      <p:pic>
        <p:nvPicPr>
          <p:cNvPr id="220" name="Google Shape;220;p23" descr="image.png"/>
          <p:cNvPicPr preferRelativeResize="0"/>
          <p:nvPr/>
        </p:nvPicPr>
        <p:blipFill rotWithShape="1">
          <a:blip r:embed="rId3">
            <a:alphaModFix/>
          </a:blip>
          <a:srcRect/>
          <a:stretch/>
        </p:blipFill>
        <p:spPr>
          <a:xfrm>
            <a:off x="0" y="0"/>
            <a:ext cx="12192000" cy="6858000"/>
          </a:xfrm>
          <a:prstGeom prst="rect">
            <a:avLst/>
          </a:prstGeom>
          <a:noFill/>
          <a:ln>
            <a:noFill/>
          </a:ln>
        </p:spPr>
      </p:pic>
      <p:graphicFrame>
        <p:nvGraphicFramePr>
          <p:cNvPr id="221" name="Google Shape;221;p23"/>
          <p:cNvGraphicFramePr/>
          <p:nvPr/>
        </p:nvGraphicFramePr>
        <p:xfrm>
          <a:off x="571500" y="1943992"/>
          <a:ext cx="3000000" cy="3000000"/>
        </p:xfrm>
        <a:graphic>
          <a:graphicData uri="http://schemas.openxmlformats.org/drawingml/2006/table">
            <a:tbl>
              <a:tblPr firstRow="1" bandRow="1">
                <a:noFill/>
                <a:tableStyleId>{107978D3-F39F-4772-BD46-F5F44E156AD5}</a:tableStyleId>
              </a:tblPr>
              <a:tblGrid>
                <a:gridCol w="2137475">
                  <a:extLst>
                    <a:ext uri="{9D8B030D-6E8A-4147-A177-3AD203B41FA5}">
                      <a16:colId xmlns:a16="http://schemas.microsoft.com/office/drawing/2014/main" val="20000"/>
                    </a:ext>
                  </a:extLst>
                </a:gridCol>
                <a:gridCol w="3984875">
                  <a:extLst>
                    <a:ext uri="{9D8B030D-6E8A-4147-A177-3AD203B41FA5}">
                      <a16:colId xmlns:a16="http://schemas.microsoft.com/office/drawing/2014/main" val="20001"/>
                    </a:ext>
                  </a:extLst>
                </a:gridCol>
                <a:gridCol w="4917125">
                  <a:extLst>
                    <a:ext uri="{9D8B030D-6E8A-4147-A177-3AD203B41FA5}">
                      <a16:colId xmlns:a16="http://schemas.microsoft.com/office/drawing/2014/main" val="20002"/>
                    </a:ext>
                  </a:extLst>
                </a:gridCol>
              </a:tblGrid>
              <a:tr h="653725">
                <a:tc>
                  <a:txBody>
                    <a:bodyPr/>
                    <a:lstStyle/>
                    <a:p>
                      <a:pPr marL="0" marR="0" lvl="0" indent="0" algn="l" rtl="0">
                        <a:spcBef>
                          <a:spcPts val="0"/>
                        </a:spcBef>
                        <a:spcAft>
                          <a:spcPts val="0"/>
                        </a:spcAft>
                        <a:buNone/>
                      </a:pPr>
                      <a:r>
                        <a:rPr lang="en-US" sz="1350" b="1" i="0" u="none" strike="noStrike" cap="none">
                          <a:solidFill>
                            <a:srgbClr val="1A202C"/>
                          </a:solidFill>
                          <a:latin typeface="Poppins"/>
                          <a:ea typeface="Poppins"/>
                          <a:cs typeface="Poppins"/>
                          <a:sym typeface="Poppins"/>
                        </a:rPr>
                        <a:t>Feature</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7FAFC"/>
                    </a:solidFill>
                  </a:tcPr>
                </a:tc>
                <a:tc>
                  <a:txBody>
                    <a:bodyPr/>
                    <a:lstStyle/>
                    <a:p>
                      <a:pPr marL="0" marR="0" lvl="0" indent="0" algn="l" rtl="0">
                        <a:spcBef>
                          <a:spcPts val="0"/>
                        </a:spcBef>
                        <a:spcAft>
                          <a:spcPts val="0"/>
                        </a:spcAft>
                        <a:buNone/>
                      </a:pPr>
                      <a:r>
                        <a:rPr lang="en-US" sz="1350" b="1" i="0" u="none" strike="noStrike" cap="none">
                          <a:solidFill>
                            <a:srgbClr val="1A202C"/>
                          </a:solidFill>
                          <a:latin typeface="Poppins"/>
                          <a:ea typeface="Poppins"/>
                          <a:cs typeface="Poppins"/>
                          <a:sym typeface="Poppins"/>
                        </a:rPr>
                        <a:t>Firebase AI Logic</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7FAFC"/>
                    </a:solidFill>
                  </a:tcPr>
                </a:tc>
                <a:tc>
                  <a:txBody>
                    <a:bodyPr/>
                    <a:lstStyle/>
                    <a:p>
                      <a:pPr marL="0" marR="0" lvl="0" indent="0" algn="l" rtl="0">
                        <a:spcBef>
                          <a:spcPts val="0"/>
                        </a:spcBef>
                        <a:spcAft>
                          <a:spcPts val="0"/>
                        </a:spcAft>
                        <a:buNone/>
                      </a:pPr>
                      <a:r>
                        <a:rPr lang="en-US" sz="1350" b="1" i="0" u="none" strike="noStrike" cap="none">
                          <a:solidFill>
                            <a:srgbClr val="1A202C"/>
                          </a:solidFill>
                          <a:latin typeface="Poppins"/>
                          <a:ea typeface="Poppins"/>
                          <a:cs typeface="Poppins"/>
                          <a:sym typeface="Poppins"/>
                        </a:rPr>
                        <a:t>Firebase Genkit</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7FAFC"/>
                    </a:solidFill>
                  </a:tcPr>
                </a:tc>
                <a:extLst>
                  <a:ext uri="{0D108BD9-81ED-4DB2-BD59-A6C34878D82A}">
                    <a16:rowId xmlns:a16="http://schemas.microsoft.com/office/drawing/2014/main" val="10000"/>
                  </a:ext>
                </a:extLst>
              </a:tr>
              <a:tr h="653725">
                <a:tc>
                  <a:txBody>
                    <a:bodyPr/>
                    <a:lstStyle/>
                    <a:p>
                      <a:pPr marL="0" marR="0" lvl="0" indent="0" algn="l" rtl="0">
                        <a:spcBef>
                          <a:spcPts val="0"/>
                        </a:spcBef>
                        <a:spcAft>
                          <a:spcPts val="0"/>
                        </a:spcAft>
                        <a:buNone/>
                      </a:pPr>
                      <a:r>
                        <a:rPr lang="en-US" sz="1500" b="0" i="0" u="none" strike="noStrike" cap="none">
                          <a:solidFill>
                            <a:srgbClr val="4A5568"/>
                          </a:solidFill>
                          <a:latin typeface="Lato"/>
                          <a:ea typeface="Lato"/>
                          <a:cs typeface="Lato"/>
                          <a:sym typeface="Lato"/>
                        </a:rPr>
                        <a:t>What it is</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500" b="1" i="0" u="none" strike="noStrike" cap="none">
                          <a:solidFill>
                            <a:srgbClr val="4A5568"/>
                          </a:solidFill>
                          <a:latin typeface="Lato"/>
                          <a:ea typeface="Lato"/>
                          <a:cs typeface="Lato"/>
                          <a:sym typeface="Lato"/>
                        </a:rPr>
                        <a:t>Client-side SDK (in Dart)</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500" b="1" i="0" u="none" strike="noStrike" cap="none">
                          <a:solidFill>
                            <a:srgbClr val="4A5568"/>
                          </a:solidFill>
                          <a:latin typeface="Lato"/>
                          <a:ea typeface="Lato"/>
                          <a:cs typeface="Lato"/>
                          <a:sym typeface="Lato"/>
                        </a:rPr>
                        <a:t>Server-side Framework</a:t>
                      </a:r>
                      <a:r>
                        <a:rPr lang="en-US" sz="1500" b="0" i="0" u="none" strike="noStrike" cap="none">
                          <a:solidFill>
                            <a:srgbClr val="4A5568"/>
                          </a:solidFill>
                          <a:latin typeface="Lato"/>
                          <a:ea typeface="Lato"/>
                          <a:cs typeface="Lato"/>
                          <a:sym typeface="Lato"/>
                        </a:rPr>
                        <a:t> (Node.js/Go)</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1"/>
                  </a:ext>
                </a:extLst>
              </a:tr>
              <a:tr h="653725">
                <a:tc>
                  <a:txBody>
                    <a:bodyPr/>
                    <a:lstStyle/>
                    <a:p>
                      <a:pPr marL="0" marR="0" lvl="0" indent="0" algn="l" rtl="0">
                        <a:spcBef>
                          <a:spcPts val="0"/>
                        </a:spcBef>
                        <a:spcAft>
                          <a:spcPts val="0"/>
                        </a:spcAft>
                        <a:buNone/>
                      </a:pPr>
                      <a:r>
                        <a:rPr lang="en-US" sz="1500" b="0" i="0" u="none" strike="noStrike" cap="none">
                          <a:solidFill>
                            <a:srgbClr val="4A5568"/>
                          </a:solidFill>
                          <a:latin typeface="Lato"/>
                          <a:ea typeface="Lato"/>
                          <a:cs typeface="Lato"/>
                          <a:sym typeface="Lato"/>
                        </a:rPr>
                        <a:t>Core Use Case</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500" b="0" i="0" u="none" strike="noStrike" cap="none">
                          <a:solidFill>
                            <a:srgbClr val="4A5568"/>
                          </a:solidFill>
                          <a:latin typeface="Lato"/>
                          <a:ea typeface="Lato"/>
                          <a:cs typeface="Lato"/>
                          <a:sym typeface="Lato"/>
                        </a:rPr>
                        <a:t>Simple, direct LLM calls from Flutter</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500" b="0" i="0" u="none" strike="noStrike" cap="none">
                          <a:solidFill>
                            <a:srgbClr val="4A5568"/>
                          </a:solidFill>
                          <a:latin typeface="Lato"/>
                          <a:ea typeface="Lato"/>
                          <a:cs typeface="Lato"/>
                          <a:sym typeface="Lato"/>
                        </a:rPr>
                        <a:t>Complex, multi-step "Flows"</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2"/>
                  </a:ext>
                </a:extLst>
              </a:tr>
              <a:tr h="653725">
                <a:tc>
                  <a:txBody>
                    <a:bodyPr/>
                    <a:lstStyle/>
                    <a:p>
                      <a:pPr marL="0" marR="0" lvl="0" indent="0" algn="l" rtl="0">
                        <a:spcBef>
                          <a:spcPts val="0"/>
                        </a:spcBef>
                        <a:spcAft>
                          <a:spcPts val="0"/>
                        </a:spcAft>
                        <a:buNone/>
                      </a:pPr>
                      <a:r>
                        <a:rPr lang="en-US" sz="1500" b="0" i="0" u="none" strike="noStrike" cap="none">
                          <a:solidFill>
                            <a:srgbClr val="4A5568"/>
                          </a:solidFill>
                          <a:latin typeface="Lato"/>
                          <a:ea typeface="Lato"/>
                          <a:cs typeface="Lato"/>
                          <a:sym typeface="Lato"/>
                        </a:rPr>
                        <a:t>Model Providers</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500" b="0" i="0" u="none" strike="noStrike" cap="none">
                          <a:solidFill>
                            <a:srgbClr val="4A5568"/>
                          </a:solidFill>
                          <a:latin typeface="Lato"/>
                          <a:ea typeface="Lato"/>
                          <a:cs typeface="Lato"/>
                          <a:sym typeface="Lato"/>
                        </a:rPr>
                        <a:t>Google-only (Gemini)</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500" b="1" i="0" u="none" strike="noStrike" cap="none">
                          <a:solidFill>
                            <a:srgbClr val="4A5568"/>
                          </a:solidFill>
                          <a:latin typeface="Lato"/>
                          <a:ea typeface="Lato"/>
                          <a:cs typeface="Lato"/>
                          <a:sym typeface="Lato"/>
                        </a:rPr>
                        <a:t>Multi-provider</a:t>
                      </a:r>
                      <a:r>
                        <a:rPr lang="en-US" sz="1500" b="0" i="0" u="none" strike="noStrike" cap="none">
                          <a:solidFill>
                            <a:srgbClr val="4A5568"/>
                          </a:solidFill>
                          <a:latin typeface="Lato"/>
                          <a:ea typeface="Lato"/>
                          <a:cs typeface="Lato"/>
                          <a:sym typeface="Lato"/>
                        </a:rPr>
                        <a:t> (Google, OpenAI, Anthropic...)</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3"/>
                  </a:ext>
                </a:extLst>
              </a:tr>
              <a:tr h="653725">
                <a:tc>
                  <a:txBody>
                    <a:bodyPr/>
                    <a:lstStyle/>
                    <a:p>
                      <a:pPr marL="0" marR="0" lvl="0" indent="0" algn="l" rtl="0">
                        <a:spcBef>
                          <a:spcPts val="0"/>
                        </a:spcBef>
                        <a:spcAft>
                          <a:spcPts val="0"/>
                        </a:spcAft>
                        <a:buNone/>
                      </a:pPr>
                      <a:r>
                        <a:rPr lang="en-US" sz="1500" b="0" i="0" u="none" strike="noStrike" cap="none">
                          <a:solidFill>
                            <a:srgbClr val="4A5568"/>
                          </a:solidFill>
                          <a:latin typeface="Lato"/>
                          <a:ea typeface="Lato"/>
                          <a:cs typeface="Lato"/>
                          <a:sym typeface="Lato"/>
                        </a:rPr>
                        <a:t>Advanced Logic</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500" b="0" i="0" u="none" strike="noStrike" cap="none">
                          <a:solidFill>
                            <a:srgbClr val="4A5568"/>
                          </a:solidFill>
                          <a:latin typeface="Lato"/>
                          <a:ea typeface="Lato"/>
                          <a:cs typeface="Lato"/>
                          <a:sym typeface="Lato"/>
                        </a:rPr>
                        <a:t>Basic (Tool Calling)</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500" b="1" i="0" u="none" strike="noStrike" cap="none">
                          <a:solidFill>
                            <a:srgbClr val="4A5568"/>
                          </a:solidFill>
                          <a:latin typeface="Lato"/>
                          <a:ea typeface="Lato"/>
                          <a:cs typeface="Lato"/>
                          <a:sym typeface="Lato"/>
                        </a:rPr>
                        <a:t>Advanced</a:t>
                      </a:r>
                      <a:r>
                        <a:rPr lang="en-US" sz="1500" b="0" i="0" u="none" strike="noStrike" cap="none">
                          <a:solidFill>
                            <a:srgbClr val="4A5568"/>
                          </a:solidFill>
                          <a:latin typeface="Lato"/>
                          <a:ea typeface="Lato"/>
                          <a:cs typeface="Lato"/>
                          <a:sym typeface="Lato"/>
                        </a:rPr>
                        <a:t> (RAG, Caching, custom logic)</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4"/>
                  </a:ext>
                </a:extLst>
              </a:tr>
              <a:tr h="653725">
                <a:tc>
                  <a:txBody>
                    <a:bodyPr/>
                    <a:lstStyle/>
                    <a:p>
                      <a:pPr marL="0" marR="0" lvl="0" indent="0" algn="l" rtl="0">
                        <a:spcBef>
                          <a:spcPts val="0"/>
                        </a:spcBef>
                        <a:spcAft>
                          <a:spcPts val="0"/>
                        </a:spcAft>
                        <a:buNone/>
                      </a:pPr>
                      <a:r>
                        <a:rPr lang="en-US" sz="1500" b="0" i="0" u="none" strike="noStrike" cap="none">
                          <a:solidFill>
                            <a:srgbClr val="4A5568"/>
                          </a:solidFill>
                          <a:latin typeface="Lato"/>
                          <a:ea typeface="Lato"/>
                          <a:cs typeface="Lato"/>
                          <a:sym typeface="Lato"/>
                        </a:rPr>
                        <a:t>Flutter Dev</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500" b="0" i="0" u="none" strike="noStrike" cap="none">
                          <a:solidFill>
                            <a:srgbClr val="4A5568"/>
                          </a:solidFill>
                          <a:latin typeface="Lato"/>
                          <a:ea typeface="Lato"/>
                          <a:cs typeface="Lato"/>
                          <a:sym typeface="Lato"/>
                        </a:rPr>
                        <a:t>All in Dart</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500" b="0" i="0" u="none" strike="noStrike" cap="none">
                          <a:solidFill>
                            <a:srgbClr val="4A5568"/>
                          </a:solidFill>
                          <a:latin typeface="Lato"/>
                          <a:ea typeface="Lato"/>
                          <a:cs typeface="Lato"/>
                          <a:sym typeface="Lato"/>
                        </a:rPr>
                        <a:t>Flutter calls a backend (e.g., Cloud Function)</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5"/>
                  </a:ext>
                </a:extLst>
              </a:tr>
            </a:tbl>
          </a:graphicData>
        </a:graphic>
      </p:graphicFrame>
      <p:sp>
        <p:nvSpPr>
          <p:cNvPr id="222" name="Google Shape;222;p23"/>
          <p:cNvSpPr/>
          <p:nvPr/>
        </p:nvSpPr>
        <p:spPr>
          <a:xfrm>
            <a:off x="576262" y="2565945"/>
            <a:ext cx="2137469"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23" name="Google Shape;223;p23"/>
          <p:cNvSpPr/>
          <p:nvPr/>
        </p:nvSpPr>
        <p:spPr>
          <a:xfrm>
            <a:off x="2713732" y="2565945"/>
            <a:ext cx="3984873"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24" name="Google Shape;224;p23"/>
          <p:cNvSpPr/>
          <p:nvPr/>
        </p:nvSpPr>
        <p:spPr>
          <a:xfrm>
            <a:off x="6698605" y="2565945"/>
            <a:ext cx="4917132"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25" name="Google Shape;225;p23"/>
          <p:cNvSpPr/>
          <p:nvPr/>
        </p:nvSpPr>
        <p:spPr>
          <a:xfrm>
            <a:off x="576262" y="3223170"/>
            <a:ext cx="2137469"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26" name="Google Shape;226;p23"/>
          <p:cNvSpPr/>
          <p:nvPr/>
        </p:nvSpPr>
        <p:spPr>
          <a:xfrm>
            <a:off x="2713732" y="3223170"/>
            <a:ext cx="3984873"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27" name="Google Shape;227;p23"/>
          <p:cNvSpPr/>
          <p:nvPr/>
        </p:nvSpPr>
        <p:spPr>
          <a:xfrm>
            <a:off x="6698605" y="3223170"/>
            <a:ext cx="4917132"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28" name="Google Shape;228;p23"/>
          <p:cNvSpPr/>
          <p:nvPr/>
        </p:nvSpPr>
        <p:spPr>
          <a:xfrm>
            <a:off x="576262" y="3880395"/>
            <a:ext cx="2137469"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29" name="Google Shape;229;p23"/>
          <p:cNvSpPr/>
          <p:nvPr/>
        </p:nvSpPr>
        <p:spPr>
          <a:xfrm>
            <a:off x="2713732" y="3880395"/>
            <a:ext cx="3984873"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30" name="Google Shape;230;p23"/>
          <p:cNvSpPr/>
          <p:nvPr/>
        </p:nvSpPr>
        <p:spPr>
          <a:xfrm>
            <a:off x="6698605" y="3880395"/>
            <a:ext cx="4917132"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31" name="Google Shape;231;p23"/>
          <p:cNvSpPr/>
          <p:nvPr/>
        </p:nvSpPr>
        <p:spPr>
          <a:xfrm>
            <a:off x="576262" y="4537620"/>
            <a:ext cx="2137469"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32" name="Google Shape;232;p23"/>
          <p:cNvSpPr/>
          <p:nvPr/>
        </p:nvSpPr>
        <p:spPr>
          <a:xfrm>
            <a:off x="2713732" y="4537620"/>
            <a:ext cx="3984873"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33" name="Google Shape;233;p23"/>
          <p:cNvSpPr/>
          <p:nvPr/>
        </p:nvSpPr>
        <p:spPr>
          <a:xfrm>
            <a:off x="6698605" y="4537620"/>
            <a:ext cx="4917132"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34" name="Google Shape;234;p23"/>
          <p:cNvSpPr/>
          <p:nvPr/>
        </p:nvSpPr>
        <p:spPr>
          <a:xfrm>
            <a:off x="576262" y="5194845"/>
            <a:ext cx="2137469"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35" name="Google Shape;235;p23"/>
          <p:cNvSpPr/>
          <p:nvPr/>
        </p:nvSpPr>
        <p:spPr>
          <a:xfrm>
            <a:off x="2713732" y="5194845"/>
            <a:ext cx="3984873"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36" name="Google Shape;236;p23"/>
          <p:cNvSpPr/>
          <p:nvPr/>
        </p:nvSpPr>
        <p:spPr>
          <a:xfrm>
            <a:off x="6698605" y="5194845"/>
            <a:ext cx="4917132"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37" name="Google Shape;237;p23"/>
          <p:cNvSpPr txBox="1"/>
          <p:nvPr/>
        </p:nvSpPr>
        <p:spPr>
          <a:xfrm>
            <a:off x="571500" y="571500"/>
            <a:ext cx="11601450" cy="5715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000" b="1" i="0" u="none" strike="noStrike" cap="none">
                <a:solidFill>
                  <a:srgbClr val="0A2540"/>
                </a:solidFill>
                <a:latin typeface="Poppins"/>
                <a:ea typeface="Poppins"/>
                <a:cs typeface="Poppins"/>
                <a:sym typeface="Poppins"/>
              </a:rPr>
              <a:t>Advanced Orchestration: AI Logic vs. Genkit</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Shape 241"/>
        <p:cNvGrpSpPr/>
        <p:nvPr/>
      </p:nvGrpSpPr>
      <p:grpSpPr>
        <a:xfrm>
          <a:off x="0" y="0"/>
          <a:ext cx="0" cy="0"/>
          <a:chOff x="0" y="0"/>
          <a:chExt cx="0" cy="0"/>
        </a:xfrm>
      </p:grpSpPr>
      <p:pic>
        <p:nvPicPr>
          <p:cNvPr id="242" name="Google Shape;242;p24"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243" name="Google Shape;243;p24" descr="image.png"/>
          <p:cNvPicPr preferRelativeResize="0"/>
          <p:nvPr/>
        </p:nvPicPr>
        <p:blipFill rotWithShape="1">
          <a:blip r:embed="rId4">
            <a:alphaModFix/>
          </a:blip>
          <a:srcRect/>
          <a:stretch/>
        </p:blipFill>
        <p:spPr>
          <a:xfrm>
            <a:off x="571500" y="2214562"/>
            <a:ext cx="3492549" cy="3381375"/>
          </a:xfrm>
          <a:prstGeom prst="rect">
            <a:avLst/>
          </a:prstGeom>
          <a:noFill/>
          <a:ln>
            <a:noFill/>
          </a:ln>
        </p:spPr>
      </p:pic>
      <p:pic>
        <p:nvPicPr>
          <p:cNvPr id="244" name="Google Shape;244;p24" descr="image.png"/>
          <p:cNvPicPr preferRelativeResize="0"/>
          <p:nvPr/>
        </p:nvPicPr>
        <p:blipFill rotWithShape="1">
          <a:blip r:embed="rId5">
            <a:alphaModFix/>
          </a:blip>
          <a:srcRect/>
          <a:stretch/>
        </p:blipFill>
        <p:spPr>
          <a:xfrm>
            <a:off x="4349799" y="2214562"/>
            <a:ext cx="3492549" cy="3381375"/>
          </a:xfrm>
          <a:prstGeom prst="rect">
            <a:avLst/>
          </a:prstGeom>
          <a:noFill/>
          <a:ln>
            <a:noFill/>
          </a:ln>
        </p:spPr>
      </p:pic>
      <p:pic>
        <p:nvPicPr>
          <p:cNvPr id="245" name="Google Shape;245;p24" descr="image.png"/>
          <p:cNvPicPr preferRelativeResize="0"/>
          <p:nvPr/>
        </p:nvPicPr>
        <p:blipFill rotWithShape="1">
          <a:blip r:embed="rId6">
            <a:alphaModFix/>
          </a:blip>
          <a:srcRect/>
          <a:stretch/>
        </p:blipFill>
        <p:spPr>
          <a:xfrm>
            <a:off x="8128099" y="2214562"/>
            <a:ext cx="3492549" cy="3381375"/>
          </a:xfrm>
          <a:prstGeom prst="rect">
            <a:avLst/>
          </a:prstGeom>
          <a:noFill/>
          <a:ln>
            <a:noFill/>
          </a:ln>
        </p:spPr>
      </p:pic>
      <p:pic>
        <p:nvPicPr>
          <p:cNvPr id="246" name="Google Shape;246;p24" descr="image.png"/>
          <p:cNvPicPr preferRelativeResize="0"/>
          <p:nvPr/>
        </p:nvPicPr>
        <p:blipFill rotWithShape="1">
          <a:blip r:embed="rId7">
            <a:alphaModFix/>
          </a:blip>
          <a:srcRect/>
          <a:stretch/>
        </p:blipFill>
        <p:spPr>
          <a:xfrm>
            <a:off x="2031950" y="2509837"/>
            <a:ext cx="571500" cy="571500"/>
          </a:xfrm>
          <a:prstGeom prst="rect">
            <a:avLst/>
          </a:prstGeom>
          <a:noFill/>
          <a:ln>
            <a:noFill/>
          </a:ln>
        </p:spPr>
      </p:pic>
      <p:sp>
        <p:nvSpPr>
          <p:cNvPr id="247" name="Google Shape;247;p24"/>
          <p:cNvSpPr txBox="1"/>
          <p:nvPr/>
        </p:nvSpPr>
        <p:spPr>
          <a:xfrm>
            <a:off x="912524" y="3271837"/>
            <a:ext cx="2810351" cy="33337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800" b="1" i="0" u="none" strike="noStrike" cap="none">
                <a:solidFill>
                  <a:srgbClr val="1A202C"/>
                </a:solidFill>
                <a:latin typeface="Poppins"/>
                <a:ea typeface="Poppins"/>
                <a:cs typeface="Poppins"/>
                <a:sym typeface="Poppins"/>
              </a:rPr>
              <a:t>Hyper-Personalization</a:t>
            </a:r>
            <a:endParaRPr/>
          </a:p>
        </p:txBody>
      </p:sp>
      <p:sp>
        <p:nvSpPr>
          <p:cNvPr id="248" name="Google Shape;248;p24"/>
          <p:cNvSpPr txBox="1"/>
          <p:nvPr/>
        </p:nvSpPr>
        <p:spPr>
          <a:xfrm>
            <a:off x="866775" y="3900487"/>
            <a:ext cx="2901999" cy="914400"/>
          </a:xfrm>
          <a:prstGeom prst="rect">
            <a:avLst/>
          </a:prstGeom>
          <a:noFill/>
          <a:ln>
            <a:noFill/>
          </a:ln>
        </p:spPr>
        <p:txBody>
          <a:bodyPr spcFirstLastPara="1" wrap="square" lIns="0" tIns="0" rIns="0" bIns="0" anchor="t" anchorCtr="0">
            <a:spAutoFit/>
          </a:bodyPr>
          <a:lstStyle/>
          <a:p>
            <a:pPr marL="0" marR="0" lvl="0" indent="0" algn="ctr" rtl="0">
              <a:lnSpc>
                <a:spcPct val="150000"/>
              </a:lnSpc>
              <a:spcBef>
                <a:spcPts val="0"/>
              </a:spcBef>
              <a:spcAft>
                <a:spcPts val="0"/>
              </a:spcAft>
              <a:buNone/>
            </a:pPr>
            <a:r>
              <a:rPr lang="en-US" sz="1200" b="0" i="0" u="none" strike="noStrike" cap="none">
                <a:solidFill>
                  <a:srgbClr val="4A5568"/>
                </a:solidFill>
                <a:latin typeface="Lato"/>
                <a:ea typeface="Lato"/>
                <a:cs typeface="Lato"/>
                <a:sym typeface="Lato"/>
              </a:rPr>
              <a:t>AI will move beyond discrete features to personalizing the entire user journey, proactively offering suggestions and dynamically re-ranking UI elements.</a:t>
            </a:r>
            <a:endParaRPr/>
          </a:p>
        </p:txBody>
      </p:sp>
      <p:pic>
        <p:nvPicPr>
          <p:cNvPr id="249" name="Google Shape;249;p24" descr="image.png"/>
          <p:cNvPicPr preferRelativeResize="0"/>
          <p:nvPr/>
        </p:nvPicPr>
        <p:blipFill rotWithShape="1">
          <a:blip r:embed="rId7">
            <a:alphaModFix/>
          </a:blip>
          <a:srcRect/>
          <a:stretch/>
        </p:blipFill>
        <p:spPr>
          <a:xfrm>
            <a:off x="5810250" y="2509837"/>
            <a:ext cx="571500" cy="571500"/>
          </a:xfrm>
          <a:prstGeom prst="rect">
            <a:avLst/>
          </a:prstGeom>
          <a:noFill/>
          <a:ln>
            <a:noFill/>
          </a:ln>
        </p:spPr>
      </p:pic>
      <p:sp>
        <p:nvSpPr>
          <p:cNvPr id="250" name="Google Shape;250;p24"/>
          <p:cNvSpPr txBox="1"/>
          <p:nvPr/>
        </p:nvSpPr>
        <p:spPr>
          <a:xfrm>
            <a:off x="4980860" y="3271837"/>
            <a:ext cx="2230278" cy="33337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800" b="1" i="0" u="none" strike="noStrike" cap="none">
                <a:solidFill>
                  <a:srgbClr val="1A202C"/>
                </a:solidFill>
                <a:latin typeface="Poppins"/>
                <a:ea typeface="Poppins"/>
                <a:cs typeface="Poppins"/>
                <a:sym typeface="Poppins"/>
              </a:rPr>
              <a:t>Truly Multi-Modal</a:t>
            </a:r>
            <a:endParaRPr/>
          </a:p>
        </p:txBody>
      </p:sp>
      <p:sp>
        <p:nvSpPr>
          <p:cNvPr id="251" name="Google Shape;251;p24"/>
          <p:cNvSpPr txBox="1"/>
          <p:nvPr/>
        </p:nvSpPr>
        <p:spPr>
          <a:xfrm>
            <a:off x="4645074" y="3900487"/>
            <a:ext cx="2901999" cy="914400"/>
          </a:xfrm>
          <a:prstGeom prst="rect">
            <a:avLst/>
          </a:prstGeom>
          <a:noFill/>
          <a:ln>
            <a:noFill/>
          </a:ln>
        </p:spPr>
        <p:txBody>
          <a:bodyPr spcFirstLastPara="1" wrap="square" lIns="0" tIns="0" rIns="0" bIns="0" anchor="t" anchorCtr="0">
            <a:spAutoFit/>
          </a:bodyPr>
          <a:lstStyle/>
          <a:p>
            <a:pPr marL="0" marR="0" lvl="0" indent="0" algn="ctr" rtl="0">
              <a:lnSpc>
                <a:spcPct val="150000"/>
              </a:lnSpc>
              <a:spcBef>
                <a:spcPts val="0"/>
              </a:spcBef>
              <a:spcAft>
                <a:spcPts val="0"/>
              </a:spcAft>
              <a:buNone/>
            </a:pPr>
            <a:r>
              <a:rPr lang="en-US" sz="1200" b="0" i="0" u="none" strike="noStrike" cap="none">
                <a:solidFill>
                  <a:srgbClr val="4A5568"/>
                </a:solidFill>
                <a:latin typeface="Lato"/>
                <a:ea typeface="Lato"/>
                <a:cs typeface="Lato"/>
                <a:sym typeface="Lato"/>
              </a:rPr>
              <a:t>A seamless blend of voice, vision, and text. Users will interact in the most natural way possible, and the app will be expected to understand and synthesize these inputs.</a:t>
            </a:r>
            <a:endParaRPr/>
          </a:p>
        </p:txBody>
      </p:sp>
      <p:pic>
        <p:nvPicPr>
          <p:cNvPr id="252" name="Google Shape;252;p24" descr="image.png"/>
          <p:cNvPicPr preferRelativeResize="0"/>
          <p:nvPr/>
        </p:nvPicPr>
        <p:blipFill rotWithShape="1">
          <a:blip r:embed="rId7">
            <a:alphaModFix/>
          </a:blip>
          <a:srcRect/>
          <a:stretch/>
        </p:blipFill>
        <p:spPr>
          <a:xfrm>
            <a:off x="9588549" y="2509837"/>
            <a:ext cx="571500" cy="571500"/>
          </a:xfrm>
          <a:prstGeom prst="rect">
            <a:avLst/>
          </a:prstGeom>
          <a:noFill/>
          <a:ln>
            <a:noFill/>
          </a:ln>
        </p:spPr>
      </p:pic>
      <p:sp>
        <p:nvSpPr>
          <p:cNvPr id="253" name="Google Shape;253;p24"/>
          <p:cNvSpPr txBox="1"/>
          <p:nvPr/>
        </p:nvSpPr>
        <p:spPr>
          <a:xfrm>
            <a:off x="8350824" y="3271837"/>
            <a:ext cx="3047099" cy="66675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800" b="1" i="0" u="none" strike="noStrike" cap="none">
                <a:solidFill>
                  <a:srgbClr val="1A202C"/>
                </a:solidFill>
                <a:latin typeface="Poppins"/>
                <a:ea typeface="Poppins"/>
                <a:cs typeface="Poppins"/>
                <a:sym typeface="Poppins"/>
              </a:rPr>
              <a:t>AI-Assisted Development</a:t>
            </a:r>
            <a:endParaRPr/>
          </a:p>
        </p:txBody>
      </p:sp>
      <p:sp>
        <p:nvSpPr>
          <p:cNvPr id="254" name="Google Shape;254;p24"/>
          <p:cNvSpPr txBox="1"/>
          <p:nvPr/>
        </p:nvSpPr>
        <p:spPr>
          <a:xfrm>
            <a:off x="8423374" y="4233862"/>
            <a:ext cx="2901999" cy="914400"/>
          </a:xfrm>
          <a:prstGeom prst="rect">
            <a:avLst/>
          </a:prstGeom>
          <a:noFill/>
          <a:ln>
            <a:noFill/>
          </a:ln>
        </p:spPr>
        <p:txBody>
          <a:bodyPr spcFirstLastPara="1" wrap="square" lIns="0" tIns="0" rIns="0" bIns="0" anchor="t" anchorCtr="0">
            <a:spAutoFit/>
          </a:bodyPr>
          <a:lstStyle/>
          <a:p>
            <a:pPr marL="0" marR="0" lvl="0" indent="0" algn="ctr" rtl="0">
              <a:lnSpc>
                <a:spcPct val="150000"/>
              </a:lnSpc>
              <a:spcBef>
                <a:spcPts val="0"/>
              </a:spcBef>
              <a:spcAft>
                <a:spcPts val="0"/>
              </a:spcAft>
              <a:buNone/>
            </a:pPr>
            <a:r>
              <a:rPr lang="en-US" sz="1200" b="0" i="0" u="none" strike="noStrike" cap="none">
                <a:solidFill>
                  <a:srgbClr val="4A5568"/>
                </a:solidFill>
                <a:latin typeface="Lato"/>
                <a:ea typeface="Lato"/>
                <a:cs typeface="Lato"/>
                <a:sym typeface="Lato"/>
              </a:rPr>
              <a:t>AI will not only power the apps; it will help build them. AI-powered pipelines will auto-generate Flutter and Firebase code from a high-level idea.</a:t>
            </a:r>
            <a:endParaRPr/>
          </a:p>
        </p:txBody>
      </p:sp>
      <p:pic>
        <p:nvPicPr>
          <p:cNvPr id="255" name="Google Shape;255;p24" descr="image.png"/>
          <p:cNvPicPr preferRelativeResize="0"/>
          <p:nvPr/>
        </p:nvPicPr>
        <p:blipFill rotWithShape="1">
          <a:blip r:embed="rId8">
            <a:alphaModFix/>
          </a:blip>
          <a:srcRect/>
          <a:stretch/>
        </p:blipFill>
        <p:spPr>
          <a:xfrm>
            <a:off x="2079575" y="2605087"/>
            <a:ext cx="476250" cy="381000"/>
          </a:xfrm>
          <a:prstGeom prst="rect">
            <a:avLst/>
          </a:prstGeom>
          <a:noFill/>
          <a:ln>
            <a:noFill/>
          </a:ln>
        </p:spPr>
      </p:pic>
      <p:pic>
        <p:nvPicPr>
          <p:cNvPr id="256" name="Google Shape;256;p24" descr="image.png"/>
          <p:cNvPicPr preferRelativeResize="0"/>
          <p:nvPr/>
        </p:nvPicPr>
        <p:blipFill rotWithShape="1">
          <a:blip r:embed="rId9">
            <a:alphaModFix/>
          </a:blip>
          <a:srcRect/>
          <a:stretch/>
        </p:blipFill>
        <p:spPr>
          <a:xfrm>
            <a:off x="5953125" y="2605087"/>
            <a:ext cx="285750" cy="381000"/>
          </a:xfrm>
          <a:prstGeom prst="rect">
            <a:avLst/>
          </a:prstGeom>
          <a:noFill/>
          <a:ln>
            <a:noFill/>
          </a:ln>
        </p:spPr>
      </p:pic>
      <p:pic>
        <p:nvPicPr>
          <p:cNvPr id="257" name="Google Shape;257;p24" descr="image.png"/>
          <p:cNvPicPr preferRelativeResize="0"/>
          <p:nvPr/>
        </p:nvPicPr>
        <p:blipFill rotWithShape="1">
          <a:blip r:embed="rId10">
            <a:alphaModFix/>
          </a:blip>
          <a:srcRect/>
          <a:stretch/>
        </p:blipFill>
        <p:spPr>
          <a:xfrm>
            <a:off x="9636174" y="2605087"/>
            <a:ext cx="476250" cy="381000"/>
          </a:xfrm>
          <a:prstGeom prst="rect">
            <a:avLst/>
          </a:prstGeom>
          <a:noFill/>
          <a:ln>
            <a:noFill/>
          </a:ln>
        </p:spPr>
      </p:pic>
      <p:sp>
        <p:nvSpPr>
          <p:cNvPr id="258" name="Google Shape;258;p24"/>
          <p:cNvSpPr txBox="1"/>
          <p:nvPr/>
        </p:nvSpPr>
        <p:spPr>
          <a:xfrm>
            <a:off x="571500" y="571500"/>
            <a:ext cx="11601450" cy="5715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000" b="1" i="0" u="none" strike="noStrike" cap="none">
                <a:solidFill>
                  <a:srgbClr val="0A2540"/>
                </a:solidFill>
                <a:latin typeface="Poppins"/>
                <a:ea typeface="Poppins"/>
                <a:cs typeface="Poppins"/>
                <a:sym typeface="Poppins"/>
              </a:rPr>
              <a:t>The Future: Agentic Flutter Apps</a:t>
            </a:r>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TotalTime>
  <Words>1061</Words>
  <Application>Microsoft Macintosh PowerPoint</Application>
  <PresentationFormat>Widescreen</PresentationFormat>
  <Paragraphs>87</Paragraphs>
  <Slides>12</Slides>
  <Notes>12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12</vt:i4>
      </vt:variant>
    </vt:vector>
  </HeadingPairs>
  <TitlesOfParts>
    <vt:vector size="17" baseType="lpstr">
      <vt:lpstr>Poppins</vt:lpstr>
      <vt:lpstr>Lato</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Stefan Dinu Rusu | Tazz, IT</cp:lastModifiedBy>
  <cp:revision>2</cp:revision>
  <dcterms:modified xsi:type="dcterms:W3CDTF">2025-12-09T17:27:42Z</dcterms:modified>
</cp:coreProperties>
</file>