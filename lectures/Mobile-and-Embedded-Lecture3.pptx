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which of these they already use. The point of the slide is the taxonomy, not the brand names. CLIs, IDE assistants, cloud agents and review bots are four different workflows with four different review burdens.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this back to Lecture 1: the project is graded on the branch → PR → review loop. Agent-generated code makes review more important, not less, because the volume goes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deck's example class was a StatefulWidget named StatelessText. Point out that naming a stateful widget 'Stateless…' misleads every reader of the code. Live demo: hot-reload this counter, then add a second setState and watch only this subtree rebuild in the Flutter 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deck taught 16 ms as an invariant. It is only the 60 Hz case. Phones also change refresh rate dynamically to save power, so the budget moves at runtime. That is why the rule is to avoid blocking the UI thread, rather than to fit inside a fixed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 handling around await is absent from the rest of the course; this is the slide that covers it. Demo: turn off Wi-Fi mid-request and show the difference between the caught path and the unhandled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corrections to the old deck here. 'Race conditions: impossible' was wrong: data races are impossible, while logical and message-ordering races are not. And '4 cores means at most 4 isolates' was wrong: you can spawn more, you just stop gaining throughput once the cores are saturated.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Go's slogan is 'share memory by communicating', which is a convention. Dart enforces it: there is no shared mutable memory to get wrong. The cost is that every message is copied. Go comes back in Lecture 12 with gRPC, and TinyGo in Lecture 11 on microcontrollers.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Users/dinu/dev/upb/mobile-and-embedded-computing/slides/assets/icons2/cloud-white.png">    </p:cNvPr>
          <p:cNvPicPr>
            <a:picLocks noChangeAspect="1"/>
          </p:cNvPicPr>
          <p:nvPr/>
        </p:nvPicPr>
        <p:blipFill>
          <a:blip r:embed="rId1"/>
          <a:stretch>
            <a:fillRect/>
          </a:stretch>
        </p:blipFill>
        <p:spPr>
          <a:xfrm>
            <a:off x="3433572" y="1600200"/>
            <a:ext cx="384048" cy="384048"/>
          </a:xfrm>
          <a:prstGeom prst="rect">
            <a:avLst/>
          </a:prstGeom>
        </p:spPr>
      </p:pic>
      <p:pic>
        <p:nvPicPr>
          <p:cNvPr id="3" name="Image 1" descr="/Users/dinu/dev/upb/mobile-and-embedded-computing/slides/assets/icons2/laptop-white.png">    </p:cNvPr>
          <p:cNvPicPr>
            <a:picLocks noChangeAspect="1"/>
          </p:cNvPicPr>
          <p:nvPr/>
        </p:nvPicPr>
        <p:blipFill>
          <a:blip r:embed="rId2"/>
          <a:stretch>
            <a:fillRect/>
          </a:stretch>
        </p:blipFill>
        <p:spPr>
          <a:xfrm>
            <a:off x="4421124" y="1600200"/>
            <a:ext cx="384048" cy="384048"/>
          </a:xfrm>
          <a:prstGeom prst="rect">
            <a:avLst/>
          </a:prstGeom>
        </p:spPr>
      </p:pic>
      <p:pic>
        <p:nvPicPr>
          <p:cNvPr id="4" name="Image 2" descr="/Users/dinu/dev/upb/mobile-and-embedded-computing/slides/assets/icons2/smartphone-white.png">    </p:cNvPr>
          <p:cNvPicPr>
            <a:picLocks noChangeAspect="1"/>
          </p:cNvPicPr>
          <p:nvPr/>
        </p:nvPicPr>
        <p:blipFill>
          <a:blip r:embed="rId3"/>
          <a:stretch>
            <a:fillRect/>
          </a:stretch>
        </p:blipFill>
        <p:spPr>
          <a:xfrm>
            <a:off x="5408676" y="1600200"/>
            <a:ext cx="384048" cy="384048"/>
          </a:xfrm>
          <a:prstGeom prst="rect">
            <a:avLst/>
          </a:prstGeom>
        </p:spPr>
      </p:pic>
      <p:pic>
        <p:nvPicPr>
          <p:cNvPr id="5" name="Image 3" descr="/Users/dinu/dev/upb/mobile-and-embedded-computing/slides/assets/icons2/watch-white.png">    </p:cNvPr>
          <p:cNvPicPr>
            <a:picLocks noChangeAspect="1"/>
          </p:cNvPicPr>
          <p:nvPr/>
        </p:nvPicPr>
        <p:blipFill>
          <a:blip r:embed="rId4"/>
          <a:stretch>
            <a:fillRect/>
          </a:stretch>
        </p:blipFill>
        <p:spPr>
          <a:xfrm>
            <a:off x="6396228" y="1600200"/>
            <a:ext cx="384048" cy="384048"/>
          </a:xfrm>
          <a:prstGeom prst="rect">
            <a:avLst/>
          </a:prstGeom>
        </p:spPr>
      </p:pic>
      <p:pic>
        <p:nvPicPr>
          <p:cNvPr id="6" name="Image 4" descr="/Users/dinu/dev/upb/mobile-and-embedded-computing/slides/assets/icons2/board-white.png">    </p:cNvPr>
          <p:cNvPicPr>
            <a:picLocks noChangeAspect="1"/>
          </p:cNvPicPr>
          <p:nvPr/>
        </p:nvPicPr>
        <p:blipFill>
          <a:blip r:embed="rId5"/>
          <a:stretch>
            <a:fillRect/>
          </a:stretch>
        </p:blipFill>
        <p:spPr>
          <a:xfrm>
            <a:off x="7383780" y="1600200"/>
            <a:ext cx="384048" cy="384048"/>
          </a:xfrm>
          <a:prstGeom prst="rect">
            <a:avLst/>
          </a:prstGeom>
        </p:spPr>
      </p:pic>
      <p:pic>
        <p:nvPicPr>
          <p:cNvPr id="7" name="Image 5" descr="/Users/dinu/dev/upb/mobile-and-embedded-computing/slides/assets/icons2/cpu-white.png">    </p:cNvPr>
          <p:cNvPicPr>
            <a:picLocks noChangeAspect="1"/>
          </p:cNvPicPr>
          <p:nvPr/>
        </p:nvPicPr>
        <p:blipFill>
          <a:blip r:embed="rId6"/>
          <a:stretch>
            <a:fillRect/>
          </a:stretch>
        </p:blipFill>
        <p:spPr>
          <a:xfrm>
            <a:off x="8371332" y="1600200"/>
            <a:ext cx="384048" cy="384048"/>
          </a:xfrm>
          <a:prstGeom prst="rect">
            <a:avLst/>
          </a:prstGeom>
        </p:spPr>
      </p:pic>
      <p:sp>
        <p:nvSpPr>
          <p:cNvPr id="8" name="Text 0"/>
          <p:cNvSpPr/>
          <p:nvPr/>
        </p:nvSpPr>
        <p:spPr>
          <a:xfrm>
            <a:off x="731520" y="2606040"/>
            <a:ext cx="10725912" cy="868680"/>
          </a:xfrm>
          <a:prstGeom prst="rect">
            <a:avLst/>
          </a:prstGeom>
          <a:noFill/>
          <a:ln/>
        </p:spPr>
        <p:txBody>
          <a:bodyPr wrap="square" lIns="0" tIns="0" rIns="0" bIns="0" rtlCol="0" anchor="ctr"/>
          <a:lstStyle/>
          <a:p>
            <a:pPr algn="ctr" indent="0" marL="0">
              <a:buNone/>
            </a:pPr>
            <a:r>
              <a:rPr lang="en-US" sz="4600" b="1" dirty="0">
                <a:solidFill>
                  <a:srgbClr val="FFFFFF"/>
                </a:solidFill>
                <a:latin typeface="Arial" pitchFamily="34" charset="0"/>
                <a:ea typeface="Arial" pitchFamily="34" charset="-122"/>
                <a:cs typeface="Arial" pitchFamily="34" charset="-120"/>
              </a:rPr>
              <a:t>Mobile and Embedded Computing</a:t>
            </a:r>
            <a:endParaRPr lang="en-US" sz="4600" dirty="0"/>
          </a:p>
        </p:txBody>
      </p:sp>
      <p:sp>
        <p:nvSpPr>
          <p:cNvPr id="9" name="Text 1"/>
          <p:cNvSpPr/>
          <p:nvPr/>
        </p:nvSpPr>
        <p:spPr>
          <a:xfrm>
            <a:off x="731520" y="3611880"/>
            <a:ext cx="10725912" cy="411480"/>
          </a:xfrm>
          <a:prstGeom prst="rect">
            <a:avLst/>
          </a:prstGeom>
          <a:noFill/>
          <a:ln/>
        </p:spPr>
        <p:txBody>
          <a:bodyPr wrap="square" lIns="0" tIns="0" rIns="0" bIns="0" rtlCol="0" anchor="ctr"/>
          <a:lstStyle/>
          <a:p>
            <a:pPr algn="ctr" indent="0" marL="0">
              <a:buNone/>
            </a:pPr>
            <a:r>
              <a:rPr lang="en-US" sz="1700" dirty="0">
                <a:solidFill>
                  <a:srgbClr val="A1A1A6"/>
                </a:solidFill>
                <a:latin typeface="Arial" pitchFamily="34" charset="0"/>
                <a:ea typeface="Arial" pitchFamily="34" charset="-122"/>
                <a:cs typeface="Arial" pitchFamily="34" charset="-120"/>
              </a:rPr>
              <a:t>Lecture 3: agent-assisted coding, Flutter widgets, async &amp; isolates</a:t>
            </a:r>
            <a:endParaRPr lang="en-US" sz="1700" dirty="0"/>
          </a:p>
        </p:txBody>
      </p:sp>
      <p:sp>
        <p:nvSpPr>
          <p:cNvPr id="10" name="Text 2"/>
          <p:cNvSpPr/>
          <p:nvPr/>
        </p:nvSpPr>
        <p:spPr>
          <a:xfrm>
            <a:off x="731520" y="5806440"/>
            <a:ext cx="10725912" cy="365760"/>
          </a:xfrm>
          <a:prstGeom prst="rect">
            <a:avLst/>
          </a:prstGeom>
          <a:noFill/>
          <a:ln/>
        </p:spPr>
        <p:txBody>
          <a:bodyPr wrap="square" lIns="0" tIns="0" rIns="0" bIns="0" rtlCol="0" anchor="ctr"/>
          <a:lstStyle/>
          <a:p>
            <a:pPr algn="ctr" indent="0" marL="0">
              <a:buNone/>
            </a:pPr>
            <a:r>
              <a:rPr lang="en-US" sz="1300" dirty="0">
                <a:solidFill>
                  <a:srgbClr val="6E6E73"/>
                </a:solidFill>
                <a:latin typeface="Arial" pitchFamily="34" charset="0"/>
                <a:ea typeface="Arial" pitchFamily="34" charset="-122"/>
                <a:cs typeface="Arial" pitchFamily="34" charset="-120"/>
              </a:rPr>
              <a:t>Dinu-Ștefan Rusu</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2</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ORIENTATION</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Who's teaching this course</a:t>
            </a:r>
            <a:endParaRPr lang="en-US" sz="3000" dirty="0"/>
          </a:p>
        </p:txBody>
      </p:sp>
      <p:sp>
        <p:nvSpPr>
          <p:cNvPr id="5" name="Text 3"/>
          <p:cNvSpPr/>
          <p:nvPr/>
        </p:nvSpPr>
        <p:spPr>
          <a:xfrm>
            <a:off x="822960" y="1783080"/>
            <a:ext cx="5303520" cy="457200"/>
          </a:xfrm>
          <a:prstGeom prst="rect">
            <a:avLst/>
          </a:prstGeom>
          <a:noFill/>
          <a:ln/>
        </p:spPr>
        <p:txBody>
          <a:bodyPr wrap="square" lIns="0" tIns="0" rIns="0" bIns="0" rtlCol="0" anchor="ctr"/>
          <a:lstStyle/>
          <a:p>
            <a:pPr indent="0" marL="0">
              <a:buNone/>
            </a:pPr>
            <a:r>
              <a:rPr lang="en-US" sz="2200" b="1" dirty="0">
                <a:solidFill>
                  <a:srgbClr val="1D1D1F"/>
                </a:solidFill>
                <a:latin typeface="Arial" pitchFamily="34" charset="0"/>
                <a:ea typeface="Arial" pitchFamily="34" charset="-122"/>
                <a:cs typeface="Arial" pitchFamily="34" charset="-120"/>
              </a:rPr>
              <a:t>Dinu-Ștefan Rusu</a:t>
            </a:r>
            <a:endParaRPr lang="en-US" sz="2200" dirty="0"/>
          </a:p>
        </p:txBody>
      </p:sp>
      <p:sp>
        <p:nvSpPr>
          <p:cNvPr id="6" name="Text 4"/>
          <p:cNvSpPr/>
          <p:nvPr/>
        </p:nvSpPr>
        <p:spPr>
          <a:xfrm>
            <a:off x="822960" y="2331720"/>
            <a:ext cx="5303520" cy="1188720"/>
          </a:xfrm>
          <a:prstGeom prst="rect">
            <a:avLst/>
          </a:prstGeom>
          <a:noFill/>
          <a:ln/>
        </p:spPr>
        <p:txBody>
          <a:bodyPr wrap="square" lIns="0" tIns="0" rIns="0" bIns="0" rtlCol="0" anchor="ctr"/>
          <a:lstStyle/>
          <a:p>
            <a:pPr indent="0" marL="0">
              <a:spcAft>
                <a:spcPts val="600"/>
              </a:spcAft>
              <a:buNone/>
            </a:pPr>
            <a:r>
              <a:rPr lang="en-US" sz="1400" dirty="0">
                <a:solidFill>
                  <a:srgbClr val="86868B"/>
                </a:solidFill>
                <a:latin typeface="Arial" pitchFamily="34" charset="0"/>
                <a:ea typeface="Arial" pitchFamily="34" charset="-122"/>
                <a:cs typeface="Arial" pitchFamily="34" charset="-120"/>
              </a:rPr>
              <a:t>dinu_stefan.rusu@upb.ro</a:t>
            </a:r>
            <a:endParaRPr lang="en-US" sz="1400" dirty="0"/>
          </a:p>
          <a:p>
            <a:pPr indent="0" marL="0">
              <a:spcAft>
                <a:spcPts val="600"/>
              </a:spcAft>
              <a:buNone/>
            </a:pPr>
            <a:r>
              <a:rPr lang="en-US" sz="1400" dirty="0">
                <a:solidFill>
                  <a:srgbClr val="86868B"/>
                </a:solidFill>
                <a:latin typeface="Arial" pitchFamily="34" charset="0"/>
                <a:ea typeface="Arial" pitchFamily="34" charset="-122"/>
                <a:cs typeface="Arial" pitchFamily="34" charset="-120"/>
              </a:rPr>
              <a:t>Microsoft Teams course channel</a:t>
            </a:r>
            <a:endParaRPr lang="en-US" sz="1400" dirty="0"/>
          </a:p>
          <a:p>
            <a:pPr indent="0" marL="0">
              <a:spcAft>
                <a:spcPts val="600"/>
              </a:spcAft>
              <a:buNone/>
            </a:pPr>
            <a:r>
              <a:rPr lang="en-US" sz="1400" dirty="0">
                <a:solidFill>
                  <a:srgbClr val="86868B"/>
                </a:solidFill>
                <a:latin typeface="Arial" pitchFamily="34" charset="0"/>
                <a:ea typeface="Arial" pitchFamily="34" charset="-122"/>
                <a:cs typeface="Arial" pitchFamily="34" charset="-120"/>
              </a:rPr>
              <a:t>rusudinu.com</a:t>
            </a:r>
            <a:endParaRPr lang="en-US" sz="1400" dirty="0"/>
          </a:p>
        </p:txBody>
      </p:sp>
      <p:sp>
        <p:nvSpPr>
          <p:cNvPr id="7" name="Text 5"/>
          <p:cNvSpPr/>
          <p:nvPr/>
        </p:nvSpPr>
        <p:spPr>
          <a:xfrm>
            <a:off x="6675120" y="1600200"/>
            <a:ext cx="2377440" cy="914400"/>
          </a:xfrm>
          <a:prstGeom prst="rect">
            <a:avLst/>
          </a:prstGeom>
          <a:noFill/>
          <a:ln/>
        </p:spPr>
        <p:txBody>
          <a:bodyPr wrap="square" lIns="0" tIns="0" rIns="0" bIns="0" rtlCol="0" anchor="ctr"/>
          <a:lstStyle/>
          <a:p>
            <a:pPr indent="0" marL="0">
              <a:buNone/>
            </a:pPr>
            <a:r>
              <a:rPr lang="en-US" sz="5600" dirty="0">
                <a:solidFill>
                  <a:srgbClr val="1D1D1F"/>
                </a:solidFill>
                <a:latin typeface="Arial" pitchFamily="34" charset="0"/>
                <a:ea typeface="Arial" pitchFamily="34" charset="-122"/>
                <a:cs typeface="Arial" pitchFamily="34" charset="-120"/>
              </a:rPr>
              <a:t>45+</a:t>
            </a:r>
            <a:endParaRPr lang="en-US" sz="5600" dirty="0"/>
          </a:p>
        </p:txBody>
      </p:sp>
      <p:sp>
        <p:nvSpPr>
          <p:cNvPr id="8" name="Text 6"/>
          <p:cNvSpPr/>
          <p:nvPr/>
        </p:nvSpPr>
        <p:spPr>
          <a:xfrm>
            <a:off x="6675120" y="2560320"/>
            <a:ext cx="2377440" cy="320040"/>
          </a:xfrm>
          <a:prstGeom prst="rect">
            <a:avLst/>
          </a:prstGeom>
          <a:noFill/>
          <a:ln/>
        </p:spPr>
        <p:txBody>
          <a:bodyPr wrap="square" lIns="0" tIns="0" rIns="0" bIns="0" rtlCol="0" anchor="ctr"/>
          <a:lstStyle/>
          <a:p>
            <a:pPr indent="0" marL="0">
              <a:buNone/>
            </a:pPr>
            <a:r>
              <a:rPr lang="en-US" sz="1300" dirty="0">
                <a:solidFill>
                  <a:srgbClr val="86868B"/>
                </a:solidFill>
                <a:latin typeface="Arial" pitchFamily="34" charset="0"/>
                <a:ea typeface="Arial" pitchFamily="34" charset="-122"/>
                <a:cs typeface="Arial" pitchFamily="34" charset="-120"/>
              </a:rPr>
              <a:t>Flutter apps shipped</a:t>
            </a:r>
            <a:endParaRPr lang="en-US" sz="1300" dirty="0"/>
          </a:p>
        </p:txBody>
      </p:sp>
      <p:sp>
        <p:nvSpPr>
          <p:cNvPr id="9" name="Text 7"/>
          <p:cNvSpPr/>
          <p:nvPr/>
        </p:nvSpPr>
        <p:spPr>
          <a:xfrm>
            <a:off x="9326880" y="1600200"/>
            <a:ext cx="2377440" cy="914400"/>
          </a:xfrm>
          <a:prstGeom prst="rect">
            <a:avLst/>
          </a:prstGeom>
          <a:noFill/>
          <a:ln/>
        </p:spPr>
        <p:txBody>
          <a:bodyPr wrap="square" lIns="0" tIns="0" rIns="0" bIns="0" rtlCol="0" anchor="ctr"/>
          <a:lstStyle/>
          <a:p>
            <a:pPr indent="0" marL="0">
              <a:buNone/>
            </a:pPr>
            <a:r>
              <a:rPr lang="en-US" sz="5600" dirty="0">
                <a:solidFill>
                  <a:srgbClr val="1D1D1F"/>
                </a:solidFill>
                <a:latin typeface="Arial" pitchFamily="34" charset="0"/>
                <a:ea typeface="Arial" pitchFamily="34" charset="-122"/>
                <a:cs typeface="Arial" pitchFamily="34" charset="-120"/>
              </a:rPr>
              <a:t>400k</a:t>
            </a:r>
            <a:endParaRPr lang="en-US" sz="5600" dirty="0"/>
          </a:p>
        </p:txBody>
      </p:sp>
      <p:sp>
        <p:nvSpPr>
          <p:cNvPr id="10" name="Text 8"/>
          <p:cNvSpPr/>
          <p:nvPr/>
        </p:nvSpPr>
        <p:spPr>
          <a:xfrm>
            <a:off x="9326880" y="2560320"/>
            <a:ext cx="2377440" cy="320040"/>
          </a:xfrm>
          <a:prstGeom prst="rect">
            <a:avLst/>
          </a:prstGeom>
          <a:noFill/>
          <a:ln/>
        </p:spPr>
        <p:txBody>
          <a:bodyPr wrap="square" lIns="0" tIns="0" rIns="0" bIns="0" rtlCol="0" anchor="ctr"/>
          <a:lstStyle/>
          <a:p>
            <a:pPr indent="0" marL="0">
              <a:buNone/>
            </a:pPr>
            <a:r>
              <a:rPr lang="en-US" sz="1300" dirty="0">
                <a:solidFill>
                  <a:srgbClr val="86868B"/>
                </a:solidFill>
                <a:latin typeface="Arial" pitchFamily="34" charset="0"/>
                <a:ea typeface="Arial" pitchFamily="34" charset="-122"/>
                <a:cs typeface="Arial" pitchFamily="34" charset="-120"/>
              </a:rPr>
              <a:t>installs across them</a:t>
            </a:r>
            <a:endParaRPr lang="en-US" sz="1300" dirty="0"/>
          </a:p>
        </p:txBody>
      </p:sp>
      <p:sp>
        <p:nvSpPr>
          <p:cNvPr id="11" name="Shape 9"/>
          <p:cNvSpPr/>
          <p:nvPr/>
        </p:nvSpPr>
        <p:spPr>
          <a:xfrm>
            <a:off x="822960" y="3977640"/>
            <a:ext cx="10543032" cy="0"/>
          </a:xfrm>
          <a:prstGeom prst="line">
            <a:avLst/>
          </a:prstGeom>
          <a:noFill/>
          <a:ln w="9525">
            <a:solidFill>
              <a:srgbClr val="D2D2D7"/>
            </a:solidFill>
            <a:prstDash val="solid"/>
          </a:ln>
        </p:spPr>
      </p:sp>
      <p:sp>
        <p:nvSpPr>
          <p:cNvPr id="12" name="Text 10"/>
          <p:cNvSpPr/>
          <p:nvPr/>
        </p:nvSpPr>
        <p:spPr>
          <a:xfrm>
            <a:off x="822960" y="4160520"/>
            <a:ext cx="10515600" cy="274320"/>
          </a:xfrm>
          <a:prstGeom prst="rect">
            <a:avLst/>
          </a:prstGeom>
          <a:noFill/>
          <a:ln/>
        </p:spPr>
        <p:txBody>
          <a:bodyPr wrap="square" lIns="0" tIns="0" rIns="0" bIns="0" rtlCol="0" anchor="ctr"/>
          <a:lstStyle/>
          <a:p>
            <a:pPr indent="0" marL="0">
              <a:buNone/>
            </a:pPr>
            <a:r>
              <a:rPr lang="en-US" sz="1100" spc="150" kern="0" dirty="0">
                <a:solidFill>
                  <a:srgbClr val="86868B"/>
                </a:solidFill>
                <a:latin typeface="Arial" pitchFamily="34" charset="0"/>
                <a:ea typeface="Arial" pitchFamily="34" charset="-122"/>
                <a:cs typeface="Arial" pitchFamily="34" charset="-120"/>
              </a:rPr>
              <a:t>Appeared in, spoken at &amp; partnered with</a:t>
            </a:r>
            <a:endParaRPr lang="en-US" sz="1100" dirty="0"/>
          </a:p>
        </p:txBody>
      </p:sp>
      <p:pic>
        <p:nvPicPr>
          <p:cNvPr id="13" name="Image 0" descr="/Users/dinu/dev/upb/mobile-and-embedded-computing/slides/assets/logos/image1.png">    </p:cNvPr>
          <p:cNvPicPr>
            <a:picLocks noChangeAspect="1"/>
          </p:cNvPicPr>
          <p:nvPr/>
        </p:nvPicPr>
        <p:blipFill>
          <a:blip r:embed="rId1"/>
          <a:stretch>
            <a:fillRect/>
          </a:stretch>
        </p:blipFill>
        <p:spPr>
          <a:xfrm>
            <a:off x="822960" y="4732477"/>
            <a:ext cx="1047902" cy="319126"/>
          </a:xfrm>
          <a:prstGeom prst="rect">
            <a:avLst/>
          </a:prstGeom>
        </p:spPr>
      </p:pic>
      <p:pic>
        <p:nvPicPr>
          <p:cNvPr id="14" name="Image 1" descr="/Users/dinu/dev/upb/mobile-and-embedded-computing/slides/assets/logos/image2.png">    </p:cNvPr>
          <p:cNvPicPr>
            <a:picLocks noChangeAspect="1"/>
          </p:cNvPicPr>
          <p:nvPr/>
        </p:nvPicPr>
        <p:blipFill>
          <a:blip r:embed="rId2"/>
          <a:stretch>
            <a:fillRect/>
          </a:stretch>
        </p:blipFill>
        <p:spPr>
          <a:xfrm>
            <a:off x="2155763" y="4675327"/>
            <a:ext cx="770839" cy="433426"/>
          </a:xfrm>
          <a:prstGeom prst="rect">
            <a:avLst/>
          </a:prstGeom>
        </p:spPr>
      </p:pic>
      <p:pic>
        <p:nvPicPr>
          <p:cNvPr id="15" name="Image 2" descr="/Users/dinu/dev/upb/mobile-and-embedded-computing/slides/assets/logos/image3.png">    </p:cNvPr>
          <p:cNvPicPr>
            <a:picLocks noChangeAspect="1"/>
          </p:cNvPicPr>
          <p:nvPr/>
        </p:nvPicPr>
        <p:blipFill>
          <a:blip r:embed="rId3"/>
          <a:stretch>
            <a:fillRect/>
          </a:stretch>
        </p:blipFill>
        <p:spPr>
          <a:xfrm>
            <a:off x="3211503" y="4715104"/>
            <a:ext cx="945490" cy="353873"/>
          </a:xfrm>
          <a:prstGeom prst="rect">
            <a:avLst/>
          </a:prstGeom>
        </p:spPr>
      </p:pic>
      <p:pic>
        <p:nvPicPr>
          <p:cNvPr id="16" name="Image 3" descr="/Users/dinu/dev/upb/mobile-and-embedded-computing/slides/assets/logos/image4.png">    </p:cNvPr>
          <p:cNvPicPr>
            <a:picLocks noChangeAspect="1"/>
          </p:cNvPicPr>
          <p:nvPr/>
        </p:nvPicPr>
        <p:blipFill>
          <a:blip r:embed="rId4"/>
          <a:stretch>
            <a:fillRect/>
          </a:stretch>
        </p:blipFill>
        <p:spPr>
          <a:xfrm>
            <a:off x="4441894" y="4716932"/>
            <a:ext cx="1313078" cy="350215"/>
          </a:xfrm>
          <a:prstGeom prst="rect">
            <a:avLst/>
          </a:prstGeom>
        </p:spPr>
      </p:pic>
      <p:pic>
        <p:nvPicPr>
          <p:cNvPr id="17" name="Image 4" descr="/Users/dinu/dev/upb/mobile-and-embedded-computing/slides/assets/logos/image5.png">    </p:cNvPr>
          <p:cNvPicPr>
            <a:picLocks noChangeAspect="1"/>
          </p:cNvPicPr>
          <p:nvPr/>
        </p:nvPicPr>
        <p:blipFill>
          <a:blip r:embed="rId5"/>
          <a:stretch>
            <a:fillRect/>
          </a:stretch>
        </p:blipFill>
        <p:spPr>
          <a:xfrm>
            <a:off x="6039873" y="4626864"/>
            <a:ext cx="611734" cy="530352"/>
          </a:xfrm>
          <a:prstGeom prst="rect">
            <a:avLst/>
          </a:prstGeom>
        </p:spPr>
      </p:pic>
      <p:pic>
        <p:nvPicPr>
          <p:cNvPr id="18" name="Image 5" descr="/Users/dinu/dev/upb/mobile-and-embedded-computing/slides/assets/logos/image6.png">    </p:cNvPr>
          <p:cNvPicPr>
            <a:picLocks noChangeAspect="1"/>
          </p:cNvPicPr>
          <p:nvPr/>
        </p:nvPicPr>
        <p:blipFill>
          <a:blip r:embed="rId6"/>
          <a:stretch>
            <a:fillRect/>
          </a:stretch>
        </p:blipFill>
        <p:spPr>
          <a:xfrm>
            <a:off x="6936508" y="4626864"/>
            <a:ext cx="846734" cy="530352"/>
          </a:xfrm>
          <a:prstGeom prst="rect">
            <a:avLst/>
          </a:prstGeom>
        </p:spPr>
      </p:pic>
      <p:pic>
        <p:nvPicPr>
          <p:cNvPr id="19" name="Image 6" descr="/Users/dinu/dev/upb/mobile-and-embedded-computing/slides/assets/logos/image7.png">    </p:cNvPr>
          <p:cNvPicPr>
            <a:picLocks noChangeAspect="1"/>
          </p:cNvPicPr>
          <p:nvPr/>
        </p:nvPicPr>
        <p:blipFill>
          <a:blip r:embed="rId7"/>
          <a:stretch>
            <a:fillRect/>
          </a:stretch>
        </p:blipFill>
        <p:spPr>
          <a:xfrm>
            <a:off x="8068143" y="4767682"/>
            <a:ext cx="1691640" cy="248717"/>
          </a:xfrm>
          <a:prstGeom prst="rect">
            <a:avLst/>
          </a:prstGeom>
        </p:spPr>
      </p:pic>
      <p:pic>
        <p:nvPicPr>
          <p:cNvPr id="20" name="Image 7" descr="/Users/dinu/dev/upb/mobile-and-embedded-computing/slides/assets/logos/image8.png">    </p:cNvPr>
          <p:cNvPicPr>
            <a:picLocks noChangeAspect="1"/>
          </p:cNvPicPr>
          <p:nvPr/>
        </p:nvPicPr>
        <p:blipFill>
          <a:blip r:embed="rId8"/>
          <a:stretch>
            <a:fillRect/>
          </a:stretch>
        </p:blipFill>
        <p:spPr>
          <a:xfrm>
            <a:off x="10044684" y="4717847"/>
            <a:ext cx="1321308" cy="34838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3</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TODAY</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What you should leave with</a:t>
            </a:r>
            <a:endParaRPr lang="en-US" sz="3000" dirty="0"/>
          </a:p>
        </p:txBody>
      </p:sp>
      <p:pic>
        <p:nvPicPr>
          <p:cNvPr id="5" name="Image 0" descr="/Users/dinu/dev/upb/mobile-and-embedded-computing/slides/assets/icons2/bot-ink.png">    </p:cNvPr>
          <p:cNvPicPr>
            <a:picLocks noChangeAspect="1"/>
          </p:cNvPicPr>
          <p:nvPr/>
        </p:nvPicPr>
        <p:blipFill>
          <a:blip r:embed="rId1"/>
          <a:stretch>
            <a:fillRect/>
          </a:stretch>
        </p:blipFill>
        <p:spPr>
          <a:xfrm>
            <a:off x="822960" y="1874520"/>
            <a:ext cx="384048" cy="384048"/>
          </a:xfrm>
          <a:prstGeom prst="rect">
            <a:avLst/>
          </a:prstGeom>
        </p:spPr>
      </p:pic>
      <p:sp>
        <p:nvSpPr>
          <p:cNvPr id="6" name="Text 3"/>
          <p:cNvSpPr/>
          <p:nvPr/>
        </p:nvSpPr>
        <p:spPr>
          <a:xfrm>
            <a:off x="1508760" y="1828800"/>
            <a:ext cx="3017520" cy="502920"/>
          </a:xfrm>
          <a:prstGeom prst="rect">
            <a:avLst/>
          </a:prstGeom>
          <a:noFill/>
          <a:ln/>
        </p:spPr>
        <p:txBody>
          <a:bodyPr wrap="square" lIns="0" tIns="0" rIns="0" bIns="0" rtlCol="0" anchor="ctr"/>
          <a:lstStyle/>
          <a:p>
            <a:pPr indent="0" marL="0">
              <a:buNone/>
            </a:pPr>
            <a:r>
              <a:rPr lang="en-US" sz="1600" b="1" dirty="0">
                <a:solidFill>
                  <a:srgbClr val="1D1D1F"/>
                </a:solidFill>
                <a:latin typeface="Arial" pitchFamily="34" charset="0"/>
                <a:ea typeface="Arial" pitchFamily="34" charset="-122"/>
                <a:cs typeface="Arial" pitchFamily="34" charset="-120"/>
              </a:rPr>
              <a:t>Work with an agent</a:t>
            </a:r>
            <a:endParaRPr lang="en-US" sz="1600" dirty="0"/>
          </a:p>
        </p:txBody>
      </p:sp>
      <p:sp>
        <p:nvSpPr>
          <p:cNvPr id="7" name="Text 4"/>
          <p:cNvSpPr/>
          <p:nvPr/>
        </p:nvSpPr>
        <p:spPr>
          <a:xfrm>
            <a:off x="4709160" y="1828800"/>
            <a:ext cx="6675120" cy="502920"/>
          </a:xfrm>
          <a:prstGeom prst="rect">
            <a:avLst/>
          </a:prstGeom>
          <a:noFill/>
          <a:ln/>
        </p:spPr>
        <p:txBody>
          <a:bodyPr wrap="square" lIns="0" tIns="0" rIns="0" bIns="0" rtlCol="0" anchor="ctr"/>
          <a:lstStyle/>
          <a:p>
            <a:pPr indent="0" marL="0">
              <a:buNone/>
            </a:pPr>
            <a:r>
              <a:rPr lang="en-US" sz="1300" dirty="0">
                <a:solidFill>
                  <a:srgbClr val="86868B"/>
                </a:solidFill>
                <a:latin typeface="Arial" pitchFamily="34" charset="0"/>
                <a:ea typeface="Arial" pitchFamily="34" charset="-122"/>
                <a:cs typeface="Arial" pitchFamily="34" charset="-120"/>
              </a:rPr>
              <a:t>Prompt it with real context, then review its output like any other pull request</a:t>
            </a:r>
            <a:endParaRPr lang="en-US" sz="1300" dirty="0"/>
          </a:p>
        </p:txBody>
      </p:sp>
      <p:sp>
        <p:nvSpPr>
          <p:cNvPr id="8" name="Shape 5"/>
          <p:cNvSpPr/>
          <p:nvPr/>
        </p:nvSpPr>
        <p:spPr>
          <a:xfrm>
            <a:off x="822960" y="2432304"/>
            <a:ext cx="10543032" cy="0"/>
          </a:xfrm>
          <a:prstGeom prst="line">
            <a:avLst/>
          </a:prstGeom>
          <a:noFill/>
          <a:ln w="9525">
            <a:solidFill>
              <a:srgbClr val="D2D2D7"/>
            </a:solidFill>
            <a:prstDash val="solid"/>
          </a:ln>
        </p:spPr>
      </p:sp>
      <p:pic>
        <p:nvPicPr>
          <p:cNvPr id="9" name="Image 1" descr="/Users/dinu/dev/upb/mobile-and-embedded-computing/slides/assets/icons2/layout-ink.png">    </p:cNvPr>
          <p:cNvPicPr>
            <a:picLocks noChangeAspect="1"/>
          </p:cNvPicPr>
          <p:nvPr/>
        </p:nvPicPr>
        <p:blipFill>
          <a:blip r:embed="rId2"/>
          <a:stretch>
            <a:fillRect/>
          </a:stretch>
        </p:blipFill>
        <p:spPr>
          <a:xfrm>
            <a:off x="822960" y="2587752"/>
            <a:ext cx="384048" cy="384048"/>
          </a:xfrm>
          <a:prstGeom prst="rect">
            <a:avLst/>
          </a:prstGeom>
        </p:spPr>
      </p:pic>
      <p:sp>
        <p:nvSpPr>
          <p:cNvPr id="10" name="Text 6"/>
          <p:cNvSpPr/>
          <p:nvPr/>
        </p:nvSpPr>
        <p:spPr>
          <a:xfrm>
            <a:off x="1508760" y="2542032"/>
            <a:ext cx="3017520" cy="502920"/>
          </a:xfrm>
          <a:prstGeom prst="rect">
            <a:avLst/>
          </a:prstGeom>
          <a:noFill/>
          <a:ln/>
        </p:spPr>
        <p:txBody>
          <a:bodyPr wrap="square" lIns="0" tIns="0" rIns="0" bIns="0" rtlCol="0" anchor="ctr"/>
          <a:lstStyle/>
          <a:p>
            <a:pPr indent="0" marL="0">
              <a:buNone/>
            </a:pPr>
            <a:r>
              <a:rPr lang="en-US" sz="1600" b="1" dirty="0">
                <a:solidFill>
                  <a:srgbClr val="1D1D1F"/>
                </a:solidFill>
                <a:latin typeface="Arial" pitchFamily="34" charset="0"/>
                <a:ea typeface="Arial" pitchFamily="34" charset="-122"/>
                <a:cs typeface="Arial" pitchFamily="34" charset="-120"/>
              </a:rPr>
              <a:t>Read a widget tree</a:t>
            </a:r>
            <a:endParaRPr lang="en-US" sz="1600" dirty="0"/>
          </a:p>
        </p:txBody>
      </p:sp>
      <p:sp>
        <p:nvSpPr>
          <p:cNvPr id="11" name="Text 7"/>
          <p:cNvSpPr/>
          <p:nvPr/>
        </p:nvSpPr>
        <p:spPr>
          <a:xfrm>
            <a:off x="4709160" y="2542032"/>
            <a:ext cx="6675120" cy="502920"/>
          </a:xfrm>
          <a:prstGeom prst="rect">
            <a:avLst/>
          </a:prstGeom>
          <a:noFill/>
          <a:ln/>
        </p:spPr>
        <p:txBody>
          <a:bodyPr wrap="square" lIns="0" tIns="0" rIns="0" bIns="0" rtlCol="0" anchor="ctr"/>
          <a:lstStyle/>
          <a:p>
            <a:pPr indent="0" marL="0">
              <a:buNone/>
            </a:pPr>
            <a:r>
              <a:rPr lang="en-US" sz="1300" dirty="0">
                <a:solidFill>
                  <a:srgbClr val="86868B"/>
                </a:solidFill>
                <a:latin typeface="Arial" pitchFamily="34" charset="0"/>
                <a:ea typeface="Arial" pitchFamily="34" charset="-122"/>
                <a:cs typeface="Arial" pitchFamily="34" charset="-120"/>
              </a:rPr>
              <a:t>Composition over inheritance, and what actually rebuilds when state changes</a:t>
            </a:r>
            <a:endParaRPr lang="en-US" sz="1300" dirty="0"/>
          </a:p>
        </p:txBody>
      </p:sp>
      <p:sp>
        <p:nvSpPr>
          <p:cNvPr id="12" name="Shape 8"/>
          <p:cNvSpPr/>
          <p:nvPr/>
        </p:nvSpPr>
        <p:spPr>
          <a:xfrm>
            <a:off x="822960" y="3145536"/>
            <a:ext cx="10543032" cy="0"/>
          </a:xfrm>
          <a:prstGeom prst="line">
            <a:avLst/>
          </a:prstGeom>
          <a:noFill/>
          <a:ln w="9525">
            <a:solidFill>
              <a:srgbClr val="D2D2D7"/>
            </a:solidFill>
            <a:prstDash val="solid"/>
          </a:ln>
        </p:spPr>
      </p:sp>
      <p:pic>
        <p:nvPicPr>
          <p:cNvPr id="13" name="Image 2" descr="/Users/dinu/dev/upb/mobile-and-embedded-computing/slides/assets/icons2/gauge-ink.png">    </p:cNvPr>
          <p:cNvPicPr>
            <a:picLocks noChangeAspect="1"/>
          </p:cNvPicPr>
          <p:nvPr/>
        </p:nvPicPr>
        <p:blipFill>
          <a:blip r:embed="rId3"/>
          <a:stretch>
            <a:fillRect/>
          </a:stretch>
        </p:blipFill>
        <p:spPr>
          <a:xfrm>
            <a:off x="822960" y="3300984"/>
            <a:ext cx="384048" cy="384048"/>
          </a:xfrm>
          <a:prstGeom prst="rect">
            <a:avLst/>
          </a:prstGeom>
        </p:spPr>
      </p:pic>
      <p:sp>
        <p:nvSpPr>
          <p:cNvPr id="14" name="Text 9"/>
          <p:cNvSpPr/>
          <p:nvPr/>
        </p:nvSpPr>
        <p:spPr>
          <a:xfrm>
            <a:off x="1508760" y="3255264"/>
            <a:ext cx="3017520" cy="502920"/>
          </a:xfrm>
          <a:prstGeom prst="rect">
            <a:avLst/>
          </a:prstGeom>
          <a:noFill/>
          <a:ln/>
        </p:spPr>
        <p:txBody>
          <a:bodyPr wrap="square" lIns="0" tIns="0" rIns="0" bIns="0" rtlCol="0" anchor="ctr"/>
          <a:lstStyle/>
          <a:p>
            <a:pPr indent="0" marL="0">
              <a:buNone/>
            </a:pPr>
            <a:r>
              <a:rPr lang="en-US" sz="1600" b="1" dirty="0">
                <a:solidFill>
                  <a:srgbClr val="1D1D1F"/>
                </a:solidFill>
                <a:latin typeface="Arial" pitchFamily="34" charset="0"/>
                <a:ea typeface="Arial" pitchFamily="34" charset="-122"/>
                <a:cs typeface="Arial" pitchFamily="34" charset="-120"/>
              </a:rPr>
              <a:t>Keep the frame budget</a:t>
            </a:r>
            <a:endParaRPr lang="en-US" sz="1600" dirty="0"/>
          </a:p>
        </p:txBody>
      </p:sp>
      <p:sp>
        <p:nvSpPr>
          <p:cNvPr id="15" name="Text 10"/>
          <p:cNvSpPr/>
          <p:nvPr/>
        </p:nvSpPr>
        <p:spPr>
          <a:xfrm>
            <a:off x="4709160" y="3255264"/>
            <a:ext cx="6675120" cy="502920"/>
          </a:xfrm>
          <a:prstGeom prst="rect">
            <a:avLst/>
          </a:prstGeom>
          <a:noFill/>
          <a:ln/>
        </p:spPr>
        <p:txBody>
          <a:bodyPr wrap="square" lIns="0" tIns="0" rIns="0" bIns="0" rtlCol="0" anchor="ctr"/>
          <a:lstStyle/>
          <a:p>
            <a:pPr indent="0" marL="0">
              <a:buNone/>
            </a:pPr>
            <a:r>
              <a:rPr lang="en-US" sz="1300" dirty="0">
                <a:solidFill>
                  <a:srgbClr val="86868B"/>
                </a:solidFill>
                <a:latin typeface="Arial" pitchFamily="34" charset="0"/>
                <a:ea typeface="Arial" pitchFamily="34" charset="-122"/>
                <a:cs typeface="Arial" pitchFamily="34" charset="-120"/>
              </a:rPr>
              <a:t>One frame = 1 ÷ refresh rate: 8.3 ms on a 120 Hz phone, not a fixed 16 ms</a:t>
            </a:r>
            <a:endParaRPr lang="en-US" sz="1300" dirty="0"/>
          </a:p>
        </p:txBody>
      </p:sp>
      <p:sp>
        <p:nvSpPr>
          <p:cNvPr id="16" name="Shape 11"/>
          <p:cNvSpPr/>
          <p:nvPr/>
        </p:nvSpPr>
        <p:spPr>
          <a:xfrm>
            <a:off x="822960" y="3858768"/>
            <a:ext cx="10543032" cy="0"/>
          </a:xfrm>
          <a:prstGeom prst="line">
            <a:avLst/>
          </a:prstGeom>
          <a:noFill/>
          <a:ln w="9525">
            <a:solidFill>
              <a:srgbClr val="D2D2D7"/>
            </a:solidFill>
            <a:prstDash val="solid"/>
          </a:ln>
        </p:spPr>
      </p:sp>
      <p:pic>
        <p:nvPicPr>
          <p:cNvPr id="17" name="Image 3" descr="/Users/dinu/dev/upb/mobile-and-embedded-computing/slides/assets/icons2/split-ink.png">    </p:cNvPr>
          <p:cNvPicPr>
            <a:picLocks noChangeAspect="1"/>
          </p:cNvPicPr>
          <p:nvPr/>
        </p:nvPicPr>
        <p:blipFill>
          <a:blip r:embed="rId4"/>
          <a:stretch>
            <a:fillRect/>
          </a:stretch>
        </p:blipFill>
        <p:spPr>
          <a:xfrm>
            <a:off x="822960" y="4014216"/>
            <a:ext cx="384048" cy="384048"/>
          </a:xfrm>
          <a:prstGeom prst="rect">
            <a:avLst/>
          </a:prstGeom>
        </p:spPr>
      </p:pic>
      <p:sp>
        <p:nvSpPr>
          <p:cNvPr id="18" name="Text 12"/>
          <p:cNvSpPr/>
          <p:nvPr/>
        </p:nvSpPr>
        <p:spPr>
          <a:xfrm>
            <a:off x="1508760" y="3968496"/>
            <a:ext cx="3017520" cy="502920"/>
          </a:xfrm>
          <a:prstGeom prst="rect">
            <a:avLst/>
          </a:prstGeom>
          <a:noFill/>
          <a:ln/>
        </p:spPr>
        <p:txBody>
          <a:bodyPr wrap="square" lIns="0" tIns="0" rIns="0" bIns="0" rtlCol="0" anchor="ctr"/>
          <a:lstStyle/>
          <a:p>
            <a:pPr indent="0" marL="0">
              <a:buNone/>
            </a:pPr>
            <a:r>
              <a:rPr lang="en-US" sz="1600" b="1" dirty="0">
                <a:solidFill>
                  <a:srgbClr val="1D1D1F"/>
                </a:solidFill>
                <a:latin typeface="Arial" pitchFamily="34" charset="0"/>
                <a:ea typeface="Arial" pitchFamily="34" charset="-122"/>
                <a:cs typeface="Arial" pitchFamily="34" charset="-120"/>
              </a:rPr>
              <a:t>Async vs isolates</a:t>
            </a:r>
            <a:endParaRPr lang="en-US" sz="1600" dirty="0"/>
          </a:p>
        </p:txBody>
      </p:sp>
      <p:sp>
        <p:nvSpPr>
          <p:cNvPr id="19" name="Text 13"/>
          <p:cNvSpPr/>
          <p:nvPr/>
        </p:nvSpPr>
        <p:spPr>
          <a:xfrm>
            <a:off x="4709160" y="3968496"/>
            <a:ext cx="6675120" cy="502920"/>
          </a:xfrm>
          <a:prstGeom prst="rect">
            <a:avLst/>
          </a:prstGeom>
          <a:noFill/>
          <a:ln/>
        </p:spPr>
        <p:txBody>
          <a:bodyPr wrap="square" lIns="0" tIns="0" rIns="0" bIns="0" rtlCol="0" anchor="ctr"/>
          <a:lstStyle/>
          <a:p>
            <a:pPr indent="0" marL="0">
              <a:buNone/>
            </a:pPr>
            <a:r>
              <a:rPr lang="en-US" sz="1300" dirty="0">
                <a:solidFill>
                  <a:srgbClr val="86868B"/>
                </a:solidFill>
                <a:latin typeface="Arial" pitchFamily="34" charset="0"/>
                <a:ea typeface="Arial" pitchFamily="34" charset="-122"/>
                <a:cs typeface="Arial" pitchFamily="34" charset="-120"/>
              </a:rPr>
              <a:t>When to await, when to spawn, and how Dart's model differs from Go's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731520" y="2514600"/>
            <a:ext cx="10725912" cy="320040"/>
          </a:xfrm>
          <a:prstGeom prst="rect">
            <a:avLst/>
          </a:prstGeom>
          <a:noFill/>
          <a:ln/>
        </p:spPr>
        <p:txBody>
          <a:bodyPr wrap="square" lIns="0" tIns="0" rIns="0" bIns="0" rtlCol="0" anchor="ctr"/>
          <a:lstStyle/>
          <a:p>
            <a:pPr algn="ctr" indent="0" marL="0">
              <a:buNone/>
            </a:pPr>
            <a:r>
              <a:rPr lang="en-US" sz="1200" spc="400" kern="0" dirty="0">
                <a:solidFill>
                  <a:srgbClr val="6E6E73"/>
                </a:solidFill>
                <a:latin typeface="Arial" pitchFamily="34" charset="0"/>
                <a:ea typeface="Arial" pitchFamily="34" charset="-122"/>
                <a:cs typeface="Arial" pitchFamily="34" charset="-120"/>
              </a:rPr>
              <a:t>AGENT-ASSISTED CODING</a:t>
            </a:r>
            <a:endParaRPr lang="en-US" sz="1200" dirty="0"/>
          </a:p>
        </p:txBody>
      </p:sp>
      <p:sp>
        <p:nvSpPr>
          <p:cNvPr id="3" name="Text 1"/>
          <p:cNvSpPr/>
          <p:nvPr/>
        </p:nvSpPr>
        <p:spPr>
          <a:xfrm>
            <a:off x="731520" y="2926080"/>
            <a:ext cx="10725912" cy="77724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Coding with an agent in the loop</a:t>
            </a:r>
            <a:endParaRPr lang="en-US" sz="3600" dirty="0"/>
          </a:p>
        </p:txBody>
      </p:sp>
      <p:sp>
        <p:nvSpPr>
          <p:cNvPr id="4" name="Text 2"/>
          <p:cNvSpPr/>
          <p:nvPr/>
        </p:nvSpPr>
        <p:spPr>
          <a:xfrm>
            <a:off x="731520" y="3794760"/>
            <a:ext cx="10725912" cy="411480"/>
          </a:xfrm>
          <a:prstGeom prst="rect">
            <a:avLst/>
          </a:prstGeom>
          <a:noFill/>
          <a:ln/>
        </p:spPr>
        <p:txBody>
          <a:bodyPr wrap="square" lIns="0" tIns="0" rIns="0" bIns="0" rtlCol="0" anchor="ctr"/>
          <a:lstStyle/>
          <a:p>
            <a:pPr algn="ctr" indent="0" marL="0">
              <a:buNone/>
            </a:pPr>
            <a:r>
              <a:rPr lang="en-US" sz="1500" dirty="0">
                <a:solidFill>
                  <a:srgbClr val="A1A1A6"/>
                </a:solidFill>
                <a:latin typeface="Arial" pitchFamily="34" charset="0"/>
                <a:ea typeface="Arial" pitchFamily="34" charset="-122"/>
                <a:cs typeface="Arial" pitchFamily="34" charset="-120"/>
              </a:rPr>
              <a:t>The 2026 tool landscape, and the review discipline it requires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5</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AGENT-ASSISTED CODING</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The 2026 tool landscape</a:t>
            </a:r>
            <a:endParaRPr lang="en-US" sz="3000" dirty="0"/>
          </a:p>
        </p:txBody>
      </p:sp>
      <p:pic>
        <p:nvPicPr>
          <p:cNvPr id="5" name="Image 0" descr="/Users/dinu/dev/upb/mobile-and-embedded-computing/slides/assets/icons2/terminal-ink.png">    </p:cNvPr>
          <p:cNvPicPr>
            <a:picLocks noChangeAspect="1"/>
          </p:cNvPicPr>
          <p:nvPr/>
        </p:nvPicPr>
        <p:blipFill>
          <a:blip r:embed="rId1"/>
          <a:stretch>
            <a:fillRect/>
          </a:stretch>
        </p:blipFill>
        <p:spPr>
          <a:xfrm>
            <a:off x="822960" y="1828800"/>
            <a:ext cx="384048" cy="384048"/>
          </a:xfrm>
          <a:prstGeom prst="rect">
            <a:avLst/>
          </a:prstGeom>
        </p:spPr>
      </p:pic>
      <p:sp>
        <p:nvSpPr>
          <p:cNvPr id="6" name="Text 3"/>
          <p:cNvSpPr/>
          <p:nvPr/>
        </p:nvSpPr>
        <p:spPr>
          <a:xfrm>
            <a:off x="822960" y="2359152"/>
            <a:ext cx="3383280" cy="457200"/>
          </a:xfrm>
          <a:prstGeom prst="rect">
            <a:avLst/>
          </a:prstGeom>
          <a:noFill/>
          <a:ln/>
        </p:spPr>
        <p:txBody>
          <a:bodyPr wrap="square" lIns="0" tIns="0" rIns="0" bIns="0" rtlCol="0" anchor="ctr"/>
          <a:lstStyle/>
          <a:p>
            <a:pPr indent="0" marL="0">
              <a:buNone/>
            </a:pPr>
            <a:r>
              <a:rPr lang="en-US" sz="1450" b="1" dirty="0">
                <a:solidFill>
                  <a:srgbClr val="1D1D1F"/>
                </a:solidFill>
                <a:latin typeface="Arial" pitchFamily="34" charset="0"/>
                <a:ea typeface="Arial" pitchFamily="34" charset="-122"/>
                <a:cs typeface="Arial" pitchFamily="34" charset="-120"/>
              </a:rPr>
              <a:t>Agentic CLIs</a:t>
            </a:r>
            <a:endParaRPr lang="en-US" sz="1450" dirty="0"/>
          </a:p>
        </p:txBody>
      </p:sp>
      <p:sp>
        <p:nvSpPr>
          <p:cNvPr id="7" name="Text 4"/>
          <p:cNvSpPr/>
          <p:nvPr/>
        </p:nvSpPr>
        <p:spPr>
          <a:xfrm>
            <a:off x="822960" y="2816352"/>
            <a:ext cx="3383280" cy="822960"/>
          </a:xfrm>
          <a:prstGeom prst="rect">
            <a:avLst/>
          </a:prstGeom>
          <a:noFill/>
          <a:ln/>
        </p:spPr>
        <p:txBody>
          <a:bodyPr wrap="square" lIns="0" tIns="0" rIns="0" bIns="0" rtlCol="0" anchor="ctr"/>
          <a:lstStyle/>
          <a:p>
            <a:pPr indent="0" marL="0">
              <a:buNone/>
            </a:pPr>
            <a:r>
              <a:rPr lang="en-US" sz="1150" dirty="0">
                <a:solidFill>
                  <a:srgbClr val="86868B"/>
                </a:solidFill>
                <a:latin typeface="Arial" pitchFamily="34" charset="0"/>
                <a:ea typeface="Arial" pitchFamily="34" charset="-122"/>
                <a:cs typeface="Arial" pitchFamily="34" charset="-120"/>
              </a:rPr>
              <a:t>Claude Code, Codex CLI, Gemini CLI: they run in your repository, edit files and run your tests</a:t>
            </a:r>
            <a:endParaRPr lang="en-US" sz="1150" dirty="0"/>
          </a:p>
        </p:txBody>
      </p:sp>
      <p:pic>
        <p:nvPicPr>
          <p:cNvPr id="8" name="Image 1" descr="/Users/dinu/dev/upb/mobile-and-embedded-computing/slides/assets/icons2/code-ink.png">    </p:cNvPr>
          <p:cNvPicPr>
            <a:picLocks noChangeAspect="1"/>
          </p:cNvPicPr>
          <p:nvPr/>
        </p:nvPicPr>
        <p:blipFill>
          <a:blip r:embed="rId2"/>
          <a:stretch>
            <a:fillRect/>
          </a:stretch>
        </p:blipFill>
        <p:spPr>
          <a:xfrm>
            <a:off x="4663440" y="1828800"/>
            <a:ext cx="384048" cy="384048"/>
          </a:xfrm>
          <a:prstGeom prst="rect">
            <a:avLst/>
          </a:prstGeom>
        </p:spPr>
      </p:pic>
      <p:sp>
        <p:nvSpPr>
          <p:cNvPr id="9" name="Text 5"/>
          <p:cNvSpPr/>
          <p:nvPr/>
        </p:nvSpPr>
        <p:spPr>
          <a:xfrm>
            <a:off x="4663440" y="2359152"/>
            <a:ext cx="3383280" cy="457200"/>
          </a:xfrm>
          <a:prstGeom prst="rect">
            <a:avLst/>
          </a:prstGeom>
          <a:noFill/>
          <a:ln/>
        </p:spPr>
        <p:txBody>
          <a:bodyPr wrap="square" lIns="0" tIns="0" rIns="0" bIns="0" rtlCol="0" anchor="ctr"/>
          <a:lstStyle/>
          <a:p>
            <a:pPr indent="0" marL="0">
              <a:buNone/>
            </a:pPr>
            <a:r>
              <a:rPr lang="en-US" sz="1450" b="1" dirty="0">
                <a:solidFill>
                  <a:srgbClr val="1D1D1F"/>
                </a:solidFill>
                <a:latin typeface="Arial" pitchFamily="34" charset="0"/>
                <a:ea typeface="Arial" pitchFamily="34" charset="-122"/>
                <a:cs typeface="Arial" pitchFamily="34" charset="-120"/>
              </a:rPr>
              <a:t>IDE assistants</a:t>
            </a:r>
            <a:endParaRPr lang="en-US" sz="1450" dirty="0"/>
          </a:p>
        </p:txBody>
      </p:sp>
      <p:sp>
        <p:nvSpPr>
          <p:cNvPr id="10" name="Text 6"/>
          <p:cNvSpPr/>
          <p:nvPr/>
        </p:nvSpPr>
        <p:spPr>
          <a:xfrm>
            <a:off x="4663440" y="2816352"/>
            <a:ext cx="3383280" cy="822960"/>
          </a:xfrm>
          <a:prstGeom prst="rect">
            <a:avLst/>
          </a:prstGeom>
          <a:noFill/>
          <a:ln/>
        </p:spPr>
        <p:txBody>
          <a:bodyPr wrap="square" lIns="0" tIns="0" rIns="0" bIns="0" rtlCol="0" anchor="ctr"/>
          <a:lstStyle/>
          <a:p>
            <a:pPr indent="0" marL="0">
              <a:buNone/>
            </a:pPr>
            <a:r>
              <a:rPr lang="en-US" sz="1150" dirty="0">
                <a:solidFill>
                  <a:srgbClr val="86868B"/>
                </a:solidFill>
                <a:latin typeface="Arial" pitchFamily="34" charset="0"/>
                <a:ea typeface="Arial" pitchFamily="34" charset="-122"/>
                <a:cs typeface="Arial" pitchFamily="34" charset="-120"/>
              </a:rPr>
              <a:t>Cursor, GitHub Copilot, Windsurf, JetBrains AI: completion plus in-editor chat</a:t>
            </a:r>
            <a:endParaRPr lang="en-US" sz="1150" dirty="0"/>
          </a:p>
        </p:txBody>
      </p:sp>
      <p:pic>
        <p:nvPicPr>
          <p:cNvPr id="11" name="Image 2" descr="/Users/dinu/dev/upb/mobile-and-embedded-computing/slides/assets/icons2/cloud-ink.png">    </p:cNvPr>
          <p:cNvPicPr>
            <a:picLocks noChangeAspect="1"/>
          </p:cNvPicPr>
          <p:nvPr/>
        </p:nvPicPr>
        <p:blipFill>
          <a:blip r:embed="rId3"/>
          <a:stretch>
            <a:fillRect/>
          </a:stretch>
        </p:blipFill>
        <p:spPr>
          <a:xfrm>
            <a:off x="8503920" y="1828800"/>
            <a:ext cx="384048" cy="384048"/>
          </a:xfrm>
          <a:prstGeom prst="rect">
            <a:avLst/>
          </a:prstGeom>
        </p:spPr>
      </p:pic>
      <p:sp>
        <p:nvSpPr>
          <p:cNvPr id="12" name="Text 7"/>
          <p:cNvSpPr/>
          <p:nvPr/>
        </p:nvSpPr>
        <p:spPr>
          <a:xfrm>
            <a:off x="8503920" y="2359152"/>
            <a:ext cx="3383280" cy="457200"/>
          </a:xfrm>
          <a:prstGeom prst="rect">
            <a:avLst/>
          </a:prstGeom>
          <a:noFill/>
          <a:ln/>
        </p:spPr>
        <p:txBody>
          <a:bodyPr wrap="square" lIns="0" tIns="0" rIns="0" bIns="0" rtlCol="0" anchor="ctr"/>
          <a:lstStyle/>
          <a:p>
            <a:pPr indent="0" marL="0">
              <a:buNone/>
            </a:pPr>
            <a:r>
              <a:rPr lang="en-US" sz="1450" b="1" dirty="0">
                <a:solidFill>
                  <a:srgbClr val="1D1D1F"/>
                </a:solidFill>
                <a:latin typeface="Arial" pitchFamily="34" charset="0"/>
                <a:ea typeface="Arial" pitchFamily="34" charset="-122"/>
                <a:cs typeface="Arial" pitchFamily="34" charset="-120"/>
              </a:rPr>
              <a:t>Cloud agents</a:t>
            </a:r>
            <a:endParaRPr lang="en-US" sz="1450" dirty="0"/>
          </a:p>
        </p:txBody>
      </p:sp>
      <p:sp>
        <p:nvSpPr>
          <p:cNvPr id="13" name="Text 8"/>
          <p:cNvSpPr/>
          <p:nvPr/>
        </p:nvSpPr>
        <p:spPr>
          <a:xfrm>
            <a:off x="8503920" y="2816352"/>
            <a:ext cx="3383280" cy="822960"/>
          </a:xfrm>
          <a:prstGeom prst="rect">
            <a:avLst/>
          </a:prstGeom>
          <a:noFill/>
          <a:ln/>
        </p:spPr>
        <p:txBody>
          <a:bodyPr wrap="square" lIns="0" tIns="0" rIns="0" bIns="0" rtlCol="0" anchor="ctr"/>
          <a:lstStyle/>
          <a:p>
            <a:pPr indent="0" marL="0">
              <a:buNone/>
            </a:pPr>
            <a:r>
              <a:rPr lang="en-US" sz="1150" dirty="0">
                <a:solidFill>
                  <a:srgbClr val="86868B"/>
                </a:solidFill>
                <a:latin typeface="Arial" pitchFamily="34" charset="0"/>
                <a:ea typeface="Arial" pitchFamily="34" charset="-122"/>
                <a:cs typeface="Arial" pitchFamily="34" charset="-120"/>
              </a:rPr>
              <a:t>Long-running tasks against a checkout; what comes back is a pull request you review</a:t>
            </a:r>
            <a:endParaRPr lang="en-US" sz="1150" dirty="0"/>
          </a:p>
        </p:txBody>
      </p:sp>
      <p:pic>
        <p:nvPicPr>
          <p:cNvPr id="14" name="Image 3" descr="/Users/dinu/dev/upb/mobile-and-embedded-computing/slides/assets/icons2/gitpr-ink.png">    </p:cNvPr>
          <p:cNvPicPr>
            <a:picLocks noChangeAspect="1"/>
          </p:cNvPicPr>
          <p:nvPr/>
        </p:nvPicPr>
        <p:blipFill>
          <a:blip r:embed="rId4"/>
          <a:stretch>
            <a:fillRect/>
          </a:stretch>
        </p:blipFill>
        <p:spPr>
          <a:xfrm>
            <a:off x="822960" y="3931920"/>
            <a:ext cx="384048" cy="384048"/>
          </a:xfrm>
          <a:prstGeom prst="rect">
            <a:avLst/>
          </a:prstGeom>
        </p:spPr>
      </p:pic>
      <p:sp>
        <p:nvSpPr>
          <p:cNvPr id="15" name="Text 9"/>
          <p:cNvSpPr/>
          <p:nvPr/>
        </p:nvSpPr>
        <p:spPr>
          <a:xfrm>
            <a:off x="822960" y="4462272"/>
            <a:ext cx="3383280" cy="457200"/>
          </a:xfrm>
          <a:prstGeom prst="rect">
            <a:avLst/>
          </a:prstGeom>
          <a:noFill/>
          <a:ln/>
        </p:spPr>
        <p:txBody>
          <a:bodyPr wrap="square" lIns="0" tIns="0" rIns="0" bIns="0" rtlCol="0" anchor="ctr"/>
          <a:lstStyle/>
          <a:p>
            <a:pPr indent="0" marL="0">
              <a:buNone/>
            </a:pPr>
            <a:r>
              <a:rPr lang="en-US" sz="1450" b="1" dirty="0">
                <a:solidFill>
                  <a:srgbClr val="1D1D1F"/>
                </a:solidFill>
                <a:latin typeface="Arial" pitchFamily="34" charset="0"/>
                <a:ea typeface="Arial" pitchFamily="34" charset="-122"/>
                <a:cs typeface="Arial" pitchFamily="34" charset="-120"/>
              </a:rPr>
              <a:t>Review bots</a:t>
            </a:r>
            <a:endParaRPr lang="en-US" sz="1450" dirty="0"/>
          </a:p>
        </p:txBody>
      </p:sp>
      <p:sp>
        <p:nvSpPr>
          <p:cNvPr id="16" name="Text 10"/>
          <p:cNvSpPr/>
          <p:nvPr/>
        </p:nvSpPr>
        <p:spPr>
          <a:xfrm>
            <a:off x="822960" y="4919472"/>
            <a:ext cx="3383280" cy="822960"/>
          </a:xfrm>
          <a:prstGeom prst="rect">
            <a:avLst/>
          </a:prstGeom>
          <a:noFill/>
          <a:ln/>
        </p:spPr>
        <p:txBody>
          <a:bodyPr wrap="square" lIns="0" tIns="0" rIns="0" bIns="0" rtlCol="0" anchor="ctr"/>
          <a:lstStyle/>
          <a:p>
            <a:pPr indent="0" marL="0">
              <a:buNone/>
            </a:pPr>
            <a:r>
              <a:rPr lang="en-US" sz="1150" dirty="0">
                <a:solidFill>
                  <a:srgbClr val="86868B"/>
                </a:solidFill>
                <a:latin typeface="Arial" pitchFamily="34" charset="0"/>
                <a:ea typeface="Arial" pitchFamily="34" charset="-122"/>
                <a:cs typeface="Arial" pitchFamily="34" charset="-120"/>
              </a:rPr>
              <a:t>CodeRabbit and friends comment on your PR before a human ever opens it</a:t>
            </a:r>
            <a:endParaRPr lang="en-US" sz="1150" dirty="0"/>
          </a:p>
        </p:txBody>
      </p:sp>
      <p:pic>
        <p:nvPicPr>
          <p:cNvPr id="17" name="Image 4" descr="/Users/dinu/dev/upb/mobile-and-embedded-computing/slides/assets/icons2/wrench-ink.png">    </p:cNvPr>
          <p:cNvPicPr>
            <a:picLocks noChangeAspect="1"/>
          </p:cNvPicPr>
          <p:nvPr/>
        </p:nvPicPr>
        <p:blipFill>
          <a:blip r:embed="rId5"/>
          <a:stretch>
            <a:fillRect/>
          </a:stretch>
        </p:blipFill>
        <p:spPr>
          <a:xfrm>
            <a:off x="4663440" y="3931920"/>
            <a:ext cx="384048" cy="384048"/>
          </a:xfrm>
          <a:prstGeom prst="rect">
            <a:avLst/>
          </a:prstGeom>
        </p:spPr>
      </p:pic>
      <p:sp>
        <p:nvSpPr>
          <p:cNvPr id="18" name="Text 11"/>
          <p:cNvSpPr/>
          <p:nvPr/>
        </p:nvSpPr>
        <p:spPr>
          <a:xfrm>
            <a:off x="4663440" y="4462272"/>
            <a:ext cx="3383280" cy="457200"/>
          </a:xfrm>
          <a:prstGeom prst="rect">
            <a:avLst/>
          </a:prstGeom>
          <a:noFill/>
          <a:ln/>
        </p:spPr>
        <p:txBody>
          <a:bodyPr wrap="square" lIns="0" tIns="0" rIns="0" bIns="0" rtlCol="0" anchor="ctr"/>
          <a:lstStyle/>
          <a:p>
            <a:pPr indent="0" marL="0">
              <a:buNone/>
            </a:pPr>
            <a:r>
              <a:rPr lang="en-US" sz="1450" b="1" dirty="0">
                <a:solidFill>
                  <a:srgbClr val="1D1D1F"/>
                </a:solidFill>
                <a:latin typeface="Arial" pitchFamily="34" charset="0"/>
                <a:ea typeface="Arial" pitchFamily="34" charset="-122"/>
                <a:cs typeface="Arial" pitchFamily="34" charset="-120"/>
              </a:rPr>
              <a:t>Tool access (MCP)</a:t>
            </a:r>
            <a:endParaRPr lang="en-US" sz="1450" dirty="0"/>
          </a:p>
        </p:txBody>
      </p:sp>
      <p:sp>
        <p:nvSpPr>
          <p:cNvPr id="19" name="Text 12"/>
          <p:cNvSpPr/>
          <p:nvPr/>
        </p:nvSpPr>
        <p:spPr>
          <a:xfrm>
            <a:off x="4663440" y="4919472"/>
            <a:ext cx="3383280" cy="822960"/>
          </a:xfrm>
          <a:prstGeom prst="rect">
            <a:avLst/>
          </a:prstGeom>
          <a:noFill/>
          <a:ln/>
        </p:spPr>
        <p:txBody>
          <a:bodyPr wrap="square" lIns="0" tIns="0" rIns="0" bIns="0" rtlCol="0" anchor="ctr"/>
          <a:lstStyle/>
          <a:p>
            <a:pPr indent="0" marL="0">
              <a:buNone/>
            </a:pPr>
            <a:r>
              <a:rPr lang="en-US" sz="1150" dirty="0">
                <a:solidFill>
                  <a:srgbClr val="86868B"/>
                </a:solidFill>
                <a:latin typeface="Arial" pitchFamily="34" charset="0"/>
                <a:ea typeface="Arial" pitchFamily="34" charset="-122"/>
                <a:cs typeface="Arial" pitchFamily="34" charset="-120"/>
              </a:rPr>
              <a:t>Agents reach your files, shell, database and APIs through a tool protocol</a:t>
            </a:r>
            <a:endParaRPr lang="en-US" sz="1150" dirty="0"/>
          </a:p>
        </p:txBody>
      </p:sp>
      <p:pic>
        <p:nvPicPr>
          <p:cNvPr id="20" name="Image 5" descr="/Users/dinu/dev/upb/mobile-and-embedded-computing/slides/assets/icons2/brain-ink.png">    </p:cNvPr>
          <p:cNvPicPr>
            <a:picLocks noChangeAspect="1"/>
          </p:cNvPicPr>
          <p:nvPr/>
        </p:nvPicPr>
        <p:blipFill>
          <a:blip r:embed="rId6"/>
          <a:stretch>
            <a:fillRect/>
          </a:stretch>
        </p:blipFill>
        <p:spPr>
          <a:xfrm>
            <a:off x="8503920" y="3931920"/>
            <a:ext cx="384048" cy="384048"/>
          </a:xfrm>
          <a:prstGeom prst="rect">
            <a:avLst/>
          </a:prstGeom>
        </p:spPr>
      </p:pic>
      <p:sp>
        <p:nvSpPr>
          <p:cNvPr id="21" name="Text 13"/>
          <p:cNvSpPr/>
          <p:nvPr/>
        </p:nvSpPr>
        <p:spPr>
          <a:xfrm>
            <a:off x="8503920" y="4462272"/>
            <a:ext cx="3383280" cy="457200"/>
          </a:xfrm>
          <a:prstGeom prst="rect">
            <a:avLst/>
          </a:prstGeom>
          <a:noFill/>
          <a:ln/>
        </p:spPr>
        <p:txBody>
          <a:bodyPr wrap="square" lIns="0" tIns="0" rIns="0" bIns="0" rtlCol="0" anchor="ctr"/>
          <a:lstStyle/>
          <a:p>
            <a:pPr indent="0" marL="0">
              <a:buNone/>
            </a:pPr>
            <a:r>
              <a:rPr lang="en-US" sz="1450" b="1" dirty="0">
                <a:solidFill>
                  <a:srgbClr val="1D1D1F"/>
                </a:solidFill>
                <a:latin typeface="Arial" pitchFamily="34" charset="0"/>
                <a:ea typeface="Arial" pitchFamily="34" charset="-122"/>
                <a:cs typeface="Arial" pitchFamily="34" charset="-120"/>
              </a:rPr>
              <a:t>One layer down</a:t>
            </a:r>
            <a:endParaRPr lang="en-US" sz="1450" dirty="0"/>
          </a:p>
        </p:txBody>
      </p:sp>
      <p:sp>
        <p:nvSpPr>
          <p:cNvPr id="22" name="Text 14"/>
          <p:cNvSpPr/>
          <p:nvPr/>
        </p:nvSpPr>
        <p:spPr>
          <a:xfrm>
            <a:off x="8503920" y="4919472"/>
            <a:ext cx="3383280" cy="822960"/>
          </a:xfrm>
          <a:prstGeom prst="rect">
            <a:avLst/>
          </a:prstGeom>
          <a:noFill/>
          <a:ln/>
        </p:spPr>
        <p:txBody>
          <a:bodyPr wrap="square" lIns="0" tIns="0" rIns="0" bIns="0" rtlCol="0" anchor="ctr"/>
          <a:lstStyle/>
          <a:p>
            <a:pPr indent="0" marL="0">
              <a:buNone/>
            </a:pPr>
            <a:r>
              <a:rPr lang="en-US" sz="1150" dirty="0">
                <a:solidFill>
                  <a:srgbClr val="86868B"/>
                </a:solidFill>
                <a:latin typeface="Arial" pitchFamily="34" charset="0"/>
                <a:ea typeface="Arial" pitchFamily="34" charset="-122"/>
                <a:cs typeface="Arial" pitchFamily="34" charset="-120"/>
              </a:rPr>
              <a:t>All of them are shells over a handful of frontier models; the shell is what differs</a:t>
            </a:r>
            <a:endParaRPr lang="en-US" sz="1150" dirty="0"/>
          </a:p>
        </p:txBody>
      </p:sp>
      <p:sp>
        <p:nvSpPr>
          <p:cNvPr id="23" name="Shape 15"/>
          <p:cNvSpPr/>
          <p:nvPr/>
        </p:nvSpPr>
        <p:spPr>
          <a:xfrm>
            <a:off x="822960" y="5852160"/>
            <a:ext cx="10543032" cy="0"/>
          </a:xfrm>
          <a:prstGeom prst="line">
            <a:avLst/>
          </a:prstGeom>
          <a:noFill/>
          <a:ln w="9525">
            <a:solidFill>
              <a:srgbClr val="D2D2D7"/>
            </a:solidFill>
            <a:prstDash val="solid"/>
          </a:ln>
        </p:spPr>
      </p:sp>
      <p:sp>
        <p:nvSpPr>
          <p:cNvPr id="24" name="Text 16"/>
          <p:cNvSpPr/>
          <p:nvPr/>
        </p:nvSpPr>
        <p:spPr>
          <a:xfrm>
            <a:off x="822960" y="5943600"/>
            <a:ext cx="10515600" cy="274320"/>
          </a:xfrm>
          <a:prstGeom prst="rect">
            <a:avLst/>
          </a:prstGeom>
          <a:noFill/>
          <a:ln/>
        </p:spPr>
        <p:txBody>
          <a:bodyPr wrap="square" lIns="0" tIns="0" rIns="0" bIns="0" rtlCol="0" anchor="ctr"/>
          <a:lstStyle/>
          <a:p>
            <a:pPr indent="0" marL="0">
              <a:buNone/>
            </a:pPr>
            <a:r>
              <a:rPr lang="en-US" sz="1200" dirty="0">
                <a:solidFill>
                  <a:srgbClr val="86868B"/>
                </a:solidFill>
                <a:latin typeface="Arial" pitchFamily="34" charset="0"/>
                <a:ea typeface="Arial" pitchFamily="34" charset="-122"/>
                <a:cs typeface="Arial" pitchFamily="34" charset="-120"/>
              </a:rPr>
              <a:t>The category moves every few months. What does not move is the part below: how you brief it, and how you check it.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6</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AGENT-ASSISTED CODING</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What agents are good at, and where they fail</a:t>
            </a:r>
            <a:endParaRPr lang="en-US" sz="3000" dirty="0"/>
          </a:p>
        </p:txBody>
      </p:sp>
      <p:sp>
        <p:nvSpPr>
          <p:cNvPr id="5" name="Text 3"/>
          <p:cNvSpPr/>
          <p:nvPr/>
        </p:nvSpPr>
        <p:spPr>
          <a:xfrm>
            <a:off x="822960" y="1783080"/>
            <a:ext cx="5120640" cy="36576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Where it helps</a:t>
            </a:r>
            <a:endParaRPr lang="en-US" sz="1400" dirty="0"/>
          </a:p>
        </p:txBody>
      </p:sp>
      <p:sp>
        <p:nvSpPr>
          <p:cNvPr id="6" name="Text 4"/>
          <p:cNvSpPr/>
          <p:nvPr/>
        </p:nvSpPr>
        <p:spPr>
          <a:xfrm>
            <a:off x="6400800" y="1783080"/>
            <a:ext cx="5120640" cy="36576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Where it costs you</a:t>
            </a:r>
            <a:endParaRPr lang="en-US" sz="1400" dirty="0"/>
          </a:p>
        </p:txBody>
      </p:sp>
      <p:sp>
        <p:nvSpPr>
          <p:cNvPr id="7" name="Text 5"/>
          <p:cNvSpPr/>
          <p:nvPr/>
        </p:nvSpPr>
        <p:spPr>
          <a:xfrm>
            <a:off x="822960" y="2240280"/>
            <a:ext cx="5120640" cy="2560320"/>
          </a:xfrm>
          <a:prstGeom prst="rect">
            <a:avLst/>
          </a:prstGeom>
          <a:noFill/>
          <a:ln/>
        </p:spPr>
        <p:txBody>
          <a:bodyPr wrap="square" lIns="0" tIns="0" rIns="0" bIns="0" rtlCol="0" anchor="t"/>
          <a:lstStyle/>
          <a:p>
            <a:pPr indent="0" marL="0">
              <a:spcAft>
                <a:spcPts val="1200"/>
              </a:spcAft>
              <a:buNone/>
            </a:pPr>
            <a:r>
              <a:rPr lang="en-US" sz="1350" b="1" dirty="0">
                <a:solidFill>
                  <a:srgbClr val="0071E3"/>
                </a:solidFill>
                <a:latin typeface="Arial" pitchFamily="34" charset="0"/>
                <a:ea typeface="Arial" pitchFamily="34" charset="-122"/>
                <a:cs typeface="Arial" pitchFamily="34" charset="-120"/>
              </a:rPr>
              <a:t>+  </a:t>
            </a:r>
            <a:pPr indent="0" marL="0">
              <a:spcAft>
                <a:spcPts val="1200"/>
              </a:spcAft>
              <a:buNone/>
            </a:pPr>
            <a:r>
              <a:rPr lang="en-US" sz="1350" dirty="0">
                <a:solidFill>
                  <a:srgbClr val="1D1D1F"/>
                </a:solidFill>
                <a:latin typeface="Arial" pitchFamily="34" charset="0"/>
                <a:ea typeface="Arial" pitchFamily="34" charset="-122"/>
                <a:cs typeface="Arial" pitchFamily="34" charset="-120"/>
              </a:rPr>
              <a:t>Boilerplate: scaffolding, data classes, test fixtures, glue code</a:t>
            </a:r>
            <a:endParaRPr lang="en-US" sz="1350" dirty="0"/>
          </a:p>
          <a:p>
            <a:pPr indent="0" marL="0">
              <a:spcAft>
                <a:spcPts val="1200"/>
              </a:spcAft>
              <a:buNone/>
            </a:pPr>
            <a:r>
              <a:rPr lang="en-US" sz="1350" b="1" dirty="0">
                <a:solidFill>
                  <a:srgbClr val="0071E3"/>
                </a:solidFill>
                <a:latin typeface="Arial" pitchFamily="34" charset="0"/>
                <a:ea typeface="Arial" pitchFamily="34" charset="-122"/>
                <a:cs typeface="Arial" pitchFamily="34" charset="-120"/>
              </a:rPr>
              <a:t>+  </a:t>
            </a:r>
            <a:pPr indent="0" marL="0">
              <a:spcAft>
                <a:spcPts val="1200"/>
              </a:spcAft>
              <a:buNone/>
            </a:pPr>
            <a:r>
              <a:rPr lang="en-US" sz="1350" dirty="0">
                <a:solidFill>
                  <a:srgbClr val="1D1D1F"/>
                </a:solidFill>
                <a:latin typeface="Arial" pitchFamily="34" charset="0"/>
                <a:ea typeface="Arial" pitchFamily="34" charset="-122"/>
                <a:cs typeface="Arial" pitchFamily="34" charset="-120"/>
              </a:rPr>
              <a:t>Explaining unfamiliar code, stack traces and build errors</a:t>
            </a:r>
            <a:endParaRPr lang="en-US" sz="1350" dirty="0"/>
          </a:p>
          <a:p>
            <a:pPr indent="0" marL="0">
              <a:spcAft>
                <a:spcPts val="1200"/>
              </a:spcAft>
              <a:buNone/>
            </a:pPr>
            <a:r>
              <a:rPr lang="en-US" sz="1350" b="1" dirty="0">
                <a:solidFill>
                  <a:srgbClr val="0071E3"/>
                </a:solidFill>
                <a:latin typeface="Arial" pitchFamily="34" charset="0"/>
                <a:ea typeface="Arial" pitchFamily="34" charset="-122"/>
                <a:cs typeface="Arial" pitchFamily="34" charset="-120"/>
              </a:rPr>
              <a:t>+  </a:t>
            </a:r>
            <a:pPr indent="0" marL="0">
              <a:spcAft>
                <a:spcPts val="1200"/>
              </a:spcAft>
              <a:buNone/>
            </a:pPr>
            <a:r>
              <a:rPr lang="en-US" sz="1350" dirty="0">
                <a:solidFill>
                  <a:srgbClr val="1D1D1F"/>
                </a:solidFill>
                <a:latin typeface="Arial" pitchFamily="34" charset="0"/>
                <a:ea typeface="Arial" pitchFamily="34" charset="-122"/>
                <a:cs typeface="Arial" pitchFamily="34" charset="-120"/>
              </a:rPr>
              <a:t>Mechanical refactors that touch twenty files at once</a:t>
            </a:r>
            <a:endParaRPr lang="en-US" sz="1350" dirty="0"/>
          </a:p>
          <a:p>
            <a:pPr indent="0" marL="0">
              <a:spcAft>
                <a:spcPts val="1200"/>
              </a:spcAft>
              <a:buNone/>
            </a:pPr>
            <a:r>
              <a:rPr lang="en-US" sz="1350" b="1" dirty="0">
                <a:solidFill>
                  <a:srgbClr val="0071E3"/>
                </a:solidFill>
                <a:latin typeface="Arial" pitchFamily="34" charset="0"/>
                <a:ea typeface="Arial" pitchFamily="34" charset="-122"/>
                <a:cs typeface="Arial" pitchFamily="34" charset="-120"/>
              </a:rPr>
              <a:t>+  </a:t>
            </a:r>
            <a:pPr indent="0" marL="0">
              <a:spcAft>
                <a:spcPts val="1200"/>
              </a:spcAft>
              <a:buNone/>
            </a:pPr>
            <a:r>
              <a:rPr lang="en-US" sz="1350" dirty="0">
                <a:solidFill>
                  <a:srgbClr val="1D1D1F"/>
                </a:solidFill>
                <a:latin typeface="Arial" pitchFamily="34" charset="0"/>
                <a:ea typeface="Arial" pitchFamily="34" charset="-122"/>
                <a:cs typeface="Arial" pitchFamily="34" charset="-120"/>
              </a:rPr>
              <a:t>The test you were quietly going to skip</a:t>
            </a:r>
            <a:endParaRPr lang="en-US" sz="1350" dirty="0"/>
          </a:p>
          <a:p>
            <a:pPr indent="0" marL="0">
              <a:spcAft>
                <a:spcPts val="1200"/>
              </a:spcAft>
              <a:buNone/>
            </a:pPr>
            <a:r>
              <a:rPr lang="en-US" sz="1350" b="1" dirty="0">
                <a:solidFill>
                  <a:srgbClr val="0071E3"/>
                </a:solidFill>
                <a:latin typeface="Arial" pitchFamily="34" charset="0"/>
                <a:ea typeface="Arial" pitchFamily="34" charset="-122"/>
                <a:cs typeface="Arial" pitchFamily="34" charset="-120"/>
              </a:rPr>
              <a:t>+  </a:t>
            </a:r>
            <a:pPr indent="0" marL="0">
              <a:spcAft>
                <a:spcPts val="1200"/>
              </a:spcAft>
              <a:buNone/>
            </a:pPr>
            <a:r>
              <a:rPr lang="en-US" sz="1350" dirty="0">
                <a:solidFill>
                  <a:srgbClr val="1D1D1F"/>
                </a:solidFill>
                <a:latin typeface="Arial" pitchFamily="34" charset="0"/>
                <a:ea typeface="Arial" pitchFamily="34" charset="-122"/>
                <a:cs typeface="Arial" pitchFamily="34" charset="-120"/>
              </a:rPr>
              <a:t>A first draft of a task you are unsure how to start</a:t>
            </a:r>
            <a:endParaRPr lang="en-US" sz="1350" dirty="0"/>
          </a:p>
        </p:txBody>
      </p:sp>
      <p:sp>
        <p:nvSpPr>
          <p:cNvPr id="8" name="Text 6"/>
          <p:cNvSpPr/>
          <p:nvPr/>
        </p:nvSpPr>
        <p:spPr>
          <a:xfrm>
            <a:off x="6400800" y="2240280"/>
            <a:ext cx="5120640" cy="2560320"/>
          </a:xfrm>
          <a:prstGeom prst="rect">
            <a:avLst/>
          </a:prstGeom>
          <a:noFill/>
          <a:ln/>
        </p:spPr>
        <p:txBody>
          <a:bodyPr wrap="square" lIns="0" tIns="0" rIns="0" bIns="0" rtlCol="0" anchor="t"/>
          <a:lstStyle/>
          <a:p>
            <a:pPr indent="0" marL="0">
              <a:spcAft>
                <a:spcPts val="1200"/>
              </a:spcAft>
              <a:buNone/>
            </a:pPr>
            <a:r>
              <a:rPr lang="en-US" sz="1350" b="1" dirty="0">
                <a:solidFill>
                  <a:srgbClr val="86868B"/>
                </a:solidFill>
                <a:latin typeface="Arial" pitchFamily="34" charset="0"/>
                <a:ea typeface="Arial" pitchFamily="34" charset="-122"/>
                <a:cs typeface="Arial" pitchFamily="34" charset="-120"/>
              </a:rPr>
              <a:t>−  </a:t>
            </a:r>
            <a:pPr indent="0" marL="0">
              <a:spcAft>
                <a:spcPts val="1200"/>
              </a:spcAft>
              <a:buNone/>
            </a:pPr>
            <a:r>
              <a:rPr lang="en-US" sz="1350" dirty="0">
                <a:solidFill>
                  <a:srgbClr val="1D1D1F"/>
                </a:solidFill>
                <a:latin typeface="Arial" pitchFamily="34" charset="0"/>
                <a:ea typeface="Arial" pitchFamily="34" charset="-122"/>
                <a:cs typeface="Arial" pitchFamily="34" charset="-120"/>
              </a:rPr>
              <a:t>Plausible but wrong APIs: Flutter's surface moves fast</a:t>
            </a:r>
            <a:endParaRPr lang="en-US" sz="1350" dirty="0"/>
          </a:p>
          <a:p>
            <a:pPr indent="0" marL="0">
              <a:spcAft>
                <a:spcPts val="1200"/>
              </a:spcAft>
              <a:buNone/>
            </a:pPr>
            <a:r>
              <a:rPr lang="en-US" sz="1350" b="1" dirty="0">
                <a:solidFill>
                  <a:srgbClr val="86868B"/>
                </a:solidFill>
                <a:latin typeface="Arial" pitchFamily="34" charset="0"/>
                <a:ea typeface="Arial" pitchFamily="34" charset="-122"/>
                <a:cs typeface="Arial" pitchFamily="34" charset="-120"/>
              </a:rPr>
              <a:t>−  </a:t>
            </a:r>
            <a:pPr indent="0" marL="0">
              <a:spcAft>
                <a:spcPts val="1200"/>
              </a:spcAft>
              <a:buNone/>
            </a:pPr>
            <a:r>
              <a:rPr lang="en-US" sz="1350" dirty="0">
                <a:solidFill>
                  <a:srgbClr val="1D1D1F"/>
                </a:solidFill>
                <a:latin typeface="Arial" pitchFamily="34" charset="0"/>
                <a:ea typeface="Arial" pitchFamily="34" charset="-122"/>
                <a:cs typeface="Arial" pitchFamily="34" charset="-120"/>
              </a:rPr>
              <a:t>Security holes: hardcoded keys, unvalidated input, open rules</a:t>
            </a:r>
            <a:endParaRPr lang="en-US" sz="1350" dirty="0"/>
          </a:p>
          <a:p>
            <a:pPr indent="0" marL="0">
              <a:spcAft>
                <a:spcPts val="1200"/>
              </a:spcAft>
              <a:buNone/>
            </a:pPr>
            <a:r>
              <a:rPr lang="en-US" sz="1350" b="1" dirty="0">
                <a:solidFill>
                  <a:srgbClr val="86868B"/>
                </a:solidFill>
                <a:latin typeface="Arial" pitchFamily="34" charset="0"/>
                <a:ea typeface="Arial" pitchFamily="34" charset="-122"/>
                <a:cs typeface="Arial" pitchFamily="34" charset="-120"/>
              </a:rPr>
              <a:t>−  </a:t>
            </a:r>
            <a:pPr indent="0" marL="0">
              <a:spcAft>
                <a:spcPts val="1200"/>
              </a:spcAft>
              <a:buNone/>
            </a:pPr>
            <a:r>
              <a:rPr lang="en-US" sz="1350" dirty="0">
                <a:solidFill>
                  <a:srgbClr val="1D1D1F"/>
                </a:solidFill>
                <a:latin typeface="Arial" pitchFamily="34" charset="0"/>
                <a:ea typeface="Arial" pitchFamily="34" charset="-122"/>
                <a:cs typeface="Arial" pitchFamily="34" charset="-120"/>
              </a:rPr>
              <a:t>Code that ignores conventions you never told it about</a:t>
            </a:r>
            <a:endParaRPr lang="en-US" sz="1350" dirty="0"/>
          </a:p>
          <a:p>
            <a:pPr indent="0" marL="0">
              <a:spcAft>
                <a:spcPts val="1200"/>
              </a:spcAft>
              <a:buNone/>
            </a:pPr>
            <a:r>
              <a:rPr lang="en-US" sz="1350" b="1" dirty="0">
                <a:solidFill>
                  <a:srgbClr val="86868B"/>
                </a:solidFill>
                <a:latin typeface="Arial" pitchFamily="34" charset="0"/>
                <a:ea typeface="Arial" pitchFamily="34" charset="-122"/>
                <a:cs typeface="Arial" pitchFamily="34" charset="-120"/>
              </a:rPr>
              <a:t>−  </a:t>
            </a:r>
            <a:pPr indent="0" marL="0">
              <a:spcAft>
                <a:spcPts val="1200"/>
              </a:spcAft>
              <a:buNone/>
            </a:pPr>
            <a:r>
              <a:rPr lang="en-US" sz="1350" dirty="0">
                <a:solidFill>
                  <a:srgbClr val="1D1D1F"/>
                </a:solidFill>
                <a:latin typeface="Arial" pitchFamily="34" charset="0"/>
                <a:ea typeface="Arial" pitchFamily="34" charset="-122"/>
                <a:cs typeface="Arial" pitchFamily="34" charset="-120"/>
              </a:rPr>
              <a:t>Silent drift away from the package versions you are actually on</a:t>
            </a:r>
            <a:endParaRPr lang="en-US" sz="1350" dirty="0"/>
          </a:p>
          <a:p>
            <a:pPr indent="0" marL="0">
              <a:spcAft>
                <a:spcPts val="1200"/>
              </a:spcAft>
              <a:buNone/>
            </a:pPr>
            <a:r>
              <a:rPr lang="en-US" sz="1350" b="1" dirty="0">
                <a:solidFill>
                  <a:srgbClr val="86868B"/>
                </a:solidFill>
                <a:latin typeface="Arial" pitchFamily="34" charset="0"/>
                <a:ea typeface="Arial" pitchFamily="34" charset="-122"/>
                <a:cs typeface="Arial" pitchFamily="34" charset="-120"/>
              </a:rPr>
              <a:t>−  </a:t>
            </a:r>
            <a:pPr indent="0" marL="0">
              <a:spcAft>
                <a:spcPts val="1200"/>
              </a:spcAft>
              <a:buNone/>
            </a:pPr>
            <a:r>
              <a:rPr lang="en-US" sz="1350" dirty="0">
                <a:solidFill>
                  <a:srgbClr val="1D1D1F"/>
                </a:solidFill>
                <a:latin typeface="Arial" pitchFamily="34" charset="0"/>
                <a:ea typeface="Arial" pitchFamily="34" charset="-122"/>
                <a:cs typeface="Arial" pitchFamily="34" charset="-120"/>
              </a:rPr>
              <a:t>The error paths and edge cases nobody asked for</a:t>
            </a:r>
            <a:endParaRPr lang="en-US" sz="1350" dirty="0"/>
          </a:p>
        </p:txBody>
      </p:sp>
      <p:sp>
        <p:nvSpPr>
          <p:cNvPr id="9" name="Shape 7"/>
          <p:cNvSpPr/>
          <p:nvPr/>
        </p:nvSpPr>
        <p:spPr>
          <a:xfrm>
            <a:off x="822960" y="4892040"/>
            <a:ext cx="10543032" cy="0"/>
          </a:xfrm>
          <a:prstGeom prst="line">
            <a:avLst/>
          </a:prstGeom>
          <a:noFill/>
          <a:ln w="9525">
            <a:solidFill>
              <a:srgbClr val="D2D2D7"/>
            </a:solidFill>
            <a:prstDash val="solid"/>
          </a:ln>
        </p:spPr>
      </p:sp>
      <p:sp>
        <p:nvSpPr>
          <p:cNvPr id="10" name="Text 8"/>
          <p:cNvSpPr/>
          <p:nvPr/>
        </p:nvSpPr>
        <p:spPr>
          <a:xfrm>
            <a:off x="822960" y="5120640"/>
            <a:ext cx="10543032" cy="64008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An agent produces confident output whether or not it is correct.</a:t>
            </a:r>
            <a:pPr indent="0" marL="0">
              <a:buNone/>
            </a:pPr>
            <a:r>
              <a:rPr lang="en-US" sz="1400" dirty="0">
                <a:solidFill>
                  <a:srgbClr val="86868B"/>
                </a:solidFill>
                <a:latin typeface="Arial" pitchFamily="34" charset="0"/>
                <a:ea typeface="Arial" pitchFamily="34" charset="-122"/>
                <a:cs typeface="Arial" pitchFamily="34" charset="-120"/>
              </a:rPr>
              <a:t> Everything it writes still lands in the commit log under your name.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7</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AGENT-ASSISTED CODING</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Prompting: give it context, not wishes</a:t>
            </a:r>
            <a:endParaRPr lang="en-US" sz="3000" dirty="0"/>
          </a:p>
        </p:txBody>
      </p:sp>
      <p:sp>
        <p:nvSpPr>
          <p:cNvPr id="5" name="Text 3"/>
          <p:cNvSpPr/>
          <p:nvPr/>
        </p:nvSpPr>
        <p:spPr>
          <a:xfrm>
            <a:off x="822960" y="1783080"/>
            <a:ext cx="5120640" cy="4023360"/>
          </a:xfrm>
          <a:prstGeom prst="rect">
            <a:avLst/>
          </a:prstGeom>
          <a:noFill/>
          <a:ln/>
        </p:spPr>
        <p:txBody>
          <a:bodyPr wrap="square" lIns="0" tIns="0" rIns="0" bIns="0" rtlCol="0" anchor="t"/>
          <a:lstStyle/>
          <a:p>
            <a:pPr indent="0" marL="0">
              <a:spcAft>
                <a:spcPts val="1600"/>
              </a:spcAft>
              <a:buNone/>
            </a:pPr>
            <a:r>
              <a:rPr lang="en-US" sz="1400" dirty="0">
                <a:solidFill>
                  <a:srgbClr val="1D1D1F"/>
                </a:solidFill>
                <a:latin typeface="Arial" pitchFamily="34" charset="0"/>
                <a:ea typeface="Arial" pitchFamily="34" charset="-122"/>
                <a:cs typeface="Arial" pitchFamily="34" charset="-120"/>
              </a:rPr>
              <a:t>Name the files, packages and versions the change has to fit into</a:t>
            </a:r>
            <a:endParaRPr lang="en-US" sz="1400" dirty="0"/>
          </a:p>
          <a:p>
            <a:pPr indent="0" marL="0">
              <a:spcAft>
                <a:spcPts val="1600"/>
              </a:spcAft>
              <a:buNone/>
            </a:pPr>
            <a:r>
              <a:rPr lang="en-US" sz="1400" dirty="0">
                <a:solidFill>
                  <a:srgbClr val="1D1D1F"/>
                </a:solidFill>
                <a:latin typeface="Arial" pitchFamily="34" charset="0"/>
                <a:ea typeface="Arial" pitchFamily="34" charset="-122"/>
                <a:cs typeface="Arial" pitchFamily="34" charset="-120"/>
              </a:rPr>
              <a:t>Break multi-part work into numbered steps: one concern per prompt</a:t>
            </a:r>
            <a:endParaRPr lang="en-US" sz="1400" dirty="0"/>
          </a:p>
          <a:p>
            <a:pPr indent="0" marL="0">
              <a:spcAft>
                <a:spcPts val="1600"/>
              </a:spcAft>
              <a:buNone/>
            </a:pPr>
            <a:r>
              <a:rPr lang="en-US" sz="1400" dirty="0">
                <a:solidFill>
                  <a:srgbClr val="1D1D1F"/>
                </a:solidFill>
                <a:latin typeface="Arial" pitchFamily="34" charset="0"/>
                <a:ea typeface="Arial" pitchFamily="34" charset="-122"/>
                <a:cs typeface="Arial" pitchFamily="34" charset="-120"/>
              </a:rPr>
              <a:t>Ask for the shape of the output: a diff, a test, a table, a plan first</a:t>
            </a:r>
            <a:endParaRPr lang="en-US" sz="1400" dirty="0"/>
          </a:p>
          <a:p>
            <a:pPr indent="0" marL="0">
              <a:spcAft>
                <a:spcPts val="1600"/>
              </a:spcAft>
              <a:buNone/>
            </a:pPr>
            <a:r>
              <a:rPr lang="en-US" sz="1400" dirty="0">
                <a:solidFill>
                  <a:srgbClr val="1D1D1F"/>
                </a:solidFill>
                <a:latin typeface="Arial" pitchFamily="34" charset="0"/>
                <a:ea typeface="Arial" pitchFamily="34" charset="-122"/>
                <a:cs typeface="Arial" pitchFamily="34" charset="-120"/>
              </a:rPr>
              <a:t>State your conventions explicitly; it cannot guess your codebase</a:t>
            </a:r>
            <a:endParaRPr lang="en-US" sz="1400" dirty="0"/>
          </a:p>
          <a:p>
            <a:pPr indent="0" marL="0">
              <a:spcAft>
                <a:spcPts val="1600"/>
              </a:spcAft>
              <a:buNone/>
            </a:pPr>
            <a:r>
              <a:rPr lang="en-US" sz="1400" b="1" dirty="0">
                <a:solidFill>
                  <a:srgbClr val="1D1D1F"/>
                </a:solidFill>
                <a:latin typeface="Arial" pitchFamily="34" charset="0"/>
                <a:ea typeface="Arial" pitchFamily="34" charset="-122"/>
                <a:cs typeface="Arial" pitchFamily="34" charset="-120"/>
              </a:rPr>
              <a:t>Then read the diff yourself.</a:t>
            </a:r>
            <a:endParaRPr lang="en-US" sz="1400" dirty="0"/>
          </a:p>
        </p:txBody>
      </p:sp>
      <p:sp>
        <p:nvSpPr>
          <p:cNvPr id="6" name="Shape 4"/>
          <p:cNvSpPr/>
          <p:nvPr/>
        </p:nvSpPr>
        <p:spPr>
          <a:xfrm>
            <a:off x="6309360" y="1783080"/>
            <a:ext cx="5056632" cy="3977640"/>
          </a:xfrm>
          <a:prstGeom prst="roundRect">
            <a:avLst>
              <a:gd name="adj" fmla="val 2759"/>
            </a:avLst>
          </a:prstGeom>
          <a:solidFill>
            <a:srgbClr val="F5F5F7"/>
          </a:solidFill>
          <a:ln/>
        </p:spPr>
      </p:sp>
      <p:sp>
        <p:nvSpPr>
          <p:cNvPr id="7" name="Text 5"/>
          <p:cNvSpPr/>
          <p:nvPr/>
        </p:nvSpPr>
        <p:spPr>
          <a:xfrm>
            <a:off x="6720840" y="2103120"/>
            <a:ext cx="4325112" cy="3383280"/>
          </a:xfrm>
          <a:prstGeom prst="rect">
            <a:avLst/>
          </a:prstGeom>
          <a:noFill/>
          <a:ln/>
        </p:spPr>
        <p:txBody>
          <a:bodyPr wrap="square" lIns="0" tIns="0" rIns="0" bIns="0" rtlCol="0" anchor="t"/>
          <a:lstStyle/>
          <a:p>
            <a:pPr indent="0" marL="0">
              <a:lnSpc>
                <a:spcPts val="1900"/>
              </a:lnSpc>
              <a:buNone/>
            </a:pPr>
            <a:r>
              <a:rPr lang="en-US" sz="1050" dirty="0">
                <a:solidFill>
                  <a:srgbClr val="86868B"/>
                </a:solidFill>
                <a:latin typeface="Courier New" pitchFamily="34" charset="0"/>
                <a:ea typeface="Courier New" pitchFamily="34" charset="-122"/>
                <a:cs typeface="Courier New" pitchFamily="34" charset="-120"/>
              </a:rPr>
              <a:t>// Weak</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add pagination to the list</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a:t>
            </a:r>
            <a:endParaRPr lang="en-US" sz="1050" dirty="0"/>
          </a:p>
          <a:p>
            <a:pPr indent="0" marL="0">
              <a:lnSpc>
                <a:spcPts val="1900"/>
              </a:lnSpc>
              <a:buNone/>
            </a:pPr>
            <a:r>
              <a:rPr lang="en-US" sz="1050" dirty="0">
                <a:solidFill>
                  <a:srgbClr val="86868B"/>
                </a:solidFill>
                <a:latin typeface="Courier New" pitchFamily="34" charset="0"/>
                <a:ea typeface="Courier New" pitchFamily="34" charset="-122"/>
                <a:cs typeface="Courier New" pitchFamily="34" charset="-120"/>
              </a:rPr>
              <a:t>// Better</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In lib/ui/feed_page.dart, convert the</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ListView to ListView.builder and paginate:</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20 items per page, fetch the next page when</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the user is 200 px from the bottom, show a</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spinner row while loading.</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Conventions: Dio for HTTP, no setState</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outside a State class, const where possible.</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Add a widget test for the loading row.</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8</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AGENT-ASSISTED CODING</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Review it like any other pull request</a:t>
            </a:r>
            <a:endParaRPr lang="en-US" sz="3000" dirty="0"/>
          </a:p>
        </p:txBody>
      </p:sp>
      <p:pic>
        <p:nvPicPr>
          <p:cNvPr id="5" name="Image 0" descr="/Users/dinu/dev/upb/mobile-and-embedded-computing/slides/assets/icons2/eye-ink.png">    </p:cNvPr>
          <p:cNvPicPr>
            <a:picLocks noChangeAspect="1"/>
          </p:cNvPicPr>
          <p:nvPr/>
        </p:nvPicPr>
        <p:blipFill>
          <a:blip r:embed="rId1"/>
          <a:stretch>
            <a:fillRect/>
          </a:stretch>
        </p:blipFill>
        <p:spPr>
          <a:xfrm>
            <a:off x="822960" y="1828800"/>
            <a:ext cx="384048" cy="384048"/>
          </a:xfrm>
          <a:prstGeom prst="rect">
            <a:avLst/>
          </a:prstGeom>
        </p:spPr>
      </p:pic>
      <p:sp>
        <p:nvSpPr>
          <p:cNvPr id="6" name="Text 3"/>
          <p:cNvSpPr/>
          <p:nvPr/>
        </p:nvSpPr>
        <p:spPr>
          <a:xfrm>
            <a:off x="822960" y="2359152"/>
            <a:ext cx="3383280" cy="457200"/>
          </a:xfrm>
          <a:prstGeom prst="rect">
            <a:avLst/>
          </a:prstGeom>
          <a:noFill/>
          <a:ln/>
        </p:spPr>
        <p:txBody>
          <a:bodyPr wrap="square" lIns="0" tIns="0" rIns="0" bIns="0" rtlCol="0" anchor="ctr"/>
          <a:lstStyle/>
          <a:p>
            <a:pPr indent="0" marL="0">
              <a:buNone/>
            </a:pPr>
            <a:r>
              <a:rPr lang="en-US" sz="1450" b="1" dirty="0">
                <a:solidFill>
                  <a:srgbClr val="1D1D1F"/>
                </a:solidFill>
                <a:latin typeface="Arial" pitchFamily="34" charset="0"/>
                <a:ea typeface="Arial" pitchFamily="34" charset="-122"/>
                <a:cs typeface="Arial" pitchFamily="34" charset="-120"/>
              </a:rPr>
              <a:t>Read every line</a:t>
            </a:r>
            <a:endParaRPr lang="en-US" sz="1450" dirty="0"/>
          </a:p>
        </p:txBody>
      </p:sp>
      <p:sp>
        <p:nvSpPr>
          <p:cNvPr id="7" name="Text 4"/>
          <p:cNvSpPr/>
          <p:nvPr/>
        </p:nvSpPr>
        <p:spPr>
          <a:xfrm>
            <a:off x="822960" y="2816352"/>
            <a:ext cx="3383280" cy="822960"/>
          </a:xfrm>
          <a:prstGeom prst="rect">
            <a:avLst/>
          </a:prstGeom>
          <a:noFill/>
          <a:ln/>
        </p:spPr>
        <p:txBody>
          <a:bodyPr wrap="square" lIns="0" tIns="0" rIns="0" bIns="0" rtlCol="0" anchor="ctr"/>
          <a:lstStyle/>
          <a:p>
            <a:pPr indent="0" marL="0">
              <a:buNone/>
            </a:pPr>
            <a:r>
              <a:rPr lang="en-US" sz="1150" dirty="0">
                <a:solidFill>
                  <a:srgbClr val="86868B"/>
                </a:solidFill>
                <a:latin typeface="Arial" pitchFamily="34" charset="0"/>
                <a:ea typeface="Arial" pitchFamily="34" charset="-122"/>
                <a:cs typeface="Arial" pitchFamily="34" charset="-120"/>
              </a:rPr>
              <a:t>If you cannot explain it in review, you cannot ship it, or defend it at the exam</a:t>
            </a:r>
            <a:endParaRPr lang="en-US" sz="1150" dirty="0"/>
          </a:p>
        </p:txBody>
      </p:sp>
      <p:pic>
        <p:nvPicPr>
          <p:cNvPr id="8" name="Image 1" descr="/Users/dinu/dev/upb/mobile-and-embedded-computing/slides/assets/icons2/shieldalert-ink.png">    </p:cNvPr>
          <p:cNvPicPr>
            <a:picLocks noChangeAspect="1"/>
          </p:cNvPicPr>
          <p:nvPr/>
        </p:nvPicPr>
        <p:blipFill>
          <a:blip r:embed="rId2"/>
          <a:stretch>
            <a:fillRect/>
          </a:stretch>
        </p:blipFill>
        <p:spPr>
          <a:xfrm>
            <a:off x="4663440" y="1828800"/>
            <a:ext cx="384048" cy="384048"/>
          </a:xfrm>
          <a:prstGeom prst="rect">
            <a:avLst/>
          </a:prstGeom>
        </p:spPr>
      </p:pic>
      <p:sp>
        <p:nvSpPr>
          <p:cNvPr id="9" name="Text 5"/>
          <p:cNvSpPr/>
          <p:nvPr/>
        </p:nvSpPr>
        <p:spPr>
          <a:xfrm>
            <a:off x="4663440" y="2359152"/>
            <a:ext cx="3383280" cy="457200"/>
          </a:xfrm>
          <a:prstGeom prst="rect">
            <a:avLst/>
          </a:prstGeom>
          <a:noFill/>
          <a:ln/>
        </p:spPr>
        <p:txBody>
          <a:bodyPr wrap="square" lIns="0" tIns="0" rIns="0" bIns="0" rtlCol="0" anchor="ctr"/>
          <a:lstStyle/>
          <a:p>
            <a:pPr indent="0" marL="0">
              <a:buNone/>
            </a:pPr>
            <a:r>
              <a:rPr lang="en-US" sz="1450" b="1" dirty="0">
                <a:solidFill>
                  <a:srgbClr val="1D1D1F"/>
                </a:solidFill>
                <a:latin typeface="Arial" pitchFamily="34" charset="0"/>
                <a:ea typeface="Arial" pitchFamily="34" charset="-122"/>
                <a:cs typeface="Arial" pitchFamily="34" charset="-120"/>
              </a:rPr>
              <a:t>Check the security surface</a:t>
            </a:r>
            <a:endParaRPr lang="en-US" sz="1450" dirty="0"/>
          </a:p>
        </p:txBody>
      </p:sp>
      <p:sp>
        <p:nvSpPr>
          <p:cNvPr id="10" name="Text 6"/>
          <p:cNvSpPr/>
          <p:nvPr/>
        </p:nvSpPr>
        <p:spPr>
          <a:xfrm>
            <a:off x="4663440" y="2816352"/>
            <a:ext cx="3383280" cy="822960"/>
          </a:xfrm>
          <a:prstGeom prst="rect">
            <a:avLst/>
          </a:prstGeom>
          <a:noFill/>
          <a:ln/>
        </p:spPr>
        <p:txBody>
          <a:bodyPr wrap="square" lIns="0" tIns="0" rIns="0" bIns="0" rtlCol="0" anchor="ctr"/>
          <a:lstStyle/>
          <a:p>
            <a:pPr indent="0" marL="0">
              <a:buNone/>
            </a:pPr>
            <a:r>
              <a:rPr lang="en-US" sz="1150" dirty="0">
                <a:solidFill>
                  <a:srgbClr val="86868B"/>
                </a:solidFill>
                <a:latin typeface="Arial" pitchFamily="34" charset="0"/>
                <a:ea typeface="Arial" pitchFamily="34" charset="-122"/>
                <a:cs typeface="Arial" pitchFamily="34" charset="-120"/>
              </a:rPr>
              <a:t>Hardcoded keys, unvalidated input, permissive database rules (→ Lecture 9)</a:t>
            </a:r>
            <a:endParaRPr lang="en-US" sz="1150" dirty="0"/>
          </a:p>
        </p:txBody>
      </p:sp>
      <p:pic>
        <p:nvPicPr>
          <p:cNvPr id="11" name="Image 2" descr="/Users/dinu/dev/upb/mobile-and-embedded-computing/slides/assets/icons2/bug-ink.png">    </p:cNvPr>
          <p:cNvPicPr>
            <a:picLocks noChangeAspect="1"/>
          </p:cNvPicPr>
          <p:nvPr/>
        </p:nvPicPr>
        <p:blipFill>
          <a:blip r:embed="rId3"/>
          <a:stretch>
            <a:fillRect/>
          </a:stretch>
        </p:blipFill>
        <p:spPr>
          <a:xfrm>
            <a:off x="8503920" y="1828800"/>
            <a:ext cx="384048" cy="384048"/>
          </a:xfrm>
          <a:prstGeom prst="rect">
            <a:avLst/>
          </a:prstGeom>
        </p:spPr>
      </p:pic>
      <p:sp>
        <p:nvSpPr>
          <p:cNvPr id="12" name="Text 7"/>
          <p:cNvSpPr/>
          <p:nvPr/>
        </p:nvSpPr>
        <p:spPr>
          <a:xfrm>
            <a:off x="8503920" y="2359152"/>
            <a:ext cx="3383280" cy="457200"/>
          </a:xfrm>
          <a:prstGeom prst="rect">
            <a:avLst/>
          </a:prstGeom>
          <a:noFill/>
          <a:ln/>
        </p:spPr>
        <p:txBody>
          <a:bodyPr wrap="square" lIns="0" tIns="0" rIns="0" bIns="0" rtlCol="0" anchor="ctr"/>
          <a:lstStyle/>
          <a:p>
            <a:pPr indent="0" marL="0">
              <a:buNone/>
            </a:pPr>
            <a:r>
              <a:rPr lang="en-US" sz="1450" b="1" dirty="0">
                <a:solidFill>
                  <a:srgbClr val="1D1D1F"/>
                </a:solidFill>
                <a:latin typeface="Arial" pitchFamily="34" charset="0"/>
                <a:ea typeface="Arial" pitchFamily="34" charset="-122"/>
                <a:cs typeface="Arial" pitchFamily="34" charset="-120"/>
              </a:rPr>
              <a:t>Test the edges</a:t>
            </a:r>
            <a:endParaRPr lang="en-US" sz="1450" dirty="0"/>
          </a:p>
        </p:txBody>
      </p:sp>
      <p:sp>
        <p:nvSpPr>
          <p:cNvPr id="13" name="Text 8"/>
          <p:cNvSpPr/>
          <p:nvPr/>
        </p:nvSpPr>
        <p:spPr>
          <a:xfrm>
            <a:off x="8503920" y="2816352"/>
            <a:ext cx="3383280" cy="822960"/>
          </a:xfrm>
          <a:prstGeom prst="rect">
            <a:avLst/>
          </a:prstGeom>
          <a:noFill/>
          <a:ln/>
        </p:spPr>
        <p:txBody>
          <a:bodyPr wrap="square" lIns="0" tIns="0" rIns="0" bIns="0" rtlCol="0" anchor="ctr"/>
          <a:lstStyle/>
          <a:p>
            <a:pPr indent="0" marL="0">
              <a:buNone/>
            </a:pPr>
            <a:r>
              <a:rPr lang="en-US" sz="1150" dirty="0">
                <a:solidFill>
                  <a:srgbClr val="86868B"/>
                </a:solidFill>
                <a:latin typeface="Arial" pitchFamily="34" charset="0"/>
                <a:ea typeface="Arial" pitchFamily="34" charset="-122"/>
                <a:cs typeface="Arial" pitchFamily="34" charset="-120"/>
              </a:rPr>
              <a:t>Empty list, no network, expired token: the paths nobody thought to ask for</a:t>
            </a:r>
            <a:endParaRPr lang="en-US" sz="1150" dirty="0"/>
          </a:p>
        </p:txBody>
      </p:sp>
      <p:pic>
        <p:nvPicPr>
          <p:cNvPr id="14" name="Image 3" descr="/Users/dinu/dev/upb/mobile-and-embedded-computing/slides/assets/icons2/history-ink.png">    </p:cNvPr>
          <p:cNvPicPr>
            <a:picLocks noChangeAspect="1"/>
          </p:cNvPicPr>
          <p:nvPr/>
        </p:nvPicPr>
        <p:blipFill>
          <a:blip r:embed="rId4"/>
          <a:stretch>
            <a:fillRect/>
          </a:stretch>
        </p:blipFill>
        <p:spPr>
          <a:xfrm>
            <a:off x="822960" y="3931920"/>
            <a:ext cx="384048" cy="384048"/>
          </a:xfrm>
          <a:prstGeom prst="rect">
            <a:avLst/>
          </a:prstGeom>
        </p:spPr>
      </p:pic>
      <p:sp>
        <p:nvSpPr>
          <p:cNvPr id="15" name="Text 9"/>
          <p:cNvSpPr/>
          <p:nvPr/>
        </p:nvSpPr>
        <p:spPr>
          <a:xfrm>
            <a:off x="822960" y="4462272"/>
            <a:ext cx="3383280" cy="457200"/>
          </a:xfrm>
          <a:prstGeom prst="rect">
            <a:avLst/>
          </a:prstGeom>
          <a:noFill/>
          <a:ln/>
        </p:spPr>
        <p:txBody>
          <a:bodyPr wrap="square" lIns="0" tIns="0" rIns="0" bIns="0" rtlCol="0" anchor="ctr"/>
          <a:lstStyle/>
          <a:p>
            <a:pPr indent="0" marL="0">
              <a:buNone/>
            </a:pPr>
            <a:r>
              <a:rPr lang="en-US" sz="1450" b="1" dirty="0">
                <a:solidFill>
                  <a:srgbClr val="1D1D1F"/>
                </a:solidFill>
                <a:latin typeface="Arial" pitchFamily="34" charset="0"/>
                <a:ea typeface="Arial" pitchFamily="34" charset="-122"/>
                <a:cs typeface="Arial" pitchFamily="34" charset="-120"/>
              </a:rPr>
              <a:t>Check the API is current</a:t>
            </a:r>
            <a:endParaRPr lang="en-US" sz="1450" dirty="0"/>
          </a:p>
        </p:txBody>
      </p:sp>
      <p:sp>
        <p:nvSpPr>
          <p:cNvPr id="16" name="Text 10"/>
          <p:cNvSpPr/>
          <p:nvPr/>
        </p:nvSpPr>
        <p:spPr>
          <a:xfrm>
            <a:off x="822960" y="4919472"/>
            <a:ext cx="3383280" cy="822960"/>
          </a:xfrm>
          <a:prstGeom prst="rect">
            <a:avLst/>
          </a:prstGeom>
          <a:noFill/>
          <a:ln/>
        </p:spPr>
        <p:txBody>
          <a:bodyPr wrap="square" lIns="0" tIns="0" rIns="0" bIns="0" rtlCol="0" anchor="ctr"/>
          <a:lstStyle/>
          <a:p>
            <a:pPr indent="0" marL="0">
              <a:buNone/>
            </a:pPr>
            <a:r>
              <a:rPr lang="en-US" sz="1150" dirty="0">
                <a:solidFill>
                  <a:srgbClr val="86868B"/>
                </a:solidFill>
                <a:latin typeface="Arial" pitchFamily="34" charset="0"/>
                <a:ea typeface="Arial" pitchFamily="34" charset="-122"/>
                <a:cs typeface="Arial" pitchFamily="34" charset="-120"/>
              </a:rPr>
              <a:t>Models learn from old docs: firebase_ai, not the deprecated google_generative_ai</a:t>
            </a:r>
            <a:endParaRPr lang="en-US" sz="1150" dirty="0"/>
          </a:p>
        </p:txBody>
      </p:sp>
      <p:pic>
        <p:nvPicPr>
          <p:cNvPr id="17" name="Image 4" descr="/Users/dinu/dev/upb/mobile-and-embedded-computing/slides/assets/icons2/gitpr-ink.png">    </p:cNvPr>
          <p:cNvPicPr>
            <a:picLocks noChangeAspect="1"/>
          </p:cNvPicPr>
          <p:nvPr/>
        </p:nvPicPr>
        <p:blipFill>
          <a:blip r:embed="rId5"/>
          <a:stretch>
            <a:fillRect/>
          </a:stretch>
        </p:blipFill>
        <p:spPr>
          <a:xfrm>
            <a:off x="4663440" y="3931920"/>
            <a:ext cx="384048" cy="384048"/>
          </a:xfrm>
          <a:prstGeom prst="rect">
            <a:avLst/>
          </a:prstGeom>
        </p:spPr>
      </p:pic>
      <p:sp>
        <p:nvSpPr>
          <p:cNvPr id="18" name="Text 11"/>
          <p:cNvSpPr/>
          <p:nvPr/>
        </p:nvSpPr>
        <p:spPr>
          <a:xfrm>
            <a:off x="4663440" y="4462272"/>
            <a:ext cx="3383280" cy="457200"/>
          </a:xfrm>
          <a:prstGeom prst="rect">
            <a:avLst/>
          </a:prstGeom>
          <a:noFill/>
          <a:ln/>
        </p:spPr>
        <p:txBody>
          <a:bodyPr wrap="square" lIns="0" tIns="0" rIns="0" bIns="0" rtlCol="0" anchor="ctr"/>
          <a:lstStyle/>
          <a:p>
            <a:pPr indent="0" marL="0">
              <a:buNone/>
            </a:pPr>
            <a:r>
              <a:rPr lang="en-US" sz="1450" b="1" dirty="0">
                <a:solidFill>
                  <a:srgbClr val="1D1D1F"/>
                </a:solidFill>
                <a:latin typeface="Arial" pitchFamily="34" charset="0"/>
                <a:ea typeface="Arial" pitchFamily="34" charset="-122"/>
                <a:cs typeface="Arial" pitchFamily="34" charset="-120"/>
              </a:rPr>
              <a:t>Keep the slices small</a:t>
            </a:r>
            <a:endParaRPr lang="en-US" sz="1450" dirty="0"/>
          </a:p>
        </p:txBody>
      </p:sp>
      <p:sp>
        <p:nvSpPr>
          <p:cNvPr id="19" name="Text 12"/>
          <p:cNvSpPr/>
          <p:nvPr/>
        </p:nvSpPr>
        <p:spPr>
          <a:xfrm>
            <a:off x="4663440" y="4919472"/>
            <a:ext cx="3383280" cy="822960"/>
          </a:xfrm>
          <a:prstGeom prst="rect">
            <a:avLst/>
          </a:prstGeom>
          <a:noFill/>
          <a:ln/>
        </p:spPr>
        <p:txBody>
          <a:bodyPr wrap="square" lIns="0" tIns="0" rIns="0" bIns="0" rtlCol="0" anchor="ctr"/>
          <a:lstStyle/>
          <a:p>
            <a:pPr indent="0" marL="0">
              <a:buNone/>
            </a:pPr>
            <a:r>
              <a:rPr lang="en-US" sz="1150" dirty="0">
                <a:solidFill>
                  <a:srgbClr val="86868B"/>
                </a:solidFill>
                <a:latin typeface="Arial" pitchFamily="34" charset="0"/>
                <a:ea typeface="Arial" pitchFamily="34" charset="-122"/>
                <a:cs typeface="Arial" pitchFamily="34" charset="-120"/>
              </a:rPr>
              <a:t>One concern per branch and PR; generated code is only reviewable in slices</a:t>
            </a:r>
            <a:endParaRPr lang="en-US" sz="1150" dirty="0"/>
          </a:p>
        </p:txBody>
      </p:sp>
      <p:pic>
        <p:nvPicPr>
          <p:cNvPr id="20" name="Image 5" descr="/Users/dinu/dev/upb/mobile-and-embedded-computing/slides/assets/icons2/users-ink.png">    </p:cNvPr>
          <p:cNvPicPr>
            <a:picLocks noChangeAspect="1"/>
          </p:cNvPicPr>
          <p:nvPr/>
        </p:nvPicPr>
        <p:blipFill>
          <a:blip r:embed="rId6"/>
          <a:stretch>
            <a:fillRect/>
          </a:stretch>
        </p:blipFill>
        <p:spPr>
          <a:xfrm>
            <a:off x="8503920" y="3931920"/>
            <a:ext cx="384048" cy="384048"/>
          </a:xfrm>
          <a:prstGeom prst="rect">
            <a:avLst/>
          </a:prstGeom>
        </p:spPr>
      </p:pic>
      <p:sp>
        <p:nvSpPr>
          <p:cNvPr id="21" name="Text 13"/>
          <p:cNvSpPr/>
          <p:nvPr/>
        </p:nvSpPr>
        <p:spPr>
          <a:xfrm>
            <a:off x="8503920" y="4462272"/>
            <a:ext cx="3383280" cy="457200"/>
          </a:xfrm>
          <a:prstGeom prst="rect">
            <a:avLst/>
          </a:prstGeom>
          <a:noFill/>
          <a:ln/>
        </p:spPr>
        <p:txBody>
          <a:bodyPr wrap="square" lIns="0" tIns="0" rIns="0" bIns="0" rtlCol="0" anchor="ctr"/>
          <a:lstStyle/>
          <a:p>
            <a:pPr indent="0" marL="0">
              <a:buNone/>
            </a:pPr>
            <a:r>
              <a:rPr lang="en-US" sz="1450" b="1" dirty="0">
                <a:solidFill>
                  <a:srgbClr val="1D1D1F"/>
                </a:solidFill>
                <a:latin typeface="Arial" pitchFamily="34" charset="0"/>
                <a:ea typeface="Arial" pitchFamily="34" charset="-122"/>
                <a:cs typeface="Arial" pitchFamily="34" charset="-120"/>
              </a:rPr>
              <a:t>You own it</a:t>
            </a:r>
            <a:endParaRPr lang="en-US" sz="1450" dirty="0"/>
          </a:p>
        </p:txBody>
      </p:sp>
      <p:sp>
        <p:nvSpPr>
          <p:cNvPr id="22" name="Text 14"/>
          <p:cNvSpPr/>
          <p:nvPr/>
        </p:nvSpPr>
        <p:spPr>
          <a:xfrm>
            <a:off x="8503920" y="4919472"/>
            <a:ext cx="3383280" cy="822960"/>
          </a:xfrm>
          <a:prstGeom prst="rect">
            <a:avLst/>
          </a:prstGeom>
          <a:noFill/>
          <a:ln/>
        </p:spPr>
        <p:txBody>
          <a:bodyPr wrap="square" lIns="0" tIns="0" rIns="0" bIns="0" rtlCol="0" anchor="ctr"/>
          <a:lstStyle/>
          <a:p>
            <a:pPr indent="0" marL="0">
              <a:buNone/>
            </a:pPr>
            <a:r>
              <a:rPr lang="en-US" sz="1150" dirty="0">
                <a:solidFill>
                  <a:srgbClr val="86868B"/>
                </a:solidFill>
                <a:latin typeface="Arial" pitchFamily="34" charset="0"/>
                <a:ea typeface="Arial" pitchFamily="34" charset="-122"/>
                <a:cs typeface="Arial" pitchFamily="34" charset="-120"/>
              </a:rPr>
              <a:t>“The agent wrote it” is not a defense in code review, and not one here either</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731520" y="2514600"/>
            <a:ext cx="10725912" cy="320040"/>
          </a:xfrm>
          <a:prstGeom prst="rect">
            <a:avLst/>
          </a:prstGeom>
          <a:noFill/>
          <a:ln/>
        </p:spPr>
        <p:txBody>
          <a:bodyPr wrap="square" lIns="0" tIns="0" rIns="0" bIns="0" rtlCol="0" anchor="ctr"/>
          <a:lstStyle/>
          <a:p>
            <a:pPr algn="ctr" indent="0" marL="0">
              <a:buNone/>
            </a:pPr>
            <a:r>
              <a:rPr lang="en-US" sz="1200" spc="400" kern="0" dirty="0">
                <a:solidFill>
                  <a:srgbClr val="6E6E73"/>
                </a:solidFill>
                <a:latin typeface="Arial" pitchFamily="34" charset="0"/>
                <a:ea typeface="Arial" pitchFamily="34" charset="-122"/>
                <a:cs typeface="Arial" pitchFamily="34" charset="-120"/>
              </a:rPr>
              <a:t>FLUTTER WIDGETS</a:t>
            </a:r>
            <a:endParaRPr lang="en-US" sz="1200" dirty="0"/>
          </a:p>
        </p:txBody>
      </p:sp>
      <p:sp>
        <p:nvSpPr>
          <p:cNvPr id="3" name="Text 1"/>
          <p:cNvSpPr/>
          <p:nvPr/>
        </p:nvSpPr>
        <p:spPr>
          <a:xfrm>
            <a:off x="731520" y="2926080"/>
            <a:ext cx="10725912" cy="77724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Everything is a widget</a:t>
            </a:r>
            <a:endParaRPr lang="en-US" sz="3600" dirty="0"/>
          </a:p>
        </p:txBody>
      </p:sp>
      <p:sp>
        <p:nvSpPr>
          <p:cNvPr id="4" name="Text 2"/>
          <p:cNvSpPr/>
          <p:nvPr/>
        </p:nvSpPr>
        <p:spPr>
          <a:xfrm>
            <a:off x="731520" y="3794760"/>
            <a:ext cx="10725912" cy="411480"/>
          </a:xfrm>
          <a:prstGeom prst="rect">
            <a:avLst/>
          </a:prstGeom>
          <a:noFill/>
          <a:ln/>
        </p:spPr>
        <p:txBody>
          <a:bodyPr wrap="square" lIns="0" tIns="0" rIns="0" bIns="0" rtlCol="0" anchor="ctr"/>
          <a:lstStyle/>
          <a:p>
            <a:pPr algn="ctr" indent="0" marL="0">
              <a:buNone/>
            </a:pPr>
            <a:r>
              <a:rPr lang="en-US" sz="1500" dirty="0">
                <a:solidFill>
                  <a:srgbClr val="A1A1A6"/>
                </a:solidFill>
                <a:latin typeface="Arial" pitchFamily="34" charset="0"/>
                <a:ea typeface="Arial" pitchFamily="34" charset="-122"/>
                <a:cs typeface="Arial" pitchFamily="34" charset="-120"/>
              </a:rPr>
              <a:t>The tree, composition, state, and what actually rebuilds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10</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FLUTTER WIDGETS</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Everything is a widget, and three trees</a:t>
            </a:r>
            <a:endParaRPr lang="en-US" sz="3000" dirty="0"/>
          </a:p>
        </p:txBody>
      </p:sp>
      <p:sp>
        <p:nvSpPr>
          <p:cNvPr id="5" name="Text 3"/>
          <p:cNvSpPr/>
          <p:nvPr/>
        </p:nvSpPr>
        <p:spPr>
          <a:xfrm>
            <a:off x="822960" y="1783080"/>
            <a:ext cx="6492240" cy="3291840"/>
          </a:xfrm>
          <a:prstGeom prst="rect">
            <a:avLst/>
          </a:prstGeom>
          <a:noFill/>
          <a:ln/>
        </p:spPr>
        <p:txBody>
          <a:bodyPr wrap="square" lIns="0" tIns="0" rIns="0" bIns="0" rtlCol="0" anchor="t"/>
          <a:lstStyle/>
          <a:p>
            <a:pPr indent="0" marL="0">
              <a:spcAft>
                <a:spcPts val="1500"/>
              </a:spcAft>
              <a:buNone/>
            </a:pPr>
            <a:r>
              <a:rPr lang="en-US" sz="1400" dirty="0">
                <a:solidFill>
                  <a:srgbClr val="1D1D1F"/>
                </a:solidFill>
                <a:latin typeface="Arial" pitchFamily="34" charset="0"/>
                <a:ea typeface="Arial" pitchFamily="34" charset="-122"/>
                <a:cs typeface="Arial" pitchFamily="34" charset="-120"/>
              </a:rPr>
              <a:t>A widget is an immutable description of a piece of UI. Cheap to create, created and thrown away constantly.</a:t>
            </a:r>
            <a:endParaRPr lang="en-US" sz="1400" dirty="0"/>
          </a:p>
          <a:p>
            <a:pPr indent="0" marL="0">
              <a:spcAft>
                <a:spcPts val="1500"/>
              </a:spcAft>
              <a:buNone/>
            </a:pPr>
            <a:r>
              <a:rPr lang="en-US" sz="1400" dirty="0">
                <a:solidFill>
                  <a:srgbClr val="1D1D1F"/>
                </a:solidFill>
                <a:latin typeface="Arial" pitchFamily="34" charset="0"/>
                <a:ea typeface="Arial" pitchFamily="34" charset="-122"/>
                <a:cs typeface="Arial" pitchFamily="34" charset="-120"/>
              </a:rPr>
              <a:t>You compose them: a Scaffold holds a Column, which holds a Text and an ElevatedButton. That nesting is the widget tree.</a:t>
            </a:r>
            <a:endParaRPr lang="en-US" sz="1400" dirty="0"/>
          </a:p>
          <a:p>
            <a:pPr indent="0" marL="0">
              <a:spcAft>
                <a:spcPts val="1500"/>
              </a:spcAft>
              <a:buNone/>
            </a:pPr>
            <a:r>
              <a:rPr lang="en-US" sz="1400" dirty="0">
                <a:solidFill>
                  <a:srgbClr val="1D1D1F"/>
                </a:solidFill>
                <a:latin typeface="Arial" pitchFamily="34" charset="0"/>
                <a:ea typeface="Arial" pitchFamily="34" charset="-122"/>
                <a:cs typeface="Arial" pitchFamily="34" charset="-120"/>
              </a:rPr>
              <a:t>Behind it Flutter keeps two more. The element tree is the live instance graph: it holds State. The render tree does layout, paint and hit-testing.</a:t>
            </a:r>
            <a:endParaRPr lang="en-US" sz="1400" dirty="0"/>
          </a:p>
          <a:p>
            <a:pPr indent="0" marL="0">
              <a:spcAft>
                <a:spcPts val="1500"/>
              </a:spcAft>
              <a:buNone/>
            </a:pPr>
            <a:r>
              <a:rPr lang="en-US" sz="1400" dirty="0">
                <a:solidFill>
                  <a:srgbClr val="1D1D1F"/>
                </a:solidFill>
                <a:latin typeface="Arial" pitchFamily="34" charset="0"/>
                <a:ea typeface="Arial" pitchFamily="34" charset="-122"/>
                <a:cs typeface="Arial" pitchFamily="34" charset="-120"/>
              </a:rPr>
              <a:t>You write the first tree. Flutter maintains the other two.</a:t>
            </a:r>
            <a:endParaRPr lang="en-US" sz="1400" dirty="0"/>
          </a:p>
        </p:txBody>
      </p:sp>
      <p:sp>
        <p:nvSpPr>
          <p:cNvPr id="6" name="Shape 4"/>
          <p:cNvSpPr/>
          <p:nvPr/>
        </p:nvSpPr>
        <p:spPr>
          <a:xfrm>
            <a:off x="7772400" y="1828800"/>
            <a:ext cx="3749040" cy="914400"/>
          </a:xfrm>
          <a:prstGeom prst="roundRect">
            <a:avLst>
              <a:gd name="adj" fmla="val 9000"/>
            </a:avLst>
          </a:prstGeom>
          <a:solidFill>
            <a:srgbClr val="FFFFFF"/>
          </a:solidFill>
          <a:ln w="12700">
            <a:solidFill>
              <a:srgbClr val="D2D2D7"/>
            </a:solidFill>
            <a:prstDash val="solid"/>
          </a:ln>
        </p:spPr>
      </p:sp>
      <p:sp>
        <p:nvSpPr>
          <p:cNvPr id="7" name="Text 5"/>
          <p:cNvSpPr/>
          <p:nvPr/>
        </p:nvSpPr>
        <p:spPr>
          <a:xfrm>
            <a:off x="7772400" y="1828800"/>
            <a:ext cx="3749040" cy="914400"/>
          </a:xfrm>
          <a:prstGeom prst="rect">
            <a:avLst/>
          </a:prstGeom>
          <a:noFill/>
          <a:ln/>
        </p:spPr>
        <p:txBody>
          <a:bodyPr wrap="square" lIns="0" tIns="0" rIns="0" bIns="0" rtlCol="0" anchor="ctr"/>
          <a:lstStyle/>
          <a:p>
            <a:pPr algn="ctr" indent="0" marL="0">
              <a:buNone/>
            </a:pPr>
            <a:r>
              <a:rPr lang="en-US" sz="1350" b="1" dirty="0">
                <a:solidFill>
                  <a:srgbClr val="1D1D1F"/>
                </a:solidFill>
                <a:latin typeface="Arial" pitchFamily="34" charset="0"/>
                <a:ea typeface="Arial" pitchFamily="34" charset="-122"/>
                <a:cs typeface="Arial" pitchFamily="34" charset="-120"/>
              </a:rPr>
              <a:t>Widget</a:t>
            </a:r>
            <a:endParaRPr lang="en-US" sz="1350" dirty="0"/>
          </a:p>
          <a:p>
            <a:pPr algn="ctr" indent="0" marL="0">
              <a:buNone/>
            </a:pPr>
            <a:r>
              <a:rPr lang="en-US" sz="1100" dirty="0">
                <a:solidFill>
                  <a:srgbClr val="86868B"/>
                </a:solidFill>
                <a:latin typeface="Arial" pitchFamily="34" charset="0"/>
                <a:ea typeface="Arial" pitchFamily="34" charset="-122"/>
                <a:cs typeface="Arial" pitchFamily="34" charset="-120"/>
              </a:rPr>
              <a:t>immutable config, rebuilt freely</a:t>
            </a:r>
            <a:endParaRPr lang="en-US" sz="1350" dirty="0"/>
          </a:p>
        </p:txBody>
      </p:sp>
      <p:sp>
        <p:nvSpPr>
          <p:cNvPr id="8" name="Shape 6"/>
          <p:cNvSpPr/>
          <p:nvPr/>
        </p:nvSpPr>
        <p:spPr>
          <a:xfrm>
            <a:off x="9646920" y="2743200"/>
            <a:ext cx="0" cy="347472"/>
          </a:xfrm>
          <a:prstGeom prst="line">
            <a:avLst/>
          </a:prstGeom>
          <a:noFill/>
          <a:ln w="15875">
            <a:solidFill>
              <a:srgbClr val="86868B"/>
            </a:solidFill>
            <a:prstDash val="solid"/>
            <a:tailEnd type="triangle"/>
          </a:ln>
        </p:spPr>
      </p:sp>
      <p:sp>
        <p:nvSpPr>
          <p:cNvPr id="9" name="Shape 7"/>
          <p:cNvSpPr/>
          <p:nvPr/>
        </p:nvSpPr>
        <p:spPr>
          <a:xfrm>
            <a:off x="7772400" y="3090672"/>
            <a:ext cx="3749040" cy="914400"/>
          </a:xfrm>
          <a:prstGeom prst="roundRect">
            <a:avLst>
              <a:gd name="adj" fmla="val 9000"/>
            </a:avLst>
          </a:prstGeom>
          <a:solidFill>
            <a:srgbClr val="000000"/>
          </a:solidFill>
          <a:ln/>
        </p:spPr>
      </p:sp>
      <p:sp>
        <p:nvSpPr>
          <p:cNvPr id="10" name="Text 8"/>
          <p:cNvSpPr/>
          <p:nvPr/>
        </p:nvSpPr>
        <p:spPr>
          <a:xfrm>
            <a:off x="7772400" y="3090672"/>
            <a:ext cx="3749040" cy="914400"/>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Element</a:t>
            </a:r>
            <a:endParaRPr lang="en-US" sz="1350" dirty="0"/>
          </a:p>
          <a:p>
            <a:pPr algn="ctr" indent="0" marL="0">
              <a:buNone/>
            </a:pPr>
            <a:r>
              <a:rPr lang="en-US" sz="1100" dirty="0">
                <a:solidFill>
                  <a:srgbClr val="A1A1A6"/>
                </a:solidFill>
                <a:latin typeface="Arial" pitchFamily="34" charset="0"/>
                <a:ea typeface="Arial" pitchFamily="34" charset="-122"/>
                <a:cs typeface="Arial" pitchFamily="34" charset="-120"/>
              </a:rPr>
              <a:t>the live tree, holds State</a:t>
            </a:r>
            <a:endParaRPr lang="en-US" sz="1350" dirty="0"/>
          </a:p>
        </p:txBody>
      </p:sp>
      <p:sp>
        <p:nvSpPr>
          <p:cNvPr id="11" name="Shape 9"/>
          <p:cNvSpPr/>
          <p:nvPr/>
        </p:nvSpPr>
        <p:spPr>
          <a:xfrm>
            <a:off x="9646920" y="4005072"/>
            <a:ext cx="0" cy="347472"/>
          </a:xfrm>
          <a:prstGeom prst="line">
            <a:avLst/>
          </a:prstGeom>
          <a:noFill/>
          <a:ln w="15875">
            <a:solidFill>
              <a:srgbClr val="86868B"/>
            </a:solidFill>
            <a:prstDash val="solid"/>
            <a:tailEnd type="triangle"/>
          </a:ln>
        </p:spPr>
      </p:sp>
      <p:sp>
        <p:nvSpPr>
          <p:cNvPr id="12" name="Shape 10"/>
          <p:cNvSpPr/>
          <p:nvPr/>
        </p:nvSpPr>
        <p:spPr>
          <a:xfrm>
            <a:off x="7772400" y="4352544"/>
            <a:ext cx="3749040" cy="914400"/>
          </a:xfrm>
          <a:prstGeom prst="roundRect">
            <a:avLst>
              <a:gd name="adj" fmla="val 9000"/>
            </a:avLst>
          </a:prstGeom>
          <a:solidFill>
            <a:srgbClr val="FFFFFF"/>
          </a:solidFill>
          <a:ln w="12700">
            <a:solidFill>
              <a:srgbClr val="D2D2D7"/>
            </a:solidFill>
            <a:prstDash val="solid"/>
          </a:ln>
        </p:spPr>
      </p:sp>
      <p:sp>
        <p:nvSpPr>
          <p:cNvPr id="13" name="Text 11"/>
          <p:cNvSpPr/>
          <p:nvPr/>
        </p:nvSpPr>
        <p:spPr>
          <a:xfrm>
            <a:off x="7772400" y="4352544"/>
            <a:ext cx="3749040" cy="914400"/>
          </a:xfrm>
          <a:prstGeom prst="rect">
            <a:avLst/>
          </a:prstGeom>
          <a:noFill/>
          <a:ln/>
        </p:spPr>
        <p:txBody>
          <a:bodyPr wrap="square" lIns="0" tIns="0" rIns="0" bIns="0" rtlCol="0" anchor="ctr"/>
          <a:lstStyle/>
          <a:p>
            <a:pPr algn="ctr" indent="0" marL="0">
              <a:buNone/>
            </a:pPr>
            <a:r>
              <a:rPr lang="en-US" sz="1350" b="1" dirty="0">
                <a:solidFill>
                  <a:srgbClr val="1D1D1F"/>
                </a:solidFill>
                <a:latin typeface="Arial" pitchFamily="34" charset="0"/>
                <a:ea typeface="Arial" pitchFamily="34" charset="-122"/>
                <a:cs typeface="Arial" pitchFamily="34" charset="-120"/>
              </a:rPr>
              <a:t>RenderObject</a:t>
            </a:r>
            <a:endParaRPr lang="en-US" sz="1350" dirty="0"/>
          </a:p>
          <a:p>
            <a:pPr algn="ctr" indent="0" marL="0">
              <a:buNone/>
            </a:pPr>
            <a:r>
              <a:rPr lang="en-US" sz="1100" dirty="0">
                <a:solidFill>
                  <a:srgbClr val="86868B"/>
                </a:solidFill>
                <a:latin typeface="Arial" pitchFamily="34" charset="0"/>
                <a:ea typeface="Arial" pitchFamily="34" charset="-122"/>
                <a:cs typeface="Arial" pitchFamily="34" charset="-120"/>
              </a:rPr>
              <a:t>layout · paint · hit-test</a:t>
            </a:r>
            <a:endParaRPr lang="en-US" sz="1350" dirty="0"/>
          </a:p>
        </p:txBody>
      </p:sp>
      <p:sp>
        <p:nvSpPr>
          <p:cNvPr id="14" name="Shape 12"/>
          <p:cNvSpPr/>
          <p:nvPr/>
        </p:nvSpPr>
        <p:spPr>
          <a:xfrm>
            <a:off x="822960" y="5212080"/>
            <a:ext cx="6492240" cy="0"/>
          </a:xfrm>
          <a:prstGeom prst="line">
            <a:avLst/>
          </a:prstGeom>
          <a:noFill/>
          <a:ln w="9525">
            <a:solidFill>
              <a:srgbClr val="D2D2D7"/>
            </a:solidFill>
            <a:prstDash val="solid"/>
          </a:ln>
        </p:spPr>
      </p:sp>
      <p:sp>
        <p:nvSpPr>
          <p:cNvPr id="15" name="Text 13"/>
          <p:cNvSpPr/>
          <p:nvPr/>
        </p:nvSpPr>
        <p:spPr>
          <a:xfrm>
            <a:off x="822960" y="5440680"/>
            <a:ext cx="6492240" cy="64008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Rebuilding a widget is not redrawing the screen.</a:t>
            </a:r>
            <a:pPr indent="0" marL="0">
              <a:buNone/>
            </a:pPr>
            <a:r>
              <a:rPr lang="en-US" sz="1400" dirty="0">
                <a:solidFill>
                  <a:srgbClr val="86868B"/>
                </a:solidFill>
                <a:latin typeface="Arial" pitchFamily="34" charset="0"/>
                <a:ea typeface="Arial" pitchFamily="34" charset="-122"/>
                <a:cs typeface="Arial" pitchFamily="34" charset="-120"/>
              </a:rPr>
              <a:t> It is handing Flutter a new description of what the screen should be.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11</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FLUTTER WIDGETS</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Composition, not inheritance</a:t>
            </a:r>
            <a:endParaRPr lang="en-US" sz="3000" dirty="0"/>
          </a:p>
        </p:txBody>
      </p:sp>
      <p:sp>
        <p:nvSpPr>
          <p:cNvPr id="5" name="Shape 3"/>
          <p:cNvSpPr/>
          <p:nvPr/>
        </p:nvSpPr>
        <p:spPr>
          <a:xfrm>
            <a:off x="822960" y="1783080"/>
            <a:ext cx="6217920" cy="3611880"/>
          </a:xfrm>
          <a:prstGeom prst="roundRect">
            <a:avLst>
              <a:gd name="adj" fmla="val 3038"/>
            </a:avLst>
          </a:prstGeom>
          <a:solidFill>
            <a:srgbClr val="F5F5F7"/>
          </a:solidFill>
          <a:ln/>
        </p:spPr>
      </p:sp>
      <p:sp>
        <p:nvSpPr>
          <p:cNvPr id="6" name="Text 4"/>
          <p:cNvSpPr/>
          <p:nvPr/>
        </p:nvSpPr>
        <p:spPr>
          <a:xfrm>
            <a:off x="1234440" y="2103120"/>
            <a:ext cx="5486400" cy="3017520"/>
          </a:xfrm>
          <a:prstGeom prst="rect">
            <a:avLst/>
          </a:prstGeom>
          <a:noFill/>
          <a:ln/>
        </p:spPr>
        <p:txBody>
          <a:bodyPr wrap="square" lIns="0" tIns="0" rIns="0" bIns="0" rtlCol="0" anchor="t"/>
          <a:lstStyle/>
          <a:p>
            <a:pPr indent="0" marL="0">
              <a:lnSpc>
                <a:spcPts val="2100"/>
              </a:lnSpc>
              <a:buNone/>
            </a:pPr>
            <a:r>
              <a:rPr lang="en-US" sz="1150" dirty="0">
                <a:solidFill>
                  <a:srgbClr val="86868B"/>
                </a:solidFill>
                <a:latin typeface="Courier New" pitchFamily="34" charset="0"/>
                <a:ea typeface="Courier New" pitchFamily="34" charset="-122"/>
                <a:cs typeface="Courier New" pitchFamily="34" charset="-120"/>
              </a:rPr>
              <a:t>// You do not subclass Text to give it padding</a:t>
            </a:r>
            <a:endParaRPr lang="en-US" sz="1150" dirty="0"/>
          </a:p>
          <a:p>
            <a:pPr indent="0" marL="0">
              <a:lnSpc>
                <a:spcPts val="2100"/>
              </a:lnSpc>
              <a:buNone/>
            </a:pPr>
            <a:r>
              <a:rPr lang="en-US" sz="1150" dirty="0">
                <a:solidFill>
                  <a:srgbClr val="86868B"/>
                </a:solidFill>
                <a:latin typeface="Courier New" pitchFamily="34" charset="0"/>
                <a:ea typeface="Courier New" pitchFamily="34" charset="-122"/>
                <a:cs typeface="Courier New" pitchFamily="34" charset="-120"/>
              </a:rPr>
              <a:t>// and a border. You wrap it.</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 </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Padding(</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  padding: const EdgeInsets.all(16),</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  child: DecoratedBox(</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    decoration: BoxDecoration(</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      border: Border.all(color: Colors.black12),</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    ),</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    child: const Text('Hello'),</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  ),</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a:t>
            </a:r>
            <a:endParaRPr lang="en-US" sz="1150" dirty="0"/>
          </a:p>
        </p:txBody>
      </p:sp>
      <p:sp>
        <p:nvSpPr>
          <p:cNvPr id="7" name="Text 5"/>
          <p:cNvSpPr/>
          <p:nvPr/>
        </p:nvSpPr>
        <p:spPr>
          <a:xfrm>
            <a:off x="7315200" y="1783080"/>
            <a:ext cx="4050792" cy="3657600"/>
          </a:xfrm>
          <a:prstGeom prst="rect">
            <a:avLst/>
          </a:prstGeom>
          <a:noFill/>
          <a:ln/>
        </p:spPr>
        <p:txBody>
          <a:bodyPr wrap="square" lIns="0" tIns="0" rIns="0" bIns="0" rtlCol="0" anchor="t"/>
          <a:lstStyle/>
          <a:p>
            <a:pPr indent="0" marL="0">
              <a:spcAft>
                <a:spcPts val="1300"/>
              </a:spcAft>
              <a:buNone/>
            </a:pPr>
            <a:r>
              <a:rPr lang="en-US" sz="1300" dirty="0">
                <a:solidFill>
                  <a:srgbClr val="1D1D1F"/>
                </a:solidFill>
                <a:latin typeface="Arial" pitchFamily="34" charset="0"/>
                <a:ea typeface="Arial" pitchFamily="34" charset="-122"/>
                <a:cs typeface="Arial" pitchFamily="34" charset="-120"/>
              </a:rPr>
              <a:t>Each widget does one thing. Layout comes from nesting them, not from a widget with fifty properties.</a:t>
            </a:r>
            <a:endParaRPr lang="en-US" sz="1300" dirty="0"/>
          </a:p>
          <a:p>
            <a:pPr indent="0" marL="0">
              <a:spcAft>
                <a:spcPts val="1300"/>
              </a:spcAft>
              <a:buNone/>
            </a:pPr>
            <a:r>
              <a:rPr lang="en-US" sz="1300" dirty="0">
                <a:solidFill>
                  <a:srgbClr val="1D1D1F"/>
                </a:solidFill>
                <a:latin typeface="Arial" pitchFamily="34" charset="0"/>
                <a:ea typeface="Arial" pitchFamily="34" charset="-122"/>
                <a:cs typeface="Arial" pitchFamily="34" charset="-120"/>
              </a:rPr>
              <a:t>That is why trees get deep; deep trees are normal and cheap.</a:t>
            </a:r>
            <a:endParaRPr lang="en-US" sz="1300" dirty="0"/>
          </a:p>
          <a:p>
            <a:pPr indent="0" marL="0">
              <a:spcAft>
                <a:spcPts val="1300"/>
              </a:spcAft>
              <a:buNone/>
            </a:pPr>
            <a:r>
              <a:rPr lang="en-US" sz="1300" dirty="0">
                <a:solidFill>
                  <a:srgbClr val="1D1D1F"/>
                </a:solidFill>
                <a:latin typeface="Arial" pitchFamily="34" charset="0"/>
                <a:ea typeface="Arial" pitchFamily="34" charset="-122"/>
                <a:cs typeface="Arial" pitchFamily="34" charset="-120"/>
              </a:rPr>
              <a:t>Extract a subtree into its own named widget as soon as it repeats, or as soon as build() stops fitting on your screen.</a:t>
            </a:r>
            <a:endParaRPr lang="en-US" sz="1300" dirty="0"/>
          </a:p>
          <a:p>
            <a:pPr indent="0" marL="0">
              <a:spcAft>
                <a:spcPts val="1300"/>
              </a:spcAft>
              <a:buNone/>
            </a:pPr>
            <a:r>
              <a:rPr lang="en-US" sz="1300" dirty="0">
                <a:solidFill>
                  <a:srgbClr val="1D1D1F"/>
                </a:solidFill>
                <a:latin typeface="Arial" pitchFamily="34" charset="0"/>
                <a:ea typeface="Arial" pitchFamily="34" charset="-122"/>
                <a:cs typeface="Arial" pitchFamily="34" charset="-120"/>
              </a:rPr>
              <a:t>Small widgets also rebuild in smaller pieces, which is the next slide.</a:t>
            </a:r>
            <a:endParaRPr lang="en-US" sz="1300" dirty="0"/>
          </a:p>
        </p:txBody>
      </p:sp>
      <p:sp>
        <p:nvSpPr>
          <p:cNvPr id="8" name="Shape 6"/>
          <p:cNvSpPr/>
          <p:nvPr/>
        </p:nvSpPr>
        <p:spPr>
          <a:xfrm>
            <a:off x="822960" y="5623560"/>
            <a:ext cx="10543032" cy="0"/>
          </a:xfrm>
          <a:prstGeom prst="line">
            <a:avLst/>
          </a:prstGeom>
          <a:noFill/>
          <a:ln w="9525">
            <a:solidFill>
              <a:srgbClr val="D2D2D7"/>
            </a:solidFill>
            <a:prstDash val="solid"/>
          </a:ln>
        </p:spPr>
      </p:sp>
      <p:sp>
        <p:nvSpPr>
          <p:cNvPr id="9" name="Text 7"/>
          <p:cNvSpPr/>
          <p:nvPr/>
        </p:nvSpPr>
        <p:spPr>
          <a:xfrm>
            <a:off x="822960" y="5852160"/>
            <a:ext cx="10543032" cy="64008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Complex UIs are built out of simple widgets.</a:t>
            </a:r>
            <a:pPr indent="0" marL="0">
              <a:buNone/>
            </a:pPr>
            <a:r>
              <a:rPr lang="en-US" sz="1400" dirty="0">
                <a:solidFill>
                  <a:srgbClr val="86868B"/>
                </a:solidFill>
                <a:latin typeface="Arial" pitchFamily="34" charset="0"/>
                <a:ea typeface="Arial" pitchFamily="34" charset="-122"/>
                <a:cs typeface="Arial" pitchFamily="34" charset="-120"/>
              </a:rPr>
              <a:t> There is no inheritance hierarchy to learn, only a catalog of widgets to compose.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12</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FLUTTER WIDGETS</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StatelessWidget: configuration only</a:t>
            </a:r>
            <a:endParaRPr lang="en-US" sz="3000" dirty="0"/>
          </a:p>
        </p:txBody>
      </p:sp>
      <p:sp>
        <p:nvSpPr>
          <p:cNvPr id="5" name="Shape 3"/>
          <p:cNvSpPr/>
          <p:nvPr/>
        </p:nvSpPr>
        <p:spPr>
          <a:xfrm>
            <a:off x="822960" y="1783080"/>
            <a:ext cx="6858000" cy="3200400"/>
          </a:xfrm>
          <a:prstGeom prst="roundRect">
            <a:avLst>
              <a:gd name="adj" fmla="val 3429"/>
            </a:avLst>
          </a:prstGeom>
          <a:solidFill>
            <a:srgbClr val="F5F5F7"/>
          </a:solidFill>
          <a:ln/>
        </p:spPr>
      </p:sp>
      <p:sp>
        <p:nvSpPr>
          <p:cNvPr id="6" name="Text 4"/>
          <p:cNvSpPr/>
          <p:nvPr/>
        </p:nvSpPr>
        <p:spPr>
          <a:xfrm>
            <a:off x="1234440" y="2103120"/>
            <a:ext cx="6126480" cy="2606040"/>
          </a:xfrm>
          <a:prstGeom prst="rect">
            <a:avLst/>
          </a:prstGeom>
          <a:noFill/>
          <a:ln/>
        </p:spPr>
        <p:txBody>
          <a:bodyPr wrap="square" lIns="0" tIns="0" rIns="0" bIns="0" rtlCol="0" anchor="t"/>
          <a:lstStyle/>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class Greeting extends StatelessWidget {</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  const Greeting({super.key, required this.name});</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 </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  final String name;   // every field is final</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 </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  @override</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  Widget build(BuildContext context) {</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    return Text('Hello, $name');</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  }</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a:t>
            </a:r>
            <a:endParaRPr lang="en-US" sz="1150" dirty="0"/>
          </a:p>
        </p:txBody>
      </p:sp>
      <p:sp>
        <p:nvSpPr>
          <p:cNvPr id="7" name="Text 5"/>
          <p:cNvSpPr/>
          <p:nvPr/>
        </p:nvSpPr>
        <p:spPr>
          <a:xfrm>
            <a:off x="8001000" y="1783080"/>
            <a:ext cx="3364992" cy="3657600"/>
          </a:xfrm>
          <a:prstGeom prst="rect">
            <a:avLst/>
          </a:prstGeom>
          <a:noFill/>
          <a:ln/>
        </p:spPr>
        <p:txBody>
          <a:bodyPr wrap="square" lIns="0" tIns="0" rIns="0" bIns="0" rtlCol="0" anchor="t"/>
          <a:lstStyle/>
          <a:p>
            <a:pPr indent="0" marL="0">
              <a:spcAft>
                <a:spcPts val="1200"/>
              </a:spcAft>
              <a:buNone/>
            </a:pPr>
            <a:r>
              <a:rPr lang="en-US" sz="1250" b="1" dirty="0">
                <a:solidFill>
                  <a:srgbClr val="1D1D1F"/>
                </a:solidFill>
                <a:latin typeface="Arial" pitchFamily="34" charset="0"/>
                <a:ea typeface="Arial" pitchFamily="34" charset="-122"/>
                <a:cs typeface="Arial" pitchFamily="34" charset="-120"/>
              </a:rPr>
              <a:t>It does not "build once".</a:t>
            </a:r>
            <a:endParaRPr lang="en-US" sz="1250" dirty="0"/>
          </a:p>
          <a:p>
            <a:pPr indent="0" marL="0">
              <a:spcAft>
                <a:spcPts val="1200"/>
              </a:spcAft>
              <a:buNone/>
            </a:pPr>
            <a:r>
              <a:rPr lang="en-US" sz="1250" dirty="0">
                <a:solidFill>
                  <a:srgbClr val="1D1D1F"/>
                </a:solidFill>
                <a:latin typeface="Arial" pitchFamily="34" charset="0"/>
                <a:ea typeface="Arial" pitchFamily="34" charset="-122"/>
                <a:cs typeface="Arial" pitchFamily="34" charset="-120"/>
              </a:rPr>
              <a:t>A StatelessWidget rebuilds whenever its parent rebuilds, or whenever something it depends on changes.</a:t>
            </a:r>
            <a:endParaRPr lang="en-US" sz="1250" dirty="0"/>
          </a:p>
          <a:p>
            <a:pPr indent="0" marL="0">
              <a:spcAft>
                <a:spcPts val="1200"/>
              </a:spcAft>
              <a:buNone/>
            </a:pPr>
            <a:r>
              <a:rPr lang="en-US" sz="1250" dirty="0">
                <a:solidFill>
                  <a:srgbClr val="1D1D1F"/>
                </a:solidFill>
                <a:latin typeface="Arial" pitchFamily="34" charset="0"/>
                <a:ea typeface="Arial" pitchFamily="34" charset="-122"/>
                <a:cs typeface="Arial" pitchFamily="34" charset="-120"/>
              </a:rPr>
              <a:t>What it does not have is mutable state of its own: everything it needs arrives through its constructor.</a:t>
            </a:r>
            <a:endParaRPr lang="en-US" sz="1250" dirty="0"/>
          </a:p>
          <a:p>
            <a:pPr indent="0" marL="0">
              <a:spcAft>
                <a:spcPts val="1200"/>
              </a:spcAft>
              <a:buNone/>
            </a:pPr>
            <a:r>
              <a:rPr lang="en-US" sz="1250" dirty="0">
                <a:solidFill>
                  <a:srgbClr val="1D1D1F"/>
                </a:solidFill>
                <a:latin typeface="Arial" pitchFamily="34" charset="0"/>
                <a:ea typeface="Arial" pitchFamily="34" charset="-122"/>
                <a:cs typeface="Arial" pitchFamily="34" charset="-120"/>
              </a:rPr>
              <a:t>Give it a const constructor whenever you can. That is what lets Flutter skip it later.</a:t>
            </a:r>
            <a:endParaRPr lang="en-US" sz="1250" dirty="0"/>
          </a:p>
        </p:txBody>
      </p:sp>
      <p:sp>
        <p:nvSpPr>
          <p:cNvPr id="8" name="Shape 6"/>
          <p:cNvSpPr/>
          <p:nvPr/>
        </p:nvSpPr>
        <p:spPr>
          <a:xfrm>
            <a:off x="822960" y="5212080"/>
            <a:ext cx="6858000" cy="0"/>
          </a:xfrm>
          <a:prstGeom prst="line">
            <a:avLst/>
          </a:prstGeom>
          <a:noFill/>
          <a:ln w="9525">
            <a:solidFill>
              <a:srgbClr val="D2D2D7"/>
            </a:solidFill>
            <a:prstDash val="solid"/>
          </a:ln>
        </p:spPr>
      </p:sp>
      <p:sp>
        <p:nvSpPr>
          <p:cNvPr id="9" name="Text 7"/>
          <p:cNvSpPr/>
          <p:nvPr/>
        </p:nvSpPr>
        <p:spPr>
          <a:xfrm>
            <a:off x="822960" y="5440680"/>
            <a:ext cx="6858000" cy="64008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Stateless means "owns no state",</a:t>
            </a:r>
            <a:pPr indent="0" marL="0">
              <a:buNone/>
            </a:pPr>
            <a:r>
              <a:rPr lang="en-US" sz="1400" dirty="0">
                <a:solidFill>
                  <a:srgbClr val="86868B"/>
                </a:solidFill>
                <a:latin typeface="Arial" pitchFamily="34" charset="0"/>
                <a:ea typeface="Arial" pitchFamily="34" charset="-122"/>
                <a:cs typeface="Arial" pitchFamily="34" charset="-120"/>
              </a:rPr>
              <a:t> not "is never rebuilt".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13</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FLUTTER WIDGETS</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StatefulWidget and setState</a:t>
            </a:r>
            <a:endParaRPr lang="en-US" sz="3000" dirty="0"/>
          </a:p>
        </p:txBody>
      </p:sp>
      <p:sp>
        <p:nvSpPr>
          <p:cNvPr id="5" name="Shape 3"/>
          <p:cNvSpPr/>
          <p:nvPr/>
        </p:nvSpPr>
        <p:spPr>
          <a:xfrm>
            <a:off x="822960" y="1783080"/>
            <a:ext cx="7040880" cy="4343400"/>
          </a:xfrm>
          <a:prstGeom prst="roundRect">
            <a:avLst>
              <a:gd name="adj" fmla="val 2526"/>
            </a:avLst>
          </a:prstGeom>
          <a:solidFill>
            <a:srgbClr val="F5F5F7"/>
          </a:solidFill>
          <a:ln/>
        </p:spPr>
      </p:sp>
      <p:sp>
        <p:nvSpPr>
          <p:cNvPr id="6" name="Text 4"/>
          <p:cNvSpPr/>
          <p:nvPr/>
        </p:nvSpPr>
        <p:spPr>
          <a:xfrm>
            <a:off x="1234440" y="2103120"/>
            <a:ext cx="6309360" cy="3749040"/>
          </a:xfrm>
          <a:prstGeom prst="rect">
            <a:avLst/>
          </a:prstGeom>
          <a:noFill/>
          <a:ln/>
        </p:spPr>
        <p:txBody>
          <a:bodyPr wrap="square" lIns="0" tIns="0" rIns="0" bIns="0" rtlCol="0" anchor="t"/>
          <a:lstStyle/>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class CounterView extends StatefulWidget {</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const CounterView({super.key});</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@override</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State&lt;CounterView&gt; createState() =&gt; _CounterViewState();</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class _CounterViewState extends State&lt;CounterView&gt; {</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int _count = 0;          // the mutable state lives here</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@override</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Widget build(BuildContext context) =&gt; Column(children: [</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Text('Count: $_count'),</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ElevatedButton(onPressed: () =&gt; setState(() =&gt; _count++),</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child: const Text('Add')),</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a:t>
            </a:r>
            <a:endParaRPr lang="en-US" sz="1000" dirty="0"/>
          </a:p>
        </p:txBody>
      </p:sp>
      <p:sp>
        <p:nvSpPr>
          <p:cNvPr id="7" name="Text 5"/>
          <p:cNvSpPr/>
          <p:nvPr/>
        </p:nvSpPr>
        <p:spPr>
          <a:xfrm>
            <a:off x="8092440" y="1783080"/>
            <a:ext cx="3273552" cy="32004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Two classes, one widget</a:t>
            </a:r>
            <a:endParaRPr lang="en-US" sz="1400" dirty="0"/>
          </a:p>
        </p:txBody>
      </p:sp>
      <p:sp>
        <p:nvSpPr>
          <p:cNvPr id="8" name="Text 6"/>
          <p:cNvSpPr/>
          <p:nvPr/>
        </p:nvSpPr>
        <p:spPr>
          <a:xfrm>
            <a:off x="8092440" y="2194560"/>
            <a:ext cx="3273552" cy="3657600"/>
          </a:xfrm>
          <a:prstGeom prst="rect">
            <a:avLst/>
          </a:prstGeom>
          <a:noFill/>
          <a:ln/>
        </p:spPr>
        <p:txBody>
          <a:bodyPr wrap="square" lIns="0" tIns="0" rIns="0" bIns="0" rtlCol="0" anchor="t"/>
          <a:lstStyle/>
          <a:p>
            <a:pPr indent="0" marL="0">
              <a:spcAft>
                <a:spcPts val="1100"/>
              </a:spcAft>
              <a:buNone/>
            </a:pPr>
            <a:r>
              <a:rPr lang="en-US" sz="1200" dirty="0">
                <a:solidFill>
                  <a:srgbClr val="1D1D1F"/>
                </a:solidFill>
                <a:latin typeface="Arial" pitchFamily="34" charset="0"/>
                <a:ea typeface="Arial" pitchFamily="34" charset="-122"/>
                <a:cs typeface="Arial" pitchFamily="34" charset="-120"/>
              </a:rPr>
              <a:t>CounterView is still immutable configuration: it is recreated on every parent rebuild.</a:t>
            </a:r>
            <a:endParaRPr lang="en-US" sz="1200" dirty="0"/>
          </a:p>
          <a:p>
            <a:pPr indent="0" marL="0">
              <a:spcAft>
                <a:spcPts val="1100"/>
              </a:spcAft>
              <a:buNone/>
            </a:pPr>
            <a:r>
              <a:rPr lang="en-US" sz="1200" dirty="0">
                <a:solidFill>
                  <a:srgbClr val="1D1D1F"/>
                </a:solidFill>
                <a:latin typeface="Arial" pitchFamily="34" charset="0"/>
                <a:ea typeface="Arial" pitchFamily="34" charset="-122"/>
                <a:cs typeface="Arial" pitchFamily="34" charset="-120"/>
              </a:rPr>
              <a:t>_CounterViewState is the object that survives those rebuilds. Your mutable fields go there.</a:t>
            </a:r>
            <a:endParaRPr lang="en-US" sz="1200" dirty="0"/>
          </a:p>
          <a:p>
            <a:pPr indent="0" marL="0">
              <a:spcAft>
                <a:spcPts val="1100"/>
              </a:spcAft>
              <a:buNone/>
            </a:pPr>
            <a:r>
              <a:rPr lang="en-US" sz="1200" dirty="0">
                <a:solidFill>
                  <a:srgbClr val="1D1D1F"/>
                </a:solidFill>
                <a:latin typeface="Arial" pitchFamily="34" charset="0"/>
                <a:ea typeface="Arial" pitchFamily="34" charset="-122"/>
                <a:cs typeface="Arial" pitchFamily="34" charset="-120"/>
              </a:rPr>
              <a:t>setState mutates the field and marks the element dirty; Flutter rebuilds that subtree on the next frame.</a:t>
            </a:r>
            <a:endParaRPr lang="en-US" sz="1200" dirty="0"/>
          </a:p>
          <a:p>
            <a:pPr indent="0" marL="0">
              <a:spcAft>
                <a:spcPts val="1100"/>
              </a:spcAft>
              <a:buNone/>
            </a:pPr>
            <a:r>
              <a:rPr lang="en-US" sz="1200" b="1" dirty="0">
                <a:solidFill>
                  <a:srgbClr val="1D1D1F"/>
                </a:solidFill>
                <a:latin typeface="Arial" pitchFamily="34" charset="0"/>
                <a:ea typeface="Arial" pitchFamily="34" charset="-122"/>
                <a:cs typeface="Arial" pitchFamily="34" charset="-120"/>
              </a:rPr>
              <a:t>Name the class for what it is.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14</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FLUTTER WIDGETS</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What actually rebuilds</a:t>
            </a:r>
            <a:endParaRPr lang="en-US" sz="3000" dirty="0"/>
          </a:p>
        </p:txBody>
      </p:sp>
      <p:sp>
        <p:nvSpPr>
          <p:cNvPr id="5" name="Text 3"/>
          <p:cNvSpPr/>
          <p:nvPr/>
        </p:nvSpPr>
        <p:spPr>
          <a:xfrm>
            <a:off x="822960" y="1783080"/>
            <a:ext cx="6400800" cy="2377440"/>
          </a:xfrm>
          <a:prstGeom prst="rect">
            <a:avLst/>
          </a:prstGeom>
          <a:noFill/>
          <a:ln/>
        </p:spPr>
        <p:txBody>
          <a:bodyPr wrap="square" lIns="0" tIns="0" rIns="0" bIns="0" rtlCol="0" anchor="t"/>
          <a:lstStyle/>
          <a:p>
            <a:pPr indent="0" marL="0">
              <a:spcAft>
                <a:spcPts val="1500"/>
              </a:spcAft>
              <a:buNone/>
            </a:pPr>
            <a:r>
              <a:rPr lang="en-US" sz="1400" dirty="0">
                <a:solidFill>
                  <a:srgbClr val="1D1D1F"/>
                </a:solidFill>
                <a:latin typeface="Arial" pitchFamily="34" charset="0"/>
                <a:ea typeface="Arial" pitchFamily="34" charset="-122"/>
                <a:cs typeface="Arial" pitchFamily="34" charset="-120"/>
              </a:rPr>
              <a:t>Flutter does not rebuild the whole widget tree each frame. setState marks one element dirty, and only that subtree rebuilds.</a:t>
            </a:r>
            <a:endParaRPr lang="en-US" sz="1400" dirty="0"/>
          </a:p>
          <a:p>
            <a:pPr indent="0" marL="0">
              <a:spcAft>
                <a:spcPts val="1500"/>
              </a:spcAft>
              <a:buNone/>
            </a:pPr>
            <a:r>
              <a:rPr lang="en-US" sz="1400" dirty="0">
                <a:solidFill>
                  <a:srgbClr val="1D1D1F"/>
                </a:solidFill>
                <a:latin typeface="Arial" pitchFamily="34" charset="0"/>
                <a:ea typeface="Arial" pitchFamily="34" charset="-122"/>
                <a:cs typeface="Arial" pitchFamily="34" charset="-120"/>
              </a:rPr>
              <a:t>On rebuild, the new widgets are matched against the existing elements by runtimeType first, then by key.</a:t>
            </a:r>
            <a:endParaRPr lang="en-US" sz="1400" dirty="0"/>
          </a:p>
          <a:p>
            <a:pPr indent="0" marL="0">
              <a:spcAft>
                <a:spcPts val="1500"/>
              </a:spcAft>
              <a:buNone/>
            </a:pPr>
            <a:r>
              <a:rPr lang="en-US" sz="1400" dirty="0">
                <a:solidFill>
                  <a:srgbClr val="1D1D1F"/>
                </a:solidFill>
                <a:latin typeface="Arial" pitchFamily="34" charset="0"/>
                <a:ea typeface="Arial" pitchFamily="34" charset="-122"/>
                <a:cs typeface="Arial" pitchFamily="34" charset="-120"/>
              </a:rPr>
              <a:t>Match → the element and its State are reused. No match → the old element is discarded and its State goes with it.</a:t>
            </a:r>
            <a:endParaRPr lang="en-US" sz="1400" dirty="0"/>
          </a:p>
        </p:txBody>
      </p:sp>
      <p:sp>
        <p:nvSpPr>
          <p:cNvPr id="6" name="Shape 4"/>
          <p:cNvSpPr/>
          <p:nvPr/>
        </p:nvSpPr>
        <p:spPr>
          <a:xfrm>
            <a:off x="822960" y="4160520"/>
            <a:ext cx="6400800" cy="960120"/>
          </a:xfrm>
          <a:prstGeom prst="roundRect">
            <a:avLst>
              <a:gd name="adj" fmla="val 11429"/>
            </a:avLst>
          </a:prstGeom>
          <a:solidFill>
            <a:srgbClr val="F5F5F7"/>
          </a:solidFill>
          <a:ln/>
        </p:spPr>
      </p:sp>
      <p:sp>
        <p:nvSpPr>
          <p:cNvPr id="7" name="Text 5"/>
          <p:cNvSpPr/>
          <p:nvPr/>
        </p:nvSpPr>
        <p:spPr>
          <a:xfrm>
            <a:off x="1234440" y="4480560"/>
            <a:ext cx="5669280" cy="365760"/>
          </a:xfrm>
          <a:prstGeom prst="rect">
            <a:avLst/>
          </a:prstGeom>
          <a:noFill/>
          <a:ln/>
        </p:spPr>
        <p:txBody>
          <a:bodyPr wrap="square" lIns="0" tIns="0" rIns="0" bIns="0" rtlCol="0" anchor="t"/>
          <a:lstStyle/>
          <a:p>
            <a:pPr indent="0" marL="0">
              <a:lnSpc>
                <a:spcPts val="2000"/>
              </a:lnSpc>
              <a:buNone/>
            </a:pPr>
            <a:r>
              <a:rPr lang="en-US" sz="1100" dirty="0">
                <a:solidFill>
                  <a:srgbClr val="86868B"/>
                </a:solidFill>
                <a:latin typeface="Courier New" pitchFamily="34" charset="0"/>
                <a:ea typeface="Courier New" pitchFamily="34" charset="-122"/>
                <a:cs typeface="Courier New" pitchFamily="34" charset="-120"/>
              </a:rPr>
              <a:t>// Same instance every build → Flutter skips the subtree</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const Text('Total'),</a:t>
            </a:r>
            <a:endParaRPr lang="en-US" sz="1100" dirty="0"/>
          </a:p>
        </p:txBody>
      </p:sp>
      <p:sp>
        <p:nvSpPr>
          <p:cNvPr id="8" name="Shape 6"/>
          <p:cNvSpPr/>
          <p:nvPr/>
        </p:nvSpPr>
        <p:spPr>
          <a:xfrm>
            <a:off x="7589520" y="1783080"/>
            <a:ext cx="3776472" cy="3337560"/>
          </a:xfrm>
          <a:prstGeom prst="roundRect">
            <a:avLst>
              <a:gd name="adj" fmla="val 3288"/>
            </a:avLst>
          </a:prstGeom>
          <a:solidFill>
            <a:srgbClr val="F5F5F7"/>
          </a:solidFill>
          <a:ln/>
        </p:spPr>
      </p:sp>
      <p:sp>
        <p:nvSpPr>
          <p:cNvPr id="9" name="Text 7"/>
          <p:cNvSpPr/>
          <p:nvPr/>
        </p:nvSpPr>
        <p:spPr>
          <a:xfrm>
            <a:off x="7909560" y="2011680"/>
            <a:ext cx="3200400" cy="32004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Keys</a:t>
            </a:r>
            <a:endParaRPr lang="en-US" sz="1400" dirty="0"/>
          </a:p>
        </p:txBody>
      </p:sp>
      <p:sp>
        <p:nvSpPr>
          <p:cNvPr id="10" name="Text 8"/>
          <p:cNvSpPr/>
          <p:nvPr/>
        </p:nvSpPr>
        <p:spPr>
          <a:xfrm>
            <a:off x="7909560" y="2377440"/>
            <a:ext cx="3200400" cy="2651760"/>
          </a:xfrm>
          <a:prstGeom prst="rect">
            <a:avLst/>
          </a:prstGeom>
          <a:noFill/>
          <a:ln/>
        </p:spPr>
        <p:txBody>
          <a:bodyPr wrap="square" lIns="0" tIns="0" rIns="0" bIns="0" rtlCol="0" anchor="t"/>
          <a:lstStyle/>
          <a:p>
            <a:pPr indent="0" marL="0">
              <a:spcAft>
                <a:spcPts val="900"/>
              </a:spcAft>
              <a:buNone/>
            </a:pPr>
            <a:r>
              <a:rPr lang="en-US" sz="1100" dirty="0">
                <a:solidFill>
                  <a:srgbClr val="86868B"/>
                </a:solidFill>
                <a:latin typeface="Arial" pitchFamily="34" charset="0"/>
                <a:ea typeface="Arial" pitchFamily="34" charset="-122"/>
                <a:cs typeface="Arial" pitchFamily="34" charset="-120"/>
              </a:rPr>
              <a:t>ValueKey('email'): identity from a value</a:t>
            </a:r>
            <a:endParaRPr lang="en-US" sz="1100" dirty="0"/>
          </a:p>
          <a:p>
            <a:pPr indent="0" marL="0">
              <a:spcAft>
                <a:spcPts val="900"/>
              </a:spcAft>
              <a:buNone/>
            </a:pPr>
            <a:r>
              <a:rPr lang="en-US" sz="1100" dirty="0">
                <a:solidFill>
                  <a:srgbClr val="86868B"/>
                </a:solidFill>
                <a:latin typeface="Arial" pitchFamily="34" charset="0"/>
                <a:ea typeface="Arial" pitchFamily="34" charset="-122"/>
                <a:cs typeface="Arial" pitchFamily="34" charset="-120"/>
              </a:rPr>
              <a:t>ObjectKey(item): identity from an object</a:t>
            </a:r>
            <a:endParaRPr lang="en-US" sz="1100" dirty="0"/>
          </a:p>
          <a:p>
            <a:pPr indent="0" marL="0">
              <a:spcAft>
                <a:spcPts val="900"/>
              </a:spcAft>
              <a:buNone/>
            </a:pPr>
            <a:r>
              <a:rPr lang="en-US" sz="1100" dirty="0">
                <a:solidFill>
                  <a:srgbClr val="86868B"/>
                </a:solidFill>
                <a:latin typeface="Arial" pitchFamily="34" charset="0"/>
                <a:ea typeface="Arial" pitchFamily="34" charset="-122"/>
                <a:cs typeface="Arial" pitchFamily="34" charset="-120"/>
              </a:rPr>
              <a:t>UniqueKey(): never matches, so it forces a fresh element</a:t>
            </a:r>
            <a:endParaRPr lang="en-US" sz="1100" dirty="0"/>
          </a:p>
          <a:p>
            <a:pPr indent="0" marL="0">
              <a:spcAft>
                <a:spcPts val="900"/>
              </a:spcAft>
              <a:buNone/>
            </a:pPr>
            <a:r>
              <a:rPr lang="en-US" sz="1100" dirty="0">
                <a:solidFill>
                  <a:srgbClr val="86868B"/>
                </a:solidFill>
                <a:latin typeface="Arial" pitchFamily="34" charset="0"/>
                <a:ea typeface="Arial" pitchFamily="34" charset="-122"/>
                <a:cs typeface="Arial" pitchFamily="34" charset="-120"/>
              </a:rPr>
              <a:t>GlobalKey: reach a widget from anywhere, and use it sparingly</a:t>
            </a:r>
            <a:endParaRPr lang="en-US" sz="1100" dirty="0"/>
          </a:p>
          <a:p>
            <a:pPr indent="0" marL="0">
              <a:spcAft>
                <a:spcPts val="900"/>
              </a:spcAft>
              <a:buNone/>
            </a:pPr>
            <a:r>
              <a:rPr lang="en-US" sz="1100" dirty="0">
                <a:solidFill>
                  <a:srgbClr val="86868B"/>
                </a:solidFill>
                <a:latin typeface="Arial" pitchFamily="34" charset="0"/>
                <a:ea typeface="Arial" pitchFamily="34" charset="-122"/>
                <a:cs typeface="Arial" pitchFamily="34" charset="-120"/>
              </a:rPr>
              <a:t>You need a key when list items are reordered, inserted or removed. Otherwise State follows position, not item.</a:t>
            </a:r>
            <a:endParaRPr lang="en-US" sz="1100" dirty="0"/>
          </a:p>
        </p:txBody>
      </p:sp>
      <p:sp>
        <p:nvSpPr>
          <p:cNvPr id="11" name="Shape 9"/>
          <p:cNvSpPr/>
          <p:nvPr/>
        </p:nvSpPr>
        <p:spPr>
          <a:xfrm>
            <a:off x="822960" y="5303520"/>
            <a:ext cx="10543032" cy="0"/>
          </a:xfrm>
          <a:prstGeom prst="line">
            <a:avLst/>
          </a:prstGeom>
          <a:noFill/>
          <a:ln w="9525">
            <a:solidFill>
              <a:srgbClr val="D2D2D7"/>
            </a:solidFill>
            <a:prstDash val="solid"/>
          </a:ln>
        </p:spPr>
      </p:sp>
      <p:sp>
        <p:nvSpPr>
          <p:cNvPr id="12" name="Text 10"/>
          <p:cNvSpPr/>
          <p:nvPr/>
        </p:nvSpPr>
        <p:spPr>
          <a:xfrm>
            <a:off x="822960" y="5532120"/>
            <a:ext cx="10543032" cy="64008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Builds are designed to be cheap.</a:t>
            </a:r>
            <a:pPr indent="0" marL="0">
              <a:buNone/>
            </a:pPr>
            <a:r>
              <a:rPr lang="en-US" sz="1400" dirty="0">
                <a:solidFill>
                  <a:srgbClr val="86868B"/>
                </a:solidFill>
                <a:latin typeface="Arial" pitchFamily="34" charset="0"/>
                <a:ea typeface="Arial" pitchFamily="34" charset="-122"/>
                <a:cs typeface="Arial" pitchFamily="34" charset="-120"/>
              </a:rPr>
              <a:t> Widgets are throwaway descriptions; elements and State are what persist.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15</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FLUTTER WIDGETS</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The layout widgets you'll use every day</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822960" y="1874520"/>
          <a:ext cx="10543032" cy="914400"/>
        </p:xfrm>
        <a:graphic>
          <a:graphicData uri="http://schemas.openxmlformats.org/drawingml/2006/table">
            <a:tbl>
              <a:tblPr/>
              <a:tblGrid>
                <a:gridCol w="2148840"/>
                <a:gridCol w="4197096"/>
                <a:gridCol w="4197096"/>
              </a:tblGrid>
              <a:tr h="438912">
                <a:tc>
                  <a:txBody>
                    <a:bodyPr/>
                    <a:lstStyle/>
                    <a:p>
                      <a:pPr indent="0" marL="0">
                        <a:buNone/>
                      </a:pP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tcPr>
                </a:tc>
                <a:tc>
                  <a:txBody>
                    <a:bodyPr/>
                    <a:lstStyle/>
                    <a:p>
                      <a:pPr algn="ctr" indent="0" marL="0">
                        <a:buNone/>
                      </a:pPr>
                      <a:r>
                        <a:rPr lang="en-US" sz="1100" b="1" dirty="0">
                          <a:solidFill>
                            <a:srgbClr val="1D1D1F"/>
                          </a:solidFill>
                          <a:latin typeface="Arial" pitchFamily="34" charset="0"/>
                          <a:ea typeface="Arial" pitchFamily="34" charset="-122"/>
                          <a:cs typeface="Arial" pitchFamily="34" charset="-120"/>
                        </a:rPr>
                        <a:t>What it does</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D1D1F"/>
                          </a:solidFill>
                          <a:latin typeface="Arial" pitchFamily="34" charset="0"/>
                          <a:ea typeface="Arial" pitchFamily="34" charset="-122"/>
                          <a:cs typeface="Arial" pitchFamily="34" charset="-120"/>
                        </a:rPr>
                        <a:t>The knobs you actually turn</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86868B"/>
                          </a:solidFill>
                          <a:latin typeface="Arial" pitchFamily="34" charset="0"/>
                          <a:ea typeface="Arial" pitchFamily="34" charset="-122"/>
                          <a:cs typeface="Arial" pitchFamily="34" charset="-120"/>
                        </a:rPr>
                        <a:t>Container</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tcPr>
                </a:tc>
                <a:tc>
                  <a:txBody>
                    <a:bodyPr/>
                    <a:lstStyle/>
                    <a:p>
                      <a:pPr algn="ctr" indent="0" marL="0">
                        <a:buNone/>
                      </a:pPr>
                      <a:r>
                        <a:rPr lang="en-US" sz="1100" dirty="0">
                          <a:solidFill>
                            <a:srgbClr val="1D1D1F"/>
                          </a:solidFill>
                          <a:latin typeface="Arial" pitchFamily="34" charset="0"/>
                          <a:ea typeface="Arial" pitchFamily="34" charset="-122"/>
                          <a:cs typeface="Arial" pitchFamily="34" charset="-120"/>
                        </a:rPr>
                        <a:t>padding, margin, decoration and size in one box</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D1D1F"/>
                          </a:solidFill>
                          <a:latin typeface="Arial" pitchFamily="34" charset="0"/>
                          <a:ea typeface="Arial" pitchFamily="34" charset="-122"/>
                          <a:cs typeface="Arial" pitchFamily="34" charset="-120"/>
                        </a:rPr>
                        <a:t>padding · margin · decoration · alignment</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86868B"/>
                          </a:solidFill>
                          <a:latin typeface="Arial" pitchFamily="34" charset="0"/>
                          <a:ea typeface="Arial" pitchFamily="34" charset="-122"/>
                          <a:cs typeface="Arial" pitchFamily="34" charset="-120"/>
                        </a:rPr>
                        <a:t>Row / Column</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tcPr>
                </a:tc>
                <a:tc>
                  <a:txBody>
                    <a:bodyPr/>
                    <a:lstStyle/>
                    <a:p>
                      <a:pPr algn="ctr" indent="0" marL="0">
                        <a:buNone/>
                      </a:pPr>
                      <a:r>
                        <a:rPr lang="en-US" sz="1100" dirty="0">
                          <a:solidFill>
                            <a:srgbClr val="1D1D1F"/>
                          </a:solidFill>
                          <a:latin typeface="Arial" pitchFamily="34" charset="0"/>
                          <a:ea typeface="Arial" pitchFamily="34" charset="-122"/>
                          <a:cs typeface="Arial" pitchFamily="34" charset="-120"/>
                        </a:rPr>
                        <a:t>lay children out along one axis</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D1D1F"/>
                          </a:solidFill>
                          <a:latin typeface="Arial" pitchFamily="34" charset="0"/>
                          <a:ea typeface="Arial" pitchFamily="34" charset="-122"/>
                          <a:cs typeface="Arial" pitchFamily="34" charset="-120"/>
                        </a:rPr>
                        <a:t>mainAxisAlignment · crossAxisAlignment · mainAxisSize</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86868B"/>
                          </a:solidFill>
                          <a:latin typeface="Arial" pitchFamily="34" charset="0"/>
                          <a:ea typeface="Arial" pitchFamily="34" charset="-122"/>
                          <a:cs typeface="Arial" pitchFamily="34" charset="-120"/>
                        </a:rPr>
                        <a:t>Expanded / Flexible</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tcPr>
                </a:tc>
                <a:tc>
                  <a:txBody>
                    <a:bodyPr/>
                    <a:lstStyle/>
                    <a:p>
                      <a:pPr algn="ctr" indent="0" marL="0">
                        <a:buNone/>
                      </a:pPr>
                      <a:r>
                        <a:rPr lang="en-US" sz="1100" dirty="0">
                          <a:solidFill>
                            <a:srgbClr val="1D1D1F"/>
                          </a:solidFill>
                          <a:latin typeface="Arial" pitchFamily="34" charset="0"/>
                          <a:ea typeface="Arial" pitchFamily="34" charset="-122"/>
                          <a:cs typeface="Arial" pitchFamily="34" charset="-120"/>
                        </a:rPr>
                        <a:t>divide the leftover space in a Row or Column</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D1D1F"/>
                          </a:solidFill>
                          <a:latin typeface="Arial" pitchFamily="34" charset="0"/>
                          <a:ea typeface="Arial" pitchFamily="34" charset="-122"/>
                          <a:cs typeface="Arial" pitchFamily="34" charset="-120"/>
                        </a:rPr>
                        <a:t>flex: Expanded takes all, Flexible may take less</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86868B"/>
                          </a:solidFill>
                          <a:latin typeface="Arial" pitchFamily="34" charset="0"/>
                          <a:ea typeface="Arial" pitchFamily="34" charset="-122"/>
                          <a:cs typeface="Arial" pitchFamily="34" charset="-120"/>
                        </a:rPr>
                        <a:t>Stack / Positioned</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tcPr>
                </a:tc>
                <a:tc>
                  <a:txBody>
                    <a:bodyPr/>
                    <a:lstStyle/>
                    <a:p>
                      <a:pPr algn="ctr" indent="0" marL="0">
                        <a:buNone/>
                      </a:pPr>
                      <a:r>
                        <a:rPr lang="en-US" sz="1100" dirty="0">
                          <a:solidFill>
                            <a:srgbClr val="1D1D1F"/>
                          </a:solidFill>
                          <a:latin typeface="Arial" pitchFamily="34" charset="0"/>
                          <a:ea typeface="Arial" pitchFamily="34" charset="-122"/>
                          <a:cs typeface="Arial" pitchFamily="34" charset="-120"/>
                        </a:rPr>
                        <a:t>overlay children; the first child paints at the bottom</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D1D1F"/>
                          </a:solidFill>
                          <a:latin typeface="Arial" pitchFamily="34" charset="0"/>
                          <a:ea typeface="Arial" pitchFamily="34" charset="-122"/>
                          <a:cs typeface="Arial" pitchFamily="34" charset="-120"/>
                        </a:rPr>
                        <a:t>top · left · right · bottom</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86868B"/>
                          </a:solidFill>
                          <a:latin typeface="Arial" pitchFamily="34" charset="0"/>
                          <a:ea typeface="Arial" pitchFamily="34" charset="-122"/>
                          <a:cs typeface="Arial" pitchFamily="34" charset="-120"/>
                        </a:rPr>
                        <a:t>SizedBox / ConstrainedBox</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tcPr>
                </a:tc>
                <a:tc>
                  <a:txBody>
                    <a:bodyPr/>
                    <a:lstStyle/>
                    <a:p>
                      <a:pPr algn="ctr" indent="0" marL="0">
                        <a:buNone/>
                      </a:pPr>
                      <a:r>
                        <a:rPr lang="en-US" sz="1100" dirty="0">
                          <a:solidFill>
                            <a:srgbClr val="1D1D1F"/>
                          </a:solidFill>
                          <a:latin typeface="Arial" pitchFamily="34" charset="0"/>
                          <a:ea typeface="Arial" pitchFamily="34" charset="-122"/>
                          <a:cs typeface="Arial" pitchFamily="34" charset="-120"/>
                        </a:rPr>
                        <a:t>impose a size, or a min/max constraint</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D1D1F"/>
                          </a:solidFill>
                          <a:latin typeface="Arial" pitchFamily="34" charset="0"/>
                          <a:ea typeface="Arial" pitchFamily="34" charset="-122"/>
                          <a:cs typeface="Arial" pitchFamily="34" charset="-120"/>
                        </a:rPr>
                        <a:t>width · height · constraints</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86868B"/>
                          </a:solidFill>
                          <a:latin typeface="Arial" pitchFamily="34" charset="0"/>
                          <a:ea typeface="Arial" pitchFamily="34" charset="-122"/>
                          <a:cs typeface="Arial" pitchFamily="34" charset="-120"/>
                        </a:rPr>
                        <a:t>ListView / GridView</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tcPr>
                </a:tc>
                <a:tc>
                  <a:txBody>
                    <a:bodyPr/>
                    <a:lstStyle/>
                    <a:p>
                      <a:pPr algn="ctr" indent="0" marL="0">
                        <a:buNone/>
                      </a:pPr>
                      <a:r>
                        <a:rPr lang="en-US" sz="1100" dirty="0">
                          <a:solidFill>
                            <a:srgbClr val="1D1D1F"/>
                          </a:solidFill>
                          <a:latin typeface="Arial" pitchFamily="34" charset="0"/>
                          <a:ea typeface="Arial" pitchFamily="34" charset="-122"/>
                          <a:cs typeface="Arial" pitchFamily="34" charset="-120"/>
                        </a:rPr>
                        <a:t>scroll a list or a grid, lazily</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D1D1F"/>
                          </a:solidFill>
                          <a:latin typeface="Arial" pitchFamily="34" charset="0"/>
                          <a:ea typeface="Arial" pitchFamily="34" charset="-122"/>
                          <a:cs typeface="Arial" pitchFamily="34" charset="-120"/>
                        </a:rPr>
                        <a:t>.builder · .separated · scrollDirection</a:t>
                      </a:r>
                      <a:endParaRPr lang="en-US" sz="110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bl>
          </a:graphicData>
        </a:graphic>
      </p:graphicFrame>
      <p:sp>
        <p:nvSpPr>
          <p:cNvPr id="6" name="Shape 3"/>
          <p:cNvSpPr/>
          <p:nvPr/>
        </p:nvSpPr>
        <p:spPr>
          <a:xfrm>
            <a:off x="822960" y="5486400"/>
            <a:ext cx="10543032" cy="0"/>
          </a:xfrm>
          <a:prstGeom prst="line">
            <a:avLst/>
          </a:prstGeom>
          <a:noFill/>
          <a:ln w="9525">
            <a:solidFill>
              <a:srgbClr val="D2D2D7"/>
            </a:solidFill>
            <a:prstDash val="solid"/>
          </a:ln>
        </p:spPr>
      </p:sp>
      <p:sp>
        <p:nvSpPr>
          <p:cNvPr id="7" name="Text 4"/>
          <p:cNvSpPr/>
          <p:nvPr/>
        </p:nvSpPr>
        <p:spPr>
          <a:xfrm>
            <a:off x="822960" y="5669280"/>
            <a:ext cx="10515600" cy="457200"/>
          </a:xfrm>
          <a:prstGeom prst="rect">
            <a:avLst/>
          </a:prstGeom>
          <a:noFill/>
          <a:ln/>
        </p:spPr>
        <p:txBody>
          <a:bodyPr wrap="square" lIns="0" tIns="0" rIns="0" bIns="0" rtlCol="0" anchor="ctr"/>
          <a:lstStyle/>
          <a:p>
            <a:pPr indent="0" marL="0">
              <a:buNone/>
            </a:pPr>
            <a:r>
              <a:rPr lang="en-US" sz="1350" b="1" dirty="0">
                <a:solidFill>
                  <a:srgbClr val="1D1D1F"/>
                </a:solidFill>
                <a:latin typeface="Arial" pitchFamily="34" charset="0"/>
                <a:ea typeface="Arial" pitchFamily="34" charset="-122"/>
                <a:cs typeface="Arial" pitchFamily="34" charset="-120"/>
              </a:rPr>
              <a:t>Reach for Padding and SizedBox before Container. </a:t>
            </a:r>
            <a:pPr indent="0" marL="0">
              <a:buNone/>
            </a:pPr>
            <a:r>
              <a:rPr lang="en-US" sz="1350" dirty="0">
                <a:solidFill>
                  <a:srgbClr val="86868B"/>
                </a:solidFill>
                <a:latin typeface="Arial" pitchFamily="34" charset="0"/>
                <a:ea typeface="Arial" pitchFamily="34" charset="-122"/>
                <a:cs typeface="Arial" pitchFamily="34" charset="-120"/>
              </a:rPr>
              <a:t>Container bundles several widgets; use it when you need most of them.</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16</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FLUTTER WIDGETS</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Making it scroll, lazily</a:t>
            </a:r>
            <a:endParaRPr lang="en-US" sz="3000" dirty="0"/>
          </a:p>
        </p:txBody>
      </p:sp>
      <p:sp>
        <p:nvSpPr>
          <p:cNvPr id="5" name="Shape 3"/>
          <p:cNvSpPr/>
          <p:nvPr/>
        </p:nvSpPr>
        <p:spPr>
          <a:xfrm>
            <a:off x="822960" y="1783080"/>
            <a:ext cx="6675120" cy="3291840"/>
          </a:xfrm>
          <a:prstGeom prst="roundRect">
            <a:avLst>
              <a:gd name="adj" fmla="val 3333"/>
            </a:avLst>
          </a:prstGeom>
          <a:solidFill>
            <a:srgbClr val="F5F5F7"/>
          </a:solidFill>
          <a:ln/>
        </p:spPr>
      </p:sp>
      <p:sp>
        <p:nvSpPr>
          <p:cNvPr id="6" name="Text 4"/>
          <p:cNvSpPr/>
          <p:nvPr/>
        </p:nvSpPr>
        <p:spPr>
          <a:xfrm>
            <a:off x="1234440" y="2103120"/>
            <a:ext cx="5943600" cy="2697480"/>
          </a:xfrm>
          <a:prstGeom prst="rect">
            <a:avLst/>
          </a:prstGeom>
          <a:noFill/>
          <a:ln/>
        </p:spPr>
        <p:txBody>
          <a:bodyPr wrap="square" lIns="0" tIns="0" rIns="0" bIns="0" rtlCol="0" anchor="t"/>
          <a:lstStyle/>
          <a:p>
            <a:pPr indent="0" marL="0">
              <a:lnSpc>
                <a:spcPts val="2000"/>
              </a:lnSpc>
              <a:buNone/>
            </a:pPr>
            <a:r>
              <a:rPr lang="en-US" sz="1100" dirty="0">
                <a:solidFill>
                  <a:srgbClr val="86868B"/>
                </a:solidFill>
                <a:latin typeface="Courier New" pitchFamily="34" charset="0"/>
                <a:ea typeface="Courier New" pitchFamily="34" charset="-122"/>
                <a:cs typeface="Courier New" pitchFamily="34" charset="-120"/>
              </a:rPr>
              <a:t>// Eager: every child is built up front.</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ListView(children: items.map(ItemTile.new).toList())</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 </a:t>
            </a:r>
            <a:endParaRPr lang="en-US" sz="1100" dirty="0"/>
          </a:p>
          <a:p>
            <a:pPr indent="0" marL="0">
              <a:lnSpc>
                <a:spcPts val="2000"/>
              </a:lnSpc>
              <a:buNone/>
            </a:pPr>
            <a:r>
              <a:rPr lang="en-US" sz="1100" dirty="0">
                <a:solidFill>
                  <a:srgbClr val="86868B"/>
                </a:solidFill>
                <a:latin typeface="Courier New" pitchFamily="34" charset="0"/>
                <a:ea typeface="Courier New" pitchFamily="34" charset="-122"/>
                <a:cs typeface="Courier New" pitchFamily="34" charset="-120"/>
              </a:rPr>
              <a:t>// Lazy: only the visible slice is ever built.</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ListView.builder(</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  itemCount: items.length,</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  itemBuilder: (context, i) =&gt; ItemTile(</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    key: ValueKey(items[i].id),</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    item: items[i],</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  ),</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a:t>
            </a:r>
            <a:endParaRPr lang="en-US" sz="1100" dirty="0"/>
          </a:p>
        </p:txBody>
      </p:sp>
      <p:sp>
        <p:nvSpPr>
          <p:cNvPr id="7" name="Text 5"/>
          <p:cNvSpPr/>
          <p:nvPr/>
        </p:nvSpPr>
        <p:spPr>
          <a:xfrm>
            <a:off x="7772400" y="1783080"/>
            <a:ext cx="3593592" cy="3657600"/>
          </a:xfrm>
          <a:prstGeom prst="rect">
            <a:avLst/>
          </a:prstGeom>
          <a:noFill/>
          <a:ln/>
        </p:spPr>
        <p:txBody>
          <a:bodyPr wrap="square" lIns="0" tIns="0" rIns="0" bIns="0" rtlCol="0" anchor="t"/>
          <a:lstStyle/>
          <a:p>
            <a:pPr indent="0" marL="0">
              <a:spcAft>
                <a:spcPts val="1200"/>
              </a:spcAft>
              <a:buNone/>
            </a:pPr>
            <a:r>
              <a:rPr lang="en-US" sz="1250" dirty="0">
                <a:solidFill>
                  <a:srgbClr val="1D1D1F"/>
                </a:solidFill>
                <a:latin typeface="Arial" pitchFamily="34" charset="0"/>
                <a:ea typeface="Arial" pitchFamily="34" charset="-122"/>
                <a:cs typeface="Arial" pitchFamily="34" charset="-120"/>
              </a:rPr>
              <a:t>ListView.separated is the same thing with a Divider between items.</a:t>
            </a:r>
            <a:endParaRPr lang="en-US" sz="1250" dirty="0"/>
          </a:p>
          <a:p>
            <a:pPr indent="0" marL="0">
              <a:spcAft>
                <a:spcPts val="1200"/>
              </a:spcAft>
              <a:buNone/>
            </a:pPr>
            <a:r>
              <a:rPr lang="en-US" sz="1250" dirty="0">
                <a:solidFill>
                  <a:srgbClr val="1D1D1F"/>
                </a:solidFill>
                <a:latin typeface="Arial" pitchFamily="34" charset="0"/>
                <a:ea typeface="Arial" pitchFamily="34" charset="-122"/>
                <a:cs typeface="Arial" pitchFamily="34" charset="-120"/>
              </a:rPr>
              <a:t>GridView.builder is the same idea in two dimensions.</a:t>
            </a:r>
            <a:endParaRPr lang="en-US" sz="1250" dirty="0"/>
          </a:p>
          <a:p>
            <a:pPr indent="0" marL="0">
              <a:spcAft>
                <a:spcPts val="1200"/>
              </a:spcAft>
              <a:buNone/>
            </a:pPr>
            <a:r>
              <a:rPr lang="en-US" sz="1250" dirty="0">
                <a:solidFill>
                  <a:srgbClr val="1D1D1F"/>
                </a:solidFill>
                <a:latin typeface="Arial" pitchFamily="34" charset="0"/>
                <a:ea typeface="Arial" pitchFamily="34" charset="-122"/>
                <a:cs typeface="Arial" pitchFamily="34" charset="-120"/>
              </a:rPr>
              <a:t>SingleChildScrollView scrolls exactly one child and builds all of it: fine for a form, wrong for a feed.</a:t>
            </a:r>
            <a:endParaRPr lang="en-US" sz="1250" dirty="0"/>
          </a:p>
          <a:p>
            <a:pPr indent="0" marL="0">
              <a:spcAft>
                <a:spcPts val="1200"/>
              </a:spcAft>
              <a:buNone/>
            </a:pPr>
            <a:r>
              <a:rPr lang="en-US" sz="1250" dirty="0">
                <a:solidFill>
                  <a:srgbClr val="1D1D1F"/>
                </a:solidFill>
                <a:latin typeface="Arial" pitchFamily="34" charset="0"/>
                <a:ea typeface="Arial" pitchFamily="34" charset="-122"/>
                <a:cs typeface="Arial" pitchFamily="34" charset="-120"/>
              </a:rPr>
              <a:t>CustomScrollView composes slivers when you need a collapsing app bar above a list.</a:t>
            </a:r>
            <a:endParaRPr lang="en-US" sz="1250" dirty="0"/>
          </a:p>
        </p:txBody>
      </p:sp>
      <p:sp>
        <p:nvSpPr>
          <p:cNvPr id="8" name="Shape 6"/>
          <p:cNvSpPr/>
          <p:nvPr/>
        </p:nvSpPr>
        <p:spPr>
          <a:xfrm>
            <a:off x="822960" y="5212080"/>
            <a:ext cx="6675120" cy="0"/>
          </a:xfrm>
          <a:prstGeom prst="line">
            <a:avLst/>
          </a:prstGeom>
          <a:noFill/>
          <a:ln w="9525">
            <a:solidFill>
              <a:srgbClr val="D2D2D7"/>
            </a:solidFill>
            <a:prstDash val="solid"/>
          </a:ln>
        </p:spPr>
      </p:sp>
      <p:sp>
        <p:nvSpPr>
          <p:cNvPr id="9" name="Text 7"/>
          <p:cNvSpPr/>
          <p:nvPr/>
        </p:nvSpPr>
        <p:spPr>
          <a:xfrm>
            <a:off x="822960" y="5440680"/>
            <a:ext cx="6675120" cy="64008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Use a lazy list by default.</a:t>
            </a:r>
            <a:pPr indent="0" marL="0">
              <a:buNone/>
            </a:pPr>
            <a:r>
              <a:rPr lang="en-US" sz="1400" dirty="0">
                <a:solidFill>
                  <a:srgbClr val="86868B"/>
                </a:solidFill>
                <a:latin typeface="Arial" pitchFamily="34" charset="0"/>
                <a:ea typeface="Arial" pitchFamily="34" charset="-122"/>
                <a:cs typeface="Arial" pitchFamily="34" charset="-120"/>
              </a:rPr>
              <a:t> If the list can grow with your data, it has to be a .builder.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731520" y="2514600"/>
            <a:ext cx="10725912" cy="320040"/>
          </a:xfrm>
          <a:prstGeom prst="rect">
            <a:avLst/>
          </a:prstGeom>
          <a:noFill/>
          <a:ln/>
        </p:spPr>
        <p:txBody>
          <a:bodyPr wrap="square" lIns="0" tIns="0" rIns="0" bIns="0" rtlCol="0" anchor="ctr"/>
          <a:lstStyle/>
          <a:p>
            <a:pPr algn="ctr" indent="0" marL="0">
              <a:buNone/>
            </a:pPr>
            <a:r>
              <a:rPr lang="en-US" sz="1200" spc="400" kern="0" dirty="0">
                <a:solidFill>
                  <a:srgbClr val="6E6E73"/>
                </a:solidFill>
                <a:latin typeface="Arial" pitchFamily="34" charset="0"/>
                <a:ea typeface="Arial" pitchFamily="34" charset="-122"/>
                <a:cs typeface="Arial" pitchFamily="34" charset="-120"/>
              </a:rPr>
              <a:t>CONCURRENCY</a:t>
            </a:r>
            <a:endParaRPr lang="en-US" sz="1200" dirty="0"/>
          </a:p>
        </p:txBody>
      </p:sp>
      <p:sp>
        <p:nvSpPr>
          <p:cNvPr id="3" name="Text 1"/>
          <p:cNvSpPr/>
          <p:nvPr/>
        </p:nvSpPr>
        <p:spPr>
          <a:xfrm>
            <a:off x="731520" y="2926080"/>
            <a:ext cx="10725912" cy="77724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Async, isolates and the frame budget</a:t>
            </a:r>
            <a:endParaRPr lang="en-US" sz="3600" dirty="0"/>
          </a:p>
        </p:txBody>
      </p:sp>
      <p:sp>
        <p:nvSpPr>
          <p:cNvPr id="4" name="Text 2"/>
          <p:cNvSpPr/>
          <p:nvPr/>
        </p:nvSpPr>
        <p:spPr>
          <a:xfrm>
            <a:off x="731520" y="3794760"/>
            <a:ext cx="10725912" cy="411480"/>
          </a:xfrm>
          <a:prstGeom prst="rect">
            <a:avLst/>
          </a:prstGeom>
          <a:noFill/>
          <a:ln/>
        </p:spPr>
        <p:txBody>
          <a:bodyPr wrap="square" lIns="0" tIns="0" rIns="0" bIns="0" rtlCol="0" anchor="ctr"/>
          <a:lstStyle/>
          <a:p>
            <a:pPr algn="ctr" indent="0" marL="0">
              <a:buNone/>
            </a:pPr>
            <a:r>
              <a:rPr lang="en-US" sz="1500" dirty="0">
                <a:solidFill>
                  <a:srgbClr val="A1A1A6"/>
                </a:solidFill>
                <a:latin typeface="Arial" pitchFamily="34" charset="0"/>
                <a:ea typeface="Arial" pitchFamily="34" charset="-122"/>
                <a:cs typeface="Arial" pitchFamily="34" charset="-120"/>
              </a:rPr>
              <a:t>One thread, one event loop, and when you need a second heap</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18</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CONCURRENCY</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One frame budget = 1 ÷ refresh rate</a:t>
            </a:r>
            <a:endParaRPr lang="en-US" sz="3000" dirty="0"/>
          </a:p>
        </p:txBody>
      </p:sp>
      <p:sp>
        <p:nvSpPr>
          <p:cNvPr id="5" name="Text 3"/>
          <p:cNvSpPr/>
          <p:nvPr/>
        </p:nvSpPr>
        <p:spPr>
          <a:xfrm>
            <a:off x="822960" y="1965960"/>
            <a:ext cx="3240024" cy="914400"/>
          </a:xfrm>
          <a:prstGeom prst="rect">
            <a:avLst/>
          </a:prstGeom>
          <a:noFill/>
          <a:ln/>
        </p:spPr>
        <p:txBody>
          <a:bodyPr wrap="square" lIns="0" tIns="0" rIns="0" bIns="0" rtlCol="0" anchor="ctr"/>
          <a:lstStyle/>
          <a:p>
            <a:pPr indent="0" marL="0">
              <a:buNone/>
            </a:pPr>
            <a:r>
              <a:rPr lang="en-US" sz="4600" dirty="0">
                <a:solidFill>
                  <a:srgbClr val="1D1D1F"/>
                </a:solidFill>
                <a:latin typeface="Arial" pitchFamily="34" charset="0"/>
                <a:ea typeface="Arial" pitchFamily="34" charset="-122"/>
                <a:cs typeface="Arial" pitchFamily="34" charset="-120"/>
              </a:rPr>
              <a:t>16.7 ms</a:t>
            </a:r>
            <a:endParaRPr lang="en-US" sz="4600" dirty="0"/>
          </a:p>
        </p:txBody>
      </p:sp>
      <p:sp>
        <p:nvSpPr>
          <p:cNvPr id="6" name="Text 4"/>
          <p:cNvSpPr/>
          <p:nvPr/>
        </p:nvSpPr>
        <p:spPr>
          <a:xfrm>
            <a:off x="822960" y="3017520"/>
            <a:ext cx="3240024" cy="548640"/>
          </a:xfrm>
          <a:prstGeom prst="rect">
            <a:avLst/>
          </a:prstGeom>
          <a:noFill/>
          <a:ln/>
        </p:spPr>
        <p:txBody>
          <a:bodyPr wrap="square" lIns="0" tIns="0" rIns="0" bIns="0" rtlCol="0" anchor="ctr"/>
          <a:lstStyle/>
          <a:p>
            <a:pPr indent="0" marL="0">
              <a:buNone/>
            </a:pPr>
            <a:r>
              <a:rPr lang="en-US" sz="1350" b="1" dirty="0">
                <a:solidFill>
                  <a:srgbClr val="1D1D1F"/>
                </a:solidFill>
                <a:latin typeface="Arial" pitchFamily="34" charset="0"/>
                <a:ea typeface="Arial" pitchFamily="34" charset="-122"/>
                <a:cs typeface="Arial" pitchFamily="34" charset="-120"/>
              </a:rPr>
              <a:t>60 Hz</a:t>
            </a:r>
            <a:endParaRPr lang="en-US" sz="1350" dirty="0"/>
          </a:p>
        </p:txBody>
      </p:sp>
      <p:sp>
        <p:nvSpPr>
          <p:cNvPr id="7" name="Text 5"/>
          <p:cNvSpPr/>
          <p:nvPr/>
        </p:nvSpPr>
        <p:spPr>
          <a:xfrm>
            <a:off x="822960" y="3520440"/>
            <a:ext cx="3240024" cy="320040"/>
          </a:xfrm>
          <a:prstGeom prst="rect">
            <a:avLst/>
          </a:prstGeom>
          <a:noFill/>
          <a:ln/>
        </p:spPr>
        <p:txBody>
          <a:bodyPr wrap="square" lIns="0" tIns="0" rIns="0" bIns="0" rtlCol="0" anchor="ctr"/>
          <a:lstStyle/>
          <a:p>
            <a:pPr indent="0" marL="0">
              <a:buNone/>
            </a:pPr>
            <a:r>
              <a:rPr lang="en-US" sz="1150" dirty="0">
                <a:solidFill>
                  <a:srgbClr val="86868B"/>
                </a:solidFill>
                <a:latin typeface="Arial" pitchFamily="34" charset="0"/>
                <a:ea typeface="Arial" pitchFamily="34" charset="-122"/>
                <a:cs typeface="Arial" pitchFamily="34" charset="-120"/>
              </a:rPr>
              <a:t>older devices, power-saving mode</a:t>
            </a:r>
            <a:endParaRPr lang="en-US" sz="1150" dirty="0"/>
          </a:p>
        </p:txBody>
      </p:sp>
      <p:sp>
        <p:nvSpPr>
          <p:cNvPr id="8" name="Text 6"/>
          <p:cNvSpPr/>
          <p:nvPr/>
        </p:nvSpPr>
        <p:spPr>
          <a:xfrm>
            <a:off x="4337304" y="1965960"/>
            <a:ext cx="3240024" cy="914400"/>
          </a:xfrm>
          <a:prstGeom prst="rect">
            <a:avLst/>
          </a:prstGeom>
          <a:noFill/>
          <a:ln/>
        </p:spPr>
        <p:txBody>
          <a:bodyPr wrap="square" lIns="0" tIns="0" rIns="0" bIns="0" rtlCol="0" anchor="ctr"/>
          <a:lstStyle/>
          <a:p>
            <a:pPr indent="0" marL="0">
              <a:buNone/>
            </a:pPr>
            <a:r>
              <a:rPr lang="en-US" sz="4600" dirty="0">
                <a:solidFill>
                  <a:srgbClr val="1D1D1F"/>
                </a:solidFill>
                <a:latin typeface="Arial" pitchFamily="34" charset="0"/>
                <a:ea typeface="Arial" pitchFamily="34" charset="-122"/>
                <a:cs typeface="Arial" pitchFamily="34" charset="-120"/>
              </a:rPr>
              <a:t>11.1 ms</a:t>
            </a:r>
            <a:endParaRPr lang="en-US" sz="4600" dirty="0"/>
          </a:p>
        </p:txBody>
      </p:sp>
      <p:sp>
        <p:nvSpPr>
          <p:cNvPr id="9" name="Text 7"/>
          <p:cNvSpPr/>
          <p:nvPr/>
        </p:nvSpPr>
        <p:spPr>
          <a:xfrm>
            <a:off x="4337304" y="3017520"/>
            <a:ext cx="3240024" cy="548640"/>
          </a:xfrm>
          <a:prstGeom prst="rect">
            <a:avLst/>
          </a:prstGeom>
          <a:noFill/>
          <a:ln/>
        </p:spPr>
        <p:txBody>
          <a:bodyPr wrap="square" lIns="0" tIns="0" rIns="0" bIns="0" rtlCol="0" anchor="ctr"/>
          <a:lstStyle/>
          <a:p>
            <a:pPr indent="0" marL="0">
              <a:buNone/>
            </a:pPr>
            <a:r>
              <a:rPr lang="en-US" sz="1350" b="1" dirty="0">
                <a:solidFill>
                  <a:srgbClr val="1D1D1F"/>
                </a:solidFill>
                <a:latin typeface="Arial" pitchFamily="34" charset="0"/>
                <a:ea typeface="Arial" pitchFamily="34" charset="-122"/>
                <a:cs typeface="Arial" pitchFamily="34" charset="-120"/>
              </a:rPr>
              <a:t>90 Hz</a:t>
            </a:r>
            <a:endParaRPr lang="en-US" sz="1350" dirty="0"/>
          </a:p>
        </p:txBody>
      </p:sp>
      <p:sp>
        <p:nvSpPr>
          <p:cNvPr id="10" name="Text 8"/>
          <p:cNvSpPr/>
          <p:nvPr/>
        </p:nvSpPr>
        <p:spPr>
          <a:xfrm>
            <a:off x="4337304" y="3520440"/>
            <a:ext cx="3240024" cy="320040"/>
          </a:xfrm>
          <a:prstGeom prst="rect">
            <a:avLst/>
          </a:prstGeom>
          <a:noFill/>
          <a:ln/>
        </p:spPr>
        <p:txBody>
          <a:bodyPr wrap="square" lIns="0" tIns="0" rIns="0" bIns="0" rtlCol="0" anchor="ctr"/>
          <a:lstStyle/>
          <a:p>
            <a:pPr indent="0" marL="0">
              <a:buNone/>
            </a:pPr>
            <a:r>
              <a:rPr lang="en-US" sz="1150" dirty="0">
                <a:solidFill>
                  <a:srgbClr val="86868B"/>
                </a:solidFill>
                <a:latin typeface="Arial" pitchFamily="34" charset="0"/>
                <a:ea typeface="Arial" pitchFamily="34" charset="-122"/>
                <a:cs typeface="Arial" pitchFamily="34" charset="-120"/>
              </a:rPr>
              <a:t>common mid-range in 2026</a:t>
            </a:r>
            <a:endParaRPr lang="en-US" sz="1150" dirty="0"/>
          </a:p>
        </p:txBody>
      </p:sp>
      <p:sp>
        <p:nvSpPr>
          <p:cNvPr id="11" name="Text 9"/>
          <p:cNvSpPr/>
          <p:nvPr/>
        </p:nvSpPr>
        <p:spPr>
          <a:xfrm>
            <a:off x="7851648" y="1965960"/>
            <a:ext cx="3240024" cy="914400"/>
          </a:xfrm>
          <a:prstGeom prst="rect">
            <a:avLst/>
          </a:prstGeom>
          <a:noFill/>
          <a:ln/>
        </p:spPr>
        <p:txBody>
          <a:bodyPr wrap="square" lIns="0" tIns="0" rIns="0" bIns="0" rtlCol="0" anchor="ctr"/>
          <a:lstStyle/>
          <a:p>
            <a:pPr indent="0" marL="0">
              <a:buNone/>
            </a:pPr>
            <a:r>
              <a:rPr lang="en-US" sz="4600" dirty="0">
                <a:solidFill>
                  <a:srgbClr val="1D1D1F"/>
                </a:solidFill>
                <a:latin typeface="Arial" pitchFamily="34" charset="0"/>
                <a:ea typeface="Arial" pitchFamily="34" charset="-122"/>
                <a:cs typeface="Arial" pitchFamily="34" charset="-120"/>
              </a:rPr>
              <a:t>8.3 ms</a:t>
            </a:r>
            <a:endParaRPr lang="en-US" sz="4600" dirty="0"/>
          </a:p>
        </p:txBody>
      </p:sp>
      <p:sp>
        <p:nvSpPr>
          <p:cNvPr id="12" name="Text 10"/>
          <p:cNvSpPr/>
          <p:nvPr/>
        </p:nvSpPr>
        <p:spPr>
          <a:xfrm>
            <a:off x="7851648" y="3017520"/>
            <a:ext cx="3240024" cy="548640"/>
          </a:xfrm>
          <a:prstGeom prst="rect">
            <a:avLst/>
          </a:prstGeom>
          <a:noFill/>
          <a:ln/>
        </p:spPr>
        <p:txBody>
          <a:bodyPr wrap="square" lIns="0" tIns="0" rIns="0" bIns="0" rtlCol="0" anchor="ctr"/>
          <a:lstStyle/>
          <a:p>
            <a:pPr indent="0" marL="0">
              <a:buNone/>
            </a:pPr>
            <a:r>
              <a:rPr lang="en-US" sz="1350" b="1" dirty="0">
                <a:solidFill>
                  <a:srgbClr val="1D1D1F"/>
                </a:solidFill>
                <a:latin typeface="Arial" pitchFamily="34" charset="0"/>
                <a:ea typeface="Arial" pitchFamily="34" charset="-122"/>
                <a:cs typeface="Arial" pitchFamily="34" charset="-120"/>
              </a:rPr>
              <a:t>120 Hz</a:t>
            </a:r>
            <a:endParaRPr lang="en-US" sz="1350" dirty="0"/>
          </a:p>
        </p:txBody>
      </p:sp>
      <p:sp>
        <p:nvSpPr>
          <p:cNvPr id="13" name="Text 11"/>
          <p:cNvSpPr/>
          <p:nvPr/>
        </p:nvSpPr>
        <p:spPr>
          <a:xfrm>
            <a:off x="7851648" y="3520440"/>
            <a:ext cx="3240024" cy="320040"/>
          </a:xfrm>
          <a:prstGeom prst="rect">
            <a:avLst/>
          </a:prstGeom>
          <a:noFill/>
          <a:ln/>
        </p:spPr>
        <p:txBody>
          <a:bodyPr wrap="square" lIns="0" tIns="0" rIns="0" bIns="0" rtlCol="0" anchor="ctr"/>
          <a:lstStyle/>
          <a:p>
            <a:pPr indent="0" marL="0">
              <a:buNone/>
            </a:pPr>
            <a:r>
              <a:rPr lang="en-US" sz="1150" dirty="0">
                <a:solidFill>
                  <a:srgbClr val="86868B"/>
                </a:solidFill>
                <a:latin typeface="Arial" pitchFamily="34" charset="0"/>
                <a:ea typeface="Arial" pitchFamily="34" charset="-122"/>
                <a:cs typeface="Arial" pitchFamily="34" charset="-120"/>
              </a:rPr>
              <a:t>most 2026 flagships, and they switch on the fly</a:t>
            </a:r>
            <a:endParaRPr lang="en-US" sz="1150" dirty="0"/>
          </a:p>
        </p:txBody>
      </p:sp>
      <p:sp>
        <p:nvSpPr>
          <p:cNvPr id="14" name="Shape 12"/>
          <p:cNvSpPr/>
          <p:nvPr/>
        </p:nvSpPr>
        <p:spPr>
          <a:xfrm>
            <a:off x="822960" y="4114800"/>
            <a:ext cx="10543032" cy="0"/>
          </a:xfrm>
          <a:prstGeom prst="line">
            <a:avLst/>
          </a:prstGeom>
          <a:noFill/>
          <a:ln w="9525">
            <a:solidFill>
              <a:srgbClr val="D2D2D7"/>
            </a:solidFill>
            <a:prstDash val="solid"/>
          </a:ln>
        </p:spPr>
      </p:sp>
      <p:sp>
        <p:nvSpPr>
          <p:cNvPr id="15" name="Text 13"/>
          <p:cNvSpPr/>
          <p:nvPr/>
        </p:nvSpPr>
        <p:spPr>
          <a:xfrm>
            <a:off x="822960" y="4343400"/>
            <a:ext cx="10543032" cy="1737360"/>
          </a:xfrm>
          <a:prstGeom prst="rect">
            <a:avLst/>
          </a:prstGeom>
          <a:noFill/>
          <a:ln/>
        </p:spPr>
        <p:txBody>
          <a:bodyPr wrap="square" lIns="0" tIns="0" rIns="0" bIns="0" rtlCol="0" anchor="t"/>
          <a:lstStyle/>
          <a:p>
            <a:pPr indent="0" marL="0">
              <a:spcAft>
                <a:spcPts val="1200"/>
              </a:spcAft>
              <a:buNone/>
            </a:pPr>
            <a:r>
              <a:rPr lang="en-US" sz="1400" dirty="0">
                <a:solidFill>
                  <a:srgbClr val="1D1D1F"/>
                </a:solidFill>
                <a:latin typeface="Arial" pitchFamily="34" charset="0"/>
                <a:ea typeface="Arial" pitchFamily="34" charset="-122"/>
                <a:cs typeface="Arial" pitchFamily="34" charset="-120"/>
              </a:rPr>
              <a:t>Inside that budget the UI thread has to handle input, run build(), lay out, paint and hand the frame to the GPU.</a:t>
            </a:r>
            <a:endParaRPr lang="en-US" sz="1400" dirty="0"/>
          </a:p>
          <a:p>
            <a:pPr indent="0" marL="0">
              <a:spcAft>
                <a:spcPts val="1200"/>
              </a:spcAft>
              <a:buNone/>
            </a:pPr>
            <a:r>
              <a:rPr lang="en-US" sz="1400" dirty="0">
                <a:solidFill>
                  <a:srgbClr val="1D1D1F"/>
                </a:solidFill>
                <a:latin typeface="Arial" pitchFamily="34" charset="0"/>
                <a:ea typeface="Arial" pitchFamily="34" charset="-122"/>
                <a:cs typeface="Arial" pitchFamily="34" charset="-120"/>
              </a:rPr>
              <a:t>Overrun it and the frame is dropped: that is the stutter users call jank. Repeated overruns show up as continuous stutter.</a:t>
            </a:r>
            <a:endParaRPr lang="en-US" sz="1400" dirty="0"/>
          </a:p>
          <a:p>
            <a:pPr indent="0" marL="0">
              <a:spcAft>
                <a:spcPts val="1200"/>
              </a:spcAft>
              <a:buNone/>
            </a:pPr>
            <a:r>
              <a:rPr lang="en-US" sz="1400" b="1" dirty="0">
                <a:solidFill>
                  <a:srgbClr val="1D1D1F"/>
                </a:solidFill>
                <a:latin typeface="Arial" pitchFamily="34" charset="0"/>
                <a:ea typeface="Arial" pitchFamily="34" charset="-122"/>
                <a:cs typeface="Arial" pitchFamily="34" charset="-120"/>
              </a:rPr>
              <a:t>Do not hard-code 16 ms.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19</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CONCURRENCY</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The event loop and the microtask queue</a:t>
            </a:r>
            <a:endParaRPr lang="en-US" sz="3000" dirty="0"/>
          </a:p>
        </p:txBody>
      </p:sp>
      <p:sp>
        <p:nvSpPr>
          <p:cNvPr id="5" name="Text 3"/>
          <p:cNvSpPr/>
          <p:nvPr/>
        </p:nvSpPr>
        <p:spPr>
          <a:xfrm>
            <a:off x="822960" y="1783080"/>
            <a:ext cx="6492240" cy="3200400"/>
          </a:xfrm>
          <a:prstGeom prst="rect">
            <a:avLst/>
          </a:prstGeom>
          <a:noFill/>
          <a:ln/>
        </p:spPr>
        <p:txBody>
          <a:bodyPr wrap="square" lIns="0" tIns="0" rIns="0" bIns="0" rtlCol="0" anchor="t"/>
          <a:lstStyle/>
          <a:p>
            <a:pPr indent="0" marL="0">
              <a:spcAft>
                <a:spcPts val="1400"/>
              </a:spcAft>
              <a:buNone/>
            </a:pPr>
            <a:r>
              <a:rPr lang="en-US" sz="1400" dirty="0">
                <a:solidFill>
                  <a:srgbClr val="1D1D1F"/>
                </a:solidFill>
                <a:latin typeface="Arial" pitchFamily="34" charset="0"/>
                <a:ea typeface="Arial" pitchFamily="34" charset="-122"/>
                <a:cs typeface="Arial" pitchFamily="34" charset="-120"/>
              </a:rPr>
              <a:t>Your app runs on a single thread inside one isolate, the main isolate, and that isolate owns the UI.</a:t>
            </a:r>
            <a:endParaRPr lang="en-US" sz="1400" dirty="0"/>
          </a:p>
          <a:p>
            <a:pPr indent="0" marL="0">
              <a:spcAft>
                <a:spcPts val="1400"/>
              </a:spcAft>
              <a:buNone/>
            </a:pPr>
            <a:r>
              <a:rPr lang="en-US" sz="1400" dirty="0">
                <a:solidFill>
                  <a:srgbClr val="1D1D1F"/>
                </a:solidFill>
                <a:latin typeface="Arial" pitchFamily="34" charset="0"/>
                <a:ea typeface="Arial" pitchFamily="34" charset="-122"/>
                <a:cs typeface="Arial" pitchFamily="34" charset="-120"/>
              </a:rPr>
              <a:t>That thread runs an event loop: take one event, run it to completion, drain the entire microtask queue, then take the next event.</a:t>
            </a:r>
            <a:endParaRPr lang="en-US" sz="1400" dirty="0"/>
          </a:p>
          <a:p>
            <a:pPr indent="0" marL="0">
              <a:spcAft>
                <a:spcPts val="1400"/>
              </a:spcAft>
              <a:buNone/>
            </a:pPr>
            <a:r>
              <a:rPr lang="en-US" sz="1400" dirty="0">
                <a:solidFill>
                  <a:srgbClr val="1D1D1F"/>
                </a:solidFill>
                <a:latin typeface="Arial" pitchFamily="34" charset="0"/>
                <a:ea typeface="Arial" pitchFamily="34" charset="-122"/>
                <a:cs typeface="Arial" pitchFamily="34" charset="-120"/>
              </a:rPr>
              <a:t>await starts nothing. It registers the rest of your function as a continuation and hands control back to the loop.</a:t>
            </a:r>
            <a:endParaRPr lang="en-US" sz="1400" dirty="0"/>
          </a:p>
          <a:p>
            <a:pPr indent="0" marL="0">
              <a:spcAft>
                <a:spcPts val="1400"/>
              </a:spcAft>
              <a:buNone/>
            </a:pPr>
            <a:r>
              <a:rPr lang="en-US" sz="1400" dirty="0">
                <a:solidFill>
                  <a:srgbClr val="1D1D1F"/>
                </a:solidFill>
                <a:latin typeface="Arial" pitchFamily="34" charset="0"/>
                <a:ea typeface="Arial" pitchFamily="34" charset="-122"/>
                <a:cs typeface="Arial" pitchFamily="34" charset="-120"/>
              </a:rPr>
              <a:t>Nothing else runs while your code runs. A 400 ms function is 400 ms of dropped frames.</a:t>
            </a:r>
            <a:endParaRPr lang="en-US" sz="1400" dirty="0"/>
          </a:p>
        </p:txBody>
      </p:sp>
      <p:sp>
        <p:nvSpPr>
          <p:cNvPr id="6" name="Shape 4"/>
          <p:cNvSpPr/>
          <p:nvPr/>
        </p:nvSpPr>
        <p:spPr>
          <a:xfrm>
            <a:off x="7772400" y="1828800"/>
            <a:ext cx="3749040" cy="914400"/>
          </a:xfrm>
          <a:prstGeom prst="roundRect">
            <a:avLst>
              <a:gd name="adj" fmla="val 12000"/>
            </a:avLst>
          </a:prstGeom>
          <a:solidFill>
            <a:srgbClr val="F5F5F7"/>
          </a:solidFill>
          <a:ln/>
        </p:spPr>
      </p:sp>
      <p:sp>
        <p:nvSpPr>
          <p:cNvPr id="7" name="Text 5"/>
          <p:cNvSpPr/>
          <p:nvPr/>
        </p:nvSpPr>
        <p:spPr>
          <a:xfrm>
            <a:off x="7772400" y="1828800"/>
            <a:ext cx="3749040" cy="914400"/>
          </a:xfrm>
          <a:prstGeom prst="rect">
            <a:avLst/>
          </a:prstGeom>
          <a:noFill/>
          <a:ln/>
        </p:spPr>
        <p:txBody>
          <a:bodyPr wrap="square" lIns="0" tIns="0" rIns="0" bIns="0" rtlCol="0" anchor="ctr"/>
          <a:lstStyle/>
          <a:p>
            <a:pPr algn="ctr" indent="0" marL="0">
              <a:buNone/>
            </a:pPr>
            <a:r>
              <a:rPr lang="en-US" sz="1350" b="1" dirty="0">
                <a:solidFill>
                  <a:srgbClr val="1D1D1F"/>
                </a:solidFill>
                <a:latin typeface="Arial" pitchFamily="34" charset="0"/>
                <a:ea typeface="Arial" pitchFamily="34" charset="-122"/>
                <a:cs typeface="Arial" pitchFamily="34" charset="-120"/>
              </a:rPr>
              <a:t>Microtask queue</a:t>
            </a:r>
            <a:endParaRPr lang="en-US" sz="1350" dirty="0"/>
          </a:p>
          <a:p>
            <a:pPr algn="ctr" indent="0" marL="0">
              <a:buNone/>
            </a:pPr>
            <a:r>
              <a:rPr lang="en-US" sz="1100" dirty="0">
                <a:solidFill>
                  <a:srgbClr val="86868B"/>
                </a:solidFill>
                <a:latin typeface="Arial" pitchFamily="34" charset="0"/>
                <a:ea typeface="Arial" pitchFamily="34" charset="-122"/>
                <a:cs typeface="Arial" pitchFamily="34" charset="-120"/>
              </a:rPr>
              <a:t>Future callbacks, drained completely first</a:t>
            </a:r>
            <a:endParaRPr lang="en-US" sz="1350" dirty="0"/>
          </a:p>
        </p:txBody>
      </p:sp>
      <p:sp>
        <p:nvSpPr>
          <p:cNvPr id="8" name="Shape 6"/>
          <p:cNvSpPr/>
          <p:nvPr/>
        </p:nvSpPr>
        <p:spPr>
          <a:xfrm>
            <a:off x="9646920" y="2743200"/>
            <a:ext cx="0" cy="347472"/>
          </a:xfrm>
          <a:prstGeom prst="line">
            <a:avLst/>
          </a:prstGeom>
          <a:noFill/>
          <a:ln w="15875">
            <a:solidFill>
              <a:srgbClr val="86868B"/>
            </a:solidFill>
            <a:prstDash val="solid"/>
            <a:tailEnd type="triangle"/>
          </a:ln>
        </p:spPr>
      </p:sp>
      <p:sp>
        <p:nvSpPr>
          <p:cNvPr id="9" name="Shape 7"/>
          <p:cNvSpPr/>
          <p:nvPr/>
        </p:nvSpPr>
        <p:spPr>
          <a:xfrm>
            <a:off x="7772400" y="3090672"/>
            <a:ext cx="3749040" cy="914400"/>
          </a:xfrm>
          <a:prstGeom prst="roundRect">
            <a:avLst>
              <a:gd name="adj" fmla="val 9000"/>
            </a:avLst>
          </a:prstGeom>
          <a:solidFill>
            <a:srgbClr val="FFFFFF"/>
          </a:solidFill>
          <a:ln w="12700">
            <a:solidFill>
              <a:srgbClr val="D2D2D7"/>
            </a:solidFill>
            <a:prstDash val="solid"/>
          </a:ln>
        </p:spPr>
      </p:sp>
      <p:sp>
        <p:nvSpPr>
          <p:cNvPr id="10" name="Text 8"/>
          <p:cNvSpPr/>
          <p:nvPr/>
        </p:nvSpPr>
        <p:spPr>
          <a:xfrm>
            <a:off x="7772400" y="3090672"/>
            <a:ext cx="3749040" cy="914400"/>
          </a:xfrm>
          <a:prstGeom prst="rect">
            <a:avLst/>
          </a:prstGeom>
          <a:noFill/>
          <a:ln/>
        </p:spPr>
        <p:txBody>
          <a:bodyPr wrap="square" lIns="0" tIns="0" rIns="0" bIns="0" rtlCol="0" anchor="ctr"/>
          <a:lstStyle/>
          <a:p>
            <a:pPr algn="ctr" indent="0" marL="0">
              <a:buNone/>
            </a:pPr>
            <a:r>
              <a:rPr lang="en-US" sz="1350" b="1" dirty="0">
                <a:solidFill>
                  <a:srgbClr val="1D1D1F"/>
                </a:solidFill>
                <a:latin typeface="Arial" pitchFamily="34" charset="0"/>
                <a:ea typeface="Arial" pitchFamily="34" charset="-122"/>
                <a:cs typeface="Arial" pitchFamily="34" charset="-120"/>
              </a:rPr>
              <a:t>Event queue</a:t>
            </a:r>
            <a:endParaRPr lang="en-US" sz="1350" dirty="0"/>
          </a:p>
          <a:p>
            <a:pPr algn="ctr" indent="0" marL="0">
              <a:buNone/>
            </a:pPr>
            <a:r>
              <a:rPr lang="en-US" sz="1100" dirty="0">
                <a:solidFill>
                  <a:srgbClr val="86868B"/>
                </a:solidFill>
                <a:latin typeface="Arial" pitchFamily="34" charset="0"/>
                <a:ea typeface="Arial" pitchFamily="34" charset="-122"/>
                <a:cs typeface="Arial" pitchFamily="34" charset="-120"/>
              </a:rPr>
              <a:t>I/O, timers, gestures, platform messages</a:t>
            </a:r>
            <a:endParaRPr lang="en-US" sz="1350" dirty="0"/>
          </a:p>
        </p:txBody>
      </p:sp>
      <p:sp>
        <p:nvSpPr>
          <p:cNvPr id="11" name="Shape 9"/>
          <p:cNvSpPr/>
          <p:nvPr/>
        </p:nvSpPr>
        <p:spPr>
          <a:xfrm>
            <a:off x="9646920" y="4005072"/>
            <a:ext cx="0" cy="347472"/>
          </a:xfrm>
          <a:prstGeom prst="line">
            <a:avLst/>
          </a:prstGeom>
          <a:noFill/>
          <a:ln w="15875">
            <a:solidFill>
              <a:srgbClr val="86868B"/>
            </a:solidFill>
            <a:prstDash val="solid"/>
            <a:tailEnd type="triangle"/>
          </a:ln>
        </p:spPr>
      </p:sp>
      <p:sp>
        <p:nvSpPr>
          <p:cNvPr id="12" name="Shape 10"/>
          <p:cNvSpPr/>
          <p:nvPr/>
        </p:nvSpPr>
        <p:spPr>
          <a:xfrm>
            <a:off x="7772400" y="4352544"/>
            <a:ext cx="3749040" cy="914400"/>
          </a:xfrm>
          <a:prstGeom prst="roundRect">
            <a:avLst>
              <a:gd name="adj" fmla="val 9000"/>
            </a:avLst>
          </a:prstGeom>
          <a:solidFill>
            <a:srgbClr val="000000"/>
          </a:solidFill>
          <a:ln/>
        </p:spPr>
      </p:sp>
      <p:sp>
        <p:nvSpPr>
          <p:cNvPr id="13" name="Text 11"/>
          <p:cNvSpPr/>
          <p:nvPr/>
        </p:nvSpPr>
        <p:spPr>
          <a:xfrm>
            <a:off x="7772400" y="4352544"/>
            <a:ext cx="3749040" cy="914400"/>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Frame</a:t>
            </a:r>
            <a:endParaRPr lang="en-US" sz="1350" dirty="0"/>
          </a:p>
          <a:p>
            <a:pPr algn="ctr" indent="0" marL="0">
              <a:buNone/>
            </a:pPr>
            <a:r>
              <a:rPr lang="en-US" sz="1100" dirty="0">
                <a:solidFill>
                  <a:srgbClr val="A1A1A6"/>
                </a:solidFill>
                <a:latin typeface="Arial" pitchFamily="34" charset="0"/>
                <a:ea typeface="Arial" pitchFamily="34" charset="-122"/>
                <a:cs typeface="Arial" pitchFamily="34" charset="-120"/>
              </a:rPr>
              <a:t>build → layout → paint</a:t>
            </a:r>
            <a:endParaRPr lang="en-US" sz="1350" dirty="0"/>
          </a:p>
        </p:txBody>
      </p:sp>
      <p:sp>
        <p:nvSpPr>
          <p:cNvPr id="14" name="Shape 12"/>
          <p:cNvSpPr/>
          <p:nvPr/>
        </p:nvSpPr>
        <p:spPr>
          <a:xfrm>
            <a:off x="822960" y="5120640"/>
            <a:ext cx="6492240" cy="0"/>
          </a:xfrm>
          <a:prstGeom prst="line">
            <a:avLst/>
          </a:prstGeom>
          <a:noFill/>
          <a:ln w="9525">
            <a:solidFill>
              <a:srgbClr val="D2D2D7"/>
            </a:solidFill>
            <a:prstDash val="solid"/>
          </a:ln>
        </p:spPr>
      </p:sp>
      <p:sp>
        <p:nvSpPr>
          <p:cNvPr id="15" name="Text 13"/>
          <p:cNvSpPr/>
          <p:nvPr/>
        </p:nvSpPr>
        <p:spPr>
          <a:xfrm>
            <a:off x="822960" y="5349240"/>
            <a:ext cx="6492240" cy="64008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Concurrent, not parallel.</a:t>
            </a:r>
            <a:pPr indent="0" marL="0">
              <a:buNone/>
            </a:pPr>
            <a:r>
              <a:rPr lang="en-US" sz="1400" dirty="0">
                <a:solidFill>
                  <a:srgbClr val="86868B"/>
                </a:solidFill>
                <a:latin typeface="Arial" pitchFamily="34" charset="0"/>
                <a:ea typeface="Arial" pitchFamily="34" charset="-122"/>
                <a:cs typeface="Arial" pitchFamily="34" charset="-120"/>
              </a:rPr>
              <a:t> One thread, interleaving work that is mostly waiting.</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20</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CONCURRENCY</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Futures, async/await, and error handling</a:t>
            </a:r>
            <a:endParaRPr lang="en-US" sz="3000" dirty="0"/>
          </a:p>
        </p:txBody>
      </p:sp>
      <p:sp>
        <p:nvSpPr>
          <p:cNvPr id="5" name="Shape 3"/>
          <p:cNvSpPr/>
          <p:nvPr/>
        </p:nvSpPr>
        <p:spPr>
          <a:xfrm>
            <a:off x="822960" y="1783080"/>
            <a:ext cx="7040880" cy="4480560"/>
          </a:xfrm>
          <a:prstGeom prst="roundRect">
            <a:avLst>
              <a:gd name="adj" fmla="val 2449"/>
            </a:avLst>
          </a:prstGeom>
          <a:solidFill>
            <a:srgbClr val="F5F5F7"/>
          </a:solidFill>
          <a:ln/>
        </p:spPr>
      </p:sp>
      <p:sp>
        <p:nvSpPr>
          <p:cNvPr id="6" name="Text 4"/>
          <p:cNvSpPr/>
          <p:nvPr/>
        </p:nvSpPr>
        <p:spPr>
          <a:xfrm>
            <a:off x="1234440" y="2103120"/>
            <a:ext cx="6309360" cy="3886200"/>
          </a:xfrm>
          <a:prstGeom prst="rect">
            <a:avLst/>
          </a:prstGeom>
          <a:noFill/>
          <a:ln/>
        </p:spPr>
        <p:txBody>
          <a:bodyPr wrap="square" lIns="0" tIns="0" rIns="0" bIns="0" rtlCol="0" anchor="t"/>
          <a:lstStyle/>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Future&lt;User&gt; loadUser(String id) async {</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final res = await dio.get('/users/$id');   // suspends here</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return User.fromJson(res.data);</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Future&lt;void&gt; _refresh() async {</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try {</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_user = await loadUser(widget.id);</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 on DioException catch (e) {        // expected failure</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_error = 'Network failed: ${e.message}';</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 catch (e, stack) {                 // anything else</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_error = 'Unexpected error';</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FirebaseCrashlytics.instance.recordError(e, stack);</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 finally {</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if (mounted) setState(() =&gt; _loading = false);</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  }</a:t>
            </a:r>
            <a:endParaRPr lang="en-US" sz="1000" dirty="0"/>
          </a:p>
          <a:p>
            <a:pPr indent="0" marL="0">
              <a:lnSpc>
                <a:spcPts val="1900"/>
              </a:lnSpc>
              <a:buNone/>
            </a:pPr>
            <a:r>
              <a:rPr lang="en-US" sz="1000" dirty="0">
                <a:solidFill>
                  <a:srgbClr val="1D1D1F"/>
                </a:solidFill>
                <a:latin typeface="Courier New" pitchFamily="34" charset="0"/>
                <a:ea typeface="Courier New" pitchFamily="34" charset="-122"/>
                <a:cs typeface="Courier New" pitchFamily="34" charset="-120"/>
              </a:rPr>
              <a:t>}</a:t>
            </a:r>
            <a:endParaRPr lang="en-US" sz="1000" dirty="0"/>
          </a:p>
        </p:txBody>
      </p:sp>
      <p:sp>
        <p:nvSpPr>
          <p:cNvPr id="7" name="Text 5"/>
          <p:cNvSpPr/>
          <p:nvPr/>
        </p:nvSpPr>
        <p:spPr>
          <a:xfrm>
            <a:off x="8092440" y="1783080"/>
            <a:ext cx="3273552" cy="32004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Errors inside async code</a:t>
            </a:r>
            <a:endParaRPr lang="en-US" sz="1400" dirty="0"/>
          </a:p>
        </p:txBody>
      </p:sp>
      <p:sp>
        <p:nvSpPr>
          <p:cNvPr id="8" name="Text 6"/>
          <p:cNvSpPr/>
          <p:nvPr/>
        </p:nvSpPr>
        <p:spPr>
          <a:xfrm>
            <a:off x="8092440" y="2194560"/>
            <a:ext cx="3273552" cy="3840480"/>
          </a:xfrm>
          <a:prstGeom prst="rect">
            <a:avLst/>
          </a:prstGeom>
          <a:noFill/>
          <a:ln/>
        </p:spPr>
        <p:txBody>
          <a:bodyPr wrap="square" lIns="0" tIns="0" rIns="0" bIns="0" rtlCol="0" anchor="t"/>
          <a:lstStyle/>
          <a:p>
            <a:pPr indent="0" marL="0">
              <a:spcAft>
                <a:spcPts val="1000"/>
              </a:spcAft>
              <a:buNone/>
            </a:pPr>
            <a:r>
              <a:rPr lang="en-US" sz="1150" dirty="0">
                <a:solidFill>
                  <a:srgbClr val="1D1D1F"/>
                </a:solidFill>
                <a:latin typeface="Arial" pitchFamily="34" charset="0"/>
                <a:ea typeface="Arial" pitchFamily="34" charset="-122"/>
                <a:cs typeface="Arial" pitchFamily="34" charset="-120"/>
              </a:rPr>
              <a:t>A failure inside async code does not throw at the call site; it completes the Future with an error.</a:t>
            </a:r>
            <a:endParaRPr lang="en-US" sz="1150" dirty="0"/>
          </a:p>
          <a:p>
            <a:pPr indent="0" marL="0">
              <a:spcAft>
                <a:spcPts val="1000"/>
              </a:spcAft>
              <a:buNone/>
            </a:pPr>
            <a:r>
              <a:rPr lang="en-US" sz="1150" dirty="0">
                <a:solidFill>
                  <a:srgbClr val="1D1D1F"/>
                </a:solidFill>
                <a:latin typeface="Arial" pitchFamily="34" charset="0"/>
                <a:ea typeface="Arial" pitchFamily="34" charset="-122"/>
                <a:cs typeface="Arial" pitchFamily="34" charset="-120"/>
              </a:rPr>
              <a:t>await rethrows it, so try/catch/finally behaves exactly as it does in synchronous code. That is the whole point of await.</a:t>
            </a:r>
            <a:endParaRPr lang="en-US" sz="1150" dirty="0"/>
          </a:p>
          <a:p>
            <a:pPr indent="0" marL="0">
              <a:spcAft>
                <a:spcPts val="1000"/>
              </a:spcAft>
              <a:buNone/>
            </a:pPr>
            <a:r>
              <a:rPr lang="en-US" sz="1150" dirty="0">
                <a:solidFill>
                  <a:srgbClr val="1D1D1F"/>
                </a:solidFill>
                <a:latin typeface="Arial" pitchFamily="34" charset="0"/>
                <a:ea typeface="Arial" pitchFamily="34" charset="-122"/>
                <a:cs typeface="Arial" pitchFamily="34" charset="-120"/>
              </a:rPr>
              <a:t>Without a try, the error escapes as an unhandled async error, which users rarely report.</a:t>
            </a:r>
            <a:endParaRPr lang="en-US" sz="1150" dirty="0"/>
          </a:p>
          <a:p>
            <a:pPr indent="0" marL="0">
              <a:spcAft>
                <a:spcPts val="1000"/>
              </a:spcAft>
              <a:buNone/>
            </a:pPr>
            <a:r>
              <a:rPr lang="en-US" sz="1150" dirty="0">
                <a:solidFill>
                  <a:srgbClr val="1D1D1F"/>
                </a:solidFill>
                <a:latin typeface="Arial" pitchFamily="34" charset="0"/>
                <a:ea typeface="Arial" pitchFamily="34" charset="-122"/>
                <a:cs typeface="Arial" pitchFamily="34" charset="-120"/>
              </a:rPr>
              <a:t>Always check mounted before setState after an await: the widget may already have left the tree.</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21</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CONCURRENCY</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Streams: many values, over time</a:t>
            </a:r>
            <a:endParaRPr lang="en-US" sz="3000" dirty="0"/>
          </a:p>
        </p:txBody>
      </p:sp>
      <p:sp>
        <p:nvSpPr>
          <p:cNvPr id="5" name="Shape 3"/>
          <p:cNvSpPr/>
          <p:nvPr/>
        </p:nvSpPr>
        <p:spPr>
          <a:xfrm>
            <a:off x="822960" y="1783080"/>
            <a:ext cx="6675120" cy="3520440"/>
          </a:xfrm>
          <a:prstGeom prst="roundRect">
            <a:avLst>
              <a:gd name="adj" fmla="val 3117"/>
            </a:avLst>
          </a:prstGeom>
          <a:solidFill>
            <a:srgbClr val="F5F5F7"/>
          </a:solidFill>
          <a:ln/>
        </p:spPr>
      </p:sp>
      <p:sp>
        <p:nvSpPr>
          <p:cNvPr id="6" name="Text 4"/>
          <p:cNvSpPr/>
          <p:nvPr/>
        </p:nvSpPr>
        <p:spPr>
          <a:xfrm>
            <a:off x="1234440" y="2103120"/>
            <a:ext cx="5943600" cy="2926080"/>
          </a:xfrm>
          <a:prstGeom prst="rect">
            <a:avLst/>
          </a:prstGeom>
          <a:noFill/>
          <a:ln/>
        </p:spPr>
        <p:txBody>
          <a:bodyPr wrap="square" lIns="0" tIns="0" rIns="0" bIns="0" rtlCol="0" anchor="t"/>
          <a:lstStyle/>
          <a:p>
            <a:pPr indent="0" marL="0">
              <a:lnSpc>
                <a:spcPts val="2000"/>
              </a:lnSpc>
              <a:buNone/>
            </a:pPr>
            <a:r>
              <a:rPr lang="en-US" sz="1100" dirty="0">
                <a:solidFill>
                  <a:srgbClr val="86868B"/>
                </a:solidFill>
                <a:latin typeface="Courier New" pitchFamily="34" charset="0"/>
                <a:ea typeface="Courier New" pitchFamily="34" charset="-122"/>
                <a:cs typeface="Courier New" pitchFamily="34" charset="-120"/>
              </a:rPr>
              <a:t>// A Future is one value, later.</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final user = await loadUser(id);</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 </a:t>
            </a:r>
            <a:endParaRPr lang="en-US" sz="1100" dirty="0"/>
          </a:p>
          <a:p>
            <a:pPr indent="0" marL="0">
              <a:lnSpc>
                <a:spcPts val="2000"/>
              </a:lnSpc>
              <a:buNone/>
            </a:pPr>
            <a:r>
              <a:rPr lang="en-US" sz="1100" dirty="0">
                <a:solidFill>
                  <a:srgbClr val="86868B"/>
                </a:solidFill>
                <a:latin typeface="Courier New" pitchFamily="34" charset="0"/>
                <a:ea typeface="Courier New" pitchFamily="34" charset="-122"/>
                <a:cs typeface="Courier New" pitchFamily="34" charset="-120"/>
              </a:rPr>
              <a:t>// A Stream is many values, over time.</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Stream&lt;int&gt; ticker() async* {</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  for (var i = 0; ; i++) {</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    await Future.delayed(const Duration(seconds: 1));</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    yield i;</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  }</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 </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await for (final tick in ticker()) { print(tick); }</a:t>
            </a:r>
            <a:endParaRPr lang="en-US" sz="1100" dirty="0"/>
          </a:p>
        </p:txBody>
      </p:sp>
      <p:sp>
        <p:nvSpPr>
          <p:cNvPr id="7" name="Text 5"/>
          <p:cNvSpPr/>
          <p:nvPr/>
        </p:nvSpPr>
        <p:spPr>
          <a:xfrm>
            <a:off x="7772400" y="1783080"/>
            <a:ext cx="3593592" cy="3657600"/>
          </a:xfrm>
          <a:prstGeom prst="rect">
            <a:avLst/>
          </a:prstGeom>
          <a:noFill/>
          <a:ln/>
        </p:spPr>
        <p:txBody>
          <a:bodyPr wrap="square" lIns="0" tIns="0" rIns="0" bIns="0" rtlCol="0" anchor="t"/>
          <a:lstStyle/>
          <a:p>
            <a:pPr indent="0" marL="0">
              <a:spcAft>
                <a:spcPts val="1200"/>
              </a:spcAft>
              <a:buNone/>
            </a:pPr>
            <a:r>
              <a:rPr lang="en-US" sz="1250" dirty="0">
                <a:solidFill>
                  <a:srgbClr val="1D1D1F"/>
                </a:solidFill>
                <a:latin typeface="Arial" pitchFamily="34" charset="0"/>
                <a:ea typeface="Arial" pitchFamily="34" charset="-122"/>
                <a:cs typeface="Arial" pitchFamily="34" charset="-120"/>
              </a:rPr>
              <a:t>In a widget, use StreamBuilder: it subscribes, rebuilds on each event and cancels for you.</a:t>
            </a:r>
            <a:endParaRPr lang="en-US" sz="1250" dirty="0"/>
          </a:p>
          <a:p>
            <a:pPr indent="0" marL="0">
              <a:spcAft>
                <a:spcPts val="1200"/>
              </a:spcAft>
              <a:buNone/>
            </a:pPr>
            <a:r>
              <a:rPr lang="en-US" sz="1250" dirty="0">
                <a:solidFill>
                  <a:srgbClr val="1D1D1F"/>
                </a:solidFill>
                <a:latin typeface="Arial" pitchFamily="34" charset="0"/>
                <a:ea typeface="Arial" pitchFamily="34" charset="-122"/>
                <a:cs typeface="Arial" pitchFamily="34" charset="-120"/>
              </a:rPr>
              <a:t>Streams are how WebSockets, sensor feeds and database snapshots reach your UI.</a:t>
            </a:r>
            <a:endParaRPr lang="en-US" sz="1250" dirty="0"/>
          </a:p>
          <a:p>
            <a:pPr indent="0" marL="0">
              <a:spcAft>
                <a:spcPts val="1200"/>
              </a:spcAft>
              <a:buNone/>
            </a:pPr>
            <a:r>
              <a:rPr lang="en-US" sz="1250" dirty="0">
                <a:solidFill>
                  <a:srgbClr val="1D1D1F"/>
                </a:solidFill>
                <a:latin typeface="Arial" pitchFamily="34" charset="0"/>
                <a:ea typeface="Arial" pitchFamily="34" charset="-122"/>
                <a:cs typeface="Arial" pitchFamily="34" charset="-120"/>
              </a:rPr>
              <a:t>→ Lecture 8, WebSockets · → Lecture 11, sensors over MQTT</a:t>
            </a:r>
            <a:endParaRPr lang="en-US" sz="1250" dirty="0"/>
          </a:p>
          <a:p>
            <a:pPr indent="0" marL="0">
              <a:spcAft>
                <a:spcPts val="1200"/>
              </a:spcAft>
              <a:buNone/>
            </a:pPr>
            <a:r>
              <a:rPr lang="en-US" sz="1250" dirty="0">
                <a:solidFill>
                  <a:srgbClr val="1D1D1F"/>
                </a:solidFill>
                <a:latin typeface="Arial" pitchFamily="34" charset="0"/>
                <a:ea typeface="Arial" pitchFamily="34" charset="-122"/>
                <a:cs typeface="Arial" pitchFamily="34" charset="-120"/>
              </a:rPr>
              <a:t>Cancel every subscription you create by hand in dispose().</a:t>
            </a:r>
            <a:endParaRPr lang="en-US" sz="1250" dirty="0"/>
          </a:p>
        </p:txBody>
      </p:sp>
      <p:sp>
        <p:nvSpPr>
          <p:cNvPr id="8" name="Shape 6"/>
          <p:cNvSpPr/>
          <p:nvPr/>
        </p:nvSpPr>
        <p:spPr>
          <a:xfrm>
            <a:off x="822960" y="5440680"/>
            <a:ext cx="6675120" cy="0"/>
          </a:xfrm>
          <a:prstGeom prst="line">
            <a:avLst/>
          </a:prstGeom>
          <a:noFill/>
          <a:ln w="9525">
            <a:solidFill>
              <a:srgbClr val="D2D2D7"/>
            </a:solidFill>
            <a:prstDash val="solid"/>
          </a:ln>
        </p:spPr>
      </p:sp>
      <p:sp>
        <p:nvSpPr>
          <p:cNvPr id="9" name="Text 7"/>
          <p:cNvSpPr/>
          <p:nvPr/>
        </p:nvSpPr>
        <p:spPr>
          <a:xfrm>
            <a:off x="822960" y="5669280"/>
            <a:ext cx="6675120" cy="64008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One value → Future. Many → Stream.</a:t>
            </a:r>
            <a:pPr indent="0" marL="0">
              <a:buNone/>
            </a:pPr>
            <a:r>
              <a:rPr lang="en-US" sz="1400" dirty="0">
                <a:solidFill>
                  <a:srgbClr val="86868B"/>
                </a:solidFill>
                <a:latin typeface="Arial" pitchFamily="34" charset="0"/>
                <a:ea typeface="Arial" pitchFamily="34" charset="-122"/>
                <a:cs typeface="Arial" pitchFamily="34" charset="-120"/>
              </a:rPr>
              <a:t> Both ride the same event loop.</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22</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CONCURRENCY</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Async is not parallel</a:t>
            </a:r>
            <a:endParaRPr lang="en-US" sz="3000" dirty="0"/>
          </a:p>
        </p:txBody>
      </p:sp>
      <p:sp>
        <p:nvSpPr>
          <p:cNvPr id="5" name="Shape 3"/>
          <p:cNvSpPr/>
          <p:nvPr/>
        </p:nvSpPr>
        <p:spPr>
          <a:xfrm>
            <a:off x="822960" y="1783080"/>
            <a:ext cx="6675120" cy="2651760"/>
          </a:xfrm>
          <a:prstGeom prst="roundRect">
            <a:avLst>
              <a:gd name="adj" fmla="val 4138"/>
            </a:avLst>
          </a:prstGeom>
          <a:solidFill>
            <a:srgbClr val="F5F5F7"/>
          </a:solidFill>
          <a:ln/>
        </p:spPr>
      </p:sp>
      <p:sp>
        <p:nvSpPr>
          <p:cNvPr id="6" name="Text 4"/>
          <p:cNvSpPr/>
          <p:nvPr/>
        </p:nvSpPr>
        <p:spPr>
          <a:xfrm>
            <a:off x="1234440" y="2103120"/>
            <a:ext cx="5943600" cy="2057400"/>
          </a:xfrm>
          <a:prstGeom prst="rect">
            <a:avLst/>
          </a:prstGeom>
          <a:noFill/>
          <a:ln/>
        </p:spPr>
        <p:txBody>
          <a:bodyPr wrap="square" lIns="0" tIns="0" rIns="0" bIns="0" rtlCol="0" anchor="t"/>
          <a:lstStyle/>
          <a:p>
            <a:pPr indent="0" marL="0">
              <a:lnSpc>
                <a:spcPts val="2100"/>
              </a:lnSpc>
              <a:buNone/>
            </a:pPr>
            <a:r>
              <a:rPr lang="en-US" sz="1150" dirty="0">
                <a:solidFill>
                  <a:srgbClr val="86868B"/>
                </a:solidFill>
                <a:latin typeface="Courier New" pitchFamily="34" charset="0"/>
                <a:ea typeface="Courier New" pitchFamily="34" charset="-122"/>
                <a:cs typeface="Courier New" pitchFamily="34" charset="-120"/>
              </a:rPr>
              <a:t>// This function is async. It still freezes the UI.</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Future&lt;int&gt; sumTo(int n) async {</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  var total = 0;</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  for (var i = 0; i &lt; n; i++) {</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    total += i;        // pure CPU, it never yields</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  }</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  return total;        // the loop never got a turn</a:t>
            </a:r>
            <a:endParaRPr lang="en-US" sz="1150" dirty="0"/>
          </a:p>
          <a:p>
            <a:pPr indent="0" marL="0">
              <a:lnSpc>
                <a:spcPts val="2100"/>
              </a:lnSpc>
              <a:buNone/>
            </a:pPr>
            <a:r>
              <a:rPr lang="en-US" sz="1150" dirty="0">
                <a:solidFill>
                  <a:srgbClr val="1D1D1F"/>
                </a:solidFill>
                <a:latin typeface="Courier New" pitchFamily="34" charset="0"/>
                <a:ea typeface="Courier New" pitchFamily="34" charset="-122"/>
                <a:cs typeface="Courier New" pitchFamily="34" charset="-120"/>
              </a:rPr>
              <a:t>}</a:t>
            </a:r>
            <a:endParaRPr lang="en-US" sz="1150" dirty="0"/>
          </a:p>
        </p:txBody>
      </p:sp>
      <p:sp>
        <p:nvSpPr>
          <p:cNvPr id="7" name="Text 5"/>
          <p:cNvSpPr/>
          <p:nvPr/>
        </p:nvSpPr>
        <p:spPr>
          <a:xfrm>
            <a:off x="822960" y="4572000"/>
            <a:ext cx="6675120" cy="640080"/>
          </a:xfrm>
          <a:prstGeom prst="rect">
            <a:avLst/>
          </a:prstGeom>
          <a:noFill/>
          <a:ln/>
        </p:spPr>
        <p:txBody>
          <a:bodyPr wrap="square" lIns="0" tIns="0" rIns="0" bIns="0" rtlCol="0" anchor="t"/>
          <a:lstStyle/>
          <a:p>
            <a:pPr indent="0" marL="0">
              <a:buNone/>
            </a:pPr>
            <a:r>
              <a:rPr lang="en-US" sz="1200" dirty="0">
                <a:solidFill>
                  <a:srgbClr val="86868B"/>
                </a:solidFill>
                <a:latin typeface="Arial" pitchFamily="34" charset="0"/>
                <a:ea typeface="Arial" pitchFamily="34" charset="-122"/>
                <a:cs typeface="Arial" pitchFamily="34" charset="-120"/>
              </a:rPr>
              <a:t>Typical offenders: decoding a large JSON payload, image resize and filtering, encryption, compression, sorting hundreds of thousands of items.</a:t>
            </a:r>
            <a:endParaRPr lang="en-US" sz="1200" dirty="0"/>
          </a:p>
        </p:txBody>
      </p:sp>
      <p:sp>
        <p:nvSpPr>
          <p:cNvPr id="8" name="Text 6"/>
          <p:cNvSpPr/>
          <p:nvPr/>
        </p:nvSpPr>
        <p:spPr>
          <a:xfrm>
            <a:off x="7772400" y="1783080"/>
            <a:ext cx="3593592" cy="3108960"/>
          </a:xfrm>
          <a:prstGeom prst="rect">
            <a:avLst/>
          </a:prstGeom>
          <a:noFill/>
          <a:ln/>
        </p:spPr>
        <p:txBody>
          <a:bodyPr wrap="square" lIns="0" tIns="0" rIns="0" bIns="0" rtlCol="0" anchor="t"/>
          <a:lstStyle/>
          <a:p>
            <a:pPr indent="0" marL="0">
              <a:spcAft>
                <a:spcPts val="1300"/>
              </a:spcAft>
              <a:buNone/>
            </a:pPr>
            <a:r>
              <a:rPr lang="en-US" sz="1250" dirty="0">
                <a:solidFill>
                  <a:srgbClr val="1D1D1F"/>
                </a:solidFill>
                <a:latin typeface="Arial" pitchFamily="34" charset="0"/>
                <a:ea typeface="Arial" pitchFamily="34" charset="-122"/>
                <a:cs typeface="Arial" pitchFamily="34" charset="-120"/>
              </a:rPr>
              <a:t>async only helps when something else is doing the waiting: a socket, a disk, a timer.</a:t>
            </a:r>
            <a:endParaRPr lang="en-US" sz="1250" dirty="0"/>
          </a:p>
          <a:p>
            <a:pPr indent="0" marL="0">
              <a:spcAft>
                <a:spcPts val="1300"/>
              </a:spcAft>
              <a:buNone/>
            </a:pPr>
            <a:r>
              <a:rPr lang="en-US" sz="1250" dirty="0">
                <a:solidFill>
                  <a:srgbClr val="1D1D1F"/>
                </a:solidFill>
                <a:latin typeface="Arial" pitchFamily="34" charset="0"/>
                <a:ea typeface="Arial" pitchFamily="34" charset="-122"/>
                <a:cs typeface="Arial" pitchFamily="34" charset="-120"/>
              </a:rPr>
              <a:t>Pure CPU work has nothing to wait for, so it never returns to the event loop.</a:t>
            </a:r>
            <a:endParaRPr lang="en-US" sz="1250" dirty="0"/>
          </a:p>
          <a:p>
            <a:pPr indent="0" marL="0">
              <a:spcAft>
                <a:spcPts val="1300"/>
              </a:spcAft>
              <a:buNone/>
            </a:pPr>
            <a:r>
              <a:rPr lang="en-US" sz="1250" dirty="0">
                <a:solidFill>
                  <a:srgbClr val="1D1D1F"/>
                </a:solidFill>
                <a:latin typeface="Arial" pitchFamily="34" charset="0"/>
                <a:ea typeface="Arial" pitchFamily="34" charset="-122"/>
                <a:cs typeface="Arial" pitchFamily="34" charset="-120"/>
              </a:rPr>
              <a:t>Cooperative multitasking only works if every task yields.</a:t>
            </a:r>
            <a:endParaRPr lang="en-US" sz="1250" dirty="0"/>
          </a:p>
        </p:txBody>
      </p:sp>
      <p:sp>
        <p:nvSpPr>
          <p:cNvPr id="9" name="Shape 7"/>
          <p:cNvSpPr/>
          <p:nvPr/>
        </p:nvSpPr>
        <p:spPr>
          <a:xfrm>
            <a:off x="822960" y="5349240"/>
            <a:ext cx="10543032" cy="0"/>
          </a:xfrm>
          <a:prstGeom prst="line">
            <a:avLst/>
          </a:prstGeom>
          <a:noFill/>
          <a:ln w="9525">
            <a:solidFill>
              <a:srgbClr val="D2D2D7"/>
            </a:solidFill>
            <a:prstDash val="solid"/>
          </a:ln>
        </p:spPr>
      </p:sp>
      <p:sp>
        <p:nvSpPr>
          <p:cNvPr id="10" name="Text 8"/>
          <p:cNvSpPr/>
          <p:nvPr/>
        </p:nvSpPr>
        <p:spPr>
          <a:xfrm>
            <a:off x="822960" y="5577840"/>
            <a:ext cx="10543032" cy="64008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Rule of thumb:</a:t>
            </a:r>
            <a:pPr indent="0" marL="0">
              <a:buNone/>
            </a:pPr>
            <a:r>
              <a:rPr lang="en-US" sz="1400" dirty="0">
                <a:solidFill>
                  <a:srgbClr val="86868B"/>
                </a:solidFill>
                <a:latin typeface="Arial" pitchFamily="34" charset="0"/>
                <a:ea typeface="Arial" pitchFamily="34" charset="-122"/>
                <a:cs typeface="Arial" pitchFamily="34" charset="-120"/>
              </a:rPr>
              <a:t> waiting on I/O → async/await. Burning CPU for longer than a frame → isolate.</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23</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CONCURRENCY</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compute(): the one-call isolate</a:t>
            </a:r>
            <a:endParaRPr lang="en-US" sz="3000" dirty="0"/>
          </a:p>
        </p:txBody>
      </p:sp>
      <p:sp>
        <p:nvSpPr>
          <p:cNvPr id="5" name="Shape 3"/>
          <p:cNvSpPr/>
          <p:nvPr/>
        </p:nvSpPr>
        <p:spPr>
          <a:xfrm>
            <a:off x="822960" y="1783080"/>
            <a:ext cx="7040880" cy="3520440"/>
          </a:xfrm>
          <a:prstGeom prst="roundRect">
            <a:avLst>
              <a:gd name="adj" fmla="val 3117"/>
            </a:avLst>
          </a:prstGeom>
          <a:solidFill>
            <a:srgbClr val="F5F5F7"/>
          </a:solidFill>
          <a:ln/>
        </p:spPr>
      </p:sp>
      <p:sp>
        <p:nvSpPr>
          <p:cNvPr id="6" name="Text 4"/>
          <p:cNvSpPr/>
          <p:nvPr/>
        </p:nvSpPr>
        <p:spPr>
          <a:xfrm>
            <a:off x="1234440" y="2103120"/>
            <a:ext cx="6309360" cy="2926080"/>
          </a:xfrm>
          <a:prstGeom prst="rect">
            <a:avLst/>
          </a:prstGeom>
          <a:noFill/>
          <a:ln/>
        </p:spPr>
        <p:txBody>
          <a:bodyPr wrap="square" lIns="0" tIns="0" rIns="0" bIns="0" rtlCol="0" anchor="t"/>
          <a:lstStyle/>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import 'package:flutter/foundation.dart';</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 </a:t>
            </a:r>
            <a:endParaRPr lang="en-US" sz="1100" dirty="0"/>
          </a:p>
          <a:p>
            <a:pPr indent="0" marL="0">
              <a:lnSpc>
                <a:spcPts val="2000"/>
              </a:lnSpc>
              <a:buNone/>
            </a:pPr>
            <a:r>
              <a:rPr lang="en-US" sz="1100" dirty="0">
                <a:solidFill>
                  <a:srgbClr val="86868B"/>
                </a:solidFill>
                <a:latin typeface="Courier New" pitchFamily="34" charset="0"/>
                <a:ea typeface="Courier New" pitchFamily="34" charset="-122"/>
                <a:cs typeface="Courier New" pitchFamily="34" charset="-120"/>
              </a:rPr>
              <a:t>// Must be a top-level or static function.</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List&lt;Photo&gt; parsePhotos(String body) {</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  final list = jsonDecode(body) as List&lt;dynamic&gt;;</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  return list.map(Photo.fromJson).toList();</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 </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Future&lt;List&lt;Photo&gt;&gt; fetchPhotos() async {</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  final res = await http.get(url);        // I/O  → await</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  return compute(parsePhotos, res.body);  // CPU  → isolate</a:t>
            </a:r>
            <a:endParaRPr lang="en-US" sz="1100" dirty="0"/>
          </a:p>
          <a:p>
            <a:pPr indent="0" marL="0">
              <a:lnSpc>
                <a:spcPts val="2000"/>
              </a:lnSpc>
              <a:buNone/>
            </a:pPr>
            <a:r>
              <a:rPr lang="en-US" sz="1100" dirty="0">
                <a:solidFill>
                  <a:srgbClr val="1D1D1F"/>
                </a:solidFill>
                <a:latin typeface="Courier New" pitchFamily="34" charset="0"/>
                <a:ea typeface="Courier New" pitchFamily="34" charset="-122"/>
                <a:cs typeface="Courier New" pitchFamily="34" charset="-120"/>
              </a:rPr>
              <a:t>}</a:t>
            </a:r>
            <a:endParaRPr lang="en-US" sz="1100" dirty="0"/>
          </a:p>
        </p:txBody>
      </p:sp>
      <p:sp>
        <p:nvSpPr>
          <p:cNvPr id="7" name="Text 5"/>
          <p:cNvSpPr/>
          <p:nvPr/>
        </p:nvSpPr>
        <p:spPr>
          <a:xfrm>
            <a:off x="8092440" y="1783080"/>
            <a:ext cx="3273552" cy="3657600"/>
          </a:xfrm>
          <a:prstGeom prst="rect">
            <a:avLst/>
          </a:prstGeom>
          <a:noFill/>
          <a:ln/>
        </p:spPr>
        <p:txBody>
          <a:bodyPr wrap="square" lIns="0" tIns="0" rIns="0" bIns="0" rtlCol="0" anchor="t"/>
          <a:lstStyle/>
          <a:p>
            <a:pPr indent="0" marL="0">
              <a:spcAft>
                <a:spcPts val="1200"/>
              </a:spcAft>
              <a:buNone/>
            </a:pPr>
            <a:r>
              <a:rPr lang="en-US" sz="1200" dirty="0">
                <a:solidFill>
                  <a:srgbClr val="1D1D1F"/>
                </a:solidFill>
                <a:latin typeface="Arial" pitchFamily="34" charset="0"/>
                <a:ea typeface="Arial" pitchFamily="34" charset="-122"/>
                <a:cs typeface="Arial" pitchFamily="34" charset="-120"/>
              </a:rPr>
              <a:t>compute() spawns a short-lived isolate, runs one function, sends the result back and shuts it down.</a:t>
            </a:r>
            <a:endParaRPr lang="en-US" sz="1200" dirty="0"/>
          </a:p>
          <a:p>
            <a:pPr indent="0" marL="0">
              <a:spcAft>
                <a:spcPts val="1200"/>
              </a:spcAft>
              <a:buNone/>
            </a:pPr>
            <a:r>
              <a:rPr lang="en-US" sz="1200" dirty="0">
                <a:solidFill>
                  <a:srgbClr val="1D1D1F"/>
                </a:solidFill>
                <a:latin typeface="Arial" pitchFamily="34" charset="0"/>
                <a:ea typeface="Arial" pitchFamily="34" charset="-122"/>
                <a:cs typeface="Arial" pitchFamily="34" charset="-120"/>
              </a:rPr>
              <a:t>Arguments and results must be sendable: primitives, Strings, Lists and Maps of them, TransferableTypedData.</a:t>
            </a:r>
            <a:endParaRPr lang="en-US" sz="1200" dirty="0"/>
          </a:p>
          <a:p>
            <a:pPr indent="0" marL="0">
              <a:spcAft>
                <a:spcPts val="1200"/>
              </a:spcAft>
              <a:buNone/>
            </a:pPr>
            <a:r>
              <a:rPr lang="en-US" sz="1200" dirty="0">
                <a:solidFill>
                  <a:srgbClr val="1D1D1F"/>
                </a:solidFill>
                <a:latin typeface="Arial" pitchFamily="34" charset="0"/>
                <a:ea typeface="Arial" pitchFamily="34" charset="-122"/>
                <a:cs typeface="Arial" pitchFamily="34" charset="-120"/>
              </a:rPr>
              <a:t>It costs a few milliseconds to spawn, and the payload is copied both ways, so do not use it for 2 ms of work.</a:t>
            </a:r>
            <a:endParaRPr lang="en-US" sz="1200" dirty="0"/>
          </a:p>
        </p:txBody>
      </p:sp>
      <p:sp>
        <p:nvSpPr>
          <p:cNvPr id="8" name="Shape 6"/>
          <p:cNvSpPr/>
          <p:nvPr/>
        </p:nvSpPr>
        <p:spPr>
          <a:xfrm>
            <a:off x="822960" y="5440680"/>
            <a:ext cx="7040880" cy="0"/>
          </a:xfrm>
          <a:prstGeom prst="line">
            <a:avLst/>
          </a:prstGeom>
          <a:noFill/>
          <a:ln w="9525">
            <a:solidFill>
              <a:srgbClr val="D2D2D7"/>
            </a:solidFill>
            <a:prstDash val="solid"/>
          </a:ln>
        </p:spPr>
      </p:sp>
      <p:sp>
        <p:nvSpPr>
          <p:cNvPr id="9" name="Text 7"/>
          <p:cNvSpPr/>
          <p:nvPr/>
        </p:nvSpPr>
        <p:spPr>
          <a:xfrm>
            <a:off x="822960" y="5669280"/>
            <a:ext cx="7040880" cy="64008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compute() covers most isolate work in application code.</a:t>
            </a:r>
            <a:pPr indent="0" marL="0">
              <a:buNone/>
            </a:pPr>
            <a:r>
              <a:rPr lang="en-US" sz="1400" dirty="0">
                <a:solidFill>
                  <a:srgbClr val="86868B"/>
                </a:solidFill>
                <a:latin typeface="Arial" pitchFamily="34" charset="0"/>
                <a:ea typeface="Arial" pitchFamily="34" charset="-122"/>
                <a:cs typeface="Arial" pitchFamily="34" charset="-120"/>
              </a:rPr>
              <a:t> The next slide covers the cases it does not.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24</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CONCURRENCY</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Isolate.spawn, SendPort, ReceivePort</a:t>
            </a:r>
            <a:endParaRPr lang="en-US" sz="3000" dirty="0"/>
          </a:p>
        </p:txBody>
      </p:sp>
      <p:sp>
        <p:nvSpPr>
          <p:cNvPr id="5" name="Shape 3"/>
          <p:cNvSpPr/>
          <p:nvPr/>
        </p:nvSpPr>
        <p:spPr>
          <a:xfrm>
            <a:off x="822960" y="1737360"/>
            <a:ext cx="7223760" cy="4206240"/>
          </a:xfrm>
          <a:prstGeom prst="roundRect">
            <a:avLst>
              <a:gd name="adj" fmla="val 2609"/>
            </a:avLst>
          </a:prstGeom>
          <a:solidFill>
            <a:srgbClr val="F5F5F7"/>
          </a:solidFill>
          <a:ln/>
        </p:spPr>
      </p:sp>
      <p:sp>
        <p:nvSpPr>
          <p:cNvPr id="6" name="Text 4"/>
          <p:cNvSpPr/>
          <p:nvPr/>
        </p:nvSpPr>
        <p:spPr>
          <a:xfrm>
            <a:off x="1234440" y="2057400"/>
            <a:ext cx="6492240" cy="3611880"/>
          </a:xfrm>
          <a:prstGeom prst="rect">
            <a:avLst/>
          </a:prstGeom>
          <a:noFill/>
          <a:ln/>
        </p:spPr>
        <p:txBody>
          <a:bodyPr wrap="square" lIns="0" tIns="0" rIns="0" bIns="0" rtlCol="0" anchor="t"/>
          <a:lstStyle/>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Future&lt;int&gt; sumInIsolate(int n) async {</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final inbox = ReceivePort();</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await Isolate.spawn(_worker, [inbox.sendPort, n]);</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final total = await inbox.first as int;  // one message</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inbox.close();</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return total;</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a:t>
            </a:r>
            <a:endParaRPr lang="en-US" sz="1050" dirty="0"/>
          </a:p>
          <a:p>
            <a:pPr indent="0" marL="0">
              <a:lnSpc>
                <a:spcPts val="1900"/>
              </a:lnSpc>
              <a:buNone/>
            </a:pPr>
            <a:r>
              <a:rPr lang="en-US" sz="1050" dirty="0">
                <a:solidFill>
                  <a:srgbClr val="86868B"/>
                </a:solidFill>
                <a:latin typeface="Courier New" pitchFamily="34" charset="0"/>
                <a:ea typeface="Courier New" pitchFamily="34" charset="-122"/>
                <a:cs typeface="Courier New" pitchFamily="34" charset="-120"/>
              </a:rPr>
              <a:t>// Runs in a new isolate: own heap, own event loop.</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void _worker(List&lt;Object&gt; msg) {</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final send = msg[0] as SendPort;</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final n = msg[1] as int;</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var total = 0;</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for (var i = 0; i &lt; n; i++) { total += i; }</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  Isolate.exit(send, total);   // send and terminate</a:t>
            </a:r>
            <a:endParaRPr lang="en-US" sz="1050" dirty="0"/>
          </a:p>
          <a:p>
            <a:pPr indent="0" marL="0">
              <a:lnSpc>
                <a:spcPts val="1900"/>
              </a:lnSpc>
              <a:buNone/>
            </a:pPr>
            <a:r>
              <a:rPr lang="en-US" sz="1050" dirty="0">
                <a:solidFill>
                  <a:srgbClr val="1D1D1F"/>
                </a:solidFill>
                <a:latin typeface="Courier New" pitchFamily="34" charset="0"/>
                <a:ea typeface="Courier New" pitchFamily="34" charset="-122"/>
                <a:cs typeface="Courier New" pitchFamily="34" charset="-120"/>
              </a:rPr>
              <a:t>}</a:t>
            </a:r>
            <a:endParaRPr lang="en-US" sz="1050" dirty="0"/>
          </a:p>
        </p:txBody>
      </p:sp>
      <p:sp>
        <p:nvSpPr>
          <p:cNvPr id="7" name="Text 5"/>
          <p:cNvSpPr/>
          <p:nvPr/>
        </p:nvSpPr>
        <p:spPr>
          <a:xfrm>
            <a:off x="8275320" y="1783080"/>
            <a:ext cx="3090672" cy="32004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The two ports</a:t>
            </a:r>
            <a:endParaRPr lang="en-US" sz="1400" dirty="0"/>
          </a:p>
        </p:txBody>
      </p:sp>
      <p:sp>
        <p:nvSpPr>
          <p:cNvPr id="8" name="Text 6"/>
          <p:cNvSpPr/>
          <p:nvPr/>
        </p:nvSpPr>
        <p:spPr>
          <a:xfrm>
            <a:off x="8275320" y="2194560"/>
            <a:ext cx="3090672" cy="3840480"/>
          </a:xfrm>
          <a:prstGeom prst="rect">
            <a:avLst/>
          </a:prstGeom>
          <a:noFill/>
          <a:ln/>
        </p:spPr>
        <p:txBody>
          <a:bodyPr wrap="square" lIns="0" tIns="0" rIns="0" bIns="0" rtlCol="0" anchor="t"/>
          <a:lstStyle/>
          <a:p>
            <a:pPr indent="0" marL="0">
              <a:spcAft>
                <a:spcPts val="1000"/>
              </a:spcAft>
              <a:buNone/>
            </a:pPr>
            <a:r>
              <a:rPr lang="en-US" sz="1150" dirty="0">
                <a:solidFill>
                  <a:srgbClr val="1D1D1F"/>
                </a:solidFill>
                <a:latin typeface="Arial" pitchFamily="34" charset="0"/>
                <a:ea typeface="Arial" pitchFamily="34" charset="-122"/>
                <a:cs typeface="Arial" pitchFamily="34" charset="-120"/>
              </a:rPr>
              <a:t>ReceivePort is your inbox. SendPort is a handle other isolates can post to.</a:t>
            </a:r>
            <a:endParaRPr lang="en-US" sz="1150" dirty="0"/>
          </a:p>
          <a:p>
            <a:pPr indent="0" marL="0">
              <a:spcAft>
                <a:spcPts val="1000"/>
              </a:spcAft>
              <a:buNone/>
            </a:pPr>
            <a:r>
              <a:rPr lang="en-US" sz="1150" dirty="0">
                <a:solidFill>
                  <a:srgbClr val="1D1D1F"/>
                </a:solidFill>
                <a:latin typeface="Arial" pitchFamily="34" charset="0"/>
                <a:ea typeface="Arial" pitchFamily="34" charset="-122"/>
                <a:cs typeface="Arial" pitchFamily="34" charset="-120"/>
              </a:rPr>
              <a:t>Messages are deep-copied between heaps: nothing is shared, so nothing needs a lock.</a:t>
            </a:r>
            <a:endParaRPr lang="en-US" sz="1150" dirty="0"/>
          </a:p>
          <a:p>
            <a:pPr indent="0" marL="0">
              <a:spcAft>
                <a:spcPts val="1000"/>
              </a:spcAft>
              <a:buNone/>
            </a:pPr>
            <a:r>
              <a:rPr lang="en-US" sz="1150" dirty="0">
                <a:solidFill>
                  <a:srgbClr val="1D1D1F"/>
                </a:solidFill>
                <a:latin typeface="Arial" pitchFamily="34" charset="0"/>
                <a:ea typeface="Arial" pitchFamily="34" charset="-122"/>
                <a:cs typeface="Arial" pitchFamily="34" charset="-120"/>
              </a:rPr>
              <a:t>Isolate.exit hands the result over without copying it, then ends the isolate.</a:t>
            </a:r>
            <a:endParaRPr lang="en-US" sz="1150" dirty="0"/>
          </a:p>
          <a:p>
            <a:pPr indent="0" marL="0">
              <a:spcAft>
                <a:spcPts val="1000"/>
              </a:spcAft>
              <a:buNone/>
            </a:pPr>
            <a:r>
              <a:rPr lang="en-US" sz="1150" dirty="0">
                <a:solidFill>
                  <a:srgbClr val="1D1D1F"/>
                </a:solidFill>
                <a:latin typeface="Arial" pitchFamily="34" charset="0"/>
                <a:ea typeface="Arial" pitchFamily="34" charset="-122"/>
                <a:cs typeface="Arial" pitchFamily="34" charset="-120"/>
              </a:rPr>
              <a:t>Use this when the worker is long-lived or streams results back; use compute() otherwise.</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25</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CONCURRENCY</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Async vs isolates, precisely</a:t>
            </a:r>
            <a:endParaRPr lang="en-US" sz="3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822960" y="1874520"/>
          <a:ext cx="10543032" cy="914400"/>
        </p:xfrm>
        <a:graphic>
          <a:graphicData uri="http://schemas.openxmlformats.org/drawingml/2006/table">
            <a:tbl>
              <a:tblPr/>
              <a:tblGrid>
                <a:gridCol w="1737360"/>
                <a:gridCol w="4402836"/>
                <a:gridCol w="4402836"/>
              </a:tblGrid>
              <a:tr h="438912">
                <a:tc>
                  <a:txBody>
                    <a:bodyPr/>
                    <a:lstStyle/>
                    <a:p>
                      <a:pPr indent="0" marL="0">
                        <a:buNone/>
                      </a:pPr>
                      <a:endParaRPr lang="en-US" sz="115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tcPr>
                </a:tc>
                <a:tc>
                  <a:txBody>
                    <a:bodyPr/>
                    <a:lstStyle/>
                    <a:p>
                      <a:pPr algn="ctr" indent="0" marL="0">
                        <a:buNone/>
                      </a:pPr>
                      <a:r>
                        <a:rPr lang="en-US" sz="1150" b="1" dirty="0">
                          <a:solidFill>
                            <a:srgbClr val="1D1D1F"/>
                          </a:solidFill>
                          <a:latin typeface="Arial" pitchFamily="34" charset="0"/>
                          <a:ea typeface="Arial" pitchFamily="34" charset="-122"/>
                          <a:cs typeface="Arial" pitchFamily="34" charset="-120"/>
                        </a:rPr>
                        <a:t>async / await</a:t>
                      </a:r>
                      <a:endParaRPr lang="en-US" sz="115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D1D1F"/>
                          </a:solidFill>
                          <a:latin typeface="Arial" pitchFamily="34" charset="0"/>
                          <a:ea typeface="Arial" pitchFamily="34" charset="-122"/>
                          <a:cs typeface="Arial" pitchFamily="34" charset="-120"/>
                        </a:rPr>
                        <a:t>Isolate</a:t>
                      </a:r>
                      <a:endParaRPr lang="en-US" sz="115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502920">
                <a:tc>
                  <a:txBody>
                    <a:bodyPr/>
                    <a:lstStyle/>
                    <a:p>
                      <a:pPr algn="l" indent="0" marL="0">
                        <a:buNone/>
                      </a:pPr>
                      <a:r>
                        <a:rPr lang="en-US" sz="1150" dirty="0">
                          <a:solidFill>
                            <a:srgbClr val="86868B"/>
                          </a:solidFill>
                          <a:latin typeface="Arial" pitchFamily="34" charset="0"/>
                          <a:ea typeface="Arial" pitchFamily="34" charset="-122"/>
                          <a:cs typeface="Arial" pitchFamily="34" charset="-120"/>
                        </a:rPr>
                        <a:t>Threads</a:t>
                      </a:r>
                      <a:endParaRPr lang="en-US" sz="115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tcPr>
                </a:tc>
                <a:tc>
                  <a:txBody>
                    <a:bodyPr/>
                    <a:lstStyle/>
                    <a:p>
                      <a:pPr algn="ctr" indent="0" marL="0">
                        <a:buNone/>
                      </a:pPr>
                      <a:r>
                        <a:rPr lang="en-US" sz="1150" dirty="0">
                          <a:solidFill>
                            <a:srgbClr val="1D1D1F"/>
                          </a:solidFill>
                          <a:latin typeface="Arial" pitchFamily="34" charset="0"/>
                          <a:ea typeface="Arial" pitchFamily="34" charset="-122"/>
                          <a:cs typeface="Arial" pitchFamily="34" charset="-120"/>
                        </a:rPr>
                        <a:t>one, interleaved on the UI thread</a:t>
                      </a:r>
                      <a:endParaRPr lang="en-US" sz="115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D1D1F"/>
                          </a:solidFill>
                          <a:latin typeface="Arial" pitchFamily="34" charset="0"/>
                          <a:ea typeface="Arial" pitchFamily="34" charset="-122"/>
                          <a:cs typeface="Arial" pitchFamily="34" charset="-120"/>
                        </a:rPr>
                        <a:t>one per isolate, scheduled by the OS</a:t>
                      </a:r>
                      <a:endParaRPr lang="en-US" sz="115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502920">
                <a:tc>
                  <a:txBody>
                    <a:bodyPr/>
                    <a:lstStyle/>
                    <a:p>
                      <a:pPr algn="l" indent="0" marL="0">
                        <a:buNone/>
                      </a:pPr>
                      <a:r>
                        <a:rPr lang="en-US" sz="1150" dirty="0">
                          <a:solidFill>
                            <a:srgbClr val="86868B"/>
                          </a:solidFill>
                          <a:latin typeface="Arial" pitchFamily="34" charset="0"/>
                          <a:ea typeface="Arial" pitchFamily="34" charset="-122"/>
                          <a:cs typeface="Arial" pitchFamily="34" charset="-120"/>
                        </a:rPr>
                        <a:t>Memory</a:t>
                      </a:r>
                      <a:endParaRPr lang="en-US" sz="115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tcPr>
                </a:tc>
                <a:tc>
                  <a:txBody>
                    <a:bodyPr/>
                    <a:lstStyle/>
                    <a:p>
                      <a:pPr algn="ctr" indent="0" marL="0">
                        <a:buNone/>
                      </a:pPr>
                      <a:r>
                        <a:rPr lang="en-US" sz="1150" dirty="0">
                          <a:solidFill>
                            <a:srgbClr val="1D1D1F"/>
                          </a:solidFill>
                          <a:latin typeface="Arial" pitchFamily="34" charset="0"/>
                          <a:ea typeface="Arial" pitchFamily="34" charset="-122"/>
                          <a:cs typeface="Arial" pitchFamily="34" charset="-120"/>
                        </a:rPr>
                        <a:t>one heap, shared by everything</a:t>
                      </a:r>
                      <a:endParaRPr lang="en-US" sz="115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D1D1F"/>
                          </a:solidFill>
                          <a:latin typeface="Arial" pitchFamily="34" charset="0"/>
                          <a:ea typeface="Arial" pitchFamily="34" charset="-122"/>
                          <a:cs typeface="Arial" pitchFamily="34" charset="-120"/>
                        </a:rPr>
                        <a:t>a separate heap per isolate</a:t>
                      </a:r>
                      <a:endParaRPr lang="en-US" sz="115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502920">
                <a:tc>
                  <a:txBody>
                    <a:bodyPr/>
                    <a:lstStyle/>
                    <a:p>
                      <a:pPr algn="l" indent="0" marL="0">
                        <a:buNone/>
                      </a:pPr>
                      <a:r>
                        <a:rPr lang="en-US" sz="1150" dirty="0">
                          <a:solidFill>
                            <a:srgbClr val="86868B"/>
                          </a:solidFill>
                          <a:latin typeface="Arial" pitchFamily="34" charset="0"/>
                          <a:ea typeface="Arial" pitchFamily="34" charset="-122"/>
                          <a:cs typeface="Arial" pitchFamily="34" charset="-120"/>
                        </a:rPr>
                        <a:t>Talking</a:t>
                      </a:r>
                      <a:endParaRPr lang="en-US" sz="115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tcPr>
                </a:tc>
                <a:tc>
                  <a:txBody>
                    <a:bodyPr/>
                    <a:lstStyle/>
                    <a:p>
                      <a:pPr algn="ctr" indent="0" marL="0">
                        <a:buNone/>
                      </a:pPr>
                      <a:r>
                        <a:rPr lang="en-US" sz="1150" dirty="0">
                          <a:solidFill>
                            <a:srgbClr val="1D1D1F"/>
                          </a:solidFill>
                          <a:latin typeface="Arial" pitchFamily="34" charset="0"/>
                          <a:ea typeface="Arial" pitchFamily="34" charset="-122"/>
                          <a:cs typeface="Arial" pitchFamily="34" charset="-120"/>
                        </a:rPr>
                        <a:t>just call the function</a:t>
                      </a:r>
                      <a:endParaRPr lang="en-US" sz="115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D1D1F"/>
                          </a:solidFill>
                          <a:latin typeface="Arial" pitchFamily="34" charset="0"/>
                          <a:ea typeface="Arial" pitchFamily="34" charset="-122"/>
                          <a:cs typeface="Arial" pitchFamily="34" charset="-120"/>
                        </a:rPr>
                        <a:t>send messages over ports; values are copied</a:t>
                      </a:r>
                      <a:endParaRPr lang="en-US" sz="115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502920">
                <a:tc>
                  <a:txBody>
                    <a:bodyPr/>
                    <a:lstStyle/>
                    <a:p>
                      <a:pPr algn="l" indent="0" marL="0">
                        <a:buNone/>
                      </a:pPr>
                      <a:r>
                        <a:rPr lang="en-US" sz="1150" dirty="0">
                          <a:solidFill>
                            <a:srgbClr val="86868B"/>
                          </a:solidFill>
                          <a:latin typeface="Arial" pitchFamily="34" charset="0"/>
                          <a:ea typeface="Arial" pitchFamily="34" charset="-122"/>
                          <a:cs typeface="Arial" pitchFamily="34" charset="-120"/>
                        </a:rPr>
                        <a:t>Good for</a:t>
                      </a:r>
                      <a:endParaRPr lang="en-US" sz="115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tcPr>
                </a:tc>
                <a:tc>
                  <a:txBody>
                    <a:bodyPr/>
                    <a:lstStyle/>
                    <a:p>
                      <a:pPr algn="ctr" indent="0" marL="0">
                        <a:buNone/>
                      </a:pPr>
                      <a:r>
                        <a:rPr lang="en-US" sz="1150" dirty="0">
                          <a:solidFill>
                            <a:srgbClr val="1D1D1F"/>
                          </a:solidFill>
                          <a:latin typeface="Arial" pitchFamily="34" charset="0"/>
                          <a:ea typeface="Arial" pitchFamily="34" charset="-122"/>
                          <a:cs typeface="Arial" pitchFamily="34" charset="-120"/>
                        </a:rPr>
                        <a:t>I/O: network, disk, database, timers</a:t>
                      </a:r>
                      <a:endParaRPr lang="en-US" sz="115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D1D1F"/>
                          </a:solidFill>
                          <a:latin typeface="Arial" pitchFamily="34" charset="0"/>
                          <a:ea typeface="Arial" pitchFamily="34" charset="-122"/>
                          <a:cs typeface="Arial" pitchFamily="34" charset="-120"/>
                        </a:rPr>
                        <a:t>CPU: parse, decode, encrypt, compress, sort</a:t>
                      </a:r>
                      <a:endParaRPr lang="en-US" sz="115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502920">
                <a:tc>
                  <a:txBody>
                    <a:bodyPr/>
                    <a:lstStyle/>
                    <a:p>
                      <a:pPr algn="l" indent="0" marL="0">
                        <a:buNone/>
                      </a:pPr>
                      <a:r>
                        <a:rPr lang="en-US" sz="1150" dirty="0">
                          <a:solidFill>
                            <a:srgbClr val="86868B"/>
                          </a:solidFill>
                          <a:latin typeface="Arial" pitchFamily="34" charset="0"/>
                          <a:ea typeface="Arial" pitchFamily="34" charset="-122"/>
                          <a:cs typeface="Arial" pitchFamily="34" charset="-120"/>
                        </a:rPr>
                        <a:t>Data races</a:t>
                      </a:r>
                      <a:endParaRPr lang="en-US" sz="115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tcPr>
                </a:tc>
                <a:tc>
                  <a:txBody>
                    <a:bodyPr/>
                    <a:lstStyle/>
                    <a:p>
                      <a:pPr algn="ctr" indent="0" marL="0">
                        <a:buNone/>
                      </a:pPr>
                      <a:r>
                        <a:rPr lang="en-US" sz="1150" dirty="0">
                          <a:solidFill>
                            <a:srgbClr val="1D1D1F"/>
                          </a:solidFill>
                          <a:latin typeface="Arial" pitchFamily="34" charset="0"/>
                          <a:ea typeface="Arial" pitchFamily="34" charset="-122"/>
                          <a:cs typeface="Arial" pitchFamily="34" charset="-120"/>
                        </a:rPr>
                        <a:t>impossible: one thing runs at a time</a:t>
                      </a:r>
                      <a:endParaRPr lang="en-US" sz="115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D1D1F"/>
                          </a:solidFill>
                          <a:latin typeface="Arial" pitchFamily="34" charset="0"/>
                          <a:ea typeface="Arial" pitchFamily="34" charset="-122"/>
                          <a:cs typeface="Arial" pitchFamily="34" charset="-120"/>
                        </a:rPr>
                        <a:t>impossible: no shared mutable memory</a:t>
                      </a:r>
                      <a:endParaRPr lang="en-US" sz="115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502920">
                <a:tc>
                  <a:txBody>
                    <a:bodyPr/>
                    <a:lstStyle/>
                    <a:p>
                      <a:pPr algn="l" indent="0" marL="0">
                        <a:buNone/>
                      </a:pPr>
                      <a:r>
                        <a:rPr lang="en-US" sz="1150" dirty="0">
                          <a:solidFill>
                            <a:srgbClr val="86868B"/>
                          </a:solidFill>
                          <a:latin typeface="Arial" pitchFamily="34" charset="0"/>
                          <a:ea typeface="Arial" pitchFamily="34" charset="-122"/>
                          <a:cs typeface="Arial" pitchFamily="34" charset="-120"/>
                        </a:rPr>
                        <a:t>Ordering races</a:t>
                      </a:r>
                      <a:endParaRPr lang="en-US" sz="115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tcPr>
                </a:tc>
                <a:tc>
                  <a:txBody>
                    <a:bodyPr/>
                    <a:lstStyle/>
                    <a:p>
                      <a:pPr algn="ctr" indent="0" marL="0">
                        <a:buNone/>
                      </a:pPr>
                      <a:r>
                        <a:rPr lang="en-US" sz="1150" dirty="0">
                          <a:solidFill>
                            <a:srgbClr val="1D1D1F"/>
                          </a:solidFill>
                          <a:latin typeface="Arial" pitchFamily="34" charset="0"/>
                          <a:ea typeface="Arial" pitchFamily="34" charset="-122"/>
                          <a:cs typeface="Arial" pitchFamily="34" charset="-120"/>
                        </a:rPr>
                        <a:t>possible</a:t>
                      </a:r>
                      <a:endParaRPr lang="en-US" sz="115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D1D1F"/>
                          </a:solidFill>
                          <a:latin typeface="Arial" pitchFamily="34" charset="0"/>
                          <a:ea typeface="Arial" pitchFamily="34" charset="-122"/>
                          <a:cs typeface="Arial" pitchFamily="34" charset="-120"/>
                        </a:rPr>
                        <a:t>possible: replies can arrive out of order</a:t>
                      </a:r>
                      <a:endParaRPr lang="en-US" sz="1150" dirty="0">
                        <a:latin typeface="Arial" charset="0"/>
                        <a:ea typeface="Arial" charset="0"/>
                        <a:cs typeface="Arial" charset="0"/>
                      </a:endParaRPr>
                    </a:p>
                  </a:txBody>
                  <a:tcPr marL="91440" marR="91440" marT="45720" marB="45720" anchor="ctr">
                    <a:lnL w="6350" cap="flat" cmpd="sng" algn="ctr">
                      <a:solidFill>
                        <a:srgbClr val="D2D2D7"/>
                      </a:solidFill>
                      <a:prstDash val="solid"/>
                      <a:round/>
                      <a:headEnd type="none" w="med" len="med"/>
                      <a:tailEnd type="none" w="med" len="med"/>
                    </a:lnL>
                    <a:lnR w="6350" cap="flat" cmpd="sng" algn="ctr">
                      <a:solidFill>
                        <a:srgbClr val="D2D2D7"/>
                      </a:solidFill>
                      <a:prstDash val="solid"/>
                      <a:round/>
                      <a:headEnd type="none" w="med" len="med"/>
                      <a:tailEnd type="none" w="med" len="med"/>
                    </a:lnR>
                    <a:lnT w="6350" cap="flat" cmpd="sng" algn="ctr">
                      <a:solidFill>
                        <a:srgbClr val="D2D2D7"/>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bl>
          </a:graphicData>
        </a:graphic>
      </p:graphicFrame>
      <p:sp>
        <p:nvSpPr>
          <p:cNvPr id="6" name="Shape 3"/>
          <p:cNvSpPr/>
          <p:nvPr/>
        </p:nvSpPr>
        <p:spPr>
          <a:xfrm>
            <a:off x="822960" y="5440680"/>
            <a:ext cx="10543032" cy="0"/>
          </a:xfrm>
          <a:prstGeom prst="line">
            <a:avLst/>
          </a:prstGeom>
          <a:noFill/>
          <a:ln w="9525">
            <a:solidFill>
              <a:srgbClr val="D2D2D7"/>
            </a:solidFill>
            <a:prstDash val="solid"/>
          </a:ln>
        </p:spPr>
      </p:sp>
      <p:sp>
        <p:nvSpPr>
          <p:cNvPr id="7" name="Text 4"/>
          <p:cNvSpPr/>
          <p:nvPr/>
        </p:nvSpPr>
        <p:spPr>
          <a:xfrm>
            <a:off x="822960" y="5669280"/>
            <a:ext cx="10543032" cy="64008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No shared memory means no data races, but it does not mean no races.</a:t>
            </a:r>
            <a:pPr indent="0" marL="0">
              <a:buNone/>
            </a:pPr>
            <a:r>
              <a:rPr lang="en-US" sz="1400" dirty="0">
                <a:solidFill>
                  <a:srgbClr val="86868B"/>
                </a:solidFill>
                <a:latin typeface="Arial" pitchFamily="34" charset="0"/>
                <a:ea typeface="Arial" pitchFamily="34" charset="-122"/>
                <a:cs typeface="Arial" pitchFamily="34" charset="-120"/>
              </a:rPr>
              <a:t> Two replies can still arrive in an order you did not plan for. And the number of isolates is not capped by core count: the OS schedules them like any other work.</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6446520"/>
            <a:ext cx="411480" cy="274320"/>
          </a:xfrm>
          <a:prstGeom prst="rect">
            <a:avLst/>
          </a:prstGeom>
          <a:noFill/>
          <a:ln/>
        </p:spPr>
        <p:txBody>
          <a:bodyPr wrap="square" lIns="0" tIns="0" rIns="0" bIns="0" rtlCol="0" anchor="ctr"/>
          <a:lstStyle/>
          <a:p>
            <a:pPr algn="r" indent="0" marL="0">
              <a:buNone/>
            </a:pPr>
            <a:r>
              <a:rPr lang="en-US" sz="900" dirty="0">
                <a:solidFill>
                  <a:srgbClr val="86868B"/>
                </a:solidFill>
                <a:latin typeface="Arial" pitchFamily="34" charset="0"/>
                <a:ea typeface="Arial" pitchFamily="34" charset="-122"/>
                <a:cs typeface="Arial" pitchFamily="34" charset="-120"/>
              </a:rPr>
              <a:t>26</a:t>
            </a:r>
            <a:endParaRPr lang="en-US" sz="900" dirty="0"/>
          </a:p>
        </p:txBody>
      </p:sp>
      <p:sp>
        <p:nvSpPr>
          <p:cNvPr id="3" name="Text 1"/>
          <p:cNvSpPr/>
          <p:nvPr/>
        </p:nvSpPr>
        <p:spPr>
          <a:xfrm>
            <a:off x="822960" y="475488"/>
            <a:ext cx="10515600" cy="274320"/>
          </a:xfrm>
          <a:prstGeom prst="rect">
            <a:avLst/>
          </a:prstGeom>
          <a:noFill/>
          <a:ln/>
        </p:spPr>
        <p:txBody>
          <a:bodyPr wrap="square" lIns="0" tIns="0" rIns="0" bIns="0" rtlCol="0" anchor="ctr"/>
          <a:lstStyle/>
          <a:p>
            <a:pPr indent="0" marL="0">
              <a:buNone/>
            </a:pPr>
            <a:r>
              <a:rPr lang="en-US" sz="1100" spc="300" kern="0" dirty="0">
                <a:solidFill>
                  <a:srgbClr val="86868B"/>
                </a:solidFill>
                <a:latin typeface="Arial" pitchFamily="34" charset="0"/>
                <a:ea typeface="Arial" pitchFamily="34" charset="-122"/>
                <a:cs typeface="Arial" pitchFamily="34" charset="-120"/>
              </a:rPr>
              <a:t>CONCURRENCY</a:t>
            </a:r>
            <a:endParaRPr lang="en-US" sz="1100" dirty="0"/>
          </a:p>
        </p:txBody>
      </p:sp>
      <p:sp>
        <p:nvSpPr>
          <p:cNvPr id="4" name="Text 2"/>
          <p:cNvSpPr/>
          <p:nvPr/>
        </p:nvSpPr>
        <p:spPr>
          <a:xfrm>
            <a:off x="822960" y="749808"/>
            <a:ext cx="10515600" cy="56692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Dart isolates vs Go goroutines</a:t>
            </a:r>
            <a:endParaRPr lang="en-US" sz="3000" dirty="0"/>
          </a:p>
        </p:txBody>
      </p:sp>
      <p:sp>
        <p:nvSpPr>
          <p:cNvPr id="5" name="Text 3"/>
          <p:cNvSpPr/>
          <p:nvPr/>
        </p:nvSpPr>
        <p:spPr>
          <a:xfrm>
            <a:off x="822960" y="1719072"/>
            <a:ext cx="5303520" cy="292608"/>
          </a:xfrm>
          <a:prstGeom prst="rect">
            <a:avLst/>
          </a:prstGeom>
          <a:noFill/>
          <a:ln/>
        </p:spPr>
        <p:txBody>
          <a:bodyPr wrap="square" lIns="0" tIns="0" rIns="0" bIns="0" rtlCol="0" anchor="ctr"/>
          <a:lstStyle/>
          <a:p>
            <a:pPr indent="0" marL="0">
              <a:buNone/>
            </a:pPr>
            <a:r>
              <a:rPr lang="en-US" sz="1300" b="1" dirty="0">
                <a:solidFill>
                  <a:srgbClr val="1D1D1F"/>
                </a:solidFill>
                <a:latin typeface="Arial" pitchFamily="34" charset="0"/>
                <a:ea typeface="Arial" pitchFamily="34" charset="-122"/>
                <a:cs typeface="Arial" pitchFamily="34" charset="-120"/>
              </a:rPr>
              <a:t>Dart: no shared memory, message passing</a:t>
            </a:r>
            <a:endParaRPr lang="en-US" sz="1300" dirty="0"/>
          </a:p>
        </p:txBody>
      </p:sp>
      <p:sp>
        <p:nvSpPr>
          <p:cNvPr id="6" name="Shape 4"/>
          <p:cNvSpPr/>
          <p:nvPr/>
        </p:nvSpPr>
        <p:spPr>
          <a:xfrm>
            <a:off x="822960" y="2084832"/>
            <a:ext cx="5303520" cy="3291840"/>
          </a:xfrm>
          <a:prstGeom prst="roundRect">
            <a:avLst>
              <a:gd name="adj" fmla="val 3333"/>
            </a:avLst>
          </a:prstGeom>
          <a:solidFill>
            <a:srgbClr val="F5F5F7"/>
          </a:solidFill>
          <a:ln/>
        </p:spPr>
      </p:sp>
      <p:sp>
        <p:nvSpPr>
          <p:cNvPr id="7" name="Text 5"/>
          <p:cNvSpPr/>
          <p:nvPr/>
        </p:nvSpPr>
        <p:spPr>
          <a:xfrm>
            <a:off x="1234440" y="2404872"/>
            <a:ext cx="4572000" cy="2697480"/>
          </a:xfrm>
          <a:prstGeom prst="rect">
            <a:avLst/>
          </a:prstGeom>
          <a:noFill/>
          <a:ln/>
        </p:spPr>
        <p:txBody>
          <a:bodyPr wrap="square" lIns="0" tIns="0" rIns="0" bIns="0" rtlCol="0" anchor="t"/>
          <a:lstStyle/>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final inbox = ReceivePort();</a:t>
            </a:r>
            <a:endParaRPr lang="en-US" sz="950" dirty="0"/>
          </a:p>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await Isolate.spawn(producer, inbox.sendPort);</a:t>
            </a:r>
            <a:endParaRPr lang="en-US" sz="950" dirty="0"/>
          </a:p>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 </a:t>
            </a:r>
            <a:endParaRPr lang="en-US" sz="950" dirty="0"/>
          </a:p>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await for (final item in inbox) {   // consumer</a:t>
            </a:r>
            <a:endParaRPr lang="en-US" sz="950" dirty="0"/>
          </a:p>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  if (item == null) break;</a:t>
            </a:r>
            <a:endParaRPr lang="en-US" sz="950" dirty="0"/>
          </a:p>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  print(item);</a:t>
            </a:r>
            <a:endParaRPr lang="en-US" sz="950" dirty="0"/>
          </a:p>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a:t>
            </a:r>
            <a:endParaRPr lang="en-US" sz="950" dirty="0"/>
          </a:p>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 </a:t>
            </a:r>
            <a:endParaRPr lang="en-US" sz="950" dirty="0"/>
          </a:p>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void producer(SendPort out) {</a:t>
            </a:r>
            <a:endParaRPr lang="en-US" sz="950" dirty="0"/>
          </a:p>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  for (var i = 0; i &lt; 5; i++) out.send(i);</a:t>
            </a:r>
            <a:endParaRPr lang="en-US" sz="950" dirty="0"/>
          </a:p>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  out.send(null);</a:t>
            </a:r>
            <a:endParaRPr lang="en-US" sz="950" dirty="0"/>
          </a:p>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a:t>
            </a:r>
            <a:endParaRPr lang="en-US" sz="950" dirty="0"/>
          </a:p>
        </p:txBody>
      </p:sp>
      <p:sp>
        <p:nvSpPr>
          <p:cNvPr id="8" name="Text 6"/>
          <p:cNvSpPr/>
          <p:nvPr/>
        </p:nvSpPr>
        <p:spPr>
          <a:xfrm>
            <a:off x="6309360" y="1719072"/>
            <a:ext cx="5056632" cy="292608"/>
          </a:xfrm>
          <a:prstGeom prst="rect">
            <a:avLst/>
          </a:prstGeom>
          <a:noFill/>
          <a:ln/>
        </p:spPr>
        <p:txBody>
          <a:bodyPr wrap="square" lIns="0" tIns="0" rIns="0" bIns="0" rtlCol="0" anchor="ctr"/>
          <a:lstStyle/>
          <a:p>
            <a:pPr indent="0" marL="0">
              <a:buNone/>
            </a:pPr>
            <a:r>
              <a:rPr lang="en-US" sz="1300" b="1" dirty="0">
                <a:solidFill>
                  <a:srgbClr val="1D1D1F"/>
                </a:solidFill>
                <a:latin typeface="Arial" pitchFamily="34" charset="0"/>
                <a:ea typeface="Arial" pitchFamily="34" charset="-122"/>
                <a:cs typeface="Arial" pitchFamily="34" charset="-120"/>
              </a:rPr>
              <a:t>Go: shared memory, synchronized by channels</a:t>
            </a:r>
            <a:endParaRPr lang="en-US" sz="1300" dirty="0"/>
          </a:p>
        </p:txBody>
      </p:sp>
      <p:sp>
        <p:nvSpPr>
          <p:cNvPr id="9" name="Shape 7"/>
          <p:cNvSpPr/>
          <p:nvPr/>
        </p:nvSpPr>
        <p:spPr>
          <a:xfrm>
            <a:off x="6309360" y="2084832"/>
            <a:ext cx="5056632" cy="3291840"/>
          </a:xfrm>
          <a:prstGeom prst="roundRect">
            <a:avLst>
              <a:gd name="adj" fmla="val 3333"/>
            </a:avLst>
          </a:prstGeom>
          <a:solidFill>
            <a:srgbClr val="F5F5F7"/>
          </a:solidFill>
          <a:ln/>
        </p:spPr>
      </p:sp>
      <p:sp>
        <p:nvSpPr>
          <p:cNvPr id="10" name="Text 8"/>
          <p:cNvSpPr/>
          <p:nvPr/>
        </p:nvSpPr>
        <p:spPr>
          <a:xfrm>
            <a:off x="6720840" y="2404872"/>
            <a:ext cx="4325112" cy="2697480"/>
          </a:xfrm>
          <a:prstGeom prst="rect">
            <a:avLst/>
          </a:prstGeom>
          <a:noFill/>
          <a:ln/>
        </p:spPr>
        <p:txBody>
          <a:bodyPr wrap="square" lIns="0" tIns="0" rIns="0" bIns="0" rtlCol="0" anchor="t"/>
          <a:lstStyle/>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ch := make(chan int)</a:t>
            </a:r>
            <a:endParaRPr lang="en-US" sz="950" dirty="0"/>
          </a:p>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 </a:t>
            </a:r>
            <a:endParaRPr lang="en-US" sz="950" dirty="0"/>
          </a:p>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go func() {                 // producer</a:t>
            </a:r>
            <a:endParaRPr lang="en-US" sz="950" dirty="0"/>
          </a:p>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    for i := 0; i &lt; 5; i++ {</a:t>
            </a:r>
            <a:endParaRPr lang="en-US" sz="950" dirty="0"/>
          </a:p>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        ch &lt;- i</a:t>
            </a:r>
            <a:endParaRPr lang="en-US" sz="950" dirty="0"/>
          </a:p>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    }</a:t>
            </a:r>
            <a:endParaRPr lang="en-US" sz="950" dirty="0"/>
          </a:p>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    close(ch)</a:t>
            </a:r>
            <a:endParaRPr lang="en-US" sz="950" dirty="0"/>
          </a:p>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a:t>
            </a:r>
            <a:endParaRPr lang="en-US" sz="950" dirty="0"/>
          </a:p>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 </a:t>
            </a:r>
            <a:endParaRPr lang="en-US" sz="950" dirty="0"/>
          </a:p>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for item := range ch {      // consumer</a:t>
            </a:r>
            <a:endParaRPr lang="en-US" sz="950" dirty="0"/>
          </a:p>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    fmt.Println(item)</a:t>
            </a:r>
            <a:endParaRPr lang="en-US" sz="950" dirty="0"/>
          </a:p>
          <a:p>
            <a:pPr indent="0" marL="0">
              <a:lnSpc>
                <a:spcPts val="1800"/>
              </a:lnSpc>
              <a:buNone/>
            </a:pPr>
            <a:r>
              <a:rPr lang="en-US" sz="950" dirty="0">
                <a:solidFill>
                  <a:srgbClr val="1D1D1F"/>
                </a:solidFill>
                <a:latin typeface="Courier New" pitchFamily="34" charset="0"/>
                <a:ea typeface="Courier New" pitchFamily="34" charset="-122"/>
                <a:cs typeface="Courier New" pitchFamily="34" charset="-120"/>
              </a:rPr>
              <a:t>}</a:t>
            </a:r>
            <a:endParaRPr lang="en-US" sz="950" dirty="0"/>
          </a:p>
        </p:txBody>
      </p:sp>
      <p:sp>
        <p:nvSpPr>
          <p:cNvPr id="11" name="Shape 9"/>
          <p:cNvSpPr/>
          <p:nvPr/>
        </p:nvSpPr>
        <p:spPr>
          <a:xfrm>
            <a:off x="822960" y="5486400"/>
            <a:ext cx="10543032" cy="0"/>
          </a:xfrm>
          <a:prstGeom prst="line">
            <a:avLst/>
          </a:prstGeom>
          <a:noFill/>
          <a:ln w="9525">
            <a:solidFill>
              <a:srgbClr val="D2D2D7"/>
            </a:solidFill>
            <a:prstDash val="solid"/>
          </a:ln>
        </p:spPr>
      </p:sp>
      <p:sp>
        <p:nvSpPr>
          <p:cNvPr id="12" name="Text 10"/>
          <p:cNvSpPr/>
          <p:nvPr/>
        </p:nvSpPr>
        <p:spPr>
          <a:xfrm>
            <a:off x="822960" y="5715000"/>
            <a:ext cx="10543032" cy="64008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Same task, opposite guarantee.</a:t>
            </a:r>
            <a:pPr indent="0" marL="0">
              <a:buNone/>
            </a:pPr>
            <a:r>
              <a:rPr lang="en-US" sz="1400" dirty="0">
                <a:solidFill>
                  <a:srgbClr val="86868B"/>
                </a:solidFill>
                <a:latin typeface="Arial" pitchFamily="34" charset="0"/>
                <a:ea typeface="Arial" pitchFamily="34" charset="-122"/>
                <a:cs typeface="Arial" pitchFamily="34" charset="-120"/>
              </a:rPr>
              <a:t> Dart copies messages between separate heaps, so sharing is impossible. Go shares one heap and uses channels to pass ownership; keeping that discipline is up to the programmer.  → Lecture 12, Go &amp; gRPC</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822960" y="640080"/>
            <a:ext cx="10515600" cy="64008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Before next week</a:t>
            </a:r>
            <a:endParaRPr lang="en-US" sz="3000" dirty="0"/>
          </a:p>
        </p:txBody>
      </p:sp>
      <p:pic>
        <p:nvPicPr>
          <p:cNvPr id="3" name="Image 0" descr="/Users/dinu/dev/upb/mobile-and-embedded-computing/slides/assets/icons2/checklist-white.png">    </p:cNvPr>
          <p:cNvPicPr>
            <a:picLocks noChangeAspect="1"/>
          </p:cNvPicPr>
          <p:nvPr/>
        </p:nvPicPr>
        <p:blipFill>
          <a:blip r:embed="rId1"/>
          <a:stretch>
            <a:fillRect/>
          </a:stretch>
        </p:blipFill>
        <p:spPr>
          <a:xfrm>
            <a:off x="822960" y="1783080"/>
            <a:ext cx="384048" cy="384048"/>
          </a:xfrm>
          <a:prstGeom prst="rect">
            <a:avLst/>
          </a:prstGeom>
        </p:spPr>
      </p:pic>
      <p:sp>
        <p:nvSpPr>
          <p:cNvPr id="4" name="Text 1"/>
          <p:cNvSpPr/>
          <p:nvPr/>
        </p:nvSpPr>
        <p:spPr>
          <a:xfrm>
            <a:off x="822960" y="2286000"/>
            <a:ext cx="338328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Recap</a:t>
            </a:r>
            <a:endParaRPr lang="en-US" sz="1700" dirty="0"/>
          </a:p>
        </p:txBody>
      </p:sp>
      <p:sp>
        <p:nvSpPr>
          <p:cNvPr id="5" name="Text 2"/>
          <p:cNvSpPr/>
          <p:nvPr/>
        </p:nvSpPr>
        <p:spPr>
          <a:xfrm>
            <a:off x="822960" y="2880360"/>
            <a:ext cx="3383280" cy="2743200"/>
          </a:xfrm>
          <a:prstGeom prst="rect">
            <a:avLst/>
          </a:prstGeom>
          <a:noFill/>
          <a:ln/>
        </p:spPr>
        <p:txBody>
          <a:bodyPr wrap="square" lIns="0" tIns="0" rIns="0" bIns="0" rtlCol="0" anchor="t"/>
          <a:lstStyle/>
          <a:p>
            <a:pPr indent="0" marL="0">
              <a:spcAft>
                <a:spcPts val="1100"/>
              </a:spcAft>
              <a:buNone/>
            </a:pPr>
            <a:r>
              <a:rPr lang="en-US" sz="1250" dirty="0">
                <a:solidFill>
                  <a:srgbClr val="A1A1A6"/>
                </a:solidFill>
                <a:latin typeface="Arial" pitchFamily="34" charset="0"/>
                <a:ea typeface="Arial" pitchFamily="34" charset="-122"/>
                <a:cs typeface="Arial" pitchFamily="34" charset="-120"/>
              </a:rPr>
              <a:t>Agents draft; you brief, review, test and own the result</a:t>
            </a:r>
            <a:endParaRPr lang="en-US" sz="1250" dirty="0"/>
          </a:p>
          <a:p>
            <a:pPr indent="0" marL="0">
              <a:spcAft>
                <a:spcPts val="1100"/>
              </a:spcAft>
              <a:buNone/>
            </a:pPr>
            <a:r>
              <a:rPr lang="en-US" sz="1250" dirty="0">
                <a:solidFill>
                  <a:srgbClr val="A1A1A6"/>
                </a:solidFill>
                <a:latin typeface="Arial" pitchFamily="34" charset="0"/>
                <a:ea typeface="Arial" pitchFamily="34" charset="-122"/>
                <a:cs typeface="Arial" pitchFamily="34" charset="-120"/>
              </a:rPr>
              <a:t>Widgets are immutable descriptions; only dirty subtrees rebuild, matched by runtimeType then key</a:t>
            </a:r>
            <a:endParaRPr lang="en-US" sz="1250" dirty="0"/>
          </a:p>
          <a:p>
            <a:pPr indent="0" marL="0">
              <a:spcAft>
                <a:spcPts val="1100"/>
              </a:spcAft>
              <a:buNone/>
            </a:pPr>
            <a:r>
              <a:rPr lang="en-US" sz="1250" dirty="0">
                <a:solidFill>
                  <a:srgbClr val="A1A1A6"/>
                </a:solidFill>
                <a:latin typeface="Arial" pitchFamily="34" charset="0"/>
                <a:ea typeface="Arial" pitchFamily="34" charset="-122"/>
                <a:cs typeface="Arial" pitchFamily="34" charset="-120"/>
              </a:rPr>
              <a:t>One frame budget = 1 ÷ refresh rate, not a fixed 16 ms</a:t>
            </a:r>
            <a:endParaRPr lang="en-US" sz="1250" dirty="0"/>
          </a:p>
          <a:p>
            <a:pPr indent="0" marL="0">
              <a:spcAft>
                <a:spcPts val="1100"/>
              </a:spcAft>
              <a:buNone/>
            </a:pPr>
            <a:r>
              <a:rPr lang="en-US" sz="1250" dirty="0">
                <a:solidFill>
                  <a:srgbClr val="A1A1A6"/>
                </a:solidFill>
                <a:latin typeface="Arial" pitchFamily="34" charset="0"/>
                <a:ea typeface="Arial" pitchFamily="34" charset="-122"/>
                <a:cs typeface="Arial" pitchFamily="34" charset="-120"/>
              </a:rPr>
              <a:t>await is not a thread; an isolate is one, minus shared memory</a:t>
            </a:r>
            <a:endParaRPr lang="en-US" sz="1250" dirty="0"/>
          </a:p>
        </p:txBody>
      </p:sp>
      <p:pic>
        <p:nvPicPr>
          <p:cNvPr id="6" name="Image 1" descr="/Users/dinu/dev/upb/mobile-and-embedded-computing/slides/assets/icons2/calendar-white.png">    </p:cNvPr>
          <p:cNvPicPr>
            <a:picLocks noChangeAspect="1"/>
          </p:cNvPicPr>
          <p:nvPr/>
        </p:nvPicPr>
        <p:blipFill>
          <a:blip r:embed="rId2"/>
          <a:stretch>
            <a:fillRect/>
          </a:stretch>
        </p:blipFill>
        <p:spPr>
          <a:xfrm>
            <a:off x="4389120" y="1783080"/>
            <a:ext cx="384048" cy="384048"/>
          </a:xfrm>
          <a:prstGeom prst="rect">
            <a:avLst/>
          </a:prstGeom>
        </p:spPr>
      </p:pic>
      <p:sp>
        <p:nvSpPr>
          <p:cNvPr id="7" name="Text 3"/>
          <p:cNvSpPr/>
          <p:nvPr/>
        </p:nvSpPr>
        <p:spPr>
          <a:xfrm>
            <a:off x="4389120" y="2286000"/>
            <a:ext cx="338328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This week</a:t>
            </a:r>
            <a:endParaRPr lang="en-US" sz="1700" dirty="0"/>
          </a:p>
        </p:txBody>
      </p:sp>
      <p:sp>
        <p:nvSpPr>
          <p:cNvPr id="8" name="Text 4"/>
          <p:cNvSpPr/>
          <p:nvPr/>
        </p:nvSpPr>
        <p:spPr>
          <a:xfrm>
            <a:off x="4389120" y="2880360"/>
            <a:ext cx="3383280" cy="2743200"/>
          </a:xfrm>
          <a:prstGeom prst="rect">
            <a:avLst/>
          </a:prstGeom>
          <a:noFill/>
          <a:ln/>
        </p:spPr>
        <p:txBody>
          <a:bodyPr wrap="square" lIns="0" tIns="0" rIns="0" bIns="0" rtlCol="0" anchor="t"/>
          <a:lstStyle/>
          <a:p>
            <a:pPr indent="0" marL="0">
              <a:spcAft>
                <a:spcPts val="1100"/>
              </a:spcAft>
              <a:buNone/>
            </a:pPr>
            <a:r>
              <a:rPr lang="en-US" sz="1250" dirty="0">
                <a:solidFill>
                  <a:srgbClr val="A1A1A6"/>
                </a:solidFill>
                <a:latin typeface="Arial" pitchFamily="34" charset="0"/>
                <a:ea typeface="Arial" pitchFamily="34" charset="-122"/>
                <a:cs typeface="Arial" pitchFamily="34" charset="-120"/>
              </a:rPr>
              <a:t>Lab: the counter, then a ListView.builder feed with keys</a:t>
            </a:r>
            <a:endParaRPr lang="en-US" sz="1250" dirty="0"/>
          </a:p>
          <a:p>
            <a:pPr indent="0" marL="0">
              <a:spcAft>
                <a:spcPts val="1100"/>
              </a:spcAft>
              <a:buNone/>
            </a:pPr>
            <a:r>
              <a:rPr lang="en-US" sz="1250" dirty="0">
                <a:solidFill>
                  <a:srgbClr val="A1A1A6"/>
                </a:solidFill>
                <a:latin typeface="Arial" pitchFamily="34" charset="0"/>
                <a:ea typeface="Arial" pitchFamily="34" charset="-122"/>
                <a:cs typeface="Arial" pitchFamily="34" charset="-120"/>
              </a:rPr>
              <a:t>Wrap every await in your app in try / catch / finally</a:t>
            </a:r>
            <a:endParaRPr lang="en-US" sz="1250" dirty="0"/>
          </a:p>
          <a:p>
            <a:pPr indent="0" marL="0">
              <a:spcAft>
                <a:spcPts val="1100"/>
              </a:spcAft>
              <a:buNone/>
            </a:pPr>
            <a:r>
              <a:rPr lang="en-US" sz="1250" dirty="0">
                <a:solidFill>
                  <a:srgbClr val="A1A1A6"/>
                </a:solidFill>
                <a:latin typeface="Arial" pitchFamily="34" charset="0"/>
                <a:ea typeface="Arial" pitchFamily="34" charset="-122"/>
                <a:cs typeface="Arial" pitchFamily="34" charset="-120"/>
              </a:rPr>
              <a:t>Move one CPU-heavy call into compute() and measure the frame times</a:t>
            </a:r>
            <a:endParaRPr lang="en-US" sz="1250" dirty="0"/>
          </a:p>
        </p:txBody>
      </p:sp>
      <p:pic>
        <p:nvPicPr>
          <p:cNvPr id="9" name="Image 2" descr="/Users/dinu/dev/upb/mobile-and-embedded-computing/slides/assets/icons2/bookopen-white.png">    </p:cNvPr>
          <p:cNvPicPr>
            <a:picLocks noChangeAspect="1"/>
          </p:cNvPicPr>
          <p:nvPr/>
        </p:nvPicPr>
        <p:blipFill>
          <a:blip r:embed="rId3"/>
          <a:stretch>
            <a:fillRect/>
          </a:stretch>
        </p:blipFill>
        <p:spPr>
          <a:xfrm>
            <a:off x="7955280" y="1783080"/>
            <a:ext cx="384048" cy="384048"/>
          </a:xfrm>
          <a:prstGeom prst="rect">
            <a:avLst/>
          </a:prstGeom>
        </p:spPr>
      </p:pic>
      <p:sp>
        <p:nvSpPr>
          <p:cNvPr id="10" name="Text 5"/>
          <p:cNvSpPr/>
          <p:nvPr/>
        </p:nvSpPr>
        <p:spPr>
          <a:xfrm>
            <a:off x="7955280" y="2286000"/>
            <a:ext cx="338328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Read more</a:t>
            </a:r>
            <a:endParaRPr lang="en-US" sz="1700" dirty="0"/>
          </a:p>
        </p:txBody>
      </p:sp>
      <p:sp>
        <p:nvSpPr>
          <p:cNvPr id="11" name="Text 6"/>
          <p:cNvSpPr/>
          <p:nvPr/>
        </p:nvSpPr>
        <p:spPr>
          <a:xfrm>
            <a:off x="7955280" y="2880360"/>
            <a:ext cx="3383280" cy="2743200"/>
          </a:xfrm>
          <a:prstGeom prst="rect">
            <a:avLst/>
          </a:prstGeom>
          <a:noFill/>
          <a:ln/>
        </p:spPr>
        <p:txBody>
          <a:bodyPr wrap="square" lIns="0" tIns="0" rIns="0" bIns="0" rtlCol="0" anchor="t"/>
          <a:lstStyle/>
          <a:p>
            <a:pPr indent="0" marL="0">
              <a:spcAft>
                <a:spcPts val="1100"/>
              </a:spcAft>
              <a:buNone/>
            </a:pPr>
            <a:r>
              <a:rPr lang="en-US" sz="1250" dirty="0">
                <a:solidFill>
                  <a:srgbClr val="A1A1A6"/>
                </a:solidFill>
                <a:latin typeface="Arial" pitchFamily="34" charset="0"/>
                <a:ea typeface="Arial" pitchFamily="34" charset="-122"/>
                <a:cs typeface="Arial" pitchFamily="34" charset="-120"/>
              </a:rPr>
              <a:t>docs.flutter.dev/ui/widgets-intro</a:t>
            </a:r>
            <a:endParaRPr lang="en-US" sz="1250" dirty="0"/>
          </a:p>
          <a:p>
            <a:pPr indent="0" marL="0">
              <a:spcAft>
                <a:spcPts val="1100"/>
              </a:spcAft>
              <a:buNone/>
            </a:pPr>
            <a:r>
              <a:rPr lang="en-US" sz="1250" dirty="0">
                <a:solidFill>
                  <a:srgbClr val="A1A1A6"/>
                </a:solidFill>
                <a:latin typeface="Arial" pitchFamily="34" charset="0"/>
                <a:ea typeface="Arial" pitchFamily="34" charset="-122"/>
                <a:cs typeface="Arial" pitchFamily="34" charset="-120"/>
              </a:rPr>
              <a:t>dart.dev/language/async  ·  dart.dev/language/concurrency</a:t>
            </a:r>
            <a:endParaRPr lang="en-US" sz="1250" dirty="0"/>
          </a:p>
          <a:p>
            <a:pPr indent="0" marL="0">
              <a:spcAft>
                <a:spcPts val="1100"/>
              </a:spcAft>
              <a:buNone/>
            </a:pPr>
            <a:r>
              <a:rPr lang="en-US" sz="1250" dirty="0">
                <a:solidFill>
                  <a:srgbClr val="A1A1A6"/>
                </a:solidFill>
                <a:latin typeface="Arial" pitchFamily="34" charset="0"/>
                <a:ea typeface="Arial" pitchFamily="34" charset="-122"/>
                <a:cs typeface="Arial" pitchFamily="34" charset="-120"/>
              </a:rPr>
              <a:t>api.flutter.dev: Isolate, compute, StreamBuilder</a:t>
            </a:r>
            <a:endParaRPr lang="en-US" sz="1250" dirty="0"/>
          </a:p>
          <a:p>
            <a:pPr indent="0" marL="0">
              <a:spcAft>
                <a:spcPts val="1100"/>
              </a:spcAft>
              <a:buNone/>
            </a:pPr>
            <a:r>
              <a:rPr lang="en-US" sz="1250" dirty="0">
                <a:solidFill>
                  <a:srgbClr val="A1A1A6"/>
                </a:solidFill>
                <a:latin typeface="Arial" pitchFamily="34" charset="0"/>
                <a:ea typeface="Arial" pitchFamily="34" charset="-122"/>
                <a:cs typeface="Arial" pitchFamily="34" charset="-120"/>
              </a:rPr>
              <a:t>go.dev/tour/concurrency</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Mobile and Embedded Computing, Lecture 3</dc:title>
  <dc:subject>PptxGenJS Presentation</dc:subject>
  <dc:creator>Dinu-Ștefan Rusu</dc:creator>
  <cp:lastModifiedBy>Dinu-Ștefan Rusu</cp:lastModifiedBy>
  <cp:revision>1</cp:revision>
  <dcterms:created xsi:type="dcterms:W3CDTF">2026-08-08T15:40:13Z</dcterms:created>
  <dcterms:modified xsi:type="dcterms:W3CDTF">2026-08-08T15:40:13Z</dcterms:modified>
</cp:coreProperties>
</file>