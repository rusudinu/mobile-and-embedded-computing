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DM Sans" pitchFamily="2" charset="77"/>
      <p:regular r:id="rId25"/>
      <p:bold r:id="rId26"/>
      <p:italic r:id="rId27"/>
      <p:boldItalic r:id="rId28"/>
    </p:embeddedFont>
    <p:embeddedFont>
      <p:font typeface="Merriweather" pitchFamily="2" charset="77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ED74F36-79B0-469E-80D2-08A86E0640BE}">
  <a:tblStyle styleId="{4ED74F36-79B0-469E-80D2-08A86E0640B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35329" y="2647950"/>
            <a:ext cx="1072134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Advanced Flutter Development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990600" y="3676650"/>
            <a:ext cx="1021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WebSockets, Permissions, and Routing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4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1130379" y="3128962"/>
            <a:ext cx="9931241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1: The Real-Time Connection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5019675" y="4033837"/>
            <a:ext cx="2152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Flutter &amp; WebSockets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609850"/>
            <a:ext cx="5286375" cy="249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609850"/>
            <a:ext cx="5286375" cy="249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 txBox="1"/>
          <p:nvPr/>
        </p:nvSpPr>
        <p:spPr>
          <a:xfrm>
            <a:off x="962025" y="3000375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HTTP Model</a:t>
            </a:r>
            <a:endParaRPr/>
          </a:p>
        </p:txBody>
      </p:sp>
      <p:sp>
        <p:nvSpPr>
          <p:cNvPr id="101" name="Google Shape;101;p15"/>
          <p:cNvSpPr txBox="1"/>
          <p:nvPr/>
        </p:nvSpPr>
        <p:spPr>
          <a:xfrm>
            <a:off x="962025" y="3514725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HTTP operates on a "request-response" model. The client (your app) asks for data, and the server sends a single response. After the response, the connection is done. The server cannot "push" new data to the client.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6724650" y="3000375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"Polling" Problem</a:t>
            </a:r>
            <a:endParaRPr/>
          </a:p>
        </p:txBody>
      </p:sp>
      <p:sp>
        <p:nvSpPr>
          <p:cNvPr id="103" name="Google Shape;103;p15"/>
          <p:cNvSpPr txBox="1"/>
          <p:nvPr/>
        </p:nvSpPr>
        <p:spPr>
          <a:xfrm>
            <a:off x="6724650" y="3514725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To simulate real-time, apps must repeatedly ask, or "poll," the server (e.g., "Any new messages? ... Any new messages?"). This is inefficient, creates high network traffic, increases server load, and introduces latency.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Problem with HTTP for Real-Time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76475"/>
            <a:ext cx="3429000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2276475"/>
            <a:ext cx="3429000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276475"/>
            <a:ext cx="3429000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6"/>
          <p:cNvSpPr txBox="1"/>
          <p:nvPr/>
        </p:nvSpPr>
        <p:spPr>
          <a:xfrm>
            <a:off x="1585912" y="3286125"/>
            <a:ext cx="1400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Persistent</a:t>
            </a:r>
            <a:endParaRPr/>
          </a:p>
        </p:txBody>
      </p:sp>
      <p:sp>
        <p:nvSpPr>
          <p:cNvPr id="113" name="Google Shape;113;p16"/>
          <p:cNvSpPr txBox="1"/>
          <p:nvPr/>
        </p:nvSpPr>
        <p:spPr>
          <a:xfrm>
            <a:off x="866775" y="3943350"/>
            <a:ext cx="283845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The connection is opened once via a "handshake" and stays open, eliminating the overhead of new requests.</a:t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5275897" y="3286125"/>
            <a:ext cx="164020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Full-Duplex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4676775" y="3943350"/>
            <a:ext cx="283845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Once open, both the client and server can send messages at any time, without waiting for a "request."</a:t>
            </a:r>
            <a:endParaRPr/>
          </a:p>
        </p:txBody>
      </p:sp>
      <p:sp>
        <p:nvSpPr>
          <p:cNvPr id="116" name="Google Shape;116;p16"/>
          <p:cNvSpPr txBox="1"/>
          <p:nvPr/>
        </p:nvSpPr>
        <p:spPr>
          <a:xfrm>
            <a:off x="9045892" y="3286125"/>
            <a:ext cx="172021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Server-Push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8486775" y="3943350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The server can actively "push" data to the client, enabling true low-latency, real-time experiences.</a:t>
            </a:r>
            <a:endParaRPr/>
          </a:p>
        </p:txBody>
      </p:sp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00250" y="259080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0" y="259080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77400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WebSocket Solution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" name="Google Shape;126;p17"/>
          <p:cNvGraphicFramePr/>
          <p:nvPr/>
        </p:nvGraphicFramePr>
        <p:xfrm>
          <a:off x="571500" y="2324100"/>
          <a:ext cx="11049000" cy="3067000"/>
        </p:xfrm>
        <a:graphic>
          <a:graphicData uri="http://schemas.openxmlformats.org/drawingml/2006/table">
            <a:tbl>
              <a:tblPr firstRow="1" bandRow="1">
                <a:noFill/>
                <a:tableStyleId>{4ED74F36-79B0-469E-80D2-08A86E0640BE}</a:tableStyleId>
              </a:tblPr>
              <a:tblGrid>
                <a:gridCol w="25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HTTP (with Keep-Alive)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WebSockets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Connection Model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Transactional (Request-Response)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Persistent, Stateful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Data Flow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Half-Duplex (Client requests)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Full-Duplex (Client &amp; Server send)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Server-Push?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 (Requires client polling)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Yes (True server-push)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Use Cases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REST APIs, static content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Live chat, real-time feeds, gaming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7" name="Google Shape;127;p17"/>
          <p:cNvSpPr/>
          <p:nvPr/>
        </p:nvSpPr>
        <p:spPr>
          <a:xfrm>
            <a:off x="571500" y="2947987"/>
            <a:ext cx="255761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3129111" y="2947987"/>
            <a:ext cx="4284017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7413128" y="2947987"/>
            <a:ext cx="420737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1500" y="3557587"/>
            <a:ext cx="255761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3129111" y="3557587"/>
            <a:ext cx="4284017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7413128" y="3557587"/>
            <a:ext cx="420737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571500" y="4167187"/>
            <a:ext cx="255761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3129111" y="4167187"/>
            <a:ext cx="4284017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7413128" y="4167187"/>
            <a:ext cx="420737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1500" y="4776787"/>
            <a:ext cx="255761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3129111" y="4776787"/>
            <a:ext cx="4284017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7413128" y="4776787"/>
            <a:ext cx="420737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HTTP vs. WebSockets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8"/>
          <p:cNvSpPr txBox="1"/>
          <p:nvPr/>
        </p:nvSpPr>
        <p:spPr>
          <a:xfrm>
            <a:off x="2190750" y="2800350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Client Request: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The client sends a standard HTTP GET request, but with special headers: Upgrade: websocket and Connection: Upgrade.</a:t>
            </a:r>
            <a:endParaRPr/>
          </a:p>
        </p:txBody>
      </p:sp>
      <p:sp>
        <p:nvSpPr>
          <p:cNvPr id="145" name="Google Shape;145;p18"/>
          <p:cNvSpPr txBox="1"/>
          <p:nvPr/>
        </p:nvSpPr>
        <p:spPr>
          <a:xfrm>
            <a:off x="2190750" y="3505200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Server Response: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A WebSocket-aware server recognizes this and replies with an HTTP 101 Switching Protocols status code.</a:t>
            </a:r>
            <a:endParaRPr/>
          </a:p>
        </p:txBody>
      </p:sp>
      <p:sp>
        <p:nvSpPr>
          <p:cNvPr id="146" name="Google Shape;146;p18"/>
          <p:cNvSpPr txBox="1"/>
          <p:nvPr/>
        </p:nvSpPr>
        <p:spPr>
          <a:xfrm>
            <a:off x="2190750" y="4210050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Connection Upgraded: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The handshake is complete. The same TCP connection is "hijacked" and becomes the persistent, full-duplex WebSocket.</a:t>
            </a:r>
            <a:endParaRPr/>
          </a:p>
        </p:txBody>
      </p:sp>
      <p:pic>
        <p:nvPicPr>
          <p:cNvPr id="147" name="Google Shape;14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847975"/>
            <a:ext cx="1143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552825"/>
            <a:ext cx="1524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4257675"/>
            <a:ext cx="1428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WebSocket Handshake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9526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571500" y="21240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official web_socket_channel package provides an elegant abstraction for WebSockets in Dart.</a:t>
            </a:r>
            <a:endParaRPr/>
          </a:p>
        </p:txBody>
      </p:sp>
      <p:sp>
        <p:nvSpPr>
          <p:cNvPr id="157" name="Google Shape;157;p19"/>
          <p:cNvSpPr txBox="1"/>
          <p:nvPr/>
        </p:nvSpPr>
        <p:spPr>
          <a:xfrm>
            <a:off x="571500" y="298132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1. The Stream</a:t>
            </a:r>
            <a:endParaRPr/>
          </a:p>
        </p:txBody>
      </p:sp>
      <p:sp>
        <p:nvSpPr>
          <p:cNvPr id="158" name="Google Shape;158;p19"/>
          <p:cNvSpPr txBox="1"/>
          <p:nvPr/>
        </p:nvSpPr>
        <p:spPr>
          <a:xfrm>
            <a:off x="571500" y="34956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channel.stream is a Stream of messages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from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the server. You listen to this to receive data.</a:t>
            </a:r>
            <a:endParaRPr/>
          </a:p>
        </p:txBody>
      </p:sp>
      <p:sp>
        <p:nvSpPr>
          <p:cNvPr id="159" name="Google Shape;159;p19"/>
          <p:cNvSpPr txBox="1"/>
          <p:nvPr/>
        </p:nvSpPr>
        <p:spPr>
          <a:xfrm>
            <a:off x="571500" y="418147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2. The Sink</a:t>
            </a:r>
            <a:endParaRPr/>
          </a:p>
        </p:txBody>
      </p:sp>
      <p:sp>
        <p:nvSpPr>
          <p:cNvPr id="160" name="Google Shape;160;p19"/>
          <p:cNvSpPr txBox="1"/>
          <p:nvPr/>
        </p:nvSpPr>
        <p:spPr>
          <a:xfrm>
            <a:off x="571500" y="469582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channel.sink is a StreamSink for messages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to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the server. You add to this to send data.</a:t>
            </a:r>
            <a:endParaRPr/>
          </a:p>
        </p:txBody>
      </p:sp>
      <p:pic>
        <p:nvPicPr>
          <p:cNvPr id="161" name="Google Shape;16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3650" y="1962150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9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Flutter: web_socket_channel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90712"/>
            <a:ext cx="5286375" cy="393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90712"/>
            <a:ext cx="5286375" cy="393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0"/>
          <p:cNvSpPr txBox="1"/>
          <p:nvPr/>
        </p:nvSpPr>
        <p:spPr>
          <a:xfrm>
            <a:off x="962025" y="2281237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Listen with StreamBuilder</a:t>
            </a:r>
            <a:endParaRPr/>
          </a:p>
        </p:txBody>
      </p:sp>
      <p:sp>
        <p:nvSpPr>
          <p:cNvPr id="170" name="Google Shape;170;p20"/>
          <p:cNvSpPr txBox="1"/>
          <p:nvPr/>
        </p:nvSpPr>
        <p:spPr>
          <a:xfrm>
            <a:off x="962025" y="2795587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StreamBuilder widget is the perfect tool. It listens to channel.stream and rebuilds the UI every time a new message arrives.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6724650" y="2281237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Send with the Sink</a:t>
            </a:r>
            <a:endParaRPr/>
          </a:p>
        </p:txBody>
      </p:sp>
      <p:sp>
        <p:nvSpPr>
          <p:cNvPr id="172" name="Google Shape;172;p20"/>
          <p:cNvSpPr txBox="1"/>
          <p:nvPr/>
        </p:nvSpPr>
        <p:spPr>
          <a:xfrm>
            <a:off x="6724650" y="2795587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To send a message, you simply call .add() on the sink with your data. This pushes it to the server instantly.</a:t>
            </a:r>
            <a:endParaRPr/>
          </a:p>
        </p:txBody>
      </p:sp>
      <p:sp>
        <p:nvSpPr>
          <p:cNvPr id="173" name="Google Shape;173;p20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Code: Simple Echo Client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1"/>
          <p:cNvSpPr txBox="1"/>
          <p:nvPr/>
        </p:nvSpPr>
        <p:spPr>
          <a:xfrm>
            <a:off x="2057400" y="2100411"/>
            <a:ext cx="8077200" cy="2952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WebSocket is a persistent connection. If channel.sink.close() is not called in the dispose() method, it creates a resource leak (memory, battery, and network).</a:t>
            </a:r>
            <a:endParaRPr/>
          </a:p>
        </p:txBody>
      </p:sp>
      <p:sp>
        <p:nvSpPr>
          <p:cNvPr id="179" name="Google Shape;179;p21"/>
          <p:cNvSpPr txBox="1"/>
          <p:nvPr/>
        </p:nvSpPr>
        <p:spPr>
          <a:xfrm>
            <a:off x="2266950" y="5552928"/>
            <a:ext cx="76581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— This is a mandatory cleanup step for any stateful widget using </a:t>
            </a:r>
            <a:r>
              <a:rPr lang="en-US" sz="1650" b="0" i="0" u="none" strike="noStrike" cap="none" dirty="0" err="1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WebSockets</a:t>
            </a:r>
            <a:r>
              <a:rPr lang="en-US" sz="1650" b="0" i="0" u="none" strike="noStrike" cap="none" dirty="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80" name="Google Shape;180;p21"/>
          <p:cNvSpPr txBox="1"/>
          <p:nvPr/>
        </p:nvSpPr>
        <p:spPr>
          <a:xfrm>
            <a:off x="1581150" y="2386161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CDD6E2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181" name="Google Shape;181;p21"/>
          <p:cNvSpPr txBox="1"/>
          <p:nvPr/>
        </p:nvSpPr>
        <p:spPr>
          <a:xfrm>
            <a:off x="10134600" y="4957616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CDD6E2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182" name="Google Shape;182;p21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Critical Best Practice: Dispose!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2"/>
          <p:cNvSpPr txBox="1"/>
          <p:nvPr/>
        </p:nvSpPr>
        <p:spPr>
          <a:xfrm>
            <a:off x="1410414" y="3128962"/>
            <a:ext cx="9371171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2: Managing Device Access</a:t>
            </a:r>
            <a:endParaRPr/>
          </a:p>
        </p:txBody>
      </p:sp>
      <p:sp>
        <p:nvSpPr>
          <p:cNvPr id="190" name="Google Shape;190;p22"/>
          <p:cNvSpPr txBox="1"/>
          <p:nvPr/>
        </p:nvSpPr>
        <p:spPr>
          <a:xfrm>
            <a:off x="4667250" y="4033837"/>
            <a:ext cx="2857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The Flutter Permission Model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447925"/>
            <a:ext cx="5286375" cy="28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447925"/>
            <a:ext cx="5286375" cy="2819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3"/>
          <p:cNvSpPr txBox="1"/>
          <p:nvPr/>
        </p:nvSpPr>
        <p:spPr>
          <a:xfrm>
            <a:off x="962025" y="2838450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Android: AndroidManifest.xml</a:t>
            </a:r>
            <a:endParaRPr/>
          </a:p>
        </p:txBody>
      </p:sp>
      <p:sp>
        <p:nvSpPr>
          <p:cNvPr id="198" name="Google Shape;198;p23"/>
          <p:cNvSpPr txBox="1"/>
          <p:nvPr/>
        </p:nvSpPr>
        <p:spPr>
          <a:xfrm>
            <a:off x="962025" y="3352800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You must declare your *intent* to use a permission. This tells the OS what your app *might* ask for.</a:t>
            </a:r>
            <a:endParaRPr/>
          </a:p>
        </p:txBody>
      </p:sp>
      <p:sp>
        <p:nvSpPr>
          <p:cNvPr id="199" name="Google Shape;199;p23"/>
          <p:cNvSpPr txBox="1"/>
          <p:nvPr/>
        </p:nvSpPr>
        <p:spPr>
          <a:xfrm>
            <a:off x="6724650" y="2838450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iOS: Info.plist</a:t>
            </a:r>
            <a:endParaRPr/>
          </a:p>
        </p:txBody>
      </p:sp>
      <p:sp>
        <p:nvSpPr>
          <p:cNvPr id="200" name="Google Shape;200;p23"/>
          <p:cNvSpPr txBox="1"/>
          <p:nvPr/>
        </p:nvSpPr>
        <p:spPr>
          <a:xfrm>
            <a:off x="6724650" y="3352800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You must provide the *exact string* that will be shown to the user. If this is missing, your app will crash.</a:t>
            </a:r>
            <a:endParaRPr/>
          </a:p>
        </p:txBody>
      </p:sp>
      <p:sp>
        <p:nvSpPr>
          <p:cNvPr id="201" name="Google Shape;201;p23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Step 1: Static Configuration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76475"/>
            <a:ext cx="2340024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02024" y="2276475"/>
            <a:ext cx="2340024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32549" y="2276475"/>
            <a:ext cx="3457575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280624" y="2276475"/>
            <a:ext cx="2340024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4"/>
          <p:cNvSpPr txBox="1"/>
          <p:nvPr/>
        </p:nvSpPr>
        <p:spPr>
          <a:xfrm>
            <a:off x="1071354" y="3286125"/>
            <a:ext cx="134016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isGranted</a:t>
            </a:r>
            <a:endParaRPr/>
          </a:p>
        </p:txBody>
      </p:sp>
      <p:sp>
        <p:nvSpPr>
          <p:cNvPr id="211" name="Google Shape;211;p24"/>
          <p:cNvSpPr txBox="1"/>
          <p:nvPr/>
        </p:nvSpPr>
        <p:spPr>
          <a:xfrm>
            <a:off x="866775" y="3943350"/>
            <a:ext cx="174947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You're in. Proceed with the feature.</a:t>
            </a:r>
            <a:endParaRPr/>
          </a:p>
        </p:txBody>
      </p:sp>
      <p:sp>
        <p:nvSpPr>
          <p:cNvPr id="212" name="Google Shape;212;p24"/>
          <p:cNvSpPr txBox="1"/>
          <p:nvPr/>
        </p:nvSpPr>
        <p:spPr>
          <a:xfrm>
            <a:off x="3666886" y="3286125"/>
            <a:ext cx="121015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isDenied</a:t>
            </a:r>
            <a:endParaRPr/>
          </a:p>
        </p:txBody>
      </p:sp>
      <p:sp>
        <p:nvSpPr>
          <p:cNvPr id="213" name="Google Shape;213;p24"/>
          <p:cNvSpPr txBox="1"/>
          <p:nvPr/>
        </p:nvSpPr>
        <p:spPr>
          <a:xfrm>
            <a:off x="3397299" y="3943350"/>
            <a:ext cx="1749474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User said no, but you can ask again. Show a rationale first!</a:t>
            </a:r>
            <a:endParaRPr/>
          </a:p>
        </p:txBody>
      </p:sp>
      <p:sp>
        <p:nvSpPr>
          <p:cNvPr id="214" name="Google Shape;214;p24"/>
          <p:cNvSpPr txBox="1"/>
          <p:nvPr/>
        </p:nvSpPr>
        <p:spPr>
          <a:xfrm>
            <a:off x="5856148" y="3286125"/>
            <a:ext cx="301037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isPermanentlyDenied</a:t>
            </a:r>
            <a:endParaRPr/>
          </a:p>
        </p:txBody>
      </p:sp>
      <p:sp>
        <p:nvSpPr>
          <p:cNvPr id="215" name="Google Shape;215;p24"/>
          <p:cNvSpPr txBox="1"/>
          <p:nvPr/>
        </p:nvSpPr>
        <p:spPr>
          <a:xfrm>
            <a:off x="5927824" y="3943350"/>
            <a:ext cx="28670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A "one-way gate." User checked "Don't Ask Again." You *cannot* request.</a:t>
            </a:r>
            <a:endParaRPr/>
          </a:p>
        </p:txBody>
      </p:sp>
      <p:sp>
        <p:nvSpPr>
          <p:cNvPr id="216" name="Google Shape;216;p24"/>
          <p:cNvSpPr txBox="1"/>
          <p:nvPr/>
        </p:nvSpPr>
        <p:spPr>
          <a:xfrm>
            <a:off x="9640460" y="3286125"/>
            <a:ext cx="16202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isRestricted</a:t>
            </a:r>
            <a:endParaRPr/>
          </a:p>
        </p:txBody>
      </p:sp>
      <p:sp>
        <p:nvSpPr>
          <p:cNvPr id="217" name="Google Shape;217;p24"/>
          <p:cNvSpPr txBox="1"/>
          <p:nvPr/>
        </p:nvSpPr>
        <p:spPr>
          <a:xfrm>
            <a:off x="9575899" y="3943350"/>
            <a:ext cx="1749474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User cannot grant (e.g., Parental Controls). Disable the feature.</a:t>
            </a:r>
            <a:endParaRPr/>
          </a:p>
        </p:txBody>
      </p:sp>
      <p:pic>
        <p:nvPicPr>
          <p:cNvPr id="218" name="Google Shape;218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12837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043362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32736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221962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4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Step 2: Runtime Handling with permission_handler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5"/>
          <p:cNvSpPr txBox="1"/>
          <p:nvPr/>
        </p:nvSpPr>
        <p:spPr>
          <a:xfrm>
            <a:off x="2057400" y="2100411"/>
            <a:ext cx="8077200" cy="2952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This is a one-way gate. The request() method stops working. The only "key" to unlock it is the </a:t>
            </a:r>
            <a:r>
              <a:rPr lang="en-US" sz="3300" b="0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openAppSettings</a:t>
            </a:r>
            <a:r>
              <a:rPr lang="en-US" sz="3300" b="0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() function, which cedes control entirely to the user.</a:t>
            </a:r>
            <a:endParaRPr dirty="0"/>
          </a:p>
        </p:txBody>
      </p:sp>
      <p:sp>
        <p:nvSpPr>
          <p:cNvPr id="228" name="Google Shape;228;p25"/>
          <p:cNvSpPr txBox="1"/>
          <p:nvPr/>
        </p:nvSpPr>
        <p:spPr>
          <a:xfrm>
            <a:off x="2300287" y="5648621"/>
            <a:ext cx="759142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— This is the most common failure point for developers handling permissions.</a:t>
            </a:r>
            <a:endParaRPr dirty="0"/>
          </a:p>
        </p:txBody>
      </p:sp>
      <p:sp>
        <p:nvSpPr>
          <p:cNvPr id="229" name="Google Shape;229;p25"/>
          <p:cNvSpPr txBox="1"/>
          <p:nvPr/>
        </p:nvSpPr>
        <p:spPr>
          <a:xfrm>
            <a:off x="1581150" y="2386161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CDD6E2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230" name="Google Shape;230;p25"/>
          <p:cNvSpPr txBox="1"/>
          <p:nvPr/>
        </p:nvSpPr>
        <p:spPr>
          <a:xfrm>
            <a:off x="10134600" y="4957616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CDD6E2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231" name="Google Shape;231;p25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"isPermanentlyDenied" Trap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 txBox="1"/>
          <p:nvPr/>
        </p:nvSpPr>
        <p:spPr>
          <a:xfrm>
            <a:off x="2190750" y="244792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Ask Contextually: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Don't ask on launch. Request the permission at the *exact* moment the user tries to use the feature.</a:t>
            </a:r>
            <a:endParaRPr/>
          </a:p>
        </p:txBody>
      </p:sp>
      <p:sp>
        <p:nvSpPr>
          <p:cNvPr id="237" name="Google Shape;237;p26"/>
          <p:cNvSpPr txBox="1"/>
          <p:nvPr/>
        </p:nvSpPr>
        <p:spPr>
          <a:xfrm>
            <a:off x="2190750" y="315277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Explain Why (Rationale):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Show a friendly in-app dialog *before* the scary system prompt. This builds trust and increases "Allow" rates.</a:t>
            </a:r>
            <a:endParaRPr/>
          </a:p>
        </p:txBody>
      </p:sp>
      <p:sp>
        <p:nvSpPr>
          <p:cNvPr id="238" name="Google Shape;238;p26"/>
          <p:cNvSpPr txBox="1"/>
          <p:nvPr/>
        </p:nvSpPr>
        <p:spPr>
          <a:xfrm>
            <a:off x="2190750" y="385762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Handle Denial Gracefully: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Don't crash or block the app. "Gracefully degrade" the feature (e.g., offer upload from gallery if camera is denied).</a:t>
            </a:r>
            <a:endParaRPr/>
          </a:p>
        </p:txBody>
      </p:sp>
      <p:sp>
        <p:nvSpPr>
          <p:cNvPr id="239" name="Google Shape;239;p26"/>
          <p:cNvSpPr txBox="1"/>
          <p:nvPr/>
        </p:nvSpPr>
        <p:spPr>
          <a:xfrm>
            <a:off x="2190750" y="456247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Master the 'Denied' Flow: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If isPermanentlyDenied, show a button that calls openAppSettings() to give the user a path to recovery.</a:t>
            </a:r>
            <a:endParaRPr/>
          </a:p>
        </p:txBody>
      </p:sp>
      <p:pic>
        <p:nvPicPr>
          <p:cNvPr id="240" name="Google Shape;24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495550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2004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905250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610100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6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Permission UX Best Practices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7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7"/>
          <p:cNvSpPr txBox="1"/>
          <p:nvPr/>
        </p:nvSpPr>
        <p:spPr>
          <a:xfrm>
            <a:off x="2240518" y="3128962"/>
            <a:ext cx="7710963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3: Navigating the App</a:t>
            </a:r>
            <a:endParaRPr/>
          </a:p>
        </p:txBody>
      </p:sp>
      <p:sp>
        <p:nvSpPr>
          <p:cNvPr id="252" name="Google Shape;252;p27"/>
          <p:cNvSpPr txBox="1"/>
          <p:nvPr/>
        </p:nvSpPr>
        <p:spPr>
          <a:xfrm>
            <a:off x="4452937" y="4033837"/>
            <a:ext cx="3286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Flutter Routing from Basics to Pro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62162"/>
            <a:ext cx="5286375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62162"/>
            <a:ext cx="5286375" cy="359092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 txBox="1"/>
          <p:nvPr/>
        </p:nvSpPr>
        <p:spPr>
          <a:xfrm>
            <a:off x="962025" y="2452687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Anonymous Routes</a:t>
            </a:r>
            <a:endParaRPr/>
          </a:p>
        </p:txBody>
      </p:sp>
      <p:sp>
        <p:nvSpPr>
          <p:cNvPr id="260" name="Google Shape;260;p28"/>
          <p:cNvSpPr txBox="1"/>
          <p:nvPr/>
        </p:nvSpPr>
        <p:spPr>
          <a:xfrm>
            <a:off x="962025" y="2967037"/>
            <a:ext cx="450532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most basic form. You "push" a MaterialPageRoute that builds your widget. This is simple but leads to duplicated code.</a:t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6724650" y="2452687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Named Routes</a:t>
            </a:r>
            <a:endParaRPr/>
          </a:p>
        </p:txBody>
      </p:sp>
      <p:sp>
        <p:nvSpPr>
          <p:cNvPr id="262" name="Google Shape;262;p28"/>
          <p:cNvSpPr txBox="1"/>
          <p:nvPr/>
        </p:nvSpPr>
        <p:spPr>
          <a:xfrm>
            <a:off x="6724650" y="2967037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Cleaner. You define a map of string names to widgets in MaterialApp. However, this is no longer recommended.</a:t>
            </a:r>
            <a:endParaRPr/>
          </a:p>
        </p:txBody>
      </p:sp>
      <p:sp>
        <p:nvSpPr>
          <p:cNvPr id="263" name="Google Shape;263;p28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Navigator 1.0: The (Old) Imperative Way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9"/>
          <p:cNvSpPr txBox="1"/>
          <p:nvPr/>
        </p:nvSpPr>
        <p:spPr>
          <a:xfrm>
            <a:off x="1809750" y="2671762"/>
            <a:ext cx="8572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official Flutter docs warn against using named routes. Why?</a:t>
            </a:r>
            <a:endParaRPr/>
          </a:p>
        </p:txBody>
      </p:sp>
      <p:sp>
        <p:nvSpPr>
          <p:cNvPr id="269" name="Google Shape;269;p29"/>
          <p:cNvSpPr txBox="1"/>
          <p:nvPr/>
        </p:nvSpPr>
        <p:spPr>
          <a:xfrm>
            <a:off x="2190750" y="3100387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Inflexible Deep Linking: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Poorly handles external links (e.g., from a notification) trying to open a specific screen.</a:t>
            </a:r>
            <a:endParaRPr/>
          </a:p>
        </p:txBody>
      </p:sp>
      <p:sp>
        <p:nvSpPr>
          <p:cNvPr id="270" name="Google Shape;270;p29"/>
          <p:cNvSpPr txBox="1"/>
          <p:nvPr/>
        </p:nvSpPr>
        <p:spPr>
          <a:xfrm>
            <a:off x="2190750" y="3805237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Difficult Stack Management: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You can only push/pop from the top. Replacing the entire stack (e.g., after login) is complex.</a:t>
            </a:r>
            <a:endParaRPr/>
          </a:p>
        </p:txBody>
      </p:sp>
      <p:sp>
        <p:nvSpPr>
          <p:cNvPr id="271" name="Google Shape;271;p29"/>
          <p:cNvSpPr txBox="1"/>
          <p:nvPr/>
        </p:nvSpPr>
        <p:spPr>
          <a:xfrm>
            <a:off x="2190750" y="4510087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Poor Web Support: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Doesn't map to browser URLs. The back/forward buttons and URL bar don't work correctly.</a:t>
            </a:r>
            <a:endParaRPr/>
          </a:p>
        </p:txBody>
      </p:sp>
      <p:pic>
        <p:nvPicPr>
          <p:cNvPr id="272" name="Google Shape;272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31480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852862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4557712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9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Limitations of Navigator 1.0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9526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30"/>
          <p:cNvSpPr txBox="1"/>
          <p:nvPr/>
        </p:nvSpPr>
        <p:spPr>
          <a:xfrm>
            <a:off x="571500" y="21240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go_router is the official, Flutter-team-endorsed package that implements the powerful, declarative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Navigator 2.0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API for you.</a:t>
            </a:r>
            <a:endParaRPr/>
          </a:p>
        </p:txBody>
      </p:sp>
      <p:sp>
        <p:nvSpPr>
          <p:cNvPr id="282" name="Google Shape;282;p30"/>
          <p:cNvSpPr txBox="1"/>
          <p:nvPr/>
        </p:nvSpPr>
        <p:spPr>
          <a:xfrm>
            <a:off x="571500" y="298132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Declarative: "Stack = f(State)"</a:t>
            </a:r>
            <a:endParaRPr/>
          </a:p>
        </p:txBody>
      </p:sp>
      <p:sp>
        <p:nvSpPr>
          <p:cNvPr id="283" name="Google Shape;283;p30"/>
          <p:cNvSpPr txBox="1"/>
          <p:nvPr/>
        </p:nvSpPr>
        <p:spPr>
          <a:xfrm>
            <a:off x="571500" y="34956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You no longer say "go here." You define your app's navigation state, and the router builds the stack.</a:t>
            </a:r>
            <a:endParaRPr/>
          </a:p>
        </p:txBody>
      </p:sp>
      <p:sp>
        <p:nvSpPr>
          <p:cNvPr id="284" name="Google Shape;284;p30"/>
          <p:cNvSpPr txBox="1"/>
          <p:nvPr/>
        </p:nvSpPr>
        <p:spPr>
          <a:xfrm>
            <a:off x="571500" y="418147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URL-Based API</a:t>
            </a:r>
            <a:endParaRPr/>
          </a:p>
        </p:txBody>
      </p:sp>
      <p:sp>
        <p:nvSpPr>
          <p:cNvPr id="285" name="Google Shape;285;p30"/>
          <p:cNvSpPr txBox="1"/>
          <p:nvPr/>
        </p:nvSpPr>
        <p:spPr>
          <a:xfrm>
            <a:off x="571500" y="4695825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It provides a simple, URL-based API (e.g., context.go('/users/123')) that solves deep linking, stack management, and web support.</a:t>
            </a:r>
            <a:endParaRPr/>
          </a:p>
        </p:txBody>
      </p:sp>
      <p:pic>
        <p:nvPicPr>
          <p:cNvPr id="286" name="Google Shape;286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3650" y="1962150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0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Solution: go_router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2" name="Google Shape;292;p31"/>
          <p:cNvGraphicFramePr/>
          <p:nvPr/>
        </p:nvGraphicFramePr>
        <p:xfrm>
          <a:off x="571500" y="26289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{4ED74F36-79B0-469E-80D2-08A86E0640BE}</a:tableStyleId>
              </a:tblPr>
              <a:tblGrid>
                <a:gridCol w="186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67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Method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Path Definition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Navigation Example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5088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Use Case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Path Parameter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'/users/:id'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context.go('/users/123')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Bookmarkable.</a:t>
                      </a: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Required IDs.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Query Parameter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'/search'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context.go('/search?q=flutter')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Bookmarkable.</a:t>
                      </a: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Optional filters.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Extra Parameter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(None)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context.go('...', extra: myObject)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NOT Bookmarkable.</a:t>
                      </a:r>
                      <a:r>
                        <a:rPr lang="en-US" sz="1350" b="0" i="0" u="none" strike="noStrike" cap="none">
                          <a:solidFill>
                            <a:srgbClr val="333333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For transient state.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3" name="Google Shape;293;p31"/>
          <p:cNvSpPr/>
          <p:nvPr/>
        </p:nvSpPr>
        <p:spPr>
          <a:xfrm>
            <a:off x="571500" y="3252787"/>
            <a:ext cx="186422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1"/>
          <p:cNvSpPr/>
          <p:nvPr/>
        </p:nvSpPr>
        <p:spPr>
          <a:xfrm>
            <a:off x="2435721" y="3252787"/>
            <a:ext cx="1961852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1"/>
          <p:cNvSpPr/>
          <p:nvPr/>
        </p:nvSpPr>
        <p:spPr>
          <a:xfrm>
            <a:off x="4397573" y="3252787"/>
            <a:ext cx="3455193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1"/>
          <p:cNvSpPr/>
          <p:nvPr/>
        </p:nvSpPr>
        <p:spPr>
          <a:xfrm>
            <a:off x="7852767" y="3252787"/>
            <a:ext cx="3767732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1"/>
          <p:cNvSpPr/>
          <p:nvPr/>
        </p:nvSpPr>
        <p:spPr>
          <a:xfrm>
            <a:off x="571500" y="3862387"/>
            <a:ext cx="186422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1"/>
          <p:cNvSpPr/>
          <p:nvPr/>
        </p:nvSpPr>
        <p:spPr>
          <a:xfrm>
            <a:off x="2435721" y="3862387"/>
            <a:ext cx="1961852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1"/>
          <p:cNvSpPr/>
          <p:nvPr/>
        </p:nvSpPr>
        <p:spPr>
          <a:xfrm>
            <a:off x="4397573" y="3862387"/>
            <a:ext cx="3455193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1"/>
          <p:cNvSpPr/>
          <p:nvPr/>
        </p:nvSpPr>
        <p:spPr>
          <a:xfrm>
            <a:off x="7852767" y="3862387"/>
            <a:ext cx="3767732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1"/>
          <p:cNvSpPr/>
          <p:nvPr/>
        </p:nvSpPr>
        <p:spPr>
          <a:xfrm>
            <a:off x="571500" y="4471987"/>
            <a:ext cx="1864221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1"/>
          <p:cNvSpPr/>
          <p:nvPr/>
        </p:nvSpPr>
        <p:spPr>
          <a:xfrm>
            <a:off x="2435721" y="4471987"/>
            <a:ext cx="1961852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1"/>
          <p:cNvSpPr/>
          <p:nvPr/>
        </p:nvSpPr>
        <p:spPr>
          <a:xfrm>
            <a:off x="4397573" y="4471987"/>
            <a:ext cx="3455193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1"/>
          <p:cNvSpPr/>
          <p:nvPr/>
        </p:nvSpPr>
        <p:spPr>
          <a:xfrm>
            <a:off x="7852767" y="4471987"/>
            <a:ext cx="3767732" cy="95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1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go_router: Passing Parameters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2"/>
          <p:cNvSpPr txBox="1"/>
          <p:nvPr/>
        </p:nvSpPr>
        <p:spPr>
          <a:xfrm>
            <a:off x="2057400" y="2109936"/>
            <a:ext cx="8077200" cy="2933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0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Pass 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IDs</a:t>
            </a:r>
            <a:r>
              <a:rPr lang="en-US" sz="3300" b="0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in your routes, not complex objects. Use the ID in the destination screen to look up the data from a central state manager (e.g., </a:t>
            </a:r>
            <a:r>
              <a:rPr lang="en-US" sz="3300" b="0" i="0" u="none" strike="noStrike" cap="none" dirty="0" err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Riverpod</a:t>
            </a:r>
            <a:r>
              <a:rPr lang="en-US" sz="3300" b="0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, Bloc).</a:t>
            </a:r>
            <a:endParaRPr dirty="0"/>
          </a:p>
        </p:txBody>
      </p:sp>
      <p:sp>
        <p:nvSpPr>
          <p:cNvPr id="311" name="Google Shape;311;p32"/>
          <p:cNvSpPr txBox="1"/>
          <p:nvPr/>
        </p:nvSpPr>
        <p:spPr>
          <a:xfrm>
            <a:off x="2324100" y="5743758"/>
            <a:ext cx="75438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— This ensures your app is fully deep-linkable, bookmarkable, and restorable.</a:t>
            </a:r>
            <a:endParaRPr dirty="0"/>
          </a:p>
        </p:txBody>
      </p:sp>
      <p:sp>
        <p:nvSpPr>
          <p:cNvPr id="312" name="Google Shape;312;p32"/>
          <p:cNvSpPr txBox="1"/>
          <p:nvPr/>
        </p:nvSpPr>
        <p:spPr>
          <a:xfrm>
            <a:off x="1581150" y="2395686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CDD6E2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313" name="Google Shape;313;p32"/>
          <p:cNvSpPr txBox="1"/>
          <p:nvPr/>
        </p:nvSpPr>
        <p:spPr>
          <a:xfrm>
            <a:off x="10134600" y="4948091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CDD6E2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314" name="Google Shape;314;p32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go_router Best Practice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8859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3"/>
          <p:cNvSpPr txBox="1"/>
          <p:nvPr/>
        </p:nvSpPr>
        <p:spPr>
          <a:xfrm>
            <a:off x="571500" y="2057400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go_router's elegant solution to a classic problem: a persistent BottomNavigationBar.</a:t>
            </a:r>
            <a:endParaRPr/>
          </a:p>
        </p:txBody>
      </p:sp>
      <p:sp>
        <p:nvSpPr>
          <p:cNvPr id="321" name="Google Shape;321;p33"/>
          <p:cNvSpPr txBox="1"/>
          <p:nvPr/>
        </p:nvSpPr>
        <p:spPr>
          <a:xfrm>
            <a:off x="571500" y="2914650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How it Works</a:t>
            </a:r>
            <a:endParaRPr/>
          </a:p>
        </p:txBody>
      </p:sp>
      <p:sp>
        <p:nvSpPr>
          <p:cNvPr id="322" name="Google Shape;322;p33"/>
          <p:cNvSpPr txBox="1"/>
          <p:nvPr/>
        </p:nvSpPr>
        <p:spPr>
          <a:xfrm>
            <a:off x="571500" y="3429000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ShellRoute creates a nested Navigator. This means your main Scaffold (with the BottomNavBar) never rebuilds. Only the "shell" body changes.</a:t>
            </a:r>
            <a:endParaRPr/>
          </a:p>
        </p:txBody>
      </p:sp>
      <p:sp>
        <p:nvSpPr>
          <p:cNvPr id="323" name="Google Shape;323;p33"/>
          <p:cNvSpPr txBox="1"/>
          <p:nvPr/>
        </p:nvSpPr>
        <p:spPr>
          <a:xfrm>
            <a:off x="571500" y="437197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State Preservation</a:t>
            </a:r>
            <a:endParaRPr/>
          </a:p>
        </p:txBody>
      </p:sp>
      <p:sp>
        <p:nvSpPr>
          <p:cNvPr id="324" name="Google Shape;324;p33"/>
          <p:cNvSpPr txBox="1"/>
          <p:nvPr/>
        </p:nvSpPr>
        <p:spPr>
          <a:xfrm>
            <a:off x="571500" y="4886325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StatefulShellRoute preserves the navigation state of each tab. If you navigate deep in Tab A, switch to Tab B, and return to Tab A, your stack is restored.</a:t>
            </a:r>
            <a:endParaRPr/>
          </a:p>
        </p:txBody>
      </p:sp>
      <p:pic>
        <p:nvPicPr>
          <p:cNvPr id="325" name="Google Shape;325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3650" y="1895475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3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Nested Nav: ShellRoute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405062"/>
            <a:ext cx="3429000" cy="290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2405062"/>
            <a:ext cx="3429000" cy="290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3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405062"/>
            <a:ext cx="3429000" cy="290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34"/>
          <p:cNvSpPr txBox="1"/>
          <p:nvPr/>
        </p:nvSpPr>
        <p:spPr>
          <a:xfrm>
            <a:off x="1280874" y="3414712"/>
            <a:ext cx="201025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1. Permissions</a:t>
            </a:r>
            <a:endParaRPr/>
          </a:p>
        </p:txBody>
      </p:sp>
      <p:sp>
        <p:nvSpPr>
          <p:cNvPr id="335" name="Google Shape;335;p34"/>
          <p:cNvSpPr txBox="1"/>
          <p:nvPr/>
        </p:nvSpPr>
        <p:spPr>
          <a:xfrm>
            <a:off x="866775" y="4071937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User taps "Nearby." App checks and requests Permission.location, showing a rationale first.</a:t>
            </a:r>
            <a:endParaRPr/>
          </a:p>
        </p:txBody>
      </p:sp>
      <p:sp>
        <p:nvSpPr>
          <p:cNvPr id="336" name="Google Shape;336;p34"/>
          <p:cNvSpPr txBox="1"/>
          <p:nvPr/>
        </p:nvSpPr>
        <p:spPr>
          <a:xfrm>
            <a:off x="5375910" y="3414712"/>
            <a:ext cx="14401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2. Routing</a:t>
            </a:r>
            <a:endParaRPr/>
          </a:p>
        </p:txBody>
      </p:sp>
      <p:sp>
        <p:nvSpPr>
          <p:cNvPr id="337" name="Google Shape;337;p34"/>
          <p:cNvSpPr txBox="1"/>
          <p:nvPr/>
        </p:nvSpPr>
        <p:spPr>
          <a:xfrm>
            <a:off x="4676775" y="4071937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User taps a friend. App calls context.go('/chat/alice_id'). go_router builds the chat screen.</a:t>
            </a:r>
            <a:endParaRPr/>
          </a:p>
        </p:txBody>
      </p:sp>
      <p:sp>
        <p:nvSpPr>
          <p:cNvPr id="338" name="Google Shape;338;p34"/>
          <p:cNvSpPr txBox="1"/>
          <p:nvPr/>
        </p:nvSpPr>
        <p:spPr>
          <a:xfrm>
            <a:off x="8925877" y="3414712"/>
            <a:ext cx="196024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3. WebSockets</a:t>
            </a:r>
            <a:endParaRPr/>
          </a:p>
        </p:txBody>
      </p:sp>
      <p:sp>
        <p:nvSpPr>
          <p:cNvPr id="339" name="Google Shape;339;p34"/>
          <p:cNvSpPr txBox="1"/>
          <p:nvPr/>
        </p:nvSpPr>
        <p:spPr>
          <a:xfrm>
            <a:off x="8486775" y="4071937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ChatScreen connects to WebSocketManager to send/receive messages in real-time.</a:t>
            </a:r>
            <a:endParaRPr/>
          </a:p>
        </p:txBody>
      </p:sp>
      <p:pic>
        <p:nvPicPr>
          <p:cNvPr id="340" name="Google Shape;340;p3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14550" y="2719387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67400" y="271938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3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77400" y="2719387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34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Synthesis: "Flutter MapChat" Flow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1372</Words>
  <Application>Microsoft Macintosh PowerPoint</Application>
  <PresentationFormat>Widescreen</PresentationFormat>
  <Paragraphs>131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DM Sans</vt:lpstr>
      <vt:lpstr>Merriweather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Stefan Dinu Rusu | Tazz, IT</cp:lastModifiedBy>
  <cp:revision>1</cp:revision>
  <dcterms:modified xsi:type="dcterms:W3CDTF">2025-11-15T12:34:59Z</dcterms:modified>
</cp:coreProperties>
</file>