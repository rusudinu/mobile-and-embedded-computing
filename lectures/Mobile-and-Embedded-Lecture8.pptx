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Sec-WebSocket-Accept is the client key concatenated with a fixed GUID, SHA-1'd and base64'd. It proves the server actually understood the upgrade rather than a cache replaying a 101. It is not security; it is a cache-poisoning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asks 'why not just use WebSockets for the sensor too': a broker gives you fan-out, retained last-known-value, and offline queueing that you would otherwise write yourself. Also, MQTT over WebSocket is common: the transport and the protocol are separate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opportunity: point wss:// at wss://echo.websocket.org (or a two-line Dart shelf_web_socket server) and show ready throwing on a bad host. The old deck showed listening and sending but never showed connect(), so students could not run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they would resync: the answer is a monotonic cursor: the client sends the last id it saw on reconnect and the server replays the gap. Without that, a reconnect either duplicates messages or silently loses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original deck's manifest box rendered completely empty: the angle brackets were removed by HTML escaping, so students saw a blank gray rectangle where the answer was meant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deny camera twice on an Android emulator and watch request() return instantly with no dialog. Then walk to Settings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GoRouterRefreshStream is a tiny ChangeNotifier that calls notifyListeners on every stream event; it is in the go_router examples, about ten lines. Tie this back to Lecture 7: authStateChanges() is the source of truth, and this is where the router subscribes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Realtime, Permissions &amp; Routing</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8: WebSockets, runtime permissions, navigation</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waves-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Realtime transport</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Which of WebSocket, SSE, long-polling and MQTT fits a problem, and the handshake that makes a socket</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refresh-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Connections that survive</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Backoff, heartbeats, wss://, and what the OS does to your socket when the app leaves the screen</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lock-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Permissions, end to end</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Manifest and plist entries, Android 13+ granular media, and every state permission_handler returns</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route-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Routing with go_router</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Routes as data, parameters, nested shells, plus a redirect guard wired to your auth state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1 · REALTIME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Keeping a connection open</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WebSockets, and the three other ways to push data to a phone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Why HTTP alone cannot push</a:t>
            </a:r>
            <a:endParaRPr lang="en-US" sz="3000" dirty="0"/>
          </a:p>
        </p:txBody>
      </p:sp>
      <p:sp>
        <p:nvSpPr>
          <p:cNvPr id="5" name="Text 3"/>
          <p:cNvSpPr/>
          <p:nvPr/>
        </p:nvSpPr>
        <p:spPr>
          <a:xfrm>
            <a:off x="822960" y="1664208"/>
            <a:ext cx="10543032" cy="1143000"/>
          </a:xfrm>
          <a:prstGeom prst="rect">
            <a:avLst/>
          </a:prstGeom>
          <a:noFill/>
          <a:ln/>
        </p:spPr>
        <p:txBody>
          <a:bodyPr wrap="square" lIns="0" tIns="0" rIns="0" bIns="0" rtlCol="0" anchor="t"/>
          <a:lstStyle/>
          <a:p>
            <a:pPr indent="0" marL="0">
              <a:spcAft>
                <a:spcPts val="900"/>
              </a:spcAft>
              <a:buNone/>
            </a:pPr>
            <a:r>
              <a:rPr lang="en-US" sz="1300" dirty="0">
                <a:solidFill>
                  <a:srgbClr val="1D1D1F"/>
                </a:solidFill>
                <a:latin typeface="Arial" pitchFamily="34" charset="0"/>
                <a:ea typeface="Arial" pitchFamily="34" charset="-122"/>
                <a:cs typeface="Arial" pitchFamily="34" charset="-120"/>
              </a:rPr>
              <a:t>HTTP is request–response. The client asks, the server answers, the exchange is over. Keep-alive reuses the TCP connection, but the server still has no way to speak first.</a:t>
            </a:r>
            <a:endParaRPr lang="en-US" sz="1300" dirty="0"/>
          </a:p>
          <a:p>
            <a:pPr indent="0" marL="0">
              <a:spcAft>
                <a:spcPts val="900"/>
              </a:spcAft>
              <a:buNone/>
            </a:pPr>
            <a:r>
              <a:rPr lang="en-US" sz="1300" dirty="0">
                <a:solidFill>
                  <a:srgbClr val="1D1D1F"/>
                </a:solidFill>
                <a:latin typeface="Arial" pitchFamily="34" charset="0"/>
                <a:ea typeface="Arial" pitchFamily="34" charset="-122"/>
                <a:cs typeface="Arial" pitchFamily="34" charset="-120"/>
              </a:rPr>
              <a:t>So apps fake it by polling: ask every two seconds, and be told “nothing new” ninety-nine times out of a hundred. You pay for a full request (headers, TLS bookkeeping, a server handler) every time, on every device.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880360"/>
          <a:ext cx="10543032" cy="914400"/>
        </p:xfrm>
        <a:graphic>
          <a:graphicData uri="http://schemas.openxmlformats.org/drawingml/2006/table">
            <a:tbl>
              <a:tblPr/>
              <a:tblGrid>
                <a:gridCol w="2194560"/>
                <a:gridCol w="4174236"/>
                <a:gridCol w="417423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Polling over HTTP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WebSocket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Connection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request per poll, or a reused keep-alive socket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socket, opened once, held open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Who may speak</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the client only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either side, at any moment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Worst-case latency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full poll interval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network hop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Cost while idle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request every interval, forever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few bytes of keepalive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7" name="Shape 4"/>
          <p:cNvSpPr/>
          <p:nvPr/>
        </p:nvSpPr>
        <p:spPr>
          <a:xfrm>
            <a:off x="822960" y="5349240"/>
            <a:ext cx="10543032" cy="0"/>
          </a:xfrm>
          <a:prstGeom prst="line">
            <a:avLst/>
          </a:prstGeom>
          <a:noFill/>
          <a:ln w="9525">
            <a:solidFill>
              <a:srgbClr val="D2D2D7"/>
            </a:solidFill>
            <a:prstDash val="solid"/>
          </a:ln>
        </p:spPr>
      </p:sp>
      <p:sp>
        <p:nvSpPr>
          <p:cNvPr id="8" name="Text 5"/>
          <p:cNvSpPr/>
          <p:nvPr/>
        </p:nvSpPr>
        <p:spPr>
          <a:xfrm>
            <a:off x="822960" y="55778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WebSocket is not “faster HTTP”. It is a different conversation shape.</a:t>
            </a:r>
            <a:pPr indent="0" marL="0">
              <a:buNone/>
            </a:pPr>
            <a:r>
              <a:rPr lang="en-US" sz="1400" dirty="0">
                <a:solidFill>
                  <a:srgbClr val="86868B"/>
                </a:solidFill>
                <a:latin typeface="Arial" pitchFamily="34" charset="0"/>
                <a:ea typeface="Arial" pitchFamily="34" charset="-122"/>
                <a:cs typeface="Arial" pitchFamily="34" charset="-120"/>
              </a:rPr>
              <a:t> Use it when the server has data before the client would have asked for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handshake: HTTP 101 Switching Protocols</a:t>
            </a:r>
            <a:endParaRPr lang="en-US" sz="3000" dirty="0"/>
          </a:p>
        </p:txBody>
      </p:sp>
      <p:sp>
        <p:nvSpPr>
          <p:cNvPr id="5" name="Shape 3"/>
          <p:cNvSpPr/>
          <p:nvPr/>
        </p:nvSpPr>
        <p:spPr>
          <a:xfrm>
            <a:off x="822960" y="1783080"/>
            <a:ext cx="6583680" cy="3794760"/>
          </a:xfrm>
          <a:prstGeom prst="roundRect">
            <a:avLst>
              <a:gd name="adj" fmla="val 2892"/>
            </a:avLst>
          </a:prstGeom>
          <a:solidFill>
            <a:srgbClr val="F5F5F7"/>
          </a:solidFill>
          <a:ln/>
        </p:spPr>
      </p:sp>
      <p:sp>
        <p:nvSpPr>
          <p:cNvPr id="6" name="Text 4"/>
          <p:cNvSpPr/>
          <p:nvPr/>
        </p:nvSpPr>
        <p:spPr>
          <a:xfrm>
            <a:off x="1234440" y="2103120"/>
            <a:ext cx="5852160" cy="320040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GET /chat HTTP/1.1</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Host: realtime.example.com</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Upgrade: websocket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Connection: Upgrade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Sec-WebSocket-Key: dGhlIHNhbXBsZSBub25jZQ==</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Sec-WebSocket-Version: 13</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HTTP/1.1 101 Switching Protocols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Upgrade: websocket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Connection: Upgrade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Sec-WebSocket-Accept: s3pPLMBiTxaQ9kYGzzhZRbK+xOo=</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same TCP connection, now carrying WebSocket frames</a:t>
            </a:r>
            <a:endParaRPr lang="en-US" sz="1050" dirty="0"/>
          </a:p>
        </p:txBody>
      </p:sp>
      <p:sp>
        <p:nvSpPr>
          <p:cNvPr id="7" name="Text 5"/>
          <p:cNvSpPr/>
          <p:nvPr/>
        </p:nvSpPr>
        <p:spPr>
          <a:xfrm>
            <a:off x="7772400" y="1810512"/>
            <a:ext cx="359359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just happened</a:t>
            </a:r>
            <a:endParaRPr lang="en-US" sz="1400" dirty="0"/>
          </a:p>
        </p:txBody>
      </p:sp>
      <p:sp>
        <p:nvSpPr>
          <p:cNvPr id="8" name="Text 6"/>
          <p:cNvSpPr/>
          <p:nvPr/>
        </p:nvSpPr>
        <p:spPr>
          <a:xfrm>
            <a:off x="7772400" y="2240280"/>
            <a:ext cx="3593592" cy="356616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A WebSocket starts life as an ordinary HTTP request. That is why it travels over port 443 and through every proxy and firewall that already allows HTTPS.</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The 101 response ends the HTTP part. Nothing is re-negotiated; the same TCP connection is handed over to a binary framing protocol (RFC 6455).</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Because the opening request is HTTP, it carries cookies, an Origin header and a query string, which is how you authenticate the socket.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Four ways to push, and when each one fits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43032" cy="914400"/>
        </p:xfrm>
        <a:graphic>
          <a:graphicData uri="http://schemas.openxmlformats.org/drawingml/2006/table">
            <a:tbl>
              <a:tblPr/>
              <a:tblGrid>
                <a:gridCol w="1600200"/>
                <a:gridCol w="2980944"/>
                <a:gridCol w="2980944"/>
                <a:gridCol w="2980944"/>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Direction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Runs over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Reach for it when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WebSocket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full duplex</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TCP socket, HTTP upgrade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both sides talk: chat, presence, collaborative editing, games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SSE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server → client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plain HTTP response that never ends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one-way feed. Auto-reconnect and event ids are in the browser spec, free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Long polling</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server → client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ordinary HTTP requests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restrictive network blocks everything else. The universal fallback</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MQTT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pub/sub, both ways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TCP, or tunneled over WebSocket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devices: tiny frames, QoS levels, retained messages, last-will messages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285232"/>
            <a:ext cx="10543032" cy="0"/>
          </a:xfrm>
          <a:prstGeom prst="line">
            <a:avLst/>
          </a:prstGeom>
          <a:noFill/>
          <a:ln w="9525">
            <a:solidFill>
              <a:srgbClr val="D2D2D7"/>
            </a:solidFill>
            <a:prstDash val="solid"/>
          </a:ln>
        </p:spPr>
      </p:sp>
      <p:sp>
        <p:nvSpPr>
          <p:cNvPr id="7" name="Text 4"/>
          <p:cNvSpPr/>
          <p:nvPr/>
        </p:nvSpPr>
        <p:spPr>
          <a:xfrm>
            <a:off x="822960" y="5513832"/>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MQTT is the one you will meet on hardware.</a:t>
            </a:r>
            <a:pPr indent="0" marL="0">
              <a:buNone/>
            </a:pPr>
            <a:r>
              <a:rPr lang="en-US" sz="1400" dirty="0">
                <a:solidFill>
                  <a:srgbClr val="86868B"/>
                </a:solidFill>
                <a:latin typeface="Arial" pitchFamily="34" charset="0"/>
                <a:ea typeface="Arial" pitchFamily="34" charset="-122"/>
                <a:cs typeface="Arial" pitchFamily="34" charset="-120"/>
              </a:rPr>
              <a:t> A broker fans one sensor reading out to every subscriber, and a 2-byte header suits a device with 520 KB of RAM. → Lecture 11: a TinyGo program on an ESP32-C3 publishes readings, and your Flutter app subscribes with mqtt_client.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web_socket_channel: the whole lifecycle</a:t>
            </a:r>
            <a:endParaRPr lang="en-US" sz="3000" dirty="0"/>
          </a:p>
        </p:txBody>
      </p:sp>
      <p:sp>
        <p:nvSpPr>
          <p:cNvPr id="5" name="Shape 3"/>
          <p:cNvSpPr/>
          <p:nvPr/>
        </p:nvSpPr>
        <p:spPr>
          <a:xfrm>
            <a:off x="822960" y="1783080"/>
            <a:ext cx="6858000" cy="4434840"/>
          </a:xfrm>
          <a:prstGeom prst="roundRect">
            <a:avLst>
              <a:gd name="adj" fmla="val 2474"/>
            </a:avLst>
          </a:prstGeom>
          <a:solidFill>
            <a:srgbClr val="F5F5F7"/>
          </a:solidFill>
          <a:ln/>
        </p:spPr>
      </p:sp>
      <p:sp>
        <p:nvSpPr>
          <p:cNvPr id="6" name="Text 4"/>
          <p:cNvSpPr/>
          <p:nvPr/>
        </p:nvSpPr>
        <p:spPr>
          <a:xfrm>
            <a:off x="1234440" y="2103120"/>
            <a:ext cx="6126480" cy="384048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1. connect.  wss:// only.  connect() itself is lazy.</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channel = WebSocketChannel.connect(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Uri.parse('wss://realtime.example.com/chat'),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channel.ready;   // throws if the handshake fails</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2. listen.  One stream, one subscription.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sub = channel.stream.listen(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(data) =&gt; onMessage(data as String),</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onError: (e, st) =&gt; scheduleReconnect(),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onDone: () =&gt; scheduleReconnect(),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3. send.  String or List&lt;int&gt;, nothing else.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channel.sink.add(jsonEncode({'type': 'msg', 'body': text}));</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4. close.  In dispose(), every time.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sub.cancel();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channel.sink.close(status.goingAway);</a:t>
            </a:r>
            <a:endParaRPr lang="en-US" sz="1050" dirty="0"/>
          </a:p>
        </p:txBody>
      </p:sp>
      <p:sp>
        <p:nvSpPr>
          <p:cNvPr id="7" name="Text 5"/>
          <p:cNvSpPr/>
          <p:nvPr/>
        </p:nvSpPr>
        <p:spPr>
          <a:xfrm>
            <a:off x="7863840" y="1810512"/>
            <a:ext cx="35021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The two lines everyone forgets</a:t>
            </a:r>
            <a:endParaRPr lang="en-US" sz="1400" dirty="0"/>
          </a:p>
        </p:txBody>
      </p:sp>
      <p:sp>
        <p:nvSpPr>
          <p:cNvPr id="8" name="Text 6"/>
          <p:cNvSpPr/>
          <p:nvPr/>
        </p:nvSpPr>
        <p:spPr>
          <a:xfrm>
            <a:off x="7863840" y="2240280"/>
            <a:ext cx="3502152" cy="3840480"/>
          </a:xfrm>
          <a:prstGeom prst="rect">
            <a:avLst/>
          </a:prstGeom>
          <a:noFill/>
          <a:ln/>
        </p:spPr>
        <p:txBody>
          <a:bodyPr wrap="square" lIns="0" tIns="0" rIns="0" bIns="0" rtlCol="0" anchor="t"/>
          <a:lstStyle/>
          <a:p>
            <a:pPr indent="0" marL="0">
              <a:spcAft>
                <a:spcPts val="800"/>
              </a:spcAft>
              <a:buNone/>
            </a:pPr>
            <a:r>
              <a:rPr lang="en-US" sz="1100" dirty="0">
                <a:solidFill>
                  <a:srgbClr val="1D1D1F"/>
                </a:solidFill>
                <a:latin typeface="Courier New" pitchFamily="34" charset="0"/>
                <a:ea typeface="Courier New" pitchFamily="34" charset="-122"/>
                <a:cs typeface="Courier New" pitchFamily="34" charset="-120"/>
              </a:rPr>
              <a:t>await channel.ready</a:t>
            </a:r>
            <a:endParaRPr lang="en-US" sz="1150" dirty="0"/>
          </a:p>
          <a:p>
            <a:pPr indent="0" marL="0">
              <a:spcAft>
                <a:spcPts val="800"/>
              </a:spcAft>
              <a:buNone/>
            </a:pPr>
            <a:r>
              <a:rPr lang="en-US" sz="1150" dirty="0">
                <a:solidFill>
                  <a:srgbClr val="86868B"/>
                </a:solidFill>
                <a:latin typeface="Arial" pitchFamily="34" charset="0"/>
                <a:ea typeface="Arial" pitchFamily="34" charset="-122"/>
                <a:cs typeface="Arial" pitchFamily="34" charset="-120"/>
              </a:rPr>
              <a:t>connect() returns instantly and never throws. Without ready you find out the server rejected you three screens later, as a stream error.</a:t>
            </a:r>
            <a:endParaRPr lang="en-US" sz="1150" dirty="0"/>
          </a:p>
          <a:p>
            <a:pPr indent="0" marL="0">
              <a:spcAft>
                <a:spcPts val="800"/>
              </a:spcAft>
              <a:buNone/>
            </a:pPr>
            <a:r>
              <a:rPr lang="en-US" sz="1100" dirty="0">
                <a:solidFill>
                  <a:srgbClr val="1D1D1F"/>
                </a:solidFill>
                <a:latin typeface="Courier New" pitchFamily="34" charset="0"/>
                <a:ea typeface="Courier New" pitchFamily="34" charset="-122"/>
                <a:cs typeface="Courier New" pitchFamily="34" charset="-120"/>
              </a:rPr>
              <a:t>sink.close() in dispose()</a:t>
            </a:r>
            <a:endParaRPr lang="en-US" sz="1150" dirty="0"/>
          </a:p>
          <a:p>
            <a:pPr indent="0" marL="0">
              <a:spcAft>
                <a:spcPts val="800"/>
              </a:spcAft>
              <a:buNone/>
            </a:pPr>
            <a:r>
              <a:rPr lang="en-US" sz="1150" dirty="0">
                <a:solidFill>
                  <a:srgbClr val="86868B"/>
                </a:solidFill>
                <a:latin typeface="Arial" pitchFamily="34" charset="0"/>
                <a:ea typeface="Arial" pitchFamily="34" charset="-122"/>
                <a:cs typeface="Arial" pitchFamily="34" charset="-120"/>
              </a:rPr>
              <a:t>A socket is not garbage-collected away. Leave it open and every abandoned screen leaks a radio wake-up, a server connection slot and battery.</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channel.closeCode tells you why it ended: 1000 clean, 1006 abnormal (no close frame, the usual mobile case).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wss://, and who is allowed to connect</a:t>
            </a:r>
            <a:endParaRPr lang="en-US" sz="3000" dirty="0"/>
          </a:p>
        </p:txBody>
      </p:sp>
      <p:sp>
        <p:nvSpPr>
          <p:cNvPr id="5" name="Text 3"/>
          <p:cNvSpPr/>
          <p:nvPr/>
        </p:nvSpPr>
        <p:spPr>
          <a:xfrm>
            <a:off x="822960" y="1737360"/>
            <a:ext cx="6309360" cy="3931920"/>
          </a:xfrm>
          <a:prstGeom prst="rect">
            <a:avLst/>
          </a:prstGeom>
          <a:noFill/>
          <a:ln/>
        </p:spPr>
        <p:txBody>
          <a:bodyPr wrap="square" lIns="0" tIns="0" rIns="0" bIns="0" rtlCol="0" anchor="t"/>
          <a:lstStyle/>
          <a:p>
            <a:pPr indent="0" marL="0">
              <a:spcAft>
                <a:spcPts val="1200"/>
              </a:spcAft>
              <a:buNone/>
            </a:pPr>
            <a:r>
              <a:rPr lang="en-US" sz="1350" b="1" dirty="0">
                <a:solidFill>
                  <a:srgbClr val="1D1D1F"/>
                </a:solidFill>
                <a:latin typeface="Arial" pitchFamily="34" charset="0"/>
                <a:ea typeface="Arial" pitchFamily="34" charset="-122"/>
                <a:cs typeface="Arial" pitchFamily="34" charset="-120"/>
              </a:rPr>
              <a:t>ws:// is plaintext.</a:t>
            </a:r>
            <a:endParaRPr lang="en-US" sz="1350" dirty="0"/>
          </a:p>
          <a:p>
            <a:pPr indent="0" marL="0">
              <a:spcAft>
                <a:spcPts val="1200"/>
              </a:spcAft>
              <a:buNone/>
            </a:pPr>
            <a:r>
              <a:rPr lang="en-US" sz="1350" dirty="0">
                <a:solidFill>
                  <a:srgbClr val="1D1D1F"/>
                </a:solidFill>
                <a:latin typeface="Arial" pitchFamily="34" charset="0"/>
                <a:ea typeface="Arial" pitchFamily="34" charset="-122"/>
                <a:cs typeface="Arial" pitchFamily="34" charset="-120"/>
              </a:rPr>
              <a:t>Every frame (messages, ids, the token in your query string) crosses shared Wi-Fi in the clear, and any middlebox can rewrite it. wss:// is the same protocol inside TLS, on port 443.</a:t>
            </a:r>
            <a:endParaRPr lang="en-US" sz="1350" dirty="0"/>
          </a:p>
          <a:p>
            <a:pPr indent="0" marL="0">
              <a:spcAft>
                <a:spcPts val="1200"/>
              </a:spcAft>
              <a:buNone/>
            </a:pPr>
            <a:r>
              <a:rPr lang="en-US" sz="1350" dirty="0">
                <a:solidFill>
                  <a:srgbClr val="1D1D1F"/>
                </a:solidFill>
                <a:latin typeface="Arial" pitchFamily="34" charset="0"/>
                <a:ea typeface="Arial" pitchFamily="34" charset="-122"/>
                <a:cs typeface="Arial" pitchFamily="34" charset="-120"/>
              </a:rPr>
              <a:t>You do not get a choice anyway: iOS App Transport Security and Android's cleartext policy both block ws:// by default. Do not add a platform exception to work around it.</a:t>
            </a:r>
            <a:endParaRPr lang="en-US" sz="1350" dirty="0"/>
          </a:p>
          <a:p>
            <a:pPr indent="0" marL="0">
              <a:spcAft>
                <a:spcPts val="1200"/>
              </a:spcAft>
              <a:buNone/>
            </a:pPr>
            <a:r>
              <a:rPr lang="en-US" sz="1350" b="1" dirty="0">
                <a:solidFill>
                  <a:srgbClr val="1D1D1F"/>
                </a:solidFill>
                <a:latin typeface="Arial" pitchFamily="34" charset="0"/>
                <a:ea typeface="Arial" pitchFamily="34" charset="-122"/>
                <a:cs typeface="Arial" pitchFamily="34" charset="-120"/>
              </a:rPr>
              <a:t>A socket is authenticated once, at the handshake, and then trusted for hours.</a:t>
            </a:r>
            <a:endParaRPr lang="en-US" sz="1350" dirty="0"/>
          </a:p>
          <a:p>
            <a:pPr indent="0" marL="0">
              <a:spcAft>
                <a:spcPts val="1200"/>
              </a:spcAft>
              <a:buNone/>
            </a:pPr>
            <a:r>
              <a:rPr lang="en-US" sz="1350" dirty="0">
                <a:solidFill>
                  <a:srgbClr val="1D1D1F"/>
                </a:solidFill>
                <a:latin typeface="Arial" pitchFamily="34" charset="0"/>
                <a:ea typeface="Arial" pitchFamily="34" charset="-122"/>
                <a:cs typeface="Arial" pitchFamily="34" charset="-120"/>
              </a:rPr>
              <a:t>So the server must check the token on the upgrade request, and must re-check it when it expires rather than trusting the connection forever.</a:t>
            </a:r>
            <a:endParaRPr lang="en-US" sz="1350" dirty="0"/>
          </a:p>
        </p:txBody>
      </p:sp>
      <p:sp>
        <p:nvSpPr>
          <p:cNvPr id="6" name="Text 4"/>
          <p:cNvSpPr/>
          <p:nvPr/>
        </p:nvSpPr>
        <p:spPr>
          <a:xfrm>
            <a:off x="7498080" y="1755648"/>
            <a:ext cx="3867912" cy="3200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Three ways to carry the token</a:t>
            </a:r>
            <a:endParaRPr lang="en-US" sz="1350" dirty="0"/>
          </a:p>
        </p:txBody>
      </p:sp>
      <p:sp>
        <p:nvSpPr>
          <p:cNvPr id="7" name="Text 5"/>
          <p:cNvSpPr/>
          <p:nvPr/>
        </p:nvSpPr>
        <p:spPr>
          <a:xfrm>
            <a:off x="7498080" y="2240280"/>
            <a:ext cx="3867912"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Query string</a:t>
            </a:r>
            <a:endParaRPr lang="en-US" sz="1250" dirty="0"/>
          </a:p>
        </p:txBody>
      </p:sp>
      <p:sp>
        <p:nvSpPr>
          <p:cNvPr id="8" name="Text 6"/>
          <p:cNvSpPr/>
          <p:nvPr/>
        </p:nvSpPr>
        <p:spPr>
          <a:xfrm>
            <a:off x="7498080" y="2551176"/>
            <a:ext cx="3867912" cy="868680"/>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?token=… is simplest and works in browsers, but it lands in server access logs. Use short-lived tokens.</a:t>
            </a:r>
            <a:endParaRPr lang="en-US" sz="1100" dirty="0"/>
          </a:p>
        </p:txBody>
      </p:sp>
      <p:sp>
        <p:nvSpPr>
          <p:cNvPr id="9" name="Shape 7"/>
          <p:cNvSpPr/>
          <p:nvPr/>
        </p:nvSpPr>
        <p:spPr>
          <a:xfrm>
            <a:off x="7498080" y="3392424"/>
            <a:ext cx="3867912" cy="0"/>
          </a:xfrm>
          <a:prstGeom prst="line">
            <a:avLst/>
          </a:prstGeom>
          <a:noFill/>
          <a:ln w="9525">
            <a:solidFill>
              <a:srgbClr val="D2D2D7"/>
            </a:solidFill>
            <a:prstDash val="solid"/>
          </a:ln>
        </p:spPr>
      </p:sp>
      <p:sp>
        <p:nvSpPr>
          <p:cNvPr id="10" name="Text 8"/>
          <p:cNvSpPr/>
          <p:nvPr/>
        </p:nvSpPr>
        <p:spPr>
          <a:xfrm>
            <a:off x="7498080" y="3538728"/>
            <a:ext cx="3867912"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Subprotocol header</a:t>
            </a:r>
            <a:endParaRPr lang="en-US" sz="1250" dirty="0"/>
          </a:p>
        </p:txBody>
      </p:sp>
      <p:sp>
        <p:nvSpPr>
          <p:cNvPr id="11" name="Text 9"/>
          <p:cNvSpPr/>
          <p:nvPr/>
        </p:nvSpPr>
        <p:spPr>
          <a:xfrm>
            <a:off x="7498080" y="3849624"/>
            <a:ext cx="3867912" cy="868680"/>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Sec-WebSocket-Protocol carries the credential. Not logged; awkward in some proxies.</a:t>
            </a:r>
            <a:endParaRPr lang="en-US" sz="1100" dirty="0"/>
          </a:p>
        </p:txBody>
      </p:sp>
      <p:sp>
        <p:nvSpPr>
          <p:cNvPr id="12" name="Shape 10"/>
          <p:cNvSpPr/>
          <p:nvPr/>
        </p:nvSpPr>
        <p:spPr>
          <a:xfrm>
            <a:off x="7498080" y="4690872"/>
            <a:ext cx="3867912" cy="0"/>
          </a:xfrm>
          <a:prstGeom prst="line">
            <a:avLst/>
          </a:prstGeom>
          <a:noFill/>
          <a:ln w="9525">
            <a:solidFill>
              <a:srgbClr val="D2D2D7"/>
            </a:solidFill>
            <a:prstDash val="solid"/>
          </a:ln>
        </p:spPr>
      </p:sp>
      <p:sp>
        <p:nvSpPr>
          <p:cNvPr id="13" name="Text 11"/>
          <p:cNvSpPr/>
          <p:nvPr/>
        </p:nvSpPr>
        <p:spPr>
          <a:xfrm>
            <a:off x="7498080" y="4837176"/>
            <a:ext cx="3867912"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First message</a:t>
            </a:r>
            <a:endParaRPr lang="en-US" sz="1250" dirty="0"/>
          </a:p>
        </p:txBody>
      </p:sp>
      <p:sp>
        <p:nvSpPr>
          <p:cNvPr id="14" name="Text 12"/>
          <p:cNvSpPr/>
          <p:nvPr/>
        </p:nvSpPr>
        <p:spPr>
          <a:xfrm>
            <a:off x="7498080" y="5148072"/>
            <a:ext cx="3867912" cy="868680"/>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Connect anonymously, send an auth frame, and let the server close the socket if it does not arrive within a second.</a:t>
            </a:r>
            <a:endParaRPr lang="en-US" sz="1100" dirty="0"/>
          </a:p>
        </p:txBody>
      </p:sp>
      <p:sp>
        <p:nvSpPr>
          <p:cNvPr id="15" name="Shape 13"/>
          <p:cNvSpPr/>
          <p:nvPr/>
        </p:nvSpPr>
        <p:spPr>
          <a:xfrm>
            <a:off x="822960" y="4892040"/>
            <a:ext cx="6309360" cy="0"/>
          </a:xfrm>
          <a:prstGeom prst="line">
            <a:avLst/>
          </a:prstGeom>
          <a:noFill/>
          <a:ln w="9525">
            <a:solidFill>
              <a:srgbClr val="D2D2D7"/>
            </a:solidFill>
            <a:prstDash val="solid"/>
          </a:ln>
        </p:spPr>
      </p:sp>
      <p:sp>
        <p:nvSpPr>
          <p:cNvPr id="16" name="Text 14"/>
          <p:cNvSpPr/>
          <p:nvPr/>
        </p:nvSpPr>
        <p:spPr>
          <a:xfrm>
            <a:off x="822960" y="512064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Short-lived tokens, re-checked.</a:t>
            </a:r>
            <a:pPr indent="0" marL="0">
              <a:buNone/>
            </a:pPr>
            <a:r>
              <a:rPr lang="en-US" sz="1400" dirty="0">
                <a:solidFill>
                  <a:srgbClr val="86868B"/>
                </a:solidFill>
                <a:latin typeface="Arial" pitchFamily="34" charset="0"/>
                <a:ea typeface="Arial" pitchFamily="34" charset="-122"/>
                <a:cs typeface="Arial" pitchFamily="34" charset="-120"/>
              </a:rPr>
              <a:t> A socket opened at nine with a one-hour token must not still be trusted at noon. The server closes it and the client reconnects with a fresh 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 dead socket still looks open</a:t>
            </a:r>
            <a:endParaRPr lang="en-US" sz="3000" dirty="0"/>
          </a:p>
        </p:txBody>
      </p:sp>
      <p:sp>
        <p:nvSpPr>
          <p:cNvPr id="5" name="Text 3"/>
          <p:cNvSpPr/>
          <p:nvPr/>
        </p:nvSpPr>
        <p:spPr>
          <a:xfrm>
            <a:off x="822960" y="1737360"/>
            <a:ext cx="6035040" cy="320040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TCP does not tell you the peer is gone. It tells you when the peer sends a FIN or an RST, and a phone that has moved out of Wi-Fi range sends neither.</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Carrier NAT rebinds your port after a couple of minutes of silence. A Wi-Fi → LTE handover changes your source address mid-connection. The radio sleeps. Every one of those leaves a socket that is open on your side and gone on the server's.</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OS TCP keepalive defaults to two hours, which is far too long to detect this.</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So you prove liveness yourself: send a ping, expect a reply, and treat silence as a closed connection.</a:t>
            </a:r>
            <a:endParaRPr lang="en-US" sz="1300" dirty="0"/>
          </a:p>
        </p:txBody>
      </p:sp>
      <p:sp>
        <p:nvSpPr>
          <p:cNvPr id="6" name="Shape 4"/>
          <p:cNvSpPr/>
          <p:nvPr/>
        </p:nvSpPr>
        <p:spPr>
          <a:xfrm>
            <a:off x="7040880" y="1783080"/>
            <a:ext cx="4325112" cy="3657600"/>
          </a:xfrm>
          <a:prstGeom prst="roundRect">
            <a:avLst>
              <a:gd name="adj" fmla="val 3000"/>
            </a:avLst>
          </a:prstGeom>
          <a:solidFill>
            <a:srgbClr val="F5F5F7"/>
          </a:solidFill>
          <a:ln/>
        </p:spPr>
      </p:sp>
      <p:sp>
        <p:nvSpPr>
          <p:cNvPr id="7" name="Text 5"/>
          <p:cNvSpPr/>
          <p:nvPr/>
        </p:nvSpPr>
        <p:spPr>
          <a:xfrm>
            <a:off x="7452360" y="2103120"/>
            <a:ext cx="3593592" cy="306324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dart:io only: real protocol ping/pong frames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IOWebSocketChannel.connect(uri,</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pingInterval: const Duration(seconds: 20));</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Anywhere, incl. web: your own heartbeat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const beat = Duration(seconds: 20);</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_hb = Timer.periodic(beat, (_)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if (_awaitingPong)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reconnect();     // no pong: treat it as closed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return;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_awaitingPong = true;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channel.sink.add('{"t":"ping"}');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8" name="Shape 6"/>
          <p:cNvSpPr/>
          <p:nvPr/>
        </p:nvSpPr>
        <p:spPr>
          <a:xfrm>
            <a:off x="822960" y="5120640"/>
            <a:ext cx="6035040" cy="0"/>
          </a:xfrm>
          <a:prstGeom prst="line">
            <a:avLst/>
          </a:prstGeom>
          <a:noFill/>
          <a:ln w="9525">
            <a:solidFill>
              <a:srgbClr val="D2D2D7"/>
            </a:solidFill>
            <a:prstDash val="solid"/>
          </a:ln>
        </p:spPr>
      </p:sp>
      <p:sp>
        <p:nvSpPr>
          <p:cNvPr id="9" name="Text 7"/>
          <p:cNvSpPr/>
          <p:nvPr/>
        </p:nvSpPr>
        <p:spPr>
          <a:xfrm>
            <a:off x="822960" y="5349240"/>
            <a:ext cx="60350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half-open connection is worse than a closed one.</a:t>
            </a:r>
            <a:pPr indent="0" marL="0">
              <a:buNone/>
            </a:pPr>
            <a:r>
              <a:rPr lang="en-US" sz="1400" dirty="0">
                <a:solidFill>
                  <a:srgbClr val="86868B"/>
                </a:solidFill>
                <a:latin typeface="Arial" pitchFamily="34" charset="0"/>
                <a:ea typeface="Arial" pitchFamily="34" charset="-122"/>
                <a:cs typeface="Arial" pitchFamily="34" charset="-120"/>
              </a:rPr>
              <a:t> Messages you “sent” sit in a kernel buffer and the UI shows them as delivered.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Reconnecting without taking down your server</a:t>
            </a:r>
            <a:endParaRPr lang="en-US" sz="3000" dirty="0"/>
          </a:p>
        </p:txBody>
      </p:sp>
      <p:sp>
        <p:nvSpPr>
          <p:cNvPr id="5" name="Shape 3"/>
          <p:cNvSpPr/>
          <p:nvPr/>
        </p:nvSpPr>
        <p:spPr>
          <a:xfrm>
            <a:off x="822960" y="1783080"/>
            <a:ext cx="7040880" cy="4434840"/>
          </a:xfrm>
          <a:prstGeom prst="roundRect">
            <a:avLst>
              <a:gd name="adj" fmla="val 2474"/>
            </a:avLst>
          </a:prstGeom>
          <a:solidFill>
            <a:srgbClr val="F5F5F7"/>
          </a:solidFill>
          <a:ln/>
        </p:spPr>
      </p:sp>
      <p:sp>
        <p:nvSpPr>
          <p:cNvPr id="6" name="Text 4"/>
          <p:cNvSpPr/>
          <p:nvPr/>
        </p:nvSpPr>
        <p:spPr>
          <a:xfrm>
            <a:off x="1234440" y="2103120"/>
            <a:ext cx="6309360" cy="3840480"/>
          </a:xfrm>
          <a:prstGeom prst="rect">
            <a:avLst/>
          </a:prstGeom>
          <a:noFill/>
          <a:ln/>
        </p:spPr>
        <p:txBody>
          <a:bodyPr wrap="square" lIns="0" tIns="0" rIns="0" bIns="0" rtlCol="0" anchor="t"/>
          <a:lstStyle/>
          <a:p>
            <a:pPr indent="0" marL="0">
              <a:lnSpc>
                <a:spcPts val="1900"/>
              </a:lnSpc>
              <a:buNone/>
            </a:pPr>
            <a:r>
              <a:rPr lang="en-US" sz="1000" dirty="0">
                <a:solidFill>
                  <a:srgbClr val="86868B"/>
                </a:solidFill>
                <a:latin typeface="Courier New" pitchFamily="34" charset="0"/>
                <a:ea typeface="Courier New" pitchFamily="34" charset="-122"/>
                <a:cs typeface="Courier New" pitchFamily="34" charset="-120"/>
              </a:rPr>
              <a:t>// Never reconnect in a tight loop: it overloads your own server.</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Duration _backoff() {</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const base = Duration(seconds: 1), cap = Duration(minutes: 2);</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final expo = base * math.pow(2, _attempt);  // 1s 2s 4s 8s …</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final ceiling = expo &gt; cap ? cap : expo;</a:t>
            </a:r>
            <a:endParaRPr lang="en-US" sz="1000" dirty="0"/>
          </a:p>
          <a:p>
            <a:pPr indent="0" marL="0">
              <a:lnSpc>
                <a:spcPts val="1900"/>
              </a:lnSpc>
              <a:buNone/>
            </a:pPr>
            <a:r>
              <a:rPr lang="en-US" sz="1000" dirty="0">
                <a:solidFill>
                  <a:srgbClr val="86868B"/>
                </a:solidFill>
                <a:latin typeface="Courier New" pitchFamily="34" charset="0"/>
                <a:ea typeface="Courier New" pitchFamily="34" charset="-122"/>
                <a:cs typeface="Courier New" pitchFamily="34" charset="-120"/>
              </a:rPr>
              <a:t>  // Full jitter: pick anywhere in [0, ceiling].</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return Duration(milliseconds: _rng.nextInt(ceiling.inMilliseconds));</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void scheduleReconnect() {</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if (_disposed || (_timer?.isActive ?? false)) return;</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_attempt++;</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_timer = Timer(_backoff(), _connect);</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void onReady() =&gt; _attempt = 0;  // reset once a connection sticks</a:t>
            </a:r>
            <a:endParaRPr lang="en-US" sz="1000" dirty="0"/>
          </a:p>
        </p:txBody>
      </p:sp>
      <p:sp>
        <p:nvSpPr>
          <p:cNvPr id="7" name="Text 5"/>
          <p:cNvSpPr/>
          <p:nvPr/>
        </p:nvSpPr>
        <p:spPr>
          <a:xfrm>
            <a:off x="8046720" y="1810512"/>
            <a:ext cx="331927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Why jitter, not just doubling</a:t>
            </a:r>
            <a:endParaRPr lang="en-US" sz="1400" dirty="0"/>
          </a:p>
        </p:txBody>
      </p:sp>
      <p:sp>
        <p:nvSpPr>
          <p:cNvPr id="8" name="Text 6"/>
          <p:cNvSpPr/>
          <p:nvPr/>
        </p:nvSpPr>
        <p:spPr>
          <a:xfrm>
            <a:off x="8046720" y="2240280"/>
            <a:ext cx="3319272" cy="384048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A server restarts. Ten thousand clients notice at the same instant, so they all retry at t+1s, then all at t+2s, and overload it again. That is a thundering herd, and plain exponential backoff does not fix it.</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Full jitter spreads the same clients evenly across the whole window.</a:t>
            </a:r>
            <a:endParaRPr lang="en-US" sz="1150" dirty="0"/>
          </a:p>
          <a:p>
            <a:pPr indent="0" marL="0">
              <a:spcAft>
                <a:spcPts val="1100"/>
              </a:spcAft>
              <a:buNone/>
            </a:pPr>
            <a:r>
              <a:rPr lang="en-US" sz="1150" dirty="0">
                <a:solidFill>
                  <a:srgbClr val="1D1D1F"/>
                </a:solidFill>
                <a:latin typeface="Arial" pitchFamily="34" charset="0"/>
                <a:ea typeface="Arial" pitchFamily="34" charset="-122"/>
                <a:cs typeface="Arial" pitchFamily="34" charset="-120"/>
              </a:rPr>
              <a:t>Reset the counter on a connection that lasted, not on one that merely opened, because a server that accepts and immediately drops the connection would otherwise reset it every time.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REALTIME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When the app goes to the background</a:t>
            </a:r>
            <a:endParaRPr lang="en-US" sz="3000" dirty="0"/>
          </a:p>
        </p:txBody>
      </p:sp>
      <p:sp>
        <p:nvSpPr>
          <p:cNvPr id="5" name="Text 3"/>
          <p:cNvSpPr/>
          <p:nvPr/>
        </p:nvSpPr>
        <p:spPr>
          <a:xfrm>
            <a:off x="822960" y="1737360"/>
            <a:ext cx="6309360" cy="329184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iOS gives a backgrounded app a few seconds and then suspends the process. Your isolate stops; your socket stops being serviced. No close frame is sent, so the server simply stops receiving from you.</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Android does the same more gradually, through Doze and background restrictions.</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A WebSocket is a foreground affordance.</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Anything that must reach the user while the app is away is a push notification, FCM or APNs, not a frame on your stream. The socket only serves the live screen.</a:t>
            </a:r>
            <a:endParaRPr lang="en-US" sz="1300" dirty="0"/>
          </a:p>
        </p:txBody>
      </p:sp>
      <p:sp>
        <p:nvSpPr>
          <p:cNvPr id="6" name="Shape 4"/>
          <p:cNvSpPr/>
          <p:nvPr/>
        </p:nvSpPr>
        <p:spPr>
          <a:xfrm>
            <a:off x="7680960" y="1920240"/>
            <a:ext cx="3685032" cy="914400"/>
          </a:xfrm>
          <a:prstGeom prst="roundRect">
            <a:avLst>
              <a:gd name="adj" fmla="val 9000"/>
            </a:avLst>
          </a:prstGeom>
          <a:solidFill>
            <a:srgbClr val="FFFFFF"/>
          </a:solidFill>
          <a:ln w="12700">
            <a:solidFill>
              <a:srgbClr val="D2D2D7"/>
            </a:solidFill>
            <a:prstDash val="solid"/>
          </a:ln>
        </p:spPr>
      </p:sp>
      <p:sp>
        <p:nvSpPr>
          <p:cNvPr id="7" name="Text 5"/>
          <p:cNvSpPr/>
          <p:nvPr/>
        </p:nvSpPr>
        <p:spPr>
          <a:xfrm>
            <a:off x="7680960" y="1920240"/>
            <a:ext cx="3685032"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paused</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close the socket yourself, cleanly</a:t>
            </a:r>
            <a:endParaRPr lang="en-US" sz="1350" dirty="0"/>
          </a:p>
        </p:txBody>
      </p:sp>
      <p:sp>
        <p:nvSpPr>
          <p:cNvPr id="8" name="Shape 6"/>
          <p:cNvSpPr/>
          <p:nvPr/>
        </p:nvSpPr>
        <p:spPr>
          <a:xfrm>
            <a:off x="9523476" y="2834640"/>
            <a:ext cx="0" cy="329184"/>
          </a:xfrm>
          <a:prstGeom prst="line">
            <a:avLst/>
          </a:prstGeom>
          <a:noFill/>
          <a:ln w="15875">
            <a:solidFill>
              <a:srgbClr val="86868B"/>
            </a:solidFill>
            <a:prstDash val="solid"/>
            <a:tailEnd type="triangle"/>
          </a:ln>
        </p:spPr>
      </p:sp>
      <p:sp>
        <p:nvSpPr>
          <p:cNvPr id="9" name="Shape 7"/>
          <p:cNvSpPr/>
          <p:nvPr/>
        </p:nvSpPr>
        <p:spPr>
          <a:xfrm>
            <a:off x="7680960" y="3163824"/>
            <a:ext cx="3685032" cy="914400"/>
          </a:xfrm>
          <a:prstGeom prst="roundRect">
            <a:avLst>
              <a:gd name="adj" fmla="val 9000"/>
            </a:avLst>
          </a:prstGeom>
          <a:solidFill>
            <a:srgbClr val="000000"/>
          </a:solidFill>
          <a:ln/>
        </p:spPr>
      </p:sp>
      <p:sp>
        <p:nvSpPr>
          <p:cNvPr id="10" name="Text 8"/>
          <p:cNvSpPr/>
          <p:nvPr/>
        </p:nvSpPr>
        <p:spPr>
          <a:xfrm>
            <a:off x="7680960" y="3163824"/>
            <a:ext cx="3685032" cy="91440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backgrounded</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FCM / APNs carries what matters</a:t>
            </a:r>
            <a:endParaRPr lang="en-US" sz="1350" dirty="0"/>
          </a:p>
        </p:txBody>
      </p:sp>
      <p:sp>
        <p:nvSpPr>
          <p:cNvPr id="11" name="Shape 9"/>
          <p:cNvSpPr/>
          <p:nvPr/>
        </p:nvSpPr>
        <p:spPr>
          <a:xfrm>
            <a:off x="9523476" y="4078224"/>
            <a:ext cx="0" cy="329184"/>
          </a:xfrm>
          <a:prstGeom prst="line">
            <a:avLst/>
          </a:prstGeom>
          <a:noFill/>
          <a:ln w="15875">
            <a:solidFill>
              <a:srgbClr val="86868B"/>
            </a:solidFill>
            <a:prstDash val="solid"/>
            <a:tailEnd type="triangle"/>
          </a:ln>
        </p:spPr>
      </p:sp>
      <p:sp>
        <p:nvSpPr>
          <p:cNvPr id="12" name="Shape 10"/>
          <p:cNvSpPr/>
          <p:nvPr/>
        </p:nvSpPr>
        <p:spPr>
          <a:xfrm>
            <a:off x="7680960" y="4407408"/>
            <a:ext cx="3685032" cy="914400"/>
          </a:xfrm>
          <a:prstGeom prst="roundRect">
            <a:avLst>
              <a:gd name="adj" fmla="val 9000"/>
            </a:avLst>
          </a:prstGeom>
          <a:solidFill>
            <a:srgbClr val="FFFFFF"/>
          </a:solidFill>
          <a:ln w="12700">
            <a:solidFill>
              <a:srgbClr val="D2D2D7"/>
            </a:solidFill>
            <a:prstDash val="solid"/>
          </a:ln>
        </p:spPr>
      </p:sp>
      <p:sp>
        <p:nvSpPr>
          <p:cNvPr id="13" name="Text 11"/>
          <p:cNvSpPr/>
          <p:nvPr/>
        </p:nvSpPr>
        <p:spPr>
          <a:xfrm>
            <a:off x="7680960" y="4407408"/>
            <a:ext cx="3685032"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resumed</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reconnect, then resync what you missed</a:t>
            </a:r>
            <a:endParaRPr lang="en-US" sz="1350" dirty="0"/>
          </a:p>
        </p:txBody>
      </p:sp>
      <p:sp>
        <p:nvSpPr>
          <p:cNvPr id="14" name="Shape 12"/>
          <p:cNvSpPr/>
          <p:nvPr/>
        </p:nvSpPr>
        <p:spPr>
          <a:xfrm>
            <a:off x="822960" y="5120640"/>
            <a:ext cx="6309360" cy="0"/>
          </a:xfrm>
          <a:prstGeom prst="line">
            <a:avLst/>
          </a:prstGeom>
          <a:noFill/>
          <a:ln w="9525">
            <a:solidFill>
              <a:srgbClr val="D2D2D7"/>
            </a:solidFill>
            <a:prstDash val="solid"/>
          </a:ln>
        </p:spPr>
      </p:sp>
      <p:sp>
        <p:nvSpPr>
          <p:cNvPr id="15" name="Text 13"/>
          <p:cNvSpPr/>
          <p:nvPr/>
        </p:nvSpPr>
        <p:spPr>
          <a:xfrm>
            <a:off x="822960" y="534924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This is a common realtime bug on mobile.</a:t>
            </a:r>
            <a:pPr indent="0" marL="0">
              <a:buNone/>
            </a:pPr>
            <a:r>
              <a:rPr lang="en-US" sz="1400" dirty="0">
                <a:solidFill>
                  <a:srgbClr val="86868B"/>
                </a:solidFill>
                <a:latin typeface="Arial" pitchFamily="34" charset="0"/>
                <a:ea typeface="Arial" pitchFamily="34" charset="-122"/>
                <a:cs typeface="Arial" pitchFamily="34" charset="-120"/>
              </a:rPr>
              <a:t> It works while the app is in the foreground and breaks as soon as the phone is locked. Handle it in AppLifecycleListener, and give every message a server-side id so resync is a gap query, not a guess.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2 · PERMISSIONS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Asking the OS for the device</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Manifest, plist, and every answer permission_handler can give you</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Two steps, and both are mandatory</a:t>
            </a:r>
            <a:endParaRPr lang="en-US" sz="3000" dirty="0"/>
          </a:p>
        </p:txBody>
      </p:sp>
      <p:sp>
        <p:nvSpPr>
          <p:cNvPr id="5" name="Text 3"/>
          <p:cNvSpPr/>
          <p:nvPr/>
        </p:nvSpPr>
        <p:spPr>
          <a:xfrm>
            <a:off x="822960" y="1737360"/>
            <a:ext cx="6309360" cy="356616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Step one is static. You declare, at build time, what your app might ever ask for. Android reads it from the manifest; iOS reads it from Info.plist, together with the exact sentence the user will be shown.</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Step two is at runtime. The user is asked, once, in a system dialog you cannot style, move or re-word, and can say no.</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Skip step one and step two does not fail gracefully.</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On Android an undeclared permission is simply denied, forever, with no dialog. On iOS a missing usage-description string is not a warning: the app is terminated the moment it touches the API, and App Store review rejects the build.</a:t>
            </a:r>
            <a:endParaRPr lang="en-US" sz="1300" dirty="0"/>
          </a:p>
        </p:txBody>
      </p:sp>
      <p:sp>
        <p:nvSpPr>
          <p:cNvPr id="6" name="Shape 4"/>
          <p:cNvSpPr/>
          <p:nvPr/>
        </p:nvSpPr>
        <p:spPr>
          <a:xfrm>
            <a:off x="7680960" y="1920240"/>
            <a:ext cx="3685032" cy="914400"/>
          </a:xfrm>
          <a:prstGeom prst="roundRect">
            <a:avLst>
              <a:gd name="adj" fmla="val 9000"/>
            </a:avLst>
          </a:prstGeom>
          <a:solidFill>
            <a:srgbClr val="FFFFFF"/>
          </a:solidFill>
          <a:ln w="12700">
            <a:solidFill>
              <a:srgbClr val="D2D2D7"/>
            </a:solidFill>
            <a:prstDash val="solid"/>
          </a:ln>
        </p:spPr>
      </p:sp>
      <p:sp>
        <p:nvSpPr>
          <p:cNvPr id="7" name="Text 5"/>
          <p:cNvSpPr/>
          <p:nvPr/>
        </p:nvSpPr>
        <p:spPr>
          <a:xfrm>
            <a:off x="7680960" y="1920240"/>
            <a:ext cx="3685032"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Declare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AndroidManifest.xml · Info.plist</a:t>
            </a:r>
            <a:endParaRPr lang="en-US" sz="1350" dirty="0"/>
          </a:p>
        </p:txBody>
      </p:sp>
      <p:sp>
        <p:nvSpPr>
          <p:cNvPr id="8" name="Shape 6"/>
          <p:cNvSpPr/>
          <p:nvPr/>
        </p:nvSpPr>
        <p:spPr>
          <a:xfrm>
            <a:off x="9523476" y="2834640"/>
            <a:ext cx="0" cy="329184"/>
          </a:xfrm>
          <a:prstGeom prst="line">
            <a:avLst/>
          </a:prstGeom>
          <a:noFill/>
          <a:ln w="15875">
            <a:solidFill>
              <a:srgbClr val="86868B"/>
            </a:solidFill>
            <a:prstDash val="solid"/>
            <a:tailEnd type="triangle"/>
          </a:ln>
        </p:spPr>
      </p:sp>
      <p:sp>
        <p:nvSpPr>
          <p:cNvPr id="9" name="Shape 7"/>
          <p:cNvSpPr/>
          <p:nvPr/>
        </p:nvSpPr>
        <p:spPr>
          <a:xfrm>
            <a:off x="7680960" y="3163824"/>
            <a:ext cx="3685032" cy="914400"/>
          </a:xfrm>
          <a:prstGeom prst="roundRect">
            <a:avLst>
              <a:gd name="adj" fmla="val 9000"/>
            </a:avLst>
          </a:prstGeom>
          <a:solidFill>
            <a:srgbClr val="000000"/>
          </a:solidFill>
          <a:ln/>
        </p:spPr>
      </p:sp>
      <p:sp>
        <p:nvSpPr>
          <p:cNvPr id="10" name="Text 8"/>
          <p:cNvSpPr/>
          <p:nvPr/>
        </p:nvSpPr>
        <p:spPr>
          <a:xfrm>
            <a:off x="7680960" y="3163824"/>
            <a:ext cx="3685032" cy="91440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Ask, in context</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permission_handler request()</a:t>
            </a:r>
            <a:endParaRPr lang="en-US" sz="1350" dirty="0"/>
          </a:p>
        </p:txBody>
      </p:sp>
      <p:sp>
        <p:nvSpPr>
          <p:cNvPr id="11" name="Shape 9"/>
          <p:cNvSpPr/>
          <p:nvPr/>
        </p:nvSpPr>
        <p:spPr>
          <a:xfrm>
            <a:off x="9523476" y="4078224"/>
            <a:ext cx="0" cy="329184"/>
          </a:xfrm>
          <a:prstGeom prst="line">
            <a:avLst/>
          </a:prstGeom>
          <a:noFill/>
          <a:ln w="15875">
            <a:solidFill>
              <a:srgbClr val="86868B"/>
            </a:solidFill>
            <a:prstDash val="solid"/>
            <a:tailEnd type="triangle"/>
          </a:ln>
        </p:spPr>
      </p:sp>
      <p:sp>
        <p:nvSpPr>
          <p:cNvPr id="12" name="Shape 10"/>
          <p:cNvSpPr/>
          <p:nvPr/>
        </p:nvSpPr>
        <p:spPr>
          <a:xfrm>
            <a:off x="7680960" y="4407408"/>
            <a:ext cx="3685032" cy="914400"/>
          </a:xfrm>
          <a:prstGeom prst="roundRect">
            <a:avLst>
              <a:gd name="adj" fmla="val 9000"/>
            </a:avLst>
          </a:prstGeom>
          <a:solidFill>
            <a:srgbClr val="FFFFFF"/>
          </a:solidFill>
          <a:ln w="12700">
            <a:solidFill>
              <a:srgbClr val="D2D2D7"/>
            </a:solidFill>
            <a:prstDash val="solid"/>
          </a:ln>
        </p:spPr>
      </p:sp>
      <p:sp>
        <p:nvSpPr>
          <p:cNvPr id="13" name="Text 11"/>
          <p:cNvSpPr/>
          <p:nvPr/>
        </p:nvSpPr>
        <p:spPr>
          <a:xfrm>
            <a:off x="7680960" y="4407408"/>
            <a:ext cx="3685032"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Handle every answer</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including the one you cannot retry</a:t>
            </a:r>
            <a:endParaRPr lang="en-US" sz="1350" dirty="0"/>
          </a:p>
        </p:txBody>
      </p:sp>
      <p:sp>
        <p:nvSpPr>
          <p:cNvPr id="14" name="Shape 12"/>
          <p:cNvSpPr/>
          <p:nvPr/>
        </p:nvSpPr>
        <p:spPr>
          <a:xfrm>
            <a:off x="822960" y="5440680"/>
            <a:ext cx="6309360" cy="0"/>
          </a:xfrm>
          <a:prstGeom prst="line">
            <a:avLst/>
          </a:prstGeom>
          <a:noFill/>
          <a:ln w="9525">
            <a:solidFill>
              <a:srgbClr val="D2D2D7"/>
            </a:solidFill>
            <a:prstDash val="solid"/>
          </a:ln>
        </p:spPr>
      </p:sp>
      <p:sp>
        <p:nvSpPr>
          <p:cNvPr id="15" name="Text 13"/>
          <p:cNvSpPr/>
          <p:nvPr/>
        </p:nvSpPr>
        <p:spPr>
          <a:xfrm>
            <a:off x="822960" y="566928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Permissions are a build-config problem before they are a code problem.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Android: AndroidManifest.xml</a:t>
            </a:r>
            <a:endParaRPr lang="en-US" sz="3000" dirty="0"/>
          </a:p>
        </p:txBody>
      </p:sp>
      <p:sp>
        <p:nvSpPr>
          <p:cNvPr id="5" name="Shape 3"/>
          <p:cNvSpPr/>
          <p:nvPr/>
        </p:nvSpPr>
        <p:spPr>
          <a:xfrm>
            <a:off x="822960" y="1783080"/>
            <a:ext cx="7178040" cy="3931920"/>
          </a:xfrm>
          <a:prstGeom prst="roundRect">
            <a:avLst>
              <a:gd name="adj" fmla="val 2791"/>
            </a:avLst>
          </a:prstGeom>
          <a:solidFill>
            <a:srgbClr val="F5F5F7"/>
          </a:solidFill>
          <a:ln/>
        </p:spPr>
      </p:sp>
      <p:sp>
        <p:nvSpPr>
          <p:cNvPr id="6" name="Text 4"/>
          <p:cNvSpPr/>
          <p:nvPr/>
        </p:nvSpPr>
        <p:spPr>
          <a:xfrm>
            <a:off x="1234440" y="2103120"/>
            <a:ext cx="6446520" cy="3337560"/>
          </a:xfrm>
          <a:prstGeom prst="rect">
            <a:avLst/>
          </a:prstGeom>
          <a:noFill/>
          <a:ln/>
        </p:spPr>
        <p:txBody>
          <a:bodyPr wrap="square" lIns="0" tIns="0" rIns="0" bIns="0" rtlCol="0" anchor="t"/>
          <a:lstStyle/>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 android/app/src/main/AndroidManifest.xml --&gt;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&lt;manifest xmlns:android="http://schemas.android.com/apk/res/android"&gt;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android:name="android.permission.CAMERA"/&gt;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android:name="android.permission.ACCESS_FINE_LOCATION"/&gt;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android:name="android.permission.POST_NOTIFICATIONS"/&gt;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android:name="android.permission.READ_MEDIA_IMAGES"/&gt;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android:name="android.permission.READ_MEDIA_VIDEO"/&gt;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&lt;uses-permission android:name="android.permission.READ_EXTERNAL_STORAGE"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android:maxSdkVersion="32"/&gt;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&lt;uses-feature android:name="android.hardware.camera"</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android:required="false"/&gt;</a:t>
            </a:r>
            <a:endParaRPr lang="en-US" sz="950" dirty="0"/>
          </a:p>
        </p:txBody>
      </p:sp>
      <p:sp>
        <p:nvSpPr>
          <p:cNvPr id="7" name="Text 5"/>
          <p:cNvSpPr/>
          <p:nvPr/>
        </p:nvSpPr>
        <p:spPr>
          <a:xfrm>
            <a:off x="8183880" y="1810512"/>
            <a:ext cx="318211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Line by line</a:t>
            </a:r>
            <a:endParaRPr lang="en-US" sz="1400" dirty="0"/>
          </a:p>
        </p:txBody>
      </p:sp>
      <p:sp>
        <p:nvSpPr>
          <p:cNvPr id="8" name="Text 6"/>
          <p:cNvSpPr/>
          <p:nvPr/>
        </p:nvSpPr>
        <p:spPr>
          <a:xfrm>
            <a:off x="8183880" y="2240280"/>
            <a:ext cx="3182112" cy="3840480"/>
          </a:xfrm>
          <a:prstGeom prst="rect">
            <a:avLst/>
          </a:prstGeom>
          <a:noFill/>
          <a:ln/>
        </p:spPr>
        <p:txBody>
          <a:bodyPr wrap="square" lIns="0" tIns="0" rIns="0" bIns="0" rtlCol="0" anchor="t"/>
          <a:lstStyle/>
          <a:p>
            <a:pPr indent="0" marL="0">
              <a:spcAft>
                <a:spcPts val="1000"/>
              </a:spcAft>
              <a:buNone/>
            </a:pPr>
            <a:r>
              <a:rPr lang="en-US" sz="1100" dirty="0">
                <a:solidFill>
                  <a:srgbClr val="86868B"/>
                </a:solidFill>
                <a:latin typeface="Arial" pitchFamily="34" charset="0"/>
                <a:ea typeface="Arial" pitchFamily="34" charset="-122"/>
                <a:cs typeface="Arial" pitchFamily="34" charset="-120"/>
              </a:rPr>
              <a:t>Declaring is not requesting. These entries only make the runtime request legal.</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maxSdkVersion="32" keeps the old storage permission for old phones without asking for it on Android 13+, where it no longer exists.</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uses-feature with required="false" keeps the app installable on hardware without a camera. Leave it out and Play filters those devices away.</a:t>
            </a:r>
            <a:endParaRPr lang="en-US" sz="1100" dirty="0"/>
          </a:p>
          <a:p>
            <a:pPr indent="0" marL="0">
              <a:spcAft>
                <a:spcPts val="1000"/>
              </a:spcAft>
              <a:buNone/>
            </a:pPr>
            <a:r>
              <a:rPr lang="en-US" sz="1100" dirty="0">
                <a:solidFill>
                  <a:srgbClr val="1D1D1F"/>
                </a:solidFill>
                <a:latin typeface="Arial" pitchFamily="34" charset="0"/>
                <a:ea typeface="Arial" pitchFamily="34" charset="-122"/>
                <a:cs typeface="Arial" pitchFamily="34" charset="-120"/>
              </a:rPr>
              <a:t>Flutter merges the plugin manifests into yours at build time, so check the merged manifest in build/ before you ship.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iOS: Info.plist</a:t>
            </a:r>
            <a:endParaRPr lang="en-US" sz="3000" dirty="0"/>
          </a:p>
        </p:txBody>
      </p:sp>
      <p:sp>
        <p:nvSpPr>
          <p:cNvPr id="5" name="Shape 3"/>
          <p:cNvSpPr/>
          <p:nvPr/>
        </p:nvSpPr>
        <p:spPr>
          <a:xfrm>
            <a:off x="822960" y="1783080"/>
            <a:ext cx="7178040" cy="4069080"/>
          </a:xfrm>
          <a:prstGeom prst="roundRect">
            <a:avLst>
              <a:gd name="adj" fmla="val 2697"/>
            </a:avLst>
          </a:prstGeom>
          <a:solidFill>
            <a:srgbClr val="F5F5F7"/>
          </a:solidFill>
          <a:ln/>
        </p:spPr>
      </p:sp>
      <p:sp>
        <p:nvSpPr>
          <p:cNvPr id="6" name="Text 4"/>
          <p:cNvSpPr/>
          <p:nvPr/>
        </p:nvSpPr>
        <p:spPr>
          <a:xfrm>
            <a:off x="1234440" y="2103120"/>
            <a:ext cx="6446520" cy="3474720"/>
          </a:xfrm>
          <a:prstGeom prst="rect">
            <a:avLst/>
          </a:prstGeom>
          <a:noFill/>
          <a:ln/>
        </p:spPr>
        <p:txBody>
          <a:bodyPr wrap="square" lIns="0" tIns="0" rIns="0" bIns="0" rtlCol="0" anchor="t"/>
          <a:lstStyle/>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 ios/Runner/Info.plist --&gt;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&lt;key&gt;NSCameraUsageDescription&lt;/key&gt;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&lt;string&gt;MapChat uses the camera to send photos in a chat.&lt;/string&gt;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&lt;key&gt;NSMicrophoneUsageDescription&lt;/key&gt;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&lt;string&gt;MapChat records voice notes while you hold the button.&lt;/string&gt;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&lt;key&gt;NSLocationWhenInUseUsageDescription&lt;/key&gt;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&lt;string&gt;MapChat shows friends near you while the app is open.&lt;/string&gt;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&lt;key&gt;NSLocationAlwaysAndWhenInUseUsageDescription&lt;/key&gt;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&lt;string&gt;MapChat alerts you when a friend arrives nearby.&lt;/string&gt;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&lt;key&gt;NSPhotoLibraryUsageDescription&lt;/key&gt;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&lt;string&gt;Pick a photo you already have and send it.&lt;/string&gt;</a:t>
            </a:r>
            <a:endParaRPr lang="en-US" sz="950" dirty="0"/>
          </a:p>
        </p:txBody>
      </p:sp>
      <p:sp>
        <p:nvSpPr>
          <p:cNvPr id="7" name="Text 5"/>
          <p:cNvSpPr/>
          <p:nvPr/>
        </p:nvSpPr>
        <p:spPr>
          <a:xfrm>
            <a:off x="8183880" y="1810512"/>
            <a:ext cx="318211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The string is the product</a:t>
            </a:r>
            <a:endParaRPr lang="en-US" sz="1400" dirty="0"/>
          </a:p>
        </p:txBody>
      </p:sp>
      <p:sp>
        <p:nvSpPr>
          <p:cNvPr id="8" name="Text 6"/>
          <p:cNvSpPr/>
          <p:nvPr/>
        </p:nvSpPr>
        <p:spPr>
          <a:xfrm>
            <a:off x="8183880" y="2240280"/>
            <a:ext cx="3182112" cy="3931920"/>
          </a:xfrm>
          <a:prstGeom prst="rect">
            <a:avLst/>
          </a:prstGeom>
          <a:noFill/>
          <a:ln/>
        </p:spPr>
        <p:txBody>
          <a:bodyPr wrap="square" lIns="0" tIns="0" rIns="0" bIns="0" rtlCol="0" anchor="t"/>
          <a:lstStyle/>
          <a:p>
            <a:pPr indent="0" marL="0">
              <a:spcAft>
                <a:spcPts val="1000"/>
              </a:spcAft>
              <a:buNone/>
            </a:pPr>
            <a:r>
              <a:rPr lang="en-US" sz="1100" dirty="0">
                <a:solidFill>
                  <a:srgbClr val="86868B"/>
                </a:solidFill>
                <a:latin typeface="Arial" pitchFamily="34" charset="0"/>
                <a:ea typeface="Arial" pitchFamily="34" charset="-122"/>
                <a:cs typeface="Arial" pitchFamily="34" charset="-120"/>
              </a:rPr>
              <a:t>That sentence is printed inside the system dialog. It is the only explanation you get, and you get it once.</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Say what the user gains, not what the app needs. “To access your camera” earns a no; the sentences above earn a yes.</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A missing key causes a hard crash: not an exception you can catch, but a termination.</a:t>
            </a:r>
            <a:endParaRPr lang="en-US" sz="1100" dirty="0"/>
          </a:p>
          <a:p>
            <a:pPr indent="0" marL="0">
              <a:spcAft>
                <a:spcPts val="1000"/>
              </a:spcAft>
              <a:buNone/>
            </a:pPr>
            <a:r>
              <a:rPr lang="en-US" sz="1100" dirty="0">
                <a:solidFill>
                  <a:srgbClr val="1D1D1F"/>
                </a:solidFill>
                <a:latin typeface="Arial" pitchFamily="34" charset="0"/>
                <a:ea typeface="Arial" pitchFamily="34" charset="-122"/>
                <a:cs typeface="Arial" pitchFamily="34" charset="-120"/>
              </a:rPr>
              <a:t>permission_handler also needs the matching PERMISSION_ macros enabled in ios/Podfile, or every permission you did not opt into reports permanentlyDenied.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Android 13+ split storage into media types</a:t>
            </a:r>
            <a:endParaRPr lang="en-US" sz="3000" dirty="0"/>
          </a:p>
        </p:txBody>
      </p:sp>
      <p:sp>
        <p:nvSpPr>
          <p:cNvPr id="5" name="Text 3"/>
          <p:cNvSpPr/>
          <p:nvPr/>
        </p:nvSpPr>
        <p:spPr>
          <a:xfrm>
            <a:off x="822960" y="1664208"/>
            <a:ext cx="10543032" cy="365760"/>
          </a:xfrm>
          <a:prstGeom prst="rect">
            <a:avLst/>
          </a:prstGeom>
          <a:noFill/>
          <a:ln/>
        </p:spPr>
        <p:txBody>
          <a:bodyPr wrap="square" lIns="0" tIns="0" rIns="0" bIns="0" rtlCol="0" anchor="ctr"/>
          <a:lstStyle/>
          <a:p>
            <a:pPr indent="0" marL="0">
              <a:buNone/>
            </a:pPr>
            <a:r>
              <a:rPr lang="en-US" sz="1300" dirty="0">
                <a:solidFill>
                  <a:srgbClr val="1D1D1F"/>
                </a:solidFill>
                <a:latin typeface="Arial" pitchFamily="34" charset="0"/>
                <a:ea typeface="Arial" pitchFamily="34" charset="-122"/>
                <a:cs typeface="Arial" pitchFamily="34" charset="-120"/>
              </a:rPr>
              <a:t>One coarse “read everything” permission became several narrow ones, and notifications stopped being granted at install.</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3032" cy="914400"/>
        </p:xfrm>
        <a:graphic>
          <a:graphicData uri="http://schemas.openxmlformats.org/drawingml/2006/table">
            <a:tbl>
              <a:tblPr/>
              <a:tblGrid>
                <a:gridCol w="2286000"/>
                <a:gridCol w="4128516"/>
                <a:gridCol w="412851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Before: API 32 and below</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Android 13+ (API 33+)</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Photos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READ_EXTERNAL_STORAGE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READ_MEDIA_IMAGES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Video</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READ_EXTERNAL_STORAGE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READ_MEDIA_VIDEO</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Audio and music</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READ_EXTERNAL_STORAGE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READ_MEDIA_AUDIO</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Notifications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granted at install, silently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POST_NOTIFICATIONS, a runtime prompt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Part of the library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not possible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READ_MEDIA_VISUAL_USER_SELECTED, API 34+</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7" name="Shape 4"/>
          <p:cNvSpPr/>
          <p:nvPr/>
        </p:nvSpPr>
        <p:spPr>
          <a:xfrm>
            <a:off x="822960" y="5257800"/>
            <a:ext cx="10543032" cy="0"/>
          </a:xfrm>
          <a:prstGeom prst="line">
            <a:avLst/>
          </a:prstGeom>
          <a:noFill/>
          <a:ln w="9525">
            <a:solidFill>
              <a:srgbClr val="D2D2D7"/>
            </a:solidFill>
            <a:prstDash val="solid"/>
          </a:ln>
        </p:spPr>
      </p:sp>
      <p:sp>
        <p:nvSpPr>
          <p:cNvPr id="8" name="Text 5"/>
          <p:cNvSpPr/>
          <p:nvPr/>
        </p:nvSpPr>
        <p:spPr>
          <a:xfrm>
            <a:off x="822960" y="54864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POST_NOTIFICATIONS is the one that matters for this course.</a:t>
            </a:r>
            <a:pPr indent="0" marL="0">
              <a:buNone/>
            </a:pPr>
            <a:r>
              <a:rPr lang="en-US" sz="1400" dirty="0">
                <a:solidFill>
                  <a:srgbClr val="86868B"/>
                </a:solidFill>
                <a:latin typeface="Arial" pitchFamily="34" charset="0"/>
                <a:ea typeface="Arial" pitchFamily="34" charset="-122"/>
                <a:cs typeface="Arial" pitchFamily="34" charset="-120"/>
              </a:rPr>
              <a:t> Your FCM push, which is what reaches the user while the socket is closed, silently delivers nothing on an Android 13+ phone until the user grants it at runtime.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Every answer you have to handle</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2148840"/>
                <a:gridCol w="4197096"/>
                <a:gridCol w="4197096"/>
              </a:tblGrid>
              <a:tr h="438912">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What it means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What you do about it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isGranted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you may call the API</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proceed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isDenied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asked and refused; on Android you may ask again</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show a rationale, then request() once more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isPermanentlyDenied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Android: “Don't ask again”. iOS: any refusal, ever.</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request() is now a no-op; use openAppSettings()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isRestricted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blocked by policy: Screen Time, MDM, parental controls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hide the feature; there is no path forward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isLimited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 subset the user picked: iOS Photos, Android 14+ media</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treat as granted, and offer “select more photos”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isProvisional</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iOS notifications: delivered quietly, no prompt shown</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you are already delivering; ask for the upgrade later</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 y="5715000"/>
            <a:ext cx="10543032" cy="50292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isLimited and isProvisional are not edge cases. </a:t>
            </a:r>
            <a:pPr indent="0" marL="0">
              <a:buNone/>
            </a:pPr>
            <a:r>
              <a:rPr lang="en-US" sz="1250" dirty="0">
                <a:solidFill>
                  <a:srgbClr val="86868B"/>
                </a:solidFill>
                <a:latin typeface="Arial" pitchFamily="34" charset="0"/>
                <a:ea typeface="Arial" pitchFamily="34" charset="-122"/>
                <a:cs typeface="Arial" pitchFamily="34" charset="-120"/>
              </a:rPr>
              <a:t>They are the default outcome of two common iOS prompts, and a status.isGranted check treats both as a refusal.</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permission_handler, including the dead end</a:t>
            </a:r>
            <a:endParaRPr lang="en-US" sz="3000" dirty="0"/>
          </a:p>
        </p:txBody>
      </p:sp>
      <p:sp>
        <p:nvSpPr>
          <p:cNvPr id="5" name="Shape 3"/>
          <p:cNvSpPr/>
          <p:nvPr/>
        </p:nvSpPr>
        <p:spPr>
          <a:xfrm>
            <a:off x="822960" y="1783080"/>
            <a:ext cx="7040880" cy="4434840"/>
          </a:xfrm>
          <a:prstGeom prst="roundRect">
            <a:avLst>
              <a:gd name="adj" fmla="val 2474"/>
            </a:avLst>
          </a:prstGeom>
          <a:solidFill>
            <a:srgbClr val="F5F5F7"/>
          </a:solidFill>
          <a:ln/>
        </p:spPr>
      </p:sp>
      <p:sp>
        <p:nvSpPr>
          <p:cNvPr id="6" name="Text 4"/>
          <p:cNvSpPr/>
          <p:nvPr/>
        </p:nvSpPr>
        <p:spPr>
          <a:xfrm>
            <a:off x="1234440" y="2103120"/>
            <a:ext cx="6309360" cy="3840480"/>
          </a:xfrm>
          <a:prstGeom prst="rect">
            <a:avLst/>
          </a:prstGeom>
          <a:noFill/>
          <a:ln/>
        </p:spPr>
        <p:txBody>
          <a:bodyPr wrap="square" lIns="0" tIns="0" rIns="0" bIns="0" rtlCol="0" anchor="t"/>
          <a:lstStyle/>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Future&lt;bool&gt; ensureCamera(BuildContext context) async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var status = await Permission.camera.status;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(status.isGranted || status.isLimited) return true;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 iOS prompts once only. Show your rationale before requesting.</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(status.isDenied)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(!await showRationaleSheet(context)) return false;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status = await Permission.camera.request();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(status.isPermanentlyDenied || status.isRestricted)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 request() does nothing now. Settings is the only route.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(await confirmOpenSettings(context)) await openAppSettings();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return false;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return status.isGranted || status.isLimited;</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a:t>
            </a:r>
            <a:endParaRPr lang="en-US" sz="950" dirty="0"/>
          </a:p>
        </p:txBody>
      </p:sp>
      <p:sp>
        <p:nvSpPr>
          <p:cNvPr id="7" name="Text 5"/>
          <p:cNvSpPr/>
          <p:nvPr/>
        </p:nvSpPr>
        <p:spPr>
          <a:xfrm>
            <a:off x="8046720" y="1810512"/>
            <a:ext cx="331927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Three traps</a:t>
            </a:r>
            <a:endParaRPr lang="en-US" sz="1400" dirty="0"/>
          </a:p>
        </p:txBody>
      </p:sp>
      <p:sp>
        <p:nvSpPr>
          <p:cNvPr id="8" name="Text 6"/>
          <p:cNvSpPr/>
          <p:nvPr/>
        </p:nvSpPr>
        <p:spPr>
          <a:xfrm>
            <a:off x="8046720" y="2240280"/>
            <a:ext cx="3319272" cy="393192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On Android, permanentlyDenied is only meaningful after you have asked at least once. Before that you get denied, so a check-on-launch reports the wrong thing.</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openAppSettings() hands control away completely. The user may come back granted, denied, or not at all, so re-read the status on resume.</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There is no API to open the system prompt twice, so a skipped rationale can cost you the permission permanently.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PERMISSIONS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How to get a permission granted</a:t>
            </a:r>
            <a:endParaRPr lang="en-US" sz="3000" dirty="0"/>
          </a:p>
        </p:txBody>
      </p:sp>
      <p:pic>
        <p:nvPicPr>
          <p:cNvPr id="5" name="Image 0" descr="/Users/dinu/dev/upb/mobile-and-embedded-computing/slides/assets/icons2/clock-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82296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Ask at the moment of need</a:t>
            </a:r>
            <a:endParaRPr lang="en-US" sz="1450" dirty="0"/>
          </a:p>
        </p:txBody>
      </p:sp>
      <p:sp>
        <p:nvSpPr>
          <p:cNvPr id="7" name="Text 4"/>
          <p:cNvSpPr/>
          <p:nvPr/>
        </p:nvSpPr>
        <p:spPr>
          <a:xfrm>
            <a:off x="82296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Never on launch. Request the camera when the user taps the camera button, where the reason is obvious</a:t>
            </a:r>
            <a:endParaRPr lang="en-US" sz="1150" dirty="0"/>
          </a:p>
        </p:txBody>
      </p:sp>
      <p:pic>
        <p:nvPicPr>
          <p:cNvPr id="8" name="Image 1" descr="/Users/dinu/dev/upb/mobile-and-embedded-computing/slides/assets/icons2/messagesquare-ink.png">    </p:cNvPr>
          <p:cNvPicPr>
            <a:picLocks noChangeAspect="1"/>
          </p:cNvPicPr>
          <p:nvPr/>
        </p:nvPicPr>
        <p:blipFill>
          <a:blip r:embed="rId2"/>
          <a:stretch>
            <a:fillRect/>
          </a:stretch>
        </p:blipFill>
        <p:spPr>
          <a:xfrm>
            <a:off x="4663440" y="1874520"/>
            <a:ext cx="384048" cy="384048"/>
          </a:xfrm>
          <a:prstGeom prst="rect">
            <a:avLst/>
          </a:prstGeom>
        </p:spPr>
      </p:pic>
      <p:sp>
        <p:nvSpPr>
          <p:cNvPr id="9" name="Text 5"/>
          <p:cNvSpPr/>
          <p:nvPr/>
        </p:nvSpPr>
        <p:spPr>
          <a:xfrm>
            <a:off x="466344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Show your own screen first</a:t>
            </a:r>
            <a:endParaRPr lang="en-US" sz="1450" dirty="0"/>
          </a:p>
        </p:txBody>
      </p:sp>
      <p:sp>
        <p:nvSpPr>
          <p:cNvPr id="10" name="Text 6"/>
          <p:cNvSpPr/>
          <p:nvPr/>
        </p:nvSpPr>
        <p:spPr>
          <a:xfrm>
            <a:off x="466344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 dismissible in-app sheet before the system dialog. If they say no to yours, you have spent nothing</a:t>
            </a:r>
            <a:endParaRPr lang="en-US" sz="1150" dirty="0"/>
          </a:p>
        </p:txBody>
      </p:sp>
      <p:pic>
        <p:nvPicPr>
          <p:cNvPr id="11" name="Image 2" descr="/Users/dinu/dev/upb/mobile-and-embedded-computing/slides/assets/icons2/split-ink.png">    </p:cNvPr>
          <p:cNvPicPr>
            <a:picLocks noChangeAspect="1"/>
          </p:cNvPicPr>
          <p:nvPr/>
        </p:nvPicPr>
        <p:blipFill>
          <a:blip r:embed="rId3"/>
          <a:stretch>
            <a:fillRect/>
          </a:stretch>
        </p:blipFill>
        <p:spPr>
          <a:xfrm>
            <a:off x="8503920" y="1874520"/>
            <a:ext cx="384048" cy="384048"/>
          </a:xfrm>
          <a:prstGeom prst="rect">
            <a:avLst/>
          </a:prstGeom>
        </p:spPr>
      </p:pic>
      <p:sp>
        <p:nvSpPr>
          <p:cNvPr id="12" name="Text 7"/>
          <p:cNvSpPr/>
          <p:nvPr/>
        </p:nvSpPr>
        <p:spPr>
          <a:xfrm>
            <a:off x="850392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Degrade, don't dead-end</a:t>
            </a:r>
            <a:endParaRPr lang="en-US" sz="1450" dirty="0"/>
          </a:p>
        </p:txBody>
      </p:sp>
      <p:sp>
        <p:nvSpPr>
          <p:cNvPr id="13" name="Text 8"/>
          <p:cNvSpPr/>
          <p:nvPr/>
        </p:nvSpPr>
        <p:spPr>
          <a:xfrm>
            <a:off x="850392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Camera denied? Offer the gallery. Location denied? Let them type a city name. The feature still has to work</a:t>
            </a:r>
            <a:endParaRPr lang="en-US" sz="1150" dirty="0"/>
          </a:p>
        </p:txBody>
      </p:sp>
      <p:pic>
        <p:nvPicPr>
          <p:cNvPr id="14" name="Image 3" descr="/Users/dinu/dev/upb/mobile-and-embedded-computing/slides/assets/icons2/settings-ink.png">    </p:cNvPr>
          <p:cNvPicPr>
            <a:picLocks noChangeAspect="1"/>
          </p:cNvPicPr>
          <p:nvPr/>
        </p:nvPicPr>
        <p:blipFill>
          <a:blip r:embed="rId4"/>
          <a:stretch>
            <a:fillRect/>
          </a:stretch>
        </p:blipFill>
        <p:spPr>
          <a:xfrm>
            <a:off x="822960" y="3977640"/>
            <a:ext cx="384048" cy="384048"/>
          </a:xfrm>
          <a:prstGeom prst="rect">
            <a:avLst/>
          </a:prstGeom>
        </p:spPr>
      </p:pic>
      <p:sp>
        <p:nvSpPr>
          <p:cNvPr id="15" name="Text 9"/>
          <p:cNvSpPr/>
          <p:nvPr/>
        </p:nvSpPr>
        <p:spPr>
          <a:xfrm>
            <a:off x="822960" y="45079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Give them a way back</a:t>
            </a:r>
            <a:endParaRPr lang="en-US" sz="1450" dirty="0"/>
          </a:p>
        </p:txBody>
      </p:sp>
      <p:sp>
        <p:nvSpPr>
          <p:cNvPr id="16" name="Text 10"/>
          <p:cNvSpPr/>
          <p:nvPr/>
        </p:nvSpPr>
        <p:spPr>
          <a:xfrm>
            <a:off x="822960" y="49651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When permanentlyDenied, show a button that opens Settings, not an error message with no next step</a:t>
            </a:r>
            <a:endParaRPr lang="en-US" sz="1150" dirty="0"/>
          </a:p>
        </p:txBody>
      </p:sp>
      <p:pic>
        <p:nvPicPr>
          <p:cNvPr id="17" name="Image 4" descr="/Users/dinu/dev/upb/mobile-and-embedded-computing/slides/assets/icons2/target-ink.png">    </p:cNvPr>
          <p:cNvPicPr>
            <a:picLocks noChangeAspect="1"/>
          </p:cNvPicPr>
          <p:nvPr/>
        </p:nvPicPr>
        <p:blipFill>
          <a:blip r:embed="rId5"/>
          <a:stretch>
            <a:fillRect/>
          </a:stretch>
        </p:blipFill>
        <p:spPr>
          <a:xfrm>
            <a:off x="4663440" y="3977640"/>
            <a:ext cx="384048" cy="384048"/>
          </a:xfrm>
          <a:prstGeom prst="rect">
            <a:avLst/>
          </a:prstGeom>
        </p:spPr>
      </p:pic>
      <p:sp>
        <p:nvSpPr>
          <p:cNvPr id="18" name="Text 11"/>
          <p:cNvSpPr/>
          <p:nvPr/>
        </p:nvSpPr>
        <p:spPr>
          <a:xfrm>
            <a:off x="4663440" y="45079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Ask for the narrower one</a:t>
            </a:r>
            <a:endParaRPr lang="en-US" sz="1450" dirty="0"/>
          </a:p>
        </p:txBody>
      </p:sp>
      <p:sp>
        <p:nvSpPr>
          <p:cNvPr id="19" name="Text 12"/>
          <p:cNvSpPr/>
          <p:nvPr/>
        </p:nvSpPr>
        <p:spPr>
          <a:xfrm>
            <a:off x="4663440" y="49651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ACCESS_COARSE_LOCATION and READ_MEDIA_IMAGES are accepted more often than the broader permissions</a:t>
            </a:r>
            <a:endParaRPr lang="en-US" sz="1150" dirty="0"/>
          </a:p>
        </p:txBody>
      </p:sp>
      <p:pic>
        <p:nvPicPr>
          <p:cNvPr id="20" name="Image 5" descr="/Users/dinu/dev/upb/mobile-and-embedded-computing/slides/assets/icons2/eye-ink.png">    </p:cNvPr>
          <p:cNvPicPr>
            <a:picLocks noChangeAspect="1"/>
          </p:cNvPicPr>
          <p:nvPr/>
        </p:nvPicPr>
        <p:blipFill>
          <a:blip r:embed="rId6"/>
          <a:stretch>
            <a:fillRect/>
          </a:stretch>
        </p:blipFill>
        <p:spPr>
          <a:xfrm>
            <a:off x="8503920" y="3977640"/>
            <a:ext cx="384048" cy="384048"/>
          </a:xfrm>
          <a:prstGeom prst="rect">
            <a:avLst/>
          </a:prstGeom>
        </p:spPr>
      </p:pic>
      <p:sp>
        <p:nvSpPr>
          <p:cNvPr id="21" name="Text 13"/>
          <p:cNvSpPr/>
          <p:nvPr/>
        </p:nvSpPr>
        <p:spPr>
          <a:xfrm>
            <a:off x="8503920" y="450799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Never ask for what you don't use</a:t>
            </a:r>
            <a:endParaRPr lang="en-US" sz="1450" dirty="0"/>
          </a:p>
        </p:txBody>
      </p:sp>
      <p:sp>
        <p:nvSpPr>
          <p:cNvPr id="22" name="Text 14"/>
          <p:cNvSpPr/>
          <p:nvPr/>
        </p:nvSpPr>
        <p:spPr>
          <a:xfrm>
            <a:off x="8503920" y="496519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Store reviewers check declared permissions against what the app actually does. An unused entry is a rejection risk</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3 · ROUTING</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Navigation as data</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go_router: routes, parameters, shells, and a guard wired to auth</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ROUTING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Navigator 1.0, and why the docs steer you off it</a:t>
            </a:r>
            <a:endParaRPr lang="en-US" sz="3000" dirty="0"/>
          </a:p>
        </p:txBody>
      </p:sp>
      <p:sp>
        <p:nvSpPr>
          <p:cNvPr id="5" name="Shape 3"/>
          <p:cNvSpPr/>
          <p:nvPr/>
        </p:nvSpPr>
        <p:spPr>
          <a:xfrm>
            <a:off x="822960" y="1783080"/>
            <a:ext cx="6858000" cy="2651760"/>
          </a:xfrm>
          <a:prstGeom prst="roundRect">
            <a:avLst>
              <a:gd name="adj" fmla="val 4138"/>
            </a:avLst>
          </a:prstGeom>
          <a:solidFill>
            <a:srgbClr val="F5F5F7"/>
          </a:solidFill>
          <a:ln/>
        </p:spPr>
      </p:sp>
      <p:sp>
        <p:nvSpPr>
          <p:cNvPr id="6" name="Text 4"/>
          <p:cNvSpPr/>
          <p:nvPr/>
        </p:nvSpPr>
        <p:spPr>
          <a:xfrm>
            <a:off x="1234440" y="2103120"/>
            <a:ext cx="6126480" cy="205740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Imperative. Still perfectly fine for a local dialog or sheet.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Navigator.of(context).push(</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MaterialPageRoute(builder: (_) =&gt; ChatScreen(id: id)),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Named routes: no longer recommended by the Flutter team.</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MaterialApp(routes: {'/chat': (_) =&gt; const ChatScreen()});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Navigator.pushNamed(context, '/chat');</a:t>
            </a:r>
            <a:endParaRPr lang="en-US" sz="1050" dirty="0"/>
          </a:p>
        </p:txBody>
      </p:sp>
      <p:sp>
        <p:nvSpPr>
          <p:cNvPr id="7" name="Text 5"/>
          <p:cNvSpPr/>
          <p:nvPr/>
        </p:nvSpPr>
        <p:spPr>
          <a:xfrm>
            <a:off x="7863840" y="1810512"/>
            <a:ext cx="35021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it cannot do</a:t>
            </a:r>
            <a:endParaRPr lang="en-US" sz="1400" dirty="0"/>
          </a:p>
        </p:txBody>
      </p:sp>
      <p:sp>
        <p:nvSpPr>
          <p:cNvPr id="8" name="Text 6"/>
          <p:cNvSpPr/>
          <p:nvPr/>
        </p:nvSpPr>
        <p:spPr>
          <a:xfrm>
            <a:off x="7863840" y="2240280"/>
            <a:ext cx="3502152" cy="301752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Deep links. A notification that should open /chat/42 has to be turned into a sequence of pushes, by hand, in the right order.</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Whole-stack changes. “Sign the user out and throw away every screen behind them” is awkward at best.</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The web. Named routes do not become URLs, so the address bar and the browser back button are wrong.</a:t>
            </a:r>
            <a:endParaRPr lang="en-US" sz="1150" dirty="0"/>
          </a:p>
        </p:txBody>
      </p:sp>
      <p:sp>
        <p:nvSpPr>
          <p:cNvPr id="9" name="Shape 7"/>
          <p:cNvSpPr/>
          <p:nvPr/>
        </p:nvSpPr>
        <p:spPr>
          <a:xfrm>
            <a:off x="822960" y="4892040"/>
            <a:ext cx="10543032" cy="0"/>
          </a:xfrm>
          <a:prstGeom prst="line">
            <a:avLst/>
          </a:prstGeom>
          <a:noFill/>
          <a:ln w="9525">
            <a:solidFill>
              <a:srgbClr val="D2D2D7"/>
            </a:solidFill>
            <a:prstDash val="solid"/>
          </a:ln>
        </p:spPr>
      </p:sp>
      <p:sp>
        <p:nvSpPr>
          <p:cNvPr id="10" name="Text 8"/>
          <p:cNvSpPr/>
          <p:nvPr/>
        </p:nvSpPr>
        <p:spPr>
          <a:xfrm>
            <a:off x="822960" y="51206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Navigator 2.0 fixed all three, but its API was hard to use directly.</a:t>
            </a:r>
            <a:pPr indent="0" marL="0">
              <a:buNone/>
            </a:pPr>
            <a:r>
              <a:rPr lang="en-US" sz="1400" dirty="0">
                <a:solidFill>
                  <a:srgbClr val="86868B"/>
                </a:solidFill>
                <a:latin typeface="Arial" pitchFamily="34" charset="0"/>
                <a:ea typeface="Arial" pitchFamily="34" charset="-122"/>
                <a:cs typeface="Arial" pitchFamily="34" charset="-120"/>
              </a:rPr>
              <a:t> go_router is the Flutter team's answer: it implements Navigator 2.0 for you and gives you a URL-shaped API on top.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ROUTING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go_router: your navigation, as data</a:t>
            </a:r>
            <a:endParaRPr lang="en-US" sz="3000" dirty="0"/>
          </a:p>
        </p:txBody>
      </p:sp>
      <p:sp>
        <p:nvSpPr>
          <p:cNvPr id="5" name="Shape 3"/>
          <p:cNvSpPr/>
          <p:nvPr/>
        </p:nvSpPr>
        <p:spPr>
          <a:xfrm>
            <a:off x="822960" y="1783080"/>
            <a:ext cx="6858000" cy="4251960"/>
          </a:xfrm>
          <a:prstGeom prst="roundRect">
            <a:avLst>
              <a:gd name="adj" fmla="val 2581"/>
            </a:avLst>
          </a:prstGeom>
          <a:solidFill>
            <a:srgbClr val="F5F5F7"/>
          </a:solidFill>
          <a:ln/>
        </p:spPr>
      </p:sp>
      <p:sp>
        <p:nvSpPr>
          <p:cNvPr id="6" name="Text 4"/>
          <p:cNvSpPr/>
          <p:nvPr/>
        </p:nvSpPr>
        <p:spPr>
          <a:xfrm>
            <a:off x="1234440" y="2103120"/>
            <a:ext cx="6126480" cy="365760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router = GoRouter(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initialLocation: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routes: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GoRoute(path: '/', builder: (c, s) =&gt; const HomeScreen()),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GoRoute(path: '/login', builder: (c, s) =&gt; const LoginScreen()),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GoRoute(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path: '/chat/:id',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builder: (c, s) =&gt; ChatScreen(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roomId: s.pathParameters['id']!,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draft: s.uri.queryParameters['draft'],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errorBuilder: (c, s) =&gt; NotFoundScreen(uri: s.uri),</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021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Stack = f(state)</a:t>
            </a:r>
            <a:endParaRPr lang="en-US" sz="1400" dirty="0"/>
          </a:p>
        </p:txBody>
      </p:sp>
      <p:sp>
        <p:nvSpPr>
          <p:cNvPr id="8" name="Text 6"/>
          <p:cNvSpPr/>
          <p:nvPr/>
        </p:nvSpPr>
        <p:spPr>
          <a:xfrm>
            <a:off x="7863840" y="2240280"/>
            <a:ext cx="3502152" cy="374904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You stop saying “go here” and start declaring what exists. The router turns a location into a stack.</a:t>
            </a:r>
            <a:endParaRPr lang="en-US" sz="1150" dirty="0"/>
          </a:p>
          <a:p>
            <a:pPr indent="0" marL="0">
              <a:spcAft>
                <a:spcPts val="1100"/>
              </a:spcAft>
              <a:buNone/>
            </a:pPr>
            <a:r>
              <a:rPr lang="en-US" sz="1050" dirty="0">
                <a:solidFill>
                  <a:srgbClr val="1D1D1F"/>
                </a:solidFill>
                <a:latin typeface="Courier New" pitchFamily="34" charset="0"/>
                <a:ea typeface="Courier New" pitchFamily="34" charset="-122"/>
                <a:cs typeface="Courier New" pitchFamily="34" charset="-120"/>
              </a:rPr>
              <a:t>MaterialApp.router(routerConfig: router)</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One line wires it in, and the same tree then works from a deep link, a push notification and a browser URL bar.</a:t>
            </a:r>
            <a:endParaRPr lang="en-US" sz="1150" dirty="0"/>
          </a:p>
          <a:p>
            <a:pPr indent="0" marL="0">
              <a:spcAft>
                <a:spcPts val="1100"/>
              </a:spcAft>
              <a:buNone/>
            </a:pPr>
            <a:r>
              <a:rPr lang="en-US" sz="1150" dirty="0">
                <a:solidFill>
                  <a:srgbClr val="1D1D1F"/>
                </a:solidFill>
                <a:latin typeface="Arial" pitchFamily="34" charset="0"/>
                <a:ea typeface="Arial" pitchFamily="34" charset="-122"/>
                <a:cs typeface="Arial" pitchFamily="34" charset="-120"/>
              </a:rPr>
              <a:t>context.go() replaces the stack. context.push() adds to it. Use go for destinations and push for detours.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ROUTING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Three ways to carry data into a route</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10543032" cy="914400"/>
        </p:xfrm>
        <a:graphic>
          <a:graphicData uri="http://schemas.openxmlformats.org/drawingml/2006/table">
            <a:tbl>
              <a:tblPr/>
              <a:tblGrid>
                <a:gridCol w="1417320"/>
                <a:gridCol w="2281428"/>
                <a:gridCol w="2281428"/>
                <a:gridCol w="2281428"/>
                <a:gridCol w="2281428"/>
              </a:tblGrid>
              <a:tr h="438912">
                <a:tc>
                  <a:txBody>
                    <a:bodyPr/>
                    <a:lstStyle/>
                    <a:p>
                      <a:pPr indent="0" marL="0">
                        <a:buNone/>
                      </a:pP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Path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Navigate with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Read it back as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Survives a link?</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31520">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Path param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/chat/:id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context.go('/chat/42')</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state.pathParameters['id']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31520">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Query param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/search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context.go('/search?q=ws')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state.uri.queryParameters['q']</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31520">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Extra</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any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context.go('/chat/42', extra: room)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state.extra as Room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4892040"/>
            <a:ext cx="10543032" cy="0"/>
          </a:xfrm>
          <a:prstGeom prst="line">
            <a:avLst/>
          </a:prstGeom>
          <a:noFill/>
          <a:ln w="9525">
            <a:solidFill>
              <a:srgbClr val="D2D2D7"/>
            </a:solidFill>
            <a:prstDash val="solid"/>
          </a:ln>
        </p:spPr>
      </p:sp>
      <p:sp>
        <p:nvSpPr>
          <p:cNvPr id="7" name="Text 4"/>
          <p:cNvSpPr/>
          <p:nvPr/>
        </p:nvSpPr>
        <p:spPr>
          <a:xfrm>
            <a:off x="822960" y="51206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Pass ids, not objects.</a:t>
            </a:r>
            <a:pPr indent="0" marL="0">
              <a:buNone/>
            </a:pPr>
            <a:r>
              <a:rPr lang="en-US" sz="1400" dirty="0">
                <a:solidFill>
                  <a:srgbClr val="86868B"/>
                </a:solidFill>
                <a:latin typeface="Arial" pitchFamily="34" charset="0"/>
                <a:ea typeface="Arial" pitchFamily="34" charset="-122"/>
                <a:cs typeface="Arial" pitchFamily="34" charset="-120"/>
              </a:rPr>
              <a:t> extra is an in-memory pointer: it does not survive a cold start from a notification, a browser refresh, or Android killing your process. Put the id in the URL and look the object up from your state manager on the other side, so the screen works however the user arrived. (→ Lecture 4, state management)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ROUTING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ShellRoute: chrome that does not rebuild</a:t>
            </a:r>
            <a:endParaRPr lang="en-US" sz="3000" dirty="0"/>
          </a:p>
        </p:txBody>
      </p:sp>
      <p:sp>
        <p:nvSpPr>
          <p:cNvPr id="5" name="Text 3"/>
          <p:cNvSpPr/>
          <p:nvPr/>
        </p:nvSpPr>
        <p:spPr>
          <a:xfrm>
            <a:off x="822960" y="1737360"/>
            <a:ext cx="6035040" cy="329184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A bottom navigation bar is not a screen, it is a frame around screens. ShellRoute gives you a nested Navigator: the Scaffold and its bar are built once, and only the body swaps.</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StatefulShellRoute.indexedStack goes further:</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each branch keeps its own navigation stack and its own scroll position. Go three screens deep in Chats, switch to Map and come back, and you are still three screens deep, at the same scroll position.</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That is the behavior users expect from a tabbed app, and re-implementing it by hand is a common source of navigation bugs.</a:t>
            </a:r>
            <a:endParaRPr lang="en-US" sz="1300" dirty="0"/>
          </a:p>
        </p:txBody>
      </p:sp>
      <p:sp>
        <p:nvSpPr>
          <p:cNvPr id="6" name="Shape 4"/>
          <p:cNvSpPr/>
          <p:nvPr/>
        </p:nvSpPr>
        <p:spPr>
          <a:xfrm>
            <a:off x="7223760" y="1828800"/>
            <a:ext cx="4142232" cy="3200400"/>
          </a:xfrm>
          <a:prstGeom prst="roundRect">
            <a:avLst>
              <a:gd name="adj" fmla="val 2571"/>
            </a:avLst>
          </a:prstGeom>
          <a:solidFill>
            <a:srgbClr val="FFFFFF"/>
          </a:solidFill>
          <a:ln w="12700">
            <a:solidFill>
              <a:srgbClr val="D2D2D7"/>
            </a:solidFill>
            <a:prstDash val="solid"/>
          </a:ln>
        </p:spPr>
      </p:sp>
      <p:sp>
        <p:nvSpPr>
          <p:cNvPr id="7" name="Text 5"/>
          <p:cNvSpPr/>
          <p:nvPr/>
        </p:nvSpPr>
        <p:spPr>
          <a:xfrm>
            <a:off x="7223760" y="1965960"/>
            <a:ext cx="4142232" cy="274320"/>
          </a:xfrm>
          <a:prstGeom prst="rect">
            <a:avLst/>
          </a:prstGeom>
          <a:noFill/>
          <a:ln/>
        </p:spPr>
        <p:txBody>
          <a:bodyPr wrap="square" lIns="0" tIns="0" rIns="0" bIns="0" rtlCol="0" anchor="ctr"/>
          <a:lstStyle/>
          <a:p>
            <a:pPr algn="ctr" indent="0" marL="0">
              <a:buNone/>
            </a:pPr>
            <a:r>
              <a:rPr lang="en-US" sz="1150" b="1" dirty="0">
                <a:solidFill>
                  <a:srgbClr val="86868B"/>
                </a:solidFill>
                <a:latin typeface="Arial" pitchFamily="34" charset="0"/>
                <a:ea typeface="Arial" pitchFamily="34" charset="-122"/>
                <a:cs typeface="Arial" pitchFamily="34" charset="-120"/>
              </a:rPr>
              <a:t>StatefulShellRoute</a:t>
            </a:r>
            <a:endParaRPr lang="en-US" sz="1150" dirty="0"/>
          </a:p>
        </p:txBody>
      </p:sp>
      <p:sp>
        <p:nvSpPr>
          <p:cNvPr id="8" name="Shape 6"/>
          <p:cNvSpPr/>
          <p:nvPr/>
        </p:nvSpPr>
        <p:spPr>
          <a:xfrm>
            <a:off x="7443216" y="2377440"/>
            <a:ext cx="1197864" cy="1600200"/>
          </a:xfrm>
          <a:prstGeom prst="roundRect">
            <a:avLst>
              <a:gd name="adj" fmla="val 9160"/>
            </a:avLst>
          </a:prstGeom>
          <a:solidFill>
            <a:srgbClr val="F5F5F7"/>
          </a:solidFill>
          <a:ln/>
        </p:spPr>
      </p:sp>
      <p:sp>
        <p:nvSpPr>
          <p:cNvPr id="9" name="Text 7"/>
          <p:cNvSpPr/>
          <p:nvPr/>
        </p:nvSpPr>
        <p:spPr>
          <a:xfrm>
            <a:off x="7443216" y="2377440"/>
            <a:ext cx="1197864" cy="1600200"/>
          </a:xfrm>
          <a:prstGeom prst="rect">
            <a:avLst/>
          </a:prstGeom>
          <a:noFill/>
          <a:ln/>
        </p:spPr>
        <p:txBody>
          <a:bodyPr wrap="square" lIns="0" tIns="0" rIns="0" bIns="0" rtlCol="0" anchor="ctr"/>
          <a:lstStyle/>
          <a:p>
            <a:pPr algn="ctr" indent="0" marL="0">
              <a:buNone/>
            </a:pPr>
            <a:r>
              <a:rPr lang="en-US" sz="1200" b="1" dirty="0">
                <a:solidFill>
                  <a:srgbClr val="1D1D1F"/>
                </a:solidFill>
                <a:latin typeface="Arial" pitchFamily="34" charset="0"/>
                <a:ea typeface="Arial" pitchFamily="34" charset="-122"/>
                <a:cs typeface="Arial" pitchFamily="34" charset="-120"/>
              </a:rPr>
              <a:t>Chats</a:t>
            </a:r>
            <a:endParaRPr lang="en-US" sz="1200" dirty="0"/>
          </a:p>
          <a:p>
            <a:pPr algn="ctr" indent="0" marL="0">
              <a:buNone/>
            </a:pPr>
            <a:r>
              <a:rPr lang="en-US" sz="950" dirty="0">
                <a:solidFill>
                  <a:srgbClr val="86868B"/>
                </a:solidFill>
                <a:latin typeface="Courier New" pitchFamily="34" charset="0"/>
                <a:ea typeface="Courier New" pitchFamily="34" charset="-122"/>
                <a:cs typeface="Courier New" pitchFamily="34" charset="-120"/>
              </a:rPr>
              <a:t>/chat</a:t>
            </a:r>
            <a:endParaRPr lang="en-US" sz="1200" dirty="0"/>
          </a:p>
          <a:p>
            <a:pPr algn="ctr" indent="0" marL="0">
              <a:buNone/>
            </a:pPr>
            <a:r>
              <a:rPr lang="en-US" sz="950" dirty="0">
                <a:solidFill>
                  <a:srgbClr val="86868B"/>
                </a:solidFill>
                <a:latin typeface="Arial" pitchFamily="34" charset="0"/>
                <a:ea typeface="Arial" pitchFamily="34" charset="-122"/>
                <a:cs typeface="Arial" pitchFamily="34" charset="-120"/>
              </a:rPr>
              <a:t>own stack</a:t>
            </a:r>
            <a:endParaRPr lang="en-US" sz="1200" dirty="0"/>
          </a:p>
        </p:txBody>
      </p:sp>
      <p:sp>
        <p:nvSpPr>
          <p:cNvPr id="10" name="Shape 8"/>
          <p:cNvSpPr/>
          <p:nvPr/>
        </p:nvSpPr>
        <p:spPr>
          <a:xfrm>
            <a:off x="8778240" y="2377440"/>
            <a:ext cx="1197864" cy="1600200"/>
          </a:xfrm>
          <a:prstGeom prst="roundRect">
            <a:avLst>
              <a:gd name="adj" fmla="val 9160"/>
            </a:avLst>
          </a:prstGeom>
          <a:solidFill>
            <a:srgbClr val="F5F5F7"/>
          </a:solidFill>
          <a:ln/>
        </p:spPr>
      </p:sp>
      <p:sp>
        <p:nvSpPr>
          <p:cNvPr id="11" name="Text 9"/>
          <p:cNvSpPr/>
          <p:nvPr/>
        </p:nvSpPr>
        <p:spPr>
          <a:xfrm>
            <a:off x="8778240" y="2377440"/>
            <a:ext cx="1197864" cy="1600200"/>
          </a:xfrm>
          <a:prstGeom prst="rect">
            <a:avLst/>
          </a:prstGeom>
          <a:noFill/>
          <a:ln/>
        </p:spPr>
        <p:txBody>
          <a:bodyPr wrap="square" lIns="0" tIns="0" rIns="0" bIns="0" rtlCol="0" anchor="ctr"/>
          <a:lstStyle/>
          <a:p>
            <a:pPr algn="ctr" indent="0" marL="0">
              <a:buNone/>
            </a:pPr>
            <a:r>
              <a:rPr lang="en-US" sz="1200" b="1" dirty="0">
                <a:solidFill>
                  <a:srgbClr val="1D1D1F"/>
                </a:solidFill>
                <a:latin typeface="Arial" pitchFamily="34" charset="0"/>
                <a:ea typeface="Arial" pitchFamily="34" charset="-122"/>
                <a:cs typeface="Arial" pitchFamily="34" charset="-120"/>
              </a:rPr>
              <a:t>Map</a:t>
            </a:r>
            <a:endParaRPr lang="en-US" sz="1200" dirty="0"/>
          </a:p>
          <a:p>
            <a:pPr algn="ctr" indent="0" marL="0">
              <a:buNone/>
            </a:pPr>
            <a:r>
              <a:rPr lang="en-US" sz="950" dirty="0">
                <a:solidFill>
                  <a:srgbClr val="86868B"/>
                </a:solidFill>
                <a:latin typeface="Courier New" pitchFamily="34" charset="0"/>
                <a:ea typeface="Courier New" pitchFamily="34" charset="-122"/>
                <a:cs typeface="Courier New" pitchFamily="34" charset="-120"/>
              </a:rPr>
              <a:t>/map</a:t>
            </a:r>
            <a:endParaRPr lang="en-US" sz="1200" dirty="0"/>
          </a:p>
          <a:p>
            <a:pPr algn="ctr" indent="0" marL="0">
              <a:buNone/>
            </a:pPr>
            <a:r>
              <a:rPr lang="en-US" sz="950" dirty="0">
                <a:solidFill>
                  <a:srgbClr val="86868B"/>
                </a:solidFill>
                <a:latin typeface="Arial" pitchFamily="34" charset="0"/>
                <a:ea typeface="Arial" pitchFamily="34" charset="-122"/>
                <a:cs typeface="Arial" pitchFamily="34" charset="-120"/>
              </a:rPr>
              <a:t>own stack</a:t>
            </a:r>
            <a:endParaRPr lang="en-US" sz="1200" dirty="0"/>
          </a:p>
        </p:txBody>
      </p:sp>
      <p:sp>
        <p:nvSpPr>
          <p:cNvPr id="12" name="Shape 10"/>
          <p:cNvSpPr/>
          <p:nvPr/>
        </p:nvSpPr>
        <p:spPr>
          <a:xfrm>
            <a:off x="10113264" y="2377440"/>
            <a:ext cx="1197864" cy="1600200"/>
          </a:xfrm>
          <a:prstGeom prst="roundRect">
            <a:avLst>
              <a:gd name="adj" fmla="val 9160"/>
            </a:avLst>
          </a:prstGeom>
          <a:solidFill>
            <a:srgbClr val="F5F5F7"/>
          </a:solidFill>
          <a:ln/>
        </p:spPr>
      </p:sp>
      <p:sp>
        <p:nvSpPr>
          <p:cNvPr id="13" name="Text 11"/>
          <p:cNvSpPr/>
          <p:nvPr/>
        </p:nvSpPr>
        <p:spPr>
          <a:xfrm>
            <a:off x="10113264" y="2377440"/>
            <a:ext cx="1197864" cy="1600200"/>
          </a:xfrm>
          <a:prstGeom prst="rect">
            <a:avLst/>
          </a:prstGeom>
          <a:noFill/>
          <a:ln/>
        </p:spPr>
        <p:txBody>
          <a:bodyPr wrap="square" lIns="0" tIns="0" rIns="0" bIns="0" rtlCol="0" anchor="ctr"/>
          <a:lstStyle/>
          <a:p>
            <a:pPr algn="ctr" indent="0" marL="0">
              <a:buNone/>
            </a:pPr>
            <a:r>
              <a:rPr lang="en-US" sz="1200" b="1" dirty="0">
                <a:solidFill>
                  <a:srgbClr val="1D1D1F"/>
                </a:solidFill>
                <a:latin typeface="Arial" pitchFamily="34" charset="0"/>
                <a:ea typeface="Arial" pitchFamily="34" charset="-122"/>
                <a:cs typeface="Arial" pitchFamily="34" charset="-120"/>
              </a:rPr>
              <a:t>You</a:t>
            </a:r>
            <a:endParaRPr lang="en-US" sz="1200" dirty="0"/>
          </a:p>
          <a:p>
            <a:pPr algn="ctr" indent="0" marL="0">
              <a:buNone/>
            </a:pPr>
            <a:r>
              <a:rPr lang="en-US" sz="950" dirty="0">
                <a:solidFill>
                  <a:srgbClr val="86868B"/>
                </a:solidFill>
                <a:latin typeface="Courier New" pitchFamily="34" charset="0"/>
                <a:ea typeface="Courier New" pitchFamily="34" charset="-122"/>
                <a:cs typeface="Courier New" pitchFamily="34" charset="-120"/>
              </a:rPr>
              <a:t>/me</a:t>
            </a:r>
            <a:endParaRPr lang="en-US" sz="1200" dirty="0"/>
          </a:p>
          <a:p>
            <a:pPr algn="ctr" indent="0" marL="0">
              <a:buNone/>
            </a:pPr>
            <a:r>
              <a:rPr lang="en-US" sz="950" dirty="0">
                <a:solidFill>
                  <a:srgbClr val="86868B"/>
                </a:solidFill>
                <a:latin typeface="Arial" pitchFamily="34" charset="0"/>
                <a:ea typeface="Arial" pitchFamily="34" charset="-122"/>
                <a:cs typeface="Arial" pitchFamily="34" charset="-120"/>
              </a:rPr>
              <a:t>own stack</a:t>
            </a:r>
            <a:endParaRPr lang="en-US" sz="1200" dirty="0"/>
          </a:p>
        </p:txBody>
      </p:sp>
      <p:sp>
        <p:nvSpPr>
          <p:cNvPr id="14" name="Shape 12"/>
          <p:cNvSpPr/>
          <p:nvPr/>
        </p:nvSpPr>
        <p:spPr>
          <a:xfrm>
            <a:off x="7443216" y="4206240"/>
            <a:ext cx="3703320" cy="566928"/>
          </a:xfrm>
          <a:prstGeom prst="roundRect">
            <a:avLst>
              <a:gd name="adj" fmla="val 14516"/>
            </a:avLst>
          </a:prstGeom>
          <a:solidFill>
            <a:srgbClr val="000000"/>
          </a:solidFill>
          <a:ln/>
        </p:spPr>
      </p:sp>
      <p:sp>
        <p:nvSpPr>
          <p:cNvPr id="15" name="Text 13"/>
          <p:cNvSpPr/>
          <p:nvPr/>
        </p:nvSpPr>
        <p:spPr>
          <a:xfrm>
            <a:off x="7443216" y="4206240"/>
            <a:ext cx="370332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NavigationBar, built once</a:t>
            </a:r>
            <a:endParaRPr lang="en-US" sz="1150" dirty="0"/>
          </a:p>
        </p:txBody>
      </p:sp>
      <p:sp>
        <p:nvSpPr>
          <p:cNvPr id="16" name="Text 14"/>
          <p:cNvSpPr/>
          <p:nvPr/>
        </p:nvSpPr>
        <p:spPr>
          <a:xfrm>
            <a:off x="7223760" y="5074920"/>
            <a:ext cx="4142232" cy="274320"/>
          </a:xfrm>
          <a:prstGeom prst="rect">
            <a:avLst/>
          </a:prstGeom>
          <a:noFill/>
          <a:ln/>
        </p:spPr>
        <p:txBody>
          <a:bodyPr wrap="square" lIns="0" tIns="0" rIns="0" bIns="0" rtlCol="0" anchor="ctr"/>
          <a:lstStyle/>
          <a:p>
            <a:pPr algn="ctr" indent="0" marL="0">
              <a:buNone/>
            </a:pPr>
            <a:r>
              <a:rPr lang="en-US" sz="1050" dirty="0">
                <a:solidFill>
                  <a:srgbClr val="86868B"/>
                </a:solidFill>
                <a:latin typeface="Arial" pitchFamily="34" charset="0"/>
                <a:ea typeface="Arial" pitchFamily="34" charset="-122"/>
                <a:cs typeface="Arial" pitchFamily="34" charset="-120"/>
              </a:rPr>
              <a:t>one Scaffold, three independent stacks</a:t>
            </a:r>
            <a:endParaRPr lang="en-US" sz="1050" dirty="0"/>
          </a:p>
        </p:txBody>
      </p:sp>
      <p:sp>
        <p:nvSpPr>
          <p:cNvPr id="17" name="Shape 15"/>
          <p:cNvSpPr/>
          <p:nvPr/>
        </p:nvSpPr>
        <p:spPr>
          <a:xfrm>
            <a:off x="822960" y="5257800"/>
            <a:ext cx="6035040" cy="0"/>
          </a:xfrm>
          <a:prstGeom prst="line">
            <a:avLst/>
          </a:prstGeom>
          <a:noFill/>
          <a:ln w="9525">
            <a:solidFill>
              <a:srgbClr val="D2D2D7"/>
            </a:solidFill>
            <a:prstDash val="solid"/>
          </a:ln>
        </p:spPr>
      </p:sp>
      <p:sp>
        <p:nvSpPr>
          <p:cNvPr id="18" name="Text 16"/>
          <p:cNvSpPr/>
          <p:nvPr/>
        </p:nvSpPr>
        <p:spPr>
          <a:xfrm>
            <a:off x="822960" y="5486400"/>
            <a:ext cx="60350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Never nest a Navigator by hand.</a:t>
            </a:r>
            <a:pPr indent="0" marL="0">
              <a:buNone/>
            </a:pPr>
            <a:r>
              <a:rPr lang="en-US" sz="1400" dirty="0">
                <a:solidFill>
                  <a:srgbClr val="86868B"/>
                </a:solidFill>
                <a:latin typeface="Arial" pitchFamily="34" charset="0"/>
                <a:ea typeface="Arial" pitchFamily="34" charset="-122"/>
                <a:cs typeface="Arial" pitchFamily="34" charset="-120"/>
              </a:rPr>
              <a:t> The shell already is one.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ROUTING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redirect: one guard for the whole app</a:t>
            </a:r>
            <a:endParaRPr lang="en-US" sz="3000" dirty="0"/>
          </a:p>
        </p:txBody>
      </p:sp>
      <p:sp>
        <p:nvSpPr>
          <p:cNvPr id="5" name="Shape 3"/>
          <p:cNvSpPr/>
          <p:nvPr/>
        </p:nvSpPr>
        <p:spPr>
          <a:xfrm>
            <a:off x="822960" y="1783080"/>
            <a:ext cx="7040880" cy="4251960"/>
          </a:xfrm>
          <a:prstGeom prst="roundRect">
            <a:avLst>
              <a:gd name="adj" fmla="val 2581"/>
            </a:avLst>
          </a:prstGeom>
          <a:solidFill>
            <a:srgbClr val="F5F5F7"/>
          </a:solidFill>
          <a:ln/>
        </p:spPr>
      </p:sp>
      <p:sp>
        <p:nvSpPr>
          <p:cNvPr id="6" name="Text 4"/>
          <p:cNvSpPr/>
          <p:nvPr/>
        </p:nvSpPr>
        <p:spPr>
          <a:xfrm>
            <a:off x="1234440" y="2103120"/>
            <a:ext cx="6309360" cy="3657600"/>
          </a:xfrm>
          <a:prstGeom prst="rect">
            <a:avLst/>
          </a:prstGeom>
          <a:noFill/>
          <a:ln/>
        </p:spPr>
        <p:txBody>
          <a:bodyPr wrap="square" lIns="0" tIns="0" rIns="0" bIns="0" rtlCol="0" anchor="t"/>
          <a:lstStyle/>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final router = GoRouter(</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 Re-runs redirect on every sign-in and sign-out.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refreshListenable: GoRouterRefreshStream(</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FirebaseAuth.instance.authStateChanges()),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redirect: (context, state)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final signedIn = FirebaseAuth.instance.currentUser != null;</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final atLogin = state.matchedLocation == '/login';</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 Keep where they were headed, so login can finish the trip.</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(!signedIn &amp;&amp; !atLogin) return '/login?from=${state.uri}';</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if (signedIn &amp;&amp; atLogin) return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return null;   // null means: stay exactly where you are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routes: [ /* … */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a:t>
            </a:r>
            <a:endParaRPr lang="en-US" sz="950" dirty="0"/>
          </a:p>
        </p:txBody>
      </p:sp>
      <p:sp>
        <p:nvSpPr>
          <p:cNvPr id="7" name="Text 5"/>
          <p:cNvSpPr/>
          <p:nvPr/>
        </p:nvSpPr>
        <p:spPr>
          <a:xfrm>
            <a:off x="8046720" y="1810512"/>
            <a:ext cx="331927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The bridge back to Lecture 7</a:t>
            </a:r>
            <a:endParaRPr lang="en-US" sz="1400" dirty="0"/>
          </a:p>
        </p:txBody>
      </p:sp>
      <p:sp>
        <p:nvSpPr>
          <p:cNvPr id="8" name="Text 6"/>
          <p:cNvSpPr/>
          <p:nvPr/>
        </p:nvSpPr>
        <p:spPr>
          <a:xfrm>
            <a:off x="8046720" y="2240280"/>
            <a:ext cx="3319272" cy="3931920"/>
          </a:xfrm>
          <a:prstGeom prst="rect">
            <a:avLst/>
          </a:prstGeom>
          <a:noFill/>
          <a:ln/>
        </p:spPr>
        <p:txBody>
          <a:bodyPr wrap="square" lIns="0" tIns="0" rIns="0" bIns="0" rtlCol="0" anchor="t"/>
          <a:lstStyle/>
          <a:p>
            <a:pPr indent="0" marL="0">
              <a:spcAft>
                <a:spcPts val="1100"/>
              </a:spcAft>
              <a:buNone/>
            </a:pPr>
            <a:r>
              <a:rPr lang="en-US" sz="1100" dirty="0">
                <a:solidFill>
                  <a:srgbClr val="86868B"/>
                </a:solidFill>
                <a:latin typeface="Arial" pitchFamily="34" charset="0"/>
                <a:ea typeface="Arial" pitchFamily="34" charset="-122"/>
                <a:cs typeface="Arial" pitchFamily="34" charset="-120"/>
              </a:rPr>
              <a:t>redirect runs before every navigation, including the very first one and every deep link. One place decides who may see what, so there are no per-screen checks to forget.</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refreshListenable is what makes it reactive: without it the guard is only consulted when the user navigates, so a sign-out in the background leaves the private screen on display.</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Return null to allow. Return a location to send them elsewhere. Never return the location you are already on: that is an infinite redirect, and go_router reports it.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PUTTING IT TOGETHER</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One tap through all three parts</a:t>
            </a:r>
            <a:endParaRPr lang="en-US" sz="3000" dirty="0"/>
          </a:p>
        </p:txBody>
      </p:sp>
      <p:pic>
        <p:nvPicPr>
          <p:cNvPr id="5" name="Image 0" descr="/Users/dinu/dev/upb/mobile-and-embedded-computing/slides/assets/icons2/mappin-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82296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1 · Permission</a:t>
            </a:r>
            <a:endParaRPr lang="en-US" sz="1450" dirty="0"/>
          </a:p>
        </p:txBody>
      </p:sp>
      <p:sp>
        <p:nvSpPr>
          <p:cNvPr id="7" name="Text 4"/>
          <p:cNvSpPr/>
          <p:nvPr/>
        </p:nvSpPr>
        <p:spPr>
          <a:xfrm>
            <a:off x="82296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user taps “Nearby”. You show your own rationale sheet, then request location, and handle limited, denied and permanentlyDenied before you draw a map</a:t>
            </a:r>
            <a:endParaRPr lang="en-US" sz="1150" dirty="0"/>
          </a:p>
        </p:txBody>
      </p:sp>
      <p:pic>
        <p:nvPicPr>
          <p:cNvPr id="8" name="Image 1" descr="/Users/dinu/dev/upb/mobile-and-embedded-computing/slides/assets/icons2/route-ink.png">    </p:cNvPr>
          <p:cNvPicPr>
            <a:picLocks noChangeAspect="1"/>
          </p:cNvPicPr>
          <p:nvPr/>
        </p:nvPicPr>
        <p:blipFill>
          <a:blip r:embed="rId2"/>
          <a:stretch>
            <a:fillRect/>
          </a:stretch>
        </p:blipFill>
        <p:spPr>
          <a:xfrm>
            <a:off x="4663440" y="1874520"/>
            <a:ext cx="384048" cy="384048"/>
          </a:xfrm>
          <a:prstGeom prst="rect">
            <a:avLst/>
          </a:prstGeom>
        </p:spPr>
      </p:pic>
      <p:sp>
        <p:nvSpPr>
          <p:cNvPr id="9" name="Text 5"/>
          <p:cNvSpPr/>
          <p:nvPr/>
        </p:nvSpPr>
        <p:spPr>
          <a:xfrm>
            <a:off x="466344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2 · Route</a:t>
            </a:r>
            <a:endParaRPr lang="en-US" sz="1450" dirty="0"/>
          </a:p>
        </p:txBody>
      </p:sp>
      <p:sp>
        <p:nvSpPr>
          <p:cNvPr id="10" name="Text 6"/>
          <p:cNvSpPr/>
          <p:nvPr/>
        </p:nvSpPr>
        <p:spPr>
          <a:xfrm>
            <a:off x="466344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They tap a friend. context.go('/chat/alice') builds the screen. redirect has already checked they are signed in, and the same URL works from a push notification</a:t>
            </a:r>
            <a:endParaRPr lang="en-US" sz="1150" dirty="0"/>
          </a:p>
        </p:txBody>
      </p:sp>
      <p:pic>
        <p:nvPicPr>
          <p:cNvPr id="11" name="Image 2" descr="/Users/dinu/dev/upb/mobile-and-embedded-computing/slides/assets/icons2/waves-ink.png">    </p:cNvPr>
          <p:cNvPicPr>
            <a:picLocks noChangeAspect="1"/>
          </p:cNvPicPr>
          <p:nvPr/>
        </p:nvPicPr>
        <p:blipFill>
          <a:blip r:embed="rId3"/>
          <a:stretch>
            <a:fillRect/>
          </a:stretch>
        </p:blipFill>
        <p:spPr>
          <a:xfrm>
            <a:off x="8503920" y="1874520"/>
            <a:ext cx="384048" cy="384048"/>
          </a:xfrm>
          <a:prstGeom prst="rect">
            <a:avLst/>
          </a:prstGeom>
        </p:spPr>
      </p:pic>
      <p:sp>
        <p:nvSpPr>
          <p:cNvPr id="12" name="Text 7"/>
          <p:cNvSpPr/>
          <p:nvPr/>
        </p:nvSpPr>
        <p:spPr>
          <a:xfrm>
            <a:off x="850392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3 · Socket</a:t>
            </a:r>
            <a:endParaRPr lang="en-US" sz="1450" dirty="0"/>
          </a:p>
        </p:txBody>
      </p:sp>
      <p:sp>
        <p:nvSpPr>
          <p:cNvPr id="13" name="Text 8"/>
          <p:cNvSpPr/>
          <p:nvPr/>
        </p:nvSpPr>
        <p:spPr>
          <a:xfrm>
            <a:off x="850392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ChatScreen opens wss://…/chat with a token, listens, sends, heartbeats, reconnects with jitter, and closes cleanly in dispose()</a:t>
            </a:r>
            <a:endParaRPr lang="en-US" sz="1150" dirty="0"/>
          </a:p>
        </p:txBody>
      </p:sp>
      <p:sp>
        <p:nvSpPr>
          <p:cNvPr id="14" name="Shape 9"/>
          <p:cNvSpPr/>
          <p:nvPr/>
        </p:nvSpPr>
        <p:spPr>
          <a:xfrm>
            <a:off x="822960" y="4983480"/>
            <a:ext cx="10543032" cy="0"/>
          </a:xfrm>
          <a:prstGeom prst="line">
            <a:avLst/>
          </a:prstGeom>
          <a:noFill/>
          <a:ln w="9525">
            <a:solidFill>
              <a:srgbClr val="D2D2D7"/>
            </a:solidFill>
            <a:prstDash val="solid"/>
          </a:ln>
        </p:spPr>
      </p:sp>
      <p:sp>
        <p:nvSpPr>
          <p:cNvPr id="15" name="Text 10"/>
          <p:cNvSpPr/>
          <p:nvPr/>
        </p:nvSpPr>
        <p:spPr>
          <a:xfrm>
            <a:off x="822960" y="52120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Three subsystems, one user gesture.</a:t>
            </a:r>
            <a:pPr indent="0" marL="0">
              <a:buNone/>
            </a:pPr>
            <a:r>
              <a:rPr lang="en-US" sz="1400" dirty="0">
                <a:solidFill>
                  <a:srgbClr val="86868B"/>
                </a:solidFill>
                <a:latin typeface="Arial" pitchFamily="34" charset="0"/>
                <a:ea typeface="Arial" pitchFamily="34" charset="-122"/>
                <a:cs typeface="Arial" pitchFamily="34" charset="-120"/>
              </a:rPr>
              <a:t> Each of them fails in a way the user can see, and each of them has exactly one correct place to be handled.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WebSocket for two-way, SSE for one-way, MQTT for devices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connect → ready → listen → send → close, and close in dispose()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wss:// only; heartbeats, jittered backoff, and push for the background</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Declare in manifest and plist; handle all six permission states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go_router: routes as data, ids in URLs, one redirect guard</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Add a live chat screen to your project over wss://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Make it survive airplane-mode on and off, and a locked screen</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Request one real permission with a rationale and a settings path</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Replace every Navigator.push with a go_router route</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pub.dev/packages/web_socket_channel</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pub.dev/packages/permission_handler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docs.flutter.dev/ui/navigation</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RFC 6455 · the WebSocket Protocol</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developer.android.com/about/versions/13/behavior-changes-13</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8</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