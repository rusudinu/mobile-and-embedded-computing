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out loud: the project is graded on code you can explain. If nobody on the team can explain what a package does, that is a reason not to add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opportunity: flip a boolean in the Firebase console, pull-to-refresh in the running app, and watch the UI change with no rebuild. Then set it back. That is the kill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the old Android/Java version of this slide, which used getInstance(this) and a Bundle. In Flutter you never touch either: firebase_analytics is a Dart API with a Map of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from the old deck: this slide used to show a Gradle dependency and Java-style Crashlytics.log calls. In Flutter the two handlers above are the whole setup: FlutterError.onError for framework errors and PlatformDispatcher.instance.onError for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backwards too: without the event you would not have looked; without the trace you would have blamed the client; without the crash report you would not have the stack. Each layer alone is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nu/dev/upb/mobile-and-embedded-computing/slides/assets/icons2/clou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3572" y="1600200"/>
            <a:ext cx="384048" cy="384048"/>
          </a:xfrm>
          <a:prstGeom prst="rect">
            <a:avLst/>
          </a:prstGeom>
        </p:spPr>
      </p:pic>
      <p:pic>
        <p:nvPicPr>
          <p:cNvPr id="3" name="Image 1" descr="/Users/dinu/dev/upb/mobile-and-embedded-computing/slides/assets/icons2/lapto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1600200"/>
            <a:ext cx="384048" cy="384048"/>
          </a:xfrm>
          <a:prstGeom prst="rect">
            <a:avLst/>
          </a:prstGeom>
        </p:spPr>
      </p:pic>
      <p:pic>
        <p:nvPicPr>
          <p:cNvPr id="4" name="Image 2" descr="/Users/dinu/dev/upb/mobile-and-embedded-computing/slides/assets/icons2/smartpho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1600200"/>
            <a:ext cx="384048" cy="384048"/>
          </a:xfrm>
          <a:prstGeom prst="rect">
            <a:avLst/>
          </a:prstGeom>
        </p:spPr>
      </p:pic>
      <p:pic>
        <p:nvPicPr>
          <p:cNvPr id="5" name="Image 3" descr="/Users/dinu/dev/upb/mobile-and-embedded-computing/slides/assets/icons2/wat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1600200"/>
            <a:ext cx="384048" cy="384048"/>
          </a:xfrm>
          <a:prstGeom prst="rect">
            <a:avLst/>
          </a:prstGeom>
        </p:spPr>
      </p:pic>
      <p:pic>
        <p:nvPicPr>
          <p:cNvPr id="6" name="Image 4" descr="/Users/dinu/dev/upb/mobile-and-embedded-computing/slides/assets/icons2/boar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1600200"/>
            <a:ext cx="384048" cy="384048"/>
          </a:xfrm>
          <a:prstGeom prst="rect">
            <a:avLst/>
          </a:prstGeom>
        </p:spPr>
      </p:pic>
      <p:pic>
        <p:nvPicPr>
          <p:cNvPr id="7" name="Image 5" descr="/Users/dinu/dev/upb/mobile-and-embedded-computing/slides/assets/icons2/cpu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332" y="1600200"/>
            <a:ext cx="384048" cy="38404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31520" y="260604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&amp; Observability</a:t>
            </a:r>
            <a:endParaRPr lang="en-US" sz="4600" dirty="0"/>
          </a:p>
        </p:txBody>
      </p:sp>
      <p:sp>
        <p:nvSpPr>
          <p:cNvPr id="9" name="Text 1"/>
          <p:cNvSpPr/>
          <p:nvPr/>
        </p:nvSpPr>
        <p:spPr>
          <a:xfrm>
            <a:off x="731520" y="36118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6: packages, feature flags, GraphQL &amp; REST, Crashlytics</a:t>
            </a:r>
            <a:endParaRPr lang="en-US" sz="1700" dirty="0"/>
          </a:p>
        </p:txBody>
      </p:sp>
      <p:sp>
        <p:nvSpPr>
          <p:cNvPr id="10" name="Text 2"/>
          <p:cNvSpPr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Dinu-Ștefan Rusu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teaching this course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Dinu-Ștefan Rusu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dinu_stefan.rusu@upb.ro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Teams course channel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rusudinu.com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67512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apps shipped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3268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 across them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Appeared in, spoken at &amp; partnered with</a:t>
            </a:r>
            <a:endParaRPr lang="en-US" sz="1100" dirty="0"/>
          </a:p>
        </p:txBody>
      </p:sp>
      <p:pic>
        <p:nvPicPr>
          <p:cNvPr id="13" name="Image 0" descr="/Users/dinu/dev/upb/mobile-and-embedded-computing/slides/assets/logo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32477"/>
            <a:ext cx="1047902" cy="319126"/>
          </a:xfrm>
          <a:prstGeom prst="rect">
            <a:avLst/>
          </a:prstGeom>
        </p:spPr>
      </p:pic>
      <p:pic>
        <p:nvPicPr>
          <p:cNvPr id="14" name="Image 1" descr="/Users/dinu/dev/upb/mobile-and-embedded-computing/slides/assets/logo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63" y="4675327"/>
            <a:ext cx="770839" cy="433426"/>
          </a:xfrm>
          <a:prstGeom prst="rect">
            <a:avLst/>
          </a:prstGeom>
        </p:spPr>
      </p:pic>
      <p:pic>
        <p:nvPicPr>
          <p:cNvPr id="15" name="Image 2" descr="/Users/dinu/dev/upb/mobile-and-embedded-computing/slides/assets/logos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503" y="4715104"/>
            <a:ext cx="945490" cy="353873"/>
          </a:xfrm>
          <a:prstGeom prst="rect">
            <a:avLst/>
          </a:prstGeom>
        </p:spPr>
      </p:pic>
      <p:pic>
        <p:nvPicPr>
          <p:cNvPr id="16" name="Image 3" descr="/Users/dinu/dev/upb/mobile-and-embedded-computing/slides/assets/logos/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894" y="4716932"/>
            <a:ext cx="1313078" cy="350215"/>
          </a:xfrm>
          <a:prstGeom prst="rect">
            <a:avLst/>
          </a:prstGeom>
        </p:spPr>
      </p:pic>
      <p:pic>
        <p:nvPicPr>
          <p:cNvPr id="17" name="Image 4" descr="/Users/dinu/dev/upb/mobile-and-embedded-computing/slides/assets/logos/imag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873" y="4626864"/>
            <a:ext cx="611734" cy="530352"/>
          </a:xfrm>
          <a:prstGeom prst="rect">
            <a:avLst/>
          </a:prstGeom>
        </p:spPr>
      </p:pic>
      <p:pic>
        <p:nvPicPr>
          <p:cNvPr id="18" name="Image 5" descr="/Users/dinu/dev/upb/mobile-and-embedded-computing/slides/assets/logos/image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6508" y="4626864"/>
            <a:ext cx="846734" cy="530352"/>
          </a:xfrm>
          <a:prstGeom prst="rect">
            <a:avLst/>
          </a:prstGeom>
        </p:spPr>
      </p:pic>
      <p:pic>
        <p:nvPicPr>
          <p:cNvPr id="19" name="Image 6" descr="/Users/dinu/dev/upb/mobile-and-embedded-computing/slides/assets/logos/image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8143" y="4767682"/>
            <a:ext cx="1691640" cy="248717"/>
          </a:xfrm>
          <a:prstGeom prst="rect">
            <a:avLst/>
          </a:prstGeom>
        </p:spPr>
      </p:pic>
      <p:pic>
        <p:nvPicPr>
          <p:cNvPr id="20" name="Image 7" descr="/Users/dinu/dev/upb/mobile-and-embedded-computing/slides/assets/logos/image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4684" y="4717847"/>
            <a:ext cx="1321308" cy="348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leave with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package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package safely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9160" y="18288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pub.dev page, pin a constraint, and know what pubspec.lock is actually for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432304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9" name="Image 1" descr="/Users/dinu/dev/upb/mobile-and-embedded-computing/slides/assets/icons2/toggle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877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behind a flag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09160" y="254203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Remote Config: defaults, fetch and activate, plus staged rollout and a kill switch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145536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3" name="Image 2" descr="/Users/dinu/dev/upb/mobile-and-embedded-computing/slides/assets/icons2/arrowleftright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009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552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REST and GraphQL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9160" y="325526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 and under-fetching, caching, typing, N+1, and when each one wins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858768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7" name="Image 3" descr="/Users/dinu/dev/upb/mobile-and-embedded-computing/slides/assets/icons2/radar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142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9684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app in production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09160" y="396849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Events, p95 latency, crash-free users, and which alerts are worth firing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PACKAGES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Depending on someone else's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pub.dev, version constraints, and the lockfile you must commit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package you can live with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search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pub.dev is the registry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Dart and Flutter package lives here. Each page carries the API docs, a runnable example, and the exact install command.</a:t>
            </a:r>
            <a:endParaRPr lang="en-US" sz="1150" dirty="0"/>
          </a:p>
        </p:txBody>
      </p:sp>
      <p:pic>
        <p:nvPicPr>
          <p:cNvPr id="8" name="Image 1" descr="/Users/dinu/dev/upb/mobile-and-embedded-computing/slides/assets/icons2/chart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288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scores critically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3440" y="2816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and downloads are popularity. Pub points are mechanical: docs, formatting and platform support. They are not a verdict on quality.</a:t>
            </a:r>
            <a:endParaRPr lang="en-US" sz="1150" dirty="0"/>
          </a:p>
        </p:txBody>
      </p:sp>
      <p:pic>
        <p:nvPicPr>
          <p:cNvPr id="11" name="Image 2" descr="/Users/dinu/dev/upb/mobile-and-embedded-computing/slides/assets/icons2/calendar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2880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last publish date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503920" y="2816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 last released against Flutter 3.19 is maintenance you are taking on yourself.</a:t>
            </a:r>
            <a:endParaRPr lang="en-US" sz="1150" dirty="0"/>
          </a:p>
        </p:txBody>
      </p:sp>
      <p:pic>
        <p:nvPicPr>
          <p:cNvPr id="14" name="Image 3" descr="/Users/dinu/dev/upb/mobile-and-embedded-computing/slides/assets/icons2/smartphone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3192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platforms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822960" y="4919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lists Android · iOS · web · desktop. A plugin with native code often supports fewer of them than you assume.</a:t>
            </a:r>
            <a:endParaRPr lang="en-US" sz="1150" dirty="0"/>
          </a:p>
        </p:txBody>
      </p:sp>
      <p:pic>
        <p:nvPicPr>
          <p:cNvPr id="17" name="Image 4" descr="/Users/dinu/dev/upb/mobile-and-embedded-computing/slides/assets/icons2/boxes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93192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dependency tree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663440" y="4919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adopt every transitive dependency too. Two packages that pin conflicting versions is the classic unresolvable pubspec.</a:t>
            </a:r>
            <a:endParaRPr lang="en-US" sz="1150" dirty="0"/>
          </a:p>
        </p:txBody>
      </p:sp>
      <p:pic>
        <p:nvPicPr>
          <p:cNvPr id="20" name="Image 5" descr="/Users/dinu/dev/upb/mobile-and-embedded-computing/slides/assets/icons2/scale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931920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0392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license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8503920" y="4919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MIT, BSD and Apache-2.0 are fine for your project. Anything copyleft is a conversation to have before you ship, not after.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822960" y="585216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dependency is quick to add and slow to remove, so spend a minute checking it first.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package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486400" cy="3703320"/>
          </a:xfrm>
          <a:prstGeom prst="roundRect">
            <a:avLst>
              <a:gd name="adj" fmla="val 2963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pubspec.yaml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flutter: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sdk: flutter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 ^1.5.0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firebase_core: ^4.1.0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firebase_crashlytics: ^5.0.0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dev_dependencies: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flutter_test: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sdk: flutter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build_runner: ^2.5.0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0" y="1783080"/>
            <a:ext cx="4690872" cy="3703320"/>
          </a:xfrm>
          <a:prstGeom prst="roundRect">
            <a:avLst>
              <a:gd name="adj" fmla="val 2963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2103120"/>
            <a:ext cx="39593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Writes the constraint AND resolves it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http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dev:build_runner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Download exactly what the lockfile pins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get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Newest inside your constraints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upgrade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Raise the constraints themselves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upgrade --major-versions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has moved on without you?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outdated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566928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8978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hand-edit pubspec.yaml to add a package.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flutter pub add writes the current constraint and resolves in one step; the versions above are illustrative, and will be stale by the time you read them.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constraints and the lockfile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02836"/>
                <a:gridCol w="440283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allows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blocks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^1.5.0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 1.5.0  and  &lt; 2.0.0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2.0.0, a breaking major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^0.3.2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 0.3.2  and  &lt; 0.4.0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0.4.0; before 1.0, minors may break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exactly 1.5.0, forever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patch, including security fixes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whatever the resolver picks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at all; never ship this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66344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pubspec.yaml says what you will accept. pubspec.lock records what you actually got.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pubspec.lock for an application: it is what makes your build, your teammate's build and CI resolve to identical code.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commit it for a package you publish: there you want consumers to resolve against their own constraint set.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pub get obeys the lockfile. flutter pub upgrade rewrites it. That is the whole difference between the two commands.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FEATURE FLAGS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is not release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Remote Config: staged rollout, kill switch, and flag debt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is not release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rollout ships a binary to 1% of users, then 5, 10, 50, 100. The store does this for you, and you can halt it if crashes spike. The store runs the rollout; your job is to watch the crash rate while it climbs.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 rollout only controls who gets the binary, and users who already have it keep it. You cannot take code back, and a fix takes another review cycle to reach them.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feature flag separates the two: the code ships to everyone, switched off. A server decides, per user and at runtime, whether it is on.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is a build step. Release is a runtime decision.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8288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828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to main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defaults to off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464040" y="265176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98080" y="292608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2926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to the store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on every device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64040" y="374904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98080" y="402336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4023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the flag to 5%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release, without a build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464040" y="484632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0" y="512064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5120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breaks?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0% in one click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630936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78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kill switch is the main benefit.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bad release you can turn off in thirty seconds is a different kind of incident from one that needs a store review.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tool: Firebase Remote Config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key/value store hosted by Firebase. Your app ships with in-app defaults, then fetches overrides, so it behaves sensibly on first run, offline, and if the fetch fails.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typed: bool for a flag, int or double for a tuning knob, String or JSON for content you want to change without a release.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in the console target by app version, platform, language, country, Analytics audience, and by a random percentile, which is how you stage a rollout of behavior rather than of binaries.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idea, other tools: LaunchDarkly, Unleash, PostHog, ConfigCat. We use Remote Config because the rest of this lecture is already Firebase.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0" y="18288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828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setDefaults()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baked into the binary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464040" y="265176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98080" y="292608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2926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fetch()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download, then cache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64040" y="374904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98080" y="402336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4023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activate()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fetched values live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464040" y="484632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0" y="512064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5120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getBool() / getInt()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at the call site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630936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78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and activate are two steps on purpose.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Values never change underneath a screen that is already rendered.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Config in Dart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126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rc = FirebaseRemoteConfig.instance;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Defaults ship inside the binary: the app works on first run.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rc.setDefaults(const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'checkout_v2_enabled': false,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'feed_page_size': 20,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rc.setConfigSettings(RemoteConfigSettings(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fetchTimeout: const Duration(seconds: 10),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Production: 1-12 h. Debug: Duration.zero, or you get throttled.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minimumFetchInterval: const Duration(hours: 1),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rc.fetchAndActivate();   // fetch, then swap the values in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at the call site, every time - never cache it in a global.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(rc.getBool('checkout_v2_enabled')) return const CheckoutV2();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keep flags cheap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224028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are throttled server-side. minimumFetchInterval exists so the backend is not called too often; set it to zero only in debug builds.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by percentile: 1%, 10%, 50%, 100%, watching crash-free users at each step.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live flag is a branch you must keep working. Delete the flag and the dead path as soon as it reaches 100%.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are not security. The disabled code is still in the binary and the values are readable, so keep authorization on the server.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to a server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GraphQL, and the cost of each round trip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and what the verbs promise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named by URLs, acted on with standard HTTP methods; every request carries its own context, so any server can answer it.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57144"/>
                <a:gridCol w="3057144"/>
                <a:gridCol w="305714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Idempotent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is for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a resource: /v1/users/42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create; two sends create two things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 a resource wholesale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general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update; depends on the payload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remove; deleting twice ends the same way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492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and idempotent are two different questions.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 means it changes nothing. Idempotent means doing it twice leaves the same state. PUT and DELETE are idempotent but not safe, which is why a client on a flaky mobile network may retry them but must not retry a POST.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REST call in Dart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126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'dart:convert';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'package:http/http.dart' as http;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Future&lt;List&lt;Post&gt;&gt; fetchPosts(String userId) async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uri = Uri.https('api.example.com',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'/v1/users/$userId/posts', {'limit': '20'});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res = await http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.get(uri, headers: {'Authorization': 'Bearer $token'})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.timeout(const Duration(seconds: 10));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(res.statusCode != 200)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ApiException(res.statusCode, res.body);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json = jsonDecode(res.body) as List&lt;dynamic&gt;;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json.map((e) =&gt; Post.fromJson(e)).toList();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people forget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224028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timeout. The default on mobile is effectively forever, and a spinner that never ends is a common bug report.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status code. A 401 or a 500 also has a body, and jsonDecode will happily parse an error page into nonsense.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Codegen. json_serializable + build_runner writes fromJson for you; hand-written parsers break silently when a field is renamed (→ Lecture 5).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 when you need interceptors, retries, cancellation and one place to refresh an expired token.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Over-fetching and under-fetching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profile screen: the user's name, their follower count, and their last 20 posts.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three round trips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21284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286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/v1/users/42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78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38 fields; the screen shows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0815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54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/v1/users/42/posts?limit=20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472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request, after the first returns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95020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023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/v1/users/42/followers/count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only now can the screen render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over-fetching  ·  under-fetching  ·  3 × round-trip time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GraphQL: one round trip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212848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2128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/graphql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081528"/>
            <a:ext cx="5029200" cy="1691640"/>
          </a:xfrm>
          <a:prstGeom prst="roundRect">
            <a:avLst>
              <a:gd name="adj" fmla="val 6486"/>
            </a:avLst>
          </a:prstGeom>
          <a:solidFill>
            <a:srgbClr val="F5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2461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user(id: 42) {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followerCount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posts(limit: 20) { id title }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the fields the screen renders  ·  1 × round-trip time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25780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864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round trip on a mobile network costs 50–150 ms, and far more on a bad one.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GraphQL does not make the server faster. It moves the joins server-side, where a careless resolver turns one query into N+1 database calls.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GraphQL: schema, query, mutation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126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schema is the contract: strongly typed and introspectable.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User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ID!   name: String!   followerCount: Int!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posts(limit: Int): [Post!]!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query reads. The response JSON has exactly this shape.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ProfileScreen($id: ID!)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user(id: $id)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followerCount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posts(limit: 20) { id title createdAt }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mutation writes - and returns the new state, for your cache.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 LikePost($postId: ID!)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likePost(id: $postId) { id likeCount likedByMe }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schema buys you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224028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endpoint, one schema, every client. iOS, Android and web each ask for the fields they render, so there are no per-client endpoints.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Introspection means the tooling is generated, not written: GraphiQL, autocomplete, and Dart types straight from the schema.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means non-nullable. That maps cleanly onto Dart's null safety, so a nullable field in the schema is a nullable field in your model.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 POST to one URL, which is why HTTP caching stops helping here.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in a Flutter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858000" cy="438912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126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pubspec: graphql_flutter: ^5.2.1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link = HttpLink('https://api.example.com/graphql');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client = ValueNotifier(GraphQLClient(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link: AuthLink(getToken: () async =&gt; 'Bearer $token').concat(link),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cache: GraphQLCache(store: HiveStore()),  // normalized by id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Query(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options: QueryOptions(document: gql(profileScreenQuery),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variables: {'id': userId}),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(result, {fetchMore, refetch})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(result.isLoading) return const Spinner();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(result.hasException) return ErrorView(result.exception!);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ProfileView(User.fromJson(result.data!['user']));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clients, one caveat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224028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graphql_flutter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Widget-level Query and Mutation builders, a normalized cache, and dynamic maps. Fastest to start with.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ferry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Dart types from your schema and .graphql documents, so a wrong field name is a compile error rather than a runtime null.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errors arrive with HTTP 200 and an errors array. Checking the status code is not enough; check result.hasException.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vs GraphQL, side by side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430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02836"/>
                <a:gridCol w="440283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resource, many URLs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URL, usually POST /graphql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by the server; over- and under-fetching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 by the client, in one request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caching, CDNs and ETags, for free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normalized client cache that you configure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&amp; typing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OpenAPI, if someone keeps it current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mandatory, introspectable, generates your types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predictable per endpoint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N+1 resolvers; needs dataloaders and depth limits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carried by the HTTP status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200 plus an errors array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curl, Postman, any proxy; decades of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GraphiQL and codegen; harder to read in a proxy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53212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7607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one wins.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 resources, heavy caching, third-party integrations → REST. Deeply related data, several clients with different needs, expensive round trips → GraphQL. Most real apps end up with both.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debug a phone you do not own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→ metrics → crashes → alerts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harder on a phone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runs on hardware you have never seen: thousands of Android models, several OS versions, networks that drop mid-request, devices thermally throttled in a pocket.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attach a debugger to a user's phone. There is no server log to grep: the log is on the device, and you have no access to it.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are staged and users update slowly, so four versions of your app are live at once and one of them is three months old.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app has to report on itself. The rest of this section is how.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8288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828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users did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464040" y="265176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98080" y="292608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2926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slow, how often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64040" y="374904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98080" y="402336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4023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Crashes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broke, with a stack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464040" y="484632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0" y="512064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5120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finds out, and when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630936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78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tells you that something is wrong.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Observability is having enough signal to work out why, without shipping a build to find out.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an analytics event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126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'package:firebase_analytics/firebase_analytics.dart';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analytics = FirebaseAnalytics.instance;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snake_case, &lt;= 40 chars; parameter values are String or num.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analytics.logEvent(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'checkout_started',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parameters: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'cart_value_ron': 249.90,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'item_count': 3,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'payment_method': 'card',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screen_view for free - wire the observer in once.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MaterialApp(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navigatorObservers: [FirebaseAnalyticsObserver(analytics: analytics)],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name and use them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224028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first_open, session_start, screen_view and app_remove are collected for you. Everything else is a deliberate decision.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events for the funnel you want to read later: checkout_started → payment_submitted → purchase_complete.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put personal data in a parameter. No emails, no names and no free text. Analytics is not a log, and this is a GDPR question.</a:t>
            </a:r>
            <a:endParaRPr lang="en-US" sz="11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are aggregated and delayed by hours. They answer “how many users”, never “what happened to this one user”.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crashes in Flutter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126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async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WidgetsFlutterBinding.ensureInitialized();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Firebase.initializeApp(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options: DefaultFirebaseOptions.currentPlatform);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Uncaught framework errors -&gt; fatal report + widget stack.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FlutterError.onError =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FirebaseCrashlytics.instance.recordFlutterFatalError;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Uncaught async errors from outside the framework.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PlatformDispatcher.instance.onError = (error, stack) {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FirebaseCrashlytics.instance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.recordError(error, stack, fatal: true);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runApp(const App());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you already caught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955280" y="219456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25146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api.pay(cart);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(e, s) {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crashlytics.recordError(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e, s, reason: 'checkout');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55280" y="42519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log('card selected') adds breadcrumbs to the next report; setCustomKey and setUserIdentifier add state, for example a hashed id, never an email.</a:t>
            </a:r>
            <a:endParaRPr lang="en-US" sz="10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upload on the next launch, so a crash during startup still reaches you.</a:t>
            </a:r>
            <a:endParaRPr lang="en-US" sz="10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wiring once with FirebaseCrashlytics.instance.crash(), then delete that line.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Crash-free users: the number to watch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crash-free sessions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higher number vendors usually quote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37304" y="18288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337304" y="288036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crash-free users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37304" y="338328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floor for a consumer app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51648" y="18288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200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851648" y="288036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hit a crash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51648" y="338328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99.5%; on 400k installs, 2,000 people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10543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Crash-free users = users with no fatal crash ÷ all users, over a window. It counts people, not events: one user crashing fifty times still costs you one user.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Crash-free sessions is always higher, because most sessions are short and uneventful. Quote users; act on users.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per app version, never in aggregate: a bad release hides inside a healthy overall number for days.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issues by users affected, not by crash count. One issue hitting 4,000 people beats thirty issues hitting two each.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8064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0350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 you act on is crash-free users on the version you are rolling out.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it drops, halt the rollout or flip the flag.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Latency: read p95, not the average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p50: the median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typical request. Half your users are faster than this. It is the last number to move when something starts breaking.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670048"/>
            <a:ext cx="6035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797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9067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 in twenty. This is where users start to notice, and where you should set a budget: “feed_load p95 under 1.5 s”.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6035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05993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tail: cold starts, retries, 2 G, throttled devices. Real users, but noisy below roughly a thousand samples.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608576"/>
            <a:ext cx="6035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1830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useless here. One 30-second timeout skews it, and no individual user experiences the average.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2376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2194560"/>
            <a:ext cx="4142232" cy="192024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2514600"/>
            <a:ext cx="3410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t = FirebasePerformance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.instance.newTrace('feed_load');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t.start();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loadFeed();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t.putMetric('items', items.length);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t.stop();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23760" y="4297680"/>
            <a:ext cx="4142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start (cold, warm and hot) and screen rendering are captured for you as soon as the package is added.</a:t>
            </a:r>
            <a:endParaRPr lang="en-US" sz="10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HTTP calls are not: dart:io opens its own sockets and bypasses the instrumented platform stack. Wrap the client, or trace it yourself.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5623560"/>
            <a:ext cx="6035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8521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percentile describes a defined share of your users.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average describes no particular user.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alerts are worth firing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430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02836"/>
                <a:gridCol w="440283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when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that threshold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Crash-free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drops below 99.5% on the version rolling 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user in 200 is a visible outage, not noise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fatal issue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signature first seen in the build you 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velocity alerts catch regressions, not the old backlog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 latency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doubles week-over-week on a key endpoint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change survives traffic growth; fixed numbers do not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Funnel conversion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checkout_started → purchase drops 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crash-free can be perfect while the feature is quietly broken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Everything else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alert; put it on a dashboard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alert nobody acts on trains everyone to ignore all of them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53212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7607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 needs an owner and an action.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the answer to “what would I do about this at 3 a.m.?” is “nothing”, it belongs on a dashboard rather than in an alert.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incident, end to 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minutes after a 10% rollout of checkout v2.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8716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945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checkout_started is normal, purchase_complete is down 40%, but only on 4.2.0.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3154680"/>
            <a:ext cx="201168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11296" y="2011680"/>
            <a:ext cx="248716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21945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9896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39896" y="2971800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on the payment trace jumps from 0.4 s to 5.2 s. Something downstream is timing out.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98464" y="3154680"/>
            <a:ext cx="201168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2011680"/>
            <a:ext cx="248716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1945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232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8232" y="2971800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fatal: null check operator used on a null value, in PaymentResponse.fromJson.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0" y="3154680"/>
            <a:ext cx="201168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87968" y="2011680"/>
            <a:ext cx="248716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16568" y="21945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16568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Config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16568" y="2971800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checkout_v2_enabled → false. Zero users affected. Fix, ship, then re-ramp from 1%.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46634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8920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show that something is wrong, metrics show where, crashes show why.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flag is what limits the damage without waiting for a store review, which is why the two halves of this lecture belong on the same slide.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week</a:t>
            </a:r>
            <a:endParaRPr lang="en-US" sz="3000" dirty="0"/>
          </a:p>
        </p:txBody>
      </p:sp>
      <p:pic>
        <p:nvPicPr>
          <p:cNvPr id="3" name="Image 0" descr="/Users/dinu/dev/upb/mobile-and-embedded-computing/slides/assets/icons2/checklis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 add writes the constraint; commit pubspec.lock for an app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≠ release: flags give you a percentage rollout and a kill switch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and GraphQL trade over-fetching against caching and N+1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≠ idempotent: it decides what a retry is allowed to do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→ metrics → crashes → alerts, because you own no device</a:t>
            </a:r>
            <a:endParaRPr lang="en-US" sz="1250" dirty="0"/>
          </a:p>
        </p:txBody>
      </p:sp>
      <p:pic>
        <p:nvPicPr>
          <p:cNvPr id="6" name="Image 1" descr="/Users/dinu/dev/upb/mobile-and-embedded-computing/slides/assets/icons2/calenda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38912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firebase_analytics and log one event that matters to your project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both Crashlytics handlers, then force a crash and find the report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one feature behind a Remote Config bool and flip it live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same profile screen twice: REST calls, then one GraphQL query</a:t>
            </a:r>
            <a:endParaRPr lang="en-US" sz="1250" dirty="0"/>
          </a:p>
        </p:txBody>
      </p:sp>
      <p:pic>
        <p:nvPicPr>
          <p:cNvPr id="9" name="Image 2" descr="/Users/dinu/dev/upb/mobile-and-embedded-computing/slides/assets/icons2/bookope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78308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95528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dart.dev/tools/pub/dependencies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firebase.google.com/docs/remote-config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firebase.google.com/docs/crashlytics/get-started?platform=flutter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graphql.org/learn  ·  pub.dev/packages/graphql_flutter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and Embedded Computing, Lecture 6</dc:title>
  <dc:subject>PptxGenJS Presentation</dc:subject>
  <dc:creator>Dinu-Ștefan Rusu</dc:creator>
  <cp:lastModifiedBy>Dinu-Ștefan Rusu</cp:lastModifiedBy>
  <cp:revision>1</cp:revision>
  <dcterms:created xsi:type="dcterms:W3CDTF">2026-08-08T15:40:13Z</dcterms:created>
  <dcterms:modified xsi:type="dcterms:W3CDTF">2026-08-08T15:40:13Z</dcterms:modified>
</cp:coreProperties>
</file>