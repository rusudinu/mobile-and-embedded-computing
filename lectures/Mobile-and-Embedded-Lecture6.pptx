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56" r:id="rId2"/>
    <p:sldId id="449" r:id="rId3"/>
    <p:sldId id="448" r:id="rId4"/>
    <p:sldId id="450" r:id="rId5"/>
    <p:sldId id="451" r:id="rId6"/>
    <p:sldId id="452" r:id="rId7"/>
    <p:sldId id="454" r:id="rId8"/>
    <p:sldId id="458" r:id="rId9"/>
    <p:sldId id="453" r:id="rId10"/>
    <p:sldId id="455" r:id="rId11"/>
    <p:sldId id="456" r:id="rId12"/>
    <p:sldId id="4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80" r:id="rId33"/>
    <p:sldId id="279" r:id="rId34"/>
    <p:sldId id="277" r:id="rId35"/>
    <p:sldId id="278" r:id="rId36"/>
    <p:sldId id="281" r:id="rId37"/>
    <p:sldId id="282" r:id="rId38"/>
    <p:sldId id="283" r:id="rId3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E0816D-9131-0642-AC18-65111AF099E6}" v="339" dt="2025-09-20T16:46:07.6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25"/>
    <p:restoredTop sz="94658"/>
  </p:normalViewPr>
  <p:slideViewPr>
    <p:cSldViewPr snapToGrid="0">
      <p:cViewPr varScale="1">
        <p:scale>
          <a:sx n="108" d="100"/>
          <a:sy n="108" d="100"/>
        </p:scale>
        <p:origin x="21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3371807-75D2-4B48-9BC1-C0791C7EACC9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B3F86B-2734-BF42-93A6-63E2CE51FA0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1001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F26AAD-701F-B0F1-436C-F8EDD83B3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>
            <a:extLst>
              <a:ext uri="{FF2B5EF4-FFF2-40B4-BE49-F238E27FC236}">
                <a16:creationId xmlns:a16="http://schemas.microsoft.com/office/drawing/2014/main" id="{C5BC18DE-5116-52BB-E8ED-C7C7F3C943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>
            <a:extLst>
              <a:ext uri="{FF2B5EF4-FFF2-40B4-BE49-F238E27FC236}">
                <a16:creationId xmlns:a16="http://schemas.microsoft.com/office/drawing/2014/main" id="{66BDAB81-C945-35C6-C26A-6C92582E0C36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46723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7D309-66B7-665E-2086-48E8D87D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>
            <a:extLst>
              <a:ext uri="{FF2B5EF4-FFF2-40B4-BE49-F238E27FC236}">
                <a16:creationId xmlns:a16="http://schemas.microsoft.com/office/drawing/2014/main" id="{71E1FA7A-91BD-ED61-38AB-C35E80376C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>
            <a:extLst>
              <a:ext uri="{FF2B5EF4-FFF2-40B4-BE49-F238E27FC236}">
                <a16:creationId xmlns:a16="http://schemas.microsoft.com/office/drawing/2014/main" id="{A8A7BAD5-27F7-59F7-99EC-01854B6488EC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11701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1CF664-2F97-2BBA-ED72-DDE2361A6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>
            <a:extLst>
              <a:ext uri="{FF2B5EF4-FFF2-40B4-BE49-F238E27FC236}">
                <a16:creationId xmlns:a16="http://schemas.microsoft.com/office/drawing/2014/main" id="{2E816222-136C-D7CB-2C81-7F2209404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>
            <a:extLst>
              <a:ext uri="{FF2B5EF4-FFF2-40B4-BE49-F238E27FC236}">
                <a16:creationId xmlns:a16="http://schemas.microsoft.com/office/drawing/2014/main" id="{B3E8EF38-F764-91E4-6E0B-F553BC794E53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796373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79016-05FA-2D0D-DDB8-4C8FFFD43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>
            <a:extLst>
              <a:ext uri="{FF2B5EF4-FFF2-40B4-BE49-F238E27FC236}">
                <a16:creationId xmlns:a16="http://schemas.microsoft.com/office/drawing/2014/main" id="{7F027769-BEB4-C501-389C-B8B061DF3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>
            <a:extLst>
              <a:ext uri="{FF2B5EF4-FFF2-40B4-BE49-F238E27FC236}">
                <a16:creationId xmlns:a16="http://schemas.microsoft.com/office/drawing/2014/main" id="{80A3B846-631B-F643-88DD-00B2D152943D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009423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9F1BB-6C33-6967-5DFF-47ADB16BC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>
            <a:extLst>
              <a:ext uri="{FF2B5EF4-FFF2-40B4-BE49-F238E27FC236}">
                <a16:creationId xmlns:a16="http://schemas.microsoft.com/office/drawing/2014/main" id="{14433EA1-87FC-CB51-65DF-D8709E5B99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>
            <a:extLst>
              <a:ext uri="{FF2B5EF4-FFF2-40B4-BE49-F238E27FC236}">
                <a16:creationId xmlns:a16="http://schemas.microsoft.com/office/drawing/2014/main" id="{EC7761DF-F00F-E6C0-6CC5-DEEF99B90B1B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28392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1238D-9DDE-453E-03C8-B26DC30B5C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188">
            <a:extLst>
              <a:ext uri="{FF2B5EF4-FFF2-40B4-BE49-F238E27FC236}">
                <a16:creationId xmlns:a16="http://schemas.microsoft.com/office/drawing/2014/main" id="{97F5D90B-0CD9-778F-7B66-322C9153FF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9" name="Shape 189">
            <a:extLst>
              <a:ext uri="{FF2B5EF4-FFF2-40B4-BE49-F238E27FC236}">
                <a16:creationId xmlns:a16="http://schemas.microsoft.com/office/drawing/2014/main" id="{BF594720-CDB9-4F9C-D55F-C37D9227874A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18647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5" name="Google Shape;275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5" name="Google Shape;31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0371143B-AF2A-7623-D854-12A3B2D62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7066D226-24B7-BC71-4361-98BBF6A7F9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403AA4E9-1C75-7F56-9E19-2D69013E24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52084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2DDAC597-D030-64A6-0A47-EEC63BD82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B8CD389D-46FB-289A-EB11-D511F08FA7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C28CD24A-0F38-538A-3578-96EA050277E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223376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D68AFBC3-E639-97FD-9C1B-14A0F68AAF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BDCE861F-EC38-5E0C-D96D-9BAD17933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8242B0FD-DDEF-5637-2AFD-BE0B62EB8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27307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E53F2527-A7B8-7BD4-892E-21A96B74D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E6250051-C3D5-37C2-151D-4379D94478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C5C02F71-5C5D-5909-6966-84271EF5E0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7937095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B859295D-057F-CC79-5E45-074FDD49B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22C68B35-6FB0-5E9A-0C11-0B689996E1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BDF96FD5-7E2E-B0AA-B4F3-9395DBA44F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1380401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92D0EBF3-F326-70A4-5D17-7DCD994D0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60054FAC-9319-652E-109C-92303E6D69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25BDB7F3-BA1F-5070-0A75-C82911C462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29643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D99E49EE-5E49-35E9-F8F8-8BFFA62FC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F8C69FDF-23D6-E2FA-E122-D1413C050F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054E5297-9D8A-12D5-BC69-8CBACA49C0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133914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>
          <a:extLst>
            <a:ext uri="{FF2B5EF4-FFF2-40B4-BE49-F238E27FC236}">
              <a16:creationId xmlns:a16="http://schemas.microsoft.com/office/drawing/2014/main" id="{BF413744-7E22-E6E8-3E54-B3DE8CEED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8:notes">
            <a:extLst>
              <a:ext uri="{FF2B5EF4-FFF2-40B4-BE49-F238E27FC236}">
                <a16:creationId xmlns:a16="http://schemas.microsoft.com/office/drawing/2014/main" id="{6A0CCDE6-54AA-64CC-DD77-F6DC6D8C35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" name="Google Shape;307;p18:notes">
            <a:extLst>
              <a:ext uri="{FF2B5EF4-FFF2-40B4-BE49-F238E27FC236}">
                <a16:creationId xmlns:a16="http://schemas.microsoft.com/office/drawing/2014/main" id="{A88E6BB0-1EEF-A82D-E59B-858F23124E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513685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12589-B083-6788-C188-A7A86614E1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223450-674B-BC5C-6F86-2413C244DF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B0CED9-B1F4-757B-FF1C-CB55CB8E24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4BFC94-82B2-21A3-2575-27800619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882CC-D653-8816-84BD-1C5983F6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777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4A5D3-4475-D424-AAD2-A53CD1787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3D51B-2CA0-F2BB-7751-C45C80AF41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617ADD-A1A0-2F86-B8EA-0F6E6B904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A2B4A3-90D9-905A-D219-576A5991B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4D11B-ED22-AA1A-3798-1C316DF34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993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40C4F-A8C0-7FBF-7450-2ACA51CF3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A83313-51C9-8FCD-76A0-4E109458A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3B37CC-018A-DED7-E590-3816B68F0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BE3F1-093B-9CE7-664A-F0582969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85AFF1-6F9B-A45E-650D-3A0836CCC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8062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13BE1-F9AE-53CC-959C-34C16430A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9ECB1D-0500-8247-4526-8D2F0B52C0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D692D2-B90F-2BA6-C78A-203F0B917E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1FA438-6142-0B34-F3A6-70B8434375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16006F-557E-7017-240E-8A01385BA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73C9A0-31D6-4A5C-34F9-1C1F03EC1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143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7C02A-7DDC-74DF-0635-2CF18AF0F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3B7BEAC-52C7-85A4-F098-7758650FF8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2FA94-6D26-CCB7-4492-E2A8BFFB9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FEB920-7A8D-C959-E966-E8372DF430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CEABDC-105B-643A-405F-694566161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C3AA5A-00E4-3558-A4AB-13ECBF495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B8B891-C0DF-5409-0653-32F79254C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02BA0C-E4DD-E986-0553-D204185701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250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678B7-DDD7-A8BF-DD92-0C3EE893E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24A856-01F9-A7D0-F4A3-00A616DE5D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65035C-CE70-5B91-C83D-ECFDADD35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81D28A-A5DE-DE88-344C-F97F443A4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8265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09FA3-9E79-D445-3FEB-E7642CE9E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05E957-CFC3-430E-1B2C-F6039C01F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0E4514-0A61-DEF6-6A9B-0590AD82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1418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127A56-7D2D-3932-43C1-D346816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483E5-0268-4B7A-4645-7558A4A77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48B4-F672-6FFE-86D1-86286538B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2801C9-E5D7-9585-2BEE-0D1D1917C8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450128-4786-91A9-3120-12E0BCF18D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F3441C-EAF9-703B-E73F-2382E3E7B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808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ACEB4-0DC1-DEC8-58E7-87402B3F2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7C8914-103B-0FD6-F20C-87A81DDB1A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26F2DA9-3397-C342-6069-E5C9AC1B0D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AC0B1D-CEA0-7DFD-F38F-9D32902812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04E28A-6907-1FF5-EC06-429B4672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4AB370-1DBB-AF46-F8DB-7DC5EFFCC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849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47CD9-4481-08C2-4E88-1FB52F08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60CFAC1-4D7F-6198-0D9B-053218EABF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C6FC57-5135-D07A-49D2-963385733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54C60C-8258-822E-80A5-2E0D960200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5A1161-1882-2A70-0204-86955786D4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2872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89FA6-EACC-1D0F-2715-C3E6CBDD6B0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28C91-E497-8D50-85CD-2D350890CE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7D545-E3C6-5F58-11A4-9D653FBB4D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938AAD-8DB9-B119-33DB-0A54B9369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4BD58E-F881-2DCA-49F9-1D5B3B13EE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010124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ig F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35000" y="1953049"/>
            <a:ext cx="10922000" cy="2244303"/>
          </a:xfrm>
          <a:prstGeom prst="rect">
            <a:avLst/>
          </a:prstGeom>
        </p:spPr>
        <p:txBody>
          <a:bodyPr anchor="b"/>
          <a:lstStyle>
            <a:lvl1pPr marL="0" indent="0" algn="ctr" defTabSz="1219139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1200" spc="-224">
                <a:gradFill flip="none" rotWithShape="1">
                  <a:gsLst>
                    <a:gs pos="0">
                      <a:srgbClr val="1E98FD"/>
                    </a:gs>
                    <a:gs pos="100000">
                      <a:srgbClr val="FF00F7"/>
                    </a:gs>
                  </a:gsLst>
                  <a:lin ang="3960000" scaled="0"/>
                </a:gradFill>
                <a:latin typeface="+mn-lt"/>
                <a:ea typeface="+mn-ea"/>
                <a:cs typeface="+mn-cs"/>
                <a:sym typeface="Graphik Semibold"/>
              </a:defRPr>
            </a:lvl1pPr>
            <a:lvl2pPr marL="0" indent="228594" algn="ctr" defTabSz="1219139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1200" spc="-224">
                <a:gradFill flip="none" rotWithShape="1">
                  <a:gsLst>
                    <a:gs pos="0">
                      <a:srgbClr val="1E98FD"/>
                    </a:gs>
                    <a:gs pos="100000">
                      <a:srgbClr val="FF00F7"/>
                    </a:gs>
                  </a:gsLst>
                  <a:lin ang="3960000" scaled="0"/>
                </a:gradFill>
                <a:latin typeface="+mn-lt"/>
                <a:ea typeface="+mn-ea"/>
                <a:cs typeface="+mn-cs"/>
                <a:sym typeface="Graphik Semibold"/>
              </a:defRPr>
            </a:lvl2pPr>
            <a:lvl3pPr marL="0" indent="457189" algn="ctr" defTabSz="1219139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1200" spc="-224">
                <a:gradFill flip="none" rotWithShape="1">
                  <a:gsLst>
                    <a:gs pos="0">
                      <a:srgbClr val="1E98FD"/>
                    </a:gs>
                    <a:gs pos="100000">
                      <a:srgbClr val="FF00F7"/>
                    </a:gs>
                  </a:gsLst>
                  <a:lin ang="3960000" scaled="0"/>
                </a:gradFill>
                <a:latin typeface="+mn-lt"/>
                <a:ea typeface="+mn-ea"/>
                <a:cs typeface="+mn-cs"/>
                <a:sym typeface="Graphik Semibold"/>
              </a:defRPr>
            </a:lvl3pPr>
            <a:lvl4pPr marL="0" indent="685783" algn="ctr" defTabSz="1219139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1200" spc="-224">
                <a:gradFill flip="none" rotWithShape="1">
                  <a:gsLst>
                    <a:gs pos="0">
                      <a:srgbClr val="1E98FD"/>
                    </a:gs>
                    <a:gs pos="100000">
                      <a:srgbClr val="FF00F7"/>
                    </a:gs>
                  </a:gsLst>
                  <a:lin ang="3960000" scaled="0"/>
                </a:gradFill>
                <a:latin typeface="+mn-lt"/>
                <a:ea typeface="+mn-ea"/>
                <a:cs typeface="+mn-cs"/>
                <a:sym typeface="Graphik Semibold"/>
              </a:defRPr>
            </a:lvl4pPr>
            <a:lvl5pPr marL="0" indent="914377" algn="ctr" defTabSz="1219139">
              <a:lnSpc>
                <a:spcPct val="80000"/>
              </a:lnSpc>
              <a:spcBef>
                <a:spcPts val="0"/>
              </a:spcBef>
              <a:buClrTx/>
              <a:buSzTx/>
              <a:buNone/>
              <a:defRPr sz="11200" spc="-224">
                <a:gradFill flip="none" rotWithShape="1">
                  <a:gsLst>
                    <a:gs pos="0">
                      <a:srgbClr val="1E98FD"/>
                    </a:gs>
                    <a:gs pos="100000">
                      <a:srgbClr val="FF00F7"/>
                    </a:gs>
                  </a:gsLst>
                  <a:lin ang="3960000" scaled="0"/>
                </a:gradFill>
                <a:latin typeface="+mn-lt"/>
                <a:ea typeface="+mn-ea"/>
                <a:cs typeface="+mn-cs"/>
                <a:sym typeface="Graphik Semibold"/>
              </a:defRPr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Fact inform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35000" y="4260851"/>
            <a:ext cx="10922000" cy="508000"/>
          </a:xfrm>
          <a:prstGeom prst="rect">
            <a:avLst/>
          </a:prstGeom>
        </p:spPr>
        <p:txBody>
          <a:bodyPr/>
          <a:lstStyle>
            <a:lvl1pPr marL="0" indent="0" algn="ctr" defTabSz="412740">
              <a:spcBef>
                <a:spcPts val="0"/>
              </a:spcBef>
              <a:buClrTx/>
              <a:buSzTx/>
              <a:buNone/>
              <a:defRPr sz="2200">
                <a:latin typeface="Graphik Medium"/>
                <a:ea typeface="Graphik Medium"/>
                <a:cs typeface="Graphik Medium"/>
                <a:sym typeface="Graphik Medium"/>
              </a:defRPr>
            </a:lvl1pPr>
          </a:lstStyle>
          <a:p>
            <a:r>
              <a:t>Fact information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29556549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Body Level One…"/>
          <p:cNvSpPr txBox="1">
            <a:spLocks noGrp="1"/>
          </p:cNvSpPr>
          <p:nvPr>
            <p:ph type="body" idx="1" hasCustomPrompt="1"/>
          </p:nvPr>
        </p:nvSpPr>
        <p:spPr>
          <a:xfrm>
            <a:off x="635000" y="2134659"/>
            <a:ext cx="10922000" cy="4216400"/>
          </a:xfrm>
          <a:prstGeom prst="rect">
            <a:avLst/>
          </a:prstGeom>
        </p:spPr>
        <p:txBody>
          <a:bodyPr numCol="2" spcCol="1092200"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64501420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801D69-C640-402D-B659-678786479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26F774-07B9-DC88-0065-CFA51AA316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7852D-D2ED-1C67-12EC-67F0CDBB24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9551AF-0EE3-DD4B-B4EF-6D8229EA0D86}" type="datetimeFigureOut">
              <a:rPr lang="en-US" smtClean="0"/>
              <a:t>4/29/26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E3605C-394F-93D0-F2F5-4E9AA54A0D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7B3A10-224E-8E0B-3F27-9E12375E1A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A31FBD-AA74-B940-BEBB-75DDFD0DC0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3135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1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5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1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1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5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1;p14" descr="image.png">
            <a:extLst>
              <a:ext uri="{FF2B5EF4-FFF2-40B4-BE49-F238E27FC236}">
                <a16:creationId xmlns:a16="http://schemas.microsoft.com/office/drawing/2014/main" id="{D1224FB2-3E94-8444-0BDC-545AA34E030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2FD6A52-E683-94FB-5FDE-93AF163BA9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84325"/>
            <a:ext cx="9144000" cy="23876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Mobile and Embedded Computing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D421A2-2714-CF24-E8C4-734EB67EC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9875"/>
            <a:ext cx="9144000" cy="1655762"/>
          </a:xfrm>
        </p:spPr>
        <p:txBody>
          <a:bodyPr/>
          <a:lstStyle/>
          <a:p>
            <a:r>
              <a:rPr lang="en-US" b="1" dirty="0">
                <a:solidFill>
                  <a:schemeClr val="bg1"/>
                </a:solidFill>
              </a:rPr>
              <a:t>Lecture 6. </a:t>
            </a:r>
            <a:r>
              <a:rPr lang="en-US" dirty="0">
                <a:solidFill>
                  <a:schemeClr val="bg1"/>
                </a:solidFill>
              </a:rPr>
              <a:t>Flutter Packages, Feature Flags</a:t>
            </a:r>
            <a:r>
              <a:rPr lang="en-US" b="1" dirty="0">
                <a:solidFill>
                  <a:schemeClr val="bg1"/>
                </a:solidFill>
              </a:rPr>
              <a:t>, </a:t>
            </a:r>
            <a:r>
              <a:rPr lang="en-US" dirty="0" err="1">
                <a:solidFill>
                  <a:schemeClr val="bg1"/>
                </a:solidFill>
              </a:rPr>
              <a:t>GraphQL</a:t>
            </a:r>
            <a:r>
              <a:rPr lang="en-US" dirty="0">
                <a:solidFill>
                  <a:schemeClr val="bg1"/>
                </a:solidFill>
              </a:rPr>
              <a:t> &amp; REST, Observability for Mobile applications (Events, Crashlytics, Performance Monitoring)</a:t>
            </a:r>
          </a:p>
          <a:p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10448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13ACE-CB4E-7476-6A6B-B03E3DA6D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Branches">
            <a:extLst>
              <a:ext uri="{FF2B5EF4-FFF2-40B4-BE49-F238E27FC236}">
                <a16:creationId xmlns:a16="http://schemas.microsoft.com/office/drawing/2014/main" id="{F18ECACA-FAD5-2024-ED46-52FF662B9ED4}"/>
              </a:ext>
            </a:extLst>
          </p:cNvPr>
          <p:cNvSpPr txBox="1">
            <a:spLocks noGrp="1"/>
          </p:cNvSpPr>
          <p:nvPr>
            <p:ph type="body" sz="half" idx="1"/>
          </p:nvPr>
        </p:nvSpPr>
        <p:spPr>
          <a:xfrm>
            <a:off x="635000" y="2484140"/>
            <a:ext cx="10922000" cy="1889720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Flutter Packages</a:t>
            </a:r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9315430"/>
      </p:ext>
    </p:extLst>
  </p:cSld>
  <p:clrMapOvr>
    <a:masterClrMapping/>
  </p:clrMapOvr>
  <p:transition spd="med">
    <p:cov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F9177-B5A4-0680-8F83-0B0F71787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B82929-54FD-7357-89C9-B9A1D40F9C11}"/>
              </a:ext>
            </a:extLst>
          </p:cNvPr>
          <p:cNvSpPr txBox="1"/>
          <p:nvPr/>
        </p:nvSpPr>
        <p:spPr>
          <a:xfrm>
            <a:off x="1216352" y="1731949"/>
            <a:ext cx="52072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1. You may search for packages on https://</a:t>
            </a:r>
            <a:r>
              <a:rPr lang="en-US" sz="2400" dirty="0" err="1"/>
              <a:t>pub.dev</a:t>
            </a:r>
            <a:r>
              <a:rPr lang="en-US" sz="2400" dirty="0"/>
              <a:t>/packages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D085525-E7B7-9558-5EE9-8BC6F682A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385" y="372746"/>
            <a:ext cx="5306939" cy="305625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D6562D8-6958-2E5F-530D-27F8A434A0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7981" y="2810632"/>
            <a:ext cx="4389636" cy="370553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695DA0-2A9B-9922-B1EF-D3B4875A6DFD}"/>
              </a:ext>
            </a:extLst>
          </p:cNvPr>
          <p:cNvSpPr txBox="1"/>
          <p:nvPr/>
        </p:nvSpPr>
        <p:spPr>
          <a:xfrm>
            <a:off x="6423590" y="4604435"/>
            <a:ext cx="520723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2. When viewing the page of a package you have multiple sections showing you examples on how to use it as well as what commands to run to get it installed</a:t>
            </a:r>
          </a:p>
        </p:txBody>
      </p:sp>
    </p:spTree>
    <p:extLst>
      <p:ext uri="{BB962C8B-B14F-4D97-AF65-F5344CB8AC3E}">
        <p14:creationId xmlns:p14="http://schemas.microsoft.com/office/powerpoint/2010/main" val="3672657836"/>
      </p:ext>
    </p:extLst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940E-5D18-B0F4-3BE4-B3AB0F1BA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626F38-2F4C-835F-A241-D32E3B273BD4}"/>
              </a:ext>
            </a:extLst>
          </p:cNvPr>
          <p:cNvSpPr txBox="1"/>
          <p:nvPr/>
        </p:nvSpPr>
        <p:spPr>
          <a:xfrm>
            <a:off x="1216352" y="1731948"/>
            <a:ext cx="483263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1. After adding a package, make sure to run flutter pub get (which will download it and make it available for you to use in your project)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A963EA-8C64-2067-D136-84A81F5B05D5}"/>
              </a:ext>
            </a:extLst>
          </p:cNvPr>
          <p:cNvSpPr txBox="1"/>
          <p:nvPr/>
        </p:nvSpPr>
        <p:spPr>
          <a:xfrm>
            <a:off x="6555192" y="4792498"/>
            <a:ext cx="52072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2. To update packages, you can use the flutter pub upgrade command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BEC6EE3-050C-8EBA-22BC-E187ADE68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8985" y="247401"/>
            <a:ext cx="5956447" cy="40123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F4102AF-1274-0F9E-B537-70CF4A1DB4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1174" y="3992916"/>
            <a:ext cx="5751017" cy="229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305961"/>
      </p:ext>
    </p:extLst>
  </p:cSld>
  <p:clrMapOvr>
    <a:masterClrMapping/>
  </p:clrMapOvr>
  <p:transition spd="med">
    <p:cov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63C7CC-1D02-F306-B14B-B44A0F1B8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03E4DC6-D2DC-8A99-C82D-AC2C543D2E70}"/>
              </a:ext>
            </a:extLst>
          </p:cNvPr>
          <p:cNvSpPr txBox="1"/>
          <p:nvPr/>
        </p:nvSpPr>
        <p:spPr>
          <a:xfrm>
            <a:off x="1263368" y="3013501"/>
            <a:ext cx="48326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400" dirty="0"/>
              <a:t>App dependencies</a:t>
            </a:r>
          </a:p>
          <a:p>
            <a:pPr marL="457200" indent="-457200">
              <a:buAutoNum type="arabicPeriod"/>
            </a:pPr>
            <a:r>
              <a:rPr lang="en-US" sz="2400" dirty="0"/>
              <a:t>Dev dependencies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DE19A5D-4491-C018-0387-060182FD7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0253" y="1527601"/>
            <a:ext cx="3251200" cy="14859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65C2F1-20D9-ABB9-A73C-6E964B29C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0253" y="3428999"/>
            <a:ext cx="3530600" cy="33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805973"/>
      </p:ext>
    </p:extLst>
  </p:cSld>
  <p:clrMapOvr>
    <a:masterClrMapping/>
  </p:clrMapOvr>
  <p:transition spd="med">
    <p:cov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6079F-CF15-1EBA-B9A1-E51B04EAC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8BF712C-114F-F30A-EFD0-B4AC9E5F9B91}"/>
              </a:ext>
            </a:extLst>
          </p:cNvPr>
          <p:cNvSpPr txBox="1"/>
          <p:nvPr/>
        </p:nvSpPr>
        <p:spPr>
          <a:xfrm>
            <a:off x="1263368" y="3013501"/>
            <a:ext cx="4832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pubspec.lock</a:t>
            </a:r>
            <a:endParaRPr lang="en-US" sz="24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4029234-7410-B5B4-C396-0EFB81D71E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6989" y="0"/>
            <a:ext cx="76550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266148"/>
      </p:ext>
    </p:extLst>
  </p:cSld>
  <p:clrMapOvr>
    <a:masterClrMapping/>
  </p:clrMapOvr>
  <p:transition spd="med">
    <p:cov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CC5AB0-3106-4F86-7A2E-B0B1BB06E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Branches">
            <a:extLst>
              <a:ext uri="{FF2B5EF4-FFF2-40B4-BE49-F238E27FC236}">
                <a16:creationId xmlns:a16="http://schemas.microsoft.com/office/drawing/2014/main" id="{7B39330F-F6B4-21BF-79B3-C4B6CAF5AC5D}"/>
              </a:ext>
            </a:extLst>
          </p:cNvPr>
          <p:cNvSpPr txBox="1">
            <a:spLocks noGrp="1"/>
          </p:cNvSpPr>
          <p:nvPr>
            <p:ph type="body" sz="half" idx="1"/>
          </p:nvPr>
        </p:nvSpPr>
        <p:spPr>
          <a:xfrm>
            <a:off x="635000" y="2484140"/>
            <a:ext cx="10922000" cy="1889720"/>
          </a:xfrm>
          <a:prstGeom prst="rect">
            <a:avLst/>
          </a:prstGeom>
        </p:spPr>
        <p:txBody>
          <a:bodyPr/>
          <a:lstStyle/>
          <a:p>
            <a:r>
              <a:rPr lang="en-US" dirty="0">
                <a:solidFill>
                  <a:schemeClr val="tx1"/>
                </a:solidFill>
              </a:rPr>
              <a:t>Feature flags</a:t>
            </a:r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599130"/>
      </p:ext>
    </p:extLst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32412-FB43-6B28-BC52-23DBC0955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92C15D9-706E-265D-5B8D-A2FE501AD7D3}"/>
              </a:ext>
            </a:extLst>
          </p:cNvPr>
          <p:cNvSpPr txBox="1"/>
          <p:nvPr/>
        </p:nvSpPr>
        <p:spPr>
          <a:xfrm>
            <a:off x="536708" y="2967335"/>
            <a:ext cx="4832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Staged rollouts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6EE4ED-7DB0-F83A-B113-6887F906CD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300" y="38100"/>
            <a:ext cx="5346700" cy="67818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C94F4E-1953-9989-9391-C675C7E58083}"/>
              </a:ext>
            </a:extLst>
          </p:cNvPr>
          <p:cNvSpPr txBox="1"/>
          <p:nvPr/>
        </p:nvSpPr>
        <p:spPr>
          <a:xfrm>
            <a:off x="536708" y="3670205"/>
            <a:ext cx="617528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 don’t all get the update at once</a:t>
            </a:r>
          </a:p>
          <a:p>
            <a:r>
              <a:rPr lang="en-US" dirty="0"/>
              <a:t>A subset of users receives the new version first</a:t>
            </a:r>
          </a:p>
          <a:p>
            <a:r>
              <a:rPr lang="en-US" dirty="0"/>
              <a:t>Others continue seeing the old version</a:t>
            </a:r>
          </a:p>
          <a:p>
            <a:r>
              <a:rPr lang="en-US" dirty="0"/>
              <a:t>Gradually, more users are included until everyone is updated</a:t>
            </a:r>
          </a:p>
        </p:txBody>
      </p:sp>
    </p:spTree>
    <p:extLst>
      <p:ext uri="{BB962C8B-B14F-4D97-AF65-F5344CB8AC3E}">
        <p14:creationId xmlns:p14="http://schemas.microsoft.com/office/powerpoint/2010/main" val="86826939"/>
      </p:ext>
    </p:extLst>
  </p:cSld>
  <p:clrMapOvr>
    <a:masterClrMapping/>
  </p:clrMapOvr>
  <p:transition spd="med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2B351-2C6F-E7DB-B47E-D7E880DF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2267B2-41FE-EF7F-8CE7-6C19460A9B40}"/>
              </a:ext>
            </a:extLst>
          </p:cNvPr>
          <p:cNvSpPr txBox="1"/>
          <p:nvPr/>
        </p:nvSpPr>
        <p:spPr>
          <a:xfrm>
            <a:off x="515222" y="2395984"/>
            <a:ext cx="48326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Feature flags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2FF23AB-8FA8-2333-E4D4-160F53BB49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778" y="1473200"/>
            <a:ext cx="4572000" cy="391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74B3E02-95E4-9B6D-5BD0-0ED798140682}"/>
              </a:ext>
            </a:extLst>
          </p:cNvPr>
          <p:cNvSpPr txBox="1"/>
          <p:nvPr/>
        </p:nvSpPr>
        <p:spPr>
          <a:xfrm>
            <a:off x="515222" y="3012957"/>
            <a:ext cx="604806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user just opens the app</a:t>
            </a:r>
          </a:p>
          <a:p>
            <a:r>
              <a:rPr lang="en-US" dirty="0"/>
              <a:t>The app makes a simple yes/no decision behind the scenes</a:t>
            </a:r>
          </a:p>
          <a:p>
            <a:r>
              <a:rPr lang="en-US" dirty="0"/>
              <a:t>Based on that:</a:t>
            </a:r>
          </a:p>
          <a:p>
            <a:r>
              <a:rPr lang="en-US" dirty="0"/>
              <a:t>	Some users see the new feature</a:t>
            </a:r>
          </a:p>
          <a:p>
            <a:r>
              <a:rPr lang="en-US" dirty="0"/>
              <a:t>	Others see the old version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231847"/>
      </p:ext>
    </p:extLst>
  </p:cSld>
  <p:clrMapOvr>
    <a:masterClrMapping/>
  </p:clrMapOvr>
  <p:transition spd="med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20E60-0CCA-6919-1CE1-0EB341C81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Branches">
            <a:extLst>
              <a:ext uri="{FF2B5EF4-FFF2-40B4-BE49-F238E27FC236}">
                <a16:creationId xmlns:a16="http://schemas.microsoft.com/office/drawing/2014/main" id="{0DD3547A-D727-BDCB-8C6B-FD0397513B72}"/>
              </a:ext>
            </a:extLst>
          </p:cNvPr>
          <p:cNvSpPr txBox="1">
            <a:spLocks noGrp="1"/>
          </p:cNvSpPr>
          <p:nvPr>
            <p:ph type="body" sz="half" idx="1"/>
          </p:nvPr>
        </p:nvSpPr>
        <p:spPr>
          <a:xfrm>
            <a:off x="635000" y="2484140"/>
            <a:ext cx="10922000" cy="1889720"/>
          </a:xfrm>
          <a:prstGeom prst="rect">
            <a:avLst/>
          </a:prstGeom>
        </p:spPr>
        <p:txBody>
          <a:bodyPr>
            <a:normAutofit fontScale="92500"/>
          </a:bodyPr>
          <a:lstStyle/>
          <a:p>
            <a:r>
              <a:rPr lang="en-US" dirty="0">
                <a:solidFill>
                  <a:schemeClr val="tx1"/>
                </a:solidFill>
              </a:rPr>
              <a:t>Releasing to stores</a:t>
            </a:r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28892467"/>
      </p:ext>
    </p:extLst>
  </p:cSld>
  <p:clrMapOvr>
    <a:masterClrMapping/>
  </p:clrMapOvr>
  <p:transition spd="med">
    <p:cover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941" y="47989"/>
            <a:ext cx="10951079" cy="6807427"/>
          </a:xfrm>
          <a:prstGeom prst="rect">
            <a:avLst/>
          </a:prstGeom>
          <a:ln w="12700">
            <a:miter lim="400000"/>
          </a:ln>
        </p:spPr>
      </p:pic>
      <p:pic>
        <p:nvPicPr>
          <p:cNvPr id="278" name="codingshadows-logo.png" descr="codingshadows-logo.png"/>
          <p:cNvPicPr>
            <a:picLocks noChangeAspect="1"/>
          </p:cNvPicPr>
          <p:nvPr/>
        </p:nvPicPr>
        <p:blipFill>
          <a:blip r:embed="rId3">
            <a:alphaModFix amt="40000"/>
          </a:blip>
          <a:stretch>
            <a:fillRect/>
          </a:stretch>
        </p:blipFill>
        <p:spPr>
          <a:xfrm>
            <a:off x="9838650" y="5465031"/>
            <a:ext cx="2301389" cy="230139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codingshadows-logo.png" descr="codingshadows-logo.png"/>
          <p:cNvPicPr>
            <a:picLocks noChangeAspect="1"/>
          </p:cNvPicPr>
          <p:nvPr/>
        </p:nvPicPr>
        <p:blipFill>
          <a:blip r:embed="rId2">
            <a:alphaModFix amt="40000"/>
          </a:blip>
          <a:stretch>
            <a:fillRect/>
          </a:stretch>
        </p:blipFill>
        <p:spPr>
          <a:xfrm>
            <a:off x="9838650" y="5465031"/>
            <a:ext cx="2301389" cy="2301391"/>
          </a:xfrm>
          <a:prstGeom prst="rect">
            <a:avLst/>
          </a:prstGeom>
          <a:ln w="12700">
            <a:miter lim="400000"/>
          </a:ln>
        </p:spPr>
      </p:pic>
      <p:pic>
        <p:nvPicPr>
          <p:cNvPr id="227" name="pasted-movie.png" descr="pasted-mov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775" y="1457326"/>
            <a:ext cx="11728451" cy="3943351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>
        <p:cover/>
      </p:transition>
    </mc:Choice>
    <mc:Fallback xmlns="" xmlns:m="http://schemas.openxmlformats.org/officeDocument/2006/math" xmlns:a14="http://schemas.microsoft.com/office/drawing/2010/main">
      <p:transition spd="fast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4"/>
          <p:cNvSpPr txBox="1"/>
          <p:nvPr/>
        </p:nvSpPr>
        <p:spPr>
          <a:xfrm>
            <a:off x="5033157" y="2429066"/>
            <a:ext cx="2125683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Section 1</a:t>
            </a:r>
            <a:endParaRPr dirty="0"/>
          </a:p>
        </p:txBody>
      </p:sp>
      <p:sp>
        <p:nvSpPr>
          <p:cNvPr id="93" name="Google Shape;93;p14"/>
          <p:cNvSpPr/>
          <p:nvPr/>
        </p:nvSpPr>
        <p:spPr>
          <a:xfrm>
            <a:off x="5619749" y="3024375"/>
            <a:ext cx="952500" cy="476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1860470" y="3214687"/>
            <a:ext cx="847105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9FAFB"/>
                </a:solidFill>
                <a:latin typeface="Poppins"/>
                <a:ea typeface="Poppins"/>
                <a:cs typeface="Poppins"/>
                <a:sym typeface="Poppins"/>
              </a:rPr>
              <a:t>Mobile API Communication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5"/>
          <p:cNvSpPr txBox="1"/>
          <p:nvPr/>
        </p:nvSpPr>
        <p:spPr>
          <a:xfrm>
            <a:off x="1714500" y="2861485"/>
            <a:ext cx="9144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Data Source:</a:t>
            </a:r>
            <a:r>
              <a:rPr lang="en-US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Apps are often containers; the data lives on remote servers.</a:t>
            </a:r>
            <a:endParaRPr dirty="0"/>
          </a:p>
        </p:txBody>
      </p:sp>
      <p:sp>
        <p:nvSpPr>
          <p:cNvPr id="102" name="Google Shape;102;p15"/>
          <p:cNvSpPr txBox="1"/>
          <p:nvPr/>
        </p:nvSpPr>
        <p:spPr>
          <a:xfrm>
            <a:off x="1714500" y="3356785"/>
            <a:ext cx="9144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 dirty="0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Functionality:</a:t>
            </a:r>
            <a:r>
              <a:rPr lang="en-US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Enable complex features like login, payments, and social feeds.</a:t>
            </a:r>
            <a:endParaRPr dirty="0"/>
          </a:p>
        </p:txBody>
      </p:sp>
      <p:sp>
        <p:nvSpPr>
          <p:cNvPr id="103" name="Google Shape;103;p15"/>
          <p:cNvSpPr txBox="1"/>
          <p:nvPr/>
        </p:nvSpPr>
        <p:spPr>
          <a:xfrm>
            <a:off x="1714500" y="3852085"/>
            <a:ext cx="9144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Synchronization:</a:t>
            </a:r>
            <a:r>
              <a:rPr lang="en-US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Keep user data consistent across multiple devices (phone, tablet, web).</a:t>
            </a:r>
            <a:endParaRPr/>
          </a:p>
        </p:txBody>
      </p:sp>
      <p:sp>
        <p:nvSpPr>
          <p:cNvPr id="104" name="Google Shape;104;p15"/>
          <p:cNvSpPr txBox="1"/>
          <p:nvPr/>
        </p:nvSpPr>
        <p:spPr>
          <a:xfrm>
            <a:off x="1714500" y="4347385"/>
            <a:ext cx="9144000" cy="415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Separation of Concerns:</a:t>
            </a:r>
            <a:r>
              <a:rPr lang="en-US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Decouples the client (app) from the backend (server).</a:t>
            </a:r>
            <a:endParaRPr/>
          </a:p>
        </p:txBody>
      </p:sp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962275"/>
            <a:ext cx="2000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3457575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95287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500" y="4448175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Why APIs are Critical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47900"/>
            <a:ext cx="5286375" cy="331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47900"/>
            <a:ext cx="5286375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6"/>
          <p:cNvSpPr txBox="1"/>
          <p:nvPr/>
        </p:nvSpPr>
        <p:spPr>
          <a:xfrm>
            <a:off x="962025" y="2638425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Architecture</a:t>
            </a: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962025" y="3286125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RE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presentational </a:t>
            </a:r>
            <a:r>
              <a:rPr lang="en-US" sz="135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tate </a:t>
            </a:r>
            <a:r>
              <a:rPr lang="en-US" sz="135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ransfer. A stateless, client-server architectural style.</a:t>
            </a:r>
            <a:endParaRPr/>
          </a:p>
        </p:txBody>
      </p:sp>
      <p:sp>
        <p:nvSpPr>
          <p:cNvPr id="119" name="Google Shape;119;p16"/>
          <p:cNvSpPr txBox="1"/>
          <p:nvPr/>
        </p:nvSpPr>
        <p:spPr>
          <a:xfrm>
            <a:off x="962025" y="3971925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It is not a protocol, but a set of constraints.</a:t>
            </a:r>
            <a:endParaRPr/>
          </a:p>
        </p:txBody>
      </p:sp>
      <p:sp>
        <p:nvSpPr>
          <p:cNvPr id="120" name="Google Shape;120;p16"/>
          <p:cNvSpPr txBox="1"/>
          <p:nvPr/>
        </p:nvSpPr>
        <p:spPr>
          <a:xfrm>
            <a:off x="6724650" y="2638425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Core Concepts</a:t>
            </a: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6724650" y="3286125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Uses standard HTTP methods to act on "Resources" identified by URLs.</a:t>
            </a:r>
            <a:endParaRPr/>
          </a:p>
        </p:txBody>
      </p:sp>
      <p:sp>
        <p:nvSpPr>
          <p:cNvPr id="122" name="Google Shape;122;p16"/>
          <p:cNvSpPr txBox="1"/>
          <p:nvPr/>
        </p:nvSpPr>
        <p:spPr>
          <a:xfrm>
            <a:off x="6724650" y="3971925"/>
            <a:ext cx="4505325" cy="10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GET /users/123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POST /users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PUT /users/123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DELETE /users/123</a:t>
            </a:r>
            <a:endParaRPr/>
          </a:p>
        </p:txBody>
      </p:sp>
      <p:sp>
        <p:nvSpPr>
          <p:cNvPr id="123" name="Google Shape;123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REST API Fundamentals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128837"/>
            <a:ext cx="5334000" cy="3552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0" name="Google Shape;130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286500" y="2128837"/>
            <a:ext cx="5334000" cy="3552825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7"/>
          <p:cNvSpPr txBox="1"/>
          <p:nvPr/>
        </p:nvSpPr>
        <p:spPr>
          <a:xfrm>
            <a:off x="2908458" y="3138487"/>
            <a:ext cx="660082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Pros</a:t>
            </a:r>
            <a:endParaRPr/>
          </a:p>
        </p:txBody>
      </p:sp>
      <p:sp>
        <p:nvSpPr>
          <p:cNvPr id="132" name="Google Shape;132;p17"/>
          <p:cNvSpPr txBox="1"/>
          <p:nvPr/>
        </p:nvSpPr>
        <p:spPr>
          <a:xfrm>
            <a:off x="1190625" y="3910012"/>
            <a:ext cx="4514850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Simplicity: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Easy to understand, built on standard HTTP.</a:t>
            </a:r>
            <a:endParaRPr dirty="0"/>
          </a:p>
        </p:txBody>
      </p:sp>
      <p:sp>
        <p:nvSpPr>
          <p:cNvPr id="133" name="Google Shape;133;p17"/>
          <p:cNvSpPr txBox="1"/>
          <p:nvPr/>
        </p:nvSpPr>
        <p:spPr>
          <a:xfrm>
            <a:off x="1190625" y="4449525"/>
            <a:ext cx="4210493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Caching: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Standard HTTP caching is effective.</a:t>
            </a:r>
            <a:endParaRPr dirty="0"/>
          </a:p>
        </p:txBody>
      </p:sp>
      <p:sp>
        <p:nvSpPr>
          <p:cNvPr id="134" name="Google Shape;134;p17"/>
          <p:cNvSpPr txBox="1"/>
          <p:nvPr/>
        </p:nvSpPr>
        <p:spPr>
          <a:xfrm>
            <a:off x="1190625" y="4957762"/>
            <a:ext cx="4348938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Mature: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Decades of tooling and support.</a:t>
            </a:r>
            <a:endParaRPr dirty="0"/>
          </a:p>
        </p:txBody>
      </p:sp>
      <p:sp>
        <p:nvSpPr>
          <p:cNvPr id="135" name="Google Shape;135;p17"/>
          <p:cNvSpPr txBox="1"/>
          <p:nvPr/>
        </p:nvSpPr>
        <p:spPr>
          <a:xfrm>
            <a:off x="8548449" y="3138487"/>
            <a:ext cx="81010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Cons</a:t>
            </a:r>
            <a:endParaRPr/>
          </a:p>
        </p:txBody>
      </p:sp>
      <p:sp>
        <p:nvSpPr>
          <p:cNvPr id="136" name="Google Shape;136;p17"/>
          <p:cNvSpPr txBox="1"/>
          <p:nvPr/>
        </p:nvSpPr>
        <p:spPr>
          <a:xfrm>
            <a:off x="6724649" y="3917875"/>
            <a:ext cx="4457700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Over-fetching: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Getting more data than the screen needs.</a:t>
            </a:r>
            <a:endParaRPr dirty="0"/>
          </a:p>
        </p:txBody>
      </p:sp>
      <p:sp>
        <p:nvSpPr>
          <p:cNvPr id="137" name="Google Shape;137;p17"/>
          <p:cNvSpPr txBox="1"/>
          <p:nvPr/>
        </p:nvSpPr>
        <p:spPr>
          <a:xfrm>
            <a:off x="6581775" y="4433887"/>
            <a:ext cx="4743450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Under-fetching:</a:t>
            </a:r>
            <a:r>
              <a:rPr lang="en-US" sz="13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Needing multiple API calls for one screen (e.g., user + posts).</a:t>
            </a:r>
            <a:endParaRPr dirty="0"/>
          </a:p>
        </p:txBody>
      </p:sp>
      <p:pic>
        <p:nvPicPr>
          <p:cNvPr id="138" name="Google Shape;138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009900" y="24431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724900" y="24431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REST in Mobile: Pros &amp; Cons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8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Introduction to GraphQL</a:t>
            </a:r>
            <a:endParaRPr/>
          </a:p>
        </p:txBody>
      </p:sp>
      <p:pic>
        <p:nvPicPr>
          <p:cNvPr id="147" name="Google Shape;14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18"/>
          <p:cNvSpPr txBox="1"/>
          <p:nvPr/>
        </p:nvSpPr>
        <p:spPr>
          <a:xfrm>
            <a:off x="571500" y="1695450"/>
            <a:ext cx="5286375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 </a:t>
            </a:r>
            <a:r>
              <a:rPr lang="en-US" sz="2400" b="1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query language</a:t>
            </a: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for your API, not an architecture. Developed by Facebook to solve mobile data-fetching issues.</a:t>
            </a:r>
            <a:endParaRPr sz="2400" dirty="0"/>
          </a:p>
        </p:txBody>
      </p:sp>
      <p:sp>
        <p:nvSpPr>
          <p:cNvPr id="149" name="Google Shape;149;p18"/>
          <p:cNvSpPr txBox="1"/>
          <p:nvPr/>
        </p:nvSpPr>
        <p:spPr>
          <a:xfrm>
            <a:off x="571499" y="4020693"/>
            <a:ext cx="5286375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Allows the client to ask for </a:t>
            </a:r>
            <a:r>
              <a:rPr lang="en-US" sz="2400" b="0" i="1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exactly</a:t>
            </a: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what it needs and get </a:t>
            </a:r>
            <a:r>
              <a:rPr lang="en-US" sz="2400" b="0" i="1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exactly</a:t>
            </a:r>
            <a:r>
              <a:rPr lang="en-US" sz="24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that in a single request.</a:t>
            </a:r>
            <a:endParaRPr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19"/>
          <p:cNvSpPr txBox="1"/>
          <p:nvPr/>
        </p:nvSpPr>
        <p:spPr>
          <a:xfrm>
            <a:off x="1630918" y="3405187"/>
            <a:ext cx="131016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Schema</a:t>
            </a:r>
            <a:endParaRPr/>
          </a:p>
        </p:txBody>
      </p:sp>
      <p:sp>
        <p:nvSpPr>
          <p:cNvPr id="159" name="Google Shape;159;p19"/>
          <p:cNvSpPr txBox="1"/>
          <p:nvPr/>
        </p:nvSpPr>
        <p:spPr>
          <a:xfrm>
            <a:off x="86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The "contract." A strongly-typed definition of all data available on the API (types, fields, relationships).</a:t>
            </a:r>
            <a:endParaRPr/>
          </a:p>
        </p:txBody>
      </p:sp>
      <p:sp>
        <p:nvSpPr>
          <p:cNvPr id="160" name="Google Shape;160;p19"/>
          <p:cNvSpPr txBox="1"/>
          <p:nvPr/>
        </p:nvSpPr>
        <p:spPr>
          <a:xfrm>
            <a:off x="5635942" y="3405187"/>
            <a:ext cx="92011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Query</a:t>
            </a:r>
            <a:endParaRPr/>
          </a:p>
        </p:txBody>
      </p:sp>
      <p:sp>
        <p:nvSpPr>
          <p:cNvPr id="161" name="Google Shape;161;p19"/>
          <p:cNvSpPr txBox="1"/>
          <p:nvPr/>
        </p:nvSpPr>
        <p:spPr>
          <a:xfrm>
            <a:off x="467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 read-only operation to fetch data. The query's shape mirrors the JSON response's shape.</a:t>
            </a:r>
            <a:endParaRPr/>
          </a:p>
        </p:txBody>
      </p:sp>
      <p:sp>
        <p:nvSpPr>
          <p:cNvPr id="162" name="Google Shape;162;p19"/>
          <p:cNvSpPr txBox="1"/>
          <p:nvPr/>
        </p:nvSpPr>
        <p:spPr>
          <a:xfrm>
            <a:off x="9205912" y="3405187"/>
            <a:ext cx="140017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Mutation</a:t>
            </a:r>
            <a:endParaRPr/>
          </a:p>
        </p:txBody>
      </p:sp>
      <p:sp>
        <p:nvSpPr>
          <p:cNvPr id="163" name="Google Shape;163;p19"/>
          <p:cNvSpPr txBox="1"/>
          <p:nvPr/>
        </p:nvSpPr>
        <p:spPr>
          <a:xfrm>
            <a:off x="848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 write operation to modify data (create, update, delete). Defined in the schema just like queries.</a:t>
            </a:r>
            <a:endParaRPr/>
          </a:p>
        </p:txBody>
      </p:sp>
      <p:pic>
        <p:nvPicPr>
          <p:cNvPr id="164" name="Google Shape;164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14550" y="2709862"/>
            <a:ext cx="3429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GraphQL Core Concepts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173" name="Google Shape;173;p20"/>
          <p:cNvGraphicFramePr/>
          <p:nvPr/>
        </p:nvGraphicFramePr>
        <p:xfrm>
          <a:off x="571500" y="2266950"/>
          <a:ext cx="11049000" cy="327660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1863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7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14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06B6D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06B6D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REST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1" i="0" u="none" strike="noStrike" cap="none">
                          <a:solidFill>
                            <a:srgbClr val="06B6D4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GraphQL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Endpoint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Multiple endpoints (/users, /posts)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Single endpoint (e.g., /graphql)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 Fetching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Fixed data structure (defined by server)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Flexible data shape (defined by client)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Data Shape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Prone to over/under-fetching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Precise data in one request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Schema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Loosely defined (e.g., OpenAPI)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Strongly typed (Schema Definition Language)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610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Protocol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Uses all HTTP verbs (GET, POST, PUT...)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0" i="0" u="none" strike="noStrike" cap="none">
                          <a:solidFill>
                            <a:srgbClr val="E5E7EB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Typically uses POST for all operations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4" name="Google Shape;174;p20"/>
          <p:cNvSpPr/>
          <p:nvPr/>
        </p:nvSpPr>
        <p:spPr>
          <a:xfrm>
            <a:off x="571500" y="2824162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0"/>
          <p:cNvSpPr/>
          <p:nvPr/>
        </p:nvSpPr>
        <p:spPr>
          <a:xfrm>
            <a:off x="2435423" y="2824162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20"/>
          <p:cNvSpPr/>
          <p:nvPr/>
        </p:nvSpPr>
        <p:spPr>
          <a:xfrm>
            <a:off x="6906220" y="2824162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0"/>
          <p:cNvSpPr/>
          <p:nvPr/>
        </p:nvSpPr>
        <p:spPr>
          <a:xfrm>
            <a:off x="571500" y="3367087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20"/>
          <p:cNvSpPr/>
          <p:nvPr/>
        </p:nvSpPr>
        <p:spPr>
          <a:xfrm>
            <a:off x="2435423" y="3367087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20"/>
          <p:cNvSpPr/>
          <p:nvPr/>
        </p:nvSpPr>
        <p:spPr>
          <a:xfrm>
            <a:off x="6906220" y="3367087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0"/>
          <p:cNvSpPr/>
          <p:nvPr/>
        </p:nvSpPr>
        <p:spPr>
          <a:xfrm>
            <a:off x="571500" y="3910012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0"/>
          <p:cNvSpPr/>
          <p:nvPr/>
        </p:nvSpPr>
        <p:spPr>
          <a:xfrm>
            <a:off x="2435423" y="3910012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20"/>
          <p:cNvSpPr/>
          <p:nvPr/>
        </p:nvSpPr>
        <p:spPr>
          <a:xfrm>
            <a:off x="6906220" y="3910012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0"/>
          <p:cNvSpPr/>
          <p:nvPr/>
        </p:nvSpPr>
        <p:spPr>
          <a:xfrm>
            <a:off x="571500" y="4452937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0"/>
          <p:cNvSpPr/>
          <p:nvPr/>
        </p:nvSpPr>
        <p:spPr>
          <a:xfrm>
            <a:off x="2435423" y="4452937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0"/>
          <p:cNvSpPr/>
          <p:nvPr/>
        </p:nvSpPr>
        <p:spPr>
          <a:xfrm>
            <a:off x="6906220" y="4452937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0"/>
          <p:cNvSpPr/>
          <p:nvPr/>
        </p:nvSpPr>
        <p:spPr>
          <a:xfrm>
            <a:off x="571500" y="4995862"/>
            <a:ext cx="1863923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0"/>
          <p:cNvSpPr/>
          <p:nvPr/>
        </p:nvSpPr>
        <p:spPr>
          <a:xfrm>
            <a:off x="2435423" y="4995862"/>
            <a:ext cx="4470796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0"/>
          <p:cNvSpPr/>
          <p:nvPr/>
        </p:nvSpPr>
        <p:spPr>
          <a:xfrm>
            <a:off x="6906220" y="4995862"/>
            <a:ext cx="4714279" cy="9525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GraphQL vs. REST: Head-to-Head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205037"/>
            <a:ext cx="5286375" cy="340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2205037"/>
            <a:ext cx="5286375" cy="340042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1"/>
          <p:cNvSpPr txBox="1"/>
          <p:nvPr/>
        </p:nvSpPr>
        <p:spPr>
          <a:xfrm>
            <a:off x="962025" y="2595562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Use REST when...</a:t>
            </a:r>
            <a:endParaRPr/>
          </a:p>
        </p:txBody>
      </p:sp>
      <p:sp>
        <p:nvSpPr>
          <p:cNvPr id="198" name="Google Shape;198;p21"/>
          <p:cNvSpPr txBox="1"/>
          <p:nvPr/>
        </p:nvSpPr>
        <p:spPr>
          <a:xfrm>
            <a:off x="962025" y="324326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...simplicity is key.</a:t>
            </a:r>
            <a:endParaRPr/>
          </a:p>
        </p:txBody>
      </p:sp>
      <p:sp>
        <p:nvSpPr>
          <p:cNvPr id="199" name="Google Shape;199;p21"/>
          <p:cNvSpPr txBox="1"/>
          <p:nvPr/>
        </p:nvSpPr>
        <p:spPr>
          <a:xfrm>
            <a:off x="962025" y="3671887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 have simple, well-defined resources.</a:t>
            </a:r>
            <a:endParaRPr/>
          </a:p>
        </p:txBody>
      </p:sp>
      <p:sp>
        <p:nvSpPr>
          <p:cNvPr id="200" name="Google Shape;200;p21"/>
          <p:cNvSpPr txBox="1"/>
          <p:nvPr/>
        </p:nvSpPr>
        <p:spPr>
          <a:xfrm>
            <a:off x="962025" y="410051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...caching is a top priority (HTTP caching works perfectly).</a:t>
            </a:r>
            <a:endParaRPr/>
          </a:p>
        </p:txBody>
      </p:sp>
      <p:sp>
        <p:nvSpPr>
          <p:cNvPr id="201" name="Google Shape;201;p21"/>
          <p:cNvSpPr txBox="1"/>
          <p:nvPr/>
        </p:nvSpPr>
        <p:spPr>
          <a:xfrm>
            <a:off x="962025" y="4529137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 are integrating with many 3rd-party APIs.</a:t>
            </a:r>
            <a:endParaRPr/>
          </a:p>
        </p:txBody>
      </p:sp>
      <p:sp>
        <p:nvSpPr>
          <p:cNvPr id="202" name="Google Shape;202;p21"/>
          <p:cNvSpPr txBox="1"/>
          <p:nvPr/>
        </p:nvSpPr>
        <p:spPr>
          <a:xfrm>
            <a:off x="6724650" y="2595562"/>
            <a:ext cx="4730591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Use GraphQL when...</a:t>
            </a:r>
            <a:endParaRPr/>
          </a:p>
        </p:txBody>
      </p:sp>
      <p:sp>
        <p:nvSpPr>
          <p:cNvPr id="203" name="Google Shape;203;p21"/>
          <p:cNvSpPr txBox="1"/>
          <p:nvPr/>
        </p:nvSpPr>
        <p:spPr>
          <a:xfrm>
            <a:off x="6724650" y="324326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 have complex data relationships (e.g., social feeds).</a:t>
            </a:r>
            <a:endParaRPr/>
          </a:p>
        </p:txBody>
      </p:sp>
      <p:sp>
        <p:nvSpPr>
          <p:cNvPr id="204" name="Google Shape;204;p21"/>
          <p:cNvSpPr txBox="1"/>
          <p:nvPr/>
        </p:nvSpPr>
        <p:spPr>
          <a:xfrm>
            <a:off x="6724650" y="3671887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...mobile bandwidth is a major concern (reduces payload).</a:t>
            </a:r>
            <a:endParaRPr/>
          </a:p>
        </p:txBody>
      </p:sp>
      <p:sp>
        <p:nvSpPr>
          <p:cNvPr id="205" name="Google Shape;205;p21"/>
          <p:cNvSpPr txBox="1"/>
          <p:nvPr/>
        </p:nvSpPr>
        <p:spPr>
          <a:xfrm>
            <a:off x="6724650" y="4100512"/>
            <a:ext cx="4505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...your app needs to fetch data from multiple sources.</a:t>
            </a:r>
            <a:endParaRPr/>
          </a:p>
        </p:txBody>
      </p:sp>
      <p:sp>
        <p:nvSpPr>
          <p:cNvPr id="206" name="Google Shape;206;p21"/>
          <p:cNvSpPr txBox="1"/>
          <p:nvPr/>
        </p:nvSpPr>
        <p:spPr>
          <a:xfrm>
            <a:off x="6724650" y="4529137"/>
            <a:ext cx="450532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...you have multiple clients (iOS, Android, Web) with different data needs.</a:t>
            </a:r>
            <a:endParaRPr/>
          </a:p>
        </p:txBody>
      </p:sp>
      <p:sp>
        <p:nvSpPr>
          <p:cNvPr id="207" name="Google Shape;207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When to Use...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2"/>
          <p:cNvSpPr txBox="1"/>
          <p:nvPr/>
        </p:nvSpPr>
        <p:spPr>
          <a:xfrm>
            <a:off x="5160333" y="2309939"/>
            <a:ext cx="1871331" cy="3808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Section 2</a:t>
            </a:r>
            <a:endParaRPr dirty="0"/>
          </a:p>
        </p:txBody>
      </p:sp>
      <p:sp>
        <p:nvSpPr>
          <p:cNvPr id="214" name="Google Shape;214;p22"/>
          <p:cNvSpPr/>
          <p:nvPr/>
        </p:nvSpPr>
        <p:spPr>
          <a:xfrm>
            <a:off x="5619750" y="2881312"/>
            <a:ext cx="952500" cy="47625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2"/>
          <p:cNvSpPr txBox="1"/>
          <p:nvPr/>
        </p:nvSpPr>
        <p:spPr>
          <a:xfrm>
            <a:off x="2185511" y="3214687"/>
            <a:ext cx="7820977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>
                <a:solidFill>
                  <a:srgbClr val="F9FAFB"/>
                </a:solidFill>
                <a:latin typeface="Poppins"/>
                <a:ea typeface="Poppins"/>
                <a:cs typeface="Poppins"/>
                <a:sym typeface="Poppins"/>
              </a:rPr>
              <a:t>Mobile App Observability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23"/>
          <p:cNvSpPr txBox="1"/>
          <p:nvPr/>
        </p:nvSpPr>
        <p:spPr>
          <a:xfrm>
            <a:off x="1714500" y="2569130"/>
            <a:ext cx="9144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More than monitoring:</a:t>
            </a:r>
            <a:r>
              <a:rPr lang="en-US" sz="16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Monitoring tells you *if* something is broken. Observability helps you understand *why*.</a:t>
            </a:r>
            <a:endParaRPr sz="1600" dirty="0"/>
          </a:p>
        </p:txBody>
      </p:sp>
      <p:sp>
        <p:nvSpPr>
          <p:cNvPr id="223" name="Google Shape;223;p23"/>
          <p:cNvSpPr txBox="1"/>
          <p:nvPr/>
        </p:nvSpPr>
        <p:spPr>
          <a:xfrm>
            <a:off x="1714500" y="3271837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Three Pillars: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Traditionally Logs, Metrics, and Traces.</a:t>
            </a:r>
            <a:endParaRPr sz="1600"/>
          </a:p>
        </p:txBody>
      </p:sp>
      <p:sp>
        <p:nvSpPr>
          <p:cNvPr id="224" name="Google Shape;224;p23"/>
          <p:cNvSpPr txBox="1"/>
          <p:nvPr/>
        </p:nvSpPr>
        <p:spPr>
          <a:xfrm>
            <a:off x="1714500" y="3767137"/>
            <a:ext cx="9144000" cy="1112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For Mobile: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We adapt this to our "Big 3": </a:t>
            </a:r>
            <a:b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1. Events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(User Behavior) </a:t>
            </a:r>
            <a:b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2. Crashes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(Stability) </a:t>
            </a:r>
            <a:br>
              <a:rPr lang="en-US"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3. Performance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(Speed)</a:t>
            </a:r>
            <a:endParaRPr sz="1600"/>
          </a:p>
        </p:txBody>
      </p:sp>
      <p:pic>
        <p:nvPicPr>
          <p:cNvPr id="225" name="Google Shape;225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824162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3319462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814762"/>
            <a:ext cx="1714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3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What is Mobile Observability?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3" name="Google Shape;233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24"/>
          <p:cNvSpPr txBox="1"/>
          <p:nvPr/>
        </p:nvSpPr>
        <p:spPr>
          <a:xfrm>
            <a:off x="571500" y="571500"/>
            <a:ext cx="555069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The Firebase Toolkit</a:t>
            </a:r>
            <a:endParaRPr/>
          </a:p>
        </p:txBody>
      </p:sp>
      <p:pic>
        <p:nvPicPr>
          <p:cNvPr id="235" name="Google Shape;235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0"/>
            <a:ext cx="585787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4"/>
          <p:cNvSpPr txBox="1"/>
          <p:nvPr/>
        </p:nvSpPr>
        <p:spPr>
          <a:xfrm>
            <a:off x="571500" y="1695450"/>
            <a:ext cx="5286375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Google's mobile platform that provides a suite of tools for building, releasing, and monitoring apps.</a:t>
            </a:r>
            <a:endParaRPr dirty="0"/>
          </a:p>
        </p:txBody>
      </p:sp>
      <p:sp>
        <p:nvSpPr>
          <p:cNvPr id="237" name="Google Shape;237;p24"/>
          <p:cNvSpPr txBox="1"/>
          <p:nvPr/>
        </p:nvSpPr>
        <p:spPr>
          <a:xfrm>
            <a:off x="571500" y="3918215"/>
            <a:ext cx="5286375" cy="8863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We focus on its observability products, which work together to give a complete picture of app health.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2" name="Google Shape;242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25"/>
          <p:cNvSpPr txBox="1"/>
          <p:nvPr/>
        </p:nvSpPr>
        <p:spPr>
          <a:xfrm>
            <a:off x="1714500" y="2914650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What it is:</a:t>
            </a:r>
            <a:r>
              <a:rPr lang="en-US" sz="1600" b="0" i="0" u="none" strike="noStrike" cap="none" dirty="0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Tracks user behavior and app usage by logging "Events".</a:t>
            </a:r>
            <a:endParaRPr sz="1600" dirty="0"/>
          </a:p>
        </p:txBody>
      </p:sp>
      <p:sp>
        <p:nvSpPr>
          <p:cNvPr id="244" name="Google Shape;244;p25"/>
          <p:cNvSpPr txBox="1"/>
          <p:nvPr/>
        </p:nvSpPr>
        <p:spPr>
          <a:xfrm>
            <a:off x="1714500" y="3409950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Automatic Events: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Captures screen_view, app_remove, first_open automatically.</a:t>
            </a:r>
            <a:endParaRPr sz="1600"/>
          </a:p>
        </p:txBody>
      </p:sp>
      <p:sp>
        <p:nvSpPr>
          <p:cNvPr id="245" name="Google Shape;245;p25"/>
          <p:cNvSpPr txBox="1"/>
          <p:nvPr/>
        </p:nvSpPr>
        <p:spPr>
          <a:xfrm>
            <a:off x="1714500" y="3905250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Custom Events: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You log events that matter to your app (e.g., purchase_complete, share_image).</a:t>
            </a:r>
            <a:endParaRPr sz="1600"/>
          </a:p>
        </p:txBody>
      </p:sp>
      <p:sp>
        <p:nvSpPr>
          <p:cNvPr id="246" name="Google Shape;246;p25"/>
          <p:cNvSpPr txBox="1"/>
          <p:nvPr/>
        </p:nvSpPr>
        <p:spPr>
          <a:xfrm>
            <a:off x="1714500" y="4400550"/>
            <a:ext cx="9144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The "Why":</a:t>
            </a:r>
            <a:r>
              <a:rPr lang="en-US" sz="160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Understand user funnels, feature adoption, and engagement.</a:t>
            </a:r>
            <a:endParaRPr sz="1600"/>
          </a:p>
        </p:txBody>
      </p:sp>
      <p:pic>
        <p:nvPicPr>
          <p:cNvPr id="247" name="Google Shape;247;p2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962275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2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345757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2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952875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2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500" y="4448175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2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1. Firebase Analytics (Events)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7" name="Google Shape;257;p2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762125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26"/>
          <p:cNvSpPr txBox="1"/>
          <p:nvPr/>
        </p:nvSpPr>
        <p:spPr>
          <a:xfrm>
            <a:off x="571500" y="2547937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1. Get the FirebaseAnalytics instance:</a:t>
            </a:r>
            <a:endParaRPr/>
          </a:p>
        </p:txBody>
      </p:sp>
      <p:sp>
        <p:nvSpPr>
          <p:cNvPr id="259" name="Google Shape;259;p26"/>
          <p:cNvSpPr txBox="1"/>
          <p:nvPr/>
        </p:nvSpPr>
        <p:spPr>
          <a:xfrm>
            <a:off x="571500" y="3871912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2. Log your custom event with a Bundle:</a:t>
            </a:r>
            <a:endParaRPr/>
          </a:p>
        </p:txBody>
      </p:sp>
      <p:pic>
        <p:nvPicPr>
          <p:cNvPr id="260" name="Google Shape;260;p2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762125"/>
            <a:ext cx="5286375" cy="428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2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Implementing Firebase Events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27"/>
          <p:cNvSpPr txBox="1"/>
          <p:nvPr/>
        </p:nvSpPr>
        <p:spPr>
          <a:xfrm>
            <a:off x="571500" y="3052762"/>
            <a:ext cx="5286375" cy="1428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0" b="1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99.9%</a:t>
            </a:r>
            <a:endParaRPr/>
          </a:p>
        </p:txBody>
      </p:sp>
      <p:sp>
        <p:nvSpPr>
          <p:cNvPr id="268" name="Google Shape;268;p27"/>
          <p:cNvSpPr txBox="1"/>
          <p:nvPr/>
        </p:nvSpPr>
        <p:spPr>
          <a:xfrm>
            <a:off x="571500" y="4481512"/>
            <a:ext cx="52863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Goal: Crash-Free Users</a:t>
            </a:r>
            <a:endParaRPr/>
          </a:p>
        </p:txBody>
      </p:sp>
      <p:sp>
        <p:nvSpPr>
          <p:cNvPr id="269" name="Google Shape;269;p27"/>
          <p:cNvSpPr txBox="1"/>
          <p:nvPr/>
        </p:nvSpPr>
        <p:spPr>
          <a:xfrm>
            <a:off x="6334125" y="3033712"/>
            <a:ext cx="55506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F9FAFB"/>
                </a:solidFill>
                <a:latin typeface="Poppins"/>
                <a:ea typeface="Poppins"/>
                <a:cs typeface="Poppins"/>
                <a:sym typeface="Poppins"/>
              </a:rPr>
              <a:t>Find, Fix, and Prioritize Crashes</a:t>
            </a:r>
            <a:endParaRPr/>
          </a:p>
        </p:txBody>
      </p:sp>
      <p:sp>
        <p:nvSpPr>
          <p:cNvPr id="270" name="Google Shape;270;p27"/>
          <p:cNvSpPr txBox="1"/>
          <p:nvPr/>
        </p:nvSpPr>
        <p:spPr>
          <a:xfrm>
            <a:off x="6334125" y="3662362"/>
            <a:ext cx="5286375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Real-time crash reporting that automatically captures and groups crashes (Java/Kotlin &amp; NDK).</a:t>
            </a:r>
            <a:endParaRPr/>
          </a:p>
        </p:txBody>
      </p:sp>
      <p:sp>
        <p:nvSpPr>
          <p:cNvPr id="271" name="Google Shape;271;p27"/>
          <p:cNvSpPr txBox="1"/>
          <p:nvPr/>
        </p:nvSpPr>
        <p:spPr>
          <a:xfrm>
            <a:off x="6334125" y="4348162"/>
            <a:ext cx="528637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Provides actionable insights: stack traces, device info, and OS version.</a:t>
            </a:r>
            <a:endParaRPr/>
          </a:p>
        </p:txBody>
      </p:sp>
      <p:sp>
        <p:nvSpPr>
          <p:cNvPr id="272" name="Google Shape;272;p2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2. Firebase Crashlytics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7" name="Google Shape;277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28"/>
          <p:cNvSpPr txBox="1"/>
          <p:nvPr/>
        </p:nvSpPr>
        <p:spPr>
          <a:xfrm>
            <a:off x="1714500" y="2528887"/>
            <a:ext cx="91440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Integration: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Add the Gradle dependency. It works out-of-the-box.</a:t>
            </a:r>
            <a:endParaRPr/>
          </a:p>
        </p:txBody>
      </p:sp>
      <p:sp>
        <p:nvSpPr>
          <p:cNvPr id="279" name="Google Shape;279;p28"/>
          <p:cNvSpPr txBox="1"/>
          <p:nvPr/>
        </p:nvSpPr>
        <p:spPr>
          <a:xfrm>
            <a:off x="1714500" y="3024187"/>
            <a:ext cx="9144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Custom Logs: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Add "breadcrumb" context to reports.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Crashlytics.log("User at checkout screen");</a:t>
            </a:r>
            <a:endParaRPr/>
          </a:p>
        </p:txBody>
      </p:sp>
      <p:sp>
        <p:nvSpPr>
          <p:cNvPr id="280" name="Google Shape;280;p28"/>
          <p:cNvSpPr txBox="1"/>
          <p:nvPr/>
        </p:nvSpPr>
        <p:spPr>
          <a:xfrm>
            <a:off x="1714500" y="3776662"/>
            <a:ext cx="9144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Custom Keys: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Set user state (e.g., premium/free).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Crashlytics.setCustomKey("user_tier", "premium");</a:t>
            </a:r>
            <a:endParaRPr/>
          </a:p>
        </p:txBody>
      </p:sp>
      <p:sp>
        <p:nvSpPr>
          <p:cNvPr id="281" name="Google Shape;281;p28"/>
          <p:cNvSpPr txBox="1"/>
          <p:nvPr/>
        </p:nvSpPr>
        <p:spPr>
          <a:xfrm>
            <a:off x="1714500" y="4529137"/>
            <a:ext cx="91440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>
                <a:solidFill>
                  <a:srgbClr val="F9FAFB"/>
                </a:solidFill>
                <a:latin typeface="Lato"/>
                <a:ea typeface="Lato"/>
                <a:cs typeface="Lato"/>
                <a:sym typeface="Lato"/>
              </a:rPr>
              <a:t>Test Crash: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 Verify your setup. 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throw new RuntimeException("Test Crash");</a:t>
            </a:r>
            <a:endParaRPr/>
          </a:p>
        </p:txBody>
      </p:sp>
      <p:pic>
        <p:nvPicPr>
          <p:cNvPr id="282" name="Google Shape;282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33500" y="2576512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333500" y="3071812"/>
            <a:ext cx="1428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333500" y="3824287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333500" y="457676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2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Setting Up Crashlytics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1" name="Google Shape;291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2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295" name="Google Shape;295;p29"/>
          <p:cNvSpPr txBox="1"/>
          <p:nvPr/>
        </p:nvSpPr>
        <p:spPr>
          <a:xfrm>
            <a:off x="1340881" y="3405187"/>
            <a:ext cx="1890236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App Startup</a:t>
            </a:r>
            <a:endParaRPr/>
          </a:p>
        </p:txBody>
      </p:sp>
      <p:sp>
        <p:nvSpPr>
          <p:cNvPr id="296" name="Google Shape;296;p29"/>
          <p:cNvSpPr txBox="1"/>
          <p:nvPr/>
        </p:nvSpPr>
        <p:spPr>
          <a:xfrm>
            <a:off x="86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Measures "cold," "warm," and "hot" app start times. A critical first impression.</a:t>
            </a:r>
            <a:endParaRPr/>
          </a:p>
        </p:txBody>
      </p:sp>
      <p:sp>
        <p:nvSpPr>
          <p:cNvPr id="297" name="Google Shape;297;p29"/>
          <p:cNvSpPr txBox="1"/>
          <p:nvPr/>
        </p:nvSpPr>
        <p:spPr>
          <a:xfrm>
            <a:off x="4700825" y="3405187"/>
            <a:ext cx="27903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Network Requests</a:t>
            </a:r>
            <a:endParaRPr/>
          </a:p>
        </p:txBody>
      </p:sp>
      <p:sp>
        <p:nvSpPr>
          <p:cNvPr id="298" name="Google Shape;298;p29"/>
          <p:cNvSpPr txBox="1"/>
          <p:nvPr/>
        </p:nvSpPr>
        <p:spPr>
          <a:xfrm>
            <a:off x="467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Automatically monitors HTTP/S requests. Tracks success rate, payload size, and response time.</a:t>
            </a:r>
            <a:endParaRPr/>
          </a:p>
        </p:txBody>
      </p:sp>
      <p:sp>
        <p:nvSpPr>
          <p:cNvPr id="299" name="Google Shape;299;p29"/>
          <p:cNvSpPr txBox="1"/>
          <p:nvPr/>
        </p:nvSpPr>
        <p:spPr>
          <a:xfrm>
            <a:off x="8710850" y="3405187"/>
            <a:ext cx="239029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Custom Traces</a:t>
            </a:r>
            <a:endParaRPr/>
          </a:p>
        </p:txBody>
      </p:sp>
      <p:sp>
        <p:nvSpPr>
          <p:cNvPr id="300" name="Google Shape;300;p29"/>
          <p:cNvSpPr txBox="1"/>
          <p:nvPr/>
        </p:nvSpPr>
        <p:spPr>
          <a:xfrm>
            <a:off x="848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Manually trace specific code blocks (e.g., "image_processing") to find bottlenecks.</a:t>
            </a:r>
            <a:endParaRPr/>
          </a:p>
        </p:txBody>
      </p:sp>
      <p:pic>
        <p:nvPicPr>
          <p:cNvPr id="301" name="Google Shape;301;p2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5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2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0" y="2709862"/>
            <a:ext cx="571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2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705975" y="2709862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29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3. Firebase Performance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9" name="Google Shape;309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24000"/>
            <a:ext cx="11049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1" name="Google Shape;311;p30"/>
          <p:cNvSpPr txBox="1"/>
          <p:nvPr/>
        </p:nvSpPr>
        <p:spPr>
          <a:xfrm>
            <a:off x="2319337" y="4929187"/>
            <a:ext cx="7553325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1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The /feed/global and /images/upload endpoints are clear bottlenecks that need investigation.</a:t>
            </a:r>
            <a:endParaRPr/>
          </a:p>
        </p:txBody>
      </p:sp>
      <p:sp>
        <p:nvSpPr>
          <p:cNvPr id="312" name="Google Shape;312;p30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Performance Deep Dive: Network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7" name="Google Shape;317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8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91500" y="2395537"/>
            <a:ext cx="3429000" cy="3019425"/>
          </a:xfrm>
          <a:prstGeom prst="rect">
            <a:avLst/>
          </a:prstGeom>
          <a:noFill/>
          <a:ln>
            <a:noFill/>
          </a:ln>
        </p:spPr>
      </p:pic>
      <p:sp>
        <p:nvSpPr>
          <p:cNvPr id="321" name="Google Shape;321;p31"/>
          <p:cNvSpPr txBox="1"/>
          <p:nvPr/>
        </p:nvSpPr>
        <p:spPr>
          <a:xfrm>
            <a:off x="1735931" y="3405187"/>
            <a:ext cx="110013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1. Event</a:t>
            </a:r>
            <a:endParaRPr/>
          </a:p>
        </p:txBody>
      </p:sp>
      <p:sp>
        <p:nvSpPr>
          <p:cNvPr id="322" name="Google Shape;322;p31"/>
          <p:cNvSpPr txBox="1"/>
          <p:nvPr/>
        </p:nvSpPr>
        <p:spPr>
          <a:xfrm>
            <a:off x="866775" y="4176712"/>
            <a:ext cx="283845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User clicks "Buy". (Analytics logs begin_checkout).</a:t>
            </a:r>
            <a:endParaRPr/>
          </a:p>
        </p:txBody>
      </p:sp>
      <p:sp>
        <p:nvSpPr>
          <p:cNvPr id="323" name="Google Shape;323;p31"/>
          <p:cNvSpPr txBox="1"/>
          <p:nvPr/>
        </p:nvSpPr>
        <p:spPr>
          <a:xfrm>
            <a:off x="4920853" y="3405187"/>
            <a:ext cx="2350293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2. Performance</a:t>
            </a:r>
            <a:endParaRPr/>
          </a:p>
        </p:txBody>
      </p:sp>
      <p:sp>
        <p:nvSpPr>
          <p:cNvPr id="324" name="Google Shape;324;p31"/>
          <p:cNvSpPr txBox="1"/>
          <p:nvPr/>
        </p:nvSpPr>
        <p:spPr>
          <a:xfrm>
            <a:off x="467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checkout_trace starts. Network call to /payment is </a:t>
            </a:r>
            <a:r>
              <a:rPr lang="en-US" sz="1350" b="1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slow (5.2s)</a:t>
            </a: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. (Performance alerts).</a:t>
            </a:r>
            <a:endParaRPr/>
          </a:p>
        </p:txBody>
      </p:sp>
      <p:sp>
        <p:nvSpPr>
          <p:cNvPr id="325" name="Google Shape;325;p31"/>
          <p:cNvSpPr txBox="1"/>
          <p:nvPr/>
        </p:nvSpPr>
        <p:spPr>
          <a:xfrm>
            <a:off x="9275921" y="3405187"/>
            <a:ext cx="1260157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E5E7EB"/>
                </a:solidFill>
                <a:latin typeface="Poppins"/>
                <a:ea typeface="Poppins"/>
                <a:cs typeface="Poppins"/>
                <a:sym typeface="Poppins"/>
              </a:rPr>
              <a:t>3. Crash</a:t>
            </a:r>
            <a:endParaRPr/>
          </a:p>
        </p:txBody>
      </p:sp>
      <p:sp>
        <p:nvSpPr>
          <p:cNvPr id="326" name="Google Shape;326;p31"/>
          <p:cNvSpPr txBox="1"/>
          <p:nvPr/>
        </p:nvSpPr>
        <p:spPr>
          <a:xfrm>
            <a:off x="8486775" y="4176712"/>
            <a:ext cx="2838450" cy="771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5E7EB"/>
                </a:solidFill>
                <a:latin typeface="Lato"/>
                <a:ea typeface="Lato"/>
                <a:cs typeface="Lato"/>
                <a:sym typeface="Lato"/>
              </a:rPr>
              <a:t>App crashes due to an unexpected null response from the slow /payment API. (Crashlytics reports).</a:t>
            </a:r>
            <a:endParaRPr/>
          </a:p>
        </p:txBody>
      </p:sp>
      <p:pic>
        <p:nvPicPr>
          <p:cNvPr id="327" name="Google Shape;327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143125" y="2709862"/>
            <a:ext cx="2857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3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6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3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7400" y="2709862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31"/>
          <p:cNvSpPr txBox="1"/>
          <p:nvPr/>
        </p:nvSpPr>
        <p:spPr>
          <a:xfrm>
            <a:off x="571500" y="571500"/>
            <a:ext cx="1160145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 dirty="0">
                <a:solidFill>
                  <a:srgbClr val="06B6D4"/>
                </a:solidFill>
                <a:latin typeface="Poppins"/>
                <a:ea typeface="Poppins"/>
                <a:cs typeface="Poppins"/>
                <a:sym typeface="Poppins"/>
              </a:rPr>
              <a:t>Real life example</a:t>
            </a:r>
            <a:endParaRPr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5A725F5F-8E4E-983A-69EB-EDFE83555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Freeform: Shape 25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25508D-BE29-DF63-034D-BF07C3270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8791" y="4709"/>
            <a:ext cx="9274628" cy="6863226"/>
          </a:xfrm>
          <a:prstGeom prst="rect">
            <a:avLst/>
          </a:prstGeom>
          <a:ln>
            <a:noFill/>
          </a:ln>
        </p:spPr>
      </p:pic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0514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018FF57D-2F94-1AB5-C480-D80EA09CD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" name="Freeform: Shape 45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Freeform: Shape 51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21ECD20-18B3-7F15-7081-C8C6E52249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425194"/>
            <a:ext cx="10905066" cy="4007611"/>
          </a:xfrm>
          <a:prstGeom prst="rect">
            <a:avLst/>
          </a:prstGeom>
          <a:ln>
            <a:noFill/>
          </a:ln>
        </p:spPr>
      </p:pic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0888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BDCC8F69-5AC3-66C0-0EDD-B1EBEF1175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B9958A-6BD0-2E4B-7A1F-9716BB0670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D2343BC-4DBD-6734-F97D-3E9739BF9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C4069BF-666A-0EC2-B8F1-61EDFC5A89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15D9B84-CE32-C3A0-F2DF-B2B6CBB8D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03C1068E-F7B2-3B6F-069D-709F9E7D61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Isosceles Triangle 16">
            <a:extLst>
              <a:ext uri="{FF2B5EF4-FFF2-40B4-BE49-F238E27FC236}">
                <a16:creationId xmlns:a16="http://schemas.microsoft.com/office/drawing/2014/main" id="{9700C609-E563-9246-F658-65C6D9594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AB58698-AC2F-A071-915D-E04F29F13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811783"/>
            <a:ext cx="10905066" cy="5234432"/>
          </a:xfrm>
          <a:prstGeom prst="rect">
            <a:avLst/>
          </a:prstGeom>
          <a:ln>
            <a:noFill/>
          </a:ln>
        </p:spPr>
      </p:pic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5BDAF94C-8403-36D4-A80A-0259513AD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218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E8481D5A-9326-A617-A869-87ABC63F6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AD2F56-3124-DF3C-FCCF-C691FCDD3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4668" y="643467"/>
            <a:ext cx="9482663" cy="5571065"/>
          </a:xfrm>
          <a:prstGeom prst="rect">
            <a:avLst/>
          </a:prstGeom>
          <a:ln>
            <a:noFill/>
          </a:ln>
        </p:spPr>
      </p:pic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95871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886FF056-3B90-28BF-663B-CBB31F4A2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: Shape 6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8" name="Isosceles Triangle 6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BBD4364-9626-8BD3-21E8-F91CA6456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806871"/>
            <a:ext cx="10905066" cy="3244257"/>
          </a:xfrm>
          <a:prstGeom prst="rect">
            <a:avLst/>
          </a:prstGeom>
          <a:ln>
            <a:noFill/>
          </a:ln>
        </p:spPr>
      </p:pic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05398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225D9C6E-39C6-20FB-E09B-F4A20C07F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74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Freeform: Shape 82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5" name="Isosceles Triangle 84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8A4A4B-66D6-5DFC-A5FC-8D1D12DB04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344" y="643467"/>
            <a:ext cx="8637312" cy="5571065"/>
          </a:xfrm>
          <a:prstGeom prst="rect">
            <a:avLst/>
          </a:prstGeom>
          <a:ln>
            <a:noFill/>
          </a:ln>
        </p:spPr>
      </p:pic>
      <p:sp>
        <p:nvSpPr>
          <p:cNvPr id="87" name="Isosceles Triangle 86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100472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C1301348-AFF6-7DEA-62CB-2D54CA4E9C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91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4" name="Freeform: Shape 93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Freeform: Shape 99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2" name="Isosceles Triangle 101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AAAD7C-A10D-5FB8-3176-A3728D5861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267" y="643467"/>
            <a:ext cx="10175466" cy="5571065"/>
          </a:xfrm>
          <a:prstGeom prst="rect">
            <a:avLst/>
          </a:prstGeom>
          <a:ln>
            <a:noFill/>
          </a:ln>
        </p:spPr>
      </p:pic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9271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308">
          <a:extLst>
            <a:ext uri="{FF2B5EF4-FFF2-40B4-BE49-F238E27FC236}">
              <a16:creationId xmlns:a16="http://schemas.microsoft.com/office/drawing/2014/main" id="{602F778F-236F-066E-DBB6-9E395B0AE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Rectangle 108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1" name="Freeform: Shape 110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Freeform: Shape 116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9" name="Isosceles Triangle 118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C7C7D92-A3D9-E8A1-CDC3-2F1CD77FA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1595" y="643467"/>
            <a:ext cx="9688810" cy="5571065"/>
          </a:xfrm>
          <a:prstGeom prst="rect">
            <a:avLst/>
          </a:prstGeom>
          <a:ln>
            <a:noFill/>
          </a:ln>
        </p:spPr>
      </p:pic>
      <p:sp>
        <p:nvSpPr>
          <p:cNvPr id="121" name="Isosceles Triangle 120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750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5857</TotalTime>
  <Words>1192</Words>
  <Application>Microsoft Macintosh PowerPoint</Application>
  <PresentationFormat>Widescreen</PresentationFormat>
  <Paragraphs>129</Paragraphs>
  <Slides>38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Graphik Medium</vt:lpstr>
      <vt:lpstr>Lato</vt:lpstr>
      <vt:lpstr>Poppins</vt:lpstr>
      <vt:lpstr>Office Theme</vt:lpstr>
      <vt:lpstr>Mobile and Embedded Computing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Dinu Rusu | Tazz, IT</dc:creator>
  <cp:lastModifiedBy>Stefan Dinu Rusu | Tazz, IT</cp:lastModifiedBy>
  <cp:revision>52</cp:revision>
  <dcterms:created xsi:type="dcterms:W3CDTF">2025-09-15T16:44:45Z</dcterms:created>
  <dcterms:modified xsi:type="dcterms:W3CDTF">2026-04-29T10:21:09Z</dcterms:modified>
</cp:coreProperties>
</file>