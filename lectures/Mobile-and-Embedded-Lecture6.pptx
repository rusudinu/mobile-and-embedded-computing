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80" r:id="rId22"/>
    <p:sldId id="279" r:id="rId23"/>
    <p:sldId id="277" r:id="rId24"/>
    <p:sldId id="278" r:id="rId25"/>
    <p:sldId id="281" r:id="rId26"/>
    <p:sldId id="282" r:id="rId27"/>
    <p:sldId id="283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7"/>
    <p:restoredTop sz="94635"/>
  </p:normalViewPr>
  <p:slideViewPr>
    <p:cSldViewPr snapToGrid="0">
      <p:cViewPr varScale="1">
        <p:scale>
          <a:sx n="120" d="100"/>
          <a:sy n="120" d="100"/>
        </p:scale>
        <p:origin x="9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0371143B-AF2A-7623-D854-12A3B2D6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7066D226-24B7-BC71-4361-98BBF6A7F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403AA4E9-1C75-7F56-9E19-2D69013E2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52084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2DDAC597-D030-64A6-0A47-EEC63BD82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B8CD389D-46FB-289A-EB11-D511F08FA7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C28CD24A-0F38-538A-3578-96EA050277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223376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D68AFBC3-E639-97FD-9C1B-14A0F68AA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BDCE861F-EC38-5E0C-D96D-9BAD17933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8242B0FD-DDEF-5637-2AFD-BE0B62EB8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27307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E53F2527-A7B8-7BD4-892E-21A96B74D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E6250051-C3D5-37C2-151D-4379D9447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C5C02F71-5C5D-5909-6966-84271EF5E0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93709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B859295D-057F-CC79-5E45-074FDD49B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22C68B35-6FB0-5E9A-0C11-0B689996E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BDF96FD5-7E2E-B0AA-B4F3-9395DBA44F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38040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92D0EBF3-F326-70A4-5D17-7DCD994D0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60054FAC-9319-652E-109C-92303E6D69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25BDB7F3-BA1F-5070-0A75-C82911C46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29643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D99E49EE-5E49-35E9-F8F8-8BFFA62FC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F8C69FDF-23D6-E2FA-E122-D1413C050F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054E5297-9D8A-12D5-BC69-8CBACA49C0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13391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BF413744-7E22-E6E8-3E54-B3DE8CEE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6A0CCDE6-54AA-64CC-DD77-F6DC6D8C35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A88E6BB0-1EEF-A82D-E59B-858F23124E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1368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1;p14" descr="image.png">
            <a:extLst>
              <a:ext uri="{FF2B5EF4-FFF2-40B4-BE49-F238E27FC236}">
                <a16:creationId xmlns:a16="http://schemas.microsoft.com/office/drawing/2014/main" id="{D1224FB2-3E94-8444-0BDC-545AA34E030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Lecture 5. </a:t>
            </a:r>
            <a:r>
              <a:rPr lang="en-US" dirty="0" err="1">
                <a:solidFill>
                  <a:schemeClr val="bg1"/>
                </a:solidFill>
              </a:rPr>
              <a:t>GraphQL</a:t>
            </a:r>
            <a:r>
              <a:rPr lang="en-US" dirty="0">
                <a:solidFill>
                  <a:schemeClr val="bg1"/>
                </a:solidFill>
              </a:rPr>
              <a:t> &amp; REST, Observability for Mobile applications (Events, Crashlytics, Performance Monitoring)</a:t>
            </a:r>
          </a:p>
          <a:p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033157" y="2429066"/>
            <a:ext cx="2125683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Section 1</a:t>
            </a:r>
            <a:endParaRPr dirty="0"/>
          </a:p>
        </p:txBody>
      </p:sp>
      <p:sp>
        <p:nvSpPr>
          <p:cNvPr id="93" name="Google Shape;93;p14"/>
          <p:cNvSpPr/>
          <p:nvPr/>
        </p:nvSpPr>
        <p:spPr>
          <a:xfrm>
            <a:off x="5619749" y="3024375"/>
            <a:ext cx="952500" cy="476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1860470" y="3214687"/>
            <a:ext cx="847105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9FAFB"/>
                </a:solidFill>
                <a:latin typeface="Poppins"/>
                <a:ea typeface="Poppins"/>
                <a:cs typeface="Poppins"/>
                <a:sym typeface="Poppins"/>
              </a:rPr>
              <a:t>Mobile API Communication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1714500" y="28614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Data Source:</a:t>
            </a: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Apps are often containers; the data lives on remote servers.</a:t>
            </a:r>
            <a:endParaRPr dirty="0"/>
          </a:p>
        </p:txBody>
      </p:sp>
      <p:sp>
        <p:nvSpPr>
          <p:cNvPr id="102" name="Google Shape;102;p15"/>
          <p:cNvSpPr txBox="1"/>
          <p:nvPr/>
        </p:nvSpPr>
        <p:spPr>
          <a:xfrm>
            <a:off x="1714500" y="33567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Functionality:</a:t>
            </a: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Enable complex features like login, payments, and social feeds.</a:t>
            </a:r>
            <a:endParaRPr dirty="0"/>
          </a:p>
        </p:txBody>
      </p:sp>
      <p:sp>
        <p:nvSpPr>
          <p:cNvPr id="103" name="Google Shape;103;p15"/>
          <p:cNvSpPr txBox="1"/>
          <p:nvPr/>
        </p:nvSpPr>
        <p:spPr>
          <a:xfrm>
            <a:off x="1714500" y="38520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Synchronization:</a:t>
            </a:r>
            <a:r>
              <a:rPr lang="en-US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Keep user data consistent across multiple devices (phone, tablet, web).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1714500" y="43473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Separation of Concerns:</a:t>
            </a:r>
            <a:r>
              <a:rPr lang="en-US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Decouples the client (app) from the backend (server).</a:t>
            </a:r>
            <a:endParaRPr/>
          </a:p>
        </p:txBody>
      </p:sp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96227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457575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9528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448175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Why APIs are Critical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47900"/>
            <a:ext cx="5286375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47900"/>
            <a:ext cx="528637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962025" y="26384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Architecture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62025" y="328612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RE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presentational </a:t>
            </a: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tate </a:t>
            </a: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ransfer. A stateless, client-server architectural style.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962025" y="3971925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It is not a protocol, but a set of constraints.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6724650" y="26384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Core Concepts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6724650" y="328612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Uses standard HTTP methods to act on "Resources" identified by URLs.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6724650" y="3971925"/>
            <a:ext cx="450532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GET /users/123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POST /users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PUT /users/123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DELETE /users/123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REST API Fundamentals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28837"/>
            <a:ext cx="5334000" cy="355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128837"/>
            <a:ext cx="5334000" cy="355282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 txBox="1"/>
          <p:nvPr/>
        </p:nvSpPr>
        <p:spPr>
          <a:xfrm>
            <a:off x="2908458" y="3138487"/>
            <a:ext cx="66008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Pros</a:t>
            </a:r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1190625" y="3910012"/>
            <a:ext cx="4514850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Simplicity: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Easy to understand, built on standard HTTP.</a:t>
            </a:r>
            <a:endParaRPr dirty="0"/>
          </a:p>
        </p:txBody>
      </p:sp>
      <p:sp>
        <p:nvSpPr>
          <p:cNvPr id="133" name="Google Shape;133;p17"/>
          <p:cNvSpPr txBox="1"/>
          <p:nvPr/>
        </p:nvSpPr>
        <p:spPr>
          <a:xfrm>
            <a:off x="1190625" y="4449525"/>
            <a:ext cx="4210493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Caching: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Standard HTTP caching is effective.</a:t>
            </a:r>
            <a:endParaRPr dirty="0"/>
          </a:p>
        </p:txBody>
      </p:sp>
      <p:sp>
        <p:nvSpPr>
          <p:cNvPr id="134" name="Google Shape;134;p17"/>
          <p:cNvSpPr txBox="1"/>
          <p:nvPr/>
        </p:nvSpPr>
        <p:spPr>
          <a:xfrm>
            <a:off x="1190625" y="4957762"/>
            <a:ext cx="4348938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Mature: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Decades of tooling and support.</a:t>
            </a:r>
            <a:endParaRPr dirty="0"/>
          </a:p>
        </p:txBody>
      </p:sp>
      <p:sp>
        <p:nvSpPr>
          <p:cNvPr id="135" name="Google Shape;135;p17"/>
          <p:cNvSpPr txBox="1"/>
          <p:nvPr/>
        </p:nvSpPr>
        <p:spPr>
          <a:xfrm>
            <a:off x="8548449" y="3138487"/>
            <a:ext cx="81010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Cons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6724649" y="3917875"/>
            <a:ext cx="4457700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Over-fetching: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Getting more data than the screen needs.</a:t>
            </a:r>
            <a:endParaRPr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6581775" y="4433887"/>
            <a:ext cx="474345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Under-fetching: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Needing multiple API calls for one screen (e.g., user + posts).</a:t>
            </a:r>
            <a:endParaRPr dirty="0"/>
          </a:p>
        </p:txBody>
      </p:sp>
      <p:pic>
        <p:nvPicPr>
          <p:cNvPr id="138" name="Google Shape;138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009900" y="24431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24900" y="24431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REST in Mobile: Pros &amp; Cons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Introduction to GraphQL</a:t>
            </a:r>
            <a:endParaRPr/>
          </a:p>
        </p:txBody>
      </p:sp>
      <p:pic>
        <p:nvPicPr>
          <p:cNvPr id="147" name="Google Shape;14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8"/>
          <p:cNvSpPr txBox="1"/>
          <p:nvPr/>
        </p:nvSpPr>
        <p:spPr>
          <a:xfrm>
            <a:off x="571500" y="1695450"/>
            <a:ext cx="5286375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240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query language</a:t>
            </a: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for your API, not an architecture. Developed by Facebook to solve mobile data-fetching issues.</a:t>
            </a:r>
            <a:endParaRPr sz="2400" dirty="0"/>
          </a:p>
        </p:txBody>
      </p:sp>
      <p:sp>
        <p:nvSpPr>
          <p:cNvPr id="149" name="Google Shape;149;p18"/>
          <p:cNvSpPr txBox="1"/>
          <p:nvPr/>
        </p:nvSpPr>
        <p:spPr>
          <a:xfrm>
            <a:off x="571499" y="4020693"/>
            <a:ext cx="5286375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Allows the client to ask for </a:t>
            </a:r>
            <a:r>
              <a:rPr lang="en-US" sz="2400" b="0" i="1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exactly</a:t>
            </a: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what it needs and get </a:t>
            </a:r>
            <a:r>
              <a:rPr lang="en-US" sz="2400" b="0" i="1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exactly</a:t>
            </a: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that in a single request.</a:t>
            </a:r>
            <a:endParaRPr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9"/>
          <p:cNvSpPr txBox="1"/>
          <p:nvPr/>
        </p:nvSpPr>
        <p:spPr>
          <a:xfrm>
            <a:off x="1630918" y="3405187"/>
            <a:ext cx="131016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Schema</a:t>
            </a:r>
            <a:endParaRPr/>
          </a:p>
        </p:txBody>
      </p:sp>
      <p:sp>
        <p:nvSpPr>
          <p:cNvPr id="159" name="Google Shape;159;p19"/>
          <p:cNvSpPr txBox="1"/>
          <p:nvPr/>
        </p:nvSpPr>
        <p:spPr>
          <a:xfrm>
            <a:off x="86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The "contract." A strongly-typed definition of all data available on the API (types, fields, relationships).</a:t>
            </a:r>
            <a:endParaRPr/>
          </a:p>
        </p:txBody>
      </p:sp>
      <p:sp>
        <p:nvSpPr>
          <p:cNvPr id="160" name="Google Shape;160;p19"/>
          <p:cNvSpPr txBox="1"/>
          <p:nvPr/>
        </p:nvSpPr>
        <p:spPr>
          <a:xfrm>
            <a:off x="5635942" y="3405187"/>
            <a:ext cx="9201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Query</a:t>
            </a:r>
            <a:endParaRPr/>
          </a:p>
        </p:txBody>
      </p:sp>
      <p:sp>
        <p:nvSpPr>
          <p:cNvPr id="161" name="Google Shape;161;p19"/>
          <p:cNvSpPr txBox="1"/>
          <p:nvPr/>
        </p:nvSpPr>
        <p:spPr>
          <a:xfrm>
            <a:off x="467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 read-only operation to fetch data. The query's shape mirrors the JSON response's shape.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9205912" y="3405187"/>
            <a:ext cx="14001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Mutation</a:t>
            </a:r>
            <a:endParaRPr/>
          </a:p>
        </p:txBody>
      </p:sp>
      <p:sp>
        <p:nvSpPr>
          <p:cNvPr id="163" name="Google Shape;163;p19"/>
          <p:cNvSpPr txBox="1"/>
          <p:nvPr/>
        </p:nvSpPr>
        <p:spPr>
          <a:xfrm>
            <a:off x="848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 write operation to modify data (create, update, delete). Defined in the schema just like queries.</a:t>
            </a:r>
            <a:endParaRPr/>
          </a:p>
        </p:txBody>
      </p:sp>
      <p:pic>
        <p:nvPicPr>
          <p:cNvPr id="164" name="Google Shape;164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4550" y="2709862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GraphQL Core Concepts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3" name="Google Shape;173;p20"/>
          <p:cNvGraphicFramePr/>
          <p:nvPr/>
        </p:nvGraphicFramePr>
        <p:xfrm>
          <a:off x="571500" y="2266950"/>
          <a:ext cx="11049000" cy="32766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8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14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06B6D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06B6D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06B6D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GraphQL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Endpoint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Multiple endpoints (/users, /posts)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Single endpoint (e.g., /graphql)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Fetching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Fixed data structure (defined by server)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Flexible data shape (defined by client)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Shape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Prone to over/under-fetching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Precise data in one request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Schema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Loosely defined (e.g., OpenAPI)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Strongly typed (Schema Definition Language)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Protocol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Uses all HTTP verbs (GET, POST, PUT...)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Typically uses POST for all operations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4" name="Google Shape;174;p20"/>
          <p:cNvSpPr/>
          <p:nvPr/>
        </p:nvSpPr>
        <p:spPr>
          <a:xfrm>
            <a:off x="571500" y="2824162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2435423" y="2824162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/>
          <p:nvPr/>
        </p:nvSpPr>
        <p:spPr>
          <a:xfrm>
            <a:off x="6906220" y="2824162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571500" y="3367087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0"/>
          <p:cNvSpPr/>
          <p:nvPr/>
        </p:nvSpPr>
        <p:spPr>
          <a:xfrm>
            <a:off x="2435423" y="3367087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0"/>
          <p:cNvSpPr/>
          <p:nvPr/>
        </p:nvSpPr>
        <p:spPr>
          <a:xfrm>
            <a:off x="6906220" y="3367087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0"/>
          <p:cNvSpPr/>
          <p:nvPr/>
        </p:nvSpPr>
        <p:spPr>
          <a:xfrm>
            <a:off x="571500" y="3910012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0"/>
          <p:cNvSpPr/>
          <p:nvPr/>
        </p:nvSpPr>
        <p:spPr>
          <a:xfrm>
            <a:off x="2435423" y="3910012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6906220" y="3910012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0"/>
          <p:cNvSpPr/>
          <p:nvPr/>
        </p:nvSpPr>
        <p:spPr>
          <a:xfrm>
            <a:off x="571500" y="4452937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2435423" y="4452937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6906220" y="4452937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571500" y="4995862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2435423" y="4995862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6906220" y="4995862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GraphQL vs. REST: Head-to-Head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05037"/>
            <a:ext cx="5286375" cy="340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05037"/>
            <a:ext cx="5286375" cy="340042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/>
        </p:nvSpPr>
        <p:spPr>
          <a:xfrm>
            <a:off x="962025" y="2595562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Use REST when...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962025" y="324326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...simplicity is key.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962025" y="3671887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have simple, well-defined resources.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962025" y="410051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...caching is a top priority (HTTP caching works perfectly).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962025" y="4529137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are integrating with many 3rd-party APIs.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6724650" y="2595562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Use GraphQL when...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724650" y="324326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have complex data relationships (e.g., social feeds).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6724650" y="3671887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...mobile bandwidth is a major concern (reduces payload).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6724650" y="410051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...your app needs to fetch data from multiple sources.</a:t>
            </a:r>
            <a:endParaRPr/>
          </a:p>
        </p:txBody>
      </p:sp>
      <p:sp>
        <p:nvSpPr>
          <p:cNvPr id="206" name="Google Shape;206;p21"/>
          <p:cNvSpPr txBox="1"/>
          <p:nvPr/>
        </p:nvSpPr>
        <p:spPr>
          <a:xfrm>
            <a:off x="6724650" y="4529137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have multiple clients (iOS, Android, Web) with different data needs.</a:t>
            </a:r>
            <a:endParaRPr/>
          </a:p>
        </p:txBody>
      </p:sp>
      <p:sp>
        <p:nvSpPr>
          <p:cNvPr id="207" name="Google Shape;207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When to Use...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2"/>
          <p:cNvSpPr txBox="1"/>
          <p:nvPr/>
        </p:nvSpPr>
        <p:spPr>
          <a:xfrm>
            <a:off x="5160333" y="2309939"/>
            <a:ext cx="1871331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Section 2</a:t>
            </a:r>
            <a:endParaRPr dirty="0"/>
          </a:p>
        </p:txBody>
      </p:sp>
      <p:sp>
        <p:nvSpPr>
          <p:cNvPr id="214" name="Google Shape;214;p22"/>
          <p:cNvSpPr/>
          <p:nvPr/>
        </p:nvSpPr>
        <p:spPr>
          <a:xfrm>
            <a:off x="5619750" y="2881312"/>
            <a:ext cx="952500" cy="476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2"/>
          <p:cNvSpPr txBox="1"/>
          <p:nvPr/>
        </p:nvSpPr>
        <p:spPr>
          <a:xfrm>
            <a:off x="2185511" y="3214687"/>
            <a:ext cx="7820977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9FAFB"/>
                </a:solidFill>
                <a:latin typeface="Poppins"/>
                <a:ea typeface="Poppins"/>
                <a:cs typeface="Poppins"/>
                <a:sym typeface="Poppins"/>
              </a:rPr>
              <a:t>Mobile App Observability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3"/>
          <p:cNvSpPr txBox="1"/>
          <p:nvPr/>
        </p:nvSpPr>
        <p:spPr>
          <a:xfrm>
            <a:off x="1714500" y="2569130"/>
            <a:ext cx="914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More than monitoring:</a:t>
            </a:r>
            <a:r>
              <a:rPr lang="en-US" sz="16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Monitoring tells you *if* something is broken. Observability helps you understand *why*.</a:t>
            </a:r>
            <a:endParaRPr sz="1600" dirty="0"/>
          </a:p>
        </p:txBody>
      </p:sp>
      <p:sp>
        <p:nvSpPr>
          <p:cNvPr id="223" name="Google Shape;223;p23"/>
          <p:cNvSpPr txBox="1"/>
          <p:nvPr/>
        </p:nvSpPr>
        <p:spPr>
          <a:xfrm>
            <a:off x="1714500" y="3271837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Three Pillars: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Traditionally Logs, Metrics, and Traces.</a:t>
            </a:r>
            <a:endParaRPr sz="1600"/>
          </a:p>
        </p:txBody>
      </p:sp>
      <p:sp>
        <p:nvSpPr>
          <p:cNvPr id="224" name="Google Shape;224;p23"/>
          <p:cNvSpPr txBox="1"/>
          <p:nvPr/>
        </p:nvSpPr>
        <p:spPr>
          <a:xfrm>
            <a:off x="1714500" y="3767137"/>
            <a:ext cx="9144000" cy="1112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For Mobile: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We adapt this to our "Big 3": </a:t>
            </a:r>
            <a:b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1. Events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(User Behavior) </a:t>
            </a:r>
            <a:b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2. Crashes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(Stability) </a:t>
            </a:r>
            <a:b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3. Performance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(Speed)</a:t>
            </a:r>
            <a:endParaRPr sz="1600"/>
          </a:p>
        </p:txBody>
      </p:sp>
      <p:pic>
        <p:nvPicPr>
          <p:cNvPr id="225" name="Google Shape;22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8241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319462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814762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What is Mobile Observability?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The Firebase Toolkit</a:t>
            </a:r>
            <a:endParaRPr/>
          </a:p>
        </p:txBody>
      </p:sp>
      <p:pic>
        <p:nvPicPr>
          <p:cNvPr id="235" name="Google Shape;23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4"/>
          <p:cNvSpPr txBox="1"/>
          <p:nvPr/>
        </p:nvSpPr>
        <p:spPr>
          <a:xfrm>
            <a:off x="571500" y="1695450"/>
            <a:ext cx="5286375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Google's mobile platform that provides a suite of tools for building, releasing, and monitoring apps.</a:t>
            </a:r>
            <a:endParaRPr dirty="0"/>
          </a:p>
        </p:txBody>
      </p:sp>
      <p:sp>
        <p:nvSpPr>
          <p:cNvPr id="237" name="Google Shape;237;p24"/>
          <p:cNvSpPr txBox="1"/>
          <p:nvPr/>
        </p:nvSpPr>
        <p:spPr>
          <a:xfrm>
            <a:off x="571500" y="3918215"/>
            <a:ext cx="5286375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We focus on its observability products, which work together to give a complete picture of app health.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5"/>
          <p:cNvSpPr txBox="1"/>
          <p:nvPr/>
        </p:nvSpPr>
        <p:spPr>
          <a:xfrm>
            <a:off x="1714500" y="29146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What it is:</a:t>
            </a:r>
            <a:r>
              <a:rPr lang="en-US" sz="16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Tracks user behavior and app usage by logging "Events".</a:t>
            </a:r>
            <a:endParaRPr sz="1600" dirty="0"/>
          </a:p>
        </p:txBody>
      </p:sp>
      <p:sp>
        <p:nvSpPr>
          <p:cNvPr id="244" name="Google Shape;244;p25"/>
          <p:cNvSpPr txBox="1"/>
          <p:nvPr/>
        </p:nvSpPr>
        <p:spPr>
          <a:xfrm>
            <a:off x="1714500" y="34099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Automatic Events: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Captures screen_view, app_remove, first_open automatically.</a:t>
            </a:r>
            <a:endParaRPr sz="1600"/>
          </a:p>
        </p:txBody>
      </p:sp>
      <p:sp>
        <p:nvSpPr>
          <p:cNvPr id="245" name="Google Shape;245;p25"/>
          <p:cNvSpPr txBox="1"/>
          <p:nvPr/>
        </p:nvSpPr>
        <p:spPr>
          <a:xfrm>
            <a:off x="1714500" y="39052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Custom Events: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You log events that matter to your app (e.g., purchase_complete, share_image).</a:t>
            </a:r>
            <a:endParaRPr sz="1600"/>
          </a:p>
        </p:txBody>
      </p:sp>
      <p:sp>
        <p:nvSpPr>
          <p:cNvPr id="246" name="Google Shape;246;p25"/>
          <p:cNvSpPr txBox="1"/>
          <p:nvPr/>
        </p:nvSpPr>
        <p:spPr>
          <a:xfrm>
            <a:off x="1714500" y="44005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The "Why":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Understand user funnels, feature adoption, and engagement.</a:t>
            </a:r>
            <a:endParaRPr sz="1600"/>
          </a:p>
        </p:txBody>
      </p:sp>
      <p:pic>
        <p:nvPicPr>
          <p:cNvPr id="247" name="Google Shape;24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962275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4575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9528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44817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1. Firebase Analytics (Events)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762125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6"/>
          <p:cNvSpPr txBox="1"/>
          <p:nvPr/>
        </p:nvSpPr>
        <p:spPr>
          <a:xfrm>
            <a:off x="571500" y="2547937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1. Get the FirebaseAnalytics instance:</a:t>
            </a:r>
            <a:endParaRPr/>
          </a:p>
        </p:txBody>
      </p:sp>
      <p:sp>
        <p:nvSpPr>
          <p:cNvPr id="259" name="Google Shape;259;p26"/>
          <p:cNvSpPr txBox="1"/>
          <p:nvPr/>
        </p:nvSpPr>
        <p:spPr>
          <a:xfrm>
            <a:off x="571500" y="3871912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2. Log your custom event with a Bundle:</a:t>
            </a:r>
            <a:endParaRPr/>
          </a:p>
        </p:txBody>
      </p:sp>
      <p:pic>
        <p:nvPicPr>
          <p:cNvPr id="260" name="Google Shape;260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762125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Implementing Firebase Events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7"/>
          <p:cNvSpPr txBox="1"/>
          <p:nvPr/>
        </p:nvSpPr>
        <p:spPr>
          <a:xfrm>
            <a:off x="571500" y="3052762"/>
            <a:ext cx="5286375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0" b="1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99.9%</a:t>
            </a:r>
            <a:endParaRPr/>
          </a:p>
        </p:txBody>
      </p:sp>
      <p:sp>
        <p:nvSpPr>
          <p:cNvPr id="268" name="Google Shape;268;p27"/>
          <p:cNvSpPr txBox="1"/>
          <p:nvPr/>
        </p:nvSpPr>
        <p:spPr>
          <a:xfrm>
            <a:off x="571500" y="4481512"/>
            <a:ext cx="52863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Goal: Crash-Free Users</a:t>
            </a:r>
            <a:endParaRPr/>
          </a:p>
        </p:txBody>
      </p:sp>
      <p:sp>
        <p:nvSpPr>
          <p:cNvPr id="269" name="Google Shape;269;p27"/>
          <p:cNvSpPr txBox="1"/>
          <p:nvPr/>
        </p:nvSpPr>
        <p:spPr>
          <a:xfrm>
            <a:off x="6334125" y="3033712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F9FAFB"/>
                </a:solidFill>
                <a:latin typeface="Poppins"/>
                <a:ea typeface="Poppins"/>
                <a:cs typeface="Poppins"/>
                <a:sym typeface="Poppins"/>
              </a:rPr>
              <a:t>Find, Fix, and Prioritize Crashes</a:t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6334125" y="3662362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Real-time crash reporting that automatically captures and groups crashes (Java/Kotlin &amp; NDK).</a:t>
            </a:r>
            <a:endParaRPr/>
          </a:p>
        </p:txBody>
      </p:sp>
      <p:sp>
        <p:nvSpPr>
          <p:cNvPr id="271" name="Google Shape;271;p27"/>
          <p:cNvSpPr txBox="1"/>
          <p:nvPr/>
        </p:nvSpPr>
        <p:spPr>
          <a:xfrm>
            <a:off x="6334125" y="4348162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Provides actionable insights: stack traces, device info, and OS version.</a:t>
            </a:r>
            <a:endParaRPr/>
          </a:p>
        </p:txBody>
      </p:sp>
      <p:sp>
        <p:nvSpPr>
          <p:cNvPr id="272" name="Google Shape;272;p2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2. Firebase Crashlytics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8"/>
          <p:cNvSpPr txBox="1"/>
          <p:nvPr/>
        </p:nvSpPr>
        <p:spPr>
          <a:xfrm>
            <a:off x="1714500" y="2528887"/>
            <a:ext cx="9144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Integration: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Add the Gradle dependency. It works out-of-the-box.</a:t>
            </a:r>
            <a:endParaRPr/>
          </a:p>
        </p:txBody>
      </p:sp>
      <p:sp>
        <p:nvSpPr>
          <p:cNvPr id="279" name="Google Shape;279;p28"/>
          <p:cNvSpPr txBox="1"/>
          <p:nvPr/>
        </p:nvSpPr>
        <p:spPr>
          <a:xfrm>
            <a:off x="1714500" y="3024187"/>
            <a:ext cx="9144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Custom Logs: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Add "breadcrumb" context to reports.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Crashlytics.log("User at checkout screen");</a:t>
            </a:r>
            <a:endParaRPr/>
          </a:p>
        </p:txBody>
      </p:sp>
      <p:sp>
        <p:nvSpPr>
          <p:cNvPr id="280" name="Google Shape;280;p28"/>
          <p:cNvSpPr txBox="1"/>
          <p:nvPr/>
        </p:nvSpPr>
        <p:spPr>
          <a:xfrm>
            <a:off x="1714500" y="3776662"/>
            <a:ext cx="9144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Custom Keys: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Set user state (e.g., premium/free).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Crashlytics.setCustomKey("user_tier", "premium");</a:t>
            </a:r>
            <a:endParaRPr/>
          </a:p>
        </p:txBody>
      </p:sp>
      <p:sp>
        <p:nvSpPr>
          <p:cNvPr id="281" name="Google Shape;281;p28"/>
          <p:cNvSpPr txBox="1"/>
          <p:nvPr/>
        </p:nvSpPr>
        <p:spPr>
          <a:xfrm>
            <a:off x="1714500" y="4529137"/>
            <a:ext cx="9144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Test Crash: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Verify your setup.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throw new RuntimeException("Test Crash");</a:t>
            </a:r>
            <a:endParaRPr/>
          </a:p>
        </p:txBody>
      </p:sp>
      <p:pic>
        <p:nvPicPr>
          <p:cNvPr id="282" name="Google Shape;282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576512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071812"/>
            <a:ext cx="1428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82428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57676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Setting Up Crashlytics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Google Shape;291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9"/>
          <p:cNvSpPr txBox="1"/>
          <p:nvPr/>
        </p:nvSpPr>
        <p:spPr>
          <a:xfrm>
            <a:off x="1340881" y="3405187"/>
            <a:ext cx="18902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App Startup</a:t>
            </a:r>
            <a:endParaRPr/>
          </a:p>
        </p:txBody>
      </p:sp>
      <p:sp>
        <p:nvSpPr>
          <p:cNvPr id="296" name="Google Shape;296;p29"/>
          <p:cNvSpPr txBox="1"/>
          <p:nvPr/>
        </p:nvSpPr>
        <p:spPr>
          <a:xfrm>
            <a:off x="86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Measures "cold," "warm," and "hot" app start times. A critical first impression.</a:t>
            </a:r>
            <a:endParaRPr/>
          </a:p>
        </p:txBody>
      </p:sp>
      <p:sp>
        <p:nvSpPr>
          <p:cNvPr id="297" name="Google Shape;297;p29"/>
          <p:cNvSpPr txBox="1"/>
          <p:nvPr/>
        </p:nvSpPr>
        <p:spPr>
          <a:xfrm>
            <a:off x="4700825" y="3405187"/>
            <a:ext cx="27903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Network Requests</a:t>
            </a:r>
            <a:endParaRPr/>
          </a:p>
        </p:txBody>
      </p:sp>
      <p:sp>
        <p:nvSpPr>
          <p:cNvPr id="298" name="Google Shape;298;p29"/>
          <p:cNvSpPr txBox="1"/>
          <p:nvPr/>
        </p:nvSpPr>
        <p:spPr>
          <a:xfrm>
            <a:off x="467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Automatically monitors HTTP/S requests. Tracks success rate, payload size, and response time.</a:t>
            </a:r>
            <a:endParaRPr/>
          </a:p>
        </p:txBody>
      </p:sp>
      <p:sp>
        <p:nvSpPr>
          <p:cNvPr id="299" name="Google Shape;299;p29"/>
          <p:cNvSpPr txBox="1"/>
          <p:nvPr/>
        </p:nvSpPr>
        <p:spPr>
          <a:xfrm>
            <a:off x="8710850" y="3405187"/>
            <a:ext cx="239029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Custom Traces</a:t>
            </a:r>
            <a:endParaRPr/>
          </a:p>
        </p:txBody>
      </p:sp>
      <p:sp>
        <p:nvSpPr>
          <p:cNvPr id="300" name="Google Shape;300;p29"/>
          <p:cNvSpPr txBox="1"/>
          <p:nvPr/>
        </p:nvSpPr>
        <p:spPr>
          <a:xfrm>
            <a:off x="848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Manually trace specific code blocks (e.g., "image_processing") to find bottlenecks.</a:t>
            </a:r>
            <a:endParaRPr/>
          </a:p>
        </p:txBody>
      </p:sp>
      <p:pic>
        <p:nvPicPr>
          <p:cNvPr id="301" name="Google Shape;301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5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0" y="2709862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2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05975" y="2709862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3. Firebase Performance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24000"/>
            <a:ext cx="11049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30"/>
          <p:cNvSpPr txBox="1"/>
          <p:nvPr/>
        </p:nvSpPr>
        <p:spPr>
          <a:xfrm>
            <a:off x="2319337" y="4929187"/>
            <a:ext cx="7553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The /feed/global and /images/upload endpoints are clear bottlenecks that need investigation.</a:t>
            </a:r>
            <a:endParaRPr/>
          </a:p>
        </p:txBody>
      </p:sp>
      <p:sp>
        <p:nvSpPr>
          <p:cNvPr id="312" name="Google Shape;312;p3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Performance Deep Dive: Network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31"/>
          <p:cNvSpPr txBox="1"/>
          <p:nvPr/>
        </p:nvSpPr>
        <p:spPr>
          <a:xfrm>
            <a:off x="1735931" y="3405187"/>
            <a:ext cx="110013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1. Event</a:t>
            </a:r>
            <a:endParaRPr/>
          </a:p>
        </p:txBody>
      </p:sp>
      <p:sp>
        <p:nvSpPr>
          <p:cNvPr id="322" name="Google Shape;322;p31"/>
          <p:cNvSpPr txBox="1"/>
          <p:nvPr/>
        </p:nvSpPr>
        <p:spPr>
          <a:xfrm>
            <a:off x="866775" y="4176712"/>
            <a:ext cx="2838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User clicks "Buy". (Analytics logs begin_checkout).</a:t>
            </a:r>
            <a:endParaRPr/>
          </a:p>
        </p:txBody>
      </p:sp>
      <p:sp>
        <p:nvSpPr>
          <p:cNvPr id="323" name="Google Shape;323;p31"/>
          <p:cNvSpPr txBox="1"/>
          <p:nvPr/>
        </p:nvSpPr>
        <p:spPr>
          <a:xfrm>
            <a:off x="4920853" y="3405187"/>
            <a:ext cx="23502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2. Performance</a:t>
            </a:r>
            <a:endParaRPr/>
          </a:p>
        </p:txBody>
      </p:sp>
      <p:sp>
        <p:nvSpPr>
          <p:cNvPr id="324" name="Google Shape;324;p31"/>
          <p:cNvSpPr txBox="1"/>
          <p:nvPr/>
        </p:nvSpPr>
        <p:spPr>
          <a:xfrm>
            <a:off x="467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checkout_trace starts. Network call to /payment is </a:t>
            </a: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slow (5.2s)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 (Performance alerts).</a:t>
            </a:r>
            <a:endParaRPr/>
          </a:p>
        </p:txBody>
      </p:sp>
      <p:sp>
        <p:nvSpPr>
          <p:cNvPr id="325" name="Google Shape;325;p31"/>
          <p:cNvSpPr txBox="1"/>
          <p:nvPr/>
        </p:nvSpPr>
        <p:spPr>
          <a:xfrm>
            <a:off x="9275921" y="3405187"/>
            <a:ext cx="126015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3. Crash</a:t>
            </a:r>
            <a:endParaRPr/>
          </a:p>
        </p:txBody>
      </p:sp>
      <p:sp>
        <p:nvSpPr>
          <p:cNvPr id="326" name="Google Shape;326;p31"/>
          <p:cNvSpPr txBox="1"/>
          <p:nvPr/>
        </p:nvSpPr>
        <p:spPr>
          <a:xfrm>
            <a:off x="848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App crashes due to an unexpected null response from the slow /payment API. (Crashlytics reports).</a:t>
            </a:r>
            <a:endParaRPr/>
          </a:p>
        </p:txBody>
      </p:sp>
      <p:pic>
        <p:nvPicPr>
          <p:cNvPr id="327" name="Google Shape;327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43125" y="2709862"/>
            <a:ext cx="2857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3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3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31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Real life example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5A725F5F-8E4E-983A-69EB-EDFE8355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25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25508D-BE29-DF63-034D-BF07C3270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791" y="4709"/>
            <a:ext cx="9274628" cy="6863226"/>
          </a:xfrm>
          <a:prstGeom prst="rect">
            <a:avLst/>
          </a:prstGeom>
          <a:ln>
            <a:noFill/>
          </a:ln>
        </p:spPr>
      </p:pic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0514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018FF57D-2F94-1AB5-C480-D80EA09CD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1ECD20-18B3-7F15-7081-C8C6E5224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425194"/>
            <a:ext cx="10905066" cy="4007611"/>
          </a:xfrm>
          <a:prstGeom prst="rect">
            <a:avLst/>
          </a:prstGeom>
          <a:ln>
            <a:noFill/>
          </a:ln>
        </p:spPr>
      </p:pic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0888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BDCC8F69-5AC3-66C0-0EDD-B1EBEF117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B9958A-6BD0-2E4B-7A1F-9716BB067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D2343BC-4DBD-6734-F97D-3E9739BF9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4069BF-666A-0EC2-B8F1-61EDFC5A89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5D9B84-CE32-C3A0-F2DF-B2B6CBB8D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C1068E-F7B2-3B6F-069D-709F9E7D6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9700C609-E563-9246-F658-65C6D9594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AB58698-AC2F-A071-915D-E04F29F13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811783"/>
            <a:ext cx="10905066" cy="5234432"/>
          </a:xfrm>
          <a:prstGeom prst="rect">
            <a:avLst/>
          </a:prstGeom>
          <a:ln>
            <a:noFill/>
          </a:ln>
        </p:spPr>
      </p:pic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BDAF94C-8403-36D4-A80A-0259513AD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218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E8481D5A-9326-A617-A869-87ABC63F6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AD2F56-3124-DF3C-FCCF-C691FCDD3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668" y="643467"/>
            <a:ext cx="9482663" cy="5571065"/>
          </a:xfrm>
          <a:prstGeom prst="rect">
            <a:avLst/>
          </a:prstGeom>
          <a:ln>
            <a:noFill/>
          </a:ln>
        </p:spPr>
      </p:pic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9587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886FF056-3B90-28BF-663B-CBB31F4A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BD4364-9626-8BD3-21E8-F91CA6456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806871"/>
            <a:ext cx="10905066" cy="3244257"/>
          </a:xfrm>
          <a:prstGeom prst="rect">
            <a:avLst/>
          </a:prstGeom>
          <a:ln>
            <a:noFill/>
          </a:ln>
        </p:spPr>
      </p:pic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0539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225D9C6E-39C6-20FB-E09B-F4A20C07F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7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5" name="Isosceles Triangle 84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8A4A4B-66D6-5DFC-A5FC-8D1D12DB0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344" y="643467"/>
            <a:ext cx="8637312" cy="5571065"/>
          </a:xfrm>
          <a:prstGeom prst="rect">
            <a:avLst/>
          </a:prstGeom>
          <a:ln>
            <a:noFill/>
          </a:ln>
        </p:spPr>
      </p:pic>
      <p:sp>
        <p:nvSpPr>
          <p:cNvPr id="87" name="Isosceles Triangle 86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047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C1301348-AFF6-7DEA-62CB-2D54CA4E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Isosceles Triangle 101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AAAD7C-A10D-5FB8-3176-A3728D586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267" y="643467"/>
            <a:ext cx="10175466" cy="5571065"/>
          </a:xfrm>
          <a:prstGeom prst="rect">
            <a:avLst/>
          </a:prstGeom>
          <a:ln>
            <a:noFill/>
          </a:ln>
        </p:spPr>
      </p:pic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9271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602F778F-236F-066E-DBB6-9E395B0AE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08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9" name="Isosceles Triangle 118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7C7D92-A3D9-E8A1-CDC3-2F1CD77FA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595" y="643467"/>
            <a:ext cx="9688810" cy="5571065"/>
          </a:xfrm>
          <a:prstGeom prst="rect">
            <a:avLst/>
          </a:prstGeom>
          <a:ln>
            <a:noFill/>
          </a:ln>
        </p:spPr>
      </p:pic>
      <p:sp>
        <p:nvSpPr>
          <p:cNvPr id="121" name="Isosceles Triangle 120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0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5846</TotalTime>
  <Words>1008</Words>
  <Application>Microsoft Macintosh PowerPoint</Application>
  <PresentationFormat>Widescreen</PresentationFormat>
  <Paragraphs>108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Lato</vt:lpstr>
      <vt:lpstr>Poppins</vt:lpstr>
      <vt:lpstr>Office Theme</vt:lpstr>
      <vt:lpstr>Mobile and Embedded Computing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50</cp:revision>
  <dcterms:created xsi:type="dcterms:W3CDTF">2025-09-15T16:44:45Z</dcterms:created>
  <dcterms:modified xsi:type="dcterms:W3CDTF">2025-11-09T08:58:06Z</dcterms:modified>
</cp:coreProperties>
</file>