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59" r:id="rId4"/>
    <p:sldId id="260" r:id="rId5"/>
    <p:sldId id="291" r:id="rId6"/>
    <p:sldId id="287" r:id="rId7"/>
    <p:sldId id="286" r:id="rId8"/>
    <p:sldId id="277" r:id="rId9"/>
    <p:sldId id="279" r:id="rId10"/>
    <p:sldId id="263" r:id="rId11"/>
    <p:sldId id="265" r:id="rId12"/>
    <p:sldId id="283" r:id="rId13"/>
    <p:sldId id="285" r:id="rId14"/>
    <p:sldId id="264" r:id="rId15"/>
    <p:sldId id="268" r:id="rId16"/>
    <p:sldId id="289" r:id="rId17"/>
    <p:sldId id="288" r:id="rId18"/>
    <p:sldId id="269" r:id="rId19"/>
    <p:sldId id="290" r:id="rId20"/>
    <p:sldId id="271" r:id="rId21"/>
    <p:sldId id="266" r:id="rId22"/>
    <p:sldId id="272" r:id="rId23"/>
    <p:sldId id="273" r:id="rId24"/>
    <p:sldId id="27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75"/>
    <p:restoredTop sz="94633"/>
  </p:normalViewPr>
  <p:slideViewPr>
    <p:cSldViewPr snapToGrid="0">
      <p:cViewPr varScale="1">
        <p:scale>
          <a:sx n="147" d="100"/>
          <a:sy n="147" d="100"/>
        </p:scale>
        <p:origin x="6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8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9" name="Shape 18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21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11" name="Shape 21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22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2" name="Shape 22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35000" y="2134658"/>
            <a:ext cx="10922000" cy="4216401"/>
          </a:xfrm>
          <a:prstGeom prst="rect">
            <a:avLst/>
          </a:prstGeom>
        </p:spPr>
        <p:txBody>
          <a:bodyPr numCol="2" spcCol="109220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138880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rusudinu/mobile-and-embedded-computing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rusudinu.ro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Lecture 1. Course orientation</a:t>
            </a:r>
          </a:p>
          <a:p>
            <a:r>
              <a:rPr lang="en-US" b="1" dirty="0">
                <a:cs typeface="Al Bayan Plain" pitchFamily="2" charset="-78"/>
              </a:rPr>
              <a:t>Platforms &amp; Technology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27E7B-5827-BBF6-FBA1-991606DB0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dirty="0">
                <a:cs typeface="Al Bayan Plain" pitchFamily="2" charset="-78"/>
              </a:rPr>
              <a:t>Dinu-Ștefan RUSU 	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2" name="Picture 2" descr="Doctor de Bine Logo">
            <a:extLst>
              <a:ext uri="{FF2B5EF4-FFF2-40B4-BE49-F238E27FC236}">
                <a16:creationId xmlns:a16="http://schemas.microsoft.com/office/drawing/2014/main" id="{21B826A7-DBFB-B726-8EB2-90C954E52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Euronews Logo">
            <a:extLst>
              <a:ext uri="{FF2B5EF4-FFF2-40B4-BE49-F238E27FC236}">
                <a16:creationId xmlns:a16="http://schemas.microsoft.com/office/drawing/2014/main" id="{A72D385A-47D4-D3E4-4333-E5FD898BAF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7354A1-F657-6CC8-7FD6-25533BE525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6" name="Picture 2" descr="LP - Ikea | Edenred Benefit">
            <a:extLst>
              <a:ext uri="{FF2B5EF4-FFF2-40B4-BE49-F238E27FC236}">
                <a16:creationId xmlns:a16="http://schemas.microsoft.com/office/drawing/2014/main" id="{D580F332-EEF3-D8F7-B302-B6BCAC76F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6B288A08-D89F-5AF3-69E5-AA9E26E4E7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Selgros România">
            <a:extLst>
              <a:ext uri="{FF2B5EF4-FFF2-40B4-BE49-F238E27FC236}">
                <a16:creationId xmlns:a16="http://schemas.microsoft.com/office/drawing/2014/main" id="{A8D683D3-0CA5-E7BE-63BA-E11C97DDA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evTalks Romania | RomanianStartups.com">
            <a:extLst>
              <a:ext uri="{FF2B5EF4-FFF2-40B4-BE49-F238E27FC236}">
                <a16:creationId xmlns:a16="http://schemas.microsoft.com/office/drawing/2014/main" id="{AAEED595-A738-50A2-F529-B0C44F205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4F221111-2E17-9A8E-87B0-D89E1B0A4D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AF9EE-1F8C-F17B-21DE-26D8FA461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E8B2D-7A94-A3A9-6DE9-4B5DB9D17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1. Git &amp; GitHub, Web vs PWA vs Cross platform vs Native, Overview of SSR, SSG, CSR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2. Compiled vs Interpreted languages, Null safe languages, Dart &amp; Flutter 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3. Agent assisted coding, Async vs Threads, Flutter Widgets &amp; UI Elements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4. Stateless vs Stateful, State management techniques (introduction)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5. Server vs Client-Side code execution, Serverless vs VPS (+ http &amp; Firebase)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6. </a:t>
            </a:r>
            <a:r>
              <a:rPr lang="en-US" dirty="0" err="1">
                <a:cs typeface="Al Bayan Plain" pitchFamily="2" charset="-78"/>
              </a:rPr>
              <a:t>GraphQL</a:t>
            </a:r>
            <a:r>
              <a:rPr lang="en-US" dirty="0">
                <a:cs typeface="Al Bayan Plain" pitchFamily="2" charset="-78"/>
              </a:rPr>
              <a:t> &amp; REST, Observability for Mobile applications (Events, Crashlytics)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7. Web Sockets, Permissions &amp; routing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8. State management techniques, Business Logic Component (</a:t>
            </a:r>
            <a:r>
              <a:rPr lang="en-US" dirty="0" err="1">
                <a:cs typeface="Al Bayan Plain" pitchFamily="2" charset="-78"/>
              </a:rPr>
              <a:t>BLoC</a:t>
            </a:r>
            <a:r>
              <a:rPr lang="en-US" dirty="0">
                <a:cs typeface="Al Bayan Plain" pitchFamily="2" charset="-78"/>
              </a:rPr>
              <a:t>) pattern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9. Authentication, OAuth providers, Firebase App Check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10. AI On-device (Google ML Kit for Flutter) &amp; Connecting to LLMs (</a:t>
            </a:r>
            <a:r>
              <a:rPr lang="en-US" dirty="0" err="1">
                <a:cs typeface="Al Bayan Plain" pitchFamily="2" charset="-78"/>
              </a:rPr>
              <a:t>VertexAI</a:t>
            </a:r>
            <a:r>
              <a:rPr lang="en-US" dirty="0">
                <a:cs typeface="Al Bayan Plain" pitchFamily="2" charset="-78"/>
              </a:rPr>
              <a:t>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11. Deploy to stores (Google Play, App Store) &amp; CI/CD With GitHub Actions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12. Performance and Energy Consumption</a:t>
            </a:r>
          </a:p>
        </p:txBody>
      </p:sp>
    </p:spTree>
    <p:extLst>
      <p:ext uri="{BB962C8B-B14F-4D97-AF65-F5344CB8AC3E}">
        <p14:creationId xmlns:p14="http://schemas.microsoft.com/office/powerpoint/2010/main" val="1069093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4C40A-0AAC-FE2B-3D55-FC8051633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5DBEC-B294-95BC-1054-3DE32209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2A63F-31D3-4BD3-F0FB-55F20BF01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b="1" dirty="0"/>
              <a:t>Final grade (10p)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Final Exam (in the session)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maximum 3)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+ 1p Concept presentations (teams of maximum 3)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SzPts val="1100"/>
              <a:buNone/>
            </a:pPr>
            <a:r>
              <a:rPr lang="en-US" b="1" dirty="0"/>
              <a:t>Requirements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In total ≥ 5</a:t>
            </a:r>
          </a:p>
        </p:txBody>
      </p:sp>
    </p:spTree>
    <p:extLst>
      <p:ext uri="{BB962C8B-B14F-4D97-AF65-F5344CB8AC3E}">
        <p14:creationId xmlns:p14="http://schemas.microsoft.com/office/powerpoint/2010/main" val="1104862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27186" y="1720840"/>
            <a:ext cx="105376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Pick a topic from the given excel table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should have slides that cover ~20minutes of presentation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If it makes sense for the topic, also include a demo (this should fit in the 20 minutes of presentation)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All the team members should present their part (ideally each student will present for 20 minutes / (students in the team) (e.g. ~10 minutes / student for a team of 2, ~7 minutes / student for a team of 3)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All your presentation materials should be uploaded on Moodle in the designated space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present from your own laptop, at the projector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Teams of max 3 students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Concept presentation details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92367"/>
            <a:ext cx="9144000" cy="1073265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Platforms &amp; Technology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CDE96C-FC85-124D-26E8-B64A0C2DD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B6540F1-17D1-95EB-0904-EE786731B1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Content Placeholder 4" descr="A diagram of a software company&#10;&#10;AI-generated content may be incorrect.">
            <a:extLst>
              <a:ext uri="{FF2B5EF4-FFF2-40B4-BE49-F238E27FC236}">
                <a16:creationId xmlns:a16="http://schemas.microsoft.com/office/drawing/2014/main" id="{E42191C1-C700-9816-9CF4-8C6AAEBF9D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086" b="866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857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Image" descr="Image"/>
          <p:cNvPicPr>
            <a:picLocks noChangeAspect="1"/>
          </p:cNvPicPr>
          <p:nvPr/>
        </p:nvPicPr>
        <p:blipFill>
          <a:blip r:embed="rId3">
            <a:alphaModFix amt="19754"/>
          </a:blip>
          <a:stretch>
            <a:fillRect/>
          </a:stretch>
        </p:blipFill>
        <p:spPr>
          <a:xfrm>
            <a:off x="5688480" y="2140653"/>
            <a:ext cx="5850648" cy="2440818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E76AA0A-94E5-5C65-717B-681627F27362}"/>
              </a:ext>
            </a:extLst>
          </p:cNvPr>
          <p:cNvSpPr txBox="1">
            <a:spLocks/>
          </p:cNvSpPr>
          <p:nvPr/>
        </p:nvSpPr>
        <p:spPr>
          <a:xfrm>
            <a:off x="652872" y="1567039"/>
            <a:ext cx="9522486" cy="4312766"/>
          </a:xfrm>
          <a:prstGeom prst="rect">
            <a:avLst/>
          </a:prstGeom>
        </p:spPr>
        <p:txBody>
          <a:bodyPr vert="horz" lIns="91440" tIns="45720" rIns="91440" bIns="45720" numCol="2" spcCol="10922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C7E492-7090-5567-79EC-41800218F367}"/>
              </a:ext>
            </a:extLst>
          </p:cNvPr>
          <p:cNvSpPr txBox="1"/>
          <p:nvPr/>
        </p:nvSpPr>
        <p:spPr>
          <a:xfrm>
            <a:off x="998462" y="1307376"/>
            <a:ext cx="434442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Git is a version control system, designed to handle everything related to source code management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Used to track changes in the source code, enabling multiple developers to work together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Image" descr="Image"/>
          <p:cNvPicPr>
            <a:picLocks noChangeAspect="1"/>
          </p:cNvPicPr>
          <p:nvPr/>
        </p:nvPicPr>
        <p:blipFill>
          <a:blip r:embed="rId2">
            <a:alphaModFix amt="19756"/>
          </a:blip>
          <a:srcRect/>
          <a:stretch>
            <a:fillRect/>
          </a:stretch>
        </p:blipFill>
        <p:spPr>
          <a:xfrm>
            <a:off x="22567" y="1806972"/>
            <a:ext cx="5767258" cy="3244083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A3B971-D792-5970-E680-CEBDB3B74C63}"/>
              </a:ext>
            </a:extLst>
          </p:cNvPr>
          <p:cNvSpPr txBox="1"/>
          <p:nvPr/>
        </p:nvSpPr>
        <p:spPr>
          <a:xfrm>
            <a:off x="6209414" y="1483806"/>
            <a:ext cx="48590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It is mandatory to create a GitHub account at </a:t>
            </a:r>
            <a:r>
              <a:rPr lang="en-US" sz="2800" u="sng" dirty="0">
                <a:hlinkClick r:id="rId3"/>
              </a:rPr>
              <a:t>https://github.com/signup</a:t>
            </a: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You can find all the resources you need in this repository: </a:t>
            </a:r>
            <a:r>
              <a:rPr lang="en-US" sz="2800" dirty="0">
                <a:hlinkClick r:id="rId4"/>
              </a:rPr>
              <a:t>https://rusudinu/mobile-and-embedded-computing</a:t>
            </a: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Image" descr="Image"/>
          <p:cNvPicPr>
            <a:picLocks noChangeAspect="1"/>
          </p:cNvPicPr>
          <p:nvPr/>
        </p:nvPicPr>
        <p:blipFill>
          <a:blip r:embed="rId2">
            <a:alphaModFix amt="19756"/>
          </a:blip>
          <a:srcRect/>
          <a:stretch>
            <a:fillRect/>
          </a:stretch>
        </p:blipFill>
        <p:spPr>
          <a:xfrm>
            <a:off x="22567" y="1806972"/>
            <a:ext cx="5767258" cy="3244083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7F0C93-964E-6AF5-659E-58C09A79D9DF}"/>
              </a:ext>
            </a:extLst>
          </p:cNvPr>
          <p:cNvSpPr txBox="1"/>
          <p:nvPr/>
        </p:nvSpPr>
        <p:spPr>
          <a:xfrm>
            <a:off x="5443871" y="1443841"/>
            <a:ext cx="55714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A repository contains all the files of your project, and each revision of it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It contains at least one branch (main/master)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A repository is a Git ‘concept’, and NOT a GitHub one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ngwing.com-2.png" descr="pngwing.com-2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053119" y="1800320"/>
            <a:ext cx="3257361" cy="325736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13D163-97D5-D6E9-AE9A-837B5DE8CDF7}"/>
              </a:ext>
            </a:extLst>
          </p:cNvPr>
          <p:cNvSpPr txBox="1"/>
          <p:nvPr/>
        </p:nvSpPr>
        <p:spPr>
          <a:xfrm>
            <a:off x="5369442" y="1814370"/>
            <a:ext cx="602462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Branches allow contributors to develop features, fix bugs or experiment new ideas without impacting other team members.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 branch is created from an existing branch.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pngwing.com-2.png" descr="pngwing.com-2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053119" y="1800320"/>
            <a:ext cx="3257361" cy="325736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C425A1-AF68-B8C2-0392-2171AE53E582}"/>
              </a:ext>
            </a:extLst>
          </p:cNvPr>
          <p:cNvSpPr txBox="1"/>
          <p:nvPr/>
        </p:nvSpPr>
        <p:spPr>
          <a:xfrm>
            <a:off x="4718335" y="797510"/>
            <a:ext cx="687926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 pull request is an event that takes place when a contributor is ready to begin the process of merging new code changes with the main project branch.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After a peer review, a pull request may or may not be approved.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If approved, it may be merged, otherwise the author must make the requested changes until he receives all the required approvals.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32A306D-A283-6E16-A211-7596336D1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961729"/>
            <a:ext cx="10905066" cy="49345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82567F-FCEB-1406-8E6A-B25A958E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" name="Picture 9" descr="A computer hardware system with boxes and letters&#10;&#10;AI-generated content may be incorrect.">
            <a:extLst>
              <a:ext uri="{FF2B5EF4-FFF2-40B4-BE49-F238E27FC236}">
                <a16:creationId xmlns:a16="http://schemas.microsoft.com/office/drawing/2014/main" id="{9F38AF69-CB44-B1F2-7F6E-1555FB9EC1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672" b="707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274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5476B4-DEEC-AE95-0965-F39905410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D88DE0-3BC8-AEEF-4ED4-FF3AE80F5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Device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97D47-4522-D002-63CD-259AC78C3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1727" y="649480"/>
            <a:ext cx="3025303" cy="5546047"/>
          </a:xfrm>
        </p:spPr>
        <p:txBody>
          <a:bodyPr anchor="ctr"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CPU</a:t>
            </a: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RAM</a:t>
            </a:r>
          </a:p>
          <a:p>
            <a:pPr>
              <a:buFont typeface="Wingdings" pitchFamily="2" charset="2"/>
              <a:buChar char="Ø"/>
            </a:pPr>
            <a:r>
              <a:rPr lang="en-US" sz="2000">
                <a:cs typeface="Al Bayan Plain" pitchFamily="2" charset="-78"/>
              </a:rPr>
              <a:t> SSD (Nand Flash)</a:t>
            </a:r>
            <a:endParaRPr lang="en-US" sz="2000" dirty="0">
              <a:cs typeface="Al Bayan Plain" pitchFamily="2" charset="-78"/>
            </a:endParaRP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GPU</a:t>
            </a: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For mobile devices, the battery is also a ‘resource’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AB8A05-6C4A-CAA0-1F1B-FC3718EF7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763" y="473654"/>
            <a:ext cx="2887253" cy="5922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636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BB622-2F12-B4C3-0571-C28CAEE2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396A8-211E-68B4-5B5A-A4A0FE74A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/>
              <a:t>Resource allocation for LLMs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51B95-29FD-6341-9F0E-36074AF39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200" dirty="0">
                <a:cs typeface="Al Bayan Plain" pitchFamily="2" charset="-78"/>
              </a:rPr>
              <a:t> When you try to load a Large Language Model (LLM), the operating system will do the following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cs typeface="Al Bayan Plain" pitchFamily="2" charset="-78"/>
              </a:rPr>
              <a:t> ’Unified memory’ in MacBooks is very useful for LLMS because you have a lot more ‘VRAM’ available	</a:t>
            </a:r>
          </a:p>
          <a:p>
            <a:pPr marL="914400" lvl="2" indent="0">
              <a:buNone/>
            </a:pPr>
            <a:endParaRPr lang="en-US" sz="2200" dirty="0">
              <a:cs typeface="Al Bayan Plain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50B04C-F680-0869-7147-AA0C635AD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641624"/>
            <a:ext cx="6903720" cy="5574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209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3F2F2-C7D4-8906-5A7A-115644890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02C7-B74D-E667-CBD4-47A98043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AB0AD-0C07-9A92-4C10-1EC040E93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Runs in a </a:t>
            </a:r>
            <a:r>
              <a:rPr lang="en-US" b="1" dirty="0">
                <a:cs typeface="Al Bayan Plain" pitchFamily="2" charset="-78"/>
              </a:rPr>
              <a:t>web browser </a:t>
            </a:r>
            <a:r>
              <a:rPr lang="en-US" dirty="0">
                <a:cs typeface="Al Bayan Plain" pitchFamily="2" charset="-78"/>
              </a:rPr>
              <a:t>instead of being installed directly on a device like a Desktop App / Mobile App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Is accessed using a </a:t>
            </a:r>
            <a:r>
              <a:rPr lang="en-US" b="1" dirty="0">
                <a:cs typeface="Al Bayan Plain" pitchFamily="2" charset="-78"/>
              </a:rPr>
              <a:t>URL </a:t>
            </a:r>
            <a:r>
              <a:rPr lang="en-US" dirty="0">
                <a:cs typeface="Al Bayan Plain" pitchFamily="2" charset="-78"/>
              </a:rPr>
              <a:t>(e.g. </a:t>
            </a:r>
            <a:r>
              <a:rPr lang="en-US" dirty="0">
                <a:cs typeface="Al Bayan Plain" pitchFamily="2" charset="-78"/>
                <a:hlinkClick r:id="rId2"/>
              </a:rPr>
              <a:t>https://rusudinu.ro</a:t>
            </a:r>
            <a:r>
              <a:rPr lang="en-US" dirty="0">
                <a:cs typeface="Al Bayan Plain" pitchFamily="2" charset="-78"/>
              </a:rPr>
              <a:t>)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No installation needed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Cross platform ‘by default’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Usually require an active internet connection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The content &amp; functionality updates in real time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‘Plain’ HTML &amp; </a:t>
            </a:r>
            <a:r>
              <a:rPr lang="en-US" dirty="0" err="1">
                <a:cs typeface="Al Bayan Plain" pitchFamily="2" charset="-78"/>
              </a:rPr>
              <a:t>Js</a:t>
            </a:r>
            <a:r>
              <a:rPr lang="en-US" dirty="0">
                <a:cs typeface="Al Bayan Plain" pitchFamily="2" charset="-78"/>
              </a:rPr>
              <a:t>, Angular, React, Vue, Svelte,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b="1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499539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C17F6-497B-A37E-8102-55E7AE80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EE7B9-8B2E-660F-6C4F-3488B51CD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Progressive Web App (PWA)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A9377-117A-F695-0E58-05DA49100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‘Modern’ technologies making a website behave like a mobile app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Installable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Capable of working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HTTPs only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Cross platform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Updates are automatically checked in the background by the service worker and are applied when the app is opened the next time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‘Plain’ HTML &amp; </a:t>
            </a:r>
            <a:r>
              <a:rPr lang="en-US" dirty="0" err="1">
                <a:cs typeface="Al Bayan Plain" pitchFamily="2" charset="-78"/>
              </a:rPr>
              <a:t>Js</a:t>
            </a:r>
            <a:r>
              <a:rPr lang="en-US" dirty="0">
                <a:cs typeface="Al Bayan Plain" pitchFamily="2" charset="-78"/>
              </a:rPr>
              <a:t>, Angular, React, Vue, Svelte,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772252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BA260-8211-02B3-1ABE-E0A8E3CC3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54FF4-92CC-3E8B-FE58-D7843D7D7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Platform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2F256-5B33-01AB-3E3C-4C4DC6779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Most of the code is written once and the app will run on Android and iOS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Better performance compared to PWA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Slower to update, need to go through the Store review process (except for some cases like parts of React Native apps that can receive OTA (Over the Air) updates)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Some have Desktop support (Flutter)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Can work well fully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Flutter, React Native, Kotlin Multiplatform,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dirty="0">
              <a:cs typeface="Al Bayan Plain" pitchFamily="2" charset="-78"/>
            </a:endParaRP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Published in Google Play, App Store</a:t>
            </a:r>
          </a:p>
        </p:txBody>
      </p:sp>
    </p:spTree>
    <p:extLst>
      <p:ext uri="{BB962C8B-B14F-4D97-AF65-F5344CB8AC3E}">
        <p14:creationId xmlns:p14="http://schemas.microsoft.com/office/powerpoint/2010/main" val="287802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092C4-B4B4-274E-6895-9B2325845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5147B-7E07-8470-3925-5D8C36242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Native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1F4A1-8B74-5931-4F3B-420E1F550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Platform specific, built for one OS (iOS or Android)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iOS -&gt; Swift / </a:t>
            </a:r>
            <a:r>
              <a:rPr lang="en-US" dirty="0" err="1">
                <a:cs typeface="Al Bayan Plain" pitchFamily="2" charset="-78"/>
              </a:rPr>
              <a:t>ObjC</a:t>
            </a:r>
            <a:r>
              <a:rPr lang="en-US" dirty="0">
                <a:cs typeface="Al Bayan Plain" pitchFamily="2" charset="-78"/>
              </a:rPr>
              <a:t> in Xcode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Android -&gt; Kotlin / Java in Android Studio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Can work well fully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Best performance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Use native components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Published in Google Play, App Store</a:t>
            </a:r>
          </a:p>
        </p:txBody>
      </p:sp>
    </p:spTree>
    <p:extLst>
      <p:ext uri="{BB962C8B-B14F-4D97-AF65-F5344CB8AC3E}">
        <p14:creationId xmlns:p14="http://schemas.microsoft.com/office/powerpoint/2010/main" val="32146819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1D0036-0E97-C13F-CBCF-102E18E37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F434B0B8-3B59-AC3F-F15C-97613E62B4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2"/>
          <a:stretch>
            <a:fillRect/>
          </a:stretch>
        </p:blipFill>
        <p:spPr>
          <a:xfrm>
            <a:off x="1929677" y="643466"/>
            <a:ext cx="8332645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4946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879C-93B6-CC48-19C7-9975C6670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35C13-9656-BC7D-5797-F18EB7174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Server Side Rendering (SSR)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CA33C-2D4A-344C-ACC1-BC9276087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</a:t>
            </a:r>
            <a:r>
              <a:rPr lang="en-US" dirty="0"/>
              <a:t>HTML is generated on the server for each request 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Better SEO since content is immediately available to crawlers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Faster initial page load and Time to First </a:t>
            </a:r>
            <a:r>
              <a:rPr lang="en-US" dirty="0" err="1"/>
              <a:t>Contentful</a:t>
            </a:r>
            <a:r>
              <a:rPr lang="en-US" dirty="0"/>
              <a:t> Paint (TTCP)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Higher server load as each request requires processing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Slower navigation between pages (full page reloads)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</a:t>
            </a:r>
            <a:r>
              <a:rPr lang="en-US" dirty="0" err="1"/>
              <a:t>Next.js</a:t>
            </a:r>
            <a:r>
              <a:rPr lang="en-US" dirty="0"/>
              <a:t> with </a:t>
            </a:r>
            <a:r>
              <a:rPr lang="en-US" dirty="0" err="1"/>
              <a:t>getServerSideProps</a:t>
            </a:r>
            <a:r>
              <a:rPr lang="en-US" dirty="0"/>
              <a:t>, </a:t>
            </a:r>
            <a:r>
              <a:rPr lang="en-US" dirty="0" err="1"/>
              <a:t>Nuxt.js</a:t>
            </a:r>
            <a:r>
              <a:rPr lang="en-US" dirty="0"/>
              <a:t>, </a:t>
            </a:r>
            <a:r>
              <a:rPr lang="en-US" dirty="0" err="1"/>
              <a:t>SvelteKit</a:t>
            </a:r>
            <a:endParaRPr lang="en-US" dirty="0"/>
          </a:p>
          <a:p>
            <a:pPr>
              <a:buFont typeface="Wingdings" pitchFamily="2" charset="2"/>
              <a:buChar char="Ø"/>
            </a:pPr>
            <a:r>
              <a:rPr lang="en-US" dirty="0"/>
              <a:t> Ideal for dynamic content that changes frequently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986556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2D51D-EF06-8FDE-24D1-125F0B28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48E27-683E-9E46-09FE-EEF7A849B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Site Generation (SSG)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22B69-8E33-4EC2-043B-64C83D42D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/>
              <a:t>HTML pages are pre-built at build time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Excellent performance with fast loading times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Great SEO as content is fully rendered in HTML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Can be served from CDNs for global distribution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Limited to content known at build time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Requires rebuilding and redeploying for content updates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</a:t>
            </a:r>
            <a:r>
              <a:rPr lang="en-US" dirty="0" err="1"/>
              <a:t>Next.js</a:t>
            </a:r>
            <a:r>
              <a:rPr lang="en-US" dirty="0"/>
              <a:t> with </a:t>
            </a:r>
            <a:r>
              <a:rPr lang="en-US" dirty="0" err="1"/>
              <a:t>getStaticProps</a:t>
            </a:r>
            <a:r>
              <a:rPr lang="en-US" dirty="0"/>
              <a:t>, Gatsby, Astro, Jekyll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Used for documentation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835769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843CC-B37F-CFF4-7779-3A058D373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9E6A7-D764-D878-F737-05E5DCA8C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Side Rendering (CSR)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A369D-0CB8-37F6-39D2-C5BD5BF63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/>
              <a:t>JavaScript runs in the browser to generate the page content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Smooth user experience with fast navigation after initial load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Rich interactivity and dynamic user interfaces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Slower initial page load as JS bundle must be downloaded and executed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Poor SEO without additional optimization (crawlers see empty page initially)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Create React App, Vue CLI apps, traditional SPAs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Best for highly interactive applications and dashboards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082128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4823</TotalTime>
  <Words>1195</Words>
  <Application>Microsoft Macintosh PowerPoint</Application>
  <PresentationFormat>Widescreen</PresentationFormat>
  <Paragraphs>132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Course Topics</vt:lpstr>
      <vt:lpstr>Grading</vt:lpstr>
      <vt:lpstr>Concept presentation details</vt:lpstr>
      <vt:lpstr>Platforms &amp; Technology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Device resources</vt:lpstr>
      <vt:lpstr>Resource allocation for LLMs</vt:lpstr>
      <vt:lpstr>Web App</vt:lpstr>
      <vt:lpstr>Progressive Web App (PWA)</vt:lpstr>
      <vt:lpstr>Cross Platform Apps</vt:lpstr>
      <vt:lpstr>Native Apps</vt:lpstr>
      <vt:lpstr>PowerPoint Presentation</vt:lpstr>
      <vt:lpstr>Server Side Rendering (SSR)</vt:lpstr>
      <vt:lpstr>Static Site Generation (SSG)</vt:lpstr>
      <vt:lpstr>Client Side Rendering (CSR)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17</cp:revision>
  <dcterms:created xsi:type="dcterms:W3CDTF">2025-09-15T16:44:45Z</dcterms:created>
  <dcterms:modified xsi:type="dcterms:W3CDTF">2026-03-25T05:55:01Z</dcterms:modified>
</cp:coreProperties>
</file>