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8" r:id="rId3"/>
    <p:sldId id="259" r:id="rId4"/>
    <p:sldId id="260" r:id="rId5"/>
    <p:sldId id="287" r:id="rId6"/>
    <p:sldId id="286" r:id="rId7"/>
    <p:sldId id="277" r:id="rId8"/>
    <p:sldId id="279" r:id="rId9"/>
    <p:sldId id="263" r:id="rId10"/>
    <p:sldId id="265" r:id="rId11"/>
    <p:sldId id="283" r:id="rId12"/>
    <p:sldId id="285" r:id="rId13"/>
    <p:sldId id="264" r:id="rId14"/>
    <p:sldId id="268" r:id="rId15"/>
    <p:sldId id="289" r:id="rId16"/>
    <p:sldId id="288" r:id="rId17"/>
    <p:sldId id="269" r:id="rId18"/>
    <p:sldId id="290" r:id="rId19"/>
    <p:sldId id="271" r:id="rId20"/>
    <p:sldId id="266" r:id="rId21"/>
    <p:sldId id="272" r:id="rId22"/>
    <p:sldId id="273" r:id="rId23"/>
    <p:sldId id="27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E0816D-9131-0642-AC18-65111AF099E6}" v="339" dt="2025-09-20T16:46:07.6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69"/>
    <p:restoredTop sz="94614"/>
  </p:normalViewPr>
  <p:slideViewPr>
    <p:cSldViewPr snapToGrid="0">
      <p:cViewPr varScale="1">
        <p:scale>
          <a:sx n="153" d="100"/>
          <a:sy n="153" d="100"/>
        </p:scale>
        <p:origin x="2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371807-75D2-4B48-9BC1-C0791C7EACC9}" type="datetimeFigureOut">
              <a:rPr lang="en-US" smtClean="0"/>
              <a:t>2/12/26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B3F86B-2734-BF42-93A6-63E2CE51F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100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18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9" name="Shape 18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hape 21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11" name="Shape 21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hape 22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2" name="Shape 22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12589-B083-6788-C188-A7A86614E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223450-674B-BC5C-6F86-2413C244D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B0CED9-B1F4-757B-FF1C-CB55CB8E2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BFC94-82B2-21A3-2575-27800619A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3882CC-D653-8816-84BD-1C5983F65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277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4A5D3-4475-D424-AAD2-A53CD1787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3D51B-2CA0-F2BB-7751-C45C80AF4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17ADD-A1A0-2F86-B8EA-0F6E6B904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2B4A3-90D9-905A-D219-576A5991B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4D11B-ED22-AA1A-3798-1C316DF34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993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40C4F-A8C0-7FBF-7450-2ACA51CF3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A83313-51C9-8FCD-76A0-4E109458A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B37CC-018A-DED7-E590-3816B68F0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BE3F1-093B-9CE7-664A-F05829693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5AFF1-6F9B-A45E-650D-3A0836CCC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806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13BE1-F9AE-53CC-959C-34C16430A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ECB1D-0500-8247-4526-8D2F0B52C0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D692D2-B90F-2BA6-C78A-203F0B917E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1FA438-6142-0B34-F3A6-70B843437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16006F-557E-7017-240E-8A01385BA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73C9A0-31D6-4A5C-34F9-1C1F03EC1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143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7C02A-7DDC-74DF-0635-2CF18AF0F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7BEAC-52C7-85A4-F098-7758650FF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02FA94-6D26-CCB7-4492-E2A8BFFB9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FEB920-7A8D-C959-E966-E8372DF430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CEABDC-105B-643A-405F-6945661612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C3AA5A-00E4-3558-A4AB-13ECBF495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2/12/26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B8B891-C0DF-5409-0653-32F79254C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02BA0C-E4DD-E986-0553-D20418570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250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678B7-DDD7-A8BF-DD92-0C3EE893E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24A856-01F9-A7D0-F4A3-00A616DE5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2/12/26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65035C-CE70-5B91-C83D-ECFDADD35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81D28A-A5DE-DE88-344C-F97F443A4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826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A09FA3-9E79-D445-3FEB-E7642CE9E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2/12/26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05E957-CFC3-430E-1B2C-F6039C01F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0E4514-0A61-DEF6-6A9B-0590AD824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418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27A56-7D2D-3932-43C1-D3468169B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483E5-0268-4B7A-4645-7558A4A77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48B4-F672-6FFE-86D1-86286538BD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2801C9-E5D7-9585-2BEE-0D1D1917C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450128-4786-91A9-3120-12E0BCF18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F3441C-EAF9-703B-E73F-2382E3E7B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808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ACEB4-0DC1-DEC8-58E7-87402B3F2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7C8914-103B-0FD6-F20C-87A81DDB1A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6F2DA9-3397-C342-6069-E5C9AC1B0D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AC0B1D-CEA0-7DFD-F38F-9D3290281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04E28A-6907-1FF5-EC06-429B46721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4AB370-1DBB-AF46-F8DB-7DC5EFFC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849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47CD9-4481-08C2-4E88-1FB52F08C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0CFAC1-4D7F-6198-0D9B-053218EABF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6FC57-5135-D07A-49D2-963385733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4C60C-8258-822E-80A5-2E0D96020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A1161-1882-2A70-0204-86955786D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287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89FA6-EACC-1D0F-2715-C3E6CBDD6B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B28C91-E497-8D50-85CD-2D350890CE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7D545-E3C6-5F58-11A4-9D653FBB4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38AAD-8DB9-B119-33DB-0A54B9369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BD58E-F881-2DCA-49F9-1D5B3B13E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1012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635000" y="2134658"/>
            <a:ext cx="10922000" cy="4216401"/>
          </a:xfrm>
          <a:prstGeom prst="rect">
            <a:avLst/>
          </a:prstGeom>
        </p:spPr>
        <p:txBody>
          <a:bodyPr numCol="2" spcCol="1092200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2138880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801D69-C640-402D-B659-678786479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6F774-07B9-DC88-0065-CFA51AA316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7852D-D2ED-1C67-12EC-67F0CDBB24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9551AF-0EE3-DD4B-B4EF-6D8229EA0D86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3605C-394F-93D0-F2F5-4E9AA54A0D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B3A10-224E-8E0B-3F27-9E12375E1A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135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mailto:dinu_stefan.rusu@upb.ro" TargetMode="External"/><Relationship Id="rId7" Type="http://schemas.openxmlformats.org/officeDocument/2006/relationships/image" Target="../media/image3.png"/><Relationship Id="rId12" Type="http://schemas.openxmlformats.org/officeDocument/2006/relationships/image" Target="../media/image8.png"/><Relationship Id="rId2" Type="http://schemas.openxmlformats.org/officeDocument/2006/relationships/hyperlink" Target="https://rusudinu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image" Target="../media/image7.png"/><Relationship Id="rId5" Type="http://schemas.openxmlformats.org/officeDocument/2006/relationships/image" Target="../media/image1.jpeg"/><Relationship Id="rId10" Type="http://schemas.openxmlformats.org/officeDocument/2006/relationships/image" Target="../media/image6.png"/><Relationship Id="rId4" Type="http://schemas.openxmlformats.org/officeDocument/2006/relationships/hyperlink" Target="https://teams.microsoft.com/l/chat/0/0?users=dinu_stefan.rusu@upb.ro" TargetMode="External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ignup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rusudinu/mobile-and-embedded-computing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rusudinu.ro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D6A52-E683-94FB-5FDE-93AF163BA9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84325"/>
            <a:ext cx="9144000" cy="2387600"/>
          </a:xfrm>
        </p:spPr>
        <p:txBody>
          <a:bodyPr/>
          <a:lstStyle/>
          <a:p>
            <a:r>
              <a:rPr lang="en-US" dirty="0"/>
              <a:t>Mobile and Embedded Computing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D421A2-2714-CF24-E8C4-734EB67ECE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/>
          <a:lstStyle/>
          <a:p>
            <a:r>
              <a:rPr lang="en-US" b="1" dirty="0"/>
              <a:t>Lecture 1. Course orientation</a:t>
            </a:r>
          </a:p>
          <a:p>
            <a:r>
              <a:rPr lang="en-US" b="1" dirty="0">
                <a:cs typeface="Al Bayan Plain" pitchFamily="2" charset="-78"/>
              </a:rPr>
              <a:t>Platforms &amp; Technology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61044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27E7B-5827-BBF6-FBA1-991606DB03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69122"/>
            <a:ext cx="10866120" cy="475832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500" b="1" dirty="0">
                <a:cs typeface="Al Bayan Plain" pitchFamily="2" charset="-78"/>
              </a:rPr>
              <a:t>Ing. Dinu-Ștefan RUSU 					</a:t>
            </a:r>
            <a:r>
              <a:rPr lang="en-US" dirty="0">
                <a:ea typeface="Archivo"/>
                <a:cs typeface="Archivo"/>
                <a:sym typeface="Archivo"/>
                <a:hlinkClick r:id="rId2"/>
              </a:rPr>
              <a:t>rusudinu.com</a:t>
            </a:r>
            <a:endParaRPr lang="en-US" dirty="0">
              <a:ea typeface="Archivo"/>
              <a:cs typeface="Archivo"/>
              <a:sym typeface="Archivo"/>
            </a:endParaRPr>
          </a:p>
          <a:p>
            <a:pPr marL="0" indent="0">
              <a:buNone/>
            </a:pPr>
            <a:endParaRPr lang="en-US" dirty="0">
              <a:cs typeface="Al Bayan Plain" pitchFamily="2" charset="-78"/>
              <a:sym typeface="Archivo"/>
            </a:endParaRPr>
          </a:p>
          <a:p>
            <a:pPr marL="0" lvl="0" indent="0">
              <a:buNone/>
            </a:pPr>
            <a:r>
              <a:rPr lang="en-US" dirty="0">
                <a:cs typeface="Al Bayan Plain" pitchFamily="2" charset="-78"/>
                <a:sym typeface="Archivo"/>
              </a:rPr>
              <a:t>Contact me on:</a:t>
            </a:r>
          </a:p>
          <a:p>
            <a:pPr lvl="0"/>
            <a:r>
              <a:rPr lang="en-US" dirty="0">
                <a:ea typeface="Archivo"/>
                <a:cs typeface="Archivo"/>
                <a:sym typeface="Archiv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dinu_stefan.rusu@upb.ro</a:t>
            </a:r>
            <a:endParaRPr lang="en-US" dirty="0">
              <a:ea typeface="Archivo"/>
              <a:cs typeface="Archivo"/>
              <a:sym typeface="Archivo"/>
            </a:endParaRPr>
          </a:p>
          <a:p>
            <a:pPr lvl="0"/>
            <a:r>
              <a:rPr lang="en-US" dirty="0">
                <a:ea typeface="Archivo"/>
                <a:cs typeface="Archivo"/>
                <a:sym typeface="Archivo"/>
                <a:hlinkClick r:id="rId4"/>
              </a:rPr>
              <a:t>Teams</a:t>
            </a:r>
            <a:endParaRPr lang="en-US" dirty="0">
              <a:ea typeface="Archivo"/>
              <a:cs typeface="Archivo"/>
              <a:sym typeface="Archivo"/>
            </a:endParaRPr>
          </a:p>
          <a:p>
            <a:pPr marL="0" lvl="0" indent="0">
              <a:buNone/>
            </a:pPr>
            <a:endParaRPr lang="en-US" dirty="0">
              <a:ea typeface="Archivo"/>
              <a:cs typeface="Archivo"/>
              <a:sym typeface="Archivo"/>
            </a:endParaRPr>
          </a:p>
          <a:p>
            <a:pPr marL="0" lvl="0" indent="0">
              <a:buNone/>
            </a:pPr>
            <a:endParaRPr lang="en-US" dirty="0">
              <a:ea typeface="Archivo"/>
              <a:cs typeface="Archivo"/>
              <a:sym typeface="Archivo"/>
            </a:endParaRPr>
          </a:p>
          <a:p>
            <a:pPr marL="0" lvl="0" indent="0">
              <a:buNone/>
            </a:pPr>
            <a:r>
              <a:rPr lang="en-US" dirty="0">
                <a:ea typeface="Archivo"/>
                <a:cs typeface="Archivo"/>
                <a:sym typeface="Archivo"/>
              </a:rPr>
              <a:t>45+ Flutter apps launched</a:t>
            </a:r>
          </a:p>
          <a:p>
            <a:pPr marL="0" lvl="0" indent="0">
              <a:buNone/>
            </a:pPr>
            <a:r>
              <a:rPr lang="en-US" dirty="0">
                <a:ea typeface="Archivo"/>
                <a:cs typeface="Archivo"/>
                <a:sym typeface="Archivo"/>
              </a:rPr>
              <a:t>400k installs across all apps</a:t>
            </a:r>
          </a:p>
          <a:p>
            <a:pPr marL="0" lvl="0" indent="0">
              <a:buNone/>
            </a:pPr>
            <a:endParaRPr lang="en-US" dirty="0">
              <a:ea typeface="Archivo"/>
              <a:cs typeface="Archivo"/>
              <a:sym typeface="Archivo"/>
            </a:endParaRPr>
          </a:p>
          <a:p>
            <a:pPr marL="0" lvl="0" indent="0">
              <a:buNone/>
            </a:pPr>
            <a:endParaRPr lang="en-US" dirty="0">
              <a:ea typeface="Archivo"/>
              <a:cs typeface="Archivo"/>
              <a:sym typeface="Archivo"/>
            </a:endParaRPr>
          </a:p>
          <a:p>
            <a:pPr marL="0" lvl="0" indent="0">
              <a:buNone/>
            </a:pPr>
            <a:r>
              <a:rPr lang="en-US" sz="1400" dirty="0">
                <a:ea typeface="Archivo"/>
                <a:cs typeface="Archivo"/>
                <a:sym typeface="Archivo"/>
              </a:rPr>
              <a:t>Appeared in, speaker at &amp; partners</a:t>
            </a:r>
          </a:p>
        </p:txBody>
      </p:sp>
      <p:pic>
        <p:nvPicPr>
          <p:cNvPr id="2" name="Picture 2" descr="Doctor de Bine Logo">
            <a:extLst>
              <a:ext uri="{FF2B5EF4-FFF2-40B4-BE49-F238E27FC236}">
                <a16:creationId xmlns:a16="http://schemas.microsoft.com/office/drawing/2014/main" id="{21B826A7-DBFB-B726-8EB2-90C954E524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4082" y="5527446"/>
            <a:ext cx="1158468" cy="360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Euronews Logo">
            <a:extLst>
              <a:ext uri="{FF2B5EF4-FFF2-40B4-BE49-F238E27FC236}">
                <a16:creationId xmlns:a16="http://schemas.microsoft.com/office/drawing/2014/main" id="{A72D385A-47D4-D3E4-4333-E5FD898BAF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728" b="26080"/>
          <a:stretch>
            <a:fillRect/>
          </a:stretch>
        </p:blipFill>
        <p:spPr bwMode="auto">
          <a:xfrm>
            <a:off x="3179033" y="5527446"/>
            <a:ext cx="1277269" cy="360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7354A1-F657-6CC8-7FD6-25533BE525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1327" y="5527446"/>
            <a:ext cx="966272" cy="361515"/>
          </a:xfrm>
          <a:prstGeom prst="rect">
            <a:avLst/>
          </a:prstGeom>
        </p:spPr>
      </p:pic>
      <p:pic>
        <p:nvPicPr>
          <p:cNvPr id="6" name="Picture 2" descr="LP - Ikea | Edenred Benefit">
            <a:extLst>
              <a:ext uri="{FF2B5EF4-FFF2-40B4-BE49-F238E27FC236}">
                <a16:creationId xmlns:a16="http://schemas.microsoft.com/office/drawing/2014/main" id="{D580F332-EEF3-D8F7-B302-B6BCAC76FC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918"/>
          <a:stretch>
            <a:fillRect/>
          </a:stretch>
        </p:blipFill>
        <p:spPr bwMode="auto">
          <a:xfrm>
            <a:off x="921327" y="5949669"/>
            <a:ext cx="2305050" cy="41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Up Romania | Up Mobil+ – Descărcă Noua Aplicație pe iOS ...">
            <a:extLst>
              <a:ext uri="{FF2B5EF4-FFF2-40B4-BE49-F238E27FC236}">
                <a16:creationId xmlns:a16="http://schemas.microsoft.com/office/drawing/2014/main" id="{6B288A08-D89F-5AF3-69E5-AA9E26E4E7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9" t="12656" r="13090" b="15341"/>
          <a:stretch>
            <a:fillRect/>
          </a:stretch>
        </p:blipFill>
        <p:spPr bwMode="auto">
          <a:xfrm>
            <a:off x="3308417" y="5949669"/>
            <a:ext cx="504733" cy="41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Selgros România">
            <a:extLst>
              <a:ext uri="{FF2B5EF4-FFF2-40B4-BE49-F238E27FC236}">
                <a16:creationId xmlns:a16="http://schemas.microsoft.com/office/drawing/2014/main" id="{A8D683D3-0CA5-E7BE-63BA-E11C97DDA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5191" y="5945357"/>
            <a:ext cx="561111" cy="41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evTalks Romania | RomanianStartups.com">
            <a:extLst>
              <a:ext uri="{FF2B5EF4-FFF2-40B4-BE49-F238E27FC236}">
                <a16:creationId xmlns:a16="http://schemas.microsoft.com/office/drawing/2014/main" id="{AAEED595-A738-50A2-F529-B0C44F2059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2785" y="5498016"/>
            <a:ext cx="2906445" cy="428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 premium IT conference - DevCon | A premium tech conference | Bucharest,  Romania">
            <a:extLst>
              <a:ext uri="{FF2B5EF4-FFF2-40B4-BE49-F238E27FC236}">
                <a16:creationId xmlns:a16="http://schemas.microsoft.com/office/drawing/2014/main" id="{4F221111-2E17-9A8E-87B0-D89E1B0A4D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5713" y="5457802"/>
            <a:ext cx="1984518" cy="631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8232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AF9EE-1F8C-F17B-21DE-26D8FA461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E8B2D-7A94-A3A9-6DE9-4B5DB9D17C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1353801" cy="480218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cs typeface="Al Bayan Plain" pitchFamily="2" charset="-78"/>
              </a:rPr>
              <a:t>1. Git &amp; GitHub, Web vs PWA vs Cross platform vs Native, Overview of SSR, SSG, CSR</a:t>
            </a:r>
          </a:p>
          <a:p>
            <a:pPr marL="0" indent="0">
              <a:buNone/>
            </a:pPr>
            <a:r>
              <a:rPr lang="en-US" dirty="0">
                <a:cs typeface="Al Bayan Plain" pitchFamily="2" charset="-78"/>
              </a:rPr>
              <a:t>2. Compiled vs Interpreted languages, Null safe languages, Dart &amp; Flutter </a:t>
            </a:r>
          </a:p>
          <a:p>
            <a:pPr marL="0" indent="0">
              <a:buNone/>
            </a:pPr>
            <a:r>
              <a:rPr lang="en-US" dirty="0">
                <a:cs typeface="Al Bayan Plain" pitchFamily="2" charset="-78"/>
              </a:rPr>
              <a:t>3. Agent assisted coding, Async vs Threads, Flutter Widgets &amp; UI Elements</a:t>
            </a:r>
          </a:p>
          <a:p>
            <a:pPr marL="0" indent="0">
              <a:buNone/>
            </a:pPr>
            <a:r>
              <a:rPr lang="en-US" dirty="0">
                <a:cs typeface="Al Bayan Plain" pitchFamily="2" charset="-78"/>
              </a:rPr>
              <a:t>4. Stateless vs Stateful, State management techniques (introduction)</a:t>
            </a:r>
          </a:p>
          <a:p>
            <a:pPr marL="0" indent="0">
              <a:buNone/>
            </a:pPr>
            <a:r>
              <a:rPr lang="en-US" dirty="0">
                <a:cs typeface="Al Bayan Plain" pitchFamily="2" charset="-78"/>
              </a:rPr>
              <a:t>5. Server vs Client-Side code execution, Serverless vs VPS (+ http &amp; Firebase)</a:t>
            </a:r>
          </a:p>
          <a:p>
            <a:pPr marL="0" indent="0">
              <a:buNone/>
            </a:pPr>
            <a:r>
              <a:rPr lang="en-US" dirty="0">
                <a:cs typeface="Al Bayan Plain" pitchFamily="2" charset="-78"/>
              </a:rPr>
              <a:t>6. </a:t>
            </a:r>
            <a:r>
              <a:rPr lang="en-US" dirty="0" err="1">
                <a:cs typeface="Al Bayan Plain" pitchFamily="2" charset="-78"/>
              </a:rPr>
              <a:t>GraphQL</a:t>
            </a:r>
            <a:r>
              <a:rPr lang="en-US" dirty="0">
                <a:cs typeface="Al Bayan Plain" pitchFamily="2" charset="-78"/>
              </a:rPr>
              <a:t> &amp; REST, Observability for Mobile applications (Events, Crashlytics)</a:t>
            </a:r>
          </a:p>
          <a:p>
            <a:pPr marL="0" indent="0">
              <a:buNone/>
            </a:pPr>
            <a:r>
              <a:rPr lang="en-US" dirty="0">
                <a:cs typeface="Al Bayan Plain" pitchFamily="2" charset="-78"/>
              </a:rPr>
              <a:t>7. Web Sockets, Permissions &amp; routing</a:t>
            </a:r>
          </a:p>
          <a:p>
            <a:pPr marL="0" indent="0">
              <a:buNone/>
            </a:pPr>
            <a:r>
              <a:rPr lang="en-US" dirty="0">
                <a:cs typeface="Al Bayan Plain" pitchFamily="2" charset="-78"/>
              </a:rPr>
              <a:t>8. State management techniques, Business Logic Component (</a:t>
            </a:r>
            <a:r>
              <a:rPr lang="en-US" dirty="0" err="1">
                <a:cs typeface="Al Bayan Plain" pitchFamily="2" charset="-78"/>
              </a:rPr>
              <a:t>BLoC</a:t>
            </a:r>
            <a:r>
              <a:rPr lang="en-US" dirty="0">
                <a:cs typeface="Al Bayan Plain" pitchFamily="2" charset="-78"/>
              </a:rPr>
              <a:t>) pattern</a:t>
            </a:r>
          </a:p>
          <a:p>
            <a:pPr marL="0" indent="0">
              <a:buNone/>
            </a:pPr>
            <a:r>
              <a:rPr lang="en-US" dirty="0">
                <a:cs typeface="Al Bayan Plain" pitchFamily="2" charset="-78"/>
              </a:rPr>
              <a:t>9. Authentication, OAuth providers, Firebase App Check</a:t>
            </a:r>
          </a:p>
          <a:p>
            <a:pPr marL="0" indent="0">
              <a:buNone/>
            </a:pPr>
            <a:r>
              <a:rPr lang="en-US" dirty="0">
                <a:cs typeface="Al Bayan Plain" pitchFamily="2" charset="-78"/>
              </a:rPr>
              <a:t>10. AI On-device (Google ML Kit for Flutter) &amp; Connecting to LLMs (</a:t>
            </a:r>
            <a:r>
              <a:rPr lang="en-US" dirty="0" err="1">
                <a:cs typeface="Al Bayan Plain" pitchFamily="2" charset="-78"/>
              </a:rPr>
              <a:t>VertexAI</a:t>
            </a:r>
            <a:r>
              <a:rPr lang="en-US" dirty="0">
                <a:cs typeface="Al Bayan Plain" pitchFamily="2" charset="-78"/>
              </a:rPr>
              <a:t>)</a:t>
            </a:r>
          </a:p>
          <a:p>
            <a:pPr marL="0" indent="0">
              <a:buNone/>
            </a:pPr>
            <a:r>
              <a:rPr lang="en-US" dirty="0">
                <a:cs typeface="Al Bayan Plain" pitchFamily="2" charset="-78"/>
              </a:rPr>
              <a:t>11. Deploy to stores (Google Play, App Store) &amp; CI/CD With GitHub Actions</a:t>
            </a:r>
          </a:p>
          <a:p>
            <a:pPr marL="0" indent="0">
              <a:buNone/>
            </a:pPr>
            <a:r>
              <a:rPr lang="en-US" dirty="0">
                <a:cs typeface="Al Bayan Plain" pitchFamily="2" charset="-78"/>
              </a:rPr>
              <a:t>12. Performance and Energy Consumption</a:t>
            </a:r>
          </a:p>
        </p:txBody>
      </p:sp>
    </p:spTree>
    <p:extLst>
      <p:ext uri="{BB962C8B-B14F-4D97-AF65-F5344CB8AC3E}">
        <p14:creationId xmlns:p14="http://schemas.microsoft.com/office/powerpoint/2010/main" val="1069093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4C40A-0AAC-FE2B-3D55-FC8051633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5DBEC-B294-95BC-1054-3DE32209C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2A63F-31D3-4BD3-F0FB-55F20BF016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158750" lvl="0" indent="0">
              <a:lnSpc>
                <a:spcPct val="100000"/>
              </a:lnSpc>
              <a:buClr>
                <a:schemeClr val="lt1"/>
              </a:buClr>
              <a:buNone/>
            </a:pPr>
            <a:r>
              <a:rPr lang="en-US" b="1" dirty="0"/>
              <a:t>Final grade (10p)</a:t>
            </a:r>
          </a:p>
          <a:p>
            <a:pPr marL="615950" lvl="1" indent="0">
              <a:lnSpc>
                <a:spcPct val="100000"/>
              </a:lnSpc>
              <a:spcBef>
                <a:spcPts val="1000"/>
              </a:spcBef>
              <a:buClr>
                <a:schemeClr val="lt1"/>
              </a:buClr>
              <a:buNone/>
            </a:pPr>
            <a:r>
              <a:rPr lang="en-US" sz="2800" dirty="0"/>
              <a:t>3p Final Exam (in the session)</a:t>
            </a:r>
          </a:p>
          <a:p>
            <a:pPr marL="615950" lvl="1" indent="0">
              <a:lnSpc>
                <a:spcPct val="100000"/>
              </a:lnSpc>
              <a:spcBef>
                <a:spcPts val="1000"/>
              </a:spcBef>
              <a:buClr>
                <a:schemeClr val="lt1"/>
              </a:buClr>
              <a:buNone/>
            </a:pPr>
            <a:r>
              <a:rPr lang="en-US" sz="2800" dirty="0"/>
              <a:t>+ 3p Laboratory + Assignments (individual)</a:t>
            </a:r>
          </a:p>
          <a:p>
            <a:pPr marL="615950" lvl="1" indent="0">
              <a:lnSpc>
                <a:spcPct val="100000"/>
              </a:lnSpc>
              <a:spcBef>
                <a:spcPts val="1000"/>
              </a:spcBef>
              <a:buClr>
                <a:schemeClr val="lt1"/>
              </a:buClr>
              <a:buNone/>
            </a:pPr>
            <a:r>
              <a:rPr lang="en-US" sz="2800" dirty="0"/>
              <a:t>+ 1.5p Lab test</a:t>
            </a:r>
          </a:p>
          <a:p>
            <a:pPr marL="615950" lvl="1" indent="0">
              <a:lnSpc>
                <a:spcPct val="100000"/>
              </a:lnSpc>
              <a:spcBef>
                <a:spcPts val="1000"/>
              </a:spcBef>
              <a:buClr>
                <a:schemeClr val="lt1"/>
              </a:buClr>
              <a:buNone/>
            </a:pPr>
            <a:r>
              <a:rPr lang="en-US" sz="2800" dirty="0"/>
              <a:t>+ 1.5p Project (teams of two)</a:t>
            </a:r>
          </a:p>
          <a:p>
            <a:pPr marL="615950" lvl="1" indent="0">
              <a:lnSpc>
                <a:spcPct val="100000"/>
              </a:lnSpc>
              <a:spcBef>
                <a:spcPts val="1000"/>
              </a:spcBef>
              <a:buClr>
                <a:schemeClr val="lt1"/>
              </a:buClr>
              <a:buNone/>
            </a:pPr>
            <a:r>
              <a:rPr lang="en-US" sz="2800" dirty="0"/>
              <a:t>+ 1p Concept presentations (teams of two)</a:t>
            </a:r>
          </a:p>
          <a:p>
            <a:pPr marL="615950" lvl="1" indent="0">
              <a:lnSpc>
                <a:spcPct val="100000"/>
              </a:lnSpc>
              <a:spcBef>
                <a:spcPts val="1000"/>
              </a:spcBef>
              <a:buClr>
                <a:schemeClr val="lt1"/>
              </a:buClr>
              <a:buNone/>
            </a:pPr>
            <a:endParaRPr lang="en-US" sz="2800" dirty="0"/>
          </a:p>
          <a:p>
            <a:pPr marL="158750" lvl="0" indent="0">
              <a:lnSpc>
                <a:spcPct val="100000"/>
              </a:lnSpc>
              <a:buClr>
                <a:schemeClr val="lt1"/>
              </a:buClr>
              <a:buSzPts val="1100"/>
              <a:buNone/>
            </a:pPr>
            <a:r>
              <a:rPr lang="en-US" b="1" dirty="0"/>
              <a:t>Requirements</a:t>
            </a:r>
          </a:p>
          <a:p>
            <a:pPr marL="615950" lvl="1" indent="0">
              <a:lnSpc>
                <a:spcPct val="100000"/>
              </a:lnSpc>
              <a:spcBef>
                <a:spcPts val="1000"/>
              </a:spcBef>
              <a:buClr>
                <a:schemeClr val="lt1"/>
              </a:buClr>
              <a:buNone/>
            </a:pPr>
            <a:r>
              <a:rPr lang="en-US" sz="2800" dirty="0"/>
              <a:t>In total ≥ 5</a:t>
            </a:r>
          </a:p>
        </p:txBody>
      </p:sp>
    </p:spTree>
    <p:extLst>
      <p:ext uri="{BB962C8B-B14F-4D97-AF65-F5344CB8AC3E}">
        <p14:creationId xmlns:p14="http://schemas.microsoft.com/office/powerpoint/2010/main" val="1104862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2D7A26-8EDA-FEF6-952A-1FD6F1048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FD930-C568-1515-DD9E-8876072401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92367"/>
            <a:ext cx="9144000" cy="1073265"/>
          </a:xfrm>
        </p:spPr>
        <p:txBody>
          <a:bodyPr/>
          <a:lstStyle/>
          <a:p>
            <a:r>
              <a:rPr lang="en-US" b="1" dirty="0">
                <a:cs typeface="Al Bayan Plain" pitchFamily="2" charset="-78"/>
              </a:rPr>
              <a:t>Platforms &amp; Technology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80213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CDE96C-FC85-124D-26E8-B64A0C2DD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B6540F1-17D1-95EB-0904-EE786731B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diagram of a software company&#10;&#10;AI-generated content may be incorrect.">
            <a:extLst>
              <a:ext uri="{FF2B5EF4-FFF2-40B4-BE49-F238E27FC236}">
                <a16:creationId xmlns:a16="http://schemas.microsoft.com/office/drawing/2014/main" id="{E42191C1-C700-9816-9CF4-8C6AAEBF9D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7086" b="866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857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Image" descr="Image"/>
          <p:cNvPicPr>
            <a:picLocks noChangeAspect="1"/>
          </p:cNvPicPr>
          <p:nvPr/>
        </p:nvPicPr>
        <p:blipFill>
          <a:blip r:embed="rId3">
            <a:alphaModFix amt="19754"/>
          </a:blip>
          <a:stretch>
            <a:fillRect/>
          </a:stretch>
        </p:blipFill>
        <p:spPr>
          <a:xfrm>
            <a:off x="5688480" y="2140653"/>
            <a:ext cx="5850648" cy="2440818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E76AA0A-94E5-5C65-717B-681627F27362}"/>
              </a:ext>
            </a:extLst>
          </p:cNvPr>
          <p:cNvSpPr txBox="1">
            <a:spLocks/>
          </p:cNvSpPr>
          <p:nvPr/>
        </p:nvSpPr>
        <p:spPr>
          <a:xfrm>
            <a:off x="652872" y="1567039"/>
            <a:ext cx="9522486" cy="4312766"/>
          </a:xfrm>
          <a:prstGeom prst="rect">
            <a:avLst/>
          </a:prstGeom>
        </p:spPr>
        <p:txBody>
          <a:bodyPr vert="horz" lIns="91440" tIns="45720" rIns="91440" bIns="45720" numCol="2" spcCol="10922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C7E492-7090-5567-79EC-41800218F367}"/>
              </a:ext>
            </a:extLst>
          </p:cNvPr>
          <p:cNvSpPr txBox="1"/>
          <p:nvPr/>
        </p:nvSpPr>
        <p:spPr>
          <a:xfrm>
            <a:off x="998462" y="1307376"/>
            <a:ext cx="434442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800" dirty="0"/>
              <a:t>Git is a version control system, designed to handle everything related to source code management</a:t>
            </a:r>
          </a:p>
          <a:p>
            <a:pPr marL="457200" indent="-457200">
              <a:buFont typeface="Wingdings" pitchFamily="2" charset="2"/>
              <a:buChar char="Ø"/>
            </a:pPr>
            <a:endParaRPr lang="en-US" sz="2800" dirty="0"/>
          </a:p>
          <a:p>
            <a:pPr marL="457200" indent="-457200">
              <a:buFont typeface="Wingdings" pitchFamily="2" charset="2"/>
              <a:buChar char="Ø"/>
            </a:pPr>
            <a:r>
              <a:rPr lang="en-US" sz="2800" dirty="0"/>
              <a:t>Used to track changes in the source code, enabling multiple developers to work together</a:t>
            </a:r>
          </a:p>
          <a:p>
            <a:pPr marL="457200" indent="-457200">
              <a:buFont typeface="Wingdings" pitchFamily="2" charset="2"/>
              <a:buChar char="Ø"/>
            </a:pPr>
            <a:endParaRPr lang="en-US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cover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Image" descr="Image"/>
          <p:cNvPicPr>
            <a:picLocks noChangeAspect="1"/>
          </p:cNvPicPr>
          <p:nvPr/>
        </p:nvPicPr>
        <p:blipFill>
          <a:blip r:embed="rId2">
            <a:alphaModFix amt="19756"/>
          </a:blip>
          <a:srcRect/>
          <a:stretch>
            <a:fillRect/>
          </a:stretch>
        </p:blipFill>
        <p:spPr>
          <a:xfrm>
            <a:off x="22567" y="1806972"/>
            <a:ext cx="5767258" cy="3244083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A3B971-D792-5970-E680-CEBDB3B74C63}"/>
              </a:ext>
            </a:extLst>
          </p:cNvPr>
          <p:cNvSpPr txBox="1"/>
          <p:nvPr/>
        </p:nvSpPr>
        <p:spPr>
          <a:xfrm>
            <a:off x="6209414" y="1483806"/>
            <a:ext cx="485908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800" dirty="0"/>
              <a:t>It is mandatory to create a GitHub account at </a:t>
            </a:r>
            <a:r>
              <a:rPr lang="en-US" sz="2800" u="sng" dirty="0">
                <a:hlinkClick r:id="rId3"/>
              </a:rPr>
              <a:t>https://github.com/signup</a:t>
            </a:r>
            <a:endParaRPr lang="en-US" sz="2800" dirty="0"/>
          </a:p>
          <a:p>
            <a:pPr marL="457200" indent="-457200">
              <a:buFont typeface="Wingdings" pitchFamily="2" charset="2"/>
              <a:buChar char="Ø"/>
            </a:pPr>
            <a:endParaRPr lang="en-US" sz="2800" dirty="0"/>
          </a:p>
          <a:p>
            <a:pPr marL="457200" indent="-457200">
              <a:buFont typeface="Wingdings" pitchFamily="2" charset="2"/>
              <a:buChar char="Ø"/>
            </a:pPr>
            <a:r>
              <a:rPr lang="en-US" sz="2800" dirty="0"/>
              <a:t>You can find all the resources you need in this repository: </a:t>
            </a:r>
            <a:r>
              <a:rPr lang="en-US" sz="2800" dirty="0">
                <a:hlinkClick r:id="rId4"/>
              </a:rPr>
              <a:t>https://rusudinu/mobile-and-embedded-computing</a:t>
            </a:r>
            <a:endParaRPr lang="en-US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cover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Image" descr="Image"/>
          <p:cNvPicPr>
            <a:picLocks noChangeAspect="1"/>
          </p:cNvPicPr>
          <p:nvPr/>
        </p:nvPicPr>
        <p:blipFill>
          <a:blip r:embed="rId2">
            <a:alphaModFix amt="19756"/>
          </a:blip>
          <a:srcRect/>
          <a:stretch>
            <a:fillRect/>
          </a:stretch>
        </p:blipFill>
        <p:spPr>
          <a:xfrm>
            <a:off x="22567" y="1806972"/>
            <a:ext cx="5767258" cy="3244083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E7F0C93-964E-6AF5-659E-58C09A79D9DF}"/>
              </a:ext>
            </a:extLst>
          </p:cNvPr>
          <p:cNvSpPr txBox="1"/>
          <p:nvPr/>
        </p:nvSpPr>
        <p:spPr>
          <a:xfrm>
            <a:off x="5443871" y="1443841"/>
            <a:ext cx="557145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800" dirty="0"/>
              <a:t>A repository contains all the files of your project, and each revision of it</a:t>
            </a:r>
          </a:p>
          <a:p>
            <a:pPr marL="457200" indent="-457200">
              <a:buFont typeface="Wingdings" pitchFamily="2" charset="2"/>
              <a:buChar char="Ø"/>
            </a:pPr>
            <a:endParaRPr lang="en-US" sz="2800" dirty="0"/>
          </a:p>
          <a:p>
            <a:pPr marL="457200" indent="-457200">
              <a:buFont typeface="Wingdings" pitchFamily="2" charset="2"/>
              <a:buChar char="Ø"/>
            </a:pPr>
            <a:r>
              <a:rPr lang="en-US" sz="2800" dirty="0"/>
              <a:t>It contains at least one branch (main/master)</a:t>
            </a:r>
          </a:p>
          <a:p>
            <a:pPr marL="457200" indent="-457200">
              <a:buFont typeface="Wingdings" pitchFamily="2" charset="2"/>
              <a:buChar char="Ø"/>
            </a:pPr>
            <a:endParaRPr lang="en-US" sz="2800" dirty="0"/>
          </a:p>
          <a:p>
            <a:pPr marL="457200" indent="-457200">
              <a:buFont typeface="Wingdings" pitchFamily="2" charset="2"/>
              <a:buChar char="Ø"/>
            </a:pPr>
            <a:r>
              <a:rPr lang="en-US" sz="2800" dirty="0"/>
              <a:t>A repository is a Git ‘concept’, and NOT a GitHub one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cover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pngwing.com-2.png" descr="pngwing.com-2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1053119" y="1800320"/>
            <a:ext cx="3257361" cy="3257361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C13D163-97D5-D6E9-AE9A-837B5DE8CDF7}"/>
              </a:ext>
            </a:extLst>
          </p:cNvPr>
          <p:cNvSpPr txBox="1"/>
          <p:nvPr/>
        </p:nvSpPr>
        <p:spPr>
          <a:xfrm>
            <a:off x="5369442" y="1814370"/>
            <a:ext cx="602462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2800" dirty="0"/>
              <a:t>Branches allow contributors to develop features, fix bugs or experiment new ideas without impacting other team members.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sz="2800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sz="2800" dirty="0"/>
              <a:t>A branch is created from an existing branch.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cover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pngwing.com-2.png" descr="pngwing.com-2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1053119" y="1800320"/>
            <a:ext cx="3257361" cy="3257361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DC425A1-AF68-B8C2-0392-2171AE53E582}"/>
              </a:ext>
            </a:extLst>
          </p:cNvPr>
          <p:cNvSpPr txBox="1"/>
          <p:nvPr/>
        </p:nvSpPr>
        <p:spPr>
          <a:xfrm>
            <a:off x="4718335" y="797510"/>
            <a:ext cx="687926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2800" dirty="0"/>
              <a:t>A pull request is an event that takes place when a contributor is ready to begin the process of merging new code changes with the main project branch.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sz="2800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sz="2800" dirty="0"/>
              <a:t>After a peer review, a pull request may or may not be approved.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sz="2800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sz="2800" dirty="0"/>
              <a:t>If approved, it may be merged, otherwise the author must make the requested changes until he receives all the required approvals.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cover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32A306D-A283-6E16-A211-7596336D1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961729"/>
            <a:ext cx="10905066" cy="49345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cover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82567F-FCEB-1406-8E6A-B25A958ED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" name="Picture 9" descr="A computer hardware system with boxes and letters&#10;&#10;AI-generated content may be incorrect.">
            <a:extLst>
              <a:ext uri="{FF2B5EF4-FFF2-40B4-BE49-F238E27FC236}">
                <a16:creationId xmlns:a16="http://schemas.microsoft.com/office/drawing/2014/main" id="{9F38AF69-CB44-B1F2-7F6E-1555FB9EC1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672" b="707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2744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5476B4-DEEC-AE95-0965-F39905410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D88DE0-3BC8-AEEF-4ED4-FF3AE80F5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Device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97D47-4522-D002-63CD-259AC78C3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3025303" cy="5546047"/>
          </a:xfrm>
        </p:spPr>
        <p:txBody>
          <a:bodyPr anchor="ctr"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000">
                <a:cs typeface="Al Bayan Plain" pitchFamily="2" charset="-78"/>
              </a:rPr>
              <a:t> CPU</a:t>
            </a:r>
          </a:p>
          <a:p>
            <a:pPr>
              <a:buFont typeface="Wingdings" pitchFamily="2" charset="2"/>
              <a:buChar char="Ø"/>
            </a:pPr>
            <a:r>
              <a:rPr lang="en-US" sz="2000">
                <a:cs typeface="Al Bayan Plain" pitchFamily="2" charset="-78"/>
              </a:rPr>
              <a:t> RAM</a:t>
            </a:r>
          </a:p>
          <a:p>
            <a:pPr>
              <a:buFont typeface="Wingdings" pitchFamily="2" charset="2"/>
              <a:buChar char="Ø"/>
            </a:pPr>
            <a:r>
              <a:rPr lang="en-US" sz="2000">
                <a:cs typeface="Al Bayan Plain" pitchFamily="2" charset="-78"/>
              </a:rPr>
              <a:t> SSD</a:t>
            </a:r>
          </a:p>
          <a:p>
            <a:pPr>
              <a:buFont typeface="Wingdings" pitchFamily="2" charset="2"/>
              <a:buChar char="Ø"/>
            </a:pPr>
            <a:r>
              <a:rPr lang="en-US" sz="2000">
                <a:cs typeface="Al Bayan Plain" pitchFamily="2" charset="-78"/>
              </a:rPr>
              <a:t> GPU</a:t>
            </a:r>
          </a:p>
          <a:p>
            <a:pPr>
              <a:buFont typeface="Wingdings" pitchFamily="2" charset="2"/>
              <a:buChar char="Ø"/>
            </a:pPr>
            <a:r>
              <a:rPr lang="en-US" sz="2000">
                <a:cs typeface="Al Bayan Plain" pitchFamily="2" charset="-78"/>
              </a:rPr>
              <a:t> For mobile devices, the battery is also a ‘resource’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AB8A05-6C4A-CAA0-1F1B-FC3718EF7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3763" y="473654"/>
            <a:ext cx="2887253" cy="5922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6368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3BB622-2F12-B4C3-0571-C28CAEE2C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E396A8-211E-68B4-5B5A-A4A0FE74A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/>
              <a:t>Resource allocation for LLMs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51B95-29FD-6341-9F0E-36074AF39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200" dirty="0">
                <a:cs typeface="Al Bayan Plain" pitchFamily="2" charset="-78"/>
              </a:rPr>
              <a:t> When you try to load a Large Language Model (LLM), the operating system will do the following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cs typeface="Al Bayan Plain" pitchFamily="2" charset="-78"/>
              </a:rPr>
              <a:t> ’Unified memory’ in MacBooks is very useful for LLMS because you have a lot more ‘VRAM’ available	</a:t>
            </a:r>
          </a:p>
          <a:p>
            <a:pPr marL="914400" lvl="2" indent="0">
              <a:buNone/>
            </a:pPr>
            <a:endParaRPr lang="en-US" sz="2200" dirty="0">
              <a:cs typeface="Al Bayan Plain" pitchFamily="2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50B04C-F680-0869-7147-AA0C635AD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641624"/>
            <a:ext cx="6903720" cy="5574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2096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3F2F2-C7D4-8906-5A7A-115644890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202C7-B74D-E667-CBD4-47A980431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AB0AD-0C07-9A92-4C10-1EC040E93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1353801" cy="4802187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Runs in a </a:t>
            </a:r>
            <a:r>
              <a:rPr lang="en-US" b="1" dirty="0">
                <a:cs typeface="Al Bayan Plain" pitchFamily="2" charset="-78"/>
              </a:rPr>
              <a:t>web browser </a:t>
            </a:r>
            <a:r>
              <a:rPr lang="en-US" dirty="0">
                <a:cs typeface="Al Bayan Plain" pitchFamily="2" charset="-78"/>
              </a:rPr>
              <a:t>instead of being installed directly on a device like a Desktop App / Mobile App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Is accessed using a </a:t>
            </a:r>
            <a:r>
              <a:rPr lang="en-US" b="1" dirty="0">
                <a:cs typeface="Al Bayan Plain" pitchFamily="2" charset="-78"/>
              </a:rPr>
              <a:t>URL </a:t>
            </a:r>
            <a:r>
              <a:rPr lang="en-US" dirty="0">
                <a:cs typeface="Al Bayan Plain" pitchFamily="2" charset="-78"/>
              </a:rPr>
              <a:t>(e.g. </a:t>
            </a:r>
            <a:r>
              <a:rPr lang="en-US" dirty="0">
                <a:cs typeface="Al Bayan Plain" pitchFamily="2" charset="-78"/>
                <a:hlinkClick r:id="rId2"/>
              </a:rPr>
              <a:t>https://rusudinu.ro</a:t>
            </a:r>
            <a:r>
              <a:rPr lang="en-US" dirty="0">
                <a:cs typeface="Al Bayan Plain" pitchFamily="2" charset="-78"/>
              </a:rPr>
              <a:t>)</a:t>
            </a:r>
          </a:p>
          <a:p>
            <a:pPr>
              <a:buFont typeface="Wingdings" pitchFamily="2" charset="2"/>
              <a:buChar char="Ø"/>
            </a:pPr>
            <a:r>
              <a:rPr lang="en-US" b="1" dirty="0">
                <a:cs typeface="Al Bayan Plain" pitchFamily="2" charset="-78"/>
              </a:rPr>
              <a:t> </a:t>
            </a:r>
            <a:r>
              <a:rPr lang="en-US" dirty="0">
                <a:cs typeface="Al Bayan Plain" pitchFamily="2" charset="-78"/>
              </a:rPr>
              <a:t>No installation needed</a:t>
            </a:r>
          </a:p>
          <a:p>
            <a:pPr>
              <a:buFont typeface="Wingdings" pitchFamily="2" charset="2"/>
              <a:buChar char="Ø"/>
            </a:pPr>
            <a:r>
              <a:rPr lang="en-US" b="1" dirty="0">
                <a:cs typeface="Al Bayan Plain" pitchFamily="2" charset="-78"/>
              </a:rPr>
              <a:t> </a:t>
            </a:r>
            <a:r>
              <a:rPr lang="en-US" dirty="0">
                <a:cs typeface="Al Bayan Plain" pitchFamily="2" charset="-78"/>
              </a:rPr>
              <a:t>Cross platform ‘by default’</a:t>
            </a:r>
          </a:p>
          <a:p>
            <a:pPr>
              <a:buFont typeface="Wingdings" pitchFamily="2" charset="2"/>
              <a:buChar char="Ø"/>
            </a:pPr>
            <a:r>
              <a:rPr lang="en-US" b="1" dirty="0">
                <a:cs typeface="Al Bayan Plain" pitchFamily="2" charset="-78"/>
              </a:rPr>
              <a:t> </a:t>
            </a:r>
            <a:r>
              <a:rPr lang="en-US" dirty="0">
                <a:cs typeface="Al Bayan Plain" pitchFamily="2" charset="-78"/>
              </a:rPr>
              <a:t>Usually require an active internet connection</a:t>
            </a:r>
          </a:p>
          <a:p>
            <a:pPr>
              <a:buFont typeface="Wingdings" pitchFamily="2" charset="2"/>
              <a:buChar char="Ø"/>
            </a:pPr>
            <a:r>
              <a:rPr lang="en-US" b="1" dirty="0">
                <a:cs typeface="Al Bayan Plain" pitchFamily="2" charset="-78"/>
              </a:rPr>
              <a:t> </a:t>
            </a:r>
            <a:r>
              <a:rPr lang="en-US" dirty="0">
                <a:cs typeface="Al Bayan Plain" pitchFamily="2" charset="-78"/>
              </a:rPr>
              <a:t>The content &amp; functionality updates in real time</a:t>
            </a:r>
          </a:p>
          <a:p>
            <a:pPr>
              <a:buFont typeface="Wingdings" pitchFamily="2" charset="2"/>
              <a:buChar char="Ø"/>
            </a:pPr>
            <a:r>
              <a:rPr lang="en-US" b="1" dirty="0">
                <a:cs typeface="Al Bayan Plain" pitchFamily="2" charset="-78"/>
              </a:rPr>
              <a:t> </a:t>
            </a:r>
            <a:r>
              <a:rPr lang="en-US" dirty="0">
                <a:cs typeface="Al Bayan Plain" pitchFamily="2" charset="-78"/>
              </a:rPr>
              <a:t>‘Plain’ HTML &amp; </a:t>
            </a:r>
            <a:r>
              <a:rPr lang="en-US" dirty="0" err="1">
                <a:cs typeface="Al Bayan Plain" pitchFamily="2" charset="-78"/>
              </a:rPr>
              <a:t>Js</a:t>
            </a:r>
            <a:r>
              <a:rPr lang="en-US" dirty="0">
                <a:cs typeface="Al Bayan Plain" pitchFamily="2" charset="-78"/>
              </a:rPr>
              <a:t>, Angular, React, Vue, Svelte, </a:t>
            </a:r>
            <a:r>
              <a:rPr lang="en-US" dirty="0" err="1">
                <a:cs typeface="Al Bayan Plain" pitchFamily="2" charset="-78"/>
              </a:rPr>
              <a:t>etc</a:t>
            </a:r>
            <a:endParaRPr lang="en-US" b="1" dirty="0">
              <a:cs typeface="Al Bayan Plain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499539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C17F6-497B-A37E-8102-55E7AE802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EE7B9-8B2E-660F-6C4F-3488B51CD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Progressive Web App (PWA)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A9377-117A-F695-0E58-05DA49100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1353801" cy="4802187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‘Modern’ technologies making a website behave like a mobile app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Installable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Capable of working offline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HTTPs only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Cross platform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Updates are automatically checked in the background by the service worker and are applied when the app is opened the next time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‘Plain’ HTML &amp; </a:t>
            </a:r>
            <a:r>
              <a:rPr lang="en-US" dirty="0" err="1">
                <a:cs typeface="Al Bayan Plain" pitchFamily="2" charset="-78"/>
              </a:rPr>
              <a:t>Js</a:t>
            </a:r>
            <a:r>
              <a:rPr lang="en-US" dirty="0">
                <a:cs typeface="Al Bayan Plain" pitchFamily="2" charset="-78"/>
              </a:rPr>
              <a:t>, Angular, React, Vue, Svelte, </a:t>
            </a:r>
            <a:r>
              <a:rPr lang="en-US" dirty="0" err="1">
                <a:cs typeface="Al Bayan Plain" pitchFamily="2" charset="-78"/>
              </a:rPr>
              <a:t>etc</a:t>
            </a:r>
            <a:endParaRPr lang="en-US" dirty="0">
              <a:cs typeface="Al Bayan Plain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4772252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BA260-8211-02B3-1ABE-E0A8E3CC3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54FF4-92CC-3E8B-FE58-D7843D7D7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 Platform Apps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2F256-5B33-01AB-3E3C-4C4DC6779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775536" cy="4802187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Most of the code is written once and the app will run on Android and iOS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Better performance compared to PWA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Slower to update, need to go through the Store review process (except for some cases like parts of React Native apps that can receive OTA (Over the Air) updates)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Some have Desktop support (Flutter)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Can work well fully offline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Flutter, React Native, Kotlin Multiplatform, </a:t>
            </a:r>
            <a:r>
              <a:rPr lang="en-US" dirty="0" err="1">
                <a:cs typeface="Al Bayan Plain" pitchFamily="2" charset="-78"/>
              </a:rPr>
              <a:t>etc</a:t>
            </a:r>
            <a:endParaRPr lang="en-US" dirty="0">
              <a:cs typeface="Al Bayan Plain" pitchFamily="2" charset="-78"/>
            </a:endParaRPr>
          </a:p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Published in Google Play, App Store</a:t>
            </a:r>
          </a:p>
        </p:txBody>
      </p:sp>
    </p:spTree>
    <p:extLst>
      <p:ext uri="{BB962C8B-B14F-4D97-AF65-F5344CB8AC3E}">
        <p14:creationId xmlns:p14="http://schemas.microsoft.com/office/powerpoint/2010/main" val="2878026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092C4-B4B4-274E-6895-9B2325845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5147B-7E07-8470-3925-5D8C36242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Native Apps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1F4A1-8B74-5931-4F3B-420E1F550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775536" cy="4802187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Platform specific, built for one OS (iOS or Android)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iOS -&gt; Swift / </a:t>
            </a:r>
            <a:r>
              <a:rPr lang="en-US" dirty="0" err="1">
                <a:cs typeface="Al Bayan Plain" pitchFamily="2" charset="-78"/>
              </a:rPr>
              <a:t>ObjC</a:t>
            </a:r>
            <a:r>
              <a:rPr lang="en-US" dirty="0">
                <a:cs typeface="Al Bayan Plain" pitchFamily="2" charset="-78"/>
              </a:rPr>
              <a:t> in Xcode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Android -&gt; Kotlin / Java in Android Studio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Can work well fully offline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Best performance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Use native components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Published in Google Play, App Store</a:t>
            </a:r>
          </a:p>
        </p:txBody>
      </p:sp>
    </p:spTree>
    <p:extLst>
      <p:ext uri="{BB962C8B-B14F-4D97-AF65-F5344CB8AC3E}">
        <p14:creationId xmlns:p14="http://schemas.microsoft.com/office/powerpoint/2010/main" val="32146819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1D0036-0E97-C13F-CBCF-102E18E37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diagram of a computer network&#10;&#10;AI-generated content may be incorrect.">
            <a:extLst>
              <a:ext uri="{FF2B5EF4-FFF2-40B4-BE49-F238E27FC236}">
                <a16:creationId xmlns:a16="http://schemas.microsoft.com/office/drawing/2014/main" id="{F434B0B8-3B59-AC3F-F15C-97613E62B4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62"/>
          <a:stretch>
            <a:fillRect/>
          </a:stretch>
        </p:blipFill>
        <p:spPr>
          <a:xfrm>
            <a:off x="1929677" y="643466"/>
            <a:ext cx="8332645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4946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9879C-93B6-CC48-19C7-9975C6670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35C13-9656-BC7D-5797-F18EB7174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Server Side Rendering (SSR)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CA33C-2D4A-344C-ACC1-BC92760876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775536" cy="4802187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>
                <a:cs typeface="Al Bayan Plain" pitchFamily="2" charset="-78"/>
              </a:rPr>
              <a:t> </a:t>
            </a:r>
            <a:r>
              <a:rPr lang="en-US" dirty="0"/>
              <a:t>HTML is generated on the server for each request 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Better SEO since content is immediately available to crawlers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Faster initial page load and Time to First </a:t>
            </a:r>
            <a:r>
              <a:rPr lang="en-US" dirty="0" err="1"/>
              <a:t>Contentful</a:t>
            </a:r>
            <a:r>
              <a:rPr lang="en-US" dirty="0"/>
              <a:t> Paint (TTCP)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Higher server load as each request requires processing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Slower navigation between pages (full page reloads)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Examples: </a:t>
            </a:r>
            <a:r>
              <a:rPr lang="en-US" dirty="0" err="1"/>
              <a:t>Next.js</a:t>
            </a:r>
            <a:r>
              <a:rPr lang="en-US" dirty="0"/>
              <a:t> with </a:t>
            </a:r>
            <a:r>
              <a:rPr lang="en-US" dirty="0" err="1"/>
              <a:t>getServerSideProps</a:t>
            </a:r>
            <a:r>
              <a:rPr lang="en-US" dirty="0"/>
              <a:t>, </a:t>
            </a:r>
            <a:r>
              <a:rPr lang="en-US" dirty="0" err="1"/>
              <a:t>Nuxt.js</a:t>
            </a:r>
            <a:r>
              <a:rPr lang="en-US" dirty="0"/>
              <a:t>, </a:t>
            </a:r>
            <a:r>
              <a:rPr lang="en-US" dirty="0" err="1"/>
              <a:t>SvelteKit</a:t>
            </a:r>
            <a:endParaRPr lang="en-US" dirty="0"/>
          </a:p>
          <a:p>
            <a:pPr>
              <a:buFont typeface="Wingdings" pitchFamily="2" charset="2"/>
              <a:buChar char="Ø"/>
            </a:pPr>
            <a:r>
              <a:rPr lang="en-US" dirty="0"/>
              <a:t> Ideal for dynamic content that changes frequently</a:t>
            </a:r>
            <a:endParaRPr lang="en-US" dirty="0">
              <a:cs typeface="Al Bayan Plain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986556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2D51D-EF06-8FDE-24D1-125F0B285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48E27-683E-9E46-09FE-EEF7A849B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Site Generation (SSG)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22B69-8E33-4EC2-043B-64C83D42D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775536" cy="4802187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/>
              <a:t>HTML pages are pre-built at build time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Excellent performance with fast loading times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Great SEO as content is fully rendered in HTML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Can be served from CDNs for global distribution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Limited to content known at build time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Requires rebuilding and redeploying for content updates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Examples: </a:t>
            </a:r>
            <a:r>
              <a:rPr lang="en-US" dirty="0" err="1"/>
              <a:t>Next.js</a:t>
            </a:r>
            <a:r>
              <a:rPr lang="en-US" dirty="0"/>
              <a:t> with </a:t>
            </a:r>
            <a:r>
              <a:rPr lang="en-US" dirty="0" err="1"/>
              <a:t>getStaticProps</a:t>
            </a:r>
            <a:r>
              <a:rPr lang="en-US" dirty="0"/>
              <a:t>, Gatsby, Astro, Jekyll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Used for documentation</a:t>
            </a:r>
            <a:endParaRPr lang="en-US" dirty="0">
              <a:cs typeface="Al Bayan Plain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0835769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843CC-B37F-CFF4-7779-3A058D373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9E6A7-D764-D878-F737-05E5DCA8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 Side Rendering (CSR)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A369D-0CB8-37F6-39D2-C5BD5BF63B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775536" cy="4802187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/>
              <a:t>JavaScript runs in the browser to generate the page content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Smooth user experience with fast navigation after initial load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Rich interactivity and dynamic user interfaces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Slower initial page load as JS bundle must be downloaded and executed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Poor SEO without additional optimization (crawlers see empty page initially)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Examples: Create React App, Vue CLI apps, traditional SPAs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Best for highly interactive applications and dashboards</a:t>
            </a:r>
            <a:endParaRPr lang="en-US" dirty="0">
              <a:cs typeface="Al Bayan Plain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082128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4815</TotalTime>
  <Words>1060</Words>
  <Application>Microsoft Macintosh PowerPoint</Application>
  <PresentationFormat>Widescreen</PresentationFormat>
  <Paragraphs>124</Paragraphs>
  <Slides>23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Al Bayan Plain</vt:lpstr>
      <vt:lpstr>Aptos</vt:lpstr>
      <vt:lpstr>Aptos Display</vt:lpstr>
      <vt:lpstr>Archivo</vt:lpstr>
      <vt:lpstr>Arial</vt:lpstr>
      <vt:lpstr>Wingdings</vt:lpstr>
      <vt:lpstr>Office Theme</vt:lpstr>
      <vt:lpstr>Mobile and Embedded Computing</vt:lpstr>
      <vt:lpstr>PowerPoint Presentation</vt:lpstr>
      <vt:lpstr>Course Topics</vt:lpstr>
      <vt:lpstr>Grading</vt:lpstr>
      <vt:lpstr>Platforms &amp; Technology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Device resources</vt:lpstr>
      <vt:lpstr>Resource allocation for LLMs</vt:lpstr>
      <vt:lpstr>Web App</vt:lpstr>
      <vt:lpstr>Progressive Web App (PWA)</vt:lpstr>
      <vt:lpstr>Cross Platform Apps</vt:lpstr>
      <vt:lpstr>Native Apps</vt:lpstr>
      <vt:lpstr>PowerPoint Presentation</vt:lpstr>
      <vt:lpstr>Server Side Rendering (SSR)</vt:lpstr>
      <vt:lpstr>Static Site Generation (SSG)</vt:lpstr>
      <vt:lpstr>Client Side Rendering (CSR)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 Dinu Rusu | Tazz, IT</dc:creator>
  <cp:lastModifiedBy>Stefan Dinu Rusu | Tazz, IT</cp:lastModifiedBy>
  <cp:revision>12</cp:revision>
  <dcterms:created xsi:type="dcterms:W3CDTF">2025-09-15T16:44:45Z</dcterms:created>
  <dcterms:modified xsi:type="dcterms:W3CDTF">2026-02-12T12:28:38Z</dcterms:modified>
</cp:coreProperties>
</file>