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5325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opportunity: run this loop once in front of the class. Emphasize that the graders look at the repo history — branches, PRs, reviews, and per-student commit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Orders of magnitude are the point, not exact numbers. A phone has ~10,000x less RAM headroom than a cloud box; an MCU has ~10,000x less than the phone. Numbers are 2026-typical: flagship phones 8–16 GB RAM; ESP32-class MCU: 520 KB SRAM, 4 MB flash, milliwatt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for the curious: RN's old async 'bridge' serialized JSON between JS and native — retired with the new architecture (default since RN 0.76, Oct 2024). CodePush was the classic OTA service; Microsoft retired it in March 2025, Expo EAS Update is the mainstream successor. Flutter: Impeller replaced Skia; since Flutter 3.44 Skia is fully removed on iOS and Android 10+.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inu-dev-upb-mobile-and-embedded-computing/d1032b87-bd31-488f-ba67-d21318b1df8e/scratchpad/icons2/clou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572" y="1600200"/>
            <a:ext cx="384048" cy="384048"/>
          </a:xfrm>
          <a:prstGeom prst="rect">
            <a:avLst/>
          </a:prstGeom>
        </p:spPr>
      </p:pic>
      <p:pic>
        <p:nvPicPr>
          <p:cNvPr id="3" name="Image 1" descr="/private/tmp/claude-501/-Users-dinu-dev-upb-mobile-and-embedded-computing/d1032b87-bd31-488f-ba67-d21318b1df8e/scratchpad/icons2/laptop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1124" y="1600200"/>
            <a:ext cx="384048" cy="384048"/>
          </a:xfrm>
          <a:prstGeom prst="rect">
            <a:avLst/>
          </a:prstGeom>
        </p:spPr>
      </p:pic>
      <p:pic>
        <p:nvPicPr>
          <p:cNvPr id="4" name="Image 2" descr="/private/tmp/claude-501/-Users-dinu-dev-upb-mobile-and-embedded-computing/d1032b87-bd31-488f-ba67-d21318b1df8e/scratchpad/icons2/smartphone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8676" y="1600200"/>
            <a:ext cx="384048" cy="384048"/>
          </a:xfrm>
          <a:prstGeom prst="rect">
            <a:avLst/>
          </a:prstGeom>
        </p:spPr>
      </p:pic>
      <p:pic>
        <p:nvPicPr>
          <p:cNvPr id="5" name="Image 3" descr="/private/tmp/claude-501/-Users-dinu-dev-upb-mobile-and-embedded-computing/d1032b87-bd31-488f-ba67-d21318b1df8e/scratchpad/icons2/watch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6228" y="1600200"/>
            <a:ext cx="384048" cy="384048"/>
          </a:xfrm>
          <a:prstGeom prst="rect">
            <a:avLst/>
          </a:prstGeom>
        </p:spPr>
      </p:pic>
      <p:pic>
        <p:nvPicPr>
          <p:cNvPr id="6" name="Image 4" descr="/private/tmp/claude-501/-Users-dinu-dev-upb-mobile-and-embedded-computing/d1032b87-bd31-488f-ba67-d21318b1df8e/scratchpad/icons2/board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3780" y="1600200"/>
            <a:ext cx="384048" cy="384048"/>
          </a:xfrm>
          <a:prstGeom prst="rect">
            <a:avLst/>
          </a:prstGeom>
        </p:spPr>
      </p:pic>
      <p:pic>
        <p:nvPicPr>
          <p:cNvPr id="7" name="Image 5" descr="/private/tmp/claude-501/-Users-dinu-dev-upb-mobile-and-embedded-computing/d1032b87-bd31-488f-ba67-d21318b1df8e/scratchpad/icons2/cpu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1332" y="1600200"/>
            <a:ext cx="384048" cy="384048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731520" y="260604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Mobile and Embedded Computing</a:t>
            </a:r>
            <a:endParaRPr lang="en-US" sz="4600" dirty="0"/>
          </a:p>
        </p:txBody>
      </p:sp>
      <p:sp>
        <p:nvSpPr>
          <p:cNvPr id="9" name="Text 1"/>
          <p:cNvSpPr/>
          <p:nvPr/>
        </p:nvSpPr>
        <p:spPr>
          <a:xfrm>
            <a:off x="731520" y="361188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Lecture 1 — Course orientation · Platforms &amp; the device landscape</a:t>
            </a:r>
            <a:endParaRPr lang="en-US" sz="1700" dirty="0"/>
          </a:p>
        </p:txBody>
      </p:sp>
      <p:sp>
        <p:nvSpPr>
          <p:cNvPr id="10" name="Text 2"/>
          <p:cNvSpPr/>
          <p:nvPr/>
        </p:nvSpPr>
        <p:spPr>
          <a:xfrm>
            <a:off x="731520" y="58064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Dinu-Ștefan Rusu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ORIENTATION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Who's teaching this course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Dinu-Ștefan Rusu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dinu_stefan.rusu@upb.ro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Teams — course channel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rusudinu.com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0" y="1600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45+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6675120" y="2560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Flutter apps shipped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326880" y="1600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400k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9326880" y="2560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installs across them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Appeared in, spoken at &amp; partnered with</a:t>
            </a:r>
            <a:endParaRPr lang="en-US" sz="1100" dirty="0"/>
          </a:p>
        </p:txBody>
      </p:sp>
      <p:pic>
        <p:nvPicPr>
          <p:cNvPr id="13" name="Image 0" descr="/private/tmp/claude-501/-Users-dinu-dev-upb-mobile-and-embedded-computing/d1032b87-bd31-488f-ba67-d21318b1df8e/scratchpad/assets-logo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32477"/>
            <a:ext cx="1047902" cy="319126"/>
          </a:xfrm>
          <a:prstGeom prst="rect">
            <a:avLst/>
          </a:prstGeom>
        </p:spPr>
      </p:pic>
      <p:pic>
        <p:nvPicPr>
          <p:cNvPr id="14" name="Image 1" descr="/private/tmp/claude-501/-Users-dinu-dev-upb-mobile-and-embedded-computing/d1032b87-bd31-488f-ba67-d21318b1df8e/scratchpad/assets-logos/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5763" y="4675327"/>
            <a:ext cx="770839" cy="433426"/>
          </a:xfrm>
          <a:prstGeom prst="rect">
            <a:avLst/>
          </a:prstGeom>
        </p:spPr>
      </p:pic>
      <p:pic>
        <p:nvPicPr>
          <p:cNvPr id="15" name="Image 2" descr="/private/tmp/claude-501/-Users-dinu-dev-upb-mobile-and-embedded-computing/d1032b87-bd31-488f-ba67-d21318b1df8e/scratchpad/assets-logos/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1503" y="4715104"/>
            <a:ext cx="945490" cy="353873"/>
          </a:xfrm>
          <a:prstGeom prst="rect">
            <a:avLst/>
          </a:prstGeom>
        </p:spPr>
      </p:pic>
      <p:pic>
        <p:nvPicPr>
          <p:cNvPr id="16" name="Image 3" descr="/private/tmp/claude-501/-Users-dinu-dev-upb-mobile-and-embedded-computing/d1032b87-bd31-488f-ba67-d21318b1df8e/scratchpad/assets-logos/imag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1894" y="4716932"/>
            <a:ext cx="1313078" cy="350215"/>
          </a:xfrm>
          <a:prstGeom prst="rect">
            <a:avLst/>
          </a:prstGeom>
        </p:spPr>
      </p:pic>
      <p:pic>
        <p:nvPicPr>
          <p:cNvPr id="17" name="Image 4" descr="/private/tmp/claude-501/-Users-dinu-dev-upb-mobile-and-embedded-computing/d1032b87-bd31-488f-ba67-d21318b1df8e/scratchpad/assets-logos/imag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9873" y="4626864"/>
            <a:ext cx="611734" cy="530352"/>
          </a:xfrm>
          <a:prstGeom prst="rect">
            <a:avLst/>
          </a:prstGeom>
        </p:spPr>
      </p:pic>
      <p:pic>
        <p:nvPicPr>
          <p:cNvPr id="18" name="Image 5" descr="/private/tmp/claude-501/-Users-dinu-dev-upb-mobile-and-embedded-computing/d1032b87-bd31-488f-ba67-d21318b1df8e/scratchpad/assets-logos/image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6508" y="4626864"/>
            <a:ext cx="846734" cy="530352"/>
          </a:xfrm>
          <a:prstGeom prst="rect">
            <a:avLst/>
          </a:prstGeom>
        </p:spPr>
      </p:pic>
      <p:pic>
        <p:nvPicPr>
          <p:cNvPr id="19" name="Image 6" descr="/private/tmp/claude-501/-Users-dinu-dev-upb-mobile-and-embedded-computing/d1032b87-bd31-488f-ba67-d21318b1df8e/scratchpad/assets-logos/image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8143" y="4767682"/>
            <a:ext cx="1691640" cy="248717"/>
          </a:xfrm>
          <a:prstGeom prst="rect">
            <a:avLst/>
          </a:prstGeom>
        </p:spPr>
      </p:pic>
      <p:pic>
        <p:nvPicPr>
          <p:cNvPr id="20" name="Image 7" descr="/private/tmp/claude-501/-Users-dinu-dev-upb-mobile-and-embedded-computing/d1032b87-bd31-488f-ba67-d21318b1df8e/scratchpad/assets-logos/image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44684" y="4717847"/>
            <a:ext cx="1321308" cy="3483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ORIENTATION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12 lectures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89888" y="1673352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mobile &amp; embedded landscape; native vs cross-platform; Git &amp; GitHub   </a:t>
            </a:r>
            <a:r>
              <a:rPr lang="en-US" sz="120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404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89888" y="2386584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Compiled vs interpreted languages; null safety; Dart &amp; Kotlin; Flutter intro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1181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89888" y="3099816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Agent-assisted coding; async vs threads (isolates vs goroutines); widgets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83133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89888" y="3813048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Stateless vs Stateful; introduction to state management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45445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89888" y="4526280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Server vs client-side execution; serverless vs VPS; Go backends &amp; Firebase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52578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89888" y="5239512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GraphQL &amp; REST; observability for mobile (events, Crashlytics)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1691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13448" y="1673352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WebSockets; permissions &amp; routing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2404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13448" y="2386584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 management techniques; the BLoC pattern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1181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13448" y="3099816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Authentication; OAuth providers; Firebase App Check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383133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13448" y="3813048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on-device &amp; connecting to LLMs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46520" y="45445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13448" y="4526280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 to stores &amp; CI/CD; Kotlin Multiplatform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46520" y="52578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563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13448" y="5239512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Performance &amp; energy; embedded with TinyGo (sensors → MQTT → your app)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ORIENTATION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19257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r>
              <a:rPr lang="en-US" sz="20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p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8342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Final exam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703320"/>
            <a:ext cx="1834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the exam session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31566" y="2148840"/>
            <a:ext cx="19257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r>
              <a:rPr lang="en-US" sz="20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p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2931566" y="3200400"/>
            <a:ext cx="18342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Laboratory + assignments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931566" y="3703320"/>
            <a:ext cx="1834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individual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40173" y="2148840"/>
            <a:ext cx="19257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1.5</a:t>
            </a:r>
            <a:r>
              <a:rPr lang="en-US" sz="20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p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5040173" y="3200400"/>
            <a:ext cx="18342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Lab test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40173" y="3703320"/>
            <a:ext cx="1834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individual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48779" y="2148840"/>
            <a:ext cx="19257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1.5</a:t>
            </a:r>
            <a:r>
              <a:rPr lang="en-US" sz="20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p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7148779" y="3200400"/>
            <a:ext cx="18342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Project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48779" y="3703320"/>
            <a:ext cx="1834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teams of max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257386" y="2148840"/>
            <a:ext cx="19257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r>
              <a:rPr lang="en-US" sz="20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p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9257386" y="3200400"/>
            <a:ext cx="18342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Concept presentation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257386" y="3703320"/>
            <a:ext cx="1834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teams of max 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pass with a total of </a:t>
            </a: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≥ 5 out of 10</a:t>
            </a: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ORIENTATION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Concept presentations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492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3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a topic from the shared Excel table — first come, first served</a:t>
            </a:r>
            <a:endParaRPr lang="en-US" sz="1450" dirty="0"/>
          </a:p>
          <a:p>
            <a:pPr marL="0" indent="0">
              <a:spcAft>
                <a:spcPts val="13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Prepare slides that cover ~20 minutes of presentation</a:t>
            </a:r>
            <a:endParaRPr lang="en-US" sz="1450" dirty="0"/>
          </a:p>
          <a:p>
            <a:pPr marL="0" indent="0">
              <a:spcAft>
                <a:spcPts val="13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it fits the topic, include a demo — inside the same 20 minutes</a:t>
            </a:r>
            <a:endParaRPr lang="en-US" sz="1450" dirty="0"/>
          </a:p>
          <a:p>
            <a:pPr marL="0" indent="0">
              <a:spcAft>
                <a:spcPts val="13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team member presents their part</a:t>
            </a:r>
            <a:endParaRPr lang="en-US" sz="1450" dirty="0"/>
          </a:p>
          <a:p>
            <a:pPr marL="0" indent="0">
              <a:spcAft>
                <a:spcPts val="13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all materials to Moodle in the designated space</a:t>
            </a:r>
            <a:endParaRPr lang="en-US" sz="1450" dirty="0"/>
          </a:p>
          <a:p>
            <a:pPr marL="0" indent="0">
              <a:spcAft>
                <a:spcPts val="13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present from your own laptop, at the projector</a:t>
            </a:r>
            <a:endParaRPr lang="en-US" sz="1450" dirty="0"/>
          </a:p>
          <a:p>
            <a:pPr marL="0" indent="0">
              <a:spcAft>
                <a:spcPts val="13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Teams of at most 3 students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863840" y="1783080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183880" y="2057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Speaking 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83880" y="23774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 min ÷ team size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183880" y="3063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 of 2   →   ~10 min each</a:t>
            </a:r>
            <a:endParaRPr lang="en-US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 of 3   →   ~7 min each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you should leave with</a:t>
            </a:r>
            <a:endParaRPr lang="en-US" sz="3000" dirty="0"/>
          </a:p>
        </p:txBody>
      </p:sp>
      <p:pic>
        <p:nvPicPr>
          <p:cNvPr id="5" name="Image 0" descr="/private/tmp/claude-501/-Users-dinu-dev-upb-mobile-and-embedded-computing/d1032b87-bd31-488f-ba67-d21318b1df8e/scratchpad/icons2/target-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745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28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device spectrum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709160" y="182880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range of devices this course targets — and how their constraints differ by orders of magnitude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432304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/private/tmp/claude-501/-Users-dinu-dev-upb-mobile-and-embedded-computing/d1032b87-bd31-488f-ba67-d21318b1df8e/scratchpad/icons2/scale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58775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5420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build strategies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709160" y="2542032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four ways to build a mobile app, and the trade-offs of each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22960" y="3145536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/private/tmp/claude-501/-Users-dinu-dev-upb-mobile-and-embedded-computing/d1032b87-bd31-488f-ba67-d21318b1df8e/scratchpad/icons2/zap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3009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25526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Flutter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709160" y="3255264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this course uses Flutter — and what that choice costs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2960" y="3858768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/private/tmp/claude-501/-Users-dinu-dev-upb-mobile-and-embedded-computing/d1032b87-bd31-488f-ba67-d21318b1df8e/scratchpad/icons2/gitbranch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014216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96849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working Git setup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709160" y="3968496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GitHub account, and the branch → PR → review workflow the project grades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&amp; GITHUB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— and the services that host it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2179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is a version control system — it tracks every change ever made to your source code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lets multiple developers work on the same codebase without overwriting each other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is a tool on your machine. GitHub, GitLab and Bitbucket are services that host Git repositories and add collaboration on top — reviews, issues, CI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course uses GitHub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589520" y="1783080"/>
            <a:ext cx="3931920" cy="36576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/private/tmp/claude-501/-Users-dinu-dev-upb-mobile-and-embedded-computing/d1032b87-bd31-488f-ba67-d21318b1df8e/scratchpad/assets/image13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915400" y="2286000"/>
            <a:ext cx="1280160" cy="1280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589520" y="3703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Git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89520" y="4069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 ·  GitLab  ·  Bitbucket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589520" y="4389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many hosting services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&amp; GITHUB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Create a GitHub account — it's mandatory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 up, free:  </a:t>
            </a:r>
            <a:r>
              <a:rPr lang="en-US" sz="1300" dirty="0">
                <a:solidFill>
                  <a:srgbClr val="0071E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github.com/signup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commits are part of your grade — labs, assignments and the team project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resource for this course lives in one repository: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3977640"/>
            <a:ext cx="6400800" cy="777240"/>
          </a:xfrm>
          <a:prstGeom prst="roundRect">
            <a:avLst>
              <a:gd name="adj" fmla="val 14118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0" y="39776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D1D1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github.com/rusudinu/mobile-and-embedded-computing</a:t>
            </a:r>
            <a:endParaRPr lang="en-US" sz="1350" dirty="0"/>
          </a:p>
        </p:txBody>
      </p:sp>
      <p:pic>
        <p:nvPicPr>
          <p:cNvPr id="8" name="Image 0" descr="/private/tmp/claude-501/-Users-dinu-dev-upb-mobile-and-embedded-computing/d1032b87-bd31-488f-ba67-d21318b1df8e/scratchpad/assets/image1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46720" y="2377440"/>
            <a:ext cx="3474720" cy="19568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&amp; GITHUB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Repositories and branches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766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repository holds all the files of your project — and every revision they've ever had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always has at least one branch (main)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repository is a Git concept, not a GitHub one — GitHub just hosts it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Branches let you build features, fix bugs and experiment without stepping on your teammates' work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branch is always created from an existing branch</a:t>
            </a:r>
            <a:endParaRPr lang="en-US" sz="1450" dirty="0"/>
          </a:p>
        </p:txBody>
      </p:sp>
      <p:pic>
        <p:nvPicPr>
          <p:cNvPr id="6" name="Image 0" descr="/private/tmp/claude-501/-Users-dinu-dev-upb-mobile-and-embedded-computing/d1032b87-bd31-488f-ba67-d21318b1df8e/scratchpad/icons2/gitbranch-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377440"/>
            <a:ext cx="1463040" cy="1463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0" y="4114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main  →  feature/…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&amp; GITHUB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workflow you'll actually use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7040880" cy="3977640"/>
          </a:xfrm>
          <a:prstGeom prst="roundRect">
            <a:avLst>
              <a:gd name="adj" fmla="val 2759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34440" y="2103120"/>
            <a:ext cx="6309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clone &lt;repo-url&gt;</a:t>
            </a:r>
            <a:r>
              <a:rPr lang="en-US" sz="13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# once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checkout -b feature/login-screen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add .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commit -m "Add login screen"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push -u origin feature/login-screen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 a Pull Request → review → merge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checkout main &amp;&amp; git pull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loop is your grade.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0" y="256032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project is graded on exactly this: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branch per feature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pull requests with peer review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commits from every team member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&amp; GITHUB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Pull requests — and what happens after merge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pull request starts the process of merging your branch into the main branch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peer reviews the changes and approves — or requests changes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Until the author receives all required approvals, the PR stays open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 merge, a CI pipeline takes over: test → build → deploy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126480" y="1783080"/>
            <a:ext cx="544068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/private/tmp/claude-501/-Users-dinu-dev-upb-mobile-and-embedded-computing/d1032b87-bd31-488f-ba67-d21318b1df8e/scratchpad/assets/image1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0" y="2148840"/>
            <a:ext cx="4892040" cy="22128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126480" y="521208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CI pipeline — we come back to this in Lecture 11, deploy &amp; CI/CD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1460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4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DEVICE LANDSCAPE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is “mobile and embedded” computing?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device landscape — and why it changes how you write software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DEVICE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spectrum: from the cloud to a microcontroller</a:t>
            </a:r>
            <a:endParaRPr lang="en-US" sz="3000" dirty="0"/>
          </a:p>
        </p:txBody>
      </p:sp>
      <p:pic>
        <p:nvPicPr>
          <p:cNvPr id="5" name="Image 0" descr="/private/tmp/claude-501/-Users-dinu-dev-upb-mobile-and-embedded-computing/d1032b87-bd31-488f-ba67-d21318b1df8e/scratchpad/icons2/cloud-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4824" y="1828800"/>
            <a:ext cx="347472" cy="347472"/>
          </a:xfrm>
          <a:prstGeom prst="rect">
            <a:avLst/>
          </a:prstGeom>
        </p:spPr>
      </p:pic>
      <p:pic>
        <p:nvPicPr>
          <p:cNvPr id="6" name="Image 1" descr="/private/tmp/claude-501/-Users-dinu-dev-upb-mobile-and-embedded-computing/d1032b87-bd31-488f-ba67-d21318b1df8e/scratchpad/icons2/laptop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479" y="1828800"/>
            <a:ext cx="347472" cy="347472"/>
          </a:xfrm>
          <a:prstGeom prst="rect">
            <a:avLst/>
          </a:prstGeom>
        </p:spPr>
      </p:pic>
      <p:pic>
        <p:nvPicPr>
          <p:cNvPr id="7" name="Image 2" descr="/private/tmp/claude-501/-Users-dinu-dev-upb-mobile-and-embedded-computing/d1032b87-bd31-488f-ba67-d21318b1df8e/scratchpad/icons2/smartphone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4134" y="1828800"/>
            <a:ext cx="347472" cy="347472"/>
          </a:xfrm>
          <a:prstGeom prst="rect">
            <a:avLst/>
          </a:prstGeom>
        </p:spPr>
      </p:pic>
      <p:pic>
        <p:nvPicPr>
          <p:cNvPr id="8" name="Image 3" descr="/private/tmp/claude-501/-Users-dinu-dev-upb-mobile-and-embedded-computing/d1032b87-bd31-488f-ba67-d21318b1df8e/scratchpad/icons2/watch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8789" y="1828800"/>
            <a:ext cx="347472" cy="347472"/>
          </a:xfrm>
          <a:prstGeom prst="rect">
            <a:avLst/>
          </a:prstGeom>
        </p:spPr>
      </p:pic>
      <p:pic>
        <p:nvPicPr>
          <p:cNvPr id="9" name="Image 4" descr="/private/tmp/claude-501/-Users-dinu-dev-upb-mobile-and-embedded-computing/d1032b87-bd31-488f-ba67-d21318b1df8e/scratchpad/icons2/board-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3444" y="1828800"/>
            <a:ext cx="347472" cy="347472"/>
          </a:xfrm>
          <a:prstGeom prst="rect">
            <a:avLst/>
          </a:prstGeom>
        </p:spPr>
      </p:pic>
      <p:pic>
        <p:nvPicPr>
          <p:cNvPr id="10" name="Image 5" descr="/private/tmp/claude-501/-Users-dinu-dev-upb-mobile-and-embedded-computing/d1032b87-bd31-488f-ba67-d21318b1df8e/scratchpad/icons2/cpu-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98100" y="1828800"/>
            <a:ext cx="347472" cy="347472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286000"/>
          <a:ext cx="10541202" cy="2560320"/>
        </p:xfrm>
        <a:graphic>
          <a:graphicData uri="http://schemas.openxmlformats.org/drawingml/2006/table">
            <a:tbl>
              <a:tblPr/>
              <a:tblGrid>
                <a:gridCol w="1033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6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6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46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Cloud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Laptop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Phone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Wearable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SBC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MCU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8686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RAM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100s of GB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16–32 GB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8–16 GB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1–2 GB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1–8 GB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56300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~0.5 MB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8686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Storage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TB – PB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 TB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128–512 GB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~32 GB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SD card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56300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~4 MB flash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8686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Power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grid, kW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~60 W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~5 W, battery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 W, battery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~5 W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56300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milliwatts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8686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OS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Linux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macOS / Win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Android / iOS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watchOS / Wear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Linux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56300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RTOS / none</a:t>
                      </a:r>
                      <a:endParaRPr lang="en-US" sz="11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2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3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course lives on the right half of this table — </a:t>
            </a:r>
            <a:r>
              <a:rPr lang="en-US" sz="15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resources are scarce and the power cable is gone.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DEVICE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changes when you leave the desktop</a:t>
            </a:r>
            <a:endParaRPr lang="en-US" sz="3000" dirty="0"/>
          </a:p>
        </p:txBody>
      </p:sp>
      <p:pic>
        <p:nvPicPr>
          <p:cNvPr id="5" name="Image 0" descr="/private/tmp/claude-501/-Users-dinu-dev-upb-mobile-and-embedded-computing/d1032b87-bd31-488f-ba67-d21318b1df8e/scratchpad/icons2/battery-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745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4048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Battery is a first-class resource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22960" y="28620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CPU cycle and radio wake-up costs energy — we measure this in Lecture 12</a:t>
            </a:r>
            <a:endParaRPr lang="en-US" sz="1150" dirty="0"/>
          </a:p>
        </p:txBody>
      </p:sp>
      <p:pic>
        <p:nvPicPr>
          <p:cNvPr id="8" name="Image 1" descr="/private/tmp/claude-501/-Users-dinu-dev-upb-mobile-and-embedded-computing/d1032b87-bd31-488f-ba67-d21318b1df8e/scratchpad/icons2/thermometer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87452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63440" y="24048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Thermal limits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4663440" y="28620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Sustained load throttles the SoC — you can't just “use more CPU”</a:t>
            </a:r>
            <a:endParaRPr lang="en-US" sz="1150" dirty="0"/>
          </a:p>
        </p:txBody>
      </p:sp>
      <p:pic>
        <p:nvPicPr>
          <p:cNvPr id="11" name="Image 2" descr="/private/tmp/claude-501/-Users-dinu-dev-upb-mobile-and-embedded-computing/d1032b87-bd31-488f-ba67-d21318b1df8e/scratchpad/icons2/wifioff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874520"/>
            <a:ext cx="384048" cy="3840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4048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Intermittent connectivity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8503920" y="28620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Offline is a normal state, not an error — apps must be designed for it</a:t>
            </a:r>
            <a:endParaRPr lang="en-US" sz="1150" dirty="0"/>
          </a:p>
        </p:txBody>
      </p:sp>
      <p:pic>
        <p:nvPicPr>
          <p:cNvPr id="14" name="Image 3" descr="/private/tmp/claude-501/-Users-dinu-dev-upb-mobile-and-embedded-computing/d1032b87-bd31-488f-ba67-d21318b1df8e/scratchpad/icons2/store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206240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22960" y="47365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don't control deployment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822960" y="519379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App-store review, staged rollouts, and users who never update</a:t>
            </a:r>
            <a:endParaRPr lang="en-US" sz="1150" dirty="0"/>
          </a:p>
        </p:txBody>
      </p:sp>
      <p:pic>
        <p:nvPicPr>
          <p:cNvPr id="17" name="Image 4" descr="/private/tmp/claude-501/-Users-dinu-dev-upb-mobile-and-embedded-computing/d1032b87-bd31-488f-ba67-d21318b1df8e/scratchpad/icons2/radio-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4206240"/>
            <a:ext cx="384048" cy="38404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663440" y="47365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Sensors &amp; radios</a:t>
            </a:r>
            <a:endParaRPr lang="en-US" sz="1450" dirty="0"/>
          </a:p>
        </p:txBody>
      </p:sp>
      <p:sp>
        <p:nvSpPr>
          <p:cNvPr id="19" name="Text 12"/>
          <p:cNvSpPr/>
          <p:nvPr/>
        </p:nvSpPr>
        <p:spPr>
          <a:xfrm>
            <a:off x="4663440" y="519379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GPS, accelerometer, camera, BLE — capabilities desktops don't have</a:t>
            </a:r>
            <a:endParaRPr lang="en-US" sz="1150" dirty="0"/>
          </a:p>
        </p:txBody>
      </p:sp>
      <p:pic>
        <p:nvPicPr>
          <p:cNvPr id="20" name="Image 5" descr="/private/tmp/claude-501/-Users-dinu-dev-upb-mobile-and-embedded-computing/d1032b87-bd31-488f-ba67-d21318b1df8e/scratchpad/icons2/cpu-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206240"/>
            <a:ext cx="384048" cy="38404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503920" y="47365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ARM everywhere</a:t>
            </a:r>
            <a:endParaRPr lang="en-US" sz="1450" dirty="0"/>
          </a:p>
        </p:txBody>
      </p:sp>
      <p:sp>
        <p:nvSpPr>
          <p:cNvPr id="22" name="Text 14"/>
          <p:cNvSpPr/>
          <p:nvPr/>
        </p:nvSpPr>
        <p:spPr>
          <a:xfrm>
            <a:off x="8503920" y="519379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flagship phones down to microcontrollers — a different ISA than most servers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DEVICE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every app negotiates for</a:t>
            </a:r>
            <a:endParaRPr lang="en-US" sz="3000" dirty="0"/>
          </a:p>
        </p:txBody>
      </p:sp>
      <p:pic>
        <p:nvPicPr>
          <p:cNvPr id="5" name="Image 0" descr="/private/tmp/claude-501/-Users-dinu-dev-upb-mobile-and-embedded-computing/d1032b87-bd31-488f-ba67-d21318b1df8e/scratchpad/icons2/cpu-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031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743200"/>
            <a:ext cx="1834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CPU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22960" y="3200400"/>
            <a:ext cx="17428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</a:t>
            </a:r>
            <a:endParaRPr lang="en-US" sz="1150" dirty="0"/>
          </a:p>
        </p:txBody>
      </p:sp>
      <p:pic>
        <p:nvPicPr>
          <p:cNvPr id="8" name="Image 1" descr="/private/tmp/claude-501/-Users-dinu-dev-upb-mobile-and-embedded-computing/d1032b87-bd31-488f-ba67-d21318b1df8e/scratchpad/icons2/memory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66" y="21031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931566" y="2743200"/>
            <a:ext cx="1834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RAM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931566" y="3200400"/>
            <a:ext cx="17428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working memory</a:t>
            </a:r>
            <a:endParaRPr lang="en-US" sz="1150" dirty="0"/>
          </a:p>
        </p:txBody>
      </p:sp>
      <p:pic>
        <p:nvPicPr>
          <p:cNvPr id="11" name="Image 2" descr="/private/tmp/claude-501/-Users-dinu-dev-upb-mobile-and-embedded-computing/d1032b87-bd31-488f-ba67-d21318b1df8e/scratchpad/icons2/harddrive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0173" y="21031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040173" y="2743200"/>
            <a:ext cx="1834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Storage</a:t>
            </a:r>
            <a:endParaRPr lang="en-US" sz="1900" dirty="0"/>
          </a:p>
        </p:txBody>
      </p:sp>
      <p:sp>
        <p:nvSpPr>
          <p:cNvPr id="13" name="Text 8"/>
          <p:cNvSpPr/>
          <p:nvPr/>
        </p:nvSpPr>
        <p:spPr>
          <a:xfrm>
            <a:off x="5040173" y="3200400"/>
            <a:ext cx="17428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NAND flash</a:t>
            </a:r>
            <a:endParaRPr lang="en-US" sz="1150" dirty="0"/>
          </a:p>
        </p:txBody>
      </p:sp>
      <p:pic>
        <p:nvPicPr>
          <p:cNvPr id="14" name="Image 3" descr="/private/tmp/claude-501/-Users-dinu-dev-upb-mobile-and-embedded-computing/d1032b87-bd31-488f-ba67-d21318b1df8e/scratchpad/icons2/grid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779" y="210312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148779" y="2743200"/>
            <a:ext cx="1834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GPU</a:t>
            </a:r>
            <a:endParaRPr lang="en-US" sz="1900" dirty="0"/>
          </a:p>
        </p:txBody>
      </p:sp>
      <p:sp>
        <p:nvSpPr>
          <p:cNvPr id="16" name="Text 10"/>
          <p:cNvSpPr/>
          <p:nvPr/>
        </p:nvSpPr>
        <p:spPr>
          <a:xfrm>
            <a:off x="7148779" y="3200400"/>
            <a:ext cx="17428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graphics &amp; ML</a:t>
            </a:r>
            <a:endParaRPr lang="en-US" sz="1150" dirty="0"/>
          </a:p>
        </p:txBody>
      </p:sp>
      <p:pic>
        <p:nvPicPr>
          <p:cNvPr id="17" name="Image 4" descr="/private/tmp/claude-501/-Users-dinu-dev-upb-mobile-and-embedded-computing/d1032b87-bd31-488f-ba67-d21318b1df8e/scratchpad/icons2/batterycharging-oran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7386" y="2103120"/>
            <a:ext cx="457200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257386" y="2743200"/>
            <a:ext cx="1834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63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Battery</a:t>
            </a:r>
            <a:endParaRPr lang="en-US" sz="1900" dirty="0"/>
          </a:p>
        </p:txBody>
      </p:sp>
      <p:sp>
        <p:nvSpPr>
          <p:cNvPr id="19" name="Text 12"/>
          <p:cNvSpPr/>
          <p:nvPr/>
        </p:nvSpPr>
        <p:spPr>
          <a:xfrm>
            <a:off x="9257386" y="3200400"/>
            <a:ext cx="17428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mobile-only: a finite budget</a:t>
            </a:r>
            <a:endParaRPr lang="en-US" sz="1150" dirty="0"/>
          </a:p>
        </p:txBody>
      </p:sp>
      <p:sp>
        <p:nvSpPr>
          <p:cNvPr id="20" name="Shape 13"/>
          <p:cNvSpPr/>
          <p:nvPr/>
        </p:nvSpPr>
        <p:spPr>
          <a:xfrm>
            <a:off x="822960" y="420624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4"/>
          <p:cNvSpPr/>
          <p:nvPr/>
        </p:nvSpPr>
        <p:spPr>
          <a:xfrm>
            <a:off x="822960" y="4434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 a desktop, the first four are effectively elastic. On mobile, all five are hard budgets — </a:t>
            </a:r>
            <a:r>
              <a:rPr lang="en-US" sz="14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battery is the one you can't refill from code.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82296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Next: one concrete resource negotiation, start to finish.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DEVICE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Resource allocation in action: loading an LLM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3108960" cy="530352"/>
          </a:xfrm>
          <a:prstGeom prst="roundRect">
            <a:avLst>
              <a:gd name="adj" fmla="val 15517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 asks the OS to load an LLM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377440" y="2313432"/>
            <a:ext cx="0" cy="384048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88720" y="2697480"/>
            <a:ext cx="237744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88720" y="26974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Enough free VRAM?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566160" y="2962656"/>
            <a:ext cx="914400" cy="0"/>
          </a:xfrm>
          <a:prstGeom prst="line">
            <a:avLst/>
          </a:prstGeom>
          <a:noFill/>
          <a:ln w="15875">
            <a:solidFill>
              <a:srgbClr val="0071E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11880" y="26700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2697480"/>
            <a:ext cx="3108960" cy="530352"/>
          </a:xfrm>
          <a:prstGeom prst="roundRect">
            <a:avLst>
              <a:gd name="adj" fmla="val 15517"/>
            </a:avLst>
          </a:prstGeom>
          <a:solidFill>
            <a:srgbClr val="F5F5F7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69748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Weights load into VRAM → GPU-fast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377440" y="3227832"/>
            <a:ext cx="0" cy="384048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87168" y="32735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88720" y="3611880"/>
            <a:ext cx="237744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88720" y="36118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Enough free RAM?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566160" y="3877056"/>
            <a:ext cx="914400" cy="0"/>
          </a:xfrm>
          <a:prstGeom prst="line">
            <a:avLst/>
          </a:prstGeom>
          <a:noFill/>
          <a:ln w="15875">
            <a:solidFill>
              <a:srgbClr val="0071E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11880" y="35844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80560" y="3611880"/>
            <a:ext cx="3108960" cy="530352"/>
          </a:xfrm>
          <a:prstGeom prst="roundRect">
            <a:avLst>
              <a:gd name="adj" fmla="val 15517"/>
            </a:avLst>
          </a:prstGeom>
          <a:solidFill>
            <a:srgbClr val="F5F5F7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0" y="361188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Weights load into RAM → runs, slower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377440" y="4142232"/>
            <a:ext cx="0" cy="384048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487168" y="4187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88720" y="4526280"/>
            <a:ext cx="237744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88720" y="45262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3B3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fails to load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0" y="269748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549640" y="2971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Unified memory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549640" y="333756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Macs and phones share one memory pool between CPU and GPU — much more effective “VRAM” for LLMs than a PC with a discrete GPU.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" y="5577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On-device AI is a resource-allocation problem. </a:t>
            </a: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this slide in mind for Lecture 10, AI on-device.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1460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4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ways to build a mobile app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 · Native · Cross-platform, two flavors — and how to choose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baseline — native apps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035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Platform-specific: built for one OS, with that OS's own SDK and tools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Best possible performance, full access to every platform capability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Native UI components — the platform's own look and behavior</a:t>
            </a:r>
            <a:endParaRPr lang="en-US" sz="1450" dirty="0"/>
          </a:p>
          <a:p>
            <a:pPr marL="0" indent="0">
              <a:spcAft>
                <a:spcPts val="1500"/>
              </a:spcAft>
              <a:buNone/>
            </a:pPr>
            <a:r>
              <a:rPr lang="en-US" sz="14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Works fully offline; distributed through Google Play / the App Store</a:t>
            </a:r>
            <a:endParaRPr lang="en-US" sz="1450" dirty="0"/>
          </a:p>
        </p:txBody>
      </p:sp>
      <p:pic>
        <p:nvPicPr>
          <p:cNvPr id="6" name="Image 0" descr="/private/tmp/claude-501/-Users-dinu-dev-upb-mobile-and-embedded-computing/d1032b87-bd31-488f-ba67-d21318b1df8e/scratchpad/icons2/apple-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9202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366760" y="1783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iOS</a:t>
            </a:r>
            <a:endParaRPr lang="en-US" sz="1600" dirty="0"/>
          </a:p>
          <a:p>
            <a:pPr marL="0" indent="0">
              <a:buNone/>
            </a:pPr>
            <a:r>
              <a:rPr lang="en-US" sz="12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Swift / SwiftUI — Xcode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589520" y="2880360"/>
            <a:ext cx="3931920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/private/tmp/claude-501/-Users-dinu-dev-upb-mobile-and-embedded-computing/d1032b87-bd31-488f-ba67-d21318b1df8e/scratchpad/icons2/android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32004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366760" y="3063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Android</a:t>
            </a:r>
            <a:endParaRPr lang="en-US" sz="1600" dirty="0"/>
          </a:p>
          <a:p>
            <a:pPr marL="0" indent="0">
              <a:buNone/>
            </a:pPr>
            <a:r>
              <a:rPr lang="en-US" sz="12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Kotlin / Jetpack Compose — Android Studio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22960" y="502920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822960" y="52578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Everything on the next slides is ultimately built on top of these two platform SDKs.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 1 — the web: web apps &amp; PWAs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you get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120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 </a:t>
            </a:r>
            <a:r>
              <a:rPr lang="en-US" sz="13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Opens from a URL — no installation, no store review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 </a:t>
            </a:r>
            <a:r>
              <a:rPr lang="en-US" sz="13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Updates reach every user instantly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 </a:t>
            </a:r>
            <a:r>
              <a:rPr lang="en-US" sz="13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codebase, every platform with a browser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 </a:t>
            </a:r>
            <a:r>
              <a:rPr lang="en-US" sz="13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PWAs: installable, offline-capable, HTTPS-only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you give up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2240280"/>
            <a:ext cx="5120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  </a:t>
            </a:r>
            <a:r>
              <a:rPr lang="en-US" sz="13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Limited sensor &amp; hardware access — BLE, NFC, background GPS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  </a:t>
            </a:r>
            <a:r>
              <a:rPr lang="en-US" sz="13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reliable background execution, especially on iOS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  </a:t>
            </a:r>
            <a:r>
              <a:rPr lang="en-US" sz="13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Browser performance ceiling — and WebKit-only on iOS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  </a:t>
            </a:r>
            <a:r>
              <a:rPr lang="en-US" sz="13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store presence — a different discoverability model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507492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 apps have an architecture zoo of their own — SSR, SSG, CSR — that's a web-course topic. </a:t>
            </a:r>
            <a:r>
              <a:rPr lang="en-US" sz="13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Here we only care how the web option compares to the next three.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 2 — cross-platform: two architectures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5394960" cy="4160520"/>
          </a:xfrm>
          <a:prstGeom prst="roundRect">
            <a:avLst>
              <a:gd name="adj" fmla="val 2637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private/tmp/claude-501/-Users-dinu-dev-upb-mobile-and-embedded-computing/d1032b87-bd31-488f-ba67-d21318b1df8e/scratchpad/icons2/react-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05740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116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 Native — drive native widgets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1143000" y="2651760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23444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JavaScript / TypeScript code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20440" y="3108960"/>
            <a:ext cx="0" cy="182880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43000" y="3291840"/>
            <a:ext cx="47548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234440" y="3291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JSI + Fabric — no serialized bridge since RN 0.76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520440" y="3749040"/>
            <a:ext cx="0" cy="182880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1143000" y="3931920"/>
            <a:ext cx="47548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234440" y="3931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Real native widgets on each OS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43000" y="46634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UI is genuinely native — per-platform look &amp; feel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JS can update over the air (Expo EAS Update)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interaction crosses the JS ↔ native boundary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89320" y="1783080"/>
            <a:ext cx="5394960" cy="4160520"/>
          </a:xfrm>
          <a:prstGeom prst="roundRect">
            <a:avLst>
              <a:gd name="adj" fmla="val 2637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/private/tmp/claude-501/-Users-dinu-dev-upb-mobile-and-embedded-computing/d1032b87-bd31-488f-ba67-d21318b1df8e/scratchpad/icons2/zap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05740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58000" y="20116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Flutter — draw every pixel</a:t>
            </a:r>
            <a:endParaRPr lang="en-US" sz="1550" dirty="0"/>
          </a:p>
        </p:txBody>
      </p:sp>
      <p:sp>
        <p:nvSpPr>
          <p:cNvPr id="20" name="Shape 16"/>
          <p:cNvSpPr/>
          <p:nvPr/>
        </p:nvSpPr>
        <p:spPr>
          <a:xfrm>
            <a:off x="6309360" y="2651760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40080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Dart code — AOT-compiled to native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8686800" y="3108960"/>
            <a:ext cx="0" cy="182880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309360" y="3291840"/>
            <a:ext cx="47548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400800" y="3291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Impeller renderer — draws the entire UI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8686800" y="3749040"/>
            <a:ext cx="0" cy="182880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309360" y="3931920"/>
            <a:ext cx="47548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400800" y="3931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Identical UI on every platform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6309360" y="46634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rendering pipeline — no per-platform differences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Talks to the OS via platform channels (→ Lecture 12)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Hot reload during development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 3 — Kotlin Multiplatform: share the logic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5760720" cy="868680"/>
          </a:xfrm>
          <a:prstGeom prst="roundRect">
            <a:avLst>
              <a:gd name="adj" fmla="val 9474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Kotlin module</a:t>
            </a:r>
            <a:endParaRPr lang="en-US" sz="135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business logic · networking · storage · models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240280" y="2697480"/>
            <a:ext cx="0" cy="365760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166360" y="2697480"/>
            <a:ext cx="0" cy="365760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306324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30632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Android app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Jetpack Compose UI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86200" y="3063240"/>
            <a:ext cx="269748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86200" y="30632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iOS app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SwiftUI — or Compose Multiplatform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2062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expect / actual bridges the platform-specific parts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223760" y="1828800"/>
            <a:ext cx="4297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 as much — or as little — as you choose</a:t>
            </a:r>
            <a:endParaRPr lang="en-US" sz="13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Kotlin compiles natively per platform (Kotlin/Native for iOS)</a:t>
            </a:r>
            <a:endParaRPr lang="en-US" sz="13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Stable since Nov 2023; Compose Multiplatform for iOS stable since May 2025</a:t>
            </a:r>
            <a:endParaRPr lang="en-US" sz="13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production at McDonald's, Netflix, Forbes</a:t>
            </a:r>
            <a:endParaRPr lang="en-US" sz="13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build a shared KMP module in Lecture 11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5120640"/>
            <a:ext cx="10543032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Flutter shares everything, including the pixels. </a:t>
            </a:r>
            <a:r>
              <a:rPr lang="en-US" sz="14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KMP shares exactly as much as you choose — and keeps each platform's native UI.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to choose — and why this course uses Flutter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you…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Reach without installs, light hardware needs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4323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  Web / PWA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871216"/>
            <a:ext cx="4206240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30358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 lives in JS/React, wants native UI feel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649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  React Native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803904"/>
            <a:ext cx="4206240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9684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Existing native apps, want shared logic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  Kotlin Multiplatform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736592"/>
            <a:ext cx="4206240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49011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team, pixel-identical UI, fast iteration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52303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  Flutter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760720" y="1783080"/>
            <a:ext cx="5760720" cy="2514600"/>
          </a:xfrm>
          <a:prstGeom prst="roundRect">
            <a:avLst>
              <a:gd name="adj" fmla="val 4364"/>
            </a:avLst>
          </a:prstGeom>
          <a:solidFill>
            <a:srgbClr val="F5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8076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Flutter, here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080760" y="242316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2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codebase — a team of 3 can build the whole semester project</a:t>
            </a:r>
            <a:endParaRPr lang="en-US" sz="125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Hot reload — fast iteration in the labs</a:t>
            </a:r>
            <a:endParaRPr lang="en-US" sz="125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renderer — what you see in the emulator is what you ship</a:t>
            </a:r>
            <a:endParaRPr lang="en-US" sz="125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5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instructor ships Flutter for a living — 45+ apps, 400k installs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080760" y="4572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trade-offs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80760" y="48920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Bigger binaries than native apps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Platform-channel overhead when talking to the OS (→ Lecture 12)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Dart is knowledge you may not reuse outside Flutter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EMBEDDED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where does “embedded” fit in?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6217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same constraints, taken to the extreme: kilobytes of RAM, milliwatt power budgets, no OS to help you</a:t>
            </a:r>
            <a:endParaRPr lang="en-US" sz="14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phone becomes the hub: nearby devices talk to your app over BLE or MQTT, and your app talks to the cloud</a:t>
            </a:r>
            <a:endParaRPr lang="en-US" sz="14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Lecture 12: a TinyGo program on a microcontroller publishes sensor data — and your Flutter app consumes it live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4572000"/>
            <a:ext cx="6217920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47548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563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Hardware note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TinyGo's happy path is the ESP32-C3 / S3 (Wi-Fi support since TinyGo 0.41) or the Raspberry Pi Pico — not the original ESP32, whose support is minimal.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0" y="1828800"/>
            <a:ext cx="37490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0" y="18288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563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Sensor + MCU</a:t>
            </a:r>
            <a:endParaRPr lang="en-US" sz="135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ESP32-C3 · TinyGo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46920" y="2743200"/>
            <a:ext cx="0" cy="347472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0" y="3090672"/>
            <a:ext cx="3749040" cy="914400"/>
          </a:xfrm>
          <a:prstGeom prst="roundRect">
            <a:avLst>
              <a:gd name="adj" fmla="val 9000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0" y="309067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Flutter app</a:t>
            </a:r>
            <a:endParaRPr lang="en-US" sz="135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hub — via MQTT / BLE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46920" y="4005072"/>
            <a:ext cx="0" cy="347472"/>
          </a:xfrm>
          <a:prstGeom prst="line">
            <a:avLst/>
          </a:prstGeom>
          <a:noFill/>
          <a:ln w="15875">
            <a:solidFill>
              <a:srgbClr val="8686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772400" y="4352544"/>
            <a:ext cx="37490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0" y="4352544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Cloud</a:t>
            </a:r>
            <a:endParaRPr lang="en-US" sz="135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storage · dashboards · ML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0" y="6446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74980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semester, pinned onto the spectrum</a:t>
            </a:r>
            <a:endParaRPr lang="en-US" sz="3000" dirty="0"/>
          </a:p>
        </p:txBody>
      </p:sp>
      <p:pic>
        <p:nvPicPr>
          <p:cNvPr id="5" name="Image 0" descr="/private/tmp/claude-501/-Users-dinu-dev-upb-mobile-and-embedded-computing/d1032b87-bd31-488f-ba67-d21318b1df8e/scratchpad/icons2/cloud-gr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10512"/>
            <a:ext cx="310896" cy="3108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325880" y="1965960"/>
            <a:ext cx="9464040" cy="0"/>
          </a:xfrm>
          <a:prstGeom prst="line">
            <a:avLst/>
          </a:prstGeom>
          <a:noFill/>
          <a:ln w="9525">
            <a:solidFill>
              <a:srgbClr val="D2D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/private/tmp/claude-501/-Users-dinu-dev-upb-mobile-and-embedded-computing/d1032b87-bd31-488f-ba67-d21318b1df8e/scratchpad/icons2/cpu-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1810512"/>
            <a:ext cx="310896" cy="3108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21762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cloud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9966960" y="2176272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microcontroller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2960" y="26517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71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Cloud &amp; backend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822960" y="31546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L5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481328" y="315468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Serverless, VPS &amp; Go backends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22960" y="363016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L6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481328" y="363016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GraphQL, REST &amp; observability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22960" y="410565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L7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481328" y="4105656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WebSockets, permissions, routing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22960" y="458114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L9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481328" y="458114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Auth, OAuth &amp; App Check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846320" y="26517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phone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846320" y="31546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L2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504688" y="315468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Dart, Kotlin &amp; Flutter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846320" y="363016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L3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504688" y="363016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Widgets &amp; async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846320" y="410565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L4+8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504688" y="4105656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 management &amp; BLoC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846320" y="458114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L10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5504688" y="458114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on-device &amp; LLMs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846320" y="5056632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L11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504688" y="5056632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Stores, CI/CD &amp; KMP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869680" y="26517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63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Embedded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8869680" y="31546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L12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9528048" y="315468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Performance &amp; energy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8869680" y="363016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686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L12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9528048" y="363016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TinyGo: sensors → MQTT → app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822960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686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You'll see this map again at the start of every lecture — with a pin on where we are.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 next week</a:t>
            </a:r>
            <a:endParaRPr lang="en-US" sz="3000" dirty="0"/>
          </a:p>
        </p:txBody>
      </p:sp>
      <p:pic>
        <p:nvPicPr>
          <p:cNvPr id="3" name="Image 0" descr="/private/tmp/claude-501/-Users-dinu-dev-upb-mobile-and-embedded-computing/d1032b87-bd31-488f-ba67-d21318b1df8e/scratchpad/icons2/checklis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31720"/>
            <a:ext cx="384048" cy="2171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834640"/>
            <a:ext cx="3383280" cy="258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Recap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3383280" cy="155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spectrum, cloud → microcontroller — the right half is ours</a:t>
            </a:r>
            <a:endParaRPr lang="en-US" sz="125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strategies: web, native, cross-platform, KMP</a:t>
            </a:r>
            <a:endParaRPr lang="en-US" sz="125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chose Flutter, with the trade-offs on the table</a:t>
            </a:r>
            <a:endParaRPr lang="en-US" sz="1250" dirty="0"/>
          </a:p>
        </p:txBody>
      </p:sp>
      <p:pic>
        <p:nvPicPr>
          <p:cNvPr id="6" name="Image 1" descr="/private/tmp/claude-501/-Users-dinu-dev-upb-mobile-and-embedded-computing/d1032b87-bd31-488f-ba67-d21318b1df8e/scratchpad/icons2/calendar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331720"/>
            <a:ext cx="384048" cy="21713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89120" y="2834640"/>
            <a:ext cx="3383280" cy="258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week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4389120" y="3429000"/>
            <a:ext cx="3383280" cy="155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Create your GitHub account and open the course repo</a:t>
            </a:r>
            <a:endParaRPr lang="en-US" sz="125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Install the Flutter SDK — Lab 1 walks you through it</a:t>
            </a:r>
            <a:endParaRPr lang="en-US" sz="125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thinking about teammates and a project idea</a:t>
            </a:r>
            <a:endParaRPr lang="en-US" sz="1250" dirty="0"/>
          </a:p>
        </p:txBody>
      </p:sp>
      <p:pic>
        <p:nvPicPr>
          <p:cNvPr id="9" name="Image 2" descr="/private/tmp/claude-501/-Users-dinu-dev-upb-mobile-and-embedded-computing/d1032b87-bd31-488f-ba67-d21318b1df8e/scratchpad/icons2/bookopen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2331720"/>
            <a:ext cx="384048" cy="21713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955280" y="2834640"/>
            <a:ext cx="3383280" cy="258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 more</a:t>
            </a:r>
            <a:endParaRPr lang="en-US" sz="1700" dirty="0"/>
          </a:p>
        </p:txBody>
      </p:sp>
      <p:sp>
        <p:nvSpPr>
          <p:cNvPr id="11" name="Text 6"/>
          <p:cNvSpPr/>
          <p:nvPr/>
        </p:nvSpPr>
        <p:spPr>
          <a:xfrm>
            <a:off x="7955280" y="3429000"/>
            <a:ext cx="3383280" cy="155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flutter.dev/multi-platform</a:t>
            </a:r>
            <a:endParaRPr lang="en-US" sz="125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kotlinlang.org/multiplatform</a:t>
            </a:r>
            <a:endParaRPr lang="en-US" sz="125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250" dirty="0" err="1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tinygo.org</a:t>
            </a:r>
            <a:endParaRPr lang="en-US" sz="1250" dirty="0"/>
          </a:p>
          <a:p>
            <a:pPr marL="0" indent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A1A1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developer.android.com · developer.apple.com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2342</Words>
  <Application>Microsoft Macintosh PowerPoint</Application>
  <PresentationFormat>Widescreen</PresentationFormat>
  <Paragraphs>395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Helvetica Neue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and Embedded Computing — Lecture 1</dc:title>
  <dc:subject>PptxGenJS Presentation</dc:subject>
  <dc:creator>Dinu-Ștefan Rusu</dc:creator>
  <cp:lastModifiedBy>Dinu, Stefan</cp:lastModifiedBy>
  <cp:revision>3</cp:revision>
  <dcterms:created xsi:type="dcterms:W3CDTF">2026-08-08T09:31:54Z</dcterms:created>
  <dcterms:modified xsi:type="dcterms:W3CDTF">2026-08-08T09:40:31Z</dcterms:modified>
</cp:coreProperties>
</file>