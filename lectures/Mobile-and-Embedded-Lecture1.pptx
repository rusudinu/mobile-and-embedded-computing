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258" r:id="rId3"/>
    <p:sldId id="259" r:id="rId4"/>
    <p:sldId id="260" r:id="rId5"/>
    <p:sldId id="287" r:id="rId6"/>
    <p:sldId id="286" r:id="rId7"/>
    <p:sldId id="277" r:id="rId8"/>
    <p:sldId id="279" r:id="rId9"/>
    <p:sldId id="263" r:id="rId10"/>
    <p:sldId id="265" r:id="rId11"/>
    <p:sldId id="283" r:id="rId12"/>
    <p:sldId id="285" r:id="rId13"/>
    <p:sldId id="264" r:id="rId14"/>
    <p:sldId id="268" r:id="rId15"/>
    <p:sldId id="289" r:id="rId16"/>
    <p:sldId id="288" r:id="rId17"/>
    <p:sldId id="269" r:id="rId18"/>
    <p:sldId id="290" r:id="rId19"/>
    <p:sldId id="271" r:id="rId20"/>
    <p:sldId id="266" r:id="rId21"/>
    <p:sldId id="272" r:id="rId22"/>
    <p:sldId id="273" r:id="rId23"/>
    <p:sldId id="274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0E0816D-9131-0642-AC18-65111AF099E6}" v="339" dt="2025-09-20T16:46:07.67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867"/>
    <p:restoredTop sz="94633"/>
  </p:normalViewPr>
  <p:slideViewPr>
    <p:cSldViewPr snapToGrid="0">
      <p:cViewPr varScale="1">
        <p:scale>
          <a:sx n="147" d="100"/>
          <a:sy n="147" d="100"/>
        </p:scale>
        <p:origin x="608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Relationship Id="rId30" Type="http://schemas.microsoft.com/office/2015/10/relationships/revisionInfo" Target="revisionInfo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371807-75D2-4B48-9BC1-C0791C7EACC9}" type="datetimeFigureOut">
              <a:rPr lang="en-US" smtClean="0"/>
              <a:t>3/3/26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B3F86B-2734-BF42-93A6-63E2CE51FA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1001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Shape 188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89" name="Shape 189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Shape 210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211" name="Shape 211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Shape 221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222" name="Shape 222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E12589-B083-6788-C188-A7A86614E16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0223450-674B-BC5C-6F86-2413C244DF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B0CED9-B1F4-757B-FF1C-CB55CB8E24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3/3/26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4BFC94-82B2-21A3-2575-27800619A1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3882CC-D653-8816-84BD-1C5983F65A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32777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14A5D3-4475-D424-AAD2-A53CD17876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33D51B-2CA0-F2BB-7751-C45C80AF41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617ADD-A1A0-2F86-B8EA-0F6E6B9048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3/3/26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A2B4A3-90D9-905A-D219-576A5991B8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84D11B-ED22-AA1A-3798-1C316DF34B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3993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140C4F-A8C0-7FBF-7450-2ACA51CF3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A83313-51C9-8FCD-76A0-4E109458A7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3B37CC-018A-DED7-E590-3816B68F0B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3/3/26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BBE3F1-093B-9CE7-664A-F058296934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85AFF1-6F9B-A45E-650D-3A0836CCC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88062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613BE1-F9AE-53CC-959C-34C16430A9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9ECB1D-0500-8247-4526-8D2F0B52C02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D692D2-B90F-2BA6-C78A-203F0B917E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F1FA438-6142-0B34-F3A6-70B8434375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3/3/26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16006F-557E-7017-240E-8A01385BAF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373C9A0-31D6-4A5C-34F9-1C1F03EC1F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1430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57C02A-7DDC-74DF-0635-2CF18AF0F7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B7BEAC-52C7-85A4-F098-7758650FF8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02FA94-6D26-CCB7-4492-E2A8BFFB98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2FEB920-7A8D-C959-E966-E8372DF430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2CEABDC-105B-643A-405F-6945661612D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7C3AA5A-00E4-3558-A4AB-13ECBF4950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3/3/26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FB8B891-C0DF-5409-0653-32F79254C3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202BA0C-E4DD-E986-0553-D204185701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92507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0678B7-DDD7-A8BF-DD92-0C3EE893E3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F24A856-01F9-A7D0-F4A3-00A616DE5D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3/3/26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F65035C-CE70-5B91-C83D-ECFDADD35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081D28A-A5DE-DE88-344C-F97F443A4C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48265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1A09FA3-9E79-D445-3FEB-E7642CE9E4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3/3/26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F05E957-CFC3-430E-1B2C-F6039C01F3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0E4514-0A61-DEF6-6A9B-0590AD8246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14189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127A56-7D2D-3932-43C1-D3468169BE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6483E5-0268-4B7A-4645-7558A4A778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2948B4-F672-6FFE-86D1-86286538BD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2801C9-E5D7-9585-2BEE-0D1D1917C8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3/3/26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450128-4786-91A9-3120-12E0BCF18D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1F3441C-EAF9-703B-E73F-2382E3E7B7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38086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FACEB4-0DC1-DEC8-58E7-87402B3F2A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27C8914-103B-0FD6-F20C-87A81DDB1A6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26F2DA9-3397-C342-6069-E5C9AC1B0D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AC0B1D-CEA0-7DFD-F38F-9D32902812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3/3/26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04E28A-6907-1FF5-EC06-429B467211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4AB370-1DBB-AF46-F8DB-7DC5EFFCC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68498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F47CD9-4481-08C2-4E88-1FB52F08CD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60CFAC1-4D7F-6198-0D9B-053218EABF6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C6FC57-5135-D07A-49D2-9633857338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3/3/26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54C60C-8258-822E-80A5-2E0D960200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5A1161-1882-2A70-0204-86955786D4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72872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B389FA6-EACC-1D0F-2715-C3E6CBDD6B0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DB28C91-E497-8D50-85CD-2D350890CEA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E7D545-E3C6-5F58-11A4-9D653FBB4D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3/3/26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938AAD-8DB9-B119-33DB-0A54B9369E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4BD58E-F881-2DCA-49F9-1D5B3B13EE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010124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Body Level One…"/>
          <p:cNvSpPr txBox="1">
            <a:spLocks noGrp="1"/>
          </p:cNvSpPr>
          <p:nvPr>
            <p:ph type="body" idx="1" hasCustomPrompt="1"/>
          </p:nvPr>
        </p:nvSpPr>
        <p:spPr>
          <a:xfrm>
            <a:off x="635000" y="2134658"/>
            <a:ext cx="10922000" cy="4216401"/>
          </a:xfrm>
          <a:prstGeom prst="rect">
            <a:avLst/>
          </a:prstGeom>
        </p:spPr>
        <p:txBody>
          <a:bodyPr numCol="2" spcCol="1092200"/>
          <a:lstStyle/>
          <a:p>
            <a:r>
              <a:t>Slide bullet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5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21388805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7801D69-C640-402D-B659-678786479D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26F774-07B9-DC88-0065-CFA51AA316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C7852D-D2ED-1C67-12EC-67F0CDBB248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9551AF-0EE3-DD4B-B4EF-6D8229EA0D86}" type="datetimeFigureOut">
              <a:rPr lang="en-US" smtClean="0"/>
              <a:t>3/3/26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E3605C-394F-93D0-F2F5-4E9AA54A0D3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7B3A10-224E-8E0B-3F27-9E12375E1A3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31351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hyperlink" Target="mailto:dinu_stefan.rusu@upb.ro" TargetMode="External"/><Relationship Id="rId7" Type="http://schemas.openxmlformats.org/officeDocument/2006/relationships/image" Target="../media/image3.png"/><Relationship Id="rId12" Type="http://schemas.openxmlformats.org/officeDocument/2006/relationships/image" Target="../media/image8.png"/><Relationship Id="rId2" Type="http://schemas.openxmlformats.org/officeDocument/2006/relationships/hyperlink" Target="https://rusudinu.com/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11" Type="http://schemas.openxmlformats.org/officeDocument/2006/relationships/image" Target="../media/image7.png"/><Relationship Id="rId5" Type="http://schemas.openxmlformats.org/officeDocument/2006/relationships/image" Target="../media/image1.jpeg"/><Relationship Id="rId10" Type="http://schemas.openxmlformats.org/officeDocument/2006/relationships/image" Target="../media/image6.png"/><Relationship Id="rId4" Type="http://schemas.openxmlformats.org/officeDocument/2006/relationships/hyperlink" Target="https://teams.microsoft.com/l/chat/0/0?users=dinu_stefan.rusu@upb.ro" TargetMode="External"/><Relationship Id="rId9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ignup" TargetMode="External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rusudinu/mobile-and-embedded-computing" TargetMode="Externa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hyperlink" Target="https://rusudinu.ro/" TargetMode="Externa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D6A52-E683-94FB-5FDE-93AF163BA9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584325"/>
            <a:ext cx="9144000" cy="2387600"/>
          </a:xfrm>
        </p:spPr>
        <p:txBody>
          <a:bodyPr/>
          <a:lstStyle/>
          <a:p>
            <a:r>
              <a:rPr lang="en-US" dirty="0"/>
              <a:t>Mobile and Embedded Computing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1D421A2-2714-CF24-E8C4-734EB67ECE5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79875"/>
            <a:ext cx="9144000" cy="1655762"/>
          </a:xfrm>
        </p:spPr>
        <p:txBody>
          <a:bodyPr/>
          <a:lstStyle/>
          <a:p>
            <a:r>
              <a:rPr lang="en-US" b="1" dirty="0"/>
              <a:t>Lecture 1. Course orientation</a:t>
            </a:r>
          </a:p>
          <a:p>
            <a:r>
              <a:rPr lang="en-US" b="1" dirty="0">
                <a:cs typeface="Al Bayan Plain" pitchFamily="2" charset="-78"/>
              </a:rPr>
              <a:t>Platforms &amp; Technology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4610448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F27E7B-5827-BBF6-FBA1-991606DB03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769122"/>
            <a:ext cx="10866120" cy="4758324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sz="3500" b="1" dirty="0">
                <a:cs typeface="Al Bayan Plain" pitchFamily="2" charset="-78"/>
              </a:rPr>
              <a:t>Ing. Dinu-Ștefan RUSU 					</a:t>
            </a:r>
            <a:r>
              <a:rPr lang="en-US" dirty="0">
                <a:ea typeface="Archivo"/>
                <a:cs typeface="Archivo"/>
                <a:sym typeface="Archivo"/>
                <a:hlinkClick r:id="rId2"/>
              </a:rPr>
              <a:t>rusudinu.com</a:t>
            </a:r>
            <a:endParaRPr lang="en-US" dirty="0">
              <a:ea typeface="Archivo"/>
              <a:cs typeface="Archivo"/>
              <a:sym typeface="Archivo"/>
            </a:endParaRPr>
          </a:p>
          <a:p>
            <a:pPr marL="0" indent="0">
              <a:buNone/>
            </a:pPr>
            <a:endParaRPr lang="en-US" dirty="0">
              <a:cs typeface="Al Bayan Plain" pitchFamily="2" charset="-78"/>
              <a:sym typeface="Archivo"/>
            </a:endParaRPr>
          </a:p>
          <a:p>
            <a:pPr marL="0" lvl="0" indent="0">
              <a:buNone/>
            </a:pPr>
            <a:r>
              <a:rPr lang="en-US" dirty="0">
                <a:cs typeface="Al Bayan Plain" pitchFamily="2" charset="-78"/>
                <a:sym typeface="Archivo"/>
              </a:rPr>
              <a:t>Contact me on:</a:t>
            </a:r>
          </a:p>
          <a:p>
            <a:pPr lvl="0"/>
            <a:r>
              <a:rPr lang="en-US" dirty="0">
                <a:ea typeface="Archivo"/>
                <a:cs typeface="Archivo"/>
                <a:sym typeface="Archivo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dinu_stefan.rusu@upb.ro</a:t>
            </a:r>
            <a:endParaRPr lang="en-US" dirty="0">
              <a:ea typeface="Archivo"/>
              <a:cs typeface="Archivo"/>
              <a:sym typeface="Archivo"/>
            </a:endParaRPr>
          </a:p>
          <a:p>
            <a:pPr lvl="0"/>
            <a:r>
              <a:rPr lang="en-US" dirty="0">
                <a:ea typeface="Archivo"/>
                <a:cs typeface="Archivo"/>
                <a:sym typeface="Archivo"/>
                <a:hlinkClick r:id="rId4"/>
              </a:rPr>
              <a:t>Teams</a:t>
            </a:r>
            <a:endParaRPr lang="en-US" dirty="0">
              <a:ea typeface="Archivo"/>
              <a:cs typeface="Archivo"/>
              <a:sym typeface="Archivo"/>
            </a:endParaRPr>
          </a:p>
          <a:p>
            <a:pPr marL="0" lvl="0" indent="0">
              <a:buNone/>
            </a:pPr>
            <a:endParaRPr lang="en-US" dirty="0">
              <a:ea typeface="Archivo"/>
              <a:cs typeface="Archivo"/>
              <a:sym typeface="Archivo"/>
            </a:endParaRPr>
          </a:p>
          <a:p>
            <a:pPr marL="0" lvl="0" indent="0">
              <a:buNone/>
            </a:pPr>
            <a:endParaRPr lang="en-US" dirty="0">
              <a:ea typeface="Archivo"/>
              <a:cs typeface="Archivo"/>
              <a:sym typeface="Archivo"/>
            </a:endParaRPr>
          </a:p>
          <a:p>
            <a:pPr marL="0" lvl="0" indent="0">
              <a:buNone/>
            </a:pPr>
            <a:r>
              <a:rPr lang="en-US" dirty="0">
                <a:ea typeface="Archivo"/>
                <a:cs typeface="Archivo"/>
                <a:sym typeface="Archivo"/>
              </a:rPr>
              <a:t>45+ Flutter apps launched</a:t>
            </a:r>
          </a:p>
          <a:p>
            <a:pPr marL="0" lvl="0" indent="0">
              <a:buNone/>
            </a:pPr>
            <a:r>
              <a:rPr lang="en-US" dirty="0">
                <a:ea typeface="Archivo"/>
                <a:cs typeface="Archivo"/>
                <a:sym typeface="Archivo"/>
              </a:rPr>
              <a:t>400k installs across all apps</a:t>
            </a:r>
          </a:p>
          <a:p>
            <a:pPr marL="0" lvl="0" indent="0">
              <a:buNone/>
            </a:pPr>
            <a:endParaRPr lang="en-US" dirty="0">
              <a:ea typeface="Archivo"/>
              <a:cs typeface="Archivo"/>
              <a:sym typeface="Archivo"/>
            </a:endParaRPr>
          </a:p>
          <a:p>
            <a:pPr marL="0" lvl="0" indent="0">
              <a:buNone/>
            </a:pPr>
            <a:endParaRPr lang="en-US" dirty="0">
              <a:ea typeface="Archivo"/>
              <a:cs typeface="Archivo"/>
              <a:sym typeface="Archivo"/>
            </a:endParaRPr>
          </a:p>
          <a:p>
            <a:pPr marL="0" lvl="0" indent="0">
              <a:buNone/>
            </a:pPr>
            <a:r>
              <a:rPr lang="en-US" sz="1400" dirty="0">
                <a:ea typeface="Archivo"/>
                <a:cs typeface="Archivo"/>
                <a:sym typeface="Archivo"/>
              </a:rPr>
              <a:t>Appeared in, speaker at &amp; partners</a:t>
            </a:r>
          </a:p>
        </p:txBody>
      </p:sp>
      <p:pic>
        <p:nvPicPr>
          <p:cNvPr id="2" name="Picture 2" descr="Doctor de Bine Logo">
            <a:extLst>
              <a:ext uri="{FF2B5EF4-FFF2-40B4-BE49-F238E27FC236}">
                <a16:creationId xmlns:a16="http://schemas.microsoft.com/office/drawing/2014/main" id="{21B826A7-DBFB-B726-8EB2-90C954E524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54082" y="5527446"/>
            <a:ext cx="1158468" cy="3606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4" descr="Euronews Logo">
            <a:extLst>
              <a:ext uri="{FF2B5EF4-FFF2-40B4-BE49-F238E27FC236}">
                <a16:creationId xmlns:a16="http://schemas.microsoft.com/office/drawing/2014/main" id="{A72D385A-47D4-D3E4-4333-E5FD898BAFC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728" b="26080"/>
          <a:stretch>
            <a:fillRect/>
          </a:stretch>
        </p:blipFill>
        <p:spPr bwMode="auto">
          <a:xfrm>
            <a:off x="3179033" y="5527446"/>
            <a:ext cx="1277269" cy="3606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E7354A1-F657-6CC8-7FD6-25533BE5251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1327" y="5527446"/>
            <a:ext cx="966272" cy="361515"/>
          </a:xfrm>
          <a:prstGeom prst="rect">
            <a:avLst/>
          </a:prstGeom>
        </p:spPr>
      </p:pic>
      <p:pic>
        <p:nvPicPr>
          <p:cNvPr id="6" name="Picture 2" descr="LP - Ikea | Edenred Benefit">
            <a:extLst>
              <a:ext uri="{FF2B5EF4-FFF2-40B4-BE49-F238E27FC236}">
                <a16:creationId xmlns:a16="http://schemas.microsoft.com/office/drawing/2014/main" id="{D580F332-EEF3-D8F7-B302-B6BCAC76FCF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1918"/>
          <a:stretch>
            <a:fillRect/>
          </a:stretch>
        </p:blipFill>
        <p:spPr bwMode="auto">
          <a:xfrm>
            <a:off x="921327" y="5949669"/>
            <a:ext cx="2305050" cy="4184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Up Romania | Up Mobil+ – Descărcă Noua Aplicație pe iOS ...">
            <a:extLst>
              <a:ext uri="{FF2B5EF4-FFF2-40B4-BE49-F238E27FC236}">
                <a16:creationId xmlns:a16="http://schemas.microsoft.com/office/drawing/2014/main" id="{6B288A08-D89F-5AF3-69E5-AA9E26E4E71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99" t="12656" r="13090" b="15341"/>
          <a:stretch>
            <a:fillRect/>
          </a:stretch>
        </p:blipFill>
        <p:spPr bwMode="auto">
          <a:xfrm>
            <a:off x="3308417" y="5949669"/>
            <a:ext cx="504733" cy="4184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6" descr="Selgros România">
            <a:extLst>
              <a:ext uri="{FF2B5EF4-FFF2-40B4-BE49-F238E27FC236}">
                <a16:creationId xmlns:a16="http://schemas.microsoft.com/office/drawing/2014/main" id="{A8D683D3-0CA5-E7BE-63BA-E11C97DDA8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95191" y="5945357"/>
            <a:ext cx="561111" cy="4184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DevTalks Romania | RomanianStartups.com">
            <a:extLst>
              <a:ext uri="{FF2B5EF4-FFF2-40B4-BE49-F238E27FC236}">
                <a16:creationId xmlns:a16="http://schemas.microsoft.com/office/drawing/2014/main" id="{AAEED595-A738-50A2-F529-B0C44F2059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22785" y="5498016"/>
            <a:ext cx="2906445" cy="4280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A premium IT conference - DevCon | A premium tech conference | Bucharest,  Romania">
            <a:extLst>
              <a:ext uri="{FF2B5EF4-FFF2-40B4-BE49-F238E27FC236}">
                <a16:creationId xmlns:a16="http://schemas.microsoft.com/office/drawing/2014/main" id="{4F221111-2E17-9A8E-87B0-D89E1B0A4D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5713" y="5457802"/>
            <a:ext cx="1984518" cy="6310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182327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DAF9EE-1F8C-F17B-21DE-26D8FA4618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Course Topics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3E8B2D-7A94-A3A9-6DE9-4B5DB9D17C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690688"/>
            <a:ext cx="11353801" cy="4802187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>
                <a:cs typeface="Al Bayan Plain" pitchFamily="2" charset="-78"/>
              </a:rPr>
              <a:t>1. Git &amp; GitHub, Web vs PWA vs Cross platform vs Native, Overview of SSR, SSG, CSR</a:t>
            </a:r>
          </a:p>
          <a:p>
            <a:pPr marL="0" indent="0">
              <a:buNone/>
            </a:pPr>
            <a:r>
              <a:rPr lang="en-US" dirty="0">
                <a:cs typeface="Al Bayan Plain" pitchFamily="2" charset="-78"/>
              </a:rPr>
              <a:t>2. Compiled vs Interpreted languages, Null safe languages, Dart &amp; Flutter </a:t>
            </a:r>
          </a:p>
          <a:p>
            <a:pPr marL="0" indent="0">
              <a:buNone/>
            </a:pPr>
            <a:r>
              <a:rPr lang="en-US" dirty="0">
                <a:cs typeface="Al Bayan Plain" pitchFamily="2" charset="-78"/>
              </a:rPr>
              <a:t>3. Agent assisted coding, Async vs Threads, Flutter Widgets &amp; UI Elements</a:t>
            </a:r>
          </a:p>
          <a:p>
            <a:pPr marL="0" indent="0">
              <a:buNone/>
            </a:pPr>
            <a:r>
              <a:rPr lang="en-US" dirty="0">
                <a:cs typeface="Al Bayan Plain" pitchFamily="2" charset="-78"/>
              </a:rPr>
              <a:t>4. Stateless vs Stateful, State management techniques (introduction)</a:t>
            </a:r>
          </a:p>
          <a:p>
            <a:pPr marL="0" indent="0">
              <a:buNone/>
            </a:pPr>
            <a:r>
              <a:rPr lang="en-US" dirty="0">
                <a:cs typeface="Al Bayan Plain" pitchFamily="2" charset="-78"/>
              </a:rPr>
              <a:t>5. Server vs Client-Side code execution, Serverless vs VPS (+ http &amp; Firebase)</a:t>
            </a:r>
          </a:p>
          <a:p>
            <a:pPr marL="0" indent="0">
              <a:buNone/>
            </a:pPr>
            <a:r>
              <a:rPr lang="en-US" dirty="0">
                <a:cs typeface="Al Bayan Plain" pitchFamily="2" charset="-78"/>
              </a:rPr>
              <a:t>6. </a:t>
            </a:r>
            <a:r>
              <a:rPr lang="en-US" dirty="0" err="1">
                <a:cs typeface="Al Bayan Plain" pitchFamily="2" charset="-78"/>
              </a:rPr>
              <a:t>GraphQL</a:t>
            </a:r>
            <a:r>
              <a:rPr lang="en-US" dirty="0">
                <a:cs typeface="Al Bayan Plain" pitchFamily="2" charset="-78"/>
              </a:rPr>
              <a:t> &amp; REST, Observability for Mobile applications (Events, Crashlytics)</a:t>
            </a:r>
          </a:p>
          <a:p>
            <a:pPr marL="0" indent="0">
              <a:buNone/>
            </a:pPr>
            <a:r>
              <a:rPr lang="en-US" dirty="0">
                <a:cs typeface="Al Bayan Plain" pitchFamily="2" charset="-78"/>
              </a:rPr>
              <a:t>7. Web Sockets, Permissions &amp; routing</a:t>
            </a:r>
          </a:p>
          <a:p>
            <a:pPr marL="0" indent="0">
              <a:buNone/>
            </a:pPr>
            <a:r>
              <a:rPr lang="en-US" dirty="0">
                <a:cs typeface="Al Bayan Plain" pitchFamily="2" charset="-78"/>
              </a:rPr>
              <a:t>8. State management techniques, Business Logic Component (</a:t>
            </a:r>
            <a:r>
              <a:rPr lang="en-US" dirty="0" err="1">
                <a:cs typeface="Al Bayan Plain" pitchFamily="2" charset="-78"/>
              </a:rPr>
              <a:t>BLoC</a:t>
            </a:r>
            <a:r>
              <a:rPr lang="en-US" dirty="0">
                <a:cs typeface="Al Bayan Plain" pitchFamily="2" charset="-78"/>
              </a:rPr>
              <a:t>) pattern</a:t>
            </a:r>
          </a:p>
          <a:p>
            <a:pPr marL="0" indent="0">
              <a:buNone/>
            </a:pPr>
            <a:r>
              <a:rPr lang="en-US" dirty="0">
                <a:cs typeface="Al Bayan Plain" pitchFamily="2" charset="-78"/>
              </a:rPr>
              <a:t>9. Authentication, OAuth providers, Firebase App Check</a:t>
            </a:r>
          </a:p>
          <a:p>
            <a:pPr marL="0" indent="0">
              <a:buNone/>
            </a:pPr>
            <a:r>
              <a:rPr lang="en-US" dirty="0">
                <a:cs typeface="Al Bayan Plain" pitchFamily="2" charset="-78"/>
              </a:rPr>
              <a:t>10. AI On-device (Google ML Kit for Flutter) &amp; Connecting to LLMs (</a:t>
            </a:r>
            <a:r>
              <a:rPr lang="en-US" dirty="0" err="1">
                <a:cs typeface="Al Bayan Plain" pitchFamily="2" charset="-78"/>
              </a:rPr>
              <a:t>VertexAI</a:t>
            </a:r>
            <a:r>
              <a:rPr lang="en-US" dirty="0">
                <a:cs typeface="Al Bayan Plain" pitchFamily="2" charset="-78"/>
              </a:rPr>
              <a:t>)</a:t>
            </a:r>
          </a:p>
          <a:p>
            <a:pPr marL="0" indent="0">
              <a:buNone/>
            </a:pPr>
            <a:r>
              <a:rPr lang="en-US" dirty="0">
                <a:cs typeface="Al Bayan Plain" pitchFamily="2" charset="-78"/>
              </a:rPr>
              <a:t>11. Deploy to stores (Google Play, App Store) &amp; CI/CD With GitHub Actions</a:t>
            </a:r>
          </a:p>
          <a:p>
            <a:pPr marL="0" indent="0">
              <a:buNone/>
            </a:pPr>
            <a:r>
              <a:rPr lang="en-US" dirty="0">
                <a:cs typeface="Al Bayan Plain" pitchFamily="2" charset="-78"/>
              </a:rPr>
              <a:t>12. Performance and Energy Consumption</a:t>
            </a:r>
          </a:p>
        </p:txBody>
      </p:sp>
    </p:spTree>
    <p:extLst>
      <p:ext uri="{BB962C8B-B14F-4D97-AF65-F5344CB8AC3E}">
        <p14:creationId xmlns:p14="http://schemas.microsoft.com/office/powerpoint/2010/main" val="10690936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54C40A-0AAC-FE2B-3D55-FC80516335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75DBEC-B294-95BC-1054-3DE32209CD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F2A63F-31D3-4BD3-F0FB-55F20BF016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158750" lvl="0" indent="0">
              <a:lnSpc>
                <a:spcPct val="100000"/>
              </a:lnSpc>
              <a:buClr>
                <a:schemeClr val="lt1"/>
              </a:buClr>
              <a:buNone/>
            </a:pPr>
            <a:r>
              <a:rPr lang="en-US" b="1" dirty="0"/>
              <a:t>Final grade (10p)</a:t>
            </a:r>
          </a:p>
          <a:p>
            <a:pPr marL="615950" lvl="1" indent="0">
              <a:lnSpc>
                <a:spcPct val="100000"/>
              </a:lnSpc>
              <a:spcBef>
                <a:spcPts val="1000"/>
              </a:spcBef>
              <a:buClr>
                <a:schemeClr val="lt1"/>
              </a:buClr>
              <a:buNone/>
            </a:pPr>
            <a:r>
              <a:rPr lang="en-US" sz="2800" dirty="0"/>
              <a:t>3p Final Exam (in the session)</a:t>
            </a:r>
          </a:p>
          <a:p>
            <a:pPr marL="615950" lvl="1" indent="0">
              <a:lnSpc>
                <a:spcPct val="100000"/>
              </a:lnSpc>
              <a:spcBef>
                <a:spcPts val="1000"/>
              </a:spcBef>
              <a:buClr>
                <a:schemeClr val="lt1"/>
              </a:buClr>
              <a:buNone/>
            </a:pPr>
            <a:r>
              <a:rPr lang="en-US" sz="2800" dirty="0"/>
              <a:t>+ 3p Laboratory + Assignments (individual)</a:t>
            </a:r>
          </a:p>
          <a:p>
            <a:pPr marL="615950" lvl="1" indent="0">
              <a:lnSpc>
                <a:spcPct val="100000"/>
              </a:lnSpc>
              <a:spcBef>
                <a:spcPts val="1000"/>
              </a:spcBef>
              <a:buClr>
                <a:schemeClr val="lt1"/>
              </a:buClr>
              <a:buNone/>
            </a:pPr>
            <a:r>
              <a:rPr lang="en-US" sz="2800" dirty="0"/>
              <a:t>+ 1.5p Lab test</a:t>
            </a:r>
          </a:p>
          <a:p>
            <a:pPr marL="615950" lvl="1" indent="0">
              <a:lnSpc>
                <a:spcPct val="100000"/>
              </a:lnSpc>
              <a:spcBef>
                <a:spcPts val="1000"/>
              </a:spcBef>
              <a:buClr>
                <a:schemeClr val="lt1"/>
              </a:buClr>
              <a:buNone/>
            </a:pPr>
            <a:r>
              <a:rPr lang="en-US" sz="2800" dirty="0"/>
              <a:t>+ 1.5p Project (teams of two)</a:t>
            </a:r>
          </a:p>
          <a:p>
            <a:pPr marL="615950" lvl="1" indent="0">
              <a:lnSpc>
                <a:spcPct val="100000"/>
              </a:lnSpc>
              <a:spcBef>
                <a:spcPts val="1000"/>
              </a:spcBef>
              <a:buClr>
                <a:schemeClr val="lt1"/>
              </a:buClr>
              <a:buNone/>
            </a:pPr>
            <a:r>
              <a:rPr lang="en-US" sz="2800" dirty="0"/>
              <a:t>+ 1p Concept presentations (teams of two)</a:t>
            </a:r>
          </a:p>
          <a:p>
            <a:pPr marL="615950" lvl="1" indent="0">
              <a:lnSpc>
                <a:spcPct val="100000"/>
              </a:lnSpc>
              <a:spcBef>
                <a:spcPts val="1000"/>
              </a:spcBef>
              <a:buClr>
                <a:schemeClr val="lt1"/>
              </a:buClr>
              <a:buNone/>
            </a:pPr>
            <a:endParaRPr lang="en-US" sz="2800" dirty="0"/>
          </a:p>
          <a:p>
            <a:pPr marL="158750" lvl="0" indent="0">
              <a:lnSpc>
                <a:spcPct val="100000"/>
              </a:lnSpc>
              <a:buClr>
                <a:schemeClr val="lt1"/>
              </a:buClr>
              <a:buSzPts val="1100"/>
              <a:buNone/>
            </a:pPr>
            <a:r>
              <a:rPr lang="en-US" b="1" dirty="0"/>
              <a:t>Requirements</a:t>
            </a:r>
          </a:p>
          <a:p>
            <a:pPr marL="615950" lvl="1" indent="0">
              <a:lnSpc>
                <a:spcPct val="100000"/>
              </a:lnSpc>
              <a:spcBef>
                <a:spcPts val="1000"/>
              </a:spcBef>
              <a:buClr>
                <a:schemeClr val="lt1"/>
              </a:buClr>
              <a:buNone/>
            </a:pPr>
            <a:r>
              <a:rPr lang="en-US" sz="2800" dirty="0"/>
              <a:t>In total ≥ 5</a:t>
            </a:r>
          </a:p>
        </p:txBody>
      </p:sp>
    </p:spTree>
    <p:extLst>
      <p:ext uri="{BB962C8B-B14F-4D97-AF65-F5344CB8AC3E}">
        <p14:creationId xmlns:p14="http://schemas.microsoft.com/office/powerpoint/2010/main" val="11048625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20000"/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2D7A26-8EDA-FEF6-952A-1FD6F1048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FD930-C568-1515-DD9E-8876072401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892367"/>
            <a:ext cx="9144000" cy="1073265"/>
          </a:xfrm>
        </p:spPr>
        <p:txBody>
          <a:bodyPr/>
          <a:lstStyle/>
          <a:p>
            <a:r>
              <a:rPr lang="en-US" b="1" dirty="0">
                <a:cs typeface="Al Bayan Plain" pitchFamily="2" charset="-78"/>
              </a:rPr>
              <a:t>Platforms &amp; Technology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1802133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ACDE96C-FC85-124D-26E8-B64A0C2DD8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2B6540F1-17D1-95EB-0904-EE786731B1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5" name="Content Placeholder 4" descr="A diagram of a software company&#10;&#10;AI-generated content may be incorrect.">
            <a:extLst>
              <a:ext uri="{FF2B5EF4-FFF2-40B4-BE49-F238E27FC236}">
                <a16:creationId xmlns:a16="http://schemas.microsoft.com/office/drawing/2014/main" id="{E42191C1-C700-9816-9CF4-8C6AAEBF9D7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7086" b="8660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58574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5" name="Image" descr="Image"/>
          <p:cNvPicPr>
            <a:picLocks noChangeAspect="1"/>
          </p:cNvPicPr>
          <p:nvPr/>
        </p:nvPicPr>
        <p:blipFill>
          <a:blip r:embed="rId3">
            <a:alphaModFix amt="19754"/>
          </a:blip>
          <a:stretch>
            <a:fillRect/>
          </a:stretch>
        </p:blipFill>
        <p:spPr>
          <a:xfrm>
            <a:off x="5688480" y="2140653"/>
            <a:ext cx="5850648" cy="2440818"/>
          </a:xfrm>
          <a:prstGeom prst="rect">
            <a:avLst/>
          </a:prstGeom>
          <a:ln w="12700">
            <a:miter lim="400000"/>
          </a:ln>
        </p:spPr>
      </p:pic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FE76AA0A-94E5-5C65-717B-681627F27362}"/>
              </a:ext>
            </a:extLst>
          </p:cNvPr>
          <p:cNvSpPr txBox="1">
            <a:spLocks/>
          </p:cNvSpPr>
          <p:nvPr/>
        </p:nvSpPr>
        <p:spPr>
          <a:xfrm>
            <a:off x="652872" y="1567039"/>
            <a:ext cx="9522486" cy="4312766"/>
          </a:xfrm>
          <a:prstGeom prst="rect">
            <a:avLst/>
          </a:prstGeom>
        </p:spPr>
        <p:txBody>
          <a:bodyPr vert="horz" lIns="91440" tIns="45720" rIns="91440" bIns="45720" numCol="2" spcCol="109220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FC7E492-7090-5567-79EC-41800218F367}"/>
              </a:ext>
            </a:extLst>
          </p:cNvPr>
          <p:cNvSpPr txBox="1"/>
          <p:nvPr/>
        </p:nvSpPr>
        <p:spPr>
          <a:xfrm>
            <a:off x="998462" y="1307376"/>
            <a:ext cx="4344429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Wingdings" pitchFamily="2" charset="2"/>
              <a:buChar char="Ø"/>
            </a:pPr>
            <a:r>
              <a:rPr lang="en-US" sz="2800" dirty="0"/>
              <a:t>Git is a version control system, designed to handle everything related to source code management</a:t>
            </a:r>
          </a:p>
          <a:p>
            <a:pPr marL="457200" indent="-457200">
              <a:buFont typeface="Wingdings" pitchFamily="2" charset="2"/>
              <a:buChar char="Ø"/>
            </a:pPr>
            <a:endParaRPr lang="en-US" sz="2800" dirty="0"/>
          </a:p>
          <a:p>
            <a:pPr marL="457200" indent="-457200">
              <a:buFont typeface="Wingdings" pitchFamily="2" charset="2"/>
              <a:buChar char="Ø"/>
            </a:pPr>
            <a:r>
              <a:rPr lang="en-US" sz="2800" dirty="0"/>
              <a:t>Used to track changes in the source code, enabling multiple developers to work together</a:t>
            </a:r>
          </a:p>
          <a:p>
            <a:pPr marL="457200" indent="-457200">
              <a:buFont typeface="Wingdings" pitchFamily="2" charset="2"/>
              <a:buChar char="Ø"/>
            </a:pPr>
            <a:endParaRPr lang="en-US" sz="28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cover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6" name="Image" descr="Image"/>
          <p:cNvPicPr>
            <a:picLocks noChangeAspect="1"/>
          </p:cNvPicPr>
          <p:nvPr/>
        </p:nvPicPr>
        <p:blipFill>
          <a:blip r:embed="rId2">
            <a:alphaModFix amt="19756"/>
          </a:blip>
          <a:srcRect/>
          <a:stretch>
            <a:fillRect/>
          </a:stretch>
        </p:blipFill>
        <p:spPr>
          <a:xfrm>
            <a:off x="22567" y="1806972"/>
            <a:ext cx="5767258" cy="3244083"/>
          </a:xfrm>
          <a:prstGeom prst="rect">
            <a:avLst/>
          </a:prstGeom>
          <a:ln w="12700">
            <a:miter lim="400000"/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2A3B971-D792-5970-E680-CEBDB3B74C63}"/>
              </a:ext>
            </a:extLst>
          </p:cNvPr>
          <p:cNvSpPr txBox="1"/>
          <p:nvPr/>
        </p:nvSpPr>
        <p:spPr>
          <a:xfrm>
            <a:off x="6209414" y="1483806"/>
            <a:ext cx="485908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Wingdings" pitchFamily="2" charset="2"/>
              <a:buChar char="Ø"/>
            </a:pPr>
            <a:r>
              <a:rPr lang="en-US" sz="2800" dirty="0"/>
              <a:t>It is mandatory to create a GitHub account at </a:t>
            </a:r>
            <a:r>
              <a:rPr lang="en-US" sz="2800" u="sng" dirty="0">
                <a:hlinkClick r:id="rId3"/>
              </a:rPr>
              <a:t>https://github.com/signup</a:t>
            </a:r>
            <a:endParaRPr lang="en-US" sz="2800" dirty="0"/>
          </a:p>
          <a:p>
            <a:pPr marL="457200" indent="-457200">
              <a:buFont typeface="Wingdings" pitchFamily="2" charset="2"/>
              <a:buChar char="Ø"/>
            </a:pPr>
            <a:endParaRPr lang="en-US" sz="2800" dirty="0"/>
          </a:p>
          <a:p>
            <a:pPr marL="457200" indent="-457200">
              <a:buFont typeface="Wingdings" pitchFamily="2" charset="2"/>
              <a:buChar char="Ø"/>
            </a:pPr>
            <a:r>
              <a:rPr lang="en-US" sz="2800" dirty="0"/>
              <a:t>You can find all the resources you need in this repository: </a:t>
            </a:r>
            <a:r>
              <a:rPr lang="en-US" sz="2800" dirty="0">
                <a:hlinkClick r:id="rId4"/>
              </a:rPr>
              <a:t>https://rusudinu/mobile-and-embedded-computing</a:t>
            </a:r>
            <a:endParaRPr lang="en-US" sz="28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cover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2" name="Image" descr="Image"/>
          <p:cNvPicPr>
            <a:picLocks noChangeAspect="1"/>
          </p:cNvPicPr>
          <p:nvPr/>
        </p:nvPicPr>
        <p:blipFill>
          <a:blip r:embed="rId2">
            <a:alphaModFix amt="19756"/>
          </a:blip>
          <a:srcRect/>
          <a:stretch>
            <a:fillRect/>
          </a:stretch>
        </p:blipFill>
        <p:spPr>
          <a:xfrm>
            <a:off x="22567" y="1806972"/>
            <a:ext cx="5767258" cy="3244083"/>
          </a:xfrm>
          <a:prstGeom prst="rect">
            <a:avLst/>
          </a:prstGeom>
          <a:ln w="12700">
            <a:miter lim="400000"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E7F0C93-964E-6AF5-659E-58C09A79D9DF}"/>
              </a:ext>
            </a:extLst>
          </p:cNvPr>
          <p:cNvSpPr txBox="1"/>
          <p:nvPr/>
        </p:nvSpPr>
        <p:spPr>
          <a:xfrm>
            <a:off x="5443871" y="1443841"/>
            <a:ext cx="5571459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Wingdings" pitchFamily="2" charset="2"/>
              <a:buChar char="Ø"/>
            </a:pPr>
            <a:r>
              <a:rPr lang="en-US" sz="2800" dirty="0"/>
              <a:t>A repository contains all the files of your project, and each revision of it</a:t>
            </a:r>
          </a:p>
          <a:p>
            <a:pPr marL="457200" indent="-457200">
              <a:buFont typeface="Wingdings" pitchFamily="2" charset="2"/>
              <a:buChar char="Ø"/>
            </a:pPr>
            <a:endParaRPr lang="en-US" sz="2800" dirty="0"/>
          </a:p>
          <a:p>
            <a:pPr marL="457200" indent="-457200">
              <a:buFont typeface="Wingdings" pitchFamily="2" charset="2"/>
              <a:buChar char="Ø"/>
            </a:pPr>
            <a:r>
              <a:rPr lang="en-US" sz="2800" dirty="0"/>
              <a:t>It contains at least one branch (main/master)</a:t>
            </a:r>
          </a:p>
          <a:p>
            <a:pPr marL="457200" indent="-457200">
              <a:buFont typeface="Wingdings" pitchFamily="2" charset="2"/>
              <a:buChar char="Ø"/>
            </a:pPr>
            <a:endParaRPr lang="en-US" sz="2800" dirty="0"/>
          </a:p>
          <a:p>
            <a:pPr marL="457200" indent="-457200">
              <a:buFont typeface="Wingdings" pitchFamily="2" charset="2"/>
              <a:buChar char="Ø"/>
            </a:pPr>
            <a:r>
              <a:rPr lang="en-US" sz="2800" dirty="0"/>
              <a:t>A repository is a Git ‘concept’, and NOT a GitHub one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cover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8" name="pngwing.com-2.png" descr="pngwing.com-2.png"/>
          <p:cNvPicPr>
            <a:picLocks noChangeAspect="1"/>
          </p:cNvPicPr>
          <p:nvPr/>
        </p:nvPicPr>
        <p:blipFill>
          <a:blip r:embed="rId3">
            <a:alphaModFix amt="20000"/>
          </a:blip>
          <a:stretch>
            <a:fillRect/>
          </a:stretch>
        </p:blipFill>
        <p:spPr>
          <a:xfrm>
            <a:off x="1053119" y="1800320"/>
            <a:ext cx="3257361" cy="3257361"/>
          </a:xfrm>
          <a:prstGeom prst="rect">
            <a:avLst/>
          </a:prstGeom>
          <a:ln w="12700">
            <a:miter lim="400000"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C13D163-97D5-D6E9-AE9A-837B5DE8CDF7}"/>
              </a:ext>
            </a:extLst>
          </p:cNvPr>
          <p:cNvSpPr txBox="1"/>
          <p:nvPr/>
        </p:nvSpPr>
        <p:spPr>
          <a:xfrm>
            <a:off x="5369442" y="1814370"/>
            <a:ext cx="6024621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itchFamily="2" charset="2"/>
              <a:buChar char="Ø"/>
            </a:pPr>
            <a:r>
              <a:rPr lang="en-US" sz="2800" dirty="0"/>
              <a:t>Branches allow contributors to develop features, fix bugs or experiment new ideas without impacting other team members.</a:t>
            </a:r>
          </a:p>
          <a:p>
            <a:pPr marL="285750" indent="-285750">
              <a:buFont typeface="Wingdings" pitchFamily="2" charset="2"/>
              <a:buChar char="Ø"/>
            </a:pPr>
            <a:endParaRPr lang="en-US" sz="2800" dirty="0"/>
          </a:p>
          <a:p>
            <a:pPr marL="285750" indent="-285750">
              <a:buFont typeface="Wingdings" pitchFamily="2" charset="2"/>
              <a:buChar char="Ø"/>
            </a:pPr>
            <a:r>
              <a:rPr lang="en-US" sz="2800" dirty="0"/>
              <a:t>A branch is created from an existing branch. 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cover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9" name="pngwing.com-2.png" descr="pngwing.com-2.png"/>
          <p:cNvPicPr>
            <a:picLocks noChangeAspect="1"/>
          </p:cNvPicPr>
          <p:nvPr/>
        </p:nvPicPr>
        <p:blipFill>
          <a:blip r:embed="rId3">
            <a:alphaModFix amt="20000"/>
          </a:blip>
          <a:stretch>
            <a:fillRect/>
          </a:stretch>
        </p:blipFill>
        <p:spPr>
          <a:xfrm>
            <a:off x="1053119" y="1800320"/>
            <a:ext cx="3257361" cy="3257361"/>
          </a:xfrm>
          <a:prstGeom prst="rect">
            <a:avLst/>
          </a:prstGeom>
          <a:ln w="12700">
            <a:miter lim="400000"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DC425A1-AF68-B8C2-0392-2171AE53E582}"/>
              </a:ext>
            </a:extLst>
          </p:cNvPr>
          <p:cNvSpPr txBox="1"/>
          <p:nvPr/>
        </p:nvSpPr>
        <p:spPr>
          <a:xfrm>
            <a:off x="4718335" y="797510"/>
            <a:ext cx="6879265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itchFamily="2" charset="2"/>
              <a:buChar char="Ø"/>
            </a:pPr>
            <a:r>
              <a:rPr lang="en-US" sz="2800" dirty="0"/>
              <a:t>A pull request is an event that takes place when a contributor is ready to begin the process of merging new code changes with the main project branch.</a:t>
            </a:r>
          </a:p>
          <a:p>
            <a:pPr marL="285750" indent="-285750">
              <a:buFont typeface="Wingdings" pitchFamily="2" charset="2"/>
              <a:buChar char="Ø"/>
            </a:pPr>
            <a:endParaRPr lang="en-US" sz="2800" dirty="0"/>
          </a:p>
          <a:p>
            <a:pPr marL="285750" indent="-285750">
              <a:buFont typeface="Wingdings" pitchFamily="2" charset="2"/>
              <a:buChar char="Ø"/>
            </a:pPr>
            <a:r>
              <a:rPr lang="en-US" sz="2800" dirty="0"/>
              <a:t>After a peer review, a pull request may or may not be approved.</a:t>
            </a:r>
          </a:p>
          <a:p>
            <a:pPr marL="285750" indent="-285750">
              <a:buFont typeface="Wingdings" pitchFamily="2" charset="2"/>
              <a:buChar char="Ø"/>
            </a:pPr>
            <a:endParaRPr lang="en-US" sz="2800" dirty="0"/>
          </a:p>
          <a:p>
            <a:pPr marL="285750" indent="-285750">
              <a:buFont typeface="Wingdings" pitchFamily="2" charset="2"/>
              <a:buChar char="Ø"/>
            </a:pPr>
            <a:r>
              <a:rPr lang="en-US" sz="2800" dirty="0"/>
              <a:t>If approved, it may be merged, otherwise the author must make the requested changes until he receives all the required approvals.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cover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32A306D-A283-6E16-A211-7596336D13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467" y="961729"/>
            <a:ext cx="10905066" cy="493454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cover/>
      </p:transition>
    </mc:Choice>
    <mc:Fallback xmlns:a14="http://schemas.microsoft.com/office/drawing/2010/main" xmlns:m="http://schemas.openxmlformats.org/officeDocument/2006/math" xmlns="">
      <p:transition spd="fast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982567F-FCEB-1406-8E6A-B25A958ED5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10" name="Picture 9" descr="A computer hardware system with boxes and letters&#10;&#10;AI-generated content may be incorrect.">
            <a:extLst>
              <a:ext uri="{FF2B5EF4-FFF2-40B4-BE49-F238E27FC236}">
                <a16:creationId xmlns:a16="http://schemas.microsoft.com/office/drawing/2014/main" id="{9F38AF69-CB44-B1F2-7F6E-1555FB9EC18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8672" b="7074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22744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5476B4-DEEC-AE95-0965-F39905410F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C4285719-470E-454C-AF62-8323075F1F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D9FE4EF-C4D8-49A0-B2FF-81D8DB7D8A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300840D-0A0B-4512-BACA-B439D5B9C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2B78728-A580-49A7-84F9-6EF6F583AD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38FAA1A1-D861-433F-88FA-1E9D6FD31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D71EDA1-87BF-4D5D-AB79-F346FD1927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3" y="1399943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1D88DE0-3BC8-AEEF-4ED4-FF3AE80F5D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722" y="586855"/>
            <a:ext cx="3201366" cy="3387497"/>
          </a:xfrm>
        </p:spPr>
        <p:txBody>
          <a:bodyPr anchor="b">
            <a:normAutofit/>
          </a:bodyPr>
          <a:lstStyle/>
          <a:p>
            <a:pPr algn="r"/>
            <a:r>
              <a:rPr lang="en-US" sz="4000">
                <a:solidFill>
                  <a:srgbClr val="FFFFFF"/>
                </a:solidFill>
              </a:rPr>
              <a:t>Device resources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397D47-4522-D002-63CD-259AC78C3D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81727" y="649480"/>
            <a:ext cx="3025303" cy="5546047"/>
          </a:xfrm>
        </p:spPr>
        <p:txBody>
          <a:bodyPr anchor="ctr">
            <a:normAutofit/>
          </a:bodyPr>
          <a:lstStyle/>
          <a:p>
            <a:pPr>
              <a:buFont typeface="Wingdings" pitchFamily="2" charset="2"/>
              <a:buChar char="Ø"/>
            </a:pPr>
            <a:r>
              <a:rPr lang="en-US" sz="2000" dirty="0">
                <a:cs typeface="Al Bayan Plain" pitchFamily="2" charset="-78"/>
              </a:rPr>
              <a:t> CPU</a:t>
            </a:r>
          </a:p>
          <a:p>
            <a:pPr>
              <a:buFont typeface="Wingdings" pitchFamily="2" charset="2"/>
              <a:buChar char="Ø"/>
            </a:pPr>
            <a:r>
              <a:rPr lang="en-US" sz="2000" dirty="0">
                <a:cs typeface="Al Bayan Plain" pitchFamily="2" charset="-78"/>
              </a:rPr>
              <a:t> RAM</a:t>
            </a:r>
          </a:p>
          <a:p>
            <a:pPr>
              <a:buFont typeface="Wingdings" pitchFamily="2" charset="2"/>
              <a:buChar char="Ø"/>
            </a:pPr>
            <a:r>
              <a:rPr lang="en-US" sz="2000">
                <a:cs typeface="Al Bayan Plain" pitchFamily="2" charset="-78"/>
              </a:rPr>
              <a:t> SSD (Nand Flash)</a:t>
            </a:r>
            <a:endParaRPr lang="en-US" sz="2000" dirty="0">
              <a:cs typeface="Al Bayan Plain" pitchFamily="2" charset="-78"/>
            </a:endParaRPr>
          </a:p>
          <a:p>
            <a:pPr>
              <a:buFont typeface="Wingdings" pitchFamily="2" charset="2"/>
              <a:buChar char="Ø"/>
            </a:pPr>
            <a:r>
              <a:rPr lang="en-US" sz="2000" dirty="0">
                <a:cs typeface="Al Bayan Plain" pitchFamily="2" charset="-78"/>
              </a:rPr>
              <a:t> GPU</a:t>
            </a:r>
          </a:p>
          <a:p>
            <a:pPr>
              <a:buFont typeface="Wingdings" pitchFamily="2" charset="2"/>
              <a:buChar char="Ø"/>
            </a:pPr>
            <a:r>
              <a:rPr lang="en-US" sz="2000" dirty="0">
                <a:cs typeface="Al Bayan Plain" pitchFamily="2" charset="-78"/>
              </a:rPr>
              <a:t> For mobile devices, the battery is also a ‘resource’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0AB8A05-6C4A-CAA0-1F1B-FC3718EF73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3763" y="473654"/>
            <a:ext cx="2887253" cy="5922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263688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3BB622-2F12-B4C3-0571-C28CAEE2C5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9E396A8-211E-68B4-5B5A-A4A0FE74A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9520"/>
            <a:ext cx="3429000" cy="1719072"/>
          </a:xfrm>
        </p:spPr>
        <p:txBody>
          <a:bodyPr anchor="b">
            <a:normAutofit/>
          </a:bodyPr>
          <a:lstStyle/>
          <a:p>
            <a:r>
              <a:rPr lang="en-US" sz="3800"/>
              <a:t>Resource allocation for LLMs</a:t>
            </a:r>
          </a:p>
        </p:txBody>
      </p:sp>
      <p:sp>
        <p:nvSpPr>
          <p:cNvPr id="18" name="sketch line">
            <a:extLst>
              <a:ext uri="{FF2B5EF4-FFF2-40B4-BE49-F238E27FC236}">
                <a16:creationId xmlns:a16="http://schemas.microsoft.com/office/drawing/2014/main" id="{CD8B4F24-440B-49E9-B85D-733523DC0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751B95-29FD-6341-9F0E-36074AF39C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6" y="2807208"/>
            <a:ext cx="3429000" cy="3410712"/>
          </a:xfrm>
        </p:spPr>
        <p:txBody>
          <a:bodyPr anchor="t">
            <a:normAutofit/>
          </a:bodyPr>
          <a:lstStyle/>
          <a:p>
            <a:pPr>
              <a:buFont typeface="Wingdings" pitchFamily="2" charset="2"/>
              <a:buChar char="Ø"/>
            </a:pPr>
            <a:r>
              <a:rPr lang="en-US" sz="2200" dirty="0">
                <a:cs typeface="Al Bayan Plain" pitchFamily="2" charset="-78"/>
              </a:rPr>
              <a:t> When you try to load a Large Language Model (LLM), the operating system will do the following</a:t>
            </a:r>
          </a:p>
          <a:p>
            <a:pPr>
              <a:buFont typeface="Wingdings" pitchFamily="2" charset="2"/>
              <a:buChar char="Ø"/>
            </a:pPr>
            <a:r>
              <a:rPr lang="en-US" sz="2200" dirty="0">
                <a:cs typeface="Al Bayan Plain" pitchFamily="2" charset="-78"/>
              </a:rPr>
              <a:t> ’Unified memory’ in MacBooks is very useful for LLMS because you have a lot more ‘VRAM’ available	</a:t>
            </a:r>
          </a:p>
          <a:p>
            <a:pPr marL="914400" lvl="2" indent="0">
              <a:buNone/>
            </a:pPr>
            <a:endParaRPr lang="en-US" sz="2200" dirty="0">
              <a:cs typeface="Al Bayan Plain" pitchFamily="2" charset="-78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750B04C-F680-0869-7147-AA0C635AD8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4296" y="641624"/>
            <a:ext cx="6903720" cy="55747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12096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83F2F2-C7D4-8906-5A7A-115644890B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B202C7-B74D-E667-CBD4-47A9804319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Web App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5AB0AD-0C07-9A92-4C10-1EC040E93F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690688"/>
            <a:ext cx="11353801" cy="4802187"/>
          </a:xfrm>
        </p:spPr>
        <p:txBody>
          <a:bodyPr>
            <a:normAutofit/>
          </a:bodyPr>
          <a:lstStyle/>
          <a:p>
            <a:pPr>
              <a:buFont typeface="Wingdings" pitchFamily="2" charset="2"/>
              <a:buChar char="Ø"/>
            </a:pPr>
            <a:r>
              <a:rPr lang="en-US" dirty="0">
                <a:cs typeface="Al Bayan Plain" pitchFamily="2" charset="-78"/>
              </a:rPr>
              <a:t> Runs in a </a:t>
            </a:r>
            <a:r>
              <a:rPr lang="en-US" b="1" dirty="0">
                <a:cs typeface="Al Bayan Plain" pitchFamily="2" charset="-78"/>
              </a:rPr>
              <a:t>web browser </a:t>
            </a:r>
            <a:r>
              <a:rPr lang="en-US" dirty="0">
                <a:cs typeface="Al Bayan Plain" pitchFamily="2" charset="-78"/>
              </a:rPr>
              <a:t>instead of being installed directly on a device like a Desktop App / Mobile App</a:t>
            </a:r>
          </a:p>
          <a:p>
            <a:pPr>
              <a:buFont typeface="Wingdings" pitchFamily="2" charset="2"/>
              <a:buChar char="Ø"/>
            </a:pPr>
            <a:r>
              <a:rPr lang="en-US" dirty="0">
                <a:cs typeface="Al Bayan Plain" pitchFamily="2" charset="-78"/>
              </a:rPr>
              <a:t> Is accessed using a </a:t>
            </a:r>
            <a:r>
              <a:rPr lang="en-US" b="1" dirty="0">
                <a:cs typeface="Al Bayan Plain" pitchFamily="2" charset="-78"/>
              </a:rPr>
              <a:t>URL </a:t>
            </a:r>
            <a:r>
              <a:rPr lang="en-US" dirty="0">
                <a:cs typeface="Al Bayan Plain" pitchFamily="2" charset="-78"/>
              </a:rPr>
              <a:t>(e.g. </a:t>
            </a:r>
            <a:r>
              <a:rPr lang="en-US" dirty="0">
                <a:cs typeface="Al Bayan Plain" pitchFamily="2" charset="-78"/>
                <a:hlinkClick r:id="rId2"/>
              </a:rPr>
              <a:t>https://rusudinu.ro</a:t>
            </a:r>
            <a:r>
              <a:rPr lang="en-US" dirty="0">
                <a:cs typeface="Al Bayan Plain" pitchFamily="2" charset="-78"/>
              </a:rPr>
              <a:t>)</a:t>
            </a:r>
          </a:p>
          <a:p>
            <a:pPr>
              <a:buFont typeface="Wingdings" pitchFamily="2" charset="2"/>
              <a:buChar char="Ø"/>
            </a:pPr>
            <a:r>
              <a:rPr lang="en-US" b="1" dirty="0">
                <a:cs typeface="Al Bayan Plain" pitchFamily="2" charset="-78"/>
              </a:rPr>
              <a:t> </a:t>
            </a:r>
            <a:r>
              <a:rPr lang="en-US" dirty="0">
                <a:cs typeface="Al Bayan Plain" pitchFamily="2" charset="-78"/>
              </a:rPr>
              <a:t>No installation needed</a:t>
            </a:r>
          </a:p>
          <a:p>
            <a:pPr>
              <a:buFont typeface="Wingdings" pitchFamily="2" charset="2"/>
              <a:buChar char="Ø"/>
            </a:pPr>
            <a:r>
              <a:rPr lang="en-US" b="1" dirty="0">
                <a:cs typeface="Al Bayan Plain" pitchFamily="2" charset="-78"/>
              </a:rPr>
              <a:t> </a:t>
            </a:r>
            <a:r>
              <a:rPr lang="en-US" dirty="0">
                <a:cs typeface="Al Bayan Plain" pitchFamily="2" charset="-78"/>
              </a:rPr>
              <a:t>Cross platform ‘by default’</a:t>
            </a:r>
          </a:p>
          <a:p>
            <a:pPr>
              <a:buFont typeface="Wingdings" pitchFamily="2" charset="2"/>
              <a:buChar char="Ø"/>
            </a:pPr>
            <a:r>
              <a:rPr lang="en-US" b="1" dirty="0">
                <a:cs typeface="Al Bayan Plain" pitchFamily="2" charset="-78"/>
              </a:rPr>
              <a:t> </a:t>
            </a:r>
            <a:r>
              <a:rPr lang="en-US" dirty="0">
                <a:cs typeface="Al Bayan Plain" pitchFamily="2" charset="-78"/>
              </a:rPr>
              <a:t>Usually require an active internet connection</a:t>
            </a:r>
          </a:p>
          <a:p>
            <a:pPr>
              <a:buFont typeface="Wingdings" pitchFamily="2" charset="2"/>
              <a:buChar char="Ø"/>
            </a:pPr>
            <a:r>
              <a:rPr lang="en-US" b="1" dirty="0">
                <a:cs typeface="Al Bayan Plain" pitchFamily="2" charset="-78"/>
              </a:rPr>
              <a:t> </a:t>
            </a:r>
            <a:r>
              <a:rPr lang="en-US" dirty="0">
                <a:cs typeface="Al Bayan Plain" pitchFamily="2" charset="-78"/>
              </a:rPr>
              <a:t>The content &amp; functionality updates in real time</a:t>
            </a:r>
          </a:p>
          <a:p>
            <a:pPr>
              <a:buFont typeface="Wingdings" pitchFamily="2" charset="2"/>
              <a:buChar char="Ø"/>
            </a:pPr>
            <a:r>
              <a:rPr lang="en-US" b="1" dirty="0">
                <a:cs typeface="Al Bayan Plain" pitchFamily="2" charset="-78"/>
              </a:rPr>
              <a:t> </a:t>
            </a:r>
            <a:r>
              <a:rPr lang="en-US" dirty="0">
                <a:cs typeface="Al Bayan Plain" pitchFamily="2" charset="-78"/>
              </a:rPr>
              <a:t>‘Plain’ HTML &amp; </a:t>
            </a:r>
            <a:r>
              <a:rPr lang="en-US" dirty="0" err="1">
                <a:cs typeface="Al Bayan Plain" pitchFamily="2" charset="-78"/>
              </a:rPr>
              <a:t>Js</a:t>
            </a:r>
            <a:r>
              <a:rPr lang="en-US" dirty="0">
                <a:cs typeface="Al Bayan Plain" pitchFamily="2" charset="-78"/>
              </a:rPr>
              <a:t>, Angular, React, Vue, Svelte, </a:t>
            </a:r>
            <a:r>
              <a:rPr lang="en-US" dirty="0" err="1">
                <a:cs typeface="Al Bayan Plain" pitchFamily="2" charset="-78"/>
              </a:rPr>
              <a:t>etc</a:t>
            </a:r>
            <a:endParaRPr lang="en-US" b="1" dirty="0">
              <a:cs typeface="Al Bayan Plain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17499539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DC17F6-497B-A37E-8102-55E7AE802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1EE7B9-8B2E-660F-6C4F-3488B51CD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Progressive Web App (PWA)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EA9377-117A-F695-0E58-05DA491006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690688"/>
            <a:ext cx="11353801" cy="4802187"/>
          </a:xfrm>
        </p:spPr>
        <p:txBody>
          <a:bodyPr>
            <a:normAutofit/>
          </a:bodyPr>
          <a:lstStyle/>
          <a:p>
            <a:pPr>
              <a:buFont typeface="Wingdings" pitchFamily="2" charset="2"/>
              <a:buChar char="Ø"/>
            </a:pPr>
            <a:r>
              <a:rPr lang="en-US" dirty="0">
                <a:cs typeface="Al Bayan Plain" pitchFamily="2" charset="-78"/>
              </a:rPr>
              <a:t> ‘Modern’ technologies making a website behave like a mobile app</a:t>
            </a:r>
          </a:p>
          <a:p>
            <a:pPr>
              <a:buFont typeface="Wingdings" pitchFamily="2" charset="2"/>
              <a:buChar char="Ø"/>
            </a:pPr>
            <a:r>
              <a:rPr lang="en-US" dirty="0">
                <a:cs typeface="Al Bayan Plain" pitchFamily="2" charset="-78"/>
              </a:rPr>
              <a:t> Installable</a:t>
            </a:r>
          </a:p>
          <a:p>
            <a:pPr>
              <a:buFont typeface="Wingdings" pitchFamily="2" charset="2"/>
              <a:buChar char="Ø"/>
            </a:pPr>
            <a:r>
              <a:rPr lang="en-US" dirty="0">
                <a:cs typeface="Al Bayan Plain" pitchFamily="2" charset="-78"/>
              </a:rPr>
              <a:t> Capable of working offline</a:t>
            </a:r>
          </a:p>
          <a:p>
            <a:pPr>
              <a:buFont typeface="Wingdings" pitchFamily="2" charset="2"/>
              <a:buChar char="Ø"/>
            </a:pPr>
            <a:r>
              <a:rPr lang="en-US" dirty="0">
                <a:cs typeface="Al Bayan Plain" pitchFamily="2" charset="-78"/>
              </a:rPr>
              <a:t> HTTPs only</a:t>
            </a:r>
          </a:p>
          <a:p>
            <a:pPr>
              <a:buFont typeface="Wingdings" pitchFamily="2" charset="2"/>
              <a:buChar char="Ø"/>
            </a:pPr>
            <a:r>
              <a:rPr lang="en-US" dirty="0">
                <a:cs typeface="Al Bayan Plain" pitchFamily="2" charset="-78"/>
              </a:rPr>
              <a:t> Cross platform</a:t>
            </a:r>
          </a:p>
          <a:p>
            <a:pPr>
              <a:buFont typeface="Wingdings" pitchFamily="2" charset="2"/>
              <a:buChar char="Ø"/>
            </a:pPr>
            <a:r>
              <a:rPr lang="en-US" dirty="0">
                <a:cs typeface="Al Bayan Plain" pitchFamily="2" charset="-78"/>
              </a:rPr>
              <a:t> Updates are automatically checked in the background by the service worker and are applied when the app is opened the next time</a:t>
            </a:r>
          </a:p>
          <a:p>
            <a:pPr>
              <a:buFont typeface="Wingdings" pitchFamily="2" charset="2"/>
              <a:buChar char="Ø"/>
            </a:pPr>
            <a:r>
              <a:rPr lang="en-US" dirty="0">
                <a:cs typeface="Al Bayan Plain" pitchFamily="2" charset="-78"/>
              </a:rPr>
              <a:t> ‘Plain’ HTML &amp; </a:t>
            </a:r>
            <a:r>
              <a:rPr lang="en-US" dirty="0" err="1">
                <a:cs typeface="Al Bayan Plain" pitchFamily="2" charset="-78"/>
              </a:rPr>
              <a:t>Js</a:t>
            </a:r>
            <a:r>
              <a:rPr lang="en-US" dirty="0">
                <a:cs typeface="Al Bayan Plain" pitchFamily="2" charset="-78"/>
              </a:rPr>
              <a:t>, Angular, React, Vue, Svelte, </a:t>
            </a:r>
            <a:r>
              <a:rPr lang="en-US" dirty="0" err="1">
                <a:cs typeface="Al Bayan Plain" pitchFamily="2" charset="-78"/>
              </a:rPr>
              <a:t>etc</a:t>
            </a:r>
            <a:endParaRPr lang="en-US" dirty="0">
              <a:cs typeface="Al Bayan Plain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347722526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BBA260-8211-02B3-1ABE-E0A8E3CC3D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554FF4-92CC-3E8B-FE58-D7843D7D7E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Cross Platform Apps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22F256-5B33-01AB-3E3C-4C4DC67792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775536" cy="4802187"/>
          </a:xfrm>
        </p:spPr>
        <p:txBody>
          <a:bodyPr>
            <a:normAutofit/>
          </a:bodyPr>
          <a:lstStyle/>
          <a:p>
            <a:pPr>
              <a:buFont typeface="Wingdings" pitchFamily="2" charset="2"/>
              <a:buChar char="Ø"/>
            </a:pPr>
            <a:r>
              <a:rPr lang="en-US" dirty="0">
                <a:cs typeface="Al Bayan Plain" pitchFamily="2" charset="-78"/>
              </a:rPr>
              <a:t> Most of the code is written once and the app will run on Android and iOS</a:t>
            </a:r>
          </a:p>
          <a:p>
            <a:pPr>
              <a:buFont typeface="Wingdings" pitchFamily="2" charset="2"/>
              <a:buChar char="Ø"/>
            </a:pPr>
            <a:r>
              <a:rPr lang="en-US" dirty="0">
                <a:cs typeface="Al Bayan Plain" pitchFamily="2" charset="-78"/>
              </a:rPr>
              <a:t> Better performance compared to PWA</a:t>
            </a:r>
          </a:p>
          <a:p>
            <a:pPr>
              <a:buFont typeface="Wingdings" pitchFamily="2" charset="2"/>
              <a:buChar char="Ø"/>
            </a:pPr>
            <a:r>
              <a:rPr lang="en-US" dirty="0">
                <a:cs typeface="Al Bayan Plain" pitchFamily="2" charset="-78"/>
              </a:rPr>
              <a:t> Slower to update, need to go through the Store review process (except for some cases like parts of React Native apps that can receive OTA (Over the Air) updates)</a:t>
            </a:r>
          </a:p>
          <a:p>
            <a:pPr>
              <a:buFont typeface="Wingdings" pitchFamily="2" charset="2"/>
              <a:buChar char="Ø"/>
            </a:pPr>
            <a:r>
              <a:rPr lang="en-US" dirty="0">
                <a:cs typeface="Al Bayan Plain" pitchFamily="2" charset="-78"/>
              </a:rPr>
              <a:t> Some have Desktop support (Flutter)</a:t>
            </a:r>
          </a:p>
          <a:p>
            <a:pPr>
              <a:buFont typeface="Wingdings" pitchFamily="2" charset="2"/>
              <a:buChar char="Ø"/>
            </a:pPr>
            <a:r>
              <a:rPr lang="en-US" dirty="0">
                <a:cs typeface="Al Bayan Plain" pitchFamily="2" charset="-78"/>
              </a:rPr>
              <a:t> Can work well fully offline</a:t>
            </a:r>
          </a:p>
          <a:p>
            <a:pPr>
              <a:buFont typeface="Wingdings" pitchFamily="2" charset="2"/>
              <a:buChar char="Ø"/>
            </a:pPr>
            <a:r>
              <a:rPr lang="en-US" dirty="0">
                <a:cs typeface="Al Bayan Plain" pitchFamily="2" charset="-78"/>
              </a:rPr>
              <a:t> Flutter, React Native, Kotlin Multiplatform, </a:t>
            </a:r>
            <a:r>
              <a:rPr lang="en-US" dirty="0" err="1">
                <a:cs typeface="Al Bayan Plain" pitchFamily="2" charset="-78"/>
              </a:rPr>
              <a:t>etc</a:t>
            </a:r>
            <a:endParaRPr lang="en-US" dirty="0">
              <a:cs typeface="Al Bayan Plain" pitchFamily="2" charset="-78"/>
            </a:endParaRPr>
          </a:p>
          <a:p>
            <a:pPr>
              <a:buFont typeface="Wingdings" pitchFamily="2" charset="2"/>
              <a:buChar char="Ø"/>
            </a:pPr>
            <a:r>
              <a:rPr lang="en-US" dirty="0">
                <a:cs typeface="Al Bayan Plain" pitchFamily="2" charset="-78"/>
              </a:rPr>
              <a:t> Published in Google Play, App Store</a:t>
            </a:r>
          </a:p>
        </p:txBody>
      </p:sp>
    </p:spTree>
    <p:extLst>
      <p:ext uri="{BB962C8B-B14F-4D97-AF65-F5344CB8AC3E}">
        <p14:creationId xmlns:p14="http://schemas.microsoft.com/office/powerpoint/2010/main" val="28780262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6092C4-B4B4-274E-6895-9B23258450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B5147B-7E07-8470-3925-5D8C362426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Native Apps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E1F4A1-8B74-5931-4F3B-420E1F550A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775536" cy="4802187"/>
          </a:xfrm>
        </p:spPr>
        <p:txBody>
          <a:bodyPr>
            <a:normAutofit/>
          </a:bodyPr>
          <a:lstStyle/>
          <a:p>
            <a:pPr>
              <a:buFont typeface="Wingdings" pitchFamily="2" charset="2"/>
              <a:buChar char="Ø"/>
            </a:pPr>
            <a:r>
              <a:rPr lang="en-US" dirty="0">
                <a:cs typeface="Al Bayan Plain" pitchFamily="2" charset="-78"/>
              </a:rPr>
              <a:t> Platform specific, built for one OS (iOS or Android)</a:t>
            </a:r>
          </a:p>
          <a:p>
            <a:pPr lvl="1">
              <a:buFont typeface="Wingdings" pitchFamily="2" charset="2"/>
              <a:buChar char="Ø"/>
            </a:pPr>
            <a:r>
              <a:rPr lang="en-US" dirty="0">
                <a:cs typeface="Al Bayan Plain" pitchFamily="2" charset="-78"/>
              </a:rPr>
              <a:t>iOS -&gt; Swift / </a:t>
            </a:r>
            <a:r>
              <a:rPr lang="en-US" dirty="0" err="1">
                <a:cs typeface="Al Bayan Plain" pitchFamily="2" charset="-78"/>
              </a:rPr>
              <a:t>ObjC</a:t>
            </a:r>
            <a:r>
              <a:rPr lang="en-US" dirty="0">
                <a:cs typeface="Al Bayan Plain" pitchFamily="2" charset="-78"/>
              </a:rPr>
              <a:t> in Xcode</a:t>
            </a:r>
          </a:p>
          <a:p>
            <a:pPr lvl="1">
              <a:buFont typeface="Wingdings" pitchFamily="2" charset="2"/>
              <a:buChar char="Ø"/>
            </a:pPr>
            <a:r>
              <a:rPr lang="en-US" dirty="0">
                <a:cs typeface="Al Bayan Plain" pitchFamily="2" charset="-78"/>
              </a:rPr>
              <a:t>Android -&gt; Kotlin / Java in Android Studio</a:t>
            </a:r>
          </a:p>
          <a:p>
            <a:pPr>
              <a:buFont typeface="Wingdings" pitchFamily="2" charset="2"/>
              <a:buChar char="Ø"/>
            </a:pPr>
            <a:r>
              <a:rPr lang="en-US" dirty="0">
                <a:cs typeface="Al Bayan Plain" pitchFamily="2" charset="-78"/>
              </a:rPr>
              <a:t> Can work well fully offline</a:t>
            </a:r>
          </a:p>
          <a:p>
            <a:pPr>
              <a:buFont typeface="Wingdings" pitchFamily="2" charset="2"/>
              <a:buChar char="Ø"/>
            </a:pPr>
            <a:r>
              <a:rPr lang="en-US" dirty="0">
                <a:cs typeface="Al Bayan Plain" pitchFamily="2" charset="-78"/>
              </a:rPr>
              <a:t> Best performance</a:t>
            </a:r>
          </a:p>
          <a:p>
            <a:pPr>
              <a:buFont typeface="Wingdings" pitchFamily="2" charset="2"/>
              <a:buChar char="Ø"/>
            </a:pPr>
            <a:r>
              <a:rPr lang="en-US" dirty="0">
                <a:cs typeface="Al Bayan Plain" pitchFamily="2" charset="-78"/>
              </a:rPr>
              <a:t> Use native components</a:t>
            </a:r>
          </a:p>
          <a:p>
            <a:pPr>
              <a:buFont typeface="Wingdings" pitchFamily="2" charset="2"/>
              <a:buChar char="Ø"/>
            </a:pPr>
            <a:r>
              <a:rPr lang="en-US" dirty="0">
                <a:cs typeface="Al Bayan Plain" pitchFamily="2" charset="-78"/>
              </a:rPr>
              <a:t> Published in Google Play, App Store</a:t>
            </a:r>
          </a:p>
        </p:txBody>
      </p:sp>
    </p:spTree>
    <p:extLst>
      <p:ext uri="{BB962C8B-B14F-4D97-AF65-F5344CB8AC3E}">
        <p14:creationId xmlns:p14="http://schemas.microsoft.com/office/powerpoint/2010/main" val="321468198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D1D0036-0E97-C13F-CBCF-102E18E378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 descr="A diagram of a computer network&#10;&#10;AI-generated content may be incorrect.">
            <a:extLst>
              <a:ext uri="{FF2B5EF4-FFF2-40B4-BE49-F238E27FC236}">
                <a16:creationId xmlns:a16="http://schemas.microsoft.com/office/drawing/2014/main" id="{F434B0B8-3B59-AC3F-F15C-97613E62B47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162"/>
          <a:stretch>
            <a:fillRect/>
          </a:stretch>
        </p:blipFill>
        <p:spPr>
          <a:xfrm>
            <a:off x="1929677" y="643466"/>
            <a:ext cx="8332645" cy="5571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649467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29879C-93B6-CC48-19C7-9975C6670B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035C13-9656-BC7D-5797-F18EB71744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Server Side Rendering (SSR)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7CA33C-2D4A-344C-ACC1-BC92760876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775536" cy="4802187"/>
          </a:xfrm>
        </p:spPr>
        <p:txBody>
          <a:bodyPr>
            <a:normAutofit/>
          </a:bodyPr>
          <a:lstStyle/>
          <a:p>
            <a:pPr>
              <a:buFont typeface="Wingdings" pitchFamily="2" charset="2"/>
              <a:buChar char="Ø"/>
            </a:pPr>
            <a:r>
              <a:rPr lang="en-US" dirty="0">
                <a:cs typeface="Al Bayan Plain" pitchFamily="2" charset="-78"/>
              </a:rPr>
              <a:t> </a:t>
            </a:r>
            <a:r>
              <a:rPr lang="en-US" dirty="0"/>
              <a:t>HTML is generated on the server for each request </a:t>
            </a:r>
          </a:p>
          <a:p>
            <a:pPr>
              <a:buFont typeface="Wingdings" pitchFamily="2" charset="2"/>
              <a:buChar char="Ø"/>
            </a:pPr>
            <a:r>
              <a:rPr lang="en-US" dirty="0"/>
              <a:t>Better SEO since content is immediately available to crawlers</a:t>
            </a:r>
          </a:p>
          <a:p>
            <a:pPr>
              <a:buFont typeface="Wingdings" pitchFamily="2" charset="2"/>
              <a:buChar char="Ø"/>
            </a:pPr>
            <a:r>
              <a:rPr lang="en-US" dirty="0"/>
              <a:t>Faster initial page load and Time to First </a:t>
            </a:r>
            <a:r>
              <a:rPr lang="en-US" dirty="0" err="1"/>
              <a:t>Contentful</a:t>
            </a:r>
            <a:r>
              <a:rPr lang="en-US" dirty="0"/>
              <a:t> Paint (TTCP)</a:t>
            </a:r>
          </a:p>
          <a:p>
            <a:pPr>
              <a:buFont typeface="Wingdings" pitchFamily="2" charset="2"/>
              <a:buChar char="Ø"/>
            </a:pPr>
            <a:r>
              <a:rPr lang="en-US" dirty="0"/>
              <a:t>Higher server load as each request requires processing</a:t>
            </a:r>
          </a:p>
          <a:p>
            <a:pPr>
              <a:buFont typeface="Wingdings" pitchFamily="2" charset="2"/>
              <a:buChar char="Ø"/>
            </a:pPr>
            <a:r>
              <a:rPr lang="en-US" dirty="0"/>
              <a:t>Slower navigation between pages (full page reloads)</a:t>
            </a:r>
          </a:p>
          <a:p>
            <a:pPr>
              <a:buFont typeface="Wingdings" pitchFamily="2" charset="2"/>
              <a:buChar char="Ø"/>
            </a:pPr>
            <a:r>
              <a:rPr lang="en-US" dirty="0"/>
              <a:t>Examples: </a:t>
            </a:r>
            <a:r>
              <a:rPr lang="en-US" dirty="0" err="1"/>
              <a:t>Next.js</a:t>
            </a:r>
            <a:r>
              <a:rPr lang="en-US" dirty="0"/>
              <a:t> with </a:t>
            </a:r>
            <a:r>
              <a:rPr lang="en-US" dirty="0" err="1"/>
              <a:t>getServerSideProps</a:t>
            </a:r>
            <a:r>
              <a:rPr lang="en-US" dirty="0"/>
              <a:t>, </a:t>
            </a:r>
            <a:r>
              <a:rPr lang="en-US" dirty="0" err="1"/>
              <a:t>Nuxt.js</a:t>
            </a:r>
            <a:r>
              <a:rPr lang="en-US" dirty="0"/>
              <a:t>, </a:t>
            </a:r>
            <a:r>
              <a:rPr lang="en-US" dirty="0" err="1"/>
              <a:t>SvelteKit</a:t>
            </a:r>
            <a:endParaRPr lang="en-US" dirty="0"/>
          </a:p>
          <a:p>
            <a:pPr>
              <a:buFont typeface="Wingdings" pitchFamily="2" charset="2"/>
              <a:buChar char="Ø"/>
            </a:pPr>
            <a:r>
              <a:rPr lang="en-US" dirty="0"/>
              <a:t> Ideal for dynamic content that changes frequently</a:t>
            </a:r>
            <a:endParaRPr lang="en-US" dirty="0">
              <a:cs typeface="Al Bayan Plain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179865565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D2D51D-EF06-8FDE-24D1-125F0B285B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348E27-683E-9E46-09FE-EEF7A849BF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Static Site Generation (SSG)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D22B69-8E33-4EC2-043B-64C83D42D7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775536" cy="4802187"/>
          </a:xfrm>
        </p:spPr>
        <p:txBody>
          <a:bodyPr>
            <a:normAutofit/>
          </a:bodyPr>
          <a:lstStyle/>
          <a:p>
            <a:pPr>
              <a:buFont typeface="Wingdings" pitchFamily="2" charset="2"/>
              <a:buChar char="Ø"/>
            </a:pPr>
            <a:r>
              <a:rPr lang="en-US" dirty="0"/>
              <a:t>HTML pages are pre-built at build time</a:t>
            </a:r>
          </a:p>
          <a:p>
            <a:pPr>
              <a:buFont typeface="Wingdings" pitchFamily="2" charset="2"/>
              <a:buChar char="Ø"/>
            </a:pPr>
            <a:r>
              <a:rPr lang="en-US" dirty="0"/>
              <a:t>Excellent performance with fast loading times</a:t>
            </a:r>
          </a:p>
          <a:p>
            <a:pPr>
              <a:buFont typeface="Wingdings" pitchFamily="2" charset="2"/>
              <a:buChar char="Ø"/>
            </a:pPr>
            <a:r>
              <a:rPr lang="en-US" dirty="0"/>
              <a:t>Great SEO as content is fully rendered in HTML</a:t>
            </a:r>
          </a:p>
          <a:p>
            <a:pPr>
              <a:buFont typeface="Wingdings" pitchFamily="2" charset="2"/>
              <a:buChar char="Ø"/>
            </a:pPr>
            <a:r>
              <a:rPr lang="en-US" dirty="0"/>
              <a:t>Can be served from CDNs for global distribution</a:t>
            </a:r>
          </a:p>
          <a:p>
            <a:pPr>
              <a:buFont typeface="Wingdings" pitchFamily="2" charset="2"/>
              <a:buChar char="Ø"/>
            </a:pPr>
            <a:r>
              <a:rPr lang="en-US" dirty="0"/>
              <a:t>Limited to content known at build time</a:t>
            </a:r>
          </a:p>
          <a:p>
            <a:pPr>
              <a:buFont typeface="Wingdings" pitchFamily="2" charset="2"/>
              <a:buChar char="Ø"/>
            </a:pPr>
            <a:r>
              <a:rPr lang="en-US" dirty="0"/>
              <a:t>Requires rebuilding and redeploying for content updates</a:t>
            </a:r>
          </a:p>
          <a:p>
            <a:pPr>
              <a:buFont typeface="Wingdings" pitchFamily="2" charset="2"/>
              <a:buChar char="Ø"/>
            </a:pPr>
            <a:r>
              <a:rPr lang="en-US" dirty="0"/>
              <a:t>Examples: </a:t>
            </a:r>
            <a:r>
              <a:rPr lang="en-US" dirty="0" err="1"/>
              <a:t>Next.js</a:t>
            </a:r>
            <a:r>
              <a:rPr lang="en-US" dirty="0"/>
              <a:t> with </a:t>
            </a:r>
            <a:r>
              <a:rPr lang="en-US" dirty="0" err="1"/>
              <a:t>getStaticProps</a:t>
            </a:r>
            <a:r>
              <a:rPr lang="en-US" dirty="0"/>
              <a:t>, Gatsby, Astro, Jekyll</a:t>
            </a:r>
          </a:p>
          <a:p>
            <a:pPr>
              <a:buFont typeface="Wingdings" pitchFamily="2" charset="2"/>
              <a:buChar char="Ø"/>
            </a:pPr>
            <a:r>
              <a:rPr lang="en-US" dirty="0"/>
              <a:t>Used for documentation</a:t>
            </a:r>
            <a:endParaRPr lang="en-US" dirty="0">
              <a:cs typeface="Al Bayan Plain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208357690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A843CC-B37F-CFF4-7779-3A058D373A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F9E6A7-D764-D878-F737-05E5DCA8C6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Client Side Rendering (CSR)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FA369D-0CB8-37F6-39D2-C5BD5BF63B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775536" cy="4802187"/>
          </a:xfrm>
        </p:spPr>
        <p:txBody>
          <a:bodyPr>
            <a:normAutofit/>
          </a:bodyPr>
          <a:lstStyle/>
          <a:p>
            <a:pPr>
              <a:buFont typeface="Wingdings" pitchFamily="2" charset="2"/>
              <a:buChar char="Ø"/>
            </a:pPr>
            <a:r>
              <a:rPr lang="en-US" dirty="0"/>
              <a:t>JavaScript runs in the browser to generate the page content</a:t>
            </a:r>
          </a:p>
          <a:p>
            <a:pPr>
              <a:buFont typeface="Wingdings" pitchFamily="2" charset="2"/>
              <a:buChar char="Ø"/>
            </a:pPr>
            <a:r>
              <a:rPr lang="en-US" dirty="0"/>
              <a:t>Smooth user experience with fast navigation after initial load</a:t>
            </a:r>
          </a:p>
          <a:p>
            <a:pPr>
              <a:buFont typeface="Wingdings" pitchFamily="2" charset="2"/>
              <a:buChar char="Ø"/>
            </a:pPr>
            <a:r>
              <a:rPr lang="en-US" dirty="0"/>
              <a:t>Rich interactivity and dynamic user interfaces</a:t>
            </a:r>
          </a:p>
          <a:p>
            <a:pPr>
              <a:buFont typeface="Wingdings" pitchFamily="2" charset="2"/>
              <a:buChar char="Ø"/>
            </a:pPr>
            <a:r>
              <a:rPr lang="en-US" dirty="0"/>
              <a:t>Slower initial page load as JS bundle must be downloaded and executed</a:t>
            </a:r>
          </a:p>
          <a:p>
            <a:pPr>
              <a:buFont typeface="Wingdings" pitchFamily="2" charset="2"/>
              <a:buChar char="Ø"/>
            </a:pPr>
            <a:r>
              <a:rPr lang="en-US" dirty="0"/>
              <a:t>Poor SEO without additional optimization (crawlers see empty page initially)</a:t>
            </a:r>
          </a:p>
          <a:p>
            <a:pPr>
              <a:buFont typeface="Wingdings" pitchFamily="2" charset="2"/>
              <a:buChar char="Ø"/>
            </a:pPr>
            <a:r>
              <a:rPr lang="en-US" dirty="0"/>
              <a:t>Examples: Create React App, Vue CLI apps, traditional SPAs</a:t>
            </a:r>
          </a:p>
          <a:p>
            <a:pPr>
              <a:buFont typeface="Wingdings" pitchFamily="2" charset="2"/>
              <a:buChar char="Ø"/>
            </a:pPr>
            <a:r>
              <a:rPr lang="en-US" dirty="0"/>
              <a:t>Best for highly interactive applications and dashboards</a:t>
            </a:r>
            <a:endParaRPr lang="en-US" dirty="0">
              <a:cs typeface="Al Bayan Plain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10821283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4818</TotalTime>
  <Words>1064</Words>
  <Application>Microsoft Macintosh PowerPoint</Application>
  <PresentationFormat>Widescreen</PresentationFormat>
  <Paragraphs>124</Paragraphs>
  <Slides>23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30" baseType="lpstr">
      <vt:lpstr>Al Bayan Plain</vt:lpstr>
      <vt:lpstr>Aptos</vt:lpstr>
      <vt:lpstr>Aptos Display</vt:lpstr>
      <vt:lpstr>Archivo</vt:lpstr>
      <vt:lpstr>Arial</vt:lpstr>
      <vt:lpstr>Wingdings</vt:lpstr>
      <vt:lpstr>Office Theme</vt:lpstr>
      <vt:lpstr>Mobile and Embedded Computing</vt:lpstr>
      <vt:lpstr>PowerPoint Presentation</vt:lpstr>
      <vt:lpstr>Course Topics</vt:lpstr>
      <vt:lpstr>Grading</vt:lpstr>
      <vt:lpstr>Platforms &amp; Technology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Device resources</vt:lpstr>
      <vt:lpstr>Resource allocation for LLMs</vt:lpstr>
      <vt:lpstr>Web App</vt:lpstr>
      <vt:lpstr>Progressive Web App (PWA)</vt:lpstr>
      <vt:lpstr>Cross Platform Apps</vt:lpstr>
      <vt:lpstr>Native Apps</vt:lpstr>
      <vt:lpstr>PowerPoint Presentation</vt:lpstr>
      <vt:lpstr>Server Side Rendering (SSR)</vt:lpstr>
      <vt:lpstr>Static Site Generation (SSG)</vt:lpstr>
      <vt:lpstr>Client Side Rendering (CSR)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Stefan Dinu Rusu | Tazz, IT</dc:creator>
  <cp:lastModifiedBy>Stefan Dinu Rusu | Tazz, IT</cp:lastModifiedBy>
  <cp:revision>13</cp:revision>
  <dcterms:created xsi:type="dcterms:W3CDTF">2025-09-15T16:44:45Z</dcterms:created>
  <dcterms:modified xsi:type="dcterms:W3CDTF">2026-03-03T15:57:31Z</dcterms:modified>
</cp:coreProperties>
</file>