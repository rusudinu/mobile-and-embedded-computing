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how many have ever opened DevTools. Usually very few; that is the gap this section closes. Hot reload vs hot restart is a common source of 'my change didn't apply'.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step the labs never spell out: Lab 4 asks students to use DevTools but never says how to launch or attach it. Demo it live: run the app, copy the URL, open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from older versions of this deck: the 16 ms budget is only true at 60 Hz. State it as one frame budget = 1/refresh rate. Also stress that debug-mode timings are meaningless: JIT, no optimization, assertions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old version of this slide claimed Flutter builds a widget tree each frame. It does not. Widgets are rebuilt; Elements are reused; RenderObjects are mutated in place. That asymmetry is where the performance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Pedantic but worth saying aloud: the mutation is what matters, setState only schedules the rebuild; an empty setState body still works. Doing the mutation inside the callback is the convention that keeps the two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demo: a list of stateful tiles with no keys. Type into one, delete the row above it, and the text jumps. Then add ValueKey and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corrections from the old deck. (1) 'StatelessWidget builds once' is wrong: it rebuilds with its parent. (2) 'Buttons' was listed as the canonical StatefulWidget; it is not. A button renders a label and fires a callback. Material's InkWell does keep State, but only for the ripple animation, not for your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updateShouldNotify is the whole trick: only the contexts that depended on this scope rebuild, and only when the value actually differs. Provider is a thin, ergonomic wrapper around exactly this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previous deck's code comment said the opposite of its own prose. Get it right out loud: WITHOUT value equality the UI rebuilds when it should not; with in-place mutation it fails to rebuild when it should. Both are fixed by immutable, value-equal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inu/dev/upb/mobile-and-embedded-computing/slides/assets/icons2/clou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3572" y="1600200"/>
            <a:ext cx="384048" cy="384048"/>
          </a:xfrm>
          <a:prstGeom prst="rect">
            <a:avLst/>
          </a:prstGeom>
        </p:spPr>
      </p:pic>
      <p:pic>
        <p:nvPicPr>
          <p:cNvPr id="3" name="Image 1" descr="/Users/dinu/dev/upb/mobile-and-embedded-computing/slides/assets/icons2/laptop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24" y="1600200"/>
            <a:ext cx="384048" cy="384048"/>
          </a:xfrm>
          <a:prstGeom prst="rect">
            <a:avLst/>
          </a:prstGeom>
        </p:spPr>
      </p:pic>
      <p:pic>
        <p:nvPicPr>
          <p:cNvPr id="4" name="Image 2" descr="/Users/dinu/dev/upb/mobile-and-embedded-computing/slides/assets/icons2/smartphon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1600200"/>
            <a:ext cx="384048" cy="384048"/>
          </a:xfrm>
          <a:prstGeom prst="rect">
            <a:avLst/>
          </a:prstGeom>
        </p:spPr>
      </p:pic>
      <p:pic>
        <p:nvPicPr>
          <p:cNvPr id="5" name="Image 3" descr="/Users/dinu/dev/upb/mobile-and-embedded-computing/slides/assets/icons2/watch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1600200"/>
            <a:ext cx="384048" cy="384048"/>
          </a:xfrm>
          <a:prstGeom prst="rect">
            <a:avLst/>
          </a:prstGeom>
        </p:spPr>
      </p:pic>
      <p:pic>
        <p:nvPicPr>
          <p:cNvPr id="6" name="Image 4" descr="/Users/dinu/dev/upb/mobile-and-embedded-computing/slides/assets/icons2/boar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1600200"/>
            <a:ext cx="384048" cy="384048"/>
          </a:xfrm>
          <a:prstGeom prst="rect">
            <a:avLst/>
          </a:prstGeom>
        </p:spPr>
      </p:pic>
      <p:pic>
        <p:nvPicPr>
          <p:cNvPr id="7" name="Image 5" descr="/Users/dinu/dev/upb/mobile-and-embedded-computing/slides/assets/icons2/cpu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332" y="1600200"/>
            <a:ext cx="384048" cy="38404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31520" y="260604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Management, Part 1</a:t>
            </a:r>
            <a:endParaRPr lang="en-US" sz="4600" dirty="0"/>
          </a:p>
        </p:txBody>
      </p:sp>
      <p:sp>
        <p:nvSpPr>
          <p:cNvPr id="9" name="Text 1"/>
          <p:cNvSpPr/>
          <p:nvPr/>
        </p:nvSpPr>
        <p:spPr>
          <a:xfrm>
            <a:off x="731520" y="361188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4: debugging, Stateless vs Stateful, introducing state management</a:t>
            </a:r>
            <a:endParaRPr lang="en-US" sz="1700" dirty="0"/>
          </a:p>
        </p:txBody>
      </p:sp>
      <p:sp>
        <p:nvSpPr>
          <p:cNvPr id="10" name="Text 2"/>
          <p:cNvSpPr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Dinu-Ștefan Rusu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teaching this course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Dinu-Ștefan Rusu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dinu_stefan.rusu@upb.ro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Teams course channel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rusudinu.com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7512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67512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apps shipped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400k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32688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installs across them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05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Appeared in, spoken at &amp; partnered with</a:t>
            </a:r>
            <a:endParaRPr lang="en-US" sz="1100" dirty="0"/>
          </a:p>
        </p:txBody>
      </p:sp>
      <p:pic>
        <p:nvPicPr>
          <p:cNvPr id="13" name="Image 0" descr="/Users/dinu/dev/upb/mobile-and-embedded-computing/slides/assets/logo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32477"/>
            <a:ext cx="1047902" cy="319126"/>
          </a:xfrm>
          <a:prstGeom prst="rect">
            <a:avLst/>
          </a:prstGeom>
        </p:spPr>
      </p:pic>
      <p:pic>
        <p:nvPicPr>
          <p:cNvPr id="14" name="Image 1" descr="/Users/dinu/dev/upb/mobile-and-embedded-computing/slides/assets/logo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63" y="4675327"/>
            <a:ext cx="770839" cy="433426"/>
          </a:xfrm>
          <a:prstGeom prst="rect">
            <a:avLst/>
          </a:prstGeom>
        </p:spPr>
      </p:pic>
      <p:pic>
        <p:nvPicPr>
          <p:cNvPr id="15" name="Image 2" descr="/Users/dinu/dev/upb/mobile-and-embedded-computing/slides/assets/logos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503" y="4715104"/>
            <a:ext cx="945490" cy="353873"/>
          </a:xfrm>
          <a:prstGeom prst="rect">
            <a:avLst/>
          </a:prstGeom>
        </p:spPr>
      </p:pic>
      <p:pic>
        <p:nvPicPr>
          <p:cNvPr id="16" name="Image 3" descr="/Users/dinu/dev/upb/mobile-and-embedded-computing/slides/assets/logos/imag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894" y="4716932"/>
            <a:ext cx="1313078" cy="350215"/>
          </a:xfrm>
          <a:prstGeom prst="rect">
            <a:avLst/>
          </a:prstGeom>
        </p:spPr>
      </p:pic>
      <p:pic>
        <p:nvPicPr>
          <p:cNvPr id="17" name="Image 4" descr="/Users/dinu/dev/upb/mobile-and-embedded-computing/slides/assets/logos/image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873" y="4626864"/>
            <a:ext cx="611734" cy="530352"/>
          </a:xfrm>
          <a:prstGeom prst="rect">
            <a:avLst/>
          </a:prstGeom>
        </p:spPr>
      </p:pic>
      <p:pic>
        <p:nvPicPr>
          <p:cNvPr id="18" name="Image 5" descr="/Users/dinu/dev/upb/mobile-and-embedded-computing/slides/assets/logos/image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6508" y="4626864"/>
            <a:ext cx="846734" cy="530352"/>
          </a:xfrm>
          <a:prstGeom prst="rect">
            <a:avLst/>
          </a:prstGeom>
        </p:spPr>
      </p:pic>
      <p:pic>
        <p:nvPicPr>
          <p:cNvPr id="19" name="Image 6" descr="/Users/dinu/dev/upb/mobile-and-embedded-computing/slides/assets/logos/image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8143" y="4767682"/>
            <a:ext cx="1691640" cy="248717"/>
          </a:xfrm>
          <a:prstGeom prst="rect">
            <a:avLst/>
          </a:prstGeom>
        </p:spPr>
      </p:pic>
      <p:pic>
        <p:nvPicPr>
          <p:cNvPr id="20" name="Image 7" descr="/Users/dinu/dev/upb/mobile-and-embedded-computing/slides/assets/logos/image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4684" y="4717847"/>
            <a:ext cx="1321308" cy="3483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should leave with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bug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on purpose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09160" y="18288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and attach DevTools, read the inspector, set breakpoints and step through Dart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432304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9" name="Image 1" descr="/Users/dinu/dev/upb/mobile-and-embedded-computing/slides/assets/icons2/layers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8775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trees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09160" y="254203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Widget, Element and RenderObject, and what setState actually triggers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145536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3" name="Image 2" descr="/Users/dinu/dev/upb/mobile-and-embedded-computing/slides/assets/icons2/toggle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009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2552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vs Stateful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09160" y="325526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widget really needs a State object, and when it genuinely does not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858768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7" name="Image 3" descr="/Users/dinu/dev/upb/mobile-and-embedded-computing/slides/assets/icons2/share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1421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9684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state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09160" y="396849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Lifting state up, InheritedWidget, and why value equality decides rebuilds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DEBUGGING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what your app is actually doing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DevTools, breakpoints, and useful logging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debugging toolbox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refresh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reload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8620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Injects changed source into the running VM and rebuilds. State objects survive.</a:t>
            </a:r>
            <a:endParaRPr lang="en-US" sz="1150" dirty="0"/>
          </a:p>
        </p:txBody>
      </p:sp>
      <p:pic>
        <p:nvPicPr>
          <p:cNvPr id="8" name="Image 1" descr="/Users/dinu/dev/upb/mobile-and-embedded-computing/slides/assets/icons2/power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7452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restart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63440" y="28620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Rebuilds from scratch and drops all state. Use it whenever initState or a global changed.</a:t>
            </a:r>
            <a:endParaRPr lang="en-US" sz="1150" dirty="0"/>
          </a:p>
        </p:txBody>
      </p:sp>
      <p:pic>
        <p:nvPicPr>
          <p:cNvPr id="11" name="Image 2" descr="/Users/dinu/dev/upb/mobile-and-embedded-computing/slides/assets/icons2/terminal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7452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392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debugPrint &amp; assert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503920" y="28620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always available, and compiled out of release builds entirely.</a:t>
            </a:r>
            <a:endParaRPr lang="en-US" sz="1150" dirty="0"/>
          </a:p>
        </p:txBody>
      </p:sp>
      <p:pic>
        <p:nvPicPr>
          <p:cNvPr id="14" name="Image 3" descr="/Users/dinu/dev/upb/mobile-and-embedded-computing/slides/assets/icons2/pause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2336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4553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822960" y="50109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on a line, inspect every variable in scope, step through the frame.</a:t>
            </a:r>
            <a:endParaRPr lang="en-US" sz="1150" dirty="0"/>
          </a:p>
        </p:txBody>
      </p:sp>
      <p:pic>
        <p:nvPicPr>
          <p:cNvPr id="17" name="Image 4" descr="/Users/dinu/dev/upb/mobile-and-embedded-computing/slides/assets/icons2/gauge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02336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63440" y="4553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4663440" y="50109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Inspector, performance, CPU, memory, network: a browser tab attached to your app.</a:t>
            </a:r>
            <a:endParaRPr lang="en-US" sz="1150" dirty="0"/>
          </a:p>
        </p:txBody>
      </p:sp>
      <p:pic>
        <p:nvPicPr>
          <p:cNvPr id="20" name="Image 5" descr="/Users/dinu/dev/upb/mobile-and-embedded-computing/slides/assets/icons2/circlealert-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023360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503920" y="4553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8503920" y="50109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Flutter's exception boxes name the widget and the constraint that failed.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print, debugPrint, and assert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766560" cy="3063240"/>
          </a:xfrm>
          <a:prstGeom prst="roundRect">
            <a:avLst>
              <a:gd name="adj" fmla="val 3582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035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print('value: $x');       // logcat truncates long lines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debugPrint('value: $x');  // throttled, nothing is dropped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assert(count &gt;= 0, 'count negative: $count');  // debug only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(kDebugMode) debugPrint(jsonEncode(payload));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Three switches worth memorizing: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debugDumpApp();                        // widget tree, as text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debugDumpRenderTree();                 // sizes + constraints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debugPrintRebuildDirtyWidgets = true;  // logs every rebuild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just print?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22402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Android's logcat silently drops lines beyond a length limit. debugPrint throttles output so nothing disappears.</a:t>
            </a:r>
            <a:endParaRPr lang="en-US" sz="11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 takes a message. Use it for invariants you want to hear about in the lab and never in production.</a:t>
            </a:r>
            <a:endParaRPr lang="en-US" sz="11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debugPrintRebuildDirtyWidgets is the print that matters today: it names every widget that rebuilt, in build order.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44068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is a primary debugging tool.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is the only tool that works identically on a simulator, a real phone and a colleague's machine.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Launching and attaching DevTools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10543032" cy="3657600"/>
          </a:xfrm>
          <a:prstGeom prst="roundRect">
            <a:avLst>
              <a:gd name="adj" fmla="val 3000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981151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in debug mode; the console prints the DevTools URL.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run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Flutter DevTools debugger and profiler is available at: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http://127.0.0.1:9100?uri=http://127.0.0.1:53412/AbCdEfGh=/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Already running? Launch DevTools and paste that VM Service URI: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devtools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the IDE, skip all of it: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VS Code         Cmd/Ctrl+Shift+P  -&gt;  "Dart: Open DevTools"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Android Studio  the "Flutter Inspector" tool window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8064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the tools before you need them.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Performance work needs flutter run --profile: debug builds are JIT and assertion-heavy, so their timings mean nothing.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DevTools tab is for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layers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8620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widget tree, the selected widget's properties, and the Layout Explorer for Row/Column overflow.</a:t>
            </a:r>
            <a:endParaRPr lang="en-US" sz="1150" dirty="0"/>
          </a:p>
        </p:txBody>
      </p:sp>
      <p:pic>
        <p:nvPicPr>
          <p:cNvPr id="8" name="Image 1" descr="/Users/dinu/dev/upb/mobile-and-embedded-computing/slides/assets/icons2/gauge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7452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4663440" y="28620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timeline, UI vs raster thread, and exactly which frames blew the budget.</a:t>
            </a:r>
            <a:endParaRPr lang="en-US" sz="1150" dirty="0"/>
          </a:p>
        </p:txBody>
      </p:sp>
      <p:pic>
        <p:nvPicPr>
          <p:cNvPr id="11" name="Image 2" descr="/Users/dinu/dev/upb/mobile-and-embedded-computing/slides/assets/icons2/activity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7452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3920" y="240487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Profiler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503920" y="286207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Dart time actually goes: a flame chart of your own functions.</a:t>
            </a:r>
            <a:endParaRPr lang="en-US" sz="1150" dirty="0"/>
          </a:p>
        </p:txBody>
      </p:sp>
      <p:pic>
        <p:nvPicPr>
          <p:cNvPr id="14" name="Image 3" descr="/Users/dinu/dev/upb/mobile-and-embedded-computing/slides/assets/icons2/memory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2336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4553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822960" y="50109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Heap snapshots and allocation tracking. This is how you find the controller you forgot to dispose.</a:t>
            </a:r>
            <a:endParaRPr lang="en-US" sz="1150" dirty="0"/>
          </a:p>
        </p:txBody>
      </p:sp>
      <p:pic>
        <p:nvPicPr>
          <p:cNvPr id="17" name="Image 4" descr="/Users/dinu/dev/upb/mobile-and-embedded-computing/slides/assets/icons2/network-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023360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63440" y="4553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4663440" y="50109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and WebSocket traffic, request by request. We come back to this in Lecture 6.</a:t>
            </a:r>
            <a:endParaRPr lang="en-US" sz="1150" dirty="0"/>
          </a:p>
        </p:txBody>
      </p:sp>
      <p:pic>
        <p:nvPicPr>
          <p:cNvPr id="20" name="Image 5" descr="/Users/dinu/dev/upb/mobile-and-embedded-computing/slides/assets/icons2/filetext-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023360"/>
            <a:ext cx="384048" cy="384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503920" y="4553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450" dirty="0"/>
          </a:p>
        </p:txBody>
      </p:sp>
      <p:sp>
        <p:nvSpPr>
          <p:cNvPr id="22" name="Text 14"/>
          <p:cNvSpPr/>
          <p:nvPr/>
        </p:nvSpPr>
        <p:spPr>
          <a:xfrm>
            <a:off x="8503920" y="501091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console stream, plus structured events and timeline entries.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Widget Inspector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492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Widget Mode: tap a pixel on the running device and the inspector jumps to that widget, and your IDE jumps to the source line that built it.</a:t>
            </a:r>
            <a:endParaRPr lang="en-US" sz="13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Layout Explorer shows flex factors and incoming constraints. It is where you find the cause of a RenderFlex overflow, the yellow-and-black stripes.</a:t>
            </a:r>
            <a:endParaRPr lang="en-US" sz="13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widget rebuilds counts how many times each widget rebuilt. That count is the measurement this lecture is about.</a:t>
            </a:r>
            <a:endParaRPr lang="en-US" sz="13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repaints wraps every layer in a rotating color. Anything flashing constantly is repainting when it should not be.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80960" y="1783080"/>
            <a:ext cx="3840480" cy="3017520"/>
          </a:xfrm>
          <a:prstGeom prst="roundRect">
            <a:avLst>
              <a:gd name="adj" fmla="val 3636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 in the lab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0" y="24231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Run your todo app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Open the Inspector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Turn on Track widget rebuilds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Type one character into a text field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 Count what rebuilt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492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reason about rebuilds from the source alone.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inspector shows you the ones that actually happen.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Frames, jank, and the performance overlay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at 60 Hz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frame budget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37304" y="18288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337304" y="288036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at 120 Hz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337304" y="338328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2026 phones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51648" y="1828800"/>
            <a:ext cx="3240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851648" y="2880360"/>
            <a:ext cx="3240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 to watch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51648" y="3383280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(Dart) and raster (Impeller)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06240"/>
            <a:ext cx="105430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performance overlay draws two bar charts: the UI thread, which runs your Dart build and layout, and the raster thread, where Impeller turns the layer tree into GPU commands. A bar that crosses the line is a dropped frame.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fixed 16 ms rule. One frame budget is 1 ÷ refresh rate, and most phones you will be graded on are 90–120 Hz.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usual causes sit squarely in this lecture: setState called too high in the tree, expensive work inside build(), and missing const.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Breakpoints and stepping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gutter in VS Code or Android Studio to set a breakpoint, then start the app with the debugger attached; plain flutter run in a terminal has no debugger.</a:t>
            </a:r>
            <a:endParaRPr lang="en-US" sz="13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Right-click a breakpoint to make it conditional: todo.id == 42. That is more precise than a print inside a loop.</a:t>
            </a:r>
            <a:endParaRPr lang="en-US" sz="13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debugger() from dart:developer breaks from code, which is useful inside a callback you cannot click on.</a:t>
            </a:r>
            <a:endParaRPr lang="en-US" sz="13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paused you can hover any variable, edit it in the Variables pane, and evaluate arbitrary Dart in the console.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0" y="18105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over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21122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this line. Do not descend into the calls on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0" y="2651760"/>
            <a:ext cx="402336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27797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into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30815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Descend into the call on this line.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0" y="3621024"/>
            <a:ext cx="402336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3749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0" y="40507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this function, stop back at the caller.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0" y="4590288"/>
            <a:ext cx="402336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47183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0" y="50200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until the next breakpoint, or until the app exits.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539496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6235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reload keeps your State objects; hot restart throws them away.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a change does not appear, that is nearly always the reason.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changes, and who owns 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trees, setState, and why StatelessWidget does not “build once”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counts as state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11680"/>
          <a:ext cx="1054303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585716"/>
                <a:gridCol w="458571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Ephemeral: UI 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App: shared 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Lives 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widget's State object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above every widget that reads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Looks like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checkbox tick, a page index, an animation, text being typed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signed-in user, theme mode, the cart, a cached feed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Disposed when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widget leaves the 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never, ideally: it outlives navigation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lift it up, then a shared holder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21208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44068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state is ephemeral.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setState in one widget is enough, that is the correct answer, not a beginner's answer.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 are immutable blueprints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492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widget is a description of a piece of UI, not the UI itself. Once constructed, its fields never change.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the screen means constructing a new description, never editing the old one.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what makes the framework's job cheap: comparing two immutable descriptions is fast, and whole subtrees can be skipped.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goes further. The compiler canonicalizes a const widget, so the identical instance comes back every build, and the framework can prove nothing changed.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680960" y="1828800"/>
            <a:ext cx="3840480" cy="2331720"/>
          </a:xfrm>
          <a:prstGeom prst="roundRect">
            <a:avLst>
              <a:gd name="adj" fmla="val 4706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2103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Text('Target °C')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01000" y="24323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instance every 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01000" y="2880360"/>
            <a:ext cx="320040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31272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Text('Target °C')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1000" y="3456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instance every build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5120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492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Immutability is what makes rebuilding cheap.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trees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Flutter app maintains three parallel trees. Almost every rebuild question is answered by knowing which one you are talking about.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624328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configuration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and thrown away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build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cheap, just a description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215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write this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3200400" cy="2194560"/>
          </a:xfrm>
          <a:prstGeom prst="roundRect">
            <a:avLst>
              <a:gd name="adj" fmla="val 3750"/>
            </a:avLst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2624328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position in the tree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your State object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decides: reuse this,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rebuild 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4215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owns this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20040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RenderObject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2624328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layout, paint, hit-testing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to create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mutated in place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whenever possible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4215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pixels come from this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41648" y="2971800"/>
            <a:ext cx="365760" cy="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53528" y="2971800"/>
            <a:ext cx="365760" cy="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502920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578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build the left tree.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middle tree decides how little of the right tree has to change.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setState actually does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does not rebuild the widget tree every frame.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setState marks exactly one Element dirty and asks for a frame. On that frame, build() runs on the dirty subtrees, and on nothing else.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Sibling subtrees are never visited. Their Elements, State objects and RenderObjects are left completely untouched.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cost of a setState is the size of the subtree beneath it. Push it as far down the tree as you can.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406640" y="1783080"/>
            <a:ext cx="4114800" cy="658368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0" y="17830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setState(() { … })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mutate State fields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464040" y="2441448"/>
            <a:ext cx="0" cy="237744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06640" y="2679192"/>
            <a:ext cx="4114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267919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markNeedsBuild()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Element is now dirty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464040" y="3337560"/>
            <a:ext cx="0" cy="237744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06640" y="3575304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357530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frame: build()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 subtrees only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464040" y="4233672"/>
            <a:ext cx="0" cy="237744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4471416"/>
            <a:ext cx="41148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447141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children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runtimeType, then key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464040" y="5129784"/>
            <a:ext cx="0" cy="237744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5367528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536752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&amp; paint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actually changed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4937760"/>
            <a:ext cx="612648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663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dirty subtrees rebuild.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is the core of the performance model.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is decided by runtimeType, then key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parent rebuilds, each Element compares its old widget with the new one at the same position.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43032" cy="3931920"/>
          </a:xfrm>
          <a:prstGeom prst="roundRect">
            <a:avLst>
              <a:gd name="adj" fmla="val 2791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103120"/>
            <a:ext cx="9811512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Same runtimeType AND same key  -&gt;  Element and State are reused.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Different runtimeType or key   -&gt;  old subtree is disposed, new one built.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ListView(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children: [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(final todo in todos)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TodoTile(key: ValueKey(todo.id), todo: todo),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Without the key, Flutter matches children by POSITION.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 the first todo and the second row inherits the first row's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State: its scroll offset, its half-typed text, its animation.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vs Stateful, precisely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4303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39996"/>
                <a:gridCol w="453999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StatelessWidget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StatefulWidget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Mutable 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of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separate, long-lived State object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build() runs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insert, and on every parent rebuild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of that, plus on every setState()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 hooks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initState · didUpdateWidget · dispose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Genuinely fits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label, an icon, a button that only calls a callback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text field, an animation, a timer or stream subscription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48920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51206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StatelessWidget does not “build once”.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rebuilds whenever its parent does; it simply holds no mutable state of its own. And a button is usually stateless: the state lives in whatever its callback changes.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State object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766560" cy="4434840"/>
          </a:xfrm>
          <a:prstGeom prst="roundRect">
            <a:avLst>
              <a:gd name="adj" fmla="val 2474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_CounterFieldState extends State&lt;CounterField&gt; {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Fields here survive rebuilds. The widget object does not.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_controller = TextEditingController();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_count = 0;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dispose() {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_controller.dispose();      // release what you created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super.dispose();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_increment() =&gt; setState(() =&gt; _count++);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=&gt; Text('$_count');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worth following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0" y="2240280"/>
            <a:ext cx="3657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lives in the State class, never on the widget. Widget fields are re-created on every rebuild.</a:t>
            </a:r>
            <a:endParaRPr lang="en-US" sz="11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widget's fields through widget.something; the framework refreshes that reference for you.</a:t>
            </a:r>
            <a:endParaRPr lang="en-US" sz="11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you create (controllers, timers, stream subscriptions) you dispose.</a:t>
            </a:r>
            <a:endParaRPr lang="en-US" sz="11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call setState from build(), and never after dispose(): check mounted after an await.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146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widget is not enough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Lifting state up · InheritedWidget · value equality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Lifting state 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965960" y="2011680"/>
            <a:ext cx="2743200" cy="731520"/>
          </a:xfrm>
          <a:prstGeom prst="roundRect">
            <a:avLst>
              <a:gd name="adj" fmla="val 11250"/>
            </a:avLst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196596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</a:t>
            </a:r>
            <a:endParaRPr lang="en-US" sz="13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 double target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37560" y="2743200"/>
            <a:ext cx="0" cy="27432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65960" y="3017520"/>
            <a:ext cx="274320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3017520"/>
            <a:ext cx="0" cy="32004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09160" y="3017520"/>
            <a:ext cx="0" cy="320040"/>
          </a:xfrm>
          <a:prstGeom prst="line">
            <a:avLst/>
          </a:prstGeom>
          <a:noFill/>
          <a:ln w="15875">
            <a:solidFill>
              <a:srgbClr val="8686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333756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onChanged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66160" y="333756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3337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TargetChart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target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up   ·   data down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0" y="182880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3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widgets need the same value, so it moves to their nearest common ancestor. Data flows down as constructor arguments; events flow back up as callbacks.</a:t>
            </a:r>
            <a:endParaRPr lang="en-US" sz="12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children stay reusable and know nothing about each other.</a:t>
            </a:r>
            <a:endParaRPr lang="en-US" sz="12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2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too far and you get prop drilling: a value threaded through five widgets that do not care about it, just to reach the sixth.</a:t>
            </a:r>
            <a:endParaRPr lang="en-US" sz="125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2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precisely the problem the next slide solves.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029200"/>
            <a:ext cx="539496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2578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Lifting state up is the default answer.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Reach for a package only when the drilling becomes a real problem.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InheritedWidget: what Provider is built 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value above the widgets that need it, and let them look it up directly instead of receiving it hand to hand.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43032" cy="4160520"/>
          </a:xfrm>
          <a:prstGeom prst="roundRect">
            <a:avLst>
              <a:gd name="adj" fmla="val 2637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103120"/>
            <a:ext cx="981151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TargetScope extends InheritedWidget {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TargetScope({super.key, required this.target, required super.child});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double target;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O(1) lookup, and it subscribes this context to future changes.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double of(BuildContext context) =&gt;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context.dependOnInheritedWidgetOfExactType&lt;TargetScope&gt;()!.target;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updateShouldNotify(TargetScope old) =&gt; old.target != target;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Anywhere below it in the tree, with no constructor plumbing: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Text('${TargetScope.of(context)} °C');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equality: why Equatable exists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400800" cy="4114800"/>
          </a:xfrm>
          <a:prstGeom prst="roundRect">
            <a:avLst>
              <a:gd name="adj" fmla="val 2667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5669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CounterState extends Equatable {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CounterState({required this.count, required this.status});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int count;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LoadStatus status;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== and hashCode are generated from exactly this list.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List&lt;Object?&gt; get props =&gt; [count, status];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CounterState(count: 1, status: LoadStatus.ready);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 = CounterState(count: 1, status: LoadStatus.ready);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== b;   // true  with Equatable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// false without it: Dart's default == is identity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0" y="1810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0" y="2240280"/>
            <a:ext cx="4023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state consumer asks one question: is this state different from the last one?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equality answers “yes” every time. Two structurally identical objects are still two objects, so the UI rebuilds when nothing changed.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mirror failure: mutate a state object in place and re-emit the same instance, and identity answers “no”, so the UI does not rebuild even though the data did change.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Hence the rule: state classes are immutable and compared by value.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field, add it to props. Forgetting is the classic bug.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smallest tool that works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430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61718"/>
                <a:gridCol w="1861718"/>
                <a:gridCol w="1861718"/>
                <a:gridCol w="1861718"/>
                <a:gridCol w="186171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setState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Lifting 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InheritedWidget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 / Riverpod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 / Cubit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widget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few siblings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subtree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whole app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whole app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Mechanism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 dirty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callbacks 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lookup + notify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wraps Inherited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 to states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Costs you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 drilling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boilerplate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dependency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dependency + a pattern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86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this course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only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project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2D2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61772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is a thin, ergonomic wrapper around InheritedWidget. Riverpod is its successor: the same idea without needing a BuildContext, and checked at compile time. BLoC turns state into a stream of states driven by a stream of events.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name all three so you recognize them in a code review. Do not adopt a package you cannot explain.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553212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7607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Part 1.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setState, lifting up and InheritedWidget carry most screens. The last column, BLoC and Cubit, is what the graded project asks for: the same ideas, expressed as events in and states out.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week</a:t>
            </a:r>
            <a:endParaRPr lang="en-US" sz="3000" dirty="0"/>
          </a:p>
        </p:txBody>
      </p:sp>
      <p:pic>
        <p:nvPicPr>
          <p:cNvPr id="3" name="Image 0" descr="/Users/dinu/dev/upb/mobile-and-embedded-computing/slides/assets/icons2/checklis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first: look at what the app is doing before changing it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trees: you rebuild widgets, the framework reuses Elements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dirty subtrees rebuild; reuse is runtimeType, then key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setState for ephemeral state, lift it up when siblings share it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equality decides whether the UI rebuilds at all</a:t>
            </a:r>
            <a:endParaRPr lang="en-US" sz="1250" dirty="0"/>
          </a:p>
        </p:txBody>
      </p:sp>
      <p:pic>
        <p:nvPicPr>
          <p:cNvPr id="6" name="Image 1" descr="/Users/dinu/dev/upb/mobile-and-embedded-computing/slides/assets/icons2/calenda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38912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your lab app under DevTools and attach it from the printed URL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Track widget rebuilds; find one rebuild you did not expect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ValueKey to a list of stateful tiles and watch the behavior change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one model class extend Equatable and write a == test for it</a:t>
            </a:r>
            <a:endParaRPr lang="en-US" sz="1250" dirty="0"/>
          </a:p>
        </p:txBody>
      </p:sp>
      <p:pic>
        <p:nvPicPr>
          <p:cNvPr id="9" name="Image 2" descr="/Users/dinu/dev/upb/mobile-and-embedded-computing/slides/assets/icons2/bookope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78308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795528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docs.flutter.dev/tools/devtools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docs.flutter.dev/data-and-backend/state-mgmt/intro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api.flutter.dev: InheritedWidget, State, Key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pub.dev/packages/equatable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and Embedded Computing, Lecture 4</dc:title>
  <dc:subject>PptxGenJS Presentation</dc:subject>
  <dc:creator>Dinu-Ștefan Rusu</dc:creator>
  <cp:lastModifiedBy>Dinu-Ștefan Rusu</cp:lastModifiedBy>
  <cp:revision>1</cp:revision>
  <dcterms:created xsi:type="dcterms:W3CDTF">2026-08-08T15:40:13Z</dcterms:created>
  <dcterms:modified xsi:type="dcterms:W3CDTF">2026-08-08T15:40:13Z</dcterms:modified>
</cp:coreProperties>
</file>