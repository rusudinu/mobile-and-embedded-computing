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the room on this: 'request.auth != null' is authentication. It says nothing at all about authorization. We come back to exactly that rule later in this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switch expression is Dart 3 syntax. Point out that the failure type you throw is your own. Never let a FirebaseAuthException reach the widget layer, because e.message is written for developers, not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replaces the old p9 table, which listed a distinct user-facing message per error code. That is an account-enumeration vulnerability taught as good practice, in a security lecture. If a student objects that the generic message is worse UX: yes, marginally, and that is the accepted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deck's diagram showed a server-side Cloud Functions flow while the body text described client-side google_sign_in, and the heading said 'two-step' above four steps. This is the client-side flow, in five steps, and it matches the code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deck illustrated this slide with a screenshot of a Firestore document containing Password: 'qwerty'. That image modeled precisely the anti-pattern the lecture is warning against, so it is gone. Say out loud why: students copy screenshots, not prose.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in the old deck was allow create: if request.auth != null, which is a real, exploitable hole. Demo it in the Rules Playground: authenticate as uid A, write to /users/B, watch it succeed.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Enforcing before old app versions have drained is the classic outage: every user on a build without activate() is locked out at once. The metrics page exists precisely so you can time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Users/dinu/dev/upb/mobile-and-embedded-computing/slides/assets/icons2/cloud-white.png">    </p:cNvPr>
          <p:cNvPicPr>
            <a:picLocks noChangeAspect="1"/>
          </p:cNvPicPr>
          <p:nvPr/>
        </p:nvPicPr>
        <p:blipFill>
          <a:blip r:embed="rId1"/>
          <a:stretch>
            <a:fillRect/>
          </a:stretch>
        </p:blipFill>
        <p:spPr>
          <a:xfrm>
            <a:off x="3433572" y="1600200"/>
            <a:ext cx="384048" cy="384048"/>
          </a:xfrm>
          <a:prstGeom prst="rect">
            <a:avLst/>
          </a:prstGeom>
        </p:spPr>
      </p:pic>
      <p:pic>
        <p:nvPicPr>
          <p:cNvPr id="3" name="Image 1" descr="/Users/dinu/dev/upb/mobile-and-embedded-computing/slides/assets/icons2/laptop-white.png">    </p:cNvPr>
          <p:cNvPicPr>
            <a:picLocks noChangeAspect="1"/>
          </p:cNvPicPr>
          <p:nvPr/>
        </p:nvPicPr>
        <p:blipFill>
          <a:blip r:embed="rId2"/>
          <a:stretch>
            <a:fillRect/>
          </a:stretch>
        </p:blipFill>
        <p:spPr>
          <a:xfrm>
            <a:off x="4421124" y="1600200"/>
            <a:ext cx="384048" cy="384048"/>
          </a:xfrm>
          <a:prstGeom prst="rect">
            <a:avLst/>
          </a:prstGeom>
        </p:spPr>
      </p:pic>
      <p:pic>
        <p:nvPicPr>
          <p:cNvPr id="4" name="Image 2" descr="/Users/dinu/dev/upb/mobile-and-embedded-computing/slides/assets/icons2/smartphone-white.png">    </p:cNvPr>
          <p:cNvPicPr>
            <a:picLocks noChangeAspect="1"/>
          </p:cNvPicPr>
          <p:nvPr/>
        </p:nvPicPr>
        <p:blipFill>
          <a:blip r:embed="rId3"/>
          <a:stretch>
            <a:fillRect/>
          </a:stretch>
        </p:blipFill>
        <p:spPr>
          <a:xfrm>
            <a:off x="5408676" y="1600200"/>
            <a:ext cx="384048" cy="384048"/>
          </a:xfrm>
          <a:prstGeom prst="rect">
            <a:avLst/>
          </a:prstGeom>
        </p:spPr>
      </p:pic>
      <p:pic>
        <p:nvPicPr>
          <p:cNvPr id="5" name="Image 3" descr="/Users/dinu/dev/upb/mobile-and-embedded-computing/slides/assets/icons2/watch-white.png">    </p:cNvPr>
          <p:cNvPicPr>
            <a:picLocks noChangeAspect="1"/>
          </p:cNvPicPr>
          <p:nvPr/>
        </p:nvPicPr>
        <p:blipFill>
          <a:blip r:embed="rId4"/>
          <a:stretch>
            <a:fillRect/>
          </a:stretch>
        </p:blipFill>
        <p:spPr>
          <a:xfrm>
            <a:off x="6396228" y="1600200"/>
            <a:ext cx="384048" cy="384048"/>
          </a:xfrm>
          <a:prstGeom prst="rect">
            <a:avLst/>
          </a:prstGeom>
        </p:spPr>
      </p:pic>
      <p:pic>
        <p:nvPicPr>
          <p:cNvPr id="6" name="Image 4" descr="/Users/dinu/dev/upb/mobile-and-embedded-computing/slides/assets/icons2/board-white.png">    </p:cNvPr>
          <p:cNvPicPr>
            <a:picLocks noChangeAspect="1"/>
          </p:cNvPicPr>
          <p:nvPr/>
        </p:nvPicPr>
        <p:blipFill>
          <a:blip r:embed="rId5"/>
          <a:stretch>
            <a:fillRect/>
          </a:stretch>
        </p:blipFill>
        <p:spPr>
          <a:xfrm>
            <a:off x="7383780" y="1600200"/>
            <a:ext cx="384048" cy="384048"/>
          </a:xfrm>
          <a:prstGeom prst="rect">
            <a:avLst/>
          </a:prstGeom>
        </p:spPr>
      </p:pic>
      <p:pic>
        <p:nvPicPr>
          <p:cNvPr id="7" name="Image 5" descr="/Users/dinu/dev/upb/mobile-and-embedded-computing/slides/assets/icons2/cpu-white.png">    </p:cNvPr>
          <p:cNvPicPr>
            <a:picLocks noChangeAspect="1"/>
          </p:cNvPicPr>
          <p:nvPr/>
        </p:nvPicPr>
        <p:blipFill>
          <a:blip r:embed="rId6"/>
          <a:stretch>
            <a:fillRect/>
          </a:stretch>
        </p:blipFill>
        <p:spPr>
          <a:xfrm>
            <a:off x="8371332" y="1600200"/>
            <a:ext cx="384048" cy="384048"/>
          </a:xfrm>
          <a:prstGeom prst="rect">
            <a:avLst/>
          </a:prstGeom>
        </p:spPr>
      </p:pic>
      <p:sp>
        <p:nvSpPr>
          <p:cNvPr id="8" name="Text 0"/>
          <p:cNvSpPr/>
          <p:nvPr/>
        </p:nvSpPr>
        <p:spPr>
          <a:xfrm>
            <a:off x="731520" y="2606040"/>
            <a:ext cx="10725912" cy="868680"/>
          </a:xfrm>
          <a:prstGeom prst="rect">
            <a:avLst/>
          </a:prstGeom>
          <a:noFill/>
          <a:ln/>
        </p:spPr>
        <p:txBody>
          <a:bodyPr wrap="square" lIns="0" tIns="0" rIns="0" bIns="0" rtlCol="0" anchor="ctr"/>
          <a:lstStyle/>
          <a:p>
            <a:pPr algn="ctr" indent="0" marL="0">
              <a:buNone/>
            </a:pPr>
            <a:r>
              <a:rPr lang="en-US" sz="4600" b="1" dirty="0">
                <a:solidFill>
                  <a:srgbClr val="FFFFFF"/>
                </a:solidFill>
                <a:latin typeface="Arial" pitchFamily="34" charset="0"/>
                <a:ea typeface="Arial" pitchFamily="34" charset="-122"/>
                <a:cs typeface="Arial" pitchFamily="34" charset="-120"/>
              </a:rPr>
              <a:t>Authentication</a:t>
            </a:r>
            <a:endParaRPr lang="en-US" sz="4600" dirty="0"/>
          </a:p>
        </p:txBody>
      </p:sp>
      <p:sp>
        <p:nvSpPr>
          <p:cNvPr id="9" name="Text 1"/>
          <p:cNvSpPr/>
          <p:nvPr/>
        </p:nvSpPr>
        <p:spPr>
          <a:xfrm>
            <a:off x="731520" y="3611880"/>
            <a:ext cx="10725912" cy="411480"/>
          </a:xfrm>
          <a:prstGeom prst="rect">
            <a:avLst/>
          </a:prstGeom>
          <a:noFill/>
          <a:ln/>
        </p:spPr>
        <p:txBody>
          <a:bodyPr wrap="square" lIns="0" tIns="0" rIns="0" bIns="0" rtlCol="0" anchor="ctr"/>
          <a:lstStyle/>
          <a:p>
            <a:pPr algn="ctr" indent="0" marL="0">
              <a:buNone/>
            </a:pPr>
            <a:r>
              <a:rPr lang="en-US" sz="1700" dirty="0">
                <a:solidFill>
                  <a:srgbClr val="A1A1A6"/>
                </a:solidFill>
                <a:latin typeface="Arial" pitchFamily="34" charset="0"/>
                <a:ea typeface="Arial" pitchFamily="34" charset="-122"/>
                <a:cs typeface="Arial" pitchFamily="34" charset="-120"/>
              </a:rPr>
              <a:t>Lecture 7: Firebase Auth, OAuth providers, App Check</a:t>
            </a:r>
            <a:endParaRPr lang="en-US" sz="1700" dirty="0"/>
          </a:p>
        </p:txBody>
      </p:sp>
      <p:sp>
        <p:nvSpPr>
          <p:cNvPr id="10" name="Text 2"/>
          <p:cNvSpPr/>
          <p:nvPr/>
        </p:nvSpPr>
        <p:spPr>
          <a:xfrm>
            <a:off x="731520" y="5806440"/>
            <a:ext cx="10725912" cy="365760"/>
          </a:xfrm>
          <a:prstGeom prst="rect">
            <a:avLst/>
          </a:prstGeom>
          <a:noFill/>
          <a:ln/>
        </p:spPr>
        <p:txBody>
          <a:bodyPr wrap="square" lIns="0" tIns="0" rIns="0" bIns="0" rtlCol="0" anchor="ctr"/>
          <a:lstStyle/>
          <a:p>
            <a:pPr algn="ctr" indent="0" marL="0">
              <a:buNone/>
            </a:pPr>
            <a:r>
              <a:rPr lang="en-US" sz="1300" dirty="0">
                <a:solidFill>
                  <a:srgbClr val="6E6E73"/>
                </a:solidFill>
                <a:latin typeface="Arial" pitchFamily="34" charset="0"/>
                <a:ea typeface="Arial" pitchFamily="34" charset="-122"/>
                <a:cs typeface="Arial" pitchFamily="34" charset="-120"/>
              </a:rPr>
              <a:t>Dinu-Ștefan Rusu</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ORIENTATION</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Who's teaching this course</a:t>
            </a:r>
            <a:endParaRPr lang="en-US" sz="3000" dirty="0"/>
          </a:p>
        </p:txBody>
      </p:sp>
      <p:sp>
        <p:nvSpPr>
          <p:cNvPr id="5" name="Text 3"/>
          <p:cNvSpPr/>
          <p:nvPr/>
        </p:nvSpPr>
        <p:spPr>
          <a:xfrm>
            <a:off x="822960" y="1783080"/>
            <a:ext cx="5303520" cy="457200"/>
          </a:xfrm>
          <a:prstGeom prst="rect">
            <a:avLst/>
          </a:prstGeom>
          <a:noFill/>
          <a:ln/>
        </p:spPr>
        <p:txBody>
          <a:bodyPr wrap="square" lIns="0" tIns="0" rIns="0" bIns="0" rtlCol="0" anchor="ctr"/>
          <a:lstStyle/>
          <a:p>
            <a:pPr indent="0" marL="0">
              <a:buNone/>
            </a:pPr>
            <a:r>
              <a:rPr lang="en-US" sz="2200" b="1" dirty="0">
                <a:solidFill>
                  <a:srgbClr val="1D1D1F"/>
                </a:solidFill>
                <a:latin typeface="Arial" pitchFamily="34" charset="0"/>
                <a:ea typeface="Arial" pitchFamily="34" charset="-122"/>
                <a:cs typeface="Arial" pitchFamily="34" charset="-120"/>
              </a:rPr>
              <a:t>Dinu-Ștefan Rusu</a:t>
            </a:r>
            <a:endParaRPr lang="en-US" sz="2200" dirty="0"/>
          </a:p>
        </p:txBody>
      </p:sp>
      <p:sp>
        <p:nvSpPr>
          <p:cNvPr id="6" name="Text 4"/>
          <p:cNvSpPr/>
          <p:nvPr/>
        </p:nvSpPr>
        <p:spPr>
          <a:xfrm>
            <a:off x="822960" y="2331720"/>
            <a:ext cx="5303520" cy="1188720"/>
          </a:xfrm>
          <a:prstGeom prst="rect">
            <a:avLst/>
          </a:prstGeom>
          <a:noFill/>
          <a:ln/>
        </p:spPr>
        <p:txBody>
          <a:bodyPr wrap="square" lIns="0" tIns="0" rIns="0" bIns="0" rtlCol="0" anchor="ctr"/>
          <a:lstStyle/>
          <a:p>
            <a:pPr indent="0" marL="0">
              <a:spcAft>
                <a:spcPts val="600"/>
              </a:spcAft>
              <a:buNone/>
            </a:pPr>
            <a:r>
              <a:rPr lang="en-US" sz="1400" dirty="0">
                <a:solidFill>
                  <a:srgbClr val="86868B"/>
                </a:solidFill>
                <a:latin typeface="Arial" pitchFamily="34" charset="0"/>
                <a:ea typeface="Arial" pitchFamily="34" charset="-122"/>
                <a:cs typeface="Arial" pitchFamily="34" charset="-120"/>
              </a:rPr>
              <a:t>dinu_stefan.rusu@upb.ro</a:t>
            </a:r>
            <a:endParaRPr lang="en-US" sz="1400" dirty="0"/>
          </a:p>
          <a:p>
            <a:pPr indent="0" marL="0">
              <a:spcAft>
                <a:spcPts val="600"/>
              </a:spcAft>
              <a:buNone/>
            </a:pPr>
            <a:r>
              <a:rPr lang="en-US" sz="1400" dirty="0">
                <a:solidFill>
                  <a:srgbClr val="86868B"/>
                </a:solidFill>
                <a:latin typeface="Arial" pitchFamily="34" charset="0"/>
                <a:ea typeface="Arial" pitchFamily="34" charset="-122"/>
                <a:cs typeface="Arial" pitchFamily="34" charset="-120"/>
              </a:rPr>
              <a:t>Microsoft Teams course channel</a:t>
            </a:r>
            <a:endParaRPr lang="en-US" sz="1400" dirty="0"/>
          </a:p>
          <a:p>
            <a:pPr indent="0" marL="0">
              <a:spcAft>
                <a:spcPts val="600"/>
              </a:spcAft>
              <a:buNone/>
            </a:pPr>
            <a:r>
              <a:rPr lang="en-US" sz="1400" dirty="0">
                <a:solidFill>
                  <a:srgbClr val="86868B"/>
                </a:solidFill>
                <a:latin typeface="Arial" pitchFamily="34" charset="0"/>
                <a:ea typeface="Arial" pitchFamily="34" charset="-122"/>
                <a:cs typeface="Arial" pitchFamily="34" charset="-120"/>
              </a:rPr>
              <a:t>rusudinu.com</a:t>
            </a:r>
            <a:endParaRPr lang="en-US" sz="1400" dirty="0"/>
          </a:p>
        </p:txBody>
      </p:sp>
      <p:sp>
        <p:nvSpPr>
          <p:cNvPr id="7" name="Text 5"/>
          <p:cNvSpPr/>
          <p:nvPr/>
        </p:nvSpPr>
        <p:spPr>
          <a:xfrm>
            <a:off x="6675120" y="1600200"/>
            <a:ext cx="2377440" cy="914400"/>
          </a:xfrm>
          <a:prstGeom prst="rect">
            <a:avLst/>
          </a:prstGeom>
          <a:noFill/>
          <a:ln/>
        </p:spPr>
        <p:txBody>
          <a:bodyPr wrap="square" lIns="0" tIns="0" rIns="0" bIns="0" rtlCol="0" anchor="ctr"/>
          <a:lstStyle/>
          <a:p>
            <a:pPr indent="0" marL="0">
              <a:buNone/>
            </a:pPr>
            <a:r>
              <a:rPr lang="en-US" sz="5600" dirty="0">
                <a:solidFill>
                  <a:srgbClr val="1D1D1F"/>
                </a:solidFill>
                <a:latin typeface="Arial" pitchFamily="34" charset="0"/>
                <a:ea typeface="Arial" pitchFamily="34" charset="-122"/>
                <a:cs typeface="Arial" pitchFamily="34" charset="-120"/>
              </a:rPr>
              <a:t>45+</a:t>
            </a:r>
            <a:endParaRPr lang="en-US" sz="5600" dirty="0"/>
          </a:p>
        </p:txBody>
      </p:sp>
      <p:sp>
        <p:nvSpPr>
          <p:cNvPr id="8" name="Text 6"/>
          <p:cNvSpPr/>
          <p:nvPr/>
        </p:nvSpPr>
        <p:spPr>
          <a:xfrm>
            <a:off x="6675120" y="2560320"/>
            <a:ext cx="2377440" cy="32004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Flutter apps shipped</a:t>
            </a:r>
            <a:endParaRPr lang="en-US" sz="1300" dirty="0"/>
          </a:p>
        </p:txBody>
      </p:sp>
      <p:sp>
        <p:nvSpPr>
          <p:cNvPr id="9" name="Text 7"/>
          <p:cNvSpPr/>
          <p:nvPr/>
        </p:nvSpPr>
        <p:spPr>
          <a:xfrm>
            <a:off x="9326880" y="1600200"/>
            <a:ext cx="2377440" cy="914400"/>
          </a:xfrm>
          <a:prstGeom prst="rect">
            <a:avLst/>
          </a:prstGeom>
          <a:noFill/>
          <a:ln/>
        </p:spPr>
        <p:txBody>
          <a:bodyPr wrap="square" lIns="0" tIns="0" rIns="0" bIns="0" rtlCol="0" anchor="ctr"/>
          <a:lstStyle/>
          <a:p>
            <a:pPr indent="0" marL="0">
              <a:buNone/>
            </a:pPr>
            <a:r>
              <a:rPr lang="en-US" sz="5600" dirty="0">
                <a:solidFill>
                  <a:srgbClr val="1D1D1F"/>
                </a:solidFill>
                <a:latin typeface="Arial" pitchFamily="34" charset="0"/>
                <a:ea typeface="Arial" pitchFamily="34" charset="-122"/>
                <a:cs typeface="Arial" pitchFamily="34" charset="-120"/>
              </a:rPr>
              <a:t>400k</a:t>
            </a:r>
            <a:endParaRPr lang="en-US" sz="5600" dirty="0"/>
          </a:p>
        </p:txBody>
      </p:sp>
      <p:sp>
        <p:nvSpPr>
          <p:cNvPr id="10" name="Text 8"/>
          <p:cNvSpPr/>
          <p:nvPr/>
        </p:nvSpPr>
        <p:spPr>
          <a:xfrm>
            <a:off x="9326880" y="2560320"/>
            <a:ext cx="2377440" cy="32004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installs across them</a:t>
            </a:r>
            <a:endParaRPr lang="en-US" sz="1300" dirty="0"/>
          </a:p>
        </p:txBody>
      </p:sp>
      <p:sp>
        <p:nvSpPr>
          <p:cNvPr id="11" name="Shape 9"/>
          <p:cNvSpPr/>
          <p:nvPr/>
        </p:nvSpPr>
        <p:spPr>
          <a:xfrm>
            <a:off x="822960" y="3977640"/>
            <a:ext cx="10543032" cy="0"/>
          </a:xfrm>
          <a:prstGeom prst="line">
            <a:avLst/>
          </a:prstGeom>
          <a:noFill/>
          <a:ln w="9525">
            <a:solidFill>
              <a:srgbClr val="D2D2D7"/>
            </a:solidFill>
            <a:prstDash val="solid"/>
          </a:ln>
        </p:spPr>
      </p:sp>
      <p:sp>
        <p:nvSpPr>
          <p:cNvPr id="12" name="Text 10"/>
          <p:cNvSpPr/>
          <p:nvPr/>
        </p:nvSpPr>
        <p:spPr>
          <a:xfrm>
            <a:off x="822960" y="4160520"/>
            <a:ext cx="10515600" cy="274320"/>
          </a:xfrm>
          <a:prstGeom prst="rect">
            <a:avLst/>
          </a:prstGeom>
          <a:noFill/>
          <a:ln/>
        </p:spPr>
        <p:txBody>
          <a:bodyPr wrap="square" lIns="0" tIns="0" rIns="0" bIns="0" rtlCol="0" anchor="ctr"/>
          <a:lstStyle/>
          <a:p>
            <a:pPr indent="0" marL="0">
              <a:buNone/>
            </a:pPr>
            <a:r>
              <a:rPr lang="en-US" sz="1100" spc="150" kern="0" dirty="0">
                <a:solidFill>
                  <a:srgbClr val="86868B"/>
                </a:solidFill>
                <a:latin typeface="Arial" pitchFamily="34" charset="0"/>
                <a:ea typeface="Arial" pitchFamily="34" charset="-122"/>
                <a:cs typeface="Arial" pitchFamily="34" charset="-120"/>
              </a:rPr>
              <a:t>Appeared in, spoken at &amp; partnered with</a:t>
            </a:r>
            <a:endParaRPr lang="en-US" sz="1100" dirty="0"/>
          </a:p>
        </p:txBody>
      </p:sp>
      <p:pic>
        <p:nvPicPr>
          <p:cNvPr id="13" name="Image 0" descr="/Users/dinu/dev/upb/mobile-and-embedded-computing/slides/assets/logos/image1.png">    </p:cNvPr>
          <p:cNvPicPr>
            <a:picLocks noChangeAspect="1"/>
          </p:cNvPicPr>
          <p:nvPr/>
        </p:nvPicPr>
        <p:blipFill>
          <a:blip r:embed="rId1"/>
          <a:stretch>
            <a:fillRect/>
          </a:stretch>
        </p:blipFill>
        <p:spPr>
          <a:xfrm>
            <a:off x="822960" y="4732477"/>
            <a:ext cx="1047902" cy="319126"/>
          </a:xfrm>
          <a:prstGeom prst="rect">
            <a:avLst/>
          </a:prstGeom>
        </p:spPr>
      </p:pic>
      <p:pic>
        <p:nvPicPr>
          <p:cNvPr id="14" name="Image 1" descr="/Users/dinu/dev/upb/mobile-and-embedded-computing/slides/assets/logos/image2.png">    </p:cNvPr>
          <p:cNvPicPr>
            <a:picLocks noChangeAspect="1"/>
          </p:cNvPicPr>
          <p:nvPr/>
        </p:nvPicPr>
        <p:blipFill>
          <a:blip r:embed="rId2"/>
          <a:stretch>
            <a:fillRect/>
          </a:stretch>
        </p:blipFill>
        <p:spPr>
          <a:xfrm>
            <a:off x="2155763" y="4675327"/>
            <a:ext cx="770839" cy="433426"/>
          </a:xfrm>
          <a:prstGeom prst="rect">
            <a:avLst/>
          </a:prstGeom>
        </p:spPr>
      </p:pic>
      <p:pic>
        <p:nvPicPr>
          <p:cNvPr id="15" name="Image 2" descr="/Users/dinu/dev/upb/mobile-and-embedded-computing/slides/assets/logos/image3.png">    </p:cNvPr>
          <p:cNvPicPr>
            <a:picLocks noChangeAspect="1"/>
          </p:cNvPicPr>
          <p:nvPr/>
        </p:nvPicPr>
        <p:blipFill>
          <a:blip r:embed="rId3"/>
          <a:stretch>
            <a:fillRect/>
          </a:stretch>
        </p:blipFill>
        <p:spPr>
          <a:xfrm>
            <a:off x="3211503" y="4715104"/>
            <a:ext cx="945490" cy="353873"/>
          </a:xfrm>
          <a:prstGeom prst="rect">
            <a:avLst/>
          </a:prstGeom>
        </p:spPr>
      </p:pic>
      <p:pic>
        <p:nvPicPr>
          <p:cNvPr id="16" name="Image 3" descr="/Users/dinu/dev/upb/mobile-and-embedded-computing/slides/assets/logos/image4.png">    </p:cNvPr>
          <p:cNvPicPr>
            <a:picLocks noChangeAspect="1"/>
          </p:cNvPicPr>
          <p:nvPr/>
        </p:nvPicPr>
        <p:blipFill>
          <a:blip r:embed="rId4"/>
          <a:stretch>
            <a:fillRect/>
          </a:stretch>
        </p:blipFill>
        <p:spPr>
          <a:xfrm>
            <a:off x="4441894" y="4716932"/>
            <a:ext cx="1313078" cy="350215"/>
          </a:xfrm>
          <a:prstGeom prst="rect">
            <a:avLst/>
          </a:prstGeom>
        </p:spPr>
      </p:pic>
      <p:pic>
        <p:nvPicPr>
          <p:cNvPr id="17" name="Image 4" descr="/Users/dinu/dev/upb/mobile-and-embedded-computing/slides/assets/logos/image5.png">    </p:cNvPr>
          <p:cNvPicPr>
            <a:picLocks noChangeAspect="1"/>
          </p:cNvPicPr>
          <p:nvPr/>
        </p:nvPicPr>
        <p:blipFill>
          <a:blip r:embed="rId5"/>
          <a:stretch>
            <a:fillRect/>
          </a:stretch>
        </p:blipFill>
        <p:spPr>
          <a:xfrm>
            <a:off x="6039873" y="4626864"/>
            <a:ext cx="611734" cy="530352"/>
          </a:xfrm>
          <a:prstGeom prst="rect">
            <a:avLst/>
          </a:prstGeom>
        </p:spPr>
      </p:pic>
      <p:pic>
        <p:nvPicPr>
          <p:cNvPr id="18" name="Image 5" descr="/Users/dinu/dev/upb/mobile-and-embedded-computing/slides/assets/logos/image6.png">    </p:cNvPr>
          <p:cNvPicPr>
            <a:picLocks noChangeAspect="1"/>
          </p:cNvPicPr>
          <p:nvPr/>
        </p:nvPicPr>
        <p:blipFill>
          <a:blip r:embed="rId6"/>
          <a:stretch>
            <a:fillRect/>
          </a:stretch>
        </p:blipFill>
        <p:spPr>
          <a:xfrm>
            <a:off x="6936508" y="4626864"/>
            <a:ext cx="846734" cy="530352"/>
          </a:xfrm>
          <a:prstGeom prst="rect">
            <a:avLst/>
          </a:prstGeom>
        </p:spPr>
      </p:pic>
      <p:pic>
        <p:nvPicPr>
          <p:cNvPr id="19" name="Image 6" descr="/Users/dinu/dev/upb/mobile-and-embedded-computing/slides/assets/logos/image7.png">    </p:cNvPr>
          <p:cNvPicPr>
            <a:picLocks noChangeAspect="1"/>
          </p:cNvPicPr>
          <p:nvPr/>
        </p:nvPicPr>
        <p:blipFill>
          <a:blip r:embed="rId7"/>
          <a:stretch>
            <a:fillRect/>
          </a:stretch>
        </p:blipFill>
        <p:spPr>
          <a:xfrm>
            <a:off x="8068143" y="4767682"/>
            <a:ext cx="1691640" cy="248717"/>
          </a:xfrm>
          <a:prstGeom prst="rect">
            <a:avLst/>
          </a:prstGeom>
        </p:spPr>
      </p:pic>
      <p:pic>
        <p:nvPicPr>
          <p:cNvPr id="20" name="Image 7" descr="/Users/dinu/dev/upb/mobile-and-embedded-computing/slides/assets/logos/image8.png">    </p:cNvPr>
          <p:cNvPicPr>
            <a:picLocks noChangeAspect="1"/>
          </p:cNvPicPr>
          <p:nvPr/>
        </p:nvPicPr>
        <p:blipFill>
          <a:blip r:embed="rId8"/>
          <a:stretch>
            <a:fillRect/>
          </a:stretch>
        </p:blipFill>
        <p:spPr>
          <a:xfrm>
            <a:off x="10044684" y="4717847"/>
            <a:ext cx="1321308" cy="3483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3</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TODAY</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What you should leave with</a:t>
            </a:r>
            <a:endParaRPr lang="en-US" sz="3000" dirty="0"/>
          </a:p>
        </p:txBody>
      </p:sp>
      <p:pic>
        <p:nvPicPr>
          <p:cNvPr id="5" name="Image 0" descr="/Users/dinu/dev/upb/mobile-and-embedded-computing/slides/assets/icons2/fingerprint-ink.png">    </p:cNvPr>
          <p:cNvPicPr>
            <a:picLocks noChangeAspect="1"/>
          </p:cNvPicPr>
          <p:nvPr/>
        </p:nvPicPr>
        <p:blipFill>
          <a:blip r:embed="rId1"/>
          <a:stretch>
            <a:fillRect/>
          </a:stretch>
        </p:blipFill>
        <p:spPr>
          <a:xfrm>
            <a:off x="822960" y="1874520"/>
            <a:ext cx="384048" cy="384048"/>
          </a:xfrm>
          <a:prstGeom prst="rect">
            <a:avLst/>
          </a:prstGeom>
        </p:spPr>
      </p:pic>
      <p:sp>
        <p:nvSpPr>
          <p:cNvPr id="6" name="Text 3"/>
          <p:cNvSpPr/>
          <p:nvPr/>
        </p:nvSpPr>
        <p:spPr>
          <a:xfrm>
            <a:off x="1508760" y="1828800"/>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AuthN vs AuthZ</a:t>
            </a:r>
            <a:endParaRPr lang="en-US" sz="1600" dirty="0"/>
          </a:p>
        </p:txBody>
      </p:sp>
      <p:sp>
        <p:nvSpPr>
          <p:cNvPr id="7" name="Text 4"/>
          <p:cNvSpPr/>
          <p:nvPr/>
        </p:nvSpPr>
        <p:spPr>
          <a:xfrm>
            <a:off x="4709160" y="1828800"/>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Who the user is versus what they may do, and which layer answers each</a:t>
            </a:r>
            <a:endParaRPr lang="en-US" sz="1300" dirty="0"/>
          </a:p>
        </p:txBody>
      </p:sp>
      <p:sp>
        <p:nvSpPr>
          <p:cNvPr id="8" name="Shape 5"/>
          <p:cNvSpPr/>
          <p:nvPr/>
        </p:nvSpPr>
        <p:spPr>
          <a:xfrm>
            <a:off x="822960" y="2432304"/>
            <a:ext cx="10543032" cy="0"/>
          </a:xfrm>
          <a:prstGeom prst="line">
            <a:avLst/>
          </a:prstGeom>
          <a:noFill/>
          <a:ln w="9525">
            <a:solidFill>
              <a:srgbClr val="D2D2D7"/>
            </a:solidFill>
            <a:prstDash val="solid"/>
          </a:ln>
        </p:spPr>
      </p:sp>
      <p:pic>
        <p:nvPicPr>
          <p:cNvPr id="9" name="Image 1" descr="/Users/dinu/dev/upb/mobile-and-embedded-computing/slides/assets/icons2/code-ink.png">    </p:cNvPr>
          <p:cNvPicPr>
            <a:picLocks noChangeAspect="1"/>
          </p:cNvPicPr>
          <p:nvPr/>
        </p:nvPicPr>
        <p:blipFill>
          <a:blip r:embed="rId2"/>
          <a:stretch>
            <a:fillRect/>
          </a:stretch>
        </p:blipFill>
        <p:spPr>
          <a:xfrm>
            <a:off x="822960" y="2587752"/>
            <a:ext cx="384048" cy="384048"/>
          </a:xfrm>
          <a:prstGeom prst="rect">
            <a:avLst/>
          </a:prstGeom>
        </p:spPr>
      </p:pic>
      <p:sp>
        <p:nvSpPr>
          <p:cNvPr id="10" name="Text 6"/>
          <p:cNvSpPr/>
          <p:nvPr/>
        </p:nvSpPr>
        <p:spPr>
          <a:xfrm>
            <a:off x="1508760" y="2542032"/>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Firebase Auth in Dart</a:t>
            </a:r>
            <a:endParaRPr lang="en-US" sz="1600" dirty="0"/>
          </a:p>
        </p:txBody>
      </p:sp>
      <p:sp>
        <p:nvSpPr>
          <p:cNvPr id="11" name="Text 7"/>
          <p:cNvSpPr/>
          <p:nvPr/>
        </p:nvSpPr>
        <p:spPr>
          <a:xfrm>
            <a:off x="4709160" y="2542032"/>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Sign-up, sign-in, reset, verification, sign-out, and authStateChanges()</a:t>
            </a:r>
            <a:endParaRPr lang="en-US" sz="1300" dirty="0"/>
          </a:p>
        </p:txBody>
      </p:sp>
      <p:sp>
        <p:nvSpPr>
          <p:cNvPr id="12" name="Shape 8"/>
          <p:cNvSpPr/>
          <p:nvPr/>
        </p:nvSpPr>
        <p:spPr>
          <a:xfrm>
            <a:off x="822960" y="3145536"/>
            <a:ext cx="10543032" cy="0"/>
          </a:xfrm>
          <a:prstGeom prst="line">
            <a:avLst/>
          </a:prstGeom>
          <a:noFill/>
          <a:ln w="9525">
            <a:solidFill>
              <a:srgbClr val="D2D2D7"/>
            </a:solidFill>
            <a:prstDash val="solid"/>
          </a:ln>
        </p:spPr>
      </p:sp>
      <p:pic>
        <p:nvPicPr>
          <p:cNvPr id="13" name="Image 2" descr="/Users/dinu/dev/upb/mobile-and-embedded-computing/slides/assets/icons2/key-ink.png">    </p:cNvPr>
          <p:cNvPicPr>
            <a:picLocks noChangeAspect="1"/>
          </p:cNvPicPr>
          <p:nvPr/>
        </p:nvPicPr>
        <p:blipFill>
          <a:blip r:embed="rId3"/>
          <a:stretch>
            <a:fillRect/>
          </a:stretch>
        </p:blipFill>
        <p:spPr>
          <a:xfrm>
            <a:off x="822960" y="3300984"/>
            <a:ext cx="384048" cy="384048"/>
          </a:xfrm>
          <a:prstGeom prst="rect">
            <a:avLst/>
          </a:prstGeom>
        </p:spPr>
      </p:pic>
      <p:sp>
        <p:nvSpPr>
          <p:cNvPr id="14" name="Text 9"/>
          <p:cNvSpPr/>
          <p:nvPr/>
        </p:nvSpPr>
        <p:spPr>
          <a:xfrm>
            <a:off x="1508760" y="3255264"/>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OAuth and tokens</a:t>
            </a:r>
            <a:endParaRPr lang="en-US" sz="1600" dirty="0"/>
          </a:p>
        </p:txBody>
      </p:sp>
      <p:sp>
        <p:nvSpPr>
          <p:cNvPr id="15" name="Text 10"/>
          <p:cNvSpPr/>
          <p:nvPr/>
        </p:nvSpPr>
        <p:spPr>
          <a:xfrm>
            <a:off x="4709160" y="3255264"/>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The client-side credential handoff, and what an ID token proves</a:t>
            </a:r>
            <a:endParaRPr lang="en-US" sz="1300" dirty="0"/>
          </a:p>
        </p:txBody>
      </p:sp>
      <p:sp>
        <p:nvSpPr>
          <p:cNvPr id="16" name="Shape 11"/>
          <p:cNvSpPr/>
          <p:nvPr/>
        </p:nvSpPr>
        <p:spPr>
          <a:xfrm>
            <a:off x="822960" y="3858768"/>
            <a:ext cx="10543032" cy="0"/>
          </a:xfrm>
          <a:prstGeom prst="line">
            <a:avLst/>
          </a:prstGeom>
          <a:noFill/>
          <a:ln w="9525">
            <a:solidFill>
              <a:srgbClr val="D2D2D7"/>
            </a:solidFill>
            <a:prstDash val="solid"/>
          </a:ln>
        </p:spPr>
      </p:sp>
      <p:pic>
        <p:nvPicPr>
          <p:cNvPr id="17" name="Image 3" descr="/Users/dinu/dev/upb/mobile-and-embedded-computing/slides/assets/icons2/shieldcheck-ink.png">    </p:cNvPr>
          <p:cNvPicPr>
            <a:picLocks noChangeAspect="1"/>
          </p:cNvPicPr>
          <p:nvPr/>
        </p:nvPicPr>
        <p:blipFill>
          <a:blip r:embed="rId4"/>
          <a:stretch>
            <a:fillRect/>
          </a:stretch>
        </p:blipFill>
        <p:spPr>
          <a:xfrm>
            <a:off x="822960" y="4014216"/>
            <a:ext cx="384048" cy="384048"/>
          </a:xfrm>
          <a:prstGeom prst="rect">
            <a:avLst/>
          </a:prstGeom>
        </p:spPr>
      </p:pic>
      <p:sp>
        <p:nvSpPr>
          <p:cNvPr id="18" name="Text 12"/>
          <p:cNvSpPr/>
          <p:nvPr/>
        </p:nvSpPr>
        <p:spPr>
          <a:xfrm>
            <a:off x="1508760" y="3968496"/>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Rules and App Check</a:t>
            </a:r>
            <a:endParaRPr lang="en-US" sz="1600" dirty="0"/>
          </a:p>
        </p:txBody>
      </p:sp>
      <p:sp>
        <p:nvSpPr>
          <p:cNvPr id="19" name="Text 13"/>
          <p:cNvSpPr/>
          <p:nvPr/>
        </p:nvSpPr>
        <p:spPr>
          <a:xfrm>
            <a:off x="4709160" y="3968496"/>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Rules that bind a request to a uid, and enforcement that keeps scripts out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PART 1 · FUNDAMENTALS</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Who you are, and what you may do</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Two different questions, answered by two different systems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5</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FUNDAMENTALS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Authentication is not authorization</a:t>
            </a:r>
            <a:endParaRPr lang="en-US" sz="3000" dirty="0"/>
          </a:p>
        </p:txBody>
      </p:sp>
      <p:sp>
        <p:nvSpPr>
          <p:cNvPr id="5" name="Shape 3"/>
          <p:cNvSpPr/>
          <p:nvPr/>
        </p:nvSpPr>
        <p:spPr>
          <a:xfrm>
            <a:off x="822960" y="1783080"/>
            <a:ext cx="5120640" cy="2697480"/>
          </a:xfrm>
          <a:prstGeom prst="roundRect">
            <a:avLst>
              <a:gd name="adj" fmla="val 3051"/>
            </a:avLst>
          </a:prstGeom>
          <a:solidFill>
            <a:srgbClr val="FFFFFF"/>
          </a:solidFill>
          <a:ln w="12700">
            <a:solidFill>
              <a:srgbClr val="D2D2D7"/>
            </a:solidFill>
            <a:prstDash val="solid"/>
          </a:ln>
        </p:spPr>
      </p:sp>
      <p:pic>
        <p:nvPicPr>
          <p:cNvPr id="6" name="Image 0" descr="/Users/dinu/dev/upb/mobile-and-embedded-computing/slides/assets/icons2/fingerprint-ink.png">    </p:cNvPr>
          <p:cNvPicPr>
            <a:picLocks noChangeAspect="1"/>
          </p:cNvPicPr>
          <p:nvPr/>
        </p:nvPicPr>
        <p:blipFill>
          <a:blip r:embed="rId1"/>
          <a:stretch>
            <a:fillRect/>
          </a:stretch>
        </p:blipFill>
        <p:spPr>
          <a:xfrm>
            <a:off x="1207008" y="2103120"/>
            <a:ext cx="402336" cy="402336"/>
          </a:xfrm>
          <a:prstGeom prst="rect">
            <a:avLst/>
          </a:prstGeom>
        </p:spPr>
      </p:pic>
      <p:sp>
        <p:nvSpPr>
          <p:cNvPr id="7" name="Text 4"/>
          <p:cNvSpPr/>
          <p:nvPr/>
        </p:nvSpPr>
        <p:spPr>
          <a:xfrm>
            <a:off x="1207008" y="2651760"/>
            <a:ext cx="4389120" cy="365760"/>
          </a:xfrm>
          <a:prstGeom prst="rect">
            <a:avLst/>
          </a:prstGeom>
          <a:noFill/>
          <a:ln/>
        </p:spPr>
        <p:txBody>
          <a:bodyPr wrap="square" lIns="0" tIns="0" rIns="0" bIns="0" rtlCol="0" anchor="ctr"/>
          <a:lstStyle/>
          <a:p>
            <a:pPr indent="0" marL="0">
              <a:buNone/>
            </a:pPr>
            <a:r>
              <a:rPr lang="en-US" sz="1900" b="1" dirty="0">
                <a:solidFill>
                  <a:srgbClr val="1D1D1F"/>
                </a:solidFill>
                <a:latin typeface="Arial" pitchFamily="34" charset="0"/>
                <a:ea typeface="Arial" pitchFamily="34" charset="-122"/>
                <a:cs typeface="Arial" pitchFamily="34" charset="-120"/>
              </a:rPr>
              <a:t>Authentication</a:t>
            </a:r>
            <a:endParaRPr lang="en-US" sz="1900" dirty="0"/>
          </a:p>
        </p:txBody>
      </p:sp>
      <p:sp>
        <p:nvSpPr>
          <p:cNvPr id="8" name="Text 5"/>
          <p:cNvSpPr/>
          <p:nvPr/>
        </p:nvSpPr>
        <p:spPr>
          <a:xfrm>
            <a:off x="1207008" y="3063240"/>
            <a:ext cx="4389120" cy="320040"/>
          </a:xfrm>
          <a:prstGeom prst="rect">
            <a:avLst/>
          </a:prstGeom>
          <a:noFill/>
          <a:ln/>
        </p:spPr>
        <p:txBody>
          <a:bodyPr wrap="square" lIns="0" tIns="0" rIns="0" bIns="0" rtlCol="0" anchor="ctr"/>
          <a:lstStyle/>
          <a:p>
            <a:pPr indent="0" marL="0">
              <a:buNone/>
            </a:pPr>
            <a:r>
              <a:rPr lang="en-US" sz="1400" b="1" dirty="0">
                <a:solidFill>
                  <a:srgbClr val="0071E3"/>
                </a:solidFill>
                <a:latin typeface="Arial" pitchFamily="34" charset="0"/>
                <a:ea typeface="Arial" pitchFamily="34" charset="-122"/>
                <a:cs typeface="Arial" pitchFamily="34" charset="-120"/>
              </a:rPr>
              <a:t>“Is this user really who they claim to be?”</a:t>
            </a:r>
            <a:endParaRPr lang="en-US" sz="1400" dirty="0"/>
          </a:p>
        </p:txBody>
      </p:sp>
      <p:sp>
        <p:nvSpPr>
          <p:cNvPr id="9" name="Text 6"/>
          <p:cNvSpPr/>
          <p:nvPr/>
        </p:nvSpPr>
        <p:spPr>
          <a:xfrm>
            <a:off x="1207008" y="3474720"/>
            <a:ext cx="4389120" cy="868680"/>
          </a:xfrm>
          <a:prstGeom prst="rect">
            <a:avLst/>
          </a:prstGeom>
          <a:noFill/>
          <a:ln/>
        </p:spPr>
        <p:txBody>
          <a:bodyPr wrap="square" lIns="0" tIns="0" rIns="0" bIns="0" rtlCol="0" anchor="t"/>
          <a:lstStyle/>
          <a:p>
            <a:pPr indent="0" marL="0">
              <a:buNone/>
            </a:pPr>
            <a:r>
              <a:rPr lang="en-US" sz="1250" dirty="0">
                <a:solidFill>
                  <a:srgbClr val="86868B"/>
                </a:solidFill>
                <a:latin typeface="Arial" pitchFamily="34" charset="0"/>
                <a:ea typeface="Arial" pitchFamily="34" charset="-122"/>
                <a:cs typeface="Arial" pitchFamily="34" charset="-120"/>
              </a:rPr>
              <a:t>It checks a credential (a password, a provider token, a passkey) and issues a session.</a:t>
            </a:r>
            <a:endParaRPr lang="en-US" sz="1250" dirty="0"/>
          </a:p>
        </p:txBody>
      </p:sp>
      <p:sp>
        <p:nvSpPr>
          <p:cNvPr id="10" name="Shape 7"/>
          <p:cNvSpPr/>
          <p:nvPr/>
        </p:nvSpPr>
        <p:spPr>
          <a:xfrm>
            <a:off x="6245352" y="1783080"/>
            <a:ext cx="5120640" cy="2697480"/>
          </a:xfrm>
          <a:prstGeom prst="roundRect">
            <a:avLst>
              <a:gd name="adj" fmla="val 3051"/>
            </a:avLst>
          </a:prstGeom>
          <a:solidFill>
            <a:srgbClr val="FFFFFF"/>
          </a:solidFill>
          <a:ln w="12700">
            <a:solidFill>
              <a:srgbClr val="D2D2D7"/>
            </a:solidFill>
            <a:prstDash val="solid"/>
          </a:ln>
        </p:spPr>
      </p:sp>
      <p:pic>
        <p:nvPicPr>
          <p:cNvPr id="11" name="Image 1" descr="/Users/dinu/dev/upb/mobile-and-embedded-computing/slides/assets/icons2/key-ink.png">    </p:cNvPr>
          <p:cNvPicPr>
            <a:picLocks noChangeAspect="1"/>
          </p:cNvPicPr>
          <p:nvPr/>
        </p:nvPicPr>
        <p:blipFill>
          <a:blip r:embed="rId2"/>
          <a:stretch>
            <a:fillRect/>
          </a:stretch>
        </p:blipFill>
        <p:spPr>
          <a:xfrm>
            <a:off x="6629400" y="2103120"/>
            <a:ext cx="402336" cy="402336"/>
          </a:xfrm>
          <a:prstGeom prst="rect">
            <a:avLst/>
          </a:prstGeom>
        </p:spPr>
      </p:pic>
      <p:sp>
        <p:nvSpPr>
          <p:cNvPr id="12" name="Text 8"/>
          <p:cNvSpPr/>
          <p:nvPr/>
        </p:nvSpPr>
        <p:spPr>
          <a:xfrm>
            <a:off x="6629400" y="2651760"/>
            <a:ext cx="4389120" cy="365760"/>
          </a:xfrm>
          <a:prstGeom prst="rect">
            <a:avLst/>
          </a:prstGeom>
          <a:noFill/>
          <a:ln/>
        </p:spPr>
        <p:txBody>
          <a:bodyPr wrap="square" lIns="0" tIns="0" rIns="0" bIns="0" rtlCol="0" anchor="ctr"/>
          <a:lstStyle/>
          <a:p>
            <a:pPr indent="0" marL="0">
              <a:buNone/>
            </a:pPr>
            <a:r>
              <a:rPr lang="en-US" sz="1900" b="1" dirty="0">
                <a:solidFill>
                  <a:srgbClr val="1D1D1F"/>
                </a:solidFill>
                <a:latin typeface="Arial" pitchFamily="34" charset="0"/>
                <a:ea typeface="Arial" pitchFamily="34" charset="-122"/>
                <a:cs typeface="Arial" pitchFamily="34" charset="-120"/>
              </a:rPr>
              <a:t>Authorization</a:t>
            </a:r>
            <a:endParaRPr lang="en-US" sz="1900" dirty="0"/>
          </a:p>
        </p:txBody>
      </p:sp>
      <p:sp>
        <p:nvSpPr>
          <p:cNvPr id="13" name="Text 9"/>
          <p:cNvSpPr/>
          <p:nvPr/>
        </p:nvSpPr>
        <p:spPr>
          <a:xfrm>
            <a:off x="6629400" y="3063240"/>
            <a:ext cx="4389120" cy="320040"/>
          </a:xfrm>
          <a:prstGeom prst="rect">
            <a:avLst/>
          </a:prstGeom>
          <a:noFill/>
          <a:ln/>
        </p:spPr>
        <p:txBody>
          <a:bodyPr wrap="square" lIns="0" tIns="0" rIns="0" bIns="0" rtlCol="0" anchor="ctr"/>
          <a:lstStyle/>
          <a:p>
            <a:pPr indent="0" marL="0">
              <a:buNone/>
            </a:pPr>
            <a:r>
              <a:rPr lang="en-US" sz="1400" b="1" dirty="0">
                <a:solidFill>
                  <a:srgbClr val="0071E3"/>
                </a:solidFill>
                <a:latin typeface="Arial" pitchFamily="34" charset="0"/>
                <a:ea typeface="Arial" pitchFamily="34" charset="-122"/>
                <a:cs typeface="Arial" pitchFamily="34" charset="-120"/>
              </a:rPr>
              <a:t>“Now that I know who this is, what may they touch?”</a:t>
            </a:r>
            <a:endParaRPr lang="en-US" sz="1400" dirty="0"/>
          </a:p>
        </p:txBody>
      </p:sp>
      <p:sp>
        <p:nvSpPr>
          <p:cNvPr id="14" name="Text 10"/>
          <p:cNvSpPr/>
          <p:nvPr/>
        </p:nvSpPr>
        <p:spPr>
          <a:xfrm>
            <a:off x="6629400" y="3474720"/>
            <a:ext cx="4389120" cy="868680"/>
          </a:xfrm>
          <a:prstGeom prst="rect">
            <a:avLst/>
          </a:prstGeom>
          <a:noFill/>
          <a:ln/>
        </p:spPr>
        <p:txBody>
          <a:bodyPr wrap="square" lIns="0" tIns="0" rIns="0" bIns="0" rtlCol="0" anchor="t"/>
          <a:lstStyle/>
          <a:p>
            <a:pPr indent="0" marL="0">
              <a:buNone/>
            </a:pPr>
            <a:r>
              <a:rPr lang="en-US" sz="1250" dirty="0">
                <a:solidFill>
                  <a:srgbClr val="86868B"/>
                </a:solidFill>
                <a:latin typeface="Arial" pitchFamily="34" charset="0"/>
                <a:ea typeface="Arial" pitchFamily="34" charset="-122"/>
                <a:cs typeface="Arial" pitchFamily="34" charset="-120"/>
              </a:rPr>
              <a:t>It decides, per request, which documents this identity is allowed to read, create, update or delete.</a:t>
            </a:r>
            <a:endParaRPr lang="en-US" sz="1250" dirty="0"/>
          </a:p>
        </p:txBody>
      </p:sp>
      <p:sp>
        <p:nvSpPr>
          <p:cNvPr id="15" name="Shape 11"/>
          <p:cNvSpPr/>
          <p:nvPr/>
        </p:nvSpPr>
        <p:spPr>
          <a:xfrm>
            <a:off x="822960" y="4709160"/>
            <a:ext cx="10543032" cy="0"/>
          </a:xfrm>
          <a:prstGeom prst="line">
            <a:avLst/>
          </a:prstGeom>
          <a:noFill/>
          <a:ln w="9525">
            <a:solidFill>
              <a:srgbClr val="D2D2D7"/>
            </a:solidFill>
            <a:prstDash val="solid"/>
          </a:ln>
        </p:spPr>
      </p:sp>
      <p:sp>
        <p:nvSpPr>
          <p:cNvPr id="16" name="Text 12"/>
          <p:cNvSpPr/>
          <p:nvPr/>
        </p:nvSpPr>
        <p:spPr>
          <a:xfrm>
            <a:off x="822960" y="493776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Firebase Auth only answers the first question.</a:t>
            </a:r>
            <a:pPr indent="0" marL="0">
              <a:buNone/>
            </a:pPr>
            <a:r>
              <a:rPr lang="en-US" sz="1400" dirty="0">
                <a:solidFill>
                  <a:srgbClr val="86868B"/>
                </a:solidFill>
                <a:latin typeface="Arial" pitchFamily="34" charset="0"/>
                <a:ea typeface="Arial" pitchFamily="34" charset="-122"/>
                <a:cs typeface="Arial" pitchFamily="34" charset="-120"/>
              </a:rPr>
              <a:t> The second is answered by your Security Rules and by your own backend. A signed-in user is not an authorized user, and confusing the two is a common Firebase mistake.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6</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FUNDAMENTALS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The three factors, and what MFA means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057400"/>
          <a:ext cx="10543032" cy="914400"/>
        </p:xfrm>
        <a:graphic>
          <a:graphicData uri="http://schemas.openxmlformats.org/drawingml/2006/table">
            <a:tbl>
              <a:tblPr/>
              <a:tblGrid>
                <a:gridCol w="1371600"/>
                <a:gridCol w="3057144"/>
                <a:gridCol w="3057144"/>
                <a:gridCol w="3057144"/>
              </a:tblGrid>
              <a:tr h="438912">
                <a:tc>
                  <a:txBody>
                    <a:bodyPr/>
                    <a:lstStyle/>
                    <a:p>
                      <a:pPr indent="0" marL="0">
                        <a:buNone/>
                      </a:pPr>
                      <a:endParaRPr lang="en-US" sz="12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200" b="1" dirty="0">
                          <a:solidFill>
                            <a:srgbClr val="1D1D1F"/>
                          </a:solidFill>
                          <a:latin typeface="Arial" pitchFamily="34" charset="0"/>
                          <a:ea typeface="Arial" pitchFamily="34" charset="-122"/>
                          <a:cs typeface="Arial" pitchFamily="34" charset="-120"/>
                        </a:rPr>
                        <a:t>What it means</a:t>
                      </a:r>
                      <a:endParaRPr lang="en-US" sz="12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D1D1F"/>
                          </a:solidFill>
                          <a:latin typeface="Arial" pitchFamily="34" charset="0"/>
                          <a:ea typeface="Arial" pitchFamily="34" charset="-122"/>
                          <a:cs typeface="Arial" pitchFamily="34" charset="-120"/>
                        </a:rPr>
                        <a:t>Examples</a:t>
                      </a:r>
                      <a:endParaRPr lang="en-US" sz="12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D1D1F"/>
                          </a:solidFill>
                          <a:latin typeface="Arial" pitchFamily="34" charset="0"/>
                          <a:ea typeface="Arial" pitchFamily="34" charset="-122"/>
                          <a:cs typeface="Arial" pitchFamily="34" charset="-120"/>
                        </a:rPr>
                        <a:t>How it fails</a:t>
                      </a:r>
                      <a:endParaRPr lang="en-US" sz="12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777240">
                <a:tc>
                  <a:txBody>
                    <a:bodyPr/>
                    <a:lstStyle/>
                    <a:p>
                      <a:pPr algn="l" indent="0" marL="0">
                        <a:buNone/>
                      </a:pPr>
                      <a:r>
                        <a:rPr lang="en-US" sz="1200" dirty="0">
                          <a:solidFill>
                            <a:srgbClr val="86868B"/>
                          </a:solidFill>
                          <a:latin typeface="Arial" pitchFamily="34" charset="0"/>
                          <a:ea typeface="Arial" pitchFamily="34" charset="-122"/>
                          <a:cs typeface="Arial" pitchFamily="34" charset="-120"/>
                        </a:rPr>
                        <a:t>Knowledge</a:t>
                      </a:r>
                      <a:endParaRPr lang="en-US" sz="12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200" dirty="0">
                          <a:solidFill>
                            <a:srgbClr val="1D1D1F"/>
                          </a:solidFill>
                          <a:latin typeface="Arial" pitchFamily="34" charset="0"/>
                          <a:ea typeface="Arial" pitchFamily="34" charset="-122"/>
                          <a:cs typeface="Arial" pitchFamily="34" charset="-120"/>
                        </a:rPr>
                        <a:t>something you know</a:t>
                      </a:r>
                      <a:endParaRPr lang="en-US" sz="12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D1D1F"/>
                          </a:solidFill>
                          <a:latin typeface="Arial" pitchFamily="34" charset="0"/>
                          <a:ea typeface="Arial" pitchFamily="34" charset="-122"/>
                          <a:cs typeface="Arial" pitchFamily="34" charset="-120"/>
                        </a:rPr>
                        <a:t>password, PIN, security answer</a:t>
                      </a:r>
                      <a:endParaRPr lang="en-US" sz="12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D1D1F"/>
                          </a:solidFill>
                          <a:latin typeface="Arial" pitchFamily="34" charset="0"/>
                          <a:ea typeface="Arial" pitchFamily="34" charset="-122"/>
                          <a:cs typeface="Arial" pitchFamily="34" charset="-120"/>
                        </a:rPr>
                        <a:t>phished, reused, leaked in someone else's breach</a:t>
                      </a:r>
                      <a:endParaRPr lang="en-US" sz="12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777240">
                <a:tc>
                  <a:txBody>
                    <a:bodyPr/>
                    <a:lstStyle/>
                    <a:p>
                      <a:pPr algn="l" indent="0" marL="0">
                        <a:buNone/>
                      </a:pPr>
                      <a:r>
                        <a:rPr lang="en-US" sz="1200" dirty="0">
                          <a:solidFill>
                            <a:srgbClr val="86868B"/>
                          </a:solidFill>
                          <a:latin typeface="Arial" pitchFamily="34" charset="0"/>
                          <a:ea typeface="Arial" pitchFamily="34" charset="-122"/>
                          <a:cs typeface="Arial" pitchFamily="34" charset="-120"/>
                        </a:rPr>
                        <a:t>Possession</a:t>
                      </a:r>
                      <a:endParaRPr lang="en-US" sz="12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200" dirty="0">
                          <a:solidFill>
                            <a:srgbClr val="1D1D1F"/>
                          </a:solidFill>
                          <a:latin typeface="Arial" pitchFamily="34" charset="0"/>
                          <a:ea typeface="Arial" pitchFamily="34" charset="-122"/>
                          <a:cs typeface="Arial" pitchFamily="34" charset="-120"/>
                        </a:rPr>
                        <a:t>something you have</a:t>
                      </a:r>
                      <a:endParaRPr lang="en-US" sz="12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D1D1F"/>
                          </a:solidFill>
                          <a:latin typeface="Arial" pitchFamily="34" charset="0"/>
                          <a:ea typeface="Arial" pitchFamily="34" charset="-122"/>
                          <a:cs typeface="Arial" pitchFamily="34" charset="-120"/>
                        </a:rPr>
                        <a:t>phone for an OTP, passkey, hardware key</a:t>
                      </a:r>
                      <a:endParaRPr lang="en-US" sz="12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D1D1F"/>
                          </a:solidFill>
                          <a:latin typeface="Arial" pitchFamily="34" charset="0"/>
                          <a:ea typeface="Arial" pitchFamily="34" charset="-122"/>
                          <a:cs typeface="Arial" pitchFamily="34" charset="-120"/>
                        </a:rPr>
                        <a:t>SMS is SIM-swappable; a passkey is not phishable</a:t>
                      </a:r>
                      <a:endParaRPr lang="en-US" sz="12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777240">
                <a:tc>
                  <a:txBody>
                    <a:bodyPr/>
                    <a:lstStyle/>
                    <a:p>
                      <a:pPr algn="l" indent="0" marL="0">
                        <a:buNone/>
                      </a:pPr>
                      <a:r>
                        <a:rPr lang="en-US" sz="1200" dirty="0">
                          <a:solidFill>
                            <a:srgbClr val="86868B"/>
                          </a:solidFill>
                          <a:latin typeface="Arial" pitchFamily="34" charset="0"/>
                          <a:ea typeface="Arial" pitchFamily="34" charset="-122"/>
                          <a:cs typeface="Arial" pitchFamily="34" charset="-120"/>
                        </a:rPr>
                        <a:t>Inherence</a:t>
                      </a:r>
                      <a:endParaRPr lang="en-US" sz="12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200" dirty="0">
                          <a:solidFill>
                            <a:srgbClr val="1D1D1F"/>
                          </a:solidFill>
                          <a:latin typeface="Arial" pitchFamily="34" charset="0"/>
                          <a:ea typeface="Arial" pitchFamily="34" charset="-122"/>
                          <a:cs typeface="Arial" pitchFamily="34" charset="-120"/>
                        </a:rPr>
                        <a:t>something you are</a:t>
                      </a:r>
                      <a:endParaRPr lang="en-US" sz="12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D1D1F"/>
                          </a:solidFill>
                          <a:latin typeface="Arial" pitchFamily="34" charset="0"/>
                          <a:ea typeface="Arial" pitchFamily="34" charset="-122"/>
                          <a:cs typeface="Arial" pitchFamily="34" charset="-120"/>
                        </a:rPr>
                        <a:t>fingerprint, Face ID, iris</a:t>
                      </a:r>
                      <a:endParaRPr lang="en-US" sz="12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D1D1F"/>
                          </a:solidFill>
                          <a:latin typeface="Arial" pitchFamily="34" charset="0"/>
                          <a:ea typeface="Arial" pitchFamily="34" charset="-122"/>
                          <a:cs typeface="Arial" pitchFamily="34" charset="-120"/>
                        </a:rPr>
                        <a:t>unlocks a local secret; the biometric never leaves the device</a:t>
                      </a:r>
                      <a:endParaRPr lang="en-US" sz="12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bl>
          </a:graphicData>
        </a:graphic>
      </p:graphicFrame>
      <p:sp>
        <p:nvSpPr>
          <p:cNvPr id="6" name="Shape 3"/>
          <p:cNvSpPr/>
          <p:nvPr/>
        </p:nvSpPr>
        <p:spPr>
          <a:xfrm>
            <a:off x="822960" y="4892040"/>
            <a:ext cx="10543032" cy="0"/>
          </a:xfrm>
          <a:prstGeom prst="line">
            <a:avLst/>
          </a:prstGeom>
          <a:noFill/>
          <a:ln w="9525">
            <a:solidFill>
              <a:srgbClr val="D2D2D7"/>
            </a:solidFill>
            <a:prstDash val="solid"/>
          </a:ln>
        </p:spPr>
      </p:sp>
      <p:sp>
        <p:nvSpPr>
          <p:cNvPr id="7" name="Text 4"/>
          <p:cNvSpPr/>
          <p:nvPr/>
        </p:nvSpPr>
        <p:spPr>
          <a:xfrm>
            <a:off x="822960" y="512064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Multi-factor means factors from different rows.</a:t>
            </a:r>
            <a:pPr indent="0" marL="0">
              <a:buNone/>
            </a:pPr>
            <a:r>
              <a:rPr lang="en-US" sz="1400" dirty="0">
                <a:solidFill>
                  <a:srgbClr val="86868B"/>
                </a:solidFill>
                <a:latin typeface="Arial" pitchFamily="34" charset="0"/>
                <a:ea typeface="Arial" pitchFamily="34" charset="-122"/>
                <a:cs typeface="Arial" pitchFamily="34" charset="-120"/>
              </a:rPr>
              <a:t> A password plus a security question is one factor twice. Firebase supports SMS and TOTP second factors on the Identity Platform tier. Biometrics on the device are a screen lock, not a second factor.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7</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FUNDAMENTALS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Why you do not write this yourself</a:t>
            </a:r>
            <a:endParaRPr lang="en-US" sz="3000" dirty="0"/>
          </a:p>
        </p:txBody>
      </p:sp>
      <p:sp>
        <p:nvSpPr>
          <p:cNvPr id="5" name="Text 3"/>
          <p:cNvSpPr/>
          <p:nvPr/>
        </p:nvSpPr>
        <p:spPr>
          <a:xfrm>
            <a:off x="822960" y="1783080"/>
            <a:ext cx="5120640" cy="36576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What Firebase gives you</a:t>
            </a:r>
            <a:endParaRPr lang="en-US" sz="1400" dirty="0"/>
          </a:p>
        </p:txBody>
      </p:sp>
      <p:sp>
        <p:nvSpPr>
          <p:cNvPr id="6" name="Text 4"/>
          <p:cNvSpPr/>
          <p:nvPr/>
        </p:nvSpPr>
        <p:spPr>
          <a:xfrm>
            <a:off x="6400800" y="1783080"/>
            <a:ext cx="5120640" cy="36576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What you hand over</a:t>
            </a:r>
            <a:endParaRPr lang="en-US" sz="1400" dirty="0"/>
          </a:p>
        </p:txBody>
      </p:sp>
      <p:sp>
        <p:nvSpPr>
          <p:cNvPr id="7" name="Text 5"/>
          <p:cNvSpPr/>
          <p:nvPr/>
        </p:nvSpPr>
        <p:spPr>
          <a:xfrm>
            <a:off x="822960" y="2240280"/>
            <a:ext cx="5120640" cy="2560320"/>
          </a:xfrm>
          <a:prstGeom prst="rect">
            <a:avLst/>
          </a:prstGeom>
          <a:noFill/>
          <a:ln/>
        </p:spPr>
        <p:txBody>
          <a:bodyPr wrap="square" lIns="0" tIns="0" rIns="0" bIns="0" rtlCol="0" anchor="t"/>
          <a:lstStyle/>
          <a:p>
            <a:pPr indent="0" marL="0">
              <a:spcAft>
                <a:spcPts val="1200"/>
              </a:spcAft>
              <a:buNone/>
            </a:pPr>
            <a:r>
              <a:rPr lang="en-US" sz="1350" b="1" dirty="0">
                <a:solidFill>
                  <a:srgbClr val="0071E3"/>
                </a:solidFill>
                <a:latin typeface="Arial" pitchFamily="34" charset="0"/>
                <a:ea typeface="Arial" pitchFamily="34" charset="-122"/>
                <a:cs typeface="Arial" pitchFamily="34" charset="-120"/>
              </a:rPr>
              <a:t>+  </a:t>
            </a:r>
            <a:pPr indent="0" marL="0">
              <a:spcAft>
                <a:spcPts val="1200"/>
              </a:spcAft>
              <a:buNone/>
            </a:pPr>
            <a:r>
              <a:rPr lang="en-US" sz="1350" dirty="0">
                <a:solidFill>
                  <a:srgbClr val="1D1D1F"/>
                </a:solidFill>
                <a:latin typeface="Arial" pitchFamily="34" charset="0"/>
                <a:ea typeface="Arial" pitchFamily="34" charset="-122"/>
                <a:cs typeface="Arial" pitchFamily="34" charset="-120"/>
              </a:rPr>
              <a:t>Password hashing, salting and algorithm rotation you never touch</a:t>
            </a:r>
            <a:endParaRPr lang="en-US" sz="1350" dirty="0"/>
          </a:p>
          <a:p>
            <a:pPr indent="0" marL="0">
              <a:spcAft>
                <a:spcPts val="1200"/>
              </a:spcAft>
              <a:buNone/>
            </a:pPr>
            <a:r>
              <a:rPr lang="en-US" sz="1350" b="1" dirty="0">
                <a:solidFill>
                  <a:srgbClr val="0071E3"/>
                </a:solidFill>
                <a:latin typeface="Arial" pitchFamily="34" charset="0"/>
                <a:ea typeface="Arial" pitchFamily="34" charset="-122"/>
                <a:cs typeface="Arial" pitchFamily="34" charset="-120"/>
              </a:rPr>
              <a:t>+  </a:t>
            </a:r>
            <a:pPr indent="0" marL="0">
              <a:spcAft>
                <a:spcPts val="1200"/>
              </a:spcAft>
              <a:buNone/>
            </a:pPr>
            <a:r>
              <a:rPr lang="en-US" sz="1350" dirty="0">
                <a:solidFill>
                  <a:srgbClr val="1D1D1F"/>
                </a:solidFill>
                <a:latin typeface="Arial" pitchFamily="34" charset="0"/>
                <a:ea typeface="Arial" pitchFamily="34" charset="-122"/>
                <a:cs typeface="Arial" pitchFamily="34" charset="-120"/>
              </a:rPr>
              <a:t>Verification, reset and OTP delivery, deliverable and rate-limited</a:t>
            </a:r>
            <a:endParaRPr lang="en-US" sz="1350" dirty="0"/>
          </a:p>
          <a:p>
            <a:pPr indent="0" marL="0">
              <a:spcAft>
                <a:spcPts val="1200"/>
              </a:spcAft>
              <a:buNone/>
            </a:pPr>
            <a:r>
              <a:rPr lang="en-US" sz="1350" b="1" dirty="0">
                <a:solidFill>
                  <a:srgbClr val="0071E3"/>
                </a:solidFill>
                <a:latin typeface="Arial" pitchFamily="34" charset="0"/>
                <a:ea typeface="Arial" pitchFamily="34" charset="-122"/>
                <a:cs typeface="Arial" pitchFamily="34" charset="-120"/>
              </a:rPr>
              <a:t>+  </a:t>
            </a:r>
            <a:pPr indent="0" marL="0">
              <a:spcAft>
                <a:spcPts val="1200"/>
              </a:spcAft>
              <a:buNone/>
            </a:pPr>
            <a:r>
              <a:rPr lang="en-US" sz="1350" dirty="0">
                <a:solidFill>
                  <a:srgbClr val="1D1D1F"/>
                </a:solidFill>
                <a:latin typeface="Arial" pitchFamily="34" charset="0"/>
                <a:ea typeface="Arial" pitchFamily="34" charset="-122"/>
                <a:cs typeface="Arial" pitchFamily="34" charset="-120"/>
              </a:rPr>
              <a:t>20+ federated providers behind one Dart API</a:t>
            </a:r>
            <a:endParaRPr lang="en-US" sz="1350" dirty="0"/>
          </a:p>
          <a:p>
            <a:pPr indent="0" marL="0">
              <a:spcAft>
                <a:spcPts val="1200"/>
              </a:spcAft>
              <a:buNone/>
            </a:pPr>
            <a:r>
              <a:rPr lang="en-US" sz="1350" b="1" dirty="0">
                <a:solidFill>
                  <a:srgbClr val="0071E3"/>
                </a:solidFill>
                <a:latin typeface="Arial" pitchFamily="34" charset="0"/>
                <a:ea typeface="Arial" pitchFamily="34" charset="-122"/>
                <a:cs typeface="Arial" pitchFamily="34" charset="-120"/>
              </a:rPr>
              <a:t>+  </a:t>
            </a:r>
            <a:pPr indent="0" marL="0">
              <a:spcAft>
                <a:spcPts val="1200"/>
              </a:spcAft>
              <a:buNone/>
            </a:pPr>
            <a:r>
              <a:rPr lang="en-US" sz="1350" dirty="0">
                <a:solidFill>
                  <a:srgbClr val="1D1D1F"/>
                </a:solidFill>
                <a:latin typeface="Arial" pitchFamily="34" charset="0"/>
                <a:ea typeface="Arial" pitchFamily="34" charset="-122"/>
                <a:cs typeface="Arial" pitchFamily="34" charset="-120"/>
              </a:rPr>
              <a:t>Token minting, refresh and revocation, plus enumeration protection on by default</a:t>
            </a:r>
            <a:endParaRPr lang="en-US" sz="1350" dirty="0"/>
          </a:p>
        </p:txBody>
      </p:sp>
      <p:sp>
        <p:nvSpPr>
          <p:cNvPr id="8" name="Text 6"/>
          <p:cNvSpPr/>
          <p:nvPr/>
        </p:nvSpPr>
        <p:spPr>
          <a:xfrm>
            <a:off x="6400800" y="2240280"/>
            <a:ext cx="5120640" cy="2560320"/>
          </a:xfrm>
          <a:prstGeom prst="rect">
            <a:avLst/>
          </a:prstGeom>
          <a:noFill/>
          <a:ln/>
        </p:spPr>
        <p:txBody>
          <a:bodyPr wrap="square" lIns="0" tIns="0" rIns="0" bIns="0" rtlCol="0" anchor="t"/>
          <a:lstStyle/>
          <a:p>
            <a:pPr indent="0" marL="0">
              <a:spcAft>
                <a:spcPts val="1200"/>
              </a:spcAft>
              <a:buNone/>
            </a:pPr>
            <a:r>
              <a:rPr lang="en-US" sz="1350" b="1" dirty="0">
                <a:solidFill>
                  <a:srgbClr val="86868B"/>
                </a:solidFill>
                <a:latin typeface="Arial" pitchFamily="34" charset="0"/>
                <a:ea typeface="Arial" pitchFamily="34" charset="-122"/>
                <a:cs typeface="Arial" pitchFamily="34" charset="-120"/>
              </a:rPr>
              <a:t>−  </a:t>
            </a:r>
            <a:pPr indent="0" marL="0">
              <a:spcAft>
                <a:spcPts val="1200"/>
              </a:spcAft>
              <a:buNone/>
            </a:pPr>
            <a:r>
              <a:rPr lang="en-US" sz="1350" dirty="0">
                <a:solidFill>
                  <a:srgbClr val="1D1D1F"/>
                </a:solidFill>
                <a:latin typeface="Arial" pitchFamily="34" charset="0"/>
                <a:ea typeface="Arial" pitchFamily="34" charset="-122"/>
                <a:cs typeface="Arial" pitchFamily="34" charset="-120"/>
              </a:rPr>
              <a:t>Your identity records live in a Google project, not in your database</a:t>
            </a:r>
            <a:endParaRPr lang="en-US" sz="1350" dirty="0"/>
          </a:p>
          <a:p>
            <a:pPr indent="0" marL="0">
              <a:spcAft>
                <a:spcPts val="1200"/>
              </a:spcAft>
              <a:buNone/>
            </a:pPr>
            <a:r>
              <a:rPr lang="en-US" sz="1350" b="1" dirty="0">
                <a:solidFill>
                  <a:srgbClr val="86868B"/>
                </a:solidFill>
                <a:latin typeface="Arial" pitchFamily="34" charset="0"/>
                <a:ea typeface="Arial" pitchFamily="34" charset="-122"/>
                <a:cs typeface="Arial" pitchFamily="34" charset="-120"/>
              </a:rPr>
              <a:t>−  </a:t>
            </a:r>
            <a:pPr indent="0" marL="0">
              <a:spcAft>
                <a:spcPts val="1200"/>
              </a:spcAft>
              <a:buNone/>
            </a:pPr>
            <a:r>
              <a:rPr lang="en-US" sz="1350" dirty="0">
                <a:solidFill>
                  <a:srgbClr val="1D1D1F"/>
                </a:solidFill>
                <a:latin typeface="Arial" pitchFamily="34" charset="0"/>
                <a:ea typeface="Arial" pitchFamily="34" charset="-122"/>
                <a:cs typeface="Arial" pitchFamily="34" charset="-120"/>
              </a:rPr>
              <a:t>Pricing tracks monthly active users once you leave the free tier</a:t>
            </a:r>
            <a:endParaRPr lang="en-US" sz="1350" dirty="0"/>
          </a:p>
          <a:p>
            <a:pPr indent="0" marL="0">
              <a:spcAft>
                <a:spcPts val="1200"/>
              </a:spcAft>
              <a:buNone/>
            </a:pPr>
            <a:r>
              <a:rPr lang="en-US" sz="1350" b="1" dirty="0">
                <a:solidFill>
                  <a:srgbClr val="86868B"/>
                </a:solidFill>
                <a:latin typeface="Arial" pitchFamily="34" charset="0"/>
                <a:ea typeface="Arial" pitchFamily="34" charset="-122"/>
                <a:cs typeface="Arial" pitchFamily="34" charset="-120"/>
              </a:rPr>
              <a:t>−  </a:t>
            </a:r>
            <a:pPr indent="0" marL="0">
              <a:spcAft>
                <a:spcPts val="1200"/>
              </a:spcAft>
              <a:buNone/>
            </a:pPr>
            <a:r>
              <a:rPr lang="en-US" sz="1350" dirty="0">
                <a:solidFill>
                  <a:srgbClr val="1D1D1F"/>
                </a:solidFill>
                <a:latin typeface="Arial" pitchFamily="34" charset="0"/>
                <a:ea typeface="Arial" pitchFamily="34" charset="-122"/>
                <a:cs typeface="Arial" pitchFamily="34" charset="-120"/>
              </a:rPr>
              <a:t>Their email templates and flows: customizable, not arbitrary</a:t>
            </a:r>
            <a:endParaRPr lang="en-US" sz="1350" dirty="0"/>
          </a:p>
          <a:p>
            <a:pPr indent="0" marL="0">
              <a:spcAft>
                <a:spcPts val="1200"/>
              </a:spcAft>
              <a:buNone/>
            </a:pPr>
            <a:r>
              <a:rPr lang="en-US" sz="1350" b="1" dirty="0">
                <a:solidFill>
                  <a:srgbClr val="86868B"/>
                </a:solidFill>
                <a:latin typeface="Arial" pitchFamily="34" charset="0"/>
                <a:ea typeface="Arial" pitchFamily="34" charset="-122"/>
                <a:cs typeface="Arial" pitchFamily="34" charset="-120"/>
              </a:rPr>
              <a:t>−  </a:t>
            </a:r>
            <a:pPr indent="0" marL="0">
              <a:spcAft>
                <a:spcPts val="1200"/>
              </a:spcAft>
              <a:buNone/>
            </a:pPr>
            <a:r>
              <a:rPr lang="en-US" sz="1350" dirty="0">
                <a:solidFill>
                  <a:srgbClr val="1D1D1F"/>
                </a:solidFill>
                <a:latin typeface="Arial" pitchFamily="34" charset="0"/>
                <a:ea typeface="Arial" pitchFamily="34" charset="-122"/>
                <a:cs typeface="Arial" pitchFamily="34" charset="-120"/>
              </a:rPr>
              <a:t>The uid becomes your primary key: export exists, migration is still work</a:t>
            </a:r>
            <a:endParaRPr lang="en-US" sz="1350" dirty="0"/>
          </a:p>
        </p:txBody>
      </p:sp>
      <p:sp>
        <p:nvSpPr>
          <p:cNvPr id="9" name="Shape 7"/>
          <p:cNvSpPr/>
          <p:nvPr/>
        </p:nvSpPr>
        <p:spPr>
          <a:xfrm>
            <a:off x="822960" y="4526280"/>
            <a:ext cx="10543032" cy="0"/>
          </a:xfrm>
          <a:prstGeom prst="line">
            <a:avLst/>
          </a:prstGeom>
          <a:noFill/>
          <a:ln w="9525">
            <a:solidFill>
              <a:srgbClr val="D2D2D7"/>
            </a:solidFill>
            <a:prstDash val="solid"/>
          </a:ln>
        </p:spPr>
      </p:sp>
      <p:sp>
        <p:nvSpPr>
          <p:cNvPr id="10" name="Text 8"/>
          <p:cNvSpPr/>
          <p:nvPr/>
        </p:nvSpPr>
        <p:spPr>
          <a:xfrm>
            <a:off x="822960" y="475488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Identity is a specialty, not a sprint task.</a:t>
            </a:r>
            <a:pPr indent="0" marL="0">
              <a:buNone/>
            </a:pPr>
            <a:r>
              <a:rPr lang="en-US" sz="1400" dirty="0">
                <a:solidFill>
                  <a:srgbClr val="86868B"/>
                </a:solidFill>
                <a:latin typeface="Arial" pitchFamily="34" charset="0"/>
                <a:ea typeface="Arial" pitchFamily="34" charset="-122"/>
                <a:cs typeface="Arial" pitchFamily="34" charset="-120"/>
              </a:rPr>
              <a:t> Everything on the left is a place where a subtle bug becomes a breach. The right-hand column is the price, and for a semester project it is worth paying.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PART 2 · FIREBASE AUTH</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firebase_auth, in Dart</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Sign-up, sign-in, the auth gate, and the rest of the lifecycle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9</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FIREBASE AUTH</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Providers, and the packages they need</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2960" y="1965960"/>
          <a:ext cx="10543032" cy="914400"/>
        </p:xfrm>
        <a:graphic>
          <a:graphicData uri="http://schemas.openxmlformats.org/drawingml/2006/table">
            <a:tbl>
              <a:tblPr/>
              <a:tblGrid>
                <a:gridCol w="1371600"/>
                <a:gridCol w="3057144"/>
                <a:gridCol w="3057144"/>
                <a:gridCol w="3057144"/>
              </a:tblGrid>
              <a:tr h="438912">
                <a:tc>
                  <a:txBody>
                    <a:bodyPr/>
                    <a:lstStyle/>
                    <a:p>
                      <a:pPr indent="0" marL="0">
                        <a:buNone/>
                      </a:pP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Provider</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Flutter packages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Worth knowing</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4864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Native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Email &amp; password</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firebase_auth</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enumeration protection is on by default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4864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Native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Phone (SMS)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firebase_auth</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costs money per message; SIM-swappable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4864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Federated</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Google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firebase_auth + google_sign_in</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the flow we implement today</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4864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Federated</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Apple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firebase_auth + sign_in_with_apple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required on iOS alongside other social logins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4864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Anonymous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Anonymous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firebase_auth</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a real uid before sign-up; link it later</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bl>
          </a:graphicData>
        </a:graphic>
      </p:graphicFrame>
      <p:sp>
        <p:nvSpPr>
          <p:cNvPr id="6" name="Shape 3"/>
          <p:cNvSpPr/>
          <p:nvPr/>
        </p:nvSpPr>
        <p:spPr>
          <a:xfrm>
            <a:off x="822960" y="5349240"/>
            <a:ext cx="10543032" cy="0"/>
          </a:xfrm>
          <a:prstGeom prst="line">
            <a:avLst/>
          </a:prstGeom>
          <a:noFill/>
          <a:ln w="9525">
            <a:solidFill>
              <a:srgbClr val="D2D2D7"/>
            </a:solidFill>
            <a:prstDash val="solid"/>
          </a:ln>
        </p:spPr>
      </p:sp>
      <p:sp>
        <p:nvSpPr>
          <p:cNvPr id="7" name="Text 4"/>
          <p:cNvSpPr/>
          <p:nvPr/>
        </p:nvSpPr>
        <p:spPr>
          <a:xfrm>
            <a:off x="822960" y="557784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One user, one uid, however many providers.</a:t>
            </a:r>
            <a:pPr indent="0" marL="0">
              <a:buNone/>
            </a:pPr>
            <a:r>
              <a:rPr lang="en-US" sz="1400" dirty="0">
                <a:solidFill>
                  <a:srgbClr val="86868B"/>
                </a:solidFill>
                <a:latin typeface="Arial" pitchFamily="34" charset="0"/>
                <a:ea typeface="Arial" pitchFamily="34" charset="-122"/>
                <a:cs typeface="Arial" pitchFamily="34" charset="-120"/>
              </a:rPr>
              <a:t> Firebase keys the account on the email by default, so signing in with Google after signing up with that address lands on the same user.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10</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FIREBASE AUTH</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Creating an account</a:t>
            </a:r>
            <a:endParaRPr lang="en-US" sz="3000" dirty="0"/>
          </a:p>
        </p:txBody>
      </p:sp>
      <p:sp>
        <p:nvSpPr>
          <p:cNvPr id="5" name="Shape 3"/>
          <p:cNvSpPr/>
          <p:nvPr/>
        </p:nvSpPr>
        <p:spPr>
          <a:xfrm>
            <a:off x="822960" y="1783080"/>
            <a:ext cx="6766560" cy="4251960"/>
          </a:xfrm>
          <a:prstGeom prst="roundRect">
            <a:avLst>
              <a:gd name="adj" fmla="val 2581"/>
            </a:avLst>
          </a:prstGeom>
          <a:solidFill>
            <a:srgbClr val="F5F5F7"/>
          </a:solidFill>
          <a:ln/>
        </p:spPr>
      </p:sp>
      <p:sp>
        <p:nvSpPr>
          <p:cNvPr id="6" name="Text 4"/>
          <p:cNvSpPr/>
          <p:nvPr/>
        </p:nvSpPr>
        <p:spPr>
          <a:xfrm>
            <a:off x="1234440" y="2103120"/>
            <a:ext cx="6035040" cy="3657600"/>
          </a:xfrm>
          <a:prstGeom prst="rect">
            <a:avLst/>
          </a:prstGeom>
          <a:noFill/>
          <a:ln/>
        </p:spPr>
        <p:txBody>
          <a:bodyPr wrap="square" lIns="0" tIns="0" rIns="0" bIns="0" rtlCol="0" anchor="t"/>
          <a:lstStyle/>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final auth = FirebaseAuth.instance;</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Future&lt;void&gt; signUp(String email, String password) async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try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final cred = await auth.createUserWithEmailAndPassword(</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email: email.trim(), password: password);</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await cred.user!.sendEmailVerification();</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 on FirebaseAuthException catch (e)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throw AuthFailure(switch (e.code)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'email-already-in-use' =&gt; 'That email is already registered.',</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'weak-password' =&gt; 'Use at least 8 characters.',</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'invalid-email' =&gt; 'Enter a valid email address.',</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_ =&gt; 'Sign-up could not be completed.',</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t>
            </a:r>
            <a:endParaRPr lang="en-US" sz="1050" dirty="0"/>
          </a:p>
        </p:txBody>
      </p:sp>
      <p:sp>
        <p:nvSpPr>
          <p:cNvPr id="7" name="Text 5"/>
          <p:cNvSpPr/>
          <p:nvPr/>
        </p:nvSpPr>
        <p:spPr>
          <a:xfrm>
            <a:off x="7863840" y="1810512"/>
            <a:ext cx="3520440"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Three things to notice</a:t>
            </a:r>
            <a:endParaRPr lang="en-US" sz="1400" dirty="0"/>
          </a:p>
        </p:txBody>
      </p:sp>
      <p:sp>
        <p:nvSpPr>
          <p:cNvPr id="8" name="Text 6"/>
          <p:cNvSpPr/>
          <p:nvPr/>
        </p:nvSpPr>
        <p:spPr>
          <a:xfrm>
            <a:off x="7863840" y="2240280"/>
            <a:ext cx="3520440" cy="3657600"/>
          </a:xfrm>
          <a:prstGeom prst="rect">
            <a:avLst/>
          </a:prstGeom>
          <a:noFill/>
          <a:ln/>
        </p:spPr>
        <p:txBody>
          <a:bodyPr wrap="square" lIns="0" tIns="0" rIns="0" bIns="0" rtlCol="0" anchor="t"/>
          <a:lstStyle/>
          <a:p>
            <a:pPr indent="0" marL="0">
              <a:spcAft>
                <a:spcPts val="1200"/>
              </a:spcAft>
              <a:buNone/>
            </a:pPr>
            <a:r>
              <a:rPr lang="en-US" sz="1150" dirty="0">
                <a:solidFill>
                  <a:srgbClr val="86868B"/>
                </a:solidFill>
                <a:latin typeface="Arial" pitchFamily="34" charset="0"/>
                <a:ea typeface="Arial" pitchFamily="34" charset="-122"/>
                <a:cs typeface="Arial" pitchFamily="34" charset="-120"/>
              </a:rPr>
              <a:t>createUserWithEmailAndPassword signs the new user in immediately. The password never reaches your code again after this line returns.</a:t>
            </a:r>
            <a:endParaRPr lang="en-US" sz="1150" dirty="0"/>
          </a:p>
          <a:p>
            <a:pPr indent="0" marL="0">
              <a:spcAft>
                <a:spcPts val="1200"/>
              </a:spcAft>
              <a:buNone/>
            </a:pPr>
            <a:r>
              <a:rPr lang="en-US" sz="1150" dirty="0">
                <a:solidFill>
                  <a:srgbClr val="86868B"/>
                </a:solidFill>
                <a:latin typeface="Arial" pitchFamily="34" charset="0"/>
                <a:ea typeface="Arial" pitchFamily="34" charset="-122"/>
                <a:cs typeface="Arial" pitchFamily="34" charset="-120"/>
              </a:rPr>
              <a:t>Send the verification mail here, not later. An unverified account should not reach your data.</a:t>
            </a:r>
            <a:endParaRPr lang="en-US" sz="1150" dirty="0"/>
          </a:p>
          <a:p>
            <a:pPr indent="0" marL="0">
              <a:spcAft>
                <a:spcPts val="1200"/>
              </a:spcAft>
              <a:buNone/>
            </a:pPr>
            <a:r>
              <a:rPr lang="en-US" sz="1150" dirty="0">
                <a:solidFill>
                  <a:srgbClr val="86868B"/>
                </a:solidFill>
                <a:latin typeface="Arial" pitchFamily="34" charset="0"/>
                <a:ea typeface="Arial" pitchFamily="34" charset="-122"/>
                <a:cs typeface="Arial" pitchFamily="34" charset="-120"/>
              </a:rPr>
              <a:t>Sign-up is the one endpoint that still reveals existence: email-already-in-use is unavoidable on a usable form. Rate limiting and App Check are the mitigation, not a vaguer message.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11</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FIREBASE AUTH</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Signing in, and the one message you show</a:t>
            </a:r>
            <a:endParaRPr lang="en-US" sz="3000" dirty="0"/>
          </a:p>
        </p:txBody>
      </p:sp>
      <p:sp>
        <p:nvSpPr>
          <p:cNvPr id="5" name="Shape 3"/>
          <p:cNvSpPr/>
          <p:nvPr/>
        </p:nvSpPr>
        <p:spPr>
          <a:xfrm>
            <a:off x="822960" y="1783080"/>
            <a:ext cx="6766560" cy="4023360"/>
          </a:xfrm>
          <a:prstGeom prst="roundRect">
            <a:avLst>
              <a:gd name="adj" fmla="val 2727"/>
            </a:avLst>
          </a:prstGeom>
          <a:solidFill>
            <a:srgbClr val="F5F5F7"/>
          </a:solidFill>
          <a:ln/>
        </p:spPr>
      </p:sp>
      <p:sp>
        <p:nvSpPr>
          <p:cNvPr id="6" name="Text 4"/>
          <p:cNvSpPr/>
          <p:nvPr/>
        </p:nvSpPr>
        <p:spPr>
          <a:xfrm>
            <a:off x="1234440" y="2103120"/>
            <a:ext cx="6035040" cy="3429000"/>
          </a:xfrm>
          <a:prstGeom prst="rect">
            <a:avLst/>
          </a:prstGeom>
          <a:noFill/>
          <a:ln/>
        </p:spPr>
        <p:txBody>
          <a:bodyPr wrap="square" lIns="0" tIns="0" rIns="0" bIns="0" rtlCol="0" anchor="t"/>
          <a:lstStyle/>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Future&lt;void&gt; signIn(String email, String password) async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try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await auth.signInWithEmailAndPassword(</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email: email.trim(), password: password);</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 on FirebaseAuthException catch (e) {</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 One message for every credential failure.</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const generic = 'Email or password is incorrect.';</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throw AuthFailure(switch (e.code)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'too-many-requests' =&gt; 'Too many attempts. Try again later.',</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'network-request-failed' =&gt; 'You appear to be offline.',</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 invalid-credential, invalid-email, user-disabled,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_ =&gt; generic,</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t>
            </a:r>
            <a:endParaRPr lang="en-US" sz="1050" dirty="0"/>
          </a:p>
        </p:txBody>
      </p:sp>
      <p:sp>
        <p:nvSpPr>
          <p:cNvPr id="7" name="Text 5"/>
          <p:cNvSpPr/>
          <p:nvPr/>
        </p:nvSpPr>
        <p:spPr>
          <a:xfrm>
            <a:off x="7863840" y="1810512"/>
            <a:ext cx="3520440"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Why one message</a:t>
            </a:r>
            <a:endParaRPr lang="en-US" sz="1400" dirty="0"/>
          </a:p>
        </p:txBody>
      </p:sp>
      <p:sp>
        <p:nvSpPr>
          <p:cNvPr id="8" name="Text 6"/>
          <p:cNvSpPr/>
          <p:nvPr/>
        </p:nvSpPr>
        <p:spPr>
          <a:xfrm>
            <a:off x="7863840" y="2240280"/>
            <a:ext cx="3520440" cy="3657600"/>
          </a:xfrm>
          <a:prstGeom prst="rect">
            <a:avLst/>
          </a:prstGeom>
          <a:noFill/>
          <a:ln/>
        </p:spPr>
        <p:txBody>
          <a:bodyPr wrap="square" lIns="0" tIns="0" rIns="0" bIns="0" rtlCol="0" anchor="t"/>
          <a:lstStyle/>
          <a:p>
            <a:pPr indent="0" marL="0">
              <a:spcAft>
                <a:spcPts val="1100"/>
              </a:spcAft>
              <a:buNone/>
            </a:pPr>
            <a:r>
              <a:rPr lang="en-US" sz="1150" dirty="0">
                <a:solidFill>
                  <a:srgbClr val="86868B"/>
                </a:solidFill>
                <a:latin typeface="Arial" pitchFamily="34" charset="0"/>
                <a:ea typeface="Arial" pitchFamily="34" charset="-122"/>
                <a:cs typeface="Arial" pitchFamily="34" charset="-120"/>
              </a:rPr>
              <a:t>Since late 2023 Firebase no longer tells you which half was wrong: unknown email and wrong password both arrive as invalid-credential.</a:t>
            </a:r>
            <a:endParaRPr lang="en-US" sz="1150" dirty="0"/>
          </a:p>
          <a:p>
            <a:pPr indent="0" marL="0">
              <a:spcAft>
                <a:spcPts val="1100"/>
              </a:spcAft>
              <a:buNone/>
            </a:pPr>
            <a:r>
              <a:rPr lang="en-US" sz="1150" dirty="0">
                <a:solidFill>
                  <a:srgbClr val="86868B"/>
                </a:solidFill>
                <a:latin typeface="Arial" pitchFamily="34" charset="0"/>
                <a:ea typeface="Arial" pitchFamily="34" charset="-122"/>
                <a:cs typeface="Arial" pitchFamily="34" charset="-120"/>
              </a:rPr>
              <a:t>That is deliberate. Your job is to keep it that way in the UI.</a:t>
            </a:r>
            <a:endParaRPr lang="en-US" sz="1150" dirty="0"/>
          </a:p>
          <a:p>
            <a:pPr indent="0" marL="0">
              <a:spcAft>
                <a:spcPts val="1100"/>
              </a:spcAft>
              <a:buNone/>
            </a:pPr>
            <a:r>
              <a:rPr lang="en-US" sz="1150" dirty="0">
                <a:solidFill>
                  <a:srgbClr val="86868B"/>
                </a:solidFill>
                <a:latin typeface="Arial" pitchFamily="34" charset="0"/>
                <a:ea typeface="Arial" pitchFamily="34" charset="-122"/>
                <a:cs typeface="Arial" pitchFamily="34" charset="-120"/>
              </a:rPr>
              <a:t>Only two codes deserve their own message, and neither of them says anything about whether the account exists.</a:t>
            </a:r>
            <a:endParaRPr lang="en-US" sz="1150" dirty="0"/>
          </a:p>
          <a:p>
            <a:pPr indent="0" marL="0">
              <a:spcAft>
                <a:spcPts val="1100"/>
              </a:spcAft>
              <a:buNone/>
            </a:pPr>
            <a:r>
              <a:rPr lang="en-US" sz="1150" b="1" dirty="0">
                <a:solidFill>
                  <a:srgbClr val="1D1D1F"/>
                </a:solidFill>
                <a:latin typeface="Arial" pitchFamily="34" charset="0"/>
                <a:ea typeface="Arial" pitchFamily="34" charset="-122"/>
                <a:cs typeface="Arial" pitchFamily="34" charset="-120"/>
              </a:rPr>
              <a:t>Never map user-disabled to its own message either: it confirms the account exists.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12</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FIREBASE AUTH</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Account enumeration through the login form</a:t>
            </a:r>
            <a:endParaRPr lang="en-US" sz="3000" dirty="0"/>
          </a:p>
        </p:txBody>
      </p:sp>
      <p:sp>
        <p:nvSpPr>
          <p:cNvPr id="5" name="Text 3"/>
          <p:cNvSpPr/>
          <p:nvPr/>
        </p:nvSpPr>
        <p:spPr>
          <a:xfrm>
            <a:off x="822960" y="1691640"/>
            <a:ext cx="10543032" cy="1234440"/>
          </a:xfrm>
          <a:prstGeom prst="rect">
            <a:avLst/>
          </a:prstGeom>
          <a:noFill/>
          <a:ln/>
        </p:spPr>
        <p:txBody>
          <a:bodyPr wrap="square" lIns="0" tIns="0" rIns="0" bIns="0" rtlCol="0" anchor="t"/>
          <a:lstStyle/>
          <a:p>
            <a:pPr indent="0" marL="0">
              <a:spcAft>
                <a:spcPts val="1000"/>
              </a:spcAft>
              <a:buNone/>
            </a:pPr>
            <a:r>
              <a:rPr lang="en-US" sz="1300" dirty="0">
                <a:solidFill>
                  <a:srgbClr val="1D1D1F"/>
                </a:solidFill>
                <a:latin typeface="Arial" pitchFamily="34" charset="0"/>
                <a:ea typeface="Arial" pitchFamily="34" charset="-122"/>
                <a:cs typeface="Arial" pitchFamily="34" charset="-120"/>
              </a:rPr>
              <a:t>“No user found for that email” turns the login form into a lookup service. Send it ten thousand addresses and it reports which ones have accounts, with no password and no breach involved.</a:t>
            </a:r>
            <a:endParaRPr lang="en-US" sz="1300" dirty="0"/>
          </a:p>
          <a:p>
            <a:pPr indent="0" marL="0">
              <a:spcAft>
                <a:spcPts val="1000"/>
              </a:spcAft>
              <a:buNone/>
            </a:pPr>
            <a:r>
              <a:rPr lang="en-US" sz="1300" dirty="0">
                <a:solidFill>
                  <a:srgbClr val="1D1D1F"/>
                </a:solidFill>
                <a:latin typeface="Arial" pitchFamily="34" charset="0"/>
                <a:ea typeface="Arial" pitchFamily="34" charset="-122"/>
                <a:cs typeface="Arial" pitchFamily="34" charset="-120"/>
              </a:rPr>
              <a:t>The resulting list is itself sensitive data. On a dating app, a health app or a debt-management app, membership alone is the sensitive fact. It is also the first step of a credential-stuffing run: confirm which accounts exist, then attack only those addresses.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2960" y="2788920"/>
          <a:ext cx="10543032" cy="914400"/>
        </p:xfrm>
        <a:graphic>
          <a:graphicData uri="http://schemas.openxmlformats.org/drawingml/2006/table">
            <a:tbl>
              <a:tblPr/>
              <a:tblGrid>
                <a:gridCol w="2743200"/>
                <a:gridCol w="3899916"/>
                <a:gridCol w="3899916"/>
              </a:tblGrid>
              <a:tr h="438912">
                <a:tc>
                  <a:txBody>
                    <a:bodyPr/>
                    <a:lstStyle/>
                    <a:p>
                      <a:pPr indent="0" marL="0">
                        <a:buNone/>
                      </a:pP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The old deck taught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What you get today</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Unknown email</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user-not-found</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invalid-credential</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Wrong password</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wrong-password</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invalid-credential</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Reset for an unknown email</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user-not-found</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succeeds silently</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fetchSignInMethodsForEmail</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the list of providers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an empty list, and deprecated</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bl>
          </a:graphicData>
        </a:graphic>
      </p:graphicFrame>
      <p:sp>
        <p:nvSpPr>
          <p:cNvPr id="7" name="Shape 4"/>
          <p:cNvSpPr/>
          <p:nvPr/>
        </p:nvSpPr>
        <p:spPr>
          <a:xfrm>
            <a:off x="822960" y="5257800"/>
            <a:ext cx="10543032" cy="0"/>
          </a:xfrm>
          <a:prstGeom prst="line">
            <a:avLst/>
          </a:prstGeom>
          <a:noFill/>
          <a:ln w="9525">
            <a:solidFill>
              <a:srgbClr val="D2D2D7"/>
            </a:solidFill>
            <a:prstDash val="solid"/>
          </a:ln>
        </p:spPr>
      </p:sp>
      <p:sp>
        <p:nvSpPr>
          <p:cNvPr id="8" name="Text 5"/>
          <p:cNvSpPr/>
          <p:nvPr/>
        </p:nvSpPr>
        <p:spPr>
          <a:xfrm>
            <a:off x="822960" y="548640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Identical message and identical behavior, whatever went wrong.</a:t>
            </a:r>
            <a:pPr indent="0" marL="0">
              <a:buNone/>
            </a:pPr>
            <a:r>
              <a:rPr lang="en-US" sz="1400" dirty="0">
                <a:solidFill>
                  <a:srgbClr val="86868B"/>
                </a:solidFill>
                <a:latin typeface="Arial" pitchFamily="34" charset="0"/>
                <a:ea typeface="Arial" pitchFamily="34" charset="-122"/>
                <a:cs typeface="Arial" pitchFamily="34" charset="-120"/>
              </a:rPr>
              <a:t> Back it with rate limiting and App Check, and check the protection is still on in Console → Authentication → Settings.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13</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FIREBASE AUTH</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authStateChanges() is the source of truth</a:t>
            </a:r>
            <a:endParaRPr lang="en-US" sz="3000" dirty="0"/>
          </a:p>
        </p:txBody>
      </p:sp>
      <p:sp>
        <p:nvSpPr>
          <p:cNvPr id="5" name="Shape 3"/>
          <p:cNvSpPr/>
          <p:nvPr/>
        </p:nvSpPr>
        <p:spPr>
          <a:xfrm>
            <a:off x="822960" y="1783080"/>
            <a:ext cx="6766560" cy="3611880"/>
          </a:xfrm>
          <a:prstGeom prst="roundRect">
            <a:avLst>
              <a:gd name="adj" fmla="val 3038"/>
            </a:avLst>
          </a:prstGeom>
          <a:solidFill>
            <a:srgbClr val="F5F5F7"/>
          </a:solidFill>
          <a:ln/>
        </p:spPr>
      </p:sp>
      <p:sp>
        <p:nvSpPr>
          <p:cNvPr id="6" name="Text 4"/>
          <p:cNvSpPr/>
          <p:nvPr/>
        </p:nvSpPr>
        <p:spPr>
          <a:xfrm>
            <a:off x="1234440" y="2103120"/>
            <a:ext cx="6035040" cy="3017520"/>
          </a:xfrm>
          <a:prstGeom prst="rect">
            <a:avLst/>
          </a:prstGeom>
          <a:noFill/>
          <a:ln/>
        </p:spPr>
        <p:txBody>
          <a:bodyPr wrap="square" lIns="0" tIns="0" rIns="0" bIns="0" rtlCol="0" anchor="t"/>
          <a:lstStyle/>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Don't check-and-push. Listen, and let the UI follow.</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StreamBuilder&lt;User?&gt;(</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stream: FirebaseAuth.instance.authStateChanges(),</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builder: (context, snapshot)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if (snapshot.connectionState == ConnectionState.waiting)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return const SplashScreen();   // session still restoring</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final user = snapshot.data;</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if (user == null) return const LoginScreen();</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if (!user.emailVerified) return const VerifyEmailScreen();</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return const HomeScreen();</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t>
            </a:r>
            <a:endParaRPr lang="en-US" sz="1050" dirty="0"/>
          </a:p>
        </p:txBody>
      </p:sp>
      <p:sp>
        <p:nvSpPr>
          <p:cNvPr id="7" name="Text 5"/>
          <p:cNvSpPr/>
          <p:nvPr/>
        </p:nvSpPr>
        <p:spPr>
          <a:xfrm>
            <a:off x="7863840" y="1810512"/>
            <a:ext cx="3520440"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Three streams, not one</a:t>
            </a:r>
            <a:endParaRPr lang="en-US" sz="1400" dirty="0"/>
          </a:p>
        </p:txBody>
      </p:sp>
      <p:sp>
        <p:nvSpPr>
          <p:cNvPr id="8" name="Text 6"/>
          <p:cNvSpPr/>
          <p:nvPr/>
        </p:nvSpPr>
        <p:spPr>
          <a:xfrm>
            <a:off x="7863840" y="2240280"/>
            <a:ext cx="3520440" cy="3200400"/>
          </a:xfrm>
          <a:prstGeom prst="rect">
            <a:avLst/>
          </a:prstGeom>
          <a:noFill/>
          <a:ln/>
        </p:spPr>
        <p:txBody>
          <a:bodyPr wrap="square" lIns="0" tIns="0" rIns="0" bIns="0" rtlCol="0" anchor="t"/>
          <a:lstStyle/>
          <a:p>
            <a:pPr indent="0" marL="0">
              <a:spcAft>
                <a:spcPts val="1100"/>
              </a:spcAft>
              <a:buNone/>
            </a:pPr>
            <a:r>
              <a:rPr lang="en-US" sz="1150" dirty="0">
                <a:solidFill>
                  <a:srgbClr val="86868B"/>
                </a:solidFill>
                <a:latin typeface="Arial" pitchFamily="34" charset="0"/>
                <a:ea typeface="Arial" pitchFamily="34" charset="-122"/>
                <a:cs typeface="Arial" pitchFamily="34" charset="-120"/>
              </a:rPr>
              <a:t>authStateChanges(): sign-in, sign-out, and once at startup when the SDK restores the session from disk.</a:t>
            </a:r>
            <a:endParaRPr lang="en-US" sz="1150" dirty="0"/>
          </a:p>
          <a:p>
            <a:pPr indent="0" marL="0">
              <a:spcAft>
                <a:spcPts val="1100"/>
              </a:spcAft>
              <a:buNone/>
            </a:pPr>
            <a:r>
              <a:rPr lang="en-US" sz="1150" dirty="0">
                <a:solidFill>
                  <a:srgbClr val="86868B"/>
                </a:solidFill>
                <a:latin typeface="Arial" pitchFamily="34" charset="0"/>
                <a:ea typeface="Arial" pitchFamily="34" charset="-122"/>
                <a:cs typeface="Arial" pitchFamily="34" charset="-120"/>
              </a:rPr>
              <a:t>idTokenChanges(): all of that, plus every hourly token refresh and every custom-claim change.</a:t>
            </a:r>
            <a:endParaRPr lang="en-US" sz="1150" dirty="0"/>
          </a:p>
          <a:p>
            <a:pPr indent="0" marL="0">
              <a:spcAft>
                <a:spcPts val="1100"/>
              </a:spcAft>
              <a:buNone/>
            </a:pPr>
            <a:r>
              <a:rPr lang="en-US" sz="1150" dirty="0">
                <a:solidFill>
                  <a:srgbClr val="86868B"/>
                </a:solidFill>
                <a:latin typeface="Arial" pitchFamily="34" charset="0"/>
                <a:ea typeface="Arial" pitchFamily="34" charset="-122"/>
                <a:cs typeface="Arial" pitchFamily="34" charset="-120"/>
              </a:rPr>
              <a:t>userChanges(): plus profile edits such as displayName.</a:t>
            </a:r>
            <a:endParaRPr lang="en-US" sz="1150" dirty="0"/>
          </a:p>
          <a:p>
            <a:pPr indent="0" marL="0">
              <a:spcAft>
                <a:spcPts val="1100"/>
              </a:spcAft>
              <a:buNone/>
            </a:pPr>
            <a:r>
              <a:rPr lang="en-US" sz="1150" b="1" dirty="0">
                <a:solidFill>
                  <a:srgbClr val="1D1D1F"/>
                </a:solidFill>
                <a:latin typeface="Arial" pitchFamily="34" charset="0"/>
                <a:ea typeface="Arial" pitchFamily="34" charset="-122"/>
                <a:cs typeface="Arial" pitchFamily="34" charset="-120"/>
              </a:rPr>
              <a:t>Never cache currentUser in a field of your own. It goes stale, and stale auth state is a security bug.</a:t>
            </a:r>
            <a:endParaRPr lang="en-US" sz="1150" dirty="0"/>
          </a:p>
        </p:txBody>
      </p:sp>
      <p:sp>
        <p:nvSpPr>
          <p:cNvPr id="9" name="Shape 7"/>
          <p:cNvSpPr/>
          <p:nvPr/>
        </p:nvSpPr>
        <p:spPr>
          <a:xfrm>
            <a:off x="822960" y="5486400"/>
            <a:ext cx="6766560" cy="0"/>
          </a:xfrm>
          <a:prstGeom prst="line">
            <a:avLst/>
          </a:prstGeom>
          <a:noFill/>
          <a:ln w="9525">
            <a:solidFill>
              <a:srgbClr val="D2D2D7"/>
            </a:solidFill>
            <a:prstDash val="solid"/>
          </a:ln>
        </p:spPr>
      </p:sp>
      <p:sp>
        <p:nvSpPr>
          <p:cNvPr id="10" name="Text 8"/>
          <p:cNvSpPr/>
          <p:nvPr/>
        </p:nvSpPr>
        <p:spPr>
          <a:xfrm>
            <a:off x="822960" y="5715000"/>
            <a:ext cx="676656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Route guards belong to the router, not to this widget.</a:t>
            </a:r>
            <a:pPr indent="0" marL="0">
              <a:buNone/>
            </a:pPr>
            <a:r>
              <a:rPr lang="en-US" sz="1400" dirty="0">
                <a:solidFill>
                  <a:srgbClr val="86868B"/>
                </a:solidFill>
                <a:latin typeface="Arial" pitchFamily="34" charset="0"/>
                <a:ea typeface="Arial" pitchFamily="34" charset="-122"/>
                <a:cs typeface="Arial" pitchFamily="34" charset="-120"/>
              </a:rPr>
              <a:t> With go_router you feed this stream into refreshListenable and decide in redirect (→ Lecture 8).</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14</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FIREBASE AUTH</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Reset, verification, sign-out</a:t>
            </a:r>
            <a:endParaRPr lang="en-US" sz="3000" dirty="0"/>
          </a:p>
        </p:txBody>
      </p:sp>
      <p:sp>
        <p:nvSpPr>
          <p:cNvPr id="5" name="Shape 3"/>
          <p:cNvSpPr/>
          <p:nvPr/>
        </p:nvSpPr>
        <p:spPr>
          <a:xfrm>
            <a:off x="822960" y="1783080"/>
            <a:ext cx="6766560" cy="3520440"/>
          </a:xfrm>
          <a:prstGeom prst="roundRect">
            <a:avLst>
              <a:gd name="adj" fmla="val 3117"/>
            </a:avLst>
          </a:prstGeom>
          <a:solidFill>
            <a:srgbClr val="F5F5F7"/>
          </a:solidFill>
          <a:ln/>
        </p:spPr>
      </p:sp>
      <p:sp>
        <p:nvSpPr>
          <p:cNvPr id="6" name="Text 4"/>
          <p:cNvSpPr/>
          <p:nvPr/>
        </p:nvSpPr>
        <p:spPr>
          <a:xfrm>
            <a:off x="1234440" y="2103120"/>
            <a:ext cx="6035040" cy="2926080"/>
          </a:xfrm>
          <a:prstGeom prst="rect">
            <a:avLst/>
          </a:prstGeom>
          <a:noFill/>
          <a:ln/>
        </p:spPr>
        <p:txBody>
          <a:bodyPr wrap="square" lIns="0" tIns="0" rIns="0" bIns="0" rtlCol="0" anchor="t"/>
          <a:lstStyle/>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Password reset: never reveal whether the address exists.</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await auth.sendPasswordResetEmail(email: email.trim());</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showMessage('If that email has an account, a link is on its way.');</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Email verification: send it, then re-read after they tap.</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await auth.currentUser?.sendEmailVerification();</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await auth.currentUser?.reload();</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final verified = auth.currentUser?.emailVerified ?? false;</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Sign-out: authStateChanges() then emits null.</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await auth.signOut();</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await GoogleSignIn.instance.signOut();  // end the provider session</a:t>
            </a:r>
            <a:endParaRPr lang="en-US" sz="1050" dirty="0"/>
          </a:p>
        </p:txBody>
      </p:sp>
      <p:sp>
        <p:nvSpPr>
          <p:cNvPr id="7" name="Text 5"/>
          <p:cNvSpPr/>
          <p:nvPr/>
        </p:nvSpPr>
        <p:spPr>
          <a:xfrm>
            <a:off x="7863840" y="1810512"/>
            <a:ext cx="3520440"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The parts people get wrong</a:t>
            </a:r>
            <a:endParaRPr lang="en-US" sz="1400" dirty="0"/>
          </a:p>
        </p:txBody>
      </p:sp>
      <p:sp>
        <p:nvSpPr>
          <p:cNvPr id="8" name="Text 6"/>
          <p:cNvSpPr/>
          <p:nvPr/>
        </p:nvSpPr>
        <p:spPr>
          <a:xfrm>
            <a:off x="7863840" y="2240280"/>
            <a:ext cx="3520440" cy="3291840"/>
          </a:xfrm>
          <a:prstGeom prst="rect">
            <a:avLst/>
          </a:prstGeom>
          <a:noFill/>
          <a:ln/>
        </p:spPr>
        <p:txBody>
          <a:bodyPr wrap="square" lIns="0" tIns="0" rIns="0" bIns="0" rtlCol="0" anchor="t"/>
          <a:lstStyle/>
          <a:p>
            <a:pPr indent="0" marL="0">
              <a:spcAft>
                <a:spcPts val="1200"/>
              </a:spcAft>
              <a:buNone/>
            </a:pPr>
            <a:r>
              <a:rPr lang="en-US" sz="1150" dirty="0">
                <a:solidFill>
                  <a:srgbClr val="86868B"/>
                </a:solidFill>
                <a:latin typeface="Arial" pitchFamily="34" charset="0"/>
                <a:ea typeface="Arial" pitchFamily="34" charset="-122"/>
                <a:cs typeface="Arial" pitchFamily="34" charset="-120"/>
              </a:rPr>
              <a:t>emailVerified on the cached User object does not update by itself. Call reload(), or listen to the stream, after the user follows the link.</a:t>
            </a:r>
            <a:endParaRPr lang="en-US" sz="1150" dirty="0"/>
          </a:p>
          <a:p>
            <a:pPr indent="0" marL="0">
              <a:spcAft>
                <a:spcPts val="1200"/>
              </a:spcAft>
              <a:buNone/>
            </a:pPr>
            <a:r>
              <a:rPr lang="en-US" sz="1150" dirty="0">
                <a:solidFill>
                  <a:srgbClr val="86868B"/>
                </a:solidFill>
                <a:latin typeface="Arial" pitchFamily="34" charset="0"/>
                <a:ea typeface="Arial" pitchFamily="34" charset="-122"/>
                <a:cs typeface="Arial" pitchFamily="34" charset="-120"/>
              </a:rPr>
              <a:t>signOut() clears the local session only. It does not revoke the refresh token server-side; that is an Admin SDK call.</a:t>
            </a:r>
            <a:endParaRPr lang="en-US" sz="1150" dirty="0"/>
          </a:p>
          <a:p>
            <a:pPr indent="0" marL="0">
              <a:spcAft>
                <a:spcPts val="1200"/>
              </a:spcAft>
              <a:buNone/>
            </a:pPr>
            <a:r>
              <a:rPr lang="en-US" sz="1150" dirty="0">
                <a:solidFill>
                  <a:srgbClr val="86868B"/>
                </a:solidFill>
                <a:latin typeface="Arial" pitchFamily="34" charset="0"/>
                <a:ea typeface="Arial" pitchFamily="34" charset="-122"/>
                <a:cs typeface="Arial" pitchFamily="34" charset="-120"/>
              </a:rPr>
              <a:t>Sign out of the federated provider too, or the next tap silently signs the same account straight back in.</a:t>
            </a:r>
            <a:endParaRPr lang="en-US" sz="1150" dirty="0"/>
          </a:p>
        </p:txBody>
      </p:sp>
      <p:sp>
        <p:nvSpPr>
          <p:cNvPr id="9" name="Shape 7"/>
          <p:cNvSpPr/>
          <p:nvPr/>
        </p:nvSpPr>
        <p:spPr>
          <a:xfrm>
            <a:off x="822960" y="5440680"/>
            <a:ext cx="6766560" cy="0"/>
          </a:xfrm>
          <a:prstGeom prst="line">
            <a:avLst/>
          </a:prstGeom>
          <a:noFill/>
          <a:ln w="9525">
            <a:solidFill>
              <a:srgbClr val="D2D2D7"/>
            </a:solidFill>
            <a:prstDash val="solid"/>
          </a:ln>
        </p:spPr>
      </p:sp>
      <p:sp>
        <p:nvSpPr>
          <p:cNvPr id="10" name="Text 8"/>
          <p:cNvSpPr/>
          <p:nvPr/>
        </p:nvSpPr>
        <p:spPr>
          <a:xfrm>
            <a:off x="822960" y="5669280"/>
            <a:ext cx="676656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Verification is a gate, not a notification.</a:t>
            </a:r>
            <a:pPr indent="0" marL="0">
              <a:buNone/>
            </a:pPr>
            <a:r>
              <a:rPr lang="en-US" sz="1400" dirty="0">
                <a:solidFill>
                  <a:srgbClr val="86868B"/>
                </a:solidFill>
                <a:latin typeface="Arial" pitchFamily="34" charset="0"/>
                <a:ea typeface="Arial" pitchFamily="34" charset="-122"/>
                <a:cs typeface="Arial" pitchFamily="34" charset="-120"/>
              </a:rPr>
              <a:t> Enforce it in the auth gate and again in your security rules, with request.auth.token.email_verified.</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15</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FIREBASE AUTH</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Linking, re-authentication, second factors</a:t>
            </a:r>
            <a:endParaRPr lang="en-US" sz="3000" dirty="0"/>
          </a:p>
        </p:txBody>
      </p:sp>
      <p:pic>
        <p:nvPicPr>
          <p:cNvPr id="5" name="Image 0" descr="/Users/dinu/dev/upb/mobile-and-embedded-computing/slides/assets/icons2/combine-ink.png">    </p:cNvPr>
          <p:cNvPicPr>
            <a:picLocks noChangeAspect="1"/>
          </p:cNvPicPr>
          <p:nvPr/>
        </p:nvPicPr>
        <p:blipFill>
          <a:blip r:embed="rId1"/>
          <a:stretch>
            <a:fillRect/>
          </a:stretch>
        </p:blipFill>
        <p:spPr>
          <a:xfrm>
            <a:off x="822960" y="1828800"/>
            <a:ext cx="384048" cy="384048"/>
          </a:xfrm>
          <a:prstGeom prst="rect">
            <a:avLst/>
          </a:prstGeom>
        </p:spPr>
      </p:pic>
      <p:sp>
        <p:nvSpPr>
          <p:cNvPr id="6" name="Text 3"/>
          <p:cNvSpPr/>
          <p:nvPr/>
        </p:nvSpPr>
        <p:spPr>
          <a:xfrm>
            <a:off x="822960" y="235915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Account linking</a:t>
            </a:r>
            <a:endParaRPr lang="en-US" sz="1450" dirty="0"/>
          </a:p>
        </p:txBody>
      </p:sp>
      <p:sp>
        <p:nvSpPr>
          <p:cNvPr id="7" name="Text 4"/>
          <p:cNvSpPr/>
          <p:nvPr/>
        </p:nvSpPr>
        <p:spPr>
          <a:xfrm>
            <a:off x="822960" y="281635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One person, one uid. linkWithCredential attaches Google to an existing email account, or upgrades an anonymous user without losing a single document.</a:t>
            </a:r>
            <a:endParaRPr lang="en-US" sz="1150" dirty="0"/>
          </a:p>
        </p:txBody>
      </p:sp>
      <p:pic>
        <p:nvPicPr>
          <p:cNvPr id="8" name="Image 1" descr="/Users/dinu/dev/upb/mobile-and-embedded-computing/slides/assets/icons2/history-ink.png">    </p:cNvPr>
          <p:cNvPicPr>
            <a:picLocks noChangeAspect="1"/>
          </p:cNvPicPr>
          <p:nvPr/>
        </p:nvPicPr>
        <p:blipFill>
          <a:blip r:embed="rId2"/>
          <a:stretch>
            <a:fillRect/>
          </a:stretch>
        </p:blipFill>
        <p:spPr>
          <a:xfrm>
            <a:off x="4663440" y="1828800"/>
            <a:ext cx="384048" cy="384048"/>
          </a:xfrm>
          <a:prstGeom prst="rect">
            <a:avLst/>
          </a:prstGeom>
        </p:spPr>
      </p:pic>
      <p:sp>
        <p:nvSpPr>
          <p:cNvPr id="9" name="Text 5"/>
          <p:cNvSpPr/>
          <p:nvPr/>
        </p:nvSpPr>
        <p:spPr>
          <a:xfrm>
            <a:off x="4663440" y="235915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Re-authentication</a:t>
            </a:r>
            <a:endParaRPr lang="en-US" sz="1450" dirty="0"/>
          </a:p>
        </p:txBody>
      </p:sp>
      <p:sp>
        <p:nvSpPr>
          <p:cNvPr id="10" name="Text 6"/>
          <p:cNvSpPr/>
          <p:nvPr/>
        </p:nvSpPr>
        <p:spPr>
          <a:xfrm>
            <a:off x="4663440" y="281635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Changing an email or password, or deleting an account, needs a recent login. Catch requires-recent-login and call reauthenticateWithCredential.</a:t>
            </a:r>
            <a:endParaRPr lang="en-US" sz="1150" dirty="0"/>
          </a:p>
        </p:txBody>
      </p:sp>
      <p:pic>
        <p:nvPicPr>
          <p:cNvPr id="11" name="Image 2" descr="/Users/dinu/dev/upb/mobile-and-embedded-computing/slides/assets/icons2/scan-ink.png">    </p:cNvPr>
          <p:cNvPicPr>
            <a:picLocks noChangeAspect="1"/>
          </p:cNvPicPr>
          <p:nvPr/>
        </p:nvPicPr>
        <p:blipFill>
          <a:blip r:embed="rId3"/>
          <a:stretch>
            <a:fillRect/>
          </a:stretch>
        </p:blipFill>
        <p:spPr>
          <a:xfrm>
            <a:off x="8503920" y="1828800"/>
            <a:ext cx="384048" cy="384048"/>
          </a:xfrm>
          <a:prstGeom prst="rect">
            <a:avLst/>
          </a:prstGeom>
        </p:spPr>
      </p:pic>
      <p:sp>
        <p:nvSpPr>
          <p:cNvPr id="12" name="Text 7"/>
          <p:cNvSpPr/>
          <p:nvPr/>
        </p:nvSpPr>
        <p:spPr>
          <a:xfrm>
            <a:off x="8503920" y="2359152"/>
            <a:ext cx="338328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Second factors</a:t>
            </a:r>
            <a:endParaRPr lang="en-US" sz="1450" dirty="0"/>
          </a:p>
        </p:txBody>
      </p:sp>
      <p:sp>
        <p:nvSpPr>
          <p:cNvPr id="13" name="Text 8"/>
          <p:cNvSpPr/>
          <p:nvPr/>
        </p:nvSpPr>
        <p:spPr>
          <a:xfrm>
            <a:off x="8503920" y="2816352"/>
            <a:ext cx="338328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SMS and TOTP enrollment via multiFactor, on the Identity Platform tier. local_auth's Face ID is a device lock on a session you already hold. It is useful, but it is not a factor.</a:t>
            </a:r>
            <a:endParaRPr lang="en-US" sz="1150" dirty="0"/>
          </a:p>
        </p:txBody>
      </p:sp>
      <p:sp>
        <p:nvSpPr>
          <p:cNvPr id="14" name="Shape 9"/>
          <p:cNvSpPr/>
          <p:nvPr/>
        </p:nvSpPr>
        <p:spPr>
          <a:xfrm>
            <a:off x="822960" y="4343400"/>
            <a:ext cx="10543032" cy="1600200"/>
          </a:xfrm>
          <a:prstGeom prst="roundRect">
            <a:avLst>
              <a:gd name="adj" fmla="val 6857"/>
            </a:avLst>
          </a:prstGeom>
          <a:solidFill>
            <a:srgbClr val="F5F5F7"/>
          </a:solidFill>
          <a:ln/>
        </p:spPr>
      </p:sp>
      <p:sp>
        <p:nvSpPr>
          <p:cNvPr id="15" name="Text 10"/>
          <p:cNvSpPr/>
          <p:nvPr/>
        </p:nvSpPr>
        <p:spPr>
          <a:xfrm>
            <a:off x="1234440" y="4663440"/>
            <a:ext cx="9811512" cy="1005840"/>
          </a:xfrm>
          <a:prstGeom prst="rect">
            <a:avLst/>
          </a:prstGeom>
          <a:noFill/>
          <a:ln/>
        </p:spPr>
        <p:txBody>
          <a:bodyPr wrap="square" lIns="0" tIns="0" rIns="0" bIns="0" rtlCol="0" anchor="t"/>
          <a:lstStyle/>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Anonymous → real account: same uid, same data, nothing migrated.</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final cred = GoogleAuthProvider.credential(idToken: idToken);</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await FirebaseAuth.instance.currentUser!.linkWithCredential(cred);</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on 'credential-already-in-use' the identity is taken: sign in with it</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PART 3 · OAUTH &amp; TOKENS</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Borrowing an identity you did not verify</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The credential handoff, and what the resulting token proves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17</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OAUTH</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The credential handoff, client-side</a:t>
            </a:r>
            <a:endParaRPr lang="en-US" sz="3000" dirty="0"/>
          </a:p>
        </p:txBody>
      </p:sp>
      <p:sp>
        <p:nvSpPr>
          <p:cNvPr id="5" name="Shape 3"/>
          <p:cNvSpPr/>
          <p:nvPr/>
        </p:nvSpPr>
        <p:spPr>
          <a:xfrm>
            <a:off x="822960" y="1810512"/>
            <a:ext cx="5943600" cy="621792"/>
          </a:xfrm>
          <a:prstGeom prst="roundRect">
            <a:avLst>
              <a:gd name="adj" fmla="val 13235"/>
            </a:avLst>
          </a:prstGeom>
          <a:solidFill>
            <a:srgbClr val="000000"/>
          </a:solidFill>
          <a:ln/>
        </p:spPr>
      </p:sp>
      <p:sp>
        <p:nvSpPr>
          <p:cNvPr id="6" name="Text 4"/>
          <p:cNvSpPr/>
          <p:nvPr/>
        </p:nvSpPr>
        <p:spPr>
          <a:xfrm>
            <a:off x="1115568" y="1883664"/>
            <a:ext cx="539496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1 · App asks Google to sign the user in</a:t>
            </a:r>
            <a:endParaRPr lang="en-US" sz="1250" dirty="0"/>
          </a:p>
        </p:txBody>
      </p:sp>
      <p:sp>
        <p:nvSpPr>
          <p:cNvPr id="7" name="Text 5"/>
          <p:cNvSpPr/>
          <p:nvPr/>
        </p:nvSpPr>
        <p:spPr>
          <a:xfrm>
            <a:off x="1115568" y="2139696"/>
            <a:ext cx="5394960" cy="246888"/>
          </a:xfrm>
          <a:prstGeom prst="rect">
            <a:avLst/>
          </a:prstGeom>
          <a:noFill/>
          <a:ln/>
        </p:spPr>
        <p:txBody>
          <a:bodyPr wrap="square" lIns="0" tIns="0" rIns="0" bIns="0" rtlCol="0" anchor="ctr"/>
          <a:lstStyle/>
          <a:p>
            <a:pPr indent="0" marL="0">
              <a:buNone/>
            </a:pPr>
            <a:r>
              <a:rPr lang="en-US" sz="1000" dirty="0">
                <a:solidFill>
                  <a:srgbClr val="A1A1A6"/>
                </a:solidFill>
                <a:latin typeface="Courier New" pitchFamily="34" charset="0"/>
                <a:ea typeface="Courier New" pitchFamily="34" charset="-122"/>
                <a:cs typeface="Courier New" pitchFamily="34" charset="-120"/>
              </a:rPr>
              <a:t>GoogleSignIn.instance.authenticate()</a:t>
            </a:r>
            <a:endParaRPr lang="en-US" sz="1000" dirty="0"/>
          </a:p>
        </p:txBody>
      </p:sp>
      <p:sp>
        <p:nvSpPr>
          <p:cNvPr id="8" name="Shape 6"/>
          <p:cNvSpPr/>
          <p:nvPr/>
        </p:nvSpPr>
        <p:spPr>
          <a:xfrm>
            <a:off x="3794760" y="2432304"/>
            <a:ext cx="0" cy="164592"/>
          </a:xfrm>
          <a:prstGeom prst="line">
            <a:avLst/>
          </a:prstGeom>
          <a:noFill/>
          <a:ln w="15875">
            <a:solidFill>
              <a:srgbClr val="86868B"/>
            </a:solidFill>
            <a:prstDash val="solid"/>
            <a:tailEnd type="triangle"/>
          </a:ln>
        </p:spPr>
      </p:sp>
      <p:sp>
        <p:nvSpPr>
          <p:cNvPr id="9" name="Shape 7"/>
          <p:cNvSpPr/>
          <p:nvPr/>
        </p:nvSpPr>
        <p:spPr>
          <a:xfrm>
            <a:off x="822960" y="2596896"/>
            <a:ext cx="5943600" cy="621792"/>
          </a:xfrm>
          <a:prstGeom prst="roundRect">
            <a:avLst>
              <a:gd name="adj" fmla="val 13235"/>
            </a:avLst>
          </a:prstGeom>
          <a:solidFill>
            <a:srgbClr val="FFFFFF"/>
          </a:solidFill>
          <a:ln w="12700">
            <a:solidFill>
              <a:srgbClr val="D2D2D7"/>
            </a:solidFill>
            <a:prstDash val="solid"/>
          </a:ln>
        </p:spPr>
      </p:sp>
      <p:sp>
        <p:nvSpPr>
          <p:cNvPr id="10" name="Text 8"/>
          <p:cNvSpPr/>
          <p:nvPr/>
        </p:nvSpPr>
        <p:spPr>
          <a:xfrm>
            <a:off x="1115568" y="2670048"/>
            <a:ext cx="5394960" cy="274320"/>
          </a:xfrm>
          <a:prstGeom prst="rect">
            <a:avLst/>
          </a:prstGeom>
          <a:noFill/>
          <a:ln/>
        </p:spPr>
        <p:txBody>
          <a:bodyPr wrap="square" lIns="0" tIns="0" rIns="0" bIns="0" rtlCol="0" anchor="ctr"/>
          <a:lstStyle/>
          <a:p>
            <a:pPr indent="0" marL="0">
              <a:buNone/>
            </a:pPr>
            <a:r>
              <a:rPr lang="en-US" sz="1250" b="1" dirty="0">
                <a:solidFill>
                  <a:srgbClr val="1D1D1F"/>
                </a:solidFill>
                <a:latin typeface="Arial" pitchFamily="34" charset="0"/>
                <a:ea typeface="Arial" pitchFamily="34" charset="-122"/>
                <a:cs typeface="Arial" pitchFamily="34" charset="-120"/>
              </a:rPr>
              <a:t>2 · Google returns an OAuth ID token</a:t>
            </a:r>
            <a:endParaRPr lang="en-US" sz="1250" dirty="0"/>
          </a:p>
        </p:txBody>
      </p:sp>
      <p:sp>
        <p:nvSpPr>
          <p:cNvPr id="11" name="Text 9"/>
          <p:cNvSpPr/>
          <p:nvPr/>
        </p:nvSpPr>
        <p:spPr>
          <a:xfrm>
            <a:off x="1115568" y="2926080"/>
            <a:ext cx="5394960" cy="246888"/>
          </a:xfrm>
          <a:prstGeom prst="rect">
            <a:avLst/>
          </a:prstGeom>
          <a:noFill/>
          <a:ln/>
        </p:spPr>
        <p:txBody>
          <a:bodyPr wrap="square" lIns="0" tIns="0" rIns="0" bIns="0" rtlCol="0" anchor="ctr"/>
          <a:lstStyle/>
          <a:p>
            <a:pPr indent="0" marL="0">
              <a:buNone/>
            </a:pPr>
            <a:r>
              <a:rPr lang="en-US" sz="1000" dirty="0">
                <a:solidFill>
                  <a:srgbClr val="86868B"/>
                </a:solidFill>
                <a:latin typeface="Courier New" pitchFamily="34" charset="0"/>
                <a:ea typeface="Courier New" pitchFamily="34" charset="-122"/>
                <a:cs typeface="Courier New" pitchFamily="34" charset="-120"/>
              </a:rPr>
              <a:t>a JWT signed by Google, naming this user</a:t>
            </a:r>
            <a:endParaRPr lang="en-US" sz="1000" dirty="0"/>
          </a:p>
        </p:txBody>
      </p:sp>
      <p:sp>
        <p:nvSpPr>
          <p:cNvPr id="12" name="Shape 10"/>
          <p:cNvSpPr/>
          <p:nvPr/>
        </p:nvSpPr>
        <p:spPr>
          <a:xfrm>
            <a:off x="3794760" y="3218688"/>
            <a:ext cx="0" cy="164592"/>
          </a:xfrm>
          <a:prstGeom prst="line">
            <a:avLst/>
          </a:prstGeom>
          <a:noFill/>
          <a:ln w="15875">
            <a:solidFill>
              <a:srgbClr val="86868B"/>
            </a:solidFill>
            <a:prstDash val="solid"/>
            <a:tailEnd type="triangle"/>
          </a:ln>
        </p:spPr>
      </p:sp>
      <p:sp>
        <p:nvSpPr>
          <p:cNvPr id="13" name="Shape 11"/>
          <p:cNvSpPr/>
          <p:nvPr/>
        </p:nvSpPr>
        <p:spPr>
          <a:xfrm>
            <a:off x="822960" y="3383280"/>
            <a:ext cx="5943600" cy="621792"/>
          </a:xfrm>
          <a:prstGeom prst="roundRect">
            <a:avLst>
              <a:gd name="adj" fmla="val 17647"/>
            </a:avLst>
          </a:prstGeom>
          <a:solidFill>
            <a:srgbClr val="F5F5F7"/>
          </a:solidFill>
          <a:ln/>
        </p:spPr>
      </p:sp>
      <p:sp>
        <p:nvSpPr>
          <p:cNvPr id="14" name="Text 12"/>
          <p:cNvSpPr/>
          <p:nvPr/>
        </p:nvSpPr>
        <p:spPr>
          <a:xfrm>
            <a:off x="1115568" y="3456432"/>
            <a:ext cx="5394960" cy="274320"/>
          </a:xfrm>
          <a:prstGeom prst="rect">
            <a:avLst/>
          </a:prstGeom>
          <a:noFill/>
          <a:ln/>
        </p:spPr>
        <p:txBody>
          <a:bodyPr wrap="square" lIns="0" tIns="0" rIns="0" bIns="0" rtlCol="0" anchor="ctr"/>
          <a:lstStyle/>
          <a:p>
            <a:pPr indent="0" marL="0">
              <a:buNone/>
            </a:pPr>
            <a:r>
              <a:rPr lang="en-US" sz="1250" b="1" dirty="0">
                <a:solidFill>
                  <a:srgbClr val="1D1D1F"/>
                </a:solidFill>
                <a:latin typeface="Arial" pitchFamily="34" charset="0"/>
                <a:ea typeface="Arial" pitchFamily="34" charset="-122"/>
                <a:cs typeface="Arial" pitchFamily="34" charset="-120"/>
              </a:rPr>
              <a:t>3 · App wraps it as an AuthCredential</a:t>
            </a:r>
            <a:endParaRPr lang="en-US" sz="1250" dirty="0"/>
          </a:p>
        </p:txBody>
      </p:sp>
      <p:sp>
        <p:nvSpPr>
          <p:cNvPr id="15" name="Text 13"/>
          <p:cNvSpPr/>
          <p:nvPr/>
        </p:nvSpPr>
        <p:spPr>
          <a:xfrm>
            <a:off x="1115568" y="3712464"/>
            <a:ext cx="5394960" cy="246888"/>
          </a:xfrm>
          <a:prstGeom prst="rect">
            <a:avLst/>
          </a:prstGeom>
          <a:noFill/>
          <a:ln/>
        </p:spPr>
        <p:txBody>
          <a:bodyPr wrap="square" lIns="0" tIns="0" rIns="0" bIns="0" rtlCol="0" anchor="ctr"/>
          <a:lstStyle/>
          <a:p>
            <a:pPr indent="0" marL="0">
              <a:buNone/>
            </a:pPr>
            <a:r>
              <a:rPr lang="en-US" sz="1000" dirty="0">
                <a:solidFill>
                  <a:srgbClr val="86868B"/>
                </a:solidFill>
                <a:latin typeface="Courier New" pitchFamily="34" charset="0"/>
                <a:ea typeface="Courier New" pitchFamily="34" charset="-122"/>
                <a:cs typeface="Courier New" pitchFamily="34" charset="-120"/>
              </a:rPr>
              <a:t>GoogleAuthProvider.credential(idToken: …)</a:t>
            </a:r>
            <a:endParaRPr lang="en-US" sz="1000" dirty="0"/>
          </a:p>
        </p:txBody>
      </p:sp>
      <p:sp>
        <p:nvSpPr>
          <p:cNvPr id="16" name="Shape 14"/>
          <p:cNvSpPr/>
          <p:nvPr/>
        </p:nvSpPr>
        <p:spPr>
          <a:xfrm>
            <a:off x="3794760" y="4005072"/>
            <a:ext cx="0" cy="164592"/>
          </a:xfrm>
          <a:prstGeom prst="line">
            <a:avLst/>
          </a:prstGeom>
          <a:noFill/>
          <a:ln w="15875">
            <a:solidFill>
              <a:srgbClr val="86868B"/>
            </a:solidFill>
            <a:prstDash val="solid"/>
            <a:tailEnd type="triangle"/>
          </a:ln>
        </p:spPr>
      </p:sp>
      <p:sp>
        <p:nvSpPr>
          <p:cNvPr id="17" name="Shape 15"/>
          <p:cNvSpPr/>
          <p:nvPr/>
        </p:nvSpPr>
        <p:spPr>
          <a:xfrm>
            <a:off x="822960" y="4169664"/>
            <a:ext cx="5943600" cy="621792"/>
          </a:xfrm>
          <a:prstGeom prst="roundRect">
            <a:avLst>
              <a:gd name="adj" fmla="val 13235"/>
            </a:avLst>
          </a:prstGeom>
          <a:solidFill>
            <a:srgbClr val="000000"/>
          </a:solidFill>
          <a:ln/>
        </p:spPr>
      </p:sp>
      <p:sp>
        <p:nvSpPr>
          <p:cNvPr id="18" name="Text 16"/>
          <p:cNvSpPr/>
          <p:nvPr/>
        </p:nvSpPr>
        <p:spPr>
          <a:xfrm>
            <a:off x="1115568" y="4242816"/>
            <a:ext cx="539496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4 · Firebase verifies it, opens a session</a:t>
            </a:r>
            <a:endParaRPr lang="en-US" sz="1250" dirty="0"/>
          </a:p>
        </p:txBody>
      </p:sp>
      <p:sp>
        <p:nvSpPr>
          <p:cNvPr id="19" name="Text 17"/>
          <p:cNvSpPr/>
          <p:nvPr/>
        </p:nvSpPr>
        <p:spPr>
          <a:xfrm>
            <a:off x="1115568" y="4498848"/>
            <a:ext cx="5394960" cy="246888"/>
          </a:xfrm>
          <a:prstGeom prst="rect">
            <a:avLst/>
          </a:prstGeom>
          <a:noFill/>
          <a:ln/>
        </p:spPr>
        <p:txBody>
          <a:bodyPr wrap="square" lIns="0" tIns="0" rIns="0" bIns="0" rtlCol="0" anchor="ctr"/>
          <a:lstStyle/>
          <a:p>
            <a:pPr indent="0" marL="0">
              <a:buNone/>
            </a:pPr>
            <a:r>
              <a:rPr lang="en-US" sz="1000" dirty="0">
                <a:solidFill>
                  <a:srgbClr val="A1A1A6"/>
                </a:solidFill>
                <a:latin typeface="Courier New" pitchFamily="34" charset="0"/>
                <a:ea typeface="Courier New" pitchFamily="34" charset="-122"/>
                <a:cs typeface="Courier New" pitchFamily="34" charset="-120"/>
              </a:rPr>
              <a:t>signInWithCredential(credential)</a:t>
            </a:r>
            <a:endParaRPr lang="en-US" sz="1000" dirty="0"/>
          </a:p>
        </p:txBody>
      </p:sp>
      <p:sp>
        <p:nvSpPr>
          <p:cNvPr id="20" name="Shape 18"/>
          <p:cNvSpPr/>
          <p:nvPr/>
        </p:nvSpPr>
        <p:spPr>
          <a:xfrm>
            <a:off x="3794760" y="4791456"/>
            <a:ext cx="0" cy="164592"/>
          </a:xfrm>
          <a:prstGeom prst="line">
            <a:avLst/>
          </a:prstGeom>
          <a:noFill/>
          <a:ln w="15875">
            <a:solidFill>
              <a:srgbClr val="86868B"/>
            </a:solidFill>
            <a:prstDash val="solid"/>
            <a:tailEnd type="triangle"/>
          </a:ln>
        </p:spPr>
      </p:sp>
      <p:sp>
        <p:nvSpPr>
          <p:cNvPr id="21" name="Shape 19"/>
          <p:cNvSpPr/>
          <p:nvPr/>
        </p:nvSpPr>
        <p:spPr>
          <a:xfrm>
            <a:off x="822960" y="4956048"/>
            <a:ext cx="5943600" cy="621792"/>
          </a:xfrm>
          <a:prstGeom prst="roundRect">
            <a:avLst>
              <a:gd name="adj" fmla="val 13235"/>
            </a:avLst>
          </a:prstGeom>
          <a:solidFill>
            <a:srgbClr val="FFFFFF"/>
          </a:solidFill>
          <a:ln w="12700">
            <a:solidFill>
              <a:srgbClr val="D2D2D7"/>
            </a:solidFill>
            <a:prstDash val="solid"/>
          </a:ln>
        </p:spPr>
      </p:sp>
      <p:sp>
        <p:nvSpPr>
          <p:cNvPr id="22" name="Text 20"/>
          <p:cNvSpPr/>
          <p:nvPr/>
        </p:nvSpPr>
        <p:spPr>
          <a:xfrm>
            <a:off x="1115568" y="5029200"/>
            <a:ext cx="5394960" cy="274320"/>
          </a:xfrm>
          <a:prstGeom prst="rect">
            <a:avLst/>
          </a:prstGeom>
          <a:noFill/>
          <a:ln/>
        </p:spPr>
        <p:txBody>
          <a:bodyPr wrap="square" lIns="0" tIns="0" rIns="0" bIns="0" rtlCol="0" anchor="ctr"/>
          <a:lstStyle/>
          <a:p>
            <a:pPr indent="0" marL="0">
              <a:buNone/>
            </a:pPr>
            <a:r>
              <a:rPr lang="en-US" sz="1250" b="1" dirty="0">
                <a:solidFill>
                  <a:srgbClr val="1D1D1F"/>
                </a:solidFill>
                <a:latin typeface="Arial" pitchFamily="34" charset="0"/>
                <a:ea typeface="Arial" pitchFamily="34" charset="-122"/>
                <a:cs typeface="Arial" pitchFamily="34" charset="-120"/>
              </a:rPr>
              <a:t>5 · Your backend verifies the Firebase token</a:t>
            </a:r>
            <a:endParaRPr lang="en-US" sz="1250" dirty="0"/>
          </a:p>
        </p:txBody>
      </p:sp>
      <p:sp>
        <p:nvSpPr>
          <p:cNvPr id="23" name="Text 21"/>
          <p:cNvSpPr/>
          <p:nvPr/>
        </p:nvSpPr>
        <p:spPr>
          <a:xfrm>
            <a:off x="1115568" y="5285232"/>
            <a:ext cx="5394960" cy="246888"/>
          </a:xfrm>
          <a:prstGeom prst="rect">
            <a:avLst/>
          </a:prstGeom>
          <a:noFill/>
          <a:ln/>
        </p:spPr>
        <p:txBody>
          <a:bodyPr wrap="square" lIns="0" tIns="0" rIns="0" bIns="0" rtlCol="0" anchor="ctr"/>
          <a:lstStyle/>
          <a:p>
            <a:pPr indent="0" marL="0">
              <a:buNone/>
            </a:pPr>
            <a:r>
              <a:rPr lang="en-US" sz="1000" dirty="0">
                <a:solidFill>
                  <a:srgbClr val="86868B"/>
                </a:solidFill>
                <a:latin typeface="Courier New" pitchFamily="34" charset="0"/>
                <a:ea typeface="Courier New" pitchFamily="34" charset="-122"/>
                <a:cs typeface="Courier New" pitchFamily="34" charset="-120"/>
              </a:rPr>
              <a:t>admin.auth().verifyIdToken(idToken)</a:t>
            </a:r>
            <a:endParaRPr lang="en-US" sz="1000" dirty="0"/>
          </a:p>
        </p:txBody>
      </p:sp>
      <p:sp>
        <p:nvSpPr>
          <p:cNvPr id="24" name="Text 22"/>
          <p:cNvSpPr/>
          <p:nvPr/>
        </p:nvSpPr>
        <p:spPr>
          <a:xfrm>
            <a:off x="7223760" y="1810512"/>
            <a:ext cx="4114800"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Every step runs on the device</a:t>
            </a:r>
            <a:endParaRPr lang="en-US" sz="1400" dirty="0"/>
          </a:p>
        </p:txBody>
      </p:sp>
      <p:sp>
        <p:nvSpPr>
          <p:cNvPr id="25" name="Text 23"/>
          <p:cNvSpPr/>
          <p:nvPr/>
        </p:nvSpPr>
        <p:spPr>
          <a:xfrm>
            <a:off x="7223760" y="2240280"/>
            <a:ext cx="4114800" cy="3566160"/>
          </a:xfrm>
          <a:prstGeom prst="rect">
            <a:avLst/>
          </a:prstGeom>
          <a:noFill/>
          <a:ln/>
        </p:spPr>
        <p:txBody>
          <a:bodyPr wrap="square" lIns="0" tIns="0" rIns="0" bIns="0" rtlCol="0" anchor="t"/>
          <a:lstStyle/>
          <a:p>
            <a:pPr indent="0" marL="0">
              <a:spcAft>
                <a:spcPts val="1200"/>
              </a:spcAft>
              <a:buNone/>
            </a:pPr>
            <a:r>
              <a:rPr lang="en-US" sz="1150" dirty="0">
                <a:solidFill>
                  <a:srgbClr val="86868B"/>
                </a:solidFill>
                <a:latin typeface="Arial" pitchFamily="34" charset="0"/>
                <a:ea typeface="Arial" pitchFamily="34" charset="-122"/>
                <a:cs typeface="Arial" pitchFamily="34" charset="-120"/>
              </a:rPr>
              <a:t>This is the flow a Flutter app uses. Nothing here needs a server: the redirect-and-Cloud-Function variant is a different flow, for the web.</a:t>
            </a:r>
            <a:endParaRPr lang="en-US" sz="1150" dirty="0"/>
          </a:p>
          <a:p>
            <a:pPr indent="0" marL="0">
              <a:spcAft>
                <a:spcPts val="1200"/>
              </a:spcAft>
              <a:buNone/>
            </a:pPr>
            <a:r>
              <a:rPr lang="en-US" sz="1150" dirty="0">
                <a:solidFill>
                  <a:srgbClr val="86868B"/>
                </a:solidFill>
                <a:latin typeface="Arial" pitchFamily="34" charset="0"/>
                <a:ea typeface="Arial" pitchFamily="34" charset="-122"/>
                <a:cs typeface="Arial" pitchFamily="34" charset="-120"/>
              </a:rPr>
              <a:t>Firebase never sees the user's Google password. It checks Google's signature on the token, then mints a session of its own.</a:t>
            </a:r>
            <a:endParaRPr lang="en-US" sz="1150" dirty="0"/>
          </a:p>
          <a:p>
            <a:pPr indent="0" marL="0">
              <a:spcAft>
                <a:spcPts val="1200"/>
              </a:spcAft>
              <a:buNone/>
            </a:pPr>
            <a:r>
              <a:rPr lang="en-US" sz="1150" dirty="0">
                <a:solidFill>
                  <a:srgbClr val="86868B"/>
                </a:solidFill>
                <a:latin typeface="Arial" pitchFamily="34" charset="0"/>
                <a:ea typeface="Arial" pitchFamily="34" charset="-122"/>
                <a:cs typeface="Arial" pitchFamily="34" charset="-120"/>
              </a:rPr>
              <a:t>Same shape for Apple, Microsoft, GitHub and Facebook: obtain the provider credential, then hand it to signInWithCredential.</a:t>
            </a:r>
            <a:endParaRPr lang="en-US" sz="1150" dirty="0"/>
          </a:p>
          <a:p>
            <a:pPr indent="0" marL="0">
              <a:spcAft>
                <a:spcPts val="1200"/>
              </a:spcAft>
              <a:buNone/>
            </a:pPr>
            <a:r>
              <a:rPr lang="en-US" sz="1150" b="1" dirty="0">
                <a:solidFill>
                  <a:srgbClr val="1D1D1F"/>
                </a:solidFill>
                <a:latin typeface="Arial" pitchFamily="34" charset="0"/>
                <a:ea typeface="Arial" pitchFamily="34" charset="-122"/>
                <a:cs typeface="Arial" pitchFamily="34" charset="-120"/>
              </a:rPr>
              <a:t>Step 5 is the one people skip. Your own API still has to verify the token it receives.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18</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OAUTH</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Google sign-in, end to end</a:t>
            </a:r>
            <a:endParaRPr lang="en-US" sz="3000" dirty="0"/>
          </a:p>
        </p:txBody>
      </p:sp>
      <p:sp>
        <p:nvSpPr>
          <p:cNvPr id="5" name="Shape 3"/>
          <p:cNvSpPr/>
          <p:nvPr/>
        </p:nvSpPr>
        <p:spPr>
          <a:xfrm>
            <a:off x="822960" y="1783080"/>
            <a:ext cx="7040880" cy="4160520"/>
          </a:xfrm>
          <a:prstGeom prst="roundRect">
            <a:avLst>
              <a:gd name="adj" fmla="val 2637"/>
            </a:avLst>
          </a:prstGeom>
          <a:solidFill>
            <a:srgbClr val="F5F5F7"/>
          </a:solidFill>
          <a:ln/>
        </p:spPr>
      </p:sp>
      <p:sp>
        <p:nvSpPr>
          <p:cNvPr id="6" name="Text 4"/>
          <p:cNvSpPr/>
          <p:nvPr/>
        </p:nvSpPr>
        <p:spPr>
          <a:xfrm>
            <a:off x="1234440" y="2103120"/>
            <a:ext cx="6309360" cy="3566160"/>
          </a:xfrm>
          <a:prstGeom prst="rect">
            <a:avLst/>
          </a:prstGeom>
          <a:noFill/>
          <a:ln/>
        </p:spPr>
        <p:txBody>
          <a:bodyPr wrap="square" lIns="0" tIns="0" rIns="0" bIns="0" rtlCol="0" anchor="t"/>
          <a:lstStyle/>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import 'package:google_sign_in/google_sign_in.dart';</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google_sign_in 7.x: initialize once, at app start.</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await GoogleSignIn.instance.initialize();</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Future&lt;UserCredential&gt; signInWithGoogle() async {</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 1. provider sign-in: the system account picker</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final account = await GoogleSignIn.instance.authenticate();</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 2. Google's ID token for this user</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final idToken = account.authentication.idToken;</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 3. wrap it as a Firebase credential</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final credential = GoogleAuthProvider.credential(idToken: idToken);</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 4. exchange it for a Firebase session</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return FirebaseAuth.instance.signInWithCredential(credential);</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t>
            </a:r>
            <a:endParaRPr lang="en-US" sz="1050" dirty="0"/>
          </a:p>
        </p:txBody>
      </p:sp>
      <p:sp>
        <p:nvSpPr>
          <p:cNvPr id="7" name="Text 5"/>
          <p:cNvSpPr/>
          <p:nvPr/>
        </p:nvSpPr>
        <p:spPr>
          <a:xfrm>
            <a:off x="8092440" y="1810512"/>
            <a:ext cx="3273552"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Before it works</a:t>
            </a:r>
            <a:endParaRPr lang="en-US" sz="1400" dirty="0"/>
          </a:p>
        </p:txBody>
      </p:sp>
      <p:sp>
        <p:nvSpPr>
          <p:cNvPr id="8" name="Text 6"/>
          <p:cNvSpPr/>
          <p:nvPr/>
        </p:nvSpPr>
        <p:spPr>
          <a:xfrm>
            <a:off x="8092440" y="2240280"/>
            <a:ext cx="3273552" cy="3749040"/>
          </a:xfrm>
          <a:prstGeom prst="rect">
            <a:avLst/>
          </a:prstGeom>
          <a:noFill/>
          <a:ln/>
        </p:spPr>
        <p:txBody>
          <a:bodyPr wrap="square" lIns="0" tIns="0" rIns="0" bIns="0" rtlCol="0" anchor="t"/>
          <a:lstStyle/>
          <a:p>
            <a:pPr indent="0" marL="0">
              <a:spcAft>
                <a:spcPts val="1100"/>
              </a:spcAft>
              <a:buNone/>
            </a:pPr>
            <a:r>
              <a:rPr lang="en-US" sz="1100" dirty="0">
                <a:solidFill>
                  <a:srgbClr val="86868B"/>
                </a:solidFill>
                <a:latin typeface="Arial" pitchFamily="34" charset="0"/>
                <a:ea typeface="Arial" pitchFamily="34" charset="-122"/>
                <a:cs typeface="Arial" pitchFamily="34" charset="-120"/>
              </a:rPr>
              <a:t>Android release builds need the SHA-1 and SHA-256 fingerprints registered in the Firebase console, or sign-in fails silently.</a:t>
            </a:r>
            <a:endParaRPr lang="en-US" sz="1100" dirty="0"/>
          </a:p>
          <a:p>
            <a:pPr indent="0" marL="0">
              <a:spcAft>
                <a:spcPts val="1100"/>
              </a:spcAft>
              <a:buNone/>
            </a:pPr>
            <a:r>
              <a:rPr lang="en-US" sz="1100" dirty="0">
                <a:solidFill>
                  <a:srgbClr val="86868B"/>
                </a:solidFill>
                <a:latin typeface="Arial" pitchFamily="34" charset="0"/>
                <a:ea typeface="Arial" pitchFamily="34" charset="-122"/>
                <a:cs typeface="Arial" pitchFamily="34" charset="-120"/>
              </a:rPr>
              <a:t>A canceled picker throws GoogleSignInException with code canceled. That is a user action, not an error to report.</a:t>
            </a:r>
            <a:endParaRPr lang="en-US" sz="1100" dirty="0"/>
          </a:p>
          <a:p>
            <a:pPr indent="0" marL="0">
              <a:spcAft>
                <a:spcPts val="1100"/>
              </a:spcAft>
              <a:buNone/>
            </a:pPr>
            <a:r>
              <a:rPr lang="en-US" sz="1100" dirty="0">
                <a:solidFill>
                  <a:srgbClr val="86868B"/>
                </a:solidFill>
                <a:latin typeface="Arial" pitchFamily="34" charset="0"/>
                <a:ea typeface="Arial" pitchFamily="34" charset="-122"/>
                <a:cs typeface="Arial" pitchFamily="34" charset="-120"/>
              </a:rPr>
              <a:t>Apple: sign_in_with_apple, then OAuthProvider('apple.com').credential with the idToken and the rawNonce you generated.</a:t>
            </a:r>
            <a:endParaRPr lang="en-US" sz="1100" dirty="0"/>
          </a:p>
          <a:p>
            <a:pPr indent="0" marL="0">
              <a:spcAft>
                <a:spcPts val="1100"/>
              </a:spcAft>
              <a:buNone/>
            </a:pPr>
            <a:r>
              <a:rPr lang="en-US" sz="1100" b="1" dirty="0">
                <a:solidFill>
                  <a:srgbClr val="1D1D1F"/>
                </a:solidFill>
                <a:latin typeface="Arial" pitchFamily="34" charset="0"/>
                <a:ea typeface="Arial" pitchFamily="34" charset="-122"/>
                <a:cs typeface="Arial" pitchFamily="34" charset="-120"/>
              </a:rPr>
              <a:t>Offer Sign in with Apple on iOS whenever you offer any other social login; App Review enforces it.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19</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TOKENS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ID token vs refresh token</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22960" y="2011680"/>
          <a:ext cx="10543032" cy="914400"/>
        </p:xfrm>
        <a:graphic>
          <a:graphicData uri="http://schemas.openxmlformats.org/drawingml/2006/table">
            <a:tbl>
              <a:tblPr/>
              <a:tblGrid>
                <a:gridCol w="1737360"/>
                <a:gridCol w="4402836"/>
                <a:gridCol w="4402836"/>
              </a:tblGrid>
              <a:tr h="438912">
                <a:tc>
                  <a:txBody>
                    <a:bodyPr/>
                    <a:lstStyle/>
                    <a:p>
                      <a:pPr indent="0" marL="0">
                        <a:buNone/>
                      </a:pP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ID token</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Refresh token</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4864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Lifetime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one hour, then the SDK refreshes it silently</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until revoked, or the password changes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4864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Format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a signed JWT: header.payload.signature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an opaque string, meaningful only to Google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4864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Lives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in memory, handed out by getIdToken()</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platform secure storage: Keychain, Keystore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4864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Goes to your API</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yes, as Authorization: Bearer &lt;token&gt;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never; it must not leave the device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48640">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Carries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uid, email, sign-in time, custom claims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nothing you can read</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bl>
          </a:graphicData>
        </a:graphic>
      </p:graphicFrame>
      <p:sp>
        <p:nvSpPr>
          <p:cNvPr id="6" name="Shape 3"/>
          <p:cNvSpPr/>
          <p:nvPr/>
        </p:nvSpPr>
        <p:spPr>
          <a:xfrm>
            <a:off x="822960" y="5394960"/>
            <a:ext cx="10543032" cy="0"/>
          </a:xfrm>
          <a:prstGeom prst="line">
            <a:avLst/>
          </a:prstGeom>
          <a:noFill/>
          <a:ln w="9525">
            <a:solidFill>
              <a:srgbClr val="D2D2D7"/>
            </a:solidFill>
            <a:prstDash val="solid"/>
          </a:ln>
        </p:spPr>
      </p:sp>
      <p:sp>
        <p:nvSpPr>
          <p:cNvPr id="7" name="Text 4"/>
          <p:cNvSpPr/>
          <p:nvPr/>
        </p:nvSpPr>
        <p:spPr>
          <a:xfrm>
            <a:off x="822960" y="562356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A JWT is signed, not encrypted.</a:t>
            </a:r>
            <a:pPr indent="0" marL="0">
              <a:buNone/>
            </a:pPr>
            <a:r>
              <a:rPr lang="en-US" sz="1400" dirty="0">
                <a:solidFill>
                  <a:srgbClr val="86868B"/>
                </a:solidFill>
                <a:latin typeface="Arial" pitchFamily="34" charset="0"/>
                <a:ea typeface="Arial" pitchFamily="34" charset="-122"/>
                <a:cs typeface="Arial" pitchFamily="34" charset="-120"/>
              </a:rPr>
              <a:t> Anyone holding it can read the claims, so put nothing secret in a custom claim and treat a leaked ID token as a one-hour session hijack. getIdToken(true) forces a refresh, which you need after setting claims.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20</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TOKENS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Verify on the backend; never trust a client uid</a:t>
            </a:r>
            <a:endParaRPr lang="en-US" sz="3000" dirty="0"/>
          </a:p>
        </p:txBody>
      </p:sp>
      <p:sp>
        <p:nvSpPr>
          <p:cNvPr id="5" name="Text 3"/>
          <p:cNvSpPr/>
          <p:nvPr/>
        </p:nvSpPr>
        <p:spPr>
          <a:xfrm>
            <a:off x="822960" y="1417320"/>
            <a:ext cx="5120640" cy="274320"/>
          </a:xfrm>
          <a:prstGeom prst="rect">
            <a:avLst/>
          </a:prstGeom>
          <a:noFill/>
          <a:ln/>
        </p:spPr>
        <p:txBody>
          <a:bodyPr wrap="square" lIns="0" tIns="0" rIns="0" bIns="0" rtlCol="0" anchor="ctr"/>
          <a:lstStyle/>
          <a:p>
            <a:pPr indent="0" marL="0">
              <a:buNone/>
            </a:pPr>
            <a:r>
              <a:rPr lang="en-US" sz="1100" spc="200" kern="0" dirty="0">
                <a:solidFill>
                  <a:srgbClr val="86868B"/>
                </a:solidFill>
                <a:latin typeface="Arial" pitchFamily="34" charset="0"/>
                <a:ea typeface="Arial" pitchFamily="34" charset="-122"/>
                <a:cs typeface="Arial" pitchFamily="34" charset="-120"/>
              </a:rPr>
              <a:t>Client · Flutter</a:t>
            </a:r>
            <a:endParaRPr lang="en-US" sz="1100" dirty="0"/>
          </a:p>
        </p:txBody>
      </p:sp>
      <p:sp>
        <p:nvSpPr>
          <p:cNvPr id="6" name="Shape 4"/>
          <p:cNvSpPr/>
          <p:nvPr/>
        </p:nvSpPr>
        <p:spPr>
          <a:xfrm>
            <a:off x="822960" y="1719072"/>
            <a:ext cx="10543032" cy="1828800"/>
          </a:xfrm>
          <a:prstGeom prst="roundRect">
            <a:avLst>
              <a:gd name="adj" fmla="val 6000"/>
            </a:avLst>
          </a:prstGeom>
          <a:solidFill>
            <a:srgbClr val="F5F5F7"/>
          </a:solidFill>
          <a:ln/>
        </p:spPr>
      </p:sp>
      <p:sp>
        <p:nvSpPr>
          <p:cNvPr id="7" name="Text 5"/>
          <p:cNvSpPr/>
          <p:nvPr/>
        </p:nvSpPr>
        <p:spPr>
          <a:xfrm>
            <a:off x="1234440" y="2039112"/>
            <a:ext cx="9811512" cy="1234440"/>
          </a:xfrm>
          <a:prstGeom prst="rect">
            <a:avLst/>
          </a:prstGeom>
          <a:noFill/>
          <a:ln/>
        </p:spPr>
        <p:txBody>
          <a:bodyPr wrap="square" lIns="0" tIns="0" rIns="0" bIns="0" rtlCol="0" anchor="t"/>
          <a:lstStyle/>
          <a:p>
            <a:pPr indent="0" marL="0">
              <a:lnSpc>
                <a:spcPts val="2000"/>
              </a:lnSpc>
              <a:buNone/>
            </a:pPr>
            <a:r>
              <a:rPr lang="en-US" sz="1100" dirty="0">
                <a:solidFill>
                  <a:srgbClr val="86868B"/>
                </a:solidFill>
                <a:latin typeface="Courier New" pitchFamily="34" charset="0"/>
                <a:ea typeface="Courier New" pitchFamily="34" charset="-122"/>
                <a:cs typeface="Courier New" pitchFamily="34" charset="-120"/>
              </a:rPr>
              <a:t>// Send the token. Never send the uid: it proves nothing.</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final token = await FirebaseAuth.instance.currentUser!.getIdToken();</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await http.post(url,</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    headers: {'Authorization': 'Bearer $token'},</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    body: jsonEncode({'item': itemId}));</a:t>
            </a:r>
            <a:endParaRPr lang="en-US" sz="1100" dirty="0"/>
          </a:p>
        </p:txBody>
      </p:sp>
      <p:sp>
        <p:nvSpPr>
          <p:cNvPr id="8" name="Text 6"/>
          <p:cNvSpPr/>
          <p:nvPr/>
        </p:nvSpPr>
        <p:spPr>
          <a:xfrm>
            <a:off x="822960" y="3657600"/>
            <a:ext cx="6035040" cy="274320"/>
          </a:xfrm>
          <a:prstGeom prst="rect">
            <a:avLst/>
          </a:prstGeom>
          <a:noFill/>
          <a:ln/>
        </p:spPr>
        <p:txBody>
          <a:bodyPr wrap="square" lIns="0" tIns="0" rIns="0" bIns="0" rtlCol="0" anchor="ctr"/>
          <a:lstStyle/>
          <a:p>
            <a:pPr indent="0" marL="0">
              <a:buNone/>
            </a:pPr>
            <a:r>
              <a:rPr lang="en-US" sz="1100" spc="200" kern="0" dirty="0">
                <a:solidFill>
                  <a:srgbClr val="86868B"/>
                </a:solidFill>
                <a:latin typeface="Arial" pitchFamily="34" charset="0"/>
                <a:ea typeface="Arial" pitchFamily="34" charset="-122"/>
                <a:cs typeface="Arial" pitchFamily="34" charset="-120"/>
              </a:rPr>
              <a:t>Server · Node with firebase-admin</a:t>
            </a:r>
            <a:endParaRPr lang="en-US" sz="1100" dirty="0"/>
          </a:p>
        </p:txBody>
      </p:sp>
      <p:sp>
        <p:nvSpPr>
          <p:cNvPr id="9" name="Shape 7"/>
          <p:cNvSpPr/>
          <p:nvPr/>
        </p:nvSpPr>
        <p:spPr>
          <a:xfrm>
            <a:off x="822960" y="3959352"/>
            <a:ext cx="10543032" cy="1828800"/>
          </a:xfrm>
          <a:prstGeom prst="roundRect">
            <a:avLst>
              <a:gd name="adj" fmla="val 6000"/>
            </a:avLst>
          </a:prstGeom>
          <a:solidFill>
            <a:srgbClr val="F5F5F7"/>
          </a:solidFill>
          <a:ln/>
        </p:spPr>
      </p:sp>
      <p:sp>
        <p:nvSpPr>
          <p:cNvPr id="10" name="Text 8"/>
          <p:cNvSpPr/>
          <p:nvPr/>
        </p:nvSpPr>
        <p:spPr>
          <a:xfrm>
            <a:off x="1234440" y="4279392"/>
            <a:ext cx="9811512" cy="1234440"/>
          </a:xfrm>
          <a:prstGeom prst="rect">
            <a:avLst/>
          </a:prstGeom>
          <a:noFill/>
          <a:ln/>
        </p:spPr>
        <p:txBody>
          <a:bodyPr wrap="square" lIns="0" tIns="0" rIns="0" bIns="0" rtlCol="0" anchor="t"/>
          <a:lstStyle/>
          <a:p>
            <a:pPr indent="0" marL="0">
              <a:lnSpc>
                <a:spcPts val="2000"/>
              </a:lnSpc>
              <a:buNone/>
            </a:pPr>
            <a:r>
              <a:rPr lang="en-US" sz="1100" dirty="0">
                <a:solidFill>
                  <a:srgbClr val="86868B"/>
                </a:solidFill>
                <a:latin typeface="Courier New" pitchFamily="34" charset="0"/>
                <a:ea typeface="Courier New" pitchFamily="34" charset="-122"/>
                <a:cs typeface="Courier New" pitchFamily="34" charset="-120"/>
              </a:rPr>
              <a:t>// Checks the signature, the expiry and the audience.</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const token = req.get('Authorization').split(' ')[1];</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const decoded = await admin.auth().verifyIdToken(token, true);</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const uid = decoded.uid;   // trusted: Google signed this</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await db.collection('orders').add({ uid, item: req.body.item });</a:t>
            </a:r>
            <a:endParaRPr lang="en-US" sz="1100" dirty="0"/>
          </a:p>
        </p:txBody>
      </p:sp>
      <p:sp>
        <p:nvSpPr>
          <p:cNvPr id="11" name="Text 9"/>
          <p:cNvSpPr/>
          <p:nvPr/>
        </p:nvSpPr>
        <p:spPr>
          <a:xfrm>
            <a:off x="822960" y="5943600"/>
            <a:ext cx="10543032" cy="365760"/>
          </a:xfrm>
          <a:prstGeom prst="rect">
            <a:avLst/>
          </a:prstGeom>
          <a:noFill/>
          <a:ln/>
        </p:spPr>
        <p:txBody>
          <a:bodyPr wrap="square" lIns="0" tIns="0" rIns="0" bIns="0" rtlCol="0" anchor="ctr"/>
          <a:lstStyle/>
          <a:p>
            <a:pPr indent="0" marL="0">
              <a:buNone/>
            </a:pPr>
            <a:r>
              <a:rPr lang="en-US" sz="1300" b="1" dirty="0">
                <a:solidFill>
                  <a:srgbClr val="1D1D1F"/>
                </a:solidFill>
                <a:latin typeface="Arial" pitchFamily="34" charset="0"/>
                <a:ea typeface="Arial" pitchFamily="34" charset="-122"/>
                <a:cs typeface="Arial" pitchFamily="34" charset="-120"/>
              </a:rPr>
              <a:t>Anyone can POST {"uid": "someone-else"}. </a:t>
            </a:r>
            <a:pPr indent="0" marL="0">
              <a:buNone/>
            </a:pPr>
            <a:r>
              <a:rPr lang="en-US" sz="1300" dirty="0">
                <a:solidFill>
                  <a:srgbClr val="86868B"/>
                </a:solidFill>
                <a:latin typeface="Arial" pitchFamily="34" charset="0"/>
                <a:ea typeface="Arial" pitchFamily="34" charset="-122"/>
                <a:cs typeface="Arial" pitchFamily="34" charset="-120"/>
              </a:rPr>
              <a:t>The uid you act on must come out of a token you verified, in Firestore rules or in the Admin SDK, and from nowhere else. (→ Lecture 5, backends)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PART 4 · DATA, RULES &amp; APP CHECK</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Guarding the data, and the app itself</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Where profiles live, rules that actually bind, and keeping scripts out</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22</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USER DATA</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Never store the password</a:t>
            </a:r>
            <a:endParaRPr lang="en-US" sz="3000" dirty="0"/>
          </a:p>
        </p:txBody>
      </p:sp>
      <p:sp>
        <p:nvSpPr>
          <p:cNvPr id="5" name="Text 3"/>
          <p:cNvSpPr/>
          <p:nvPr/>
        </p:nvSpPr>
        <p:spPr>
          <a:xfrm>
            <a:off x="822960" y="1783080"/>
            <a:ext cx="5394960" cy="3931920"/>
          </a:xfrm>
          <a:prstGeom prst="rect">
            <a:avLst/>
          </a:prstGeom>
          <a:noFill/>
          <a:ln/>
        </p:spPr>
        <p:txBody>
          <a:bodyPr wrap="square" lIns="0" tIns="0" rIns="0" bIns="0" rtlCol="0" anchor="t"/>
          <a:lstStyle/>
          <a:p>
            <a:pPr indent="0" marL="0">
              <a:spcAft>
                <a:spcPts val="1200"/>
              </a:spcAft>
              <a:buNone/>
            </a:pPr>
            <a:r>
              <a:rPr lang="en-US" sz="1250" dirty="0">
                <a:solidFill>
                  <a:srgbClr val="1D1D1F"/>
                </a:solidFill>
                <a:latin typeface="Arial" pitchFamily="34" charset="0"/>
                <a:ea typeface="Arial" pitchFamily="34" charset="-122"/>
                <a:cs typeface="Arial" pitchFamily="34" charset="-120"/>
              </a:rPr>
              <a:t>The identity provider holds the credential. Firebase keeps a salted scrypt hash on Google's infrastructure; after createUserWithEmailAndPassword returns, the plaintext is gone from your process and never comes back.</a:t>
            </a:r>
            <a:endParaRPr lang="en-US" sz="1250" dirty="0"/>
          </a:p>
          <a:p>
            <a:pPr indent="0" marL="0">
              <a:spcAft>
                <a:spcPts val="1200"/>
              </a:spcAft>
              <a:buNone/>
            </a:pPr>
            <a:r>
              <a:rPr lang="en-US" sz="1250" dirty="0">
                <a:solidFill>
                  <a:srgbClr val="1D1D1F"/>
                </a:solidFill>
                <a:latin typeface="Arial" pitchFamily="34" charset="0"/>
                <a:ea typeface="Arial" pitchFamily="34" charset="-122"/>
                <a:cs typeface="Arial" pitchFamily="34" charset="-120"/>
              </a:rPr>
              <a:t>Your database stores an identifier and profile data, and nothing that could authenticate anybody: no password, no PIN, no “security answer”, no copy of a token.</a:t>
            </a:r>
            <a:endParaRPr lang="en-US" sz="1250" dirty="0"/>
          </a:p>
          <a:p>
            <a:pPr indent="0" marL="0">
              <a:spcAft>
                <a:spcPts val="1200"/>
              </a:spcAft>
              <a:buNone/>
            </a:pPr>
            <a:r>
              <a:rPr lang="en-US" sz="1250" dirty="0">
                <a:solidFill>
                  <a:srgbClr val="1D1D1F"/>
                </a:solidFill>
                <a:latin typeface="Arial" pitchFamily="34" charset="0"/>
                <a:ea typeface="Arial" pitchFamily="34" charset="-122"/>
                <a:cs typeface="Arial" pitchFamily="34" charset="-120"/>
              </a:rPr>
              <a:t>A password in Firestore is readable by everyone on your team in the console, and it ships to every client that one wrong rule lets through. Because users reuse passwords, one misconfiguration also exposes their accounts elsewhere.</a:t>
            </a:r>
            <a:endParaRPr lang="en-US" sz="1250" dirty="0"/>
          </a:p>
          <a:p>
            <a:pPr indent="0" marL="0">
              <a:spcAft>
                <a:spcPts val="1200"/>
              </a:spcAft>
              <a:buNone/>
            </a:pPr>
            <a:r>
              <a:rPr lang="en-US" sz="1250" b="1" dirty="0">
                <a:solidFill>
                  <a:srgbClr val="1D1D1F"/>
                </a:solidFill>
                <a:latin typeface="Arial" pitchFamily="34" charset="0"/>
                <a:ea typeface="Arial" pitchFamily="34" charset="-122"/>
                <a:cs typeface="Arial" pitchFamily="34" charset="-120"/>
              </a:rPr>
              <a:t>The Firebase User object is for identity: uid, email, displayName, photoURL. Application data goes in your own collection, keyed by the uid.</a:t>
            </a:r>
            <a:endParaRPr lang="en-US" sz="1250" dirty="0"/>
          </a:p>
        </p:txBody>
      </p:sp>
      <p:sp>
        <p:nvSpPr>
          <p:cNvPr id="6" name="Shape 4"/>
          <p:cNvSpPr/>
          <p:nvPr/>
        </p:nvSpPr>
        <p:spPr>
          <a:xfrm>
            <a:off x="6400800" y="1783080"/>
            <a:ext cx="4965192" cy="2788920"/>
          </a:xfrm>
          <a:prstGeom prst="roundRect">
            <a:avLst>
              <a:gd name="adj" fmla="val 3934"/>
            </a:avLst>
          </a:prstGeom>
          <a:solidFill>
            <a:srgbClr val="F5F5F7"/>
          </a:solidFill>
          <a:ln/>
        </p:spPr>
      </p:sp>
      <p:sp>
        <p:nvSpPr>
          <p:cNvPr id="7" name="Text 5"/>
          <p:cNvSpPr/>
          <p:nvPr/>
        </p:nvSpPr>
        <p:spPr>
          <a:xfrm>
            <a:off x="6812280" y="2103120"/>
            <a:ext cx="4233672" cy="2194560"/>
          </a:xfrm>
          <a:prstGeom prst="rect">
            <a:avLst/>
          </a:prstGeom>
          <a:noFill/>
          <a:ln/>
        </p:spPr>
        <p:txBody>
          <a:bodyPr wrap="square" lIns="0" tIns="0" rIns="0" bIns="0" rtlCol="0" anchor="t"/>
          <a:lstStyle/>
          <a:p>
            <a:pPr indent="0" marL="0">
              <a:lnSpc>
                <a:spcPts val="1900"/>
              </a:lnSpc>
              <a:buNone/>
            </a:pPr>
            <a:r>
              <a:rPr lang="en-US" sz="1000" dirty="0">
                <a:solidFill>
                  <a:srgbClr val="86868B"/>
                </a:solidFill>
                <a:latin typeface="Courier New" pitchFamily="34" charset="0"/>
                <a:ea typeface="Courier New" pitchFamily="34" charset="-122"/>
                <a:cs typeface="Courier New" pitchFamily="34" charset="-120"/>
              </a:rPr>
              <a:t>// After sign-up: a profile doc keyed by the uid.</a:t>
            </a:r>
            <a:endParaRPr lang="en-US" sz="1000" dirty="0"/>
          </a:p>
          <a:p>
            <a:pPr indent="0" marL="0">
              <a:lnSpc>
                <a:spcPts val="1900"/>
              </a:lnSpc>
              <a:buNone/>
            </a:pPr>
            <a:r>
              <a:rPr lang="en-US" sz="1000" dirty="0">
                <a:solidFill>
                  <a:srgbClr val="1D1D1F"/>
                </a:solidFill>
                <a:latin typeface="Courier New" pitchFamily="34" charset="0"/>
                <a:ea typeface="Courier New" pitchFamily="34" charset="-122"/>
                <a:cs typeface="Courier New" pitchFamily="34" charset="-120"/>
              </a:rPr>
              <a:t>final uid = cred.user!.uid;</a:t>
            </a:r>
            <a:endParaRPr lang="en-US" sz="1000" dirty="0"/>
          </a:p>
          <a:p>
            <a:pPr indent="0" marL="0">
              <a:lnSpc>
                <a:spcPts val="1900"/>
              </a:lnSpc>
              <a:buNone/>
            </a:pPr>
            <a:r>
              <a:rPr lang="en-US" sz="1000" dirty="0">
                <a:solidFill>
                  <a:srgbClr val="1D1D1F"/>
                </a:solidFill>
                <a:latin typeface="Courier New" pitchFamily="34" charset="0"/>
                <a:ea typeface="Courier New" pitchFamily="34" charset="-122"/>
                <a:cs typeface="Courier New" pitchFamily="34" charset="-120"/>
              </a:rPr>
              <a:t>await FirebaseFirestore.instance</a:t>
            </a:r>
            <a:endParaRPr lang="en-US" sz="1000" dirty="0"/>
          </a:p>
          <a:p>
            <a:pPr indent="0" marL="0">
              <a:lnSpc>
                <a:spcPts val="1900"/>
              </a:lnSpc>
              <a:buNone/>
            </a:pPr>
            <a:r>
              <a:rPr lang="en-US" sz="1000" dirty="0">
                <a:solidFill>
                  <a:srgbClr val="1D1D1F"/>
                </a:solidFill>
                <a:latin typeface="Courier New" pitchFamily="34" charset="0"/>
                <a:ea typeface="Courier New" pitchFamily="34" charset="-122"/>
                <a:cs typeface="Courier New" pitchFamily="34" charset="-120"/>
              </a:rPr>
              <a:t>    .doc('users/$uid')</a:t>
            </a:r>
            <a:endParaRPr lang="en-US" sz="1000" dirty="0"/>
          </a:p>
          <a:p>
            <a:pPr indent="0" marL="0">
              <a:lnSpc>
                <a:spcPts val="1900"/>
              </a:lnSpc>
              <a:buNone/>
            </a:pPr>
            <a:r>
              <a:rPr lang="en-US" sz="1000" dirty="0">
                <a:solidFill>
                  <a:srgbClr val="1D1D1F"/>
                </a:solidFill>
                <a:latin typeface="Courier New" pitchFamily="34" charset="0"/>
                <a:ea typeface="Courier New" pitchFamily="34" charset="-122"/>
                <a:cs typeface="Courier New" pitchFamily="34" charset="-120"/>
              </a:rPr>
              <a:t>    .set({</a:t>
            </a:r>
            <a:endParaRPr lang="en-US" sz="1000" dirty="0"/>
          </a:p>
          <a:p>
            <a:pPr indent="0" marL="0">
              <a:lnSpc>
                <a:spcPts val="1900"/>
              </a:lnSpc>
              <a:buNone/>
            </a:pPr>
            <a:r>
              <a:rPr lang="en-US" sz="1000" dirty="0">
                <a:solidFill>
                  <a:srgbClr val="1D1D1F"/>
                </a:solidFill>
                <a:latin typeface="Courier New" pitchFamily="34" charset="0"/>
                <a:ea typeface="Courier New" pitchFamily="34" charset="-122"/>
                <a:cs typeface="Courier New" pitchFamily="34" charset="-120"/>
              </a:rPr>
              <a:t>  'displayName': name,</a:t>
            </a:r>
            <a:endParaRPr lang="en-US" sz="1000" dirty="0"/>
          </a:p>
          <a:p>
            <a:pPr indent="0" marL="0">
              <a:lnSpc>
                <a:spcPts val="1900"/>
              </a:lnSpc>
              <a:buNone/>
            </a:pPr>
            <a:r>
              <a:rPr lang="en-US" sz="1000" dirty="0">
                <a:solidFill>
                  <a:srgbClr val="1D1D1F"/>
                </a:solidFill>
                <a:latin typeface="Courier New" pitchFamily="34" charset="0"/>
                <a:ea typeface="Courier New" pitchFamily="34" charset="-122"/>
                <a:cs typeface="Courier New" pitchFamily="34" charset="-120"/>
              </a:rPr>
              <a:t>  'createdAt': FieldValue.serverTimestamp(),</a:t>
            </a:r>
            <a:endParaRPr lang="en-US" sz="1000" dirty="0"/>
          </a:p>
          <a:p>
            <a:pPr indent="0" marL="0">
              <a:lnSpc>
                <a:spcPts val="1900"/>
              </a:lnSpc>
              <a:buNone/>
            </a:pPr>
            <a:r>
              <a:rPr lang="en-US" sz="1000" dirty="0">
                <a:solidFill>
                  <a:srgbClr val="1D1D1F"/>
                </a:solidFill>
                <a:latin typeface="Courier New" pitchFamily="34" charset="0"/>
                <a:ea typeface="Courier New" pitchFamily="34" charset="-122"/>
                <a:cs typeface="Courier New" pitchFamily="34" charset="-120"/>
              </a:rPr>
              <a:t>});</a:t>
            </a:r>
            <a:endParaRPr lang="en-US" sz="1000" dirty="0"/>
          </a:p>
          <a:p>
            <a:pPr indent="0" marL="0">
              <a:lnSpc>
                <a:spcPts val="1900"/>
              </a:lnSpc>
              <a:buNone/>
            </a:pPr>
            <a:r>
              <a:rPr lang="en-US" sz="1000" dirty="0">
                <a:solidFill>
                  <a:srgbClr val="86868B"/>
                </a:solidFill>
                <a:latin typeface="Courier New" pitchFamily="34" charset="0"/>
                <a:ea typeface="Courier New" pitchFamily="34" charset="-122"/>
                <a:cs typeface="Courier New" pitchFamily="34" charset="-120"/>
              </a:rPr>
              <a:t>// No password. No token. No PIN.</a:t>
            </a:r>
            <a:endParaRPr lang="en-US" sz="1000" dirty="0"/>
          </a:p>
        </p:txBody>
      </p:sp>
      <p:sp>
        <p:nvSpPr>
          <p:cNvPr id="8" name="Text 6"/>
          <p:cNvSpPr/>
          <p:nvPr/>
        </p:nvSpPr>
        <p:spPr>
          <a:xfrm>
            <a:off x="6400800" y="4800600"/>
            <a:ext cx="4965192" cy="1005840"/>
          </a:xfrm>
          <a:prstGeom prst="rect">
            <a:avLst/>
          </a:prstGeom>
          <a:noFill/>
          <a:ln/>
        </p:spPr>
        <p:txBody>
          <a:bodyPr wrap="square" lIns="0" tIns="0" rIns="0" bIns="0" rtlCol="0" anchor="t"/>
          <a:lstStyle/>
          <a:p>
            <a:pPr indent="0" marL="0">
              <a:buNone/>
            </a:pPr>
            <a:r>
              <a:rPr lang="en-US" sz="1200" b="1" dirty="0">
                <a:solidFill>
                  <a:srgbClr val="1D1D1F"/>
                </a:solidFill>
                <a:latin typeface="Arial" pitchFamily="34" charset="0"/>
                <a:ea typeface="Arial" pitchFamily="34" charset="-122"/>
                <a:cs typeface="Arial" pitchFamily="34" charset="-120"/>
              </a:rPr>
              <a:t>One document per uid.</a:t>
            </a:r>
            <a:endParaRPr lang="en-US" sz="1200" dirty="0"/>
          </a:p>
          <a:p>
            <a:pPr indent="0" marL="0">
              <a:buNone/>
            </a:pPr>
            <a:r>
              <a:rPr lang="en-US" sz="1200" dirty="0">
                <a:solidFill>
                  <a:srgbClr val="86868B"/>
                </a:solidFill>
                <a:latin typeface="Arial" pitchFamily="34" charset="0"/>
                <a:ea typeface="Arial" pitchFamily="34" charset="-122"/>
                <a:cs typeface="Arial" pitchFamily="34" charset="-120"/>
              </a:rPr>
              <a:t>The uid is the join key between the identity system and your data, which is what the next slide has to defend.</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23</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AUTHORIZATION</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Security rules that actually bind</a:t>
            </a:r>
            <a:endParaRPr lang="en-US" sz="3000" dirty="0"/>
          </a:p>
        </p:txBody>
      </p:sp>
      <p:sp>
        <p:nvSpPr>
          <p:cNvPr id="5" name="Shape 3"/>
          <p:cNvSpPr/>
          <p:nvPr/>
        </p:nvSpPr>
        <p:spPr>
          <a:xfrm>
            <a:off x="822960" y="1783080"/>
            <a:ext cx="6766560" cy="3611880"/>
          </a:xfrm>
          <a:prstGeom prst="roundRect">
            <a:avLst>
              <a:gd name="adj" fmla="val 3038"/>
            </a:avLst>
          </a:prstGeom>
          <a:solidFill>
            <a:srgbClr val="F5F5F7"/>
          </a:solidFill>
          <a:ln/>
        </p:spPr>
      </p:sp>
      <p:sp>
        <p:nvSpPr>
          <p:cNvPr id="6" name="Text 4"/>
          <p:cNvSpPr/>
          <p:nvPr/>
        </p:nvSpPr>
        <p:spPr>
          <a:xfrm>
            <a:off x="1234440" y="2103120"/>
            <a:ext cx="6035040" cy="3017520"/>
          </a:xfrm>
          <a:prstGeom prst="rect">
            <a:avLst/>
          </a:prstGeom>
          <a:noFill/>
          <a:ln/>
        </p:spPr>
        <p:txBody>
          <a:bodyPr wrap="square" lIns="0" tIns="0" rIns="0" bIns="0" rtlCol="0" anchor="t"/>
          <a:lstStyle/>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firestore.rules</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match /users/{userId}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function isOwner()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return request.auth != null &amp;&amp; request.auth.uid == userId;</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allow read:   if isOwner();</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allow create: if isOwner()</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&amp;&amp; !request.resource.data.keys().hasAny(['role']);</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allow update: if isOwner()</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&amp;&amp; request.resource.data.diff(resource.data)</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.affectedKeys().hasOnly(['displayName']);</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allow delete: if false;   // deletion runs on the backend</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t>
            </a:r>
            <a:endParaRPr lang="en-US" sz="1050" dirty="0"/>
          </a:p>
        </p:txBody>
      </p:sp>
      <p:sp>
        <p:nvSpPr>
          <p:cNvPr id="7" name="Text 5"/>
          <p:cNvSpPr/>
          <p:nvPr/>
        </p:nvSpPr>
        <p:spPr>
          <a:xfrm>
            <a:off x="7863840" y="1810512"/>
            <a:ext cx="3520440" cy="320040"/>
          </a:xfrm>
          <a:prstGeom prst="rect">
            <a:avLst/>
          </a:prstGeom>
          <a:noFill/>
          <a:ln/>
        </p:spPr>
        <p:txBody>
          <a:bodyPr wrap="square" lIns="0" tIns="0" rIns="0" bIns="0" rtlCol="0" anchor="ctr"/>
          <a:lstStyle/>
          <a:p>
            <a:pPr indent="0" marL="0">
              <a:buNone/>
            </a:pPr>
            <a:r>
              <a:rPr lang="en-US" sz="1400" b="1" dirty="0">
                <a:solidFill>
                  <a:srgbClr val="FF3B30"/>
                </a:solidFill>
                <a:latin typeface="Arial" pitchFamily="34" charset="0"/>
                <a:ea typeface="Arial" pitchFamily="34" charset="-122"/>
                <a:cs typeface="Arial" pitchFamily="34" charset="-120"/>
              </a:rPr>
              <a:t>A rule that does not bind</a:t>
            </a:r>
            <a:endParaRPr lang="en-US" sz="1400" dirty="0"/>
          </a:p>
        </p:txBody>
      </p:sp>
      <p:sp>
        <p:nvSpPr>
          <p:cNvPr id="8" name="Shape 6"/>
          <p:cNvSpPr/>
          <p:nvPr/>
        </p:nvSpPr>
        <p:spPr>
          <a:xfrm>
            <a:off x="7863840" y="2194560"/>
            <a:ext cx="3520440" cy="566928"/>
          </a:xfrm>
          <a:prstGeom prst="roundRect">
            <a:avLst>
              <a:gd name="adj" fmla="val 19355"/>
            </a:avLst>
          </a:prstGeom>
          <a:solidFill>
            <a:srgbClr val="F5F5F7"/>
          </a:solidFill>
          <a:ln/>
        </p:spPr>
      </p:sp>
      <p:sp>
        <p:nvSpPr>
          <p:cNvPr id="9" name="Text 7"/>
          <p:cNvSpPr/>
          <p:nvPr/>
        </p:nvSpPr>
        <p:spPr>
          <a:xfrm>
            <a:off x="8001000" y="2194560"/>
            <a:ext cx="3291840" cy="566928"/>
          </a:xfrm>
          <a:prstGeom prst="rect">
            <a:avLst/>
          </a:prstGeom>
          <a:noFill/>
          <a:ln/>
        </p:spPr>
        <p:txBody>
          <a:bodyPr wrap="square" lIns="0" tIns="0" rIns="0" bIns="0" rtlCol="0" anchor="ctr"/>
          <a:lstStyle/>
          <a:p>
            <a:pPr indent="0" marL="0">
              <a:buNone/>
            </a:pPr>
            <a:r>
              <a:rPr lang="en-US" sz="950" dirty="0">
                <a:solidFill>
                  <a:srgbClr val="1D1D1F"/>
                </a:solidFill>
                <a:latin typeface="Courier New" pitchFamily="34" charset="0"/>
                <a:ea typeface="Courier New" pitchFamily="34" charset="-122"/>
                <a:cs typeface="Courier New" pitchFamily="34" charset="-120"/>
              </a:rPr>
              <a:t>allow create: if request.auth != null;</a:t>
            </a:r>
            <a:endParaRPr lang="en-US" sz="950" dirty="0"/>
          </a:p>
        </p:txBody>
      </p:sp>
      <p:sp>
        <p:nvSpPr>
          <p:cNvPr id="10" name="Text 8"/>
          <p:cNvSpPr/>
          <p:nvPr/>
        </p:nvSpPr>
        <p:spPr>
          <a:xfrm>
            <a:off x="7863840" y="2926080"/>
            <a:ext cx="3520440" cy="2926080"/>
          </a:xfrm>
          <a:prstGeom prst="rect">
            <a:avLst/>
          </a:prstGeom>
          <a:noFill/>
          <a:ln/>
        </p:spPr>
        <p:txBody>
          <a:bodyPr wrap="square" lIns="0" tIns="0" rIns="0" bIns="0" rtlCol="0" anchor="t"/>
          <a:lstStyle/>
          <a:p>
            <a:pPr indent="0" marL="0">
              <a:spcAft>
                <a:spcPts val="1100"/>
              </a:spcAft>
              <a:buNone/>
            </a:pPr>
            <a:r>
              <a:rPr lang="en-US" sz="1100" dirty="0">
                <a:solidFill>
                  <a:srgbClr val="86868B"/>
                </a:solidFill>
                <a:latin typeface="Arial" pitchFamily="34" charset="0"/>
                <a:ea typeface="Arial" pitchFamily="34" charset="-122"/>
                <a:cs typeface="Arial" pitchFamily="34" charset="-120"/>
              </a:rPr>
              <a:t>Any signed-in user, including an account created seconds ago, can write a document at someone else's uid and take over their profile.</a:t>
            </a:r>
            <a:endParaRPr lang="en-US" sz="1100" dirty="0"/>
          </a:p>
          <a:p>
            <a:pPr indent="0" marL="0">
              <a:spcAft>
                <a:spcPts val="1100"/>
              </a:spcAft>
              <a:buNone/>
            </a:pPr>
            <a:r>
              <a:rPr lang="en-US" sz="1100" dirty="0">
                <a:solidFill>
                  <a:srgbClr val="86868B"/>
                </a:solidFill>
                <a:latin typeface="Arial" pitchFamily="34" charset="0"/>
                <a:ea typeface="Arial" pitchFamily="34" charset="-122"/>
                <a:cs typeface="Arial" pitchFamily="34" charset="-120"/>
              </a:rPr>
              <a:t>request.auth != null is authentication. Authorization is binding the request to the path it is touching.</a:t>
            </a:r>
            <a:endParaRPr lang="en-US" sz="1100" dirty="0"/>
          </a:p>
          <a:p>
            <a:pPr indent="0" marL="0">
              <a:spcAft>
                <a:spcPts val="1100"/>
              </a:spcAft>
              <a:buNone/>
            </a:pPr>
            <a:r>
              <a:rPr lang="en-US" sz="1100" dirty="0">
                <a:solidFill>
                  <a:srgbClr val="86868B"/>
                </a:solidFill>
                <a:latin typeface="Arial" pitchFamily="34" charset="0"/>
                <a:ea typeface="Arial" pitchFamily="34" charset="-122"/>
                <a:cs typeface="Arial" pitchFamily="34" charset="-120"/>
              </a:rPr>
              <a:t>Split the verbs. create, update and delete need different conditions, and a blanket write hides all three.</a:t>
            </a:r>
            <a:endParaRPr lang="en-US" sz="1100" dirty="0"/>
          </a:p>
          <a:p>
            <a:pPr indent="0" marL="0">
              <a:spcAft>
                <a:spcPts val="1100"/>
              </a:spcAft>
              <a:buNone/>
            </a:pPr>
            <a:r>
              <a:rPr lang="en-US" sz="1100" dirty="0">
                <a:solidFill>
                  <a:srgbClr val="86868B"/>
                </a:solidFill>
                <a:latin typeface="Arial" pitchFamily="34" charset="0"/>
                <a:ea typeface="Arial" pitchFamily="34" charset="-122"/>
                <a:cs typeface="Arial" pitchFamily="34" charset="-120"/>
              </a:rPr>
              <a:t>Test in the console's Rules Playground, and in CI against the emulator suite (→ Lecture 5).</a:t>
            </a:r>
            <a:endParaRPr lang="en-US" sz="1100" dirty="0"/>
          </a:p>
        </p:txBody>
      </p:sp>
      <p:sp>
        <p:nvSpPr>
          <p:cNvPr id="11" name="Shape 9"/>
          <p:cNvSpPr/>
          <p:nvPr/>
        </p:nvSpPr>
        <p:spPr>
          <a:xfrm>
            <a:off x="822960" y="5486400"/>
            <a:ext cx="6766560" cy="0"/>
          </a:xfrm>
          <a:prstGeom prst="line">
            <a:avLst/>
          </a:prstGeom>
          <a:noFill/>
          <a:ln w="9525">
            <a:solidFill>
              <a:srgbClr val="D2D2D7"/>
            </a:solidFill>
            <a:prstDash val="solid"/>
          </a:ln>
        </p:spPr>
      </p:sp>
      <p:sp>
        <p:nvSpPr>
          <p:cNvPr id="12" name="Text 10"/>
          <p:cNvSpPr/>
          <p:nvPr/>
        </p:nvSpPr>
        <p:spPr>
          <a:xfrm>
            <a:off x="822960" y="5715000"/>
            <a:ext cx="676656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Rules run on Google's servers, so they cannot be bypassed.</a:t>
            </a:r>
            <a:pPr indent="0" marL="0">
              <a:buNone/>
            </a:pPr>
            <a:r>
              <a:rPr lang="en-US" sz="1400" dirty="0">
                <a:solidFill>
                  <a:srgbClr val="86868B"/>
                </a:solidFill>
                <a:latin typeface="Arial" pitchFamily="34" charset="0"/>
                <a:ea typeface="Arial" pitchFamily="34" charset="-122"/>
                <a:cs typeface="Arial" pitchFamily="34" charset="-120"/>
              </a:rPr>
              <a:t> That is why they must be written as if every client is hostile.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24</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APP CHECK</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The other question: is this request from my app?</a:t>
            </a:r>
            <a:endParaRPr lang="en-US" sz="3000" dirty="0"/>
          </a:p>
        </p:txBody>
      </p:sp>
      <p:sp>
        <p:nvSpPr>
          <p:cNvPr id="5" name="Text 3"/>
          <p:cNvSpPr/>
          <p:nvPr/>
        </p:nvSpPr>
        <p:spPr>
          <a:xfrm>
            <a:off x="822960" y="1783080"/>
            <a:ext cx="6035040" cy="3657600"/>
          </a:xfrm>
          <a:prstGeom prst="rect">
            <a:avLst/>
          </a:prstGeom>
          <a:noFill/>
          <a:ln/>
        </p:spPr>
        <p:txBody>
          <a:bodyPr wrap="square" lIns="0" tIns="0" rIns="0" bIns="0" rtlCol="0" anchor="t"/>
          <a:lstStyle/>
          <a:p>
            <a:pPr indent="0" marL="0">
              <a:spcAft>
                <a:spcPts val="1300"/>
              </a:spcAft>
              <a:buNone/>
            </a:pPr>
            <a:r>
              <a:rPr lang="en-US" sz="1250" dirty="0">
                <a:solidFill>
                  <a:srgbClr val="1D1D1F"/>
                </a:solidFill>
                <a:latin typeface="Arial" pitchFamily="34" charset="0"/>
                <a:ea typeface="Arial" pitchFamily="34" charset="-122"/>
                <a:cs typeface="Arial" pitchFamily="34" charset="-120"/>
              </a:rPr>
              <a:t>Your Firebase configuration (API key, project id, app id) ships inside the binary. It identifies the project. It was never a secret, and it never protected anything.</a:t>
            </a:r>
            <a:endParaRPr lang="en-US" sz="1250" dirty="0"/>
          </a:p>
          <a:p>
            <a:pPr indent="0" marL="0">
              <a:spcAft>
                <a:spcPts val="1300"/>
              </a:spcAft>
              <a:buNone/>
            </a:pPr>
            <a:r>
              <a:rPr lang="en-US" sz="1250" dirty="0">
                <a:solidFill>
                  <a:srgbClr val="1D1D1F"/>
                </a:solidFill>
                <a:latin typeface="Arial" pitchFamily="34" charset="0"/>
                <a:ea typeface="Arial" pitchFamily="34" charset="-122"/>
                <a:cs typeface="Arial" pitchFamily="34" charset="-120"/>
              </a:rPr>
              <a:t>An attacker unzips the APK, reads it, and calls the Firestore or Storage REST API from a Python script, so none of the limits your UI imposes apply.</a:t>
            </a:r>
            <a:endParaRPr lang="en-US" sz="1250" dirty="0"/>
          </a:p>
          <a:p>
            <a:pPr indent="0" marL="0">
              <a:spcAft>
                <a:spcPts val="1300"/>
              </a:spcAft>
              <a:buNone/>
            </a:pPr>
            <a:r>
              <a:rPr lang="en-US" sz="1250" dirty="0">
                <a:solidFill>
                  <a:srgbClr val="1D1D1F"/>
                </a:solidFill>
                <a:latin typeface="Arial" pitchFamily="34" charset="0"/>
                <a:ea typeface="Arial" pitchFamily="34" charset="-122"/>
                <a:cs typeface="Arial" pitchFamily="34" charset="-120"/>
              </a:rPr>
              <a:t>The cost is yours: millions of reads, a poisoned collection, a scraped user table. Auth does not help here, because the script can sign up like any other user.</a:t>
            </a:r>
            <a:endParaRPr lang="en-US" sz="1250" dirty="0"/>
          </a:p>
          <a:p>
            <a:pPr indent="0" marL="0">
              <a:spcAft>
                <a:spcPts val="1300"/>
              </a:spcAft>
              <a:buNone/>
            </a:pPr>
            <a:r>
              <a:rPr lang="en-US" sz="1250" b="1" dirty="0">
                <a:solidFill>
                  <a:srgbClr val="1D1D1F"/>
                </a:solidFill>
                <a:latin typeface="Arial" pitchFamily="34" charset="0"/>
                <a:ea typeface="Arial" pitchFamily="34" charset="-122"/>
                <a:cs typeface="Arial" pitchFamily="34" charset="-120"/>
              </a:rPr>
              <a:t>Auth answers who. App Check answers where from: is this request coming from a genuine build of my app, on a genuine device?</a:t>
            </a:r>
            <a:endParaRPr lang="en-US" sz="1250" dirty="0"/>
          </a:p>
        </p:txBody>
      </p:sp>
      <p:sp>
        <p:nvSpPr>
          <p:cNvPr id="6" name="Shape 4"/>
          <p:cNvSpPr/>
          <p:nvPr/>
        </p:nvSpPr>
        <p:spPr>
          <a:xfrm>
            <a:off x="7223760" y="1783080"/>
            <a:ext cx="4142232" cy="1097280"/>
          </a:xfrm>
          <a:prstGeom prst="roundRect">
            <a:avLst>
              <a:gd name="adj" fmla="val 7500"/>
            </a:avLst>
          </a:prstGeom>
          <a:solidFill>
            <a:srgbClr val="000000"/>
          </a:solidFill>
          <a:ln/>
        </p:spPr>
      </p:sp>
      <p:sp>
        <p:nvSpPr>
          <p:cNvPr id="7" name="Text 5"/>
          <p:cNvSpPr/>
          <p:nvPr/>
        </p:nvSpPr>
        <p:spPr>
          <a:xfrm>
            <a:off x="7498080" y="1783080"/>
            <a:ext cx="3611880" cy="1097280"/>
          </a:xfrm>
          <a:prstGeom prst="rect">
            <a:avLst/>
          </a:prstGeom>
          <a:noFill/>
          <a:ln/>
        </p:spPr>
        <p:txBody>
          <a:bodyPr wrap="square" lIns="0" tIns="0" rIns="0" bIns="0" rtlCol="0" anchor="ctr"/>
          <a:lstStyle/>
          <a:p>
            <a:pPr indent="0" marL="0">
              <a:lnSpc>
                <a:spcPts val="1500"/>
              </a:lnSpc>
              <a:buNone/>
            </a:pPr>
            <a:r>
              <a:rPr lang="en-US" sz="1400" b="1" dirty="0">
                <a:solidFill>
                  <a:srgbClr val="FFFFFF"/>
                </a:solidFill>
                <a:latin typeface="Arial" pitchFamily="34" charset="0"/>
                <a:ea typeface="Arial" pitchFamily="34" charset="-122"/>
                <a:cs typeface="Arial" pitchFamily="34" charset="-120"/>
              </a:rPr>
              <a:t>App Check</a:t>
            </a:r>
            <a:endParaRPr lang="en-US" sz="1400" dirty="0"/>
          </a:p>
          <a:p>
            <a:pPr indent="0" marL="0">
              <a:lnSpc>
                <a:spcPts val="1500"/>
              </a:lnSpc>
              <a:buNone/>
            </a:pPr>
            <a:r>
              <a:rPr lang="en-US" sz="1150" dirty="0">
                <a:solidFill>
                  <a:srgbClr val="A1A1A6"/>
                </a:solidFill>
                <a:latin typeface="Arial" pitchFamily="34" charset="0"/>
                <a:ea typeface="Arial" pitchFamily="34" charset="-122"/>
                <a:cs typeface="Arial" pitchFamily="34" charset="-120"/>
              </a:rPr>
              <a:t>“Is this my real, unmodified app?”</a:t>
            </a:r>
            <a:endParaRPr lang="en-US" sz="1400" dirty="0"/>
          </a:p>
          <a:p>
            <a:pPr indent="0" marL="0">
              <a:lnSpc>
                <a:spcPts val="1500"/>
              </a:lnSpc>
              <a:buNone/>
            </a:pPr>
            <a:r>
              <a:rPr lang="en-US" sz="1050" dirty="0">
                <a:solidFill>
                  <a:srgbClr val="6E6E73"/>
                </a:solidFill>
                <a:latin typeface="Arial" pitchFamily="34" charset="0"/>
                <a:ea typeface="Arial" pitchFamily="34" charset="-122"/>
                <a:cs typeface="Arial" pitchFamily="34" charset="-120"/>
              </a:rPr>
              <a:t>protects the developer: abuse, billing fraud</a:t>
            </a:r>
            <a:endParaRPr lang="en-US" sz="1400" dirty="0"/>
          </a:p>
        </p:txBody>
      </p:sp>
      <p:sp>
        <p:nvSpPr>
          <p:cNvPr id="8" name="Shape 6"/>
          <p:cNvSpPr/>
          <p:nvPr/>
        </p:nvSpPr>
        <p:spPr>
          <a:xfrm>
            <a:off x="7223760" y="3063240"/>
            <a:ext cx="4142232" cy="1097280"/>
          </a:xfrm>
          <a:prstGeom prst="roundRect">
            <a:avLst>
              <a:gd name="adj" fmla="val 7500"/>
            </a:avLst>
          </a:prstGeom>
          <a:solidFill>
            <a:srgbClr val="FFFFFF"/>
          </a:solidFill>
          <a:ln w="12700">
            <a:solidFill>
              <a:srgbClr val="D2D2D7"/>
            </a:solidFill>
            <a:prstDash val="solid"/>
          </a:ln>
        </p:spPr>
      </p:sp>
      <p:sp>
        <p:nvSpPr>
          <p:cNvPr id="9" name="Text 7"/>
          <p:cNvSpPr/>
          <p:nvPr/>
        </p:nvSpPr>
        <p:spPr>
          <a:xfrm>
            <a:off x="7498080" y="3063240"/>
            <a:ext cx="3611880" cy="1097280"/>
          </a:xfrm>
          <a:prstGeom prst="rect">
            <a:avLst/>
          </a:prstGeom>
          <a:noFill/>
          <a:ln/>
        </p:spPr>
        <p:txBody>
          <a:bodyPr wrap="square" lIns="0" tIns="0" rIns="0" bIns="0" rtlCol="0" anchor="ctr"/>
          <a:lstStyle/>
          <a:p>
            <a:pPr indent="0" marL="0">
              <a:lnSpc>
                <a:spcPts val="1500"/>
              </a:lnSpc>
              <a:buNone/>
            </a:pPr>
            <a:r>
              <a:rPr lang="en-US" sz="1400" b="1" dirty="0">
                <a:solidFill>
                  <a:srgbClr val="1D1D1F"/>
                </a:solidFill>
                <a:latin typeface="Arial" pitchFamily="34" charset="0"/>
                <a:ea typeface="Arial" pitchFamily="34" charset="-122"/>
                <a:cs typeface="Arial" pitchFamily="34" charset="-120"/>
              </a:rPr>
              <a:t>Firebase Auth</a:t>
            </a:r>
            <a:endParaRPr lang="en-US" sz="1400" dirty="0"/>
          </a:p>
          <a:p>
            <a:pPr indent="0" marL="0">
              <a:lnSpc>
                <a:spcPts val="1500"/>
              </a:lnSpc>
              <a:buNone/>
            </a:pPr>
            <a:r>
              <a:rPr lang="en-US" sz="1150" dirty="0">
                <a:solidFill>
                  <a:srgbClr val="1D1D1F"/>
                </a:solidFill>
                <a:latin typeface="Arial" pitchFamily="34" charset="0"/>
                <a:ea typeface="Arial" pitchFamily="34" charset="-122"/>
                <a:cs typeface="Arial" pitchFamily="34" charset="-120"/>
              </a:rPr>
              <a:t>“Is this a known, valid user?”</a:t>
            </a:r>
            <a:endParaRPr lang="en-US" sz="1400" dirty="0"/>
          </a:p>
          <a:p>
            <a:pPr indent="0" marL="0">
              <a:lnSpc>
                <a:spcPts val="1500"/>
              </a:lnSpc>
              <a:buNone/>
            </a:pPr>
            <a:r>
              <a:rPr lang="en-US" sz="1050" dirty="0">
                <a:solidFill>
                  <a:srgbClr val="86868B"/>
                </a:solidFill>
                <a:latin typeface="Arial" pitchFamily="34" charset="0"/>
                <a:ea typeface="Arial" pitchFamily="34" charset="-122"/>
                <a:cs typeface="Arial" pitchFamily="34" charset="-120"/>
              </a:rPr>
              <a:t>protects the user: unauthorized access</a:t>
            </a:r>
            <a:endParaRPr lang="en-US" sz="1400" dirty="0"/>
          </a:p>
        </p:txBody>
      </p:sp>
      <p:sp>
        <p:nvSpPr>
          <p:cNvPr id="10" name="Shape 8"/>
          <p:cNvSpPr/>
          <p:nvPr/>
        </p:nvSpPr>
        <p:spPr>
          <a:xfrm>
            <a:off x="7223760" y="4343400"/>
            <a:ext cx="4142232" cy="1097280"/>
          </a:xfrm>
          <a:prstGeom prst="roundRect">
            <a:avLst>
              <a:gd name="adj" fmla="val 10000"/>
            </a:avLst>
          </a:prstGeom>
          <a:solidFill>
            <a:srgbClr val="F5F5F7"/>
          </a:solidFill>
          <a:ln/>
        </p:spPr>
      </p:sp>
      <p:sp>
        <p:nvSpPr>
          <p:cNvPr id="11" name="Text 9"/>
          <p:cNvSpPr/>
          <p:nvPr/>
        </p:nvSpPr>
        <p:spPr>
          <a:xfrm>
            <a:off x="7498080" y="4343400"/>
            <a:ext cx="3611880" cy="1097280"/>
          </a:xfrm>
          <a:prstGeom prst="rect">
            <a:avLst/>
          </a:prstGeom>
          <a:noFill/>
          <a:ln/>
        </p:spPr>
        <p:txBody>
          <a:bodyPr wrap="square" lIns="0" tIns="0" rIns="0" bIns="0" rtlCol="0" anchor="ctr"/>
          <a:lstStyle/>
          <a:p>
            <a:pPr indent="0" marL="0">
              <a:lnSpc>
                <a:spcPts val="1500"/>
              </a:lnSpc>
              <a:buNone/>
            </a:pPr>
            <a:r>
              <a:rPr lang="en-US" sz="1400" b="1" dirty="0">
                <a:solidFill>
                  <a:srgbClr val="1D1D1F"/>
                </a:solidFill>
                <a:latin typeface="Arial" pitchFamily="34" charset="0"/>
                <a:ea typeface="Arial" pitchFamily="34" charset="-122"/>
                <a:cs typeface="Arial" pitchFamily="34" charset="-120"/>
              </a:rPr>
              <a:t>Security Rules</a:t>
            </a:r>
            <a:endParaRPr lang="en-US" sz="1400" dirty="0"/>
          </a:p>
          <a:p>
            <a:pPr indent="0" marL="0">
              <a:lnSpc>
                <a:spcPts val="1500"/>
              </a:lnSpc>
              <a:buNone/>
            </a:pPr>
            <a:r>
              <a:rPr lang="en-US" sz="1150" dirty="0">
                <a:solidFill>
                  <a:srgbClr val="1D1D1F"/>
                </a:solidFill>
                <a:latin typeface="Arial" pitchFamily="34" charset="0"/>
                <a:ea typeface="Arial" pitchFamily="34" charset="-122"/>
                <a:cs typeface="Arial" pitchFamily="34" charset="-120"/>
              </a:rPr>
              <a:t>“May this user do this, here?”</a:t>
            </a:r>
            <a:endParaRPr lang="en-US" sz="1400" dirty="0"/>
          </a:p>
          <a:p>
            <a:pPr indent="0" marL="0">
              <a:lnSpc>
                <a:spcPts val="1500"/>
              </a:lnSpc>
              <a:buNone/>
            </a:pPr>
            <a:r>
              <a:rPr lang="en-US" sz="1050" dirty="0">
                <a:solidFill>
                  <a:srgbClr val="86868B"/>
                </a:solidFill>
                <a:latin typeface="Arial" pitchFamily="34" charset="0"/>
                <a:ea typeface="Arial" pitchFamily="34" charset="-122"/>
                <a:cs typeface="Arial" pitchFamily="34" charset="-120"/>
              </a:rPr>
              <a:t>protects the data: misuse by valid users</a:t>
            </a:r>
            <a:endParaRPr lang="en-US" sz="1400" dirty="0"/>
          </a:p>
        </p:txBody>
      </p:sp>
      <p:sp>
        <p:nvSpPr>
          <p:cNvPr id="12" name="Text 10"/>
          <p:cNvSpPr/>
          <p:nvPr/>
        </p:nvSpPr>
        <p:spPr>
          <a:xfrm>
            <a:off x="7223760" y="5577840"/>
            <a:ext cx="4142232" cy="32004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Three layers, three different questions.</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25</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APP CHECK</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Turning it on: activate() and providers</a:t>
            </a:r>
            <a:endParaRPr lang="en-US" sz="3000" dirty="0"/>
          </a:p>
        </p:txBody>
      </p:sp>
      <p:sp>
        <p:nvSpPr>
          <p:cNvPr id="5" name="Shape 3"/>
          <p:cNvSpPr/>
          <p:nvPr/>
        </p:nvSpPr>
        <p:spPr>
          <a:xfrm>
            <a:off x="822960" y="1783080"/>
            <a:ext cx="6766560" cy="4114800"/>
          </a:xfrm>
          <a:prstGeom prst="roundRect">
            <a:avLst>
              <a:gd name="adj" fmla="val 2667"/>
            </a:avLst>
          </a:prstGeom>
          <a:solidFill>
            <a:srgbClr val="F5F5F7"/>
          </a:solidFill>
          <a:ln/>
        </p:spPr>
      </p:sp>
      <p:sp>
        <p:nvSpPr>
          <p:cNvPr id="6" name="Text 4"/>
          <p:cNvSpPr/>
          <p:nvPr/>
        </p:nvSpPr>
        <p:spPr>
          <a:xfrm>
            <a:off x="1234440" y="2103120"/>
            <a:ext cx="6035040" cy="3520440"/>
          </a:xfrm>
          <a:prstGeom prst="rect">
            <a:avLst/>
          </a:prstGeom>
          <a:noFill/>
          <a:ln/>
        </p:spPr>
        <p:txBody>
          <a:bodyPr wrap="square" lIns="0" tIns="0" rIns="0" bIns="0" rtlCol="0" anchor="t"/>
          <a:lstStyle/>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import 'package:firebase_app_check/firebase_app_check.dart';</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Future&lt;void&gt; main() async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WidgetsFlutterBinding.ensureInitialized();</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await Firebase.initializeApp(</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options: DefaultFirebaseOptions.currentPlatform);</a:t>
            </a:r>
            <a:endParaRPr lang="en-US" sz="1050" dirty="0"/>
          </a:p>
          <a:p>
            <a:pPr indent="0" marL="0">
              <a:lnSpc>
                <a:spcPts val="1900"/>
              </a:lnSpc>
              <a:buNone/>
            </a:pPr>
            <a:r>
              <a:rPr lang="en-US" sz="1050" dirty="0">
                <a:solidFill>
                  <a:srgbClr val="86868B"/>
                </a:solidFill>
                <a:latin typeface="Courier New" pitchFamily="34" charset="0"/>
                <a:ea typeface="Courier New" pitchFamily="34" charset="-122"/>
                <a:cs typeface="Courier New" pitchFamily="34" charset="-120"/>
              </a:rPr>
              <a:t>  // Activate BEFORE the first call to any Firebase service.</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await FirebaseAppCheck.instance.activate(</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androidProvider: kDebugMode</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 AndroidProvider.debug : AndroidProvider.playIntegrity,</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appleProvider: kDebugMode</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 AppleProvider.debug : AppleProvider.appAttest,</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  runApp(const App());</a:t>
            </a:r>
            <a:endParaRPr lang="en-US" sz="1050" dirty="0"/>
          </a:p>
          <a:p>
            <a:pPr indent="0" marL="0">
              <a:lnSpc>
                <a:spcPts val="1900"/>
              </a:lnSpc>
              <a:buNone/>
            </a:pPr>
            <a:r>
              <a:rPr lang="en-US" sz="1050" dirty="0">
                <a:solidFill>
                  <a:srgbClr val="1D1D1F"/>
                </a:solidFill>
                <a:latin typeface="Courier New" pitchFamily="34" charset="0"/>
                <a:ea typeface="Courier New" pitchFamily="34" charset="-122"/>
                <a:cs typeface="Courier New" pitchFamily="34" charset="-120"/>
              </a:rPr>
              <a:t>}</a:t>
            </a:r>
            <a:endParaRPr lang="en-US" sz="1050" dirty="0"/>
          </a:p>
        </p:txBody>
      </p:sp>
      <p:sp>
        <p:nvSpPr>
          <p:cNvPr id="7" name="Text 5"/>
          <p:cNvSpPr/>
          <p:nvPr/>
        </p:nvSpPr>
        <p:spPr>
          <a:xfrm>
            <a:off x="7863840" y="1810512"/>
            <a:ext cx="3520440"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Pick the right attestor</a:t>
            </a:r>
            <a:endParaRPr lang="en-US" sz="1400" dirty="0"/>
          </a:p>
        </p:txBody>
      </p:sp>
      <p:sp>
        <p:nvSpPr>
          <p:cNvPr id="8" name="Text 6"/>
          <p:cNvSpPr/>
          <p:nvPr/>
        </p:nvSpPr>
        <p:spPr>
          <a:xfrm>
            <a:off x="7863840" y="2240280"/>
            <a:ext cx="3520440" cy="256032"/>
          </a:xfrm>
          <a:prstGeom prst="rect">
            <a:avLst/>
          </a:prstGeom>
          <a:noFill/>
          <a:ln/>
        </p:spPr>
        <p:txBody>
          <a:bodyPr wrap="square" lIns="0" tIns="0" rIns="0" bIns="0" rtlCol="0" anchor="ctr"/>
          <a:lstStyle/>
          <a:p>
            <a:pPr indent="0" marL="0">
              <a:buNone/>
            </a:pPr>
            <a:r>
              <a:rPr lang="en-US" sz="1050" dirty="0">
                <a:solidFill>
                  <a:srgbClr val="1D1D1F"/>
                </a:solidFill>
                <a:latin typeface="Courier New" pitchFamily="34" charset="0"/>
                <a:ea typeface="Courier New" pitchFamily="34" charset="-122"/>
                <a:cs typeface="Courier New" pitchFamily="34" charset="-120"/>
              </a:rPr>
              <a:t>Android</a:t>
            </a:r>
            <a:endParaRPr lang="en-US" sz="1050" dirty="0"/>
          </a:p>
        </p:txBody>
      </p:sp>
      <p:sp>
        <p:nvSpPr>
          <p:cNvPr id="9" name="Text 7"/>
          <p:cNvSpPr/>
          <p:nvPr/>
        </p:nvSpPr>
        <p:spPr>
          <a:xfrm>
            <a:off x="7863840" y="2496312"/>
            <a:ext cx="3520440" cy="475488"/>
          </a:xfrm>
          <a:prstGeom prst="rect">
            <a:avLst/>
          </a:prstGeom>
          <a:noFill/>
          <a:ln/>
        </p:spPr>
        <p:txBody>
          <a:bodyPr wrap="square" lIns="0" tIns="0" rIns="0" bIns="0" rtlCol="0" anchor="t"/>
          <a:lstStyle/>
          <a:p>
            <a:pPr indent="0" marL="0">
              <a:buNone/>
            </a:pPr>
            <a:r>
              <a:rPr lang="en-US" sz="1050" dirty="0">
                <a:solidFill>
                  <a:srgbClr val="86868B"/>
                </a:solidFill>
                <a:latin typeface="Arial" pitchFamily="34" charset="0"/>
                <a:ea typeface="Arial" pitchFamily="34" charset="-122"/>
                <a:cs typeface="Arial" pitchFamily="34" charset="-120"/>
              </a:rPr>
              <a:t>Play Integrity: the app was installed by Play, unmodified</a:t>
            </a:r>
            <a:endParaRPr lang="en-US" sz="1050" dirty="0"/>
          </a:p>
        </p:txBody>
      </p:sp>
      <p:sp>
        <p:nvSpPr>
          <p:cNvPr id="10" name="Shape 8"/>
          <p:cNvSpPr/>
          <p:nvPr/>
        </p:nvSpPr>
        <p:spPr>
          <a:xfrm>
            <a:off x="7863840" y="2916936"/>
            <a:ext cx="3520440" cy="0"/>
          </a:xfrm>
          <a:prstGeom prst="line">
            <a:avLst/>
          </a:prstGeom>
          <a:noFill/>
          <a:ln w="9525">
            <a:solidFill>
              <a:srgbClr val="D2D2D7"/>
            </a:solidFill>
            <a:prstDash val="solid"/>
          </a:ln>
        </p:spPr>
      </p:sp>
      <p:sp>
        <p:nvSpPr>
          <p:cNvPr id="11" name="Text 9"/>
          <p:cNvSpPr/>
          <p:nvPr/>
        </p:nvSpPr>
        <p:spPr>
          <a:xfrm>
            <a:off x="7863840" y="3026664"/>
            <a:ext cx="3520440" cy="256032"/>
          </a:xfrm>
          <a:prstGeom prst="rect">
            <a:avLst/>
          </a:prstGeom>
          <a:noFill/>
          <a:ln/>
        </p:spPr>
        <p:txBody>
          <a:bodyPr wrap="square" lIns="0" tIns="0" rIns="0" bIns="0" rtlCol="0" anchor="ctr"/>
          <a:lstStyle/>
          <a:p>
            <a:pPr indent="0" marL="0">
              <a:buNone/>
            </a:pPr>
            <a:r>
              <a:rPr lang="en-US" sz="1050" dirty="0">
                <a:solidFill>
                  <a:srgbClr val="1D1D1F"/>
                </a:solidFill>
                <a:latin typeface="Courier New" pitchFamily="34" charset="0"/>
                <a:ea typeface="Courier New" pitchFamily="34" charset="-122"/>
                <a:cs typeface="Courier New" pitchFamily="34" charset="-120"/>
              </a:rPr>
              <a:t>iOS 14+</a:t>
            </a:r>
            <a:endParaRPr lang="en-US" sz="1050" dirty="0"/>
          </a:p>
        </p:txBody>
      </p:sp>
      <p:sp>
        <p:nvSpPr>
          <p:cNvPr id="12" name="Text 10"/>
          <p:cNvSpPr/>
          <p:nvPr/>
        </p:nvSpPr>
        <p:spPr>
          <a:xfrm>
            <a:off x="7863840" y="3282696"/>
            <a:ext cx="3520440" cy="475488"/>
          </a:xfrm>
          <a:prstGeom prst="rect">
            <a:avLst/>
          </a:prstGeom>
          <a:noFill/>
          <a:ln/>
        </p:spPr>
        <p:txBody>
          <a:bodyPr wrap="square" lIns="0" tIns="0" rIns="0" bIns="0" rtlCol="0" anchor="t"/>
          <a:lstStyle/>
          <a:p>
            <a:pPr indent="0" marL="0">
              <a:buNone/>
            </a:pPr>
            <a:r>
              <a:rPr lang="en-US" sz="1050" dirty="0">
                <a:solidFill>
                  <a:srgbClr val="86868B"/>
                </a:solidFill>
                <a:latin typeface="Arial" pitchFamily="34" charset="0"/>
                <a:ea typeface="Arial" pitchFamily="34" charset="-122"/>
                <a:cs typeface="Arial" pitchFamily="34" charset="-120"/>
              </a:rPr>
              <a:t>App Attest: a hardware-backed key per install</a:t>
            </a:r>
            <a:endParaRPr lang="en-US" sz="1050" dirty="0"/>
          </a:p>
        </p:txBody>
      </p:sp>
      <p:sp>
        <p:nvSpPr>
          <p:cNvPr id="13" name="Shape 11"/>
          <p:cNvSpPr/>
          <p:nvPr/>
        </p:nvSpPr>
        <p:spPr>
          <a:xfrm>
            <a:off x="7863840" y="3703320"/>
            <a:ext cx="3520440" cy="0"/>
          </a:xfrm>
          <a:prstGeom prst="line">
            <a:avLst/>
          </a:prstGeom>
          <a:noFill/>
          <a:ln w="9525">
            <a:solidFill>
              <a:srgbClr val="D2D2D7"/>
            </a:solidFill>
            <a:prstDash val="solid"/>
          </a:ln>
        </p:spPr>
      </p:sp>
      <p:sp>
        <p:nvSpPr>
          <p:cNvPr id="14" name="Text 12"/>
          <p:cNvSpPr/>
          <p:nvPr/>
        </p:nvSpPr>
        <p:spPr>
          <a:xfrm>
            <a:off x="7863840" y="3813048"/>
            <a:ext cx="3520440" cy="256032"/>
          </a:xfrm>
          <a:prstGeom prst="rect">
            <a:avLst/>
          </a:prstGeom>
          <a:noFill/>
          <a:ln/>
        </p:spPr>
        <p:txBody>
          <a:bodyPr wrap="square" lIns="0" tIns="0" rIns="0" bIns="0" rtlCol="0" anchor="ctr"/>
          <a:lstStyle/>
          <a:p>
            <a:pPr indent="0" marL="0">
              <a:buNone/>
            </a:pPr>
            <a:r>
              <a:rPr lang="en-US" sz="1050" dirty="0">
                <a:solidFill>
                  <a:srgbClr val="1D1D1F"/>
                </a:solidFill>
                <a:latin typeface="Courier New" pitchFamily="34" charset="0"/>
                <a:ea typeface="Courier New" pitchFamily="34" charset="-122"/>
                <a:cs typeface="Courier New" pitchFamily="34" charset="-120"/>
              </a:rPr>
              <a:t>older iOS</a:t>
            </a:r>
            <a:endParaRPr lang="en-US" sz="1050" dirty="0"/>
          </a:p>
        </p:txBody>
      </p:sp>
      <p:sp>
        <p:nvSpPr>
          <p:cNvPr id="15" name="Text 13"/>
          <p:cNvSpPr/>
          <p:nvPr/>
        </p:nvSpPr>
        <p:spPr>
          <a:xfrm>
            <a:off x="7863840" y="4069080"/>
            <a:ext cx="3520440" cy="475488"/>
          </a:xfrm>
          <a:prstGeom prst="rect">
            <a:avLst/>
          </a:prstGeom>
          <a:noFill/>
          <a:ln/>
        </p:spPr>
        <p:txBody>
          <a:bodyPr wrap="square" lIns="0" tIns="0" rIns="0" bIns="0" rtlCol="0" anchor="t"/>
          <a:lstStyle/>
          <a:p>
            <a:pPr indent="0" marL="0">
              <a:buNone/>
            </a:pPr>
            <a:r>
              <a:rPr lang="en-US" sz="1050" dirty="0">
                <a:solidFill>
                  <a:srgbClr val="86868B"/>
                </a:solidFill>
                <a:latin typeface="Arial" pitchFamily="34" charset="0"/>
                <a:ea typeface="Arial" pitchFamily="34" charset="-122"/>
                <a:cs typeface="Arial" pitchFamily="34" charset="-120"/>
              </a:rPr>
              <a:t>DeviceCheck: device-level, weaker but broad</a:t>
            </a:r>
            <a:endParaRPr lang="en-US" sz="1050" dirty="0"/>
          </a:p>
        </p:txBody>
      </p:sp>
      <p:sp>
        <p:nvSpPr>
          <p:cNvPr id="16" name="Shape 14"/>
          <p:cNvSpPr/>
          <p:nvPr/>
        </p:nvSpPr>
        <p:spPr>
          <a:xfrm>
            <a:off x="7863840" y="4489704"/>
            <a:ext cx="3520440" cy="0"/>
          </a:xfrm>
          <a:prstGeom prst="line">
            <a:avLst/>
          </a:prstGeom>
          <a:noFill/>
          <a:ln w="9525">
            <a:solidFill>
              <a:srgbClr val="D2D2D7"/>
            </a:solidFill>
            <a:prstDash val="solid"/>
          </a:ln>
        </p:spPr>
      </p:sp>
      <p:sp>
        <p:nvSpPr>
          <p:cNvPr id="17" name="Text 15"/>
          <p:cNvSpPr/>
          <p:nvPr/>
        </p:nvSpPr>
        <p:spPr>
          <a:xfrm>
            <a:off x="7863840" y="4599432"/>
            <a:ext cx="3520440" cy="256032"/>
          </a:xfrm>
          <a:prstGeom prst="rect">
            <a:avLst/>
          </a:prstGeom>
          <a:noFill/>
          <a:ln/>
        </p:spPr>
        <p:txBody>
          <a:bodyPr wrap="square" lIns="0" tIns="0" rIns="0" bIns="0" rtlCol="0" anchor="ctr"/>
          <a:lstStyle/>
          <a:p>
            <a:pPr indent="0" marL="0">
              <a:buNone/>
            </a:pPr>
            <a:r>
              <a:rPr lang="en-US" sz="1050" dirty="0">
                <a:solidFill>
                  <a:srgbClr val="1D1D1F"/>
                </a:solidFill>
                <a:latin typeface="Courier New" pitchFamily="34" charset="0"/>
                <a:ea typeface="Courier New" pitchFamily="34" charset="-122"/>
                <a:cs typeface="Courier New" pitchFamily="34" charset="-120"/>
              </a:rPr>
              <a:t>Web</a:t>
            </a:r>
            <a:endParaRPr lang="en-US" sz="1050" dirty="0"/>
          </a:p>
        </p:txBody>
      </p:sp>
      <p:sp>
        <p:nvSpPr>
          <p:cNvPr id="18" name="Text 16"/>
          <p:cNvSpPr/>
          <p:nvPr/>
        </p:nvSpPr>
        <p:spPr>
          <a:xfrm>
            <a:off x="7863840" y="4855464"/>
            <a:ext cx="3520440" cy="475488"/>
          </a:xfrm>
          <a:prstGeom prst="rect">
            <a:avLst/>
          </a:prstGeom>
          <a:noFill/>
          <a:ln/>
        </p:spPr>
        <p:txBody>
          <a:bodyPr wrap="square" lIns="0" tIns="0" rIns="0" bIns="0" rtlCol="0" anchor="t"/>
          <a:lstStyle/>
          <a:p>
            <a:pPr indent="0" marL="0">
              <a:buNone/>
            </a:pPr>
            <a:r>
              <a:rPr lang="en-US" sz="1050" dirty="0">
                <a:solidFill>
                  <a:srgbClr val="86868B"/>
                </a:solidFill>
                <a:latin typeface="Arial" pitchFamily="34" charset="0"/>
                <a:ea typeface="Arial" pitchFamily="34" charset="-122"/>
                <a:cs typeface="Arial" pitchFamily="34" charset="-120"/>
              </a:rPr>
              <a:t>reCAPTCHA Enterprise</a:t>
            </a:r>
            <a:endParaRPr lang="en-US" sz="1050" dirty="0"/>
          </a:p>
        </p:txBody>
      </p:sp>
      <p:sp>
        <p:nvSpPr>
          <p:cNvPr id="19" name="Shape 17"/>
          <p:cNvSpPr/>
          <p:nvPr/>
        </p:nvSpPr>
        <p:spPr>
          <a:xfrm>
            <a:off x="7863840" y="5276088"/>
            <a:ext cx="3520440" cy="0"/>
          </a:xfrm>
          <a:prstGeom prst="line">
            <a:avLst/>
          </a:prstGeom>
          <a:noFill/>
          <a:ln w="9525">
            <a:solidFill>
              <a:srgbClr val="D2D2D7"/>
            </a:solidFill>
            <a:prstDash val="solid"/>
          </a:ln>
        </p:spPr>
      </p:sp>
      <p:sp>
        <p:nvSpPr>
          <p:cNvPr id="20" name="Text 18"/>
          <p:cNvSpPr/>
          <p:nvPr/>
        </p:nvSpPr>
        <p:spPr>
          <a:xfrm>
            <a:off x="7863840" y="5385816"/>
            <a:ext cx="3520440" cy="256032"/>
          </a:xfrm>
          <a:prstGeom prst="rect">
            <a:avLst/>
          </a:prstGeom>
          <a:noFill/>
          <a:ln/>
        </p:spPr>
        <p:txBody>
          <a:bodyPr wrap="square" lIns="0" tIns="0" rIns="0" bIns="0" rtlCol="0" anchor="ctr"/>
          <a:lstStyle/>
          <a:p>
            <a:pPr indent="0" marL="0">
              <a:buNone/>
            </a:pPr>
            <a:r>
              <a:rPr lang="en-US" sz="1050" dirty="0">
                <a:solidFill>
                  <a:srgbClr val="1D1D1F"/>
                </a:solidFill>
                <a:latin typeface="Courier New" pitchFamily="34" charset="0"/>
                <a:ea typeface="Courier New" pitchFamily="34" charset="-122"/>
                <a:cs typeface="Courier New" pitchFamily="34" charset="-120"/>
              </a:rPr>
              <a:t>Dev &amp; CI</a:t>
            </a:r>
            <a:endParaRPr lang="en-US" sz="1050" dirty="0"/>
          </a:p>
        </p:txBody>
      </p:sp>
      <p:sp>
        <p:nvSpPr>
          <p:cNvPr id="21" name="Text 19"/>
          <p:cNvSpPr/>
          <p:nvPr/>
        </p:nvSpPr>
        <p:spPr>
          <a:xfrm>
            <a:off x="7863840" y="5641848"/>
            <a:ext cx="3520440" cy="475488"/>
          </a:xfrm>
          <a:prstGeom prst="rect">
            <a:avLst/>
          </a:prstGeom>
          <a:noFill/>
          <a:ln/>
        </p:spPr>
        <p:txBody>
          <a:bodyPr wrap="square" lIns="0" tIns="0" rIns="0" bIns="0" rtlCol="0" anchor="t"/>
          <a:lstStyle/>
          <a:p>
            <a:pPr indent="0" marL="0">
              <a:buNone/>
            </a:pPr>
            <a:r>
              <a:rPr lang="en-US" sz="1050" dirty="0">
                <a:solidFill>
                  <a:srgbClr val="86868B"/>
                </a:solidFill>
                <a:latin typeface="Arial" pitchFamily="34" charset="0"/>
                <a:ea typeface="Arial" pitchFamily="34" charset="-122"/>
                <a:cs typeface="Arial" pitchFamily="34" charset="-120"/>
              </a:rPr>
              <a:t>Debug provider: emulators and simulators cannot attest</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26</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APP CHECK</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Enforcement: the step that changes behavior</a:t>
            </a:r>
            <a:endParaRPr lang="en-US" sz="3000" dirty="0"/>
          </a:p>
        </p:txBody>
      </p:sp>
      <p:sp>
        <p:nvSpPr>
          <p:cNvPr id="5" name="Shape 3"/>
          <p:cNvSpPr/>
          <p:nvPr/>
        </p:nvSpPr>
        <p:spPr>
          <a:xfrm>
            <a:off x="822960" y="1783080"/>
            <a:ext cx="5852160" cy="777240"/>
          </a:xfrm>
          <a:prstGeom prst="roundRect">
            <a:avLst>
              <a:gd name="adj" fmla="val 10588"/>
            </a:avLst>
          </a:prstGeom>
          <a:solidFill>
            <a:srgbClr val="000000"/>
          </a:solidFill>
          <a:ln/>
        </p:spPr>
      </p:sp>
      <p:sp>
        <p:nvSpPr>
          <p:cNvPr id="6" name="Text 4"/>
          <p:cNvSpPr/>
          <p:nvPr/>
        </p:nvSpPr>
        <p:spPr>
          <a:xfrm>
            <a:off x="822960" y="1783080"/>
            <a:ext cx="5852160" cy="777240"/>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1. Ship a build that calls activate()</a:t>
            </a:r>
            <a:endParaRPr lang="en-US" sz="1350" dirty="0"/>
          </a:p>
          <a:p>
            <a:pPr algn="ctr" indent="0" marL="0">
              <a:buNone/>
            </a:pPr>
            <a:r>
              <a:rPr lang="en-US" sz="1100" dirty="0">
                <a:solidFill>
                  <a:srgbClr val="A1A1A6"/>
                </a:solidFill>
                <a:latin typeface="Arial" pitchFamily="34" charset="0"/>
                <a:ea typeface="Arial" pitchFamily="34" charset="-122"/>
                <a:cs typeface="Arial" pitchFamily="34" charset="-120"/>
              </a:rPr>
              <a:t>clients start attaching App Check tokens</a:t>
            </a:r>
            <a:endParaRPr lang="en-US" sz="1350" dirty="0"/>
          </a:p>
        </p:txBody>
      </p:sp>
      <p:sp>
        <p:nvSpPr>
          <p:cNvPr id="7" name="Shape 5"/>
          <p:cNvSpPr/>
          <p:nvPr/>
        </p:nvSpPr>
        <p:spPr>
          <a:xfrm>
            <a:off x="3749040" y="2560320"/>
            <a:ext cx="0" cy="256032"/>
          </a:xfrm>
          <a:prstGeom prst="line">
            <a:avLst/>
          </a:prstGeom>
          <a:noFill/>
          <a:ln w="15875">
            <a:solidFill>
              <a:srgbClr val="86868B"/>
            </a:solidFill>
            <a:prstDash val="solid"/>
            <a:tailEnd type="triangle"/>
          </a:ln>
        </p:spPr>
      </p:sp>
      <p:sp>
        <p:nvSpPr>
          <p:cNvPr id="8" name="Shape 6"/>
          <p:cNvSpPr/>
          <p:nvPr/>
        </p:nvSpPr>
        <p:spPr>
          <a:xfrm>
            <a:off x="822960" y="2816352"/>
            <a:ext cx="5852160" cy="777240"/>
          </a:xfrm>
          <a:prstGeom prst="roundRect">
            <a:avLst>
              <a:gd name="adj" fmla="val 10588"/>
            </a:avLst>
          </a:prstGeom>
          <a:solidFill>
            <a:srgbClr val="FFFFFF"/>
          </a:solidFill>
          <a:ln w="12700">
            <a:solidFill>
              <a:srgbClr val="D2D2D7"/>
            </a:solidFill>
            <a:prstDash val="solid"/>
          </a:ln>
        </p:spPr>
      </p:sp>
      <p:sp>
        <p:nvSpPr>
          <p:cNvPr id="9" name="Text 7"/>
          <p:cNvSpPr/>
          <p:nvPr/>
        </p:nvSpPr>
        <p:spPr>
          <a:xfrm>
            <a:off x="822960" y="2816352"/>
            <a:ext cx="5852160" cy="77724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2. Watch the metrics</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Console → App Check: verified vs unverified</a:t>
            </a:r>
            <a:endParaRPr lang="en-US" sz="1350" dirty="0"/>
          </a:p>
        </p:txBody>
      </p:sp>
      <p:sp>
        <p:nvSpPr>
          <p:cNvPr id="10" name="Shape 8"/>
          <p:cNvSpPr/>
          <p:nvPr/>
        </p:nvSpPr>
        <p:spPr>
          <a:xfrm>
            <a:off x="3749040" y="3593592"/>
            <a:ext cx="0" cy="256032"/>
          </a:xfrm>
          <a:prstGeom prst="line">
            <a:avLst/>
          </a:prstGeom>
          <a:noFill/>
          <a:ln w="15875">
            <a:solidFill>
              <a:srgbClr val="86868B"/>
            </a:solidFill>
            <a:prstDash val="solid"/>
            <a:tailEnd type="triangle"/>
          </a:ln>
        </p:spPr>
      </p:sp>
      <p:sp>
        <p:nvSpPr>
          <p:cNvPr id="11" name="Shape 9"/>
          <p:cNvSpPr/>
          <p:nvPr/>
        </p:nvSpPr>
        <p:spPr>
          <a:xfrm>
            <a:off x="822960" y="3849624"/>
            <a:ext cx="5852160" cy="777240"/>
          </a:xfrm>
          <a:prstGeom prst="roundRect">
            <a:avLst>
              <a:gd name="adj" fmla="val 14118"/>
            </a:avLst>
          </a:prstGeom>
          <a:solidFill>
            <a:srgbClr val="F5F5F7"/>
          </a:solidFill>
          <a:ln/>
        </p:spPr>
      </p:sp>
      <p:sp>
        <p:nvSpPr>
          <p:cNvPr id="12" name="Text 10"/>
          <p:cNvSpPr/>
          <p:nvPr/>
        </p:nvSpPr>
        <p:spPr>
          <a:xfrm>
            <a:off x="822960" y="3849624"/>
            <a:ext cx="5852160" cy="77724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3. Wait for old versions to drain</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unverified traffic must fall to near zero</a:t>
            </a:r>
            <a:endParaRPr lang="en-US" sz="1350" dirty="0"/>
          </a:p>
        </p:txBody>
      </p:sp>
      <p:sp>
        <p:nvSpPr>
          <p:cNvPr id="13" name="Shape 11"/>
          <p:cNvSpPr/>
          <p:nvPr/>
        </p:nvSpPr>
        <p:spPr>
          <a:xfrm>
            <a:off x="3749040" y="4626864"/>
            <a:ext cx="0" cy="256032"/>
          </a:xfrm>
          <a:prstGeom prst="line">
            <a:avLst/>
          </a:prstGeom>
          <a:noFill/>
          <a:ln w="15875">
            <a:solidFill>
              <a:srgbClr val="86868B"/>
            </a:solidFill>
            <a:prstDash val="solid"/>
            <a:tailEnd type="triangle"/>
          </a:ln>
        </p:spPr>
      </p:sp>
      <p:sp>
        <p:nvSpPr>
          <p:cNvPr id="14" name="Shape 12"/>
          <p:cNvSpPr/>
          <p:nvPr/>
        </p:nvSpPr>
        <p:spPr>
          <a:xfrm>
            <a:off x="822960" y="4882896"/>
            <a:ext cx="5852160" cy="777240"/>
          </a:xfrm>
          <a:prstGeom prst="roundRect">
            <a:avLst>
              <a:gd name="adj" fmla="val 10588"/>
            </a:avLst>
          </a:prstGeom>
          <a:solidFill>
            <a:srgbClr val="FFFFFF"/>
          </a:solidFill>
          <a:ln w="12700">
            <a:solidFill>
              <a:srgbClr val="D2D2D7"/>
            </a:solidFill>
            <a:prstDash val="solid"/>
          </a:ln>
        </p:spPr>
      </p:sp>
      <p:sp>
        <p:nvSpPr>
          <p:cNvPr id="15" name="Text 13"/>
          <p:cNvSpPr/>
          <p:nvPr/>
        </p:nvSpPr>
        <p:spPr>
          <a:xfrm>
            <a:off x="822960" y="4882896"/>
            <a:ext cx="5852160" cy="77724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4. Press Enforce, per product</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Firestore · Storage · Functions · Auth · RTDB</a:t>
            </a:r>
            <a:endParaRPr lang="en-US" sz="1350" dirty="0"/>
          </a:p>
        </p:txBody>
      </p:sp>
      <p:sp>
        <p:nvSpPr>
          <p:cNvPr id="16" name="Text 14"/>
          <p:cNvSpPr/>
          <p:nvPr/>
        </p:nvSpPr>
        <p:spPr>
          <a:xfrm>
            <a:off x="7132320" y="1810512"/>
            <a:ext cx="4233672"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Debug tokens, safely</a:t>
            </a:r>
            <a:endParaRPr lang="en-US" sz="1400" dirty="0"/>
          </a:p>
        </p:txBody>
      </p:sp>
      <p:sp>
        <p:nvSpPr>
          <p:cNvPr id="17" name="Text 15"/>
          <p:cNvSpPr/>
          <p:nvPr/>
        </p:nvSpPr>
        <p:spPr>
          <a:xfrm>
            <a:off x="7132320" y="2240280"/>
            <a:ext cx="4233672" cy="2377440"/>
          </a:xfrm>
          <a:prstGeom prst="rect">
            <a:avLst/>
          </a:prstGeom>
          <a:noFill/>
          <a:ln/>
        </p:spPr>
        <p:txBody>
          <a:bodyPr wrap="square" lIns="0" tIns="0" rIns="0" bIns="0" rtlCol="0" anchor="t"/>
          <a:lstStyle/>
          <a:p>
            <a:pPr indent="0" marL="0">
              <a:spcAft>
                <a:spcPts val="1200"/>
              </a:spcAft>
              <a:buNone/>
            </a:pPr>
            <a:r>
              <a:rPr lang="en-US" sz="1150" dirty="0">
                <a:solidFill>
                  <a:srgbClr val="86868B"/>
                </a:solidFill>
                <a:latin typeface="Arial" pitchFamily="34" charset="0"/>
                <a:ea typeface="Arial" pitchFamily="34" charset="-122"/>
                <a:cs typeface="Arial" pitchFamily="34" charset="-120"/>
              </a:rPr>
              <a:t>Run with the debug provider; the console prints a token on first launch.</a:t>
            </a:r>
            <a:endParaRPr lang="en-US" sz="1150" dirty="0"/>
          </a:p>
          <a:p>
            <a:pPr indent="0" marL="0">
              <a:spcAft>
                <a:spcPts val="1200"/>
              </a:spcAft>
              <a:buNone/>
            </a:pPr>
            <a:r>
              <a:rPr lang="en-US" sz="1150" dirty="0">
                <a:solidFill>
                  <a:srgbClr val="86868B"/>
                </a:solidFill>
                <a:latin typeface="Arial" pitchFamily="34" charset="0"/>
                <a:ea typeface="Arial" pitchFamily="34" charset="-122"/>
                <a:cs typeface="Arial" pitchFamily="34" charset="-120"/>
              </a:rPr>
              <a:t>Register it in Console → App Check → Manage debug tokens, give it a name, set an expiry.</a:t>
            </a:r>
            <a:endParaRPr lang="en-US" sz="1150" dirty="0"/>
          </a:p>
          <a:p>
            <a:pPr indent="0" marL="0">
              <a:spcAft>
                <a:spcPts val="1200"/>
              </a:spcAft>
              <a:buNone/>
            </a:pPr>
            <a:r>
              <a:rPr lang="en-US" sz="1150" dirty="0">
                <a:solidFill>
                  <a:srgbClr val="86868B"/>
                </a:solidFill>
                <a:latin typeface="Arial" pitchFamily="34" charset="0"/>
                <a:ea typeface="Arial" pitchFamily="34" charset="-122"/>
                <a:cs typeface="Arial" pitchFamily="34" charset="-120"/>
              </a:rPr>
              <a:t>A debug token is a permanent bypass of every enforcement you just enabled. Never commit one, never paste one in chat, rotate them when someone leaves the team.</a:t>
            </a:r>
            <a:endParaRPr lang="en-US" sz="1150" dirty="0"/>
          </a:p>
          <a:p>
            <a:pPr indent="0" marL="0">
              <a:spcAft>
                <a:spcPts val="1200"/>
              </a:spcAft>
              <a:buNone/>
            </a:pPr>
            <a:r>
              <a:rPr lang="en-US" sz="1150" dirty="0">
                <a:solidFill>
                  <a:srgbClr val="86868B"/>
                </a:solidFill>
                <a:latin typeface="Arial" pitchFamily="34" charset="0"/>
                <a:ea typeface="Arial" pitchFamily="34" charset="-122"/>
                <a:cs typeface="Arial" pitchFamily="34" charset="-120"/>
              </a:rPr>
              <a:t>On CI, inject it as a secret, never as a checked-in file.</a:t>
            </a:r>
            <a:endParaRPr lang="en-US" sz="1150" dirty="0"/>
          </a:p>
        </p:txBody>
      </p:sp>
      <p:sp>
        <p:nvSpPr>
          <p:cNvPr id="18" name="Shape 16"/>
          <p:cNvSpPr/>
          <p:nvPr/>
        </p:nvSpPr>
        <p:spPr>
          <a:xfrm>
            <a:off x="7132320" y="4846320"/>
            <a:ext cx="4233672" cy="0"/>
          </a:xfrm>
          <a:prstGeom prst="line">
            <a:avLst/>
          </a:prstGeom>
          <a:noFill/>
          <a:ln w="9525">
            <a:solidFill>
              <a:srgbClr val="D2D2D7"/>
            </a:solidFill>
            <a:prstDash val="solid"/>
          </a:ln>
        </p:spPr>
      </p:sp>
      <p:sp>
        <p:nvSpPr>
          <p:cNvPr id="19" name="Text 17"/>
          <p:cNvSpPr/>
          <p:nvPr/>
        </p:nvSpPr>
        <p:spPr>
          <a:xfrm>
            <a:off x="7132320" y="5074920"/>
            <a:ext cx="4233672" cy="1097280"/>
          </a:xfrm>
          <a:prstGeom prst="rect">
            <a:avLst/>
          </a:prstGeom>
          <a:noFill/>
          <a:ln/>
        </p:spPr>
        <p:txBody>
          <a:bodyPr wrap="square" lIns="0" tIns="0" rIns="0" bIns="0" rtlCol="0" anchor="t"/>
          <a:lstStyle/>
          <a:p>
            <a:pPr indent="0" marL="0">
              <a:buNone/>
            </a:pPr>
            <a:r>
              <a:rPr lang="en-US" sz="1200" b="1" dirty="0">
                <a:solidFill>
                  <a:srgbClr val="1D1D1F"/>
                </a:solidFill>
                <a:latin typeface="Arial" pitchFamily="34" charset="0"/>
                <a:ea typeface="Arial" pitchFamily="34" charset="-122"/>
                <a:cs typeface="Arial" pitchFamily="34" charset="-120"/>
              </a:rPr>
              <a:t>Until you press Enforce, App Check only measures.</a:t>
            </a:r>
            <a:endParaRPr lang="en-US" sz="1200" dirty="0"/>
          </a:p>
          <a:p>
            <a:pPr indent="0" marL="0">
              <a:buNone/>
            </a:pPr>
            <a:r>
              <a:rPr lang="en-US" sz="1200" dirty="0">
                <a:solidFill>
                  <a:srgbClr val="86868B"/>
                </a:solidFill>
                <a:latin typeface="Arial" pitchFamily="34" charset="0"/>
                <a:ea typeface="Arial" pitchFamily="34" charset="-122"/>
                <a:cs typeface="Arial" pitchFamily="34" charset="-120"/>
              </a:rPr>
              <a:t>The SDK call on its own changes nothing; that is where the old version of this lecture stopped.</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822960" y="64008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Before next week</a:t>
            </a:r>
            <a:endParaRPr lang="en-US" sz="3000" dirty="0"/>
          </a:p>
        </p:txBody>
      </p:sp>
      <p:pic>
        <p:nvPicPr>
          <p:cNvPr id="3" name="Image 0" descr="/Users/dinu/dev/upb/mobile-and-embedded-computing/slides/assets/icons2/checklist-white.png">    </p:cNvPr>
          <p:cNvPicPr>
            <a:picLocks noChangeAspect="1"/>
          </p:cNvPicPr>
          <p:nvPr/>
        </p:nvPicPr>
        <p:blipFill>
          <a:blip r:embed="rId1"/>
          <a:stretch>
            <a:fillRect/>
          </a:stretch>
        </p:blipFill>
        <p:spPr>
          <a:xfrm>
            <a:off x="822960" y="1783080"/>
            <a:ext cx="384048" cy="384048"/>
          </a:xfrm>
          <a:prstGeom prst="rect">
            <a:avLst/>
          </a:prstGeom>
        </p:spPr>
      </p:pic>
      <p:sp>
        <p:nvSpPr>
          <p:cNvPr id="4" name="Text 1"/>
          <p:cNvSpPr/>
          <p:nvPr/>
        </p:nvSpPr>
        <p:spPr>
          <a:xfrm>
            <a:off x="822960" y="2286000"/>
            <a:ext cx="338328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Recap</a:t>
            </a:r>
            <a:endParaRPr lang="en-US" sz="1700" dirty="0"/>
          </a:p>
        </p:txBody>
      </p:sp>
      <p:sp>
        <p:nvSpPr>
          <p:cNvPr id="5" name="Text 2"/>
          <p:cNvSpPr/>
          <p:nvPr/>
        </p:nvSpPr>
        <p:spPr>
          <a:xfrm>
            <a:off x="822960" y="2880360"/>
            <a:ext cx="3383280" cy="2743200"/>
          </a:xfrm>
          <a:prstGeom prst="rect">
            <a:avLst/>
          </a:prstGeom>
          <a:noFill/>
          <a:ln/>
        </p:spPr>
        <p:txBody>
          <a:bodyPr wrap="square" lIns="0" tIns="0" rIns="0" bIns="0" rtlCol="0" anchor="t"/>
          <a:lstStyle/>
          <a:p>
            <a:pPr indent="0" marL="0">
              <a:spcAft>
                <a:spcPts val="1100"/>
              </a:spcAft>
              <a:buNone/>
            </a:pPr>
            <a:r>
              <a:rPr lang="en-US" sz="1250" dirty="0">
                <a:solidFill>
                  <a:srgbClr val="A1A1A6"/>
                </a:solidFill>
                <a:latin typeface="Arial" pitchFamily="34" charset="0"/>
                <a:ea typeface="Arial" pitchFamily="34" charset="-122"/>
                <a:cs typeface="Arial" pitchFamily="34" charset="-120"/>
              </a:rPr>
              <a:t>AuthN is who, AuthZ is what: Firebase Auth and Security Rules are different layers</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One generic message for every failed sign-in; never confirm an account exists</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authStateChanges() is the source of truth; never cache currentUser</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Verify the ID token on the backend; a uid from the client proves nothing</a:t>
            </a:r>
            <a:endParaRPr lang="en-US" sz="1250" dirty="0"/>
          </a:p>
        </p:txBody>
      </p:sp>
      <p:pic>
        <p:nvPicPr>
          <p:cNvPr id="6" name="Image 1" descr="/Users/dinu/dev/upb/mobile-and-embedded-computing/slides/assets/icons2/calendar-white.png">    </p:cNvPr>
          <p:cNvPicPr>
            <a:picLocks noChangeAspect="1"/>
          </p:cNvPicPr>
          <p:nvPr/>
        </p:nvPicPr>
        <p:blipFill>
          <a:blip r:embed="rId2"/>
          <a:stretch>
            <a:fillRect/>
          </a:stretch>
        </p:blipFill>
        <p:spPr>
          <a:xfrm>
            <a:off x="4389120" y="1783080"/>
            <a:ext cx="384048" cy="384048"/>
          </a:xfrm>
          <a:prstGeom prst="rect">
            <a:avLst/>
          </a:prstGeom>
        </p:spPr>
      </p:pic>
      <p:sp>
        <p:nvSpPr>
          <p:cNvPr id="7" name="Text 3"/>
          <p:cNvSpPr/>
          <p:nvPr/>
        </p:nvSpPr>
        <p:spPr>
          <a:xfrm>
            <a:off x="4389120" y="2286000"/>
            <a:ext cx="338328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This week</a:t>
            </a:r>
            <a:endParaRPr lang="en-US" sz="1700" dirty="0"/>
          </a:p>
        </p:txBody>
      </p:sp>
      <p:sp>
        <p:nvSpPr>
          <p:cNvPr id="8" name="Text 4"/>
          <p:cNvSpPr/>
          <p:nvPr/>
        </p:nvSpPr>
        <p:spPr>
          <a:xfrm>
            <a:off x="4389120" y="2880360"/>
            <a:ext cx="3383280" cy="2743200"/>
          </a:xfrm>
          <a:prstGeom prst="rect">
            <a:avLst/>
          </a:prstGeom>
          <a:noFill/>
          <a:ln/>
        </p:spPr>
        <p:txBody>
          <a:bodyPr wrap="square" lIns="0" tIns="0" rIns="0" bIns="0" rtlCol="0" anchor="t"/>
          <a:lstStyle/>
          <a:p>
            <a:pPr indent="0" marL="0">
              <a:spcAft>
                <a:spcPts val="1100"/>
              </a:spcAft>
              <a:buNone/>
            </a:pPr>
            <a:r>
              <a:rPr lang="en-US" sz="1250" dirty="0">
                <a:solidFill>
                  <a:srgbClr val="A1A1A6"/>
                </a:solidFill>
                <a:latin typeface="Arial" pitchFamily="34" charset="0"/>
                <a:ea typeface="Arial" pitchFamily="34" charset="-122"/>
                <a:cs typeface="Arial" pitchFamily="34" charset="-120"/>
              </a:rPr>
              <a:t>Add email/password and Google sign-in to your project app</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Write the users/{userId} rules and break them in the Rules Playground</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Wire up reset, verification and sign-out</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Turn on App Check with the debug provider and read the metrics page</a:t>
            </a:r>
            <a:endParaRPr lang="en-US" sz="1250" dirty="0"/>
          </a:p>
        </p:txBody>
      </p:sp>
      <p:pic>
        <p:nvPicPr>
          <p:cNvPr id="9" name="Image 2" descr="/Users/dinu/dev/upb/mobile-and-embedded-computing/slides/assets/icons2/bookopen-white.png">    </p:cNvPr>
          <p:cNvPicPr>
            <a:picLocks noChangeAspect="1"/>
          </p:cNvPicPr>
          <p:nvPr/>
        </p:nvPicPr>
        <p:blipFill>
          <a:blip r:embed="rId3"/>
          <a:stretch>
            <a:fillRect/>
          </a:stretch>
        </p:blipFill>
        <p:spPr>
          <a:xfrm>
            <a:off x="7955280" y="1783080"/>
            <a:ext cx="384048" cy="384048"/>
          </a:xfrm>
          <a:prstGeom prst="rect">
            <a:avLst/>
          </a:prstGeom>
        </p:spPr>
      </p:pic>
      <p:sp>
        <p:nvSpPr>
          <p:cNvPr id="10" name="Text 5"/>
          <p:cNvSpPr/>
          <p:nvPr/>
        </p:nvSpPr>
        <p:spPr>
          <a:xfrm>
            <a:off x="7955280" y="2286000"/>
            <a:ext cx="338328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Read more</a:t>
            </a:r>
            <a:endParaRPr lang="en-US" sz="1700" dirty="0"/>
          </a:p>
        </p:txBody>
      </p:sp>
      <p:sp>
        <p:nvSpPr>
          <p:cNvPr id="11" name="Text 6"/>
          <p:cNvSpPr/>
          <p:nvPr/>
        </p:nvSpPr>
        <p:spPr>
          <a:xfrm>
            <a:off x="7955280" y="2880360"/>
            <a:ext cx="3383280" cy="2743200"/>
          </a:xfrm>
          <a:prstGeom prst="rect">
            <a:avLst/>
          </a:prstGeom>
          <a:noFill/>
          <a:ln/>
        </p:spPr>
        <p:txBody>
          <a:bodyPr wrap="square" lIns="0" tIns="0" rIns="0" bIns="0" rtlCol="0" anchor="t"/>
          <a:lstStyle/>
          <a:p>
            <a:pPr indent="0" marL="0">
              <a:spcAft>
                <a:spcPts val="1100"/>
              </a:spcAft>
              <a:buNone/>
            </a:pPr>
            <a:r>
              <a:rPr lang="en-US" sz="1250" dirty="0">
                <a:solidFill>
                  <a:srgbClr val="A1A1A6"/>
                </a:solidFill>
                <a:latin typeface="Arial" pitchFamily="34" charset="0"/>
                <a:ea typeface="Arial" pitchFamily="34" charset="-122"/>
                <a:cs typeface="Arial" pitchFamily="34" charset="-120"/>
              </a:rPr>
              <a:t>firebase.google.com/docs/auth/flutter/start</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firebase.google.com/docs/rules/rules-and-auth</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firebase.google.com/docs/app-check</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OWASP MASVS · Authentication and Session Management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and Embedded Computing, Lecture 7</dc:title>
  <dc:subject>PptxGenJS Presentation</dc:subject>
  <dc:creator>Dinu-Ștefan Rusu</dc:creator>
  <cp:lastModifiedBy>Dinu-Ștefan Rusu</cp:lastModifiedBy>
  <cp:revision>1</cp:revision>
  <dcterms:created xsi:type="dcterms:W3CDTF">2026-08-08T15:40:13Z</dcterms:created>
  <dcterms:modified xsi:type="dcterms:W3CDTF">2026-08-08T15:40:13Z</dcterms:modified>
</cp:coreProperties>
</file>