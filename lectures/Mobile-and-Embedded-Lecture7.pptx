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embeddedFontLst>
    <p:embeddedFont>
      <p:font typeface="DM Sans" pitchFamily="2" charset="77"/>
      <p:regular r:id="rId22"/>
      <p:bold r:id="rId23"/>
      <p:italic r:id="rId24"/>
      <p:boldItalic r:id="rId25"/>
    </p:embeddedFont>
    <p:embeddedFont>
      <p:font typeface="Merriweather" pitchFamily="2" charset="77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1E4A3A0-1DFE-4022-ACF4-C8DEEE978E9A}">
  <a:tblStyle styleId="{81E4A3A0-1DFE-4022-ACF4-C8DEEE978E9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35"/>
  </p:normalViewPr>
  <p:slideViewPr>
    <p:cSldViewPr snapToGrid="0">
      <p:cViewPr varScale="1">
        <p:scale>
          <a:sx n="120" d="100"/>
          <a:sy n="120" d="100"/>
        </p:scale>
        <p:origin x="800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8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295275" y="2228850"/>
            <a:ext cx="11601450" cy="16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Secure Flutter Apps with Firebase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571500" y="4095750"/>
            <a:ext cx="11049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Authentication, OAuth, and App Check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8"/>
        </a:soli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/>
          <p:nvPr/>
        </p:nvSpPr>
        <p:spPr>
          <a:xfrm>
            <a:off x="5619750" y="2795587"/>
            <a:ext cx="952500" cy="4762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4"/>
          <p:cNvSpPr txBox="1"/>
          <p:nvPr/>
        </p:nvSpPr>
        <p:spPr>
          <a:xfrm>
            <a:off x="3475672" y="3128962"/>
            <a:ext cx="5240655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Part 1: The "Who"</a:t>
            </a:r>
            <a:endParaRPr/>
          </a:p>
        </p:txBody>
      </p:sp>
      <p:sp>
        <p:nvSpPr>
          <p:cNvPr id="92" name="Google Shape;92;p14"/>
          <p:cNvSpPr txBox="1"/>
          <p:nvPr/>
        </p:nvSpPr>
        <p:spPr>
          <a:xfrm>
            <a:off x="4629150" y="4033837"/>
            <a:ext cx="29337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Authentication Fundamentals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405062"/>
            <a:ext cx="5286375" cy="2905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405062"/>
            <a:ext cx="5286375" cy="29051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5"/>
          <p:cNvSpPr txBox="1"/>
          <p:nvPr/>
        </p:nvSpPr>
        <p:spPr>
          <a:xfrm>
            <a:off x="952500" y="2786062"/>
            <a:ext cx="475059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1CAA0"/>
                </a:solidFill>
                <a:latin typeface="Merriweather"/>
                <a:ea typeface="Merriweather"/>
                <a:cs typeface="Merriweather"/>
                <a:sym typeface="Merriweather"/>
              </a:rPr>
              <a:t>Authentication (AuthN)</a:t>
            </a:r>
            <a:endParaRPr/>
          </a:p>
        </p:txBody>
      </p:sp>
      <p:sp>
        <p:nvSpPr>
          <p:cNvPr id="100" name="Google Shape;100;p15"/>
          <p:cNvSpPr txBox="1"/>
          <p:nvPr/>
        </p:nvSpPr>
        <p:spPr>
          <a:xfrm>
            <a:off x="952500" y="3300412"/>
            <a:ext cx="45243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Verifying Who You Are.</a:t>
            </a:r>
            <a:endParaRPr/>
          </a:p>
        </p:txBody>
      </p:sp>
      <p:sp>
        <p:nvSpPr>
          <p:cNvPr id="101" name="Google Shape;101;p15"/>
          <p:cNvSpPr txBox="1"/>
          <p:nvPr/>
        </p:nvSpPr>
        <p:spPr>
          <a:xfrm>
            <a:off x="952500" y="3729037"/>
            <a:ext cx="452437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This is the "gatekeeper" at the front door, responsible for checking a user's credentials. It answers the question: "Is this user really who they say they are?"</a:t>
            </a:r>
            <a:endParaRPr/>
          </a:p>
        </p:txBody>
      </p:sp>
      <p:sp>
        <p:nvSpPr>
          <p:cNvPr id="102" name="Google Shape;102;p15"/>
          <p:cNvSpPr txBox="1"/>
          <p:nvPr/>
        </p:nvSpPr>
        <p:spPr>
          <a:xfrm>
            <a:off x="6715125" y="2786062"/>
            <a:ext cx="475059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1CAA0"/>
                </a:solidFill>
                <a:latin typeface="Merriweather"/>
                <a:ea typeface="Merriweather"/>
                <a:cs typeface="Merriweather"/>
                <a:sym typeface="Merriweather"/>
              </a:rPr>
              <a:t>Authorization (AuthZ)</a:t>
            </a:r>
            <a:endParaRPr/>
          </a:p>
        </p:txBody>
      </p:sp>
      <p:sp>
        <p:nvSpPr>
          <p:cNvPr id="103" name="Google Shape;103;p15"/>
          <p:cNvSpPr txBox="1"/>
          <p:nvPr/>
        </p:nvSpPr>
        <p:spPr>
          <a:xfrm>
            <a:off x="6715125" y="3300412"/>
            <a:ext cx="45243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Verifying What You Can Do.</a:t>
            </a:r>
            <a:endParaRPr/>
          </a:p>
        </p:txBody>
      </p:sp>
      <p:sp>
        <p:nvSpPr>
          <p:cNvPr id="104" name="Google Shape;104;p15"/>
          <p:cNvSpPr txBox="1"/>
          <p:nvPr/>
        </p:nvSpPr>
        <p:spPr>
          <a:xfrm>
            <a:off x="6715125" y="3729037"/>
            <a:ext cx="4524375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This is the "keymaster" inside the building, determining which doors a verified user can open. It answers the question: "Now that I know who this is, what are they allowed to access?"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AuthN vs. AuthZ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309812"/>
            <a:ext cx="3429000" cy="309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81500" y="2309812"/>
            <a:ext cx="3429000" cy="309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91500" y="2309812"/>
            <a:ext cx="3429000" cy="309562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6"/>
          <p:cNvSpPr txBox="1"/>
          <p:nvPr/>
        </p:nvSpPr>
        <p:spPr>
          <a:xfrm>
            <a:off x="1445895" y="3309937"/>
            <a:ext cx="1680210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Sensitive Data</a:t>
            </a:r>
            <a:endParaRPr/>
          </a:p>
        </p:txBody>
      </p:sp>
      <p:sp>
        <p:nvSpPr>
          <p:cNvPr id="114" name="Google Shape;114;p16"/>
          <p:cNvSpPr txBox="1"/>
          <p:nvPr/>
        </p:nvSpPr>
        <p:spPr>
          <a:xfrm>
            <a:off x="857250" y="3919537"/>
            <a:ext cx="28575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Mobile is the primary interface for financial, health, and personal records. A breach here can be catastrophic.</a:t>
            </a:r>
            <a:endParaRPr/>
          </a:p>
        </p:txBody>
      </p:sp>
      <p:sp>
        <p:nvSpPr>
          <p:cNvPr id="115" name="Google Shape;115;p16"/>
          <p:cNvSpPr txBox="1"/>
          <p:nvPr/>
        </p:nvSpPr>
        <p:spPr>
          <a:xfrm>
            <a:off x="4695825" y="3309937"/>
            <a:ext cx="2800350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Personalization &amp; Trust</a:t>
            </a:r>
            <a:endParaRPr/>
          </a:p>
        </p:txBody>
      </p:sp>
      <p:sp>
        <p:nvSpPr>
          <p:cNvPr id="116" name="Google Shape;116;p16"/>
          <p:cNvSpPr txBox="1"/>
          <p:nvPr/>
        </p:nvSpPr>
        <p:spPr>
          <a:xfrm>
            <a:off x="4667250" y="3919537"/>
            <a:ext cx="28575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Personalized experiences require user trust, which is built on the bedrock of secure authentication.</a:t>
            </a:r>
            <a:endParaRPr/>
          </a:p>
        </p:txBody>
      </p:sp>
      <p:sp>
        <p:nvSpPr>
          <p:cNvPr id="117" name="Google Shape;117;p16"/>
          <p:cNvSpPr txBox="1"/>
          <p:nvPr/>
        </p:nvSpPr>
        <p:spPr>
          <a:xfrm>
            <a:off x="8650843" y="3309937"/>
            <a:ext cx="2510313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Unique Threat Model</a:t>
            </a: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8477250" y="3919537"/>
            <a:ext cx="28575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Mobile devices face unique risks from being lost, stolen, or connected to insecure public Wi-Fi networks.</a:t>
            </a:r>
            <a:endParaRPr/>
          </a:p>
        </p:txBody>
      </p:sp>
      <p:pic>
        <p:nvPicPr>
          <p:cNvPr id="119" name="Google Shape;119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085975" y="2614612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0" y="2614612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20250" y="2614612"/>
            <a:ext cx="5715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6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The Mobile Security Imperative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" name="Google Shape;127;p17"/>
          <p:cNvGraphicFramePr/>
          <p:nvPr/>
        </p:nvGraphicFramePr>
        <p:xfrm>
          <a:off x="571500" y="262890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{81E4A3A0-1DFE-4022-ACF4-C8DEEE978E9A}</a:tableStyleId>
              </a:tblPr>
              <a:tblGrid>
                <a:gridCol w="222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6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3F0D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Factor Type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3F0D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Description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3F0D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Common Examples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Knowledge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"Something you know"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Password, PIN, Security Question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Possession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"Something you have"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Phone (for OTP/SMS), USB Key, Auth App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4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Inherence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"Something unique you are"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Fingerprint, Face ID, Iris Scan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8" name="Google Shape;128;p17"/>
          <p:cNvSpPr/>
          <p:nvPr/>
        </p:nvSpPr>
        <p:spPr>
          <a:xfrm>
            <a:off x="571500" y="3252787"/>
            <a:ext cx="2225873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/>
          <p:nvPr/>
        </p:nvSpPr>
        <p:spPr>
          <a:xfrm>
            <a:off x="2797373" y="3252787"/>
            <a:ext cx="3669506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6466879" y="3252787"/>
            <a:ext cx="5153620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/>
          <p:nvPr/>
        </p:nvSpPr>
        <p:spPr>
          <a:xfrm>
            <a:off x="571500" y="3862387"/>
            <a:ext cx="2225873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7"/>
          <p:cNvSpPr/>
          <p:nvPr/>
        </p:nvSpPr>
        <p:spPr>
          <a:xfrm>
            <a:off x="2797373" y="3862387"/>
            <a:ext cx="3669506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6466879" y="3862387"/>
            <a:ext cx="5153620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7"/>
          <p:cNvSpPr/>
          <p:nvPr/>
        </p:nvSpPr>
        <p:spPr>
          <a:xfrm>
            <a:off x="571500" y="4471987"/>
            <a:ext cx="2225873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/>
          <p:nvPr/>
        </p:nvSpPr>
        <p:spPr>
          <a:xfrm>
            <a:off x="2797373" y="4471987"/>
            <a:ext cx="3669506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6466879" y="4471987"/>
            <a:ext cx="5153620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 Taxonomy of Authentication Factors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8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/>
          <p:cNvSpPr/>
          <p:nvPr/>
        </p:nvSpPr>
        <p:spPr>
          <a:xfrm>
            <a:off x="5619750" y="2795587"/>
            <a:ext cx="952500" cy="4762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8"/>
          <p:cNvSpPr txBox="1"/>
          <p:nvPr/>
        </p:nvSpPr>
        <p:spPr>
          <a:xfrm>
            <a:off x="3055620" y="3128962"/>
            <a:ext cx="608076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Part 2: The "Service"</a:t>
            </a:r>
            <a:endParaRPr/>
          </a:p>
        </p:txBody>
      </p:sp>
      <p:sp>
        <p:nvSpPr>
          <p:cNvPr id="144" name="Google Shape;144;p18"/>
          <p:cNvSpPr txBox="1"/>
          <p:nvPr/>
        </p:nvSpPr>
        <p:spPr>
          <a:xfrm>
            <a:off x="4910137" y="4033837"/>
            <a:ext cx="23717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Firebase Authentication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/>
          <p:cNvSpPr txBox="1"/>
          <p:nvPr/>
        </p:nvSpPr>
        <p:spPr>
          <a:xfrm>
            <a:off x="2190750" y="2447925"/>
            <a:ext cx="8191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Immense Complexity: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A secure system is more than a password check. It involves secure hashing (bcrypt/scrypt), cryptographic salts, token generation, and rate limiting.</a:t>
            </a:r>
            <a:endParaRPr/>
          </a:p>
        </p:txBody>
      </p:sp>
      <p:sp>
        <p:nvSpPr>
          <p:cNvPr id="150" name="Google Shape;150;p19"/>
          <p:cNvSpPr txBox="1"/>
          <p:nvPr/>
        </p:nvSpPr>
        <p:spPr>
          <a:xfrm>
            <a:off x="2190750" y="3152775"/>
            <a:ext cx="8191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Constant Maintenance: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Security is not "set it and forget it." It requires constant vigilance and updates to patch new vulnerabilities.</a:t>
            </a:r>
            <a:endParaRPr/>
          </a:p>
        </p:txBody>
      </p:sp>
      <p:sp>
        <p:nvSpPr>
          <p:cNvPr id="151" name="Google Shape;151;p19"/>
          <p:cNvSpPr txBox="1"/>
          <p:nvPr/>
        </p:nvSpPr>
        <p:spPr>
          <a:xfrm>
            <a:off x="2190750" y="3857625"/>
            <a:ext cx="8191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High Cost (Time &amp; Money):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Building and maintaining this system is a full-time job for a dedicated team of specialists.</a:t>
            </a:r>
            <a:endParaRPr/>
          </a:p>
        </p:txBody>
      </p:sp>
      <p:sp>
        <p:nvSpPr>
          <p:cNvPr id="152" name="Google Shape;152;p19"/>
          <p:cNvSpPr txBox="1"/>
          <p:nvPr/>
        </p:nvSpPr>
        <p:spPr>
          <a:xfrm>
            <a:off x="2190750" y="4562475"/>
            <a:ext cx="8191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The BaaS Solution (Firebase):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Delegates high-risk components to experts, allowing you to "focus on the rest of your application."</a:t>
            </a:r>
            <a:endParaRPr/>
          </a:p>
        </p:txBody>
      </p:sp>
      <p:pic>
        <p:nvPicPr>
          <p:cNvPr id="153" name="Google Shape;15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9750" y="249555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9750" y="320040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9750" y="390525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46101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9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The "Build vs. Buy" Dilemma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2" name="Google Shape;162;p20"/>
          <p:cNvGraphicFramePr/>
          <p:nvPr/>
        </p:nvGraphicFramePr>
        <p:xfrm>
          <a:off x="571500" y="201930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{81E4A3A0-1DFE-4022-ACF4-C8DEEE978E9A}</a:tableStyleId>
              </a:tblPr>
              <a:tblGrid>
                <a:gridCol w="3009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97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41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2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3F0D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Category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3F0D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Provider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3F0D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Flutter Plugin(s) Required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Native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Email &amp; Password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firebase_auth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Native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Phone Number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firebase_auth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Federated (OAuth)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Google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firebase_auth, google_sign_in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Federated (OAuth)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Apple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firebase_auth, sign_in_with_apple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Anonymous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Anonymous Sign-In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firebase_auth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3" name="Google Shape;163;p20"/>
          <p:cNvSpPr/>
          <p:nvPr/>
        </p:nvSpPr>
        <p:spPr>
          <a:xfrm>
            <a:off x="571500" y="2643187"/>
            <a:ext cx="3009304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0"/>
          <p:cNvSpPr/>
          <p:nvPr/>
        </p:nvSpPr>
        <p:spPr>
          <a:xfrm>
            <a:off x="3580804" y="2643187"/>
            <a:ext cx="3097708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0"/>
          <p:cNvSpPr/>
          <p:nvPr/>
        </p:nvSpPr>
        <p:spPr>
          <a:xfrm>
            <a:off x="6678513" y="2643187"/>
            <a:ext cx="4941986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0"/>
          <p:cNvSpPr/>
          <p:nvPr/>
        </p:nvSpPr>
        <p:spPr>
          <a:xfrm>
            <a:off x="571500" y="3252787"/>
            <a:ext cx="3009304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0"/>
          <p:cNvSpPr/>
          <p:nvPr/>
        </p:nvSpPr>
        <p:spPr>
          <a:xfrm>
            <a:off x="3580804" y="3252787"/>
            <a:ext cx="3097708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0"/>
          <p:cNvSpPr/>
          <p:nvPr/>
        </p:nvSpPr>
        <p:spPr>
          <a:xfrm>
            <a:off x="6678513" y="3252787"/>
            <a:ext cx="4941986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0"/>
          <p:cNvSpPr/>
          <p:nvPr/>
        </p:nvSpPr>
        <p:spPr>
          <a:xfrm>
            <a:off x="571500" y="3862387"/>
            <a:ext cx="3009304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0"/>
          <p:cNvSpPr/>
          <p:nvPr/>
        </p:nvSpPr>
        <p:spPr>
          <a:xfrm>
            <a:off x="3580804" y="3862387"/>
            <a:ext cx="3097708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0"/>
          <p:cNvSpPr/>
          <p:nvPr/>
        </p:nvSpPr>
        <p:spPr>
          <a:xfrm>
            <a:off x="6678513" y="3862387"/>
            <a:ext cx="4941986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0"/>
          <p:cNvSpPr/>
          <p:nvPr/>
        </p:nvSpPr>
        <p:spPr>
          <a:xfrm>
            <a:off x="571500" y="4471987"/>
            <a:ext cx="3009304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0"/>
          <p:cNvSpPr/>
          <p:nvPr/>
        </p:nvSpPr>
        <p:spPr>
          <a:xfrm>
            <a:off x="3580804" y="4471987"/>
            <a:ext cx="3097708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0"/>
          <p:cNvSpPr/>
          <p:nvPr/>
        </p:nvSpPr>
        <p:spPr>
          <a:xfrm>
            <a:off x="6678513" y="4471987"/>
            <a:ext cx="4941986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0"/>
          <p:cNvSpPr/>
          <p:nvPr/>
        </p:nvSpPr>
        <p:spPr>
          <a:xfrm>
            <a:off x="571500" y="5081587"/>
            <a:ext cx="3009304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0"/>
          <p:cNvSpPr/>
          <p:nvPr/>
        </p:nvSpPr>
        <p:spPr>
          <a:xfrm>
            <a:off x="3580804" y="5081587"/>
            <a:ext cx="3097708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0"/>
          <p:cNvSpPr/>
          <p:nvPr/>
        </p:nvSpPr>
        <p:spPr>
          <a:xfrm>
            <a:off x="6678513" y="5081587"/>
            <a:ext cx="4941986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0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Firebase Authentication Providers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3" name="Google Shape;183;p21"/>
          <p:cNvGraphicFramePr/>
          <p:nvPr/>
        </p:nvGraphicFramePr>
        <p:xfrm>
          <a:off x="571500" y="2019300"/>
          <a:ext cx="11049000" cy="3676650"/>
        </p:xfrm>
        <a:graphic>
          <a:graphicData uri="http://schemas.openxmlformats.org/drawingml/2006/table">
            <a:tbl>
              <a:tblPr firstRow="1" bandRow="1">
                <a:noFill/>
                <a:tableStyleId>{81E4A3A0-1DFE-4022-ACF4-C8DEEE978E9A}</a:tableStyleId>
              </a:tblPr>
              <a:tblGrid>
                <a:gridCol w="35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2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3F0D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Error Code (e.code)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3F0D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User-Friendly Message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'user-not-found'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"No user found for that email."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'wrong-password'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"Incorrect password. Please try again."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'email-already-in-use'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"This email address is already in use."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'weak-password'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"Password is too weak. Please use a stronger password."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'invalid-email'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"Please enter a valid email address."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84" name="Google Shape;184;p21"/>
          <p:cNvSpPr/>
          <p:nvPr/>
        </p:nvSpPr>
        <p:spPr>
          <a:xfrm>
            <a:off x="571500" y="2643187"/>
            <a:ext cx="3562201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1"/>
          <p:cNvSpPr/>
          <p:nvPr/>
        </p:nvSpPr>
        <p:spPr>
          <a:xfrm>
            <a:off x="4133701" y="2643187"/>
            <a:ext cx="7486798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1"/>
          <p:cNvSpPr/>
          <p:nvPr/>
        </p:nvSpPr>
        <p:spPr>
          <a:xfrm>
            <a:off x="571500" y="3252787"/>
            <a:ext cx="3562201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1"/>
          <p:cNvSpPr/>
          <p:nvPr/>
        </p:nvSpPr>
        <p:spPr>
          <a:xfrm>
            <a:off x="4133701" y="3252787"/>
            <a:ext cx="7486798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1"/>
          <p:cNvSpPr/>
          <p:nvPr/>
        </p:nvSpPr>
        <p:spPr>
          <a:xfrm>
            <a:off x="571500" y="3862387"/>
            <a:ext cx="3562201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1"/>
          <p:cNvSpPr/>
          <p:nvPr/>
        </p:nvSpPr>
        <p:spPr>
          <a:xfrm>
            <a:off x="4133701" y="3862387"/>
            <a:ext cx="7486798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1"/>
          <p:cNvSpPr/>
          <p:nvPr/>
        </p:nvSpPr>
        <p:spPr>
          <a:xfrm>
            <a:off x="571500" y="4471987"/>
            <a:ext cx="3562201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1"/>
          <p:cNvSpPr/>
          <p:nvPr/>
        </p:nvSpPr>
        <p:spPr>
          <a:xfrm>
            <a:off x="4133701" y="4471987"/>
            <a:ext cx="7486798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1"/>
          <p:cNvSpPr/>
          <p:nvPr/>
        </p:nvSpPr>
        <p:spPr>
          <a:xfrm>
            <a:off x="571500" y="5081587"/>
            <a:ext cx="3562201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1"/>
          <p:cNvSpPr/>
          <p:nvPr/>
        </p:nvSpPr>
        <p:spPr>
          <a:xfrm>
            <a:off x="4133701" y="5081587"/>
            <a:ext cx="7486798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1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Robust Error Handling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8"/>
        </a:solid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2"/>
          <p:cNvSpPr/>
          <p:nvPr/>
        </p:nvSpPr>
        <p:spPr>
          <a:xfrm>
            <a:off x="5619750" y="2795587"/>
            <a:ext cx="952500" cy="4762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2"/>
          <p:cNvSpPr txBox="1"/>
          <p:nvPr/>
        </p:nvSpPr>
        <p:spPr>
          <a:xfrm>
            <a:off x="2250519" y="3128962"/>
            <a:ext cx="7690961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Part 3: Managing the User</a:t>
            </a:r>
            <a:endParaRPr/>
          </a:p>
        </p:txBody>
      </p:sp>
      <p:sp>
        <p:nvSpPr>
          <p:cNvPr id="201" name="Google Shape;201;p22"/>
          <p:cNvSpPr txBox="1"/>
          <p:nvPr/>
        </p:nvSpPr>
        <p:spPr>
          <a:xfrm>
            <a:off x="5657850" y="4033837"/>
            <a:ext cx="8763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Lifecycle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10437" y="2190750"/>
            <a:ext cx="3333750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3"/>
          <p:cNvSpPr txBox="1"/>
          <p:nvPr/>
        </p:nvSpPr>
        <p:spPr>
          <a:xfrm>
            <a:off x="571500" y="2424112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Don't Check, Listen</a:t>
            </a:r>
            <a:endParaRPr/>
          </a:p>
        </p:txBody>
      </p:sp>
      <p:sp>
        <p:nvSpPr>
          <p:cNvPr id="208" name="Google Shape;208;p23"/>
          <p:cNvSpPr txBox="1"/>
          <p:nvPr/>
        </p:nvSpPr>
        <p:spPr>
          <a:xfrm>
            <a:off x="571500" y="2976562"/>
            <a:ext cx="528637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 flawed pattern is checking auth state and pushing a new screen. The robust, declarative solution is to </a:t>
            </a:r>
            <a:r>
              <a:rPr lang="en-US" sz="13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listen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to the authStateChanges() stream.</a:t>
            </a:r>
            <a:endParaRPr/>
          </a:p>
        </p:txBody>
      </p:sp>
      <p:sp>
        <p:nvSpPr>
          <p:cNvPr id="209" name="Google Shape;209;p23"/>
          <p:cNvSpPr txBox="1"/>
          <p:nvPr/>
        </p:nvSpPr>
        <p:spPr>
          <a:xfrm>
            <a:off x="571500" y="3919537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This stream emits a new value (User? or null) every time the auth state changes (login, logout, app start).</a:t>
            </a:r>
            <a:endParaRPr/>
          </a:p>
        </p:txBody>
      </p:sp>
      <p:sp>
        <p:nvSpPr>
          <p:cNvPr id="210" name="Google Shape;210;p23"/>
          <p:cNvSpPr txBox="1"/>
          <p:nvPr/>
        </p:nvSpPr>
        <p:spPr>
          <a:xfrm>
            <a:off x="571500" y="4605337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 StreamBuilder (the "Auth Gate") at the root of your app listens and declaratively builds the correct UI: LoginScreen or HomeScreen.</a:t>
            </a:r>
            <a:endParaRPr/>
          </a:p>
        </p:txBody>
      </p:sp>
      <p:pic>
        <p:nvPicPr>
          <p:cNvPr id="211" name="Google Shape;211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48537" y="2228850"/>
            <a:ext cx="3257550" cy="325755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3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The "Auth Gate" Pattern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Google Shape;217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1952625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4"/>
          <p:cNvSpPr txBox="1"/>
          <p:nvPr/>
        </p:nvSpPr>
        <p:spPr>
          <a:xfrm>
            <a:off x="571500" y="1952625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Decouple Auth from Data</a:t>
            </a:r>
            <a:endParaRPr/>
          </a:p>
        </p:txBody>
      </p:sp>
      <p:sp>
        <p:nvSpPr>
          <p:cNvPr id="219" name="Google Shape;219;p24"/>
          <p:cNvSpPr txBox="1"/>
          <p:nvPr/>
        </p:nvSpPr>
        <p:spPr>
          <a:xfrm>
            <a:off x="571500" y="2505075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Firebase User object is for </a:t>
            </a:r>
            <a:r>
              <a:rPr lang="en-US" sz="13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authentication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, not application data. You cannot add arbitrary fields (like a user bio).</a:t>
            </a:r>
            <a:endParaRPr/>
          </a:p>
        </p:txBody>
      </p:sp>
      <p:sp>
        <p:nvSpPr>
          <p:cNvPr id="220" name="Google Shape;220;p24"/>
          <p:cNvSpPr txBox="1"/>
          <p:nvPr/>
        </p:nvSpPr>
        <p:spPr>
          <a:xfrm>
            <a:off x="571500" y="3190875"/>
            <a:ext cx="52863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Best Practice:</a:t>
            </a:r>
            <a:endParaRPr/>
          </a:p>
        </p:txBody>
      </p:sp>
      <p:sp>
        <p:nvSpPr>
          <p:cNvPr id="221" name="Google Shape;221;p24"/>
          <p:cNvSpPr txBox="1"/>
          <p:nvPr/>
        </p:nvSpPr>
        <p:spPr>
          <a:xfrm>
            <a:off x="752475" y="3619500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22" name="Google Shape;222;p24"/>
          <p:cNvSpPr txBox="1"/>
          <p:nvPr/>
        </p:nvSpPr>
        <p:spPr>
          <a:xfrm>
            <a:off x="809625" y="3619500"/>
            <a:ext cx="5048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Create a users collection in Cloud Firestore.</a:t>
            </a:r>
            <a:endParaRPr/>
          </a:p>
        </p:txBody>
      </p:sp>
      <p:sp>
        <p:nvSpPr>
          <p:cNvPr id="223" name="Google Shape;223;p24"/>
          <p:cNvSpPr txBox="1"/>
          <p:nvPr/>
        </p:nvSpPr>
        <p:spPr>
          <a:xfrm>
            <a:off x="752475" y="4019550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24" name="Google Shape;224;p24"/>
          <p:cNvSpPr txBox="1"/>
          <p:nvPr/>
        </p:nvSpPr>
        <p:spPr>
          <a:xfrm>
            <a:off x="809625" y="4019550"/>
            <a:ext cx="5048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After registration, get the uid from the UserCredential.</a:t>
            </a:r>
            <a:endParaRPr/>
          </a:p>
        </p:txBody>
      </p:sp>
      <p:sp>
        <p:nvSpPr>
          <p:cNvPr id="225" name="Google Shape;225;p24"/>
          <p:cNvSpPr txBox="1"/>
          <p:nvPr/>
        </p:nvSpPr>
        <p:spPr>
          <a:xfrm>
            <a:off x="752475" y="4419600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26" name="Google Shape;226;p24"/>
          <p:cNvSpPr txBox="1"/>
          <p:nvPr/>
        </p:nvSpPr>
        <p:spPr>
          <a:xfrm>
            <a:off x="809625" y="4419600"/>
            <a:ext cx="504825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Use this uid as the </a:t>
            </a:r>
            <a:r>
              <a:rPr lang="en-US" sz="13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Document ID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for a new document in your users collection.</a:t>
            </a:r>
            <a:endParaRPr/>
          </a:p>
        </p:txBody>
      </p:sp>
      <p:sp>
        <p:nvSpPr>
          <p:cNvPr id="227" name="Google Shape;227;p24"/>
          <p:cNvSpPr txBox="1"/>
          <p:nvPr/>
        </p:nvSpPr>
        <p:spPr>
          <a:xfrm>
            <a:off x="752475" y="5076825"/>
            <a:ext cx="571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28" name="Google Shape;228;p24"/>
          <p:cNvSpPr txBox="1"/>
          <p:nvPr/>
        </p:nvSpPr>
        <p:spPr>
          <a:xfrm>
            <a:off x="809625" y="5076825"/>
            <a:ext cx="5048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Store all profile data (bio, username, theme) in this document.</a:t>
            </a:r>
            <a:endParaRPr/>
          </a:p>
        </p:txBody>
      </p:sp>
      <p:pic>
        <p:nvPicPr>
          <p:cNvPr id="229" name="Google Shape;229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53175" y="1971675"/>
            <a:ext cx="5248275" cy="37719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4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Storing User Profile Data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1054000"/>
            <a:ext cx="5286375" cy="5607248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5"/>
          <p:cNvSpPr txBox="1"/>
          <p:nvPr/>
        </p:nvSpPr>
        <p:spPr>
          <a:xfrm>
            <a:off x="571500" y="1054000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Authorization (AuthZ)</a:t>
            </a:r>
            <a:endParaRPr/>
          </a:p>
        </p:txBody>
      </p:sp>
      <p:sp>
        <p:nvSpPr>
          <p:cNvPr id="237" name="Google Shape;237;p25"/>
          <p:cNvSpPr txBox="1"/>
          <p:nvPr/>
        </p:nvSpPr>
        <p:spPr>
          <a:xfrm>
            <a:off x="571500" y="1606450"/>
            <a:ext cx="5286375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This new data must be secured. We must write Cloud Firestore Security Rules to ensure a user can only read and write </a:t>
            </a:r>
            <a:r>
              <a:rPr lang="en-US" sz="13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their own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profile document.</a:t>
            </a:r>
            <a:endParaRPr/>
          </a:p>
        </p:txBody>
      </p:sp>
      <p:sp>
        <p:nvSpPr>
          <p:cNvPr id="238" name="Google Shape;238;p25"/>
          <p:cNvSpPr txBox="1"/>
          <p:nvPr/>
        </p:nvSpPr>
        <p:spPr>
          <a:xfrm>
            <a:off x="571500" y="2549425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rule uses the request.auth.uid variable (the logged-in user) and compares it to the userId in the document path.</a:t>
            </a:r>
            <a:endParaRPr/>
          </a:p>
        </p:txBody>
      </p:sp>
      <p:sp>
        <p:nvSpPr>
          <p:cNvPr id="239" name="Google Shape;239;p25"/>
          <p:cNvSpPr txBox="1"/>
          <p:nvPr/>
        </p:nvSpPr>
        <p:spPr>
          <a:xfrm>
            <a:off x="6619875" y="1339750"/>
            <a:ext cx="4950618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1CAA0"/>
                </a:solidFill>
                <a:latin typeface="Merriweather"/>
                <a:ea typeface="Merriweather"/>
                <a:cs typeface="Merriweather"/>
                <a:sym typeface="Merriweather"/>
              </a:rPr>
              <a:t>firestore.rules</a:t>
            </a:r>
            <a:endParaRPr/>
          </a:p>
        </p:txBody>
      </p:sp>
      <p:sp>
        <p:nvSpPr>
          <p:cNvPr id="240" name="Google Shape;240;p25"/>
          <p:cNvSpPr txBox="1"/>
          <p:nvPr/>
        </p:nvSpPr>
        <p:spPr>
          <a:xfrm>
            <a:off x="571500" y="19675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Securing Profile Data with Rules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8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6"/>
          <p:cNvSpPr/>
          <p:nvPr/>
        </p:nvSpPr>
        <p:spPr>
          <a:xfrm>
            <a:off x="5619750" y="2795587"/>
            <a:ext cx="952500" cy="4762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6"/>
          <p:cNvSpPr txBox="1"/>
          <p:nvPr/>
        </p:nvSpPr>
        <p:spPr>
          <a:xfrm>
            <a:off x="2345531" y="3128962"/>
            <a:ext cx="7500937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Part 4: The "Easy Button"</a:t>
            </a:r>
            <a:endParaRPr/>
          </a:p>
        </p:txBody>
      </p:sp>
      <p:sp>
        <p:nvSpPr>
          <p:cNvPr id="247" name="Google Shape;247;p26"/>
          <p:cNvSpPr txBox="1"/>
          <p:nvPr/>
        </p:nvSpPr>
        <p:spPr>
          <a:xfrm>
            <a:off x="4591050" y="4033837"/>
            <a:ext cx="30099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Implementing OAuth Providers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2" name="Google Shape;252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1952625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7"/>
          <p:cNvSpPr txBox="1"/>
          <p:nvPr/>
        </p:nvSpPr>
        <p:spPr>
          <a:xfrm>
            <a:off x="571500" y="1952625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The Two-Step Flow</a:t>
            </a:r>
            <a:endParaRPr/>
          </a:p>
        </p:txBody>
      </p:sp>
      <p:sp>
        <p:nvSpPr>
          <p:cNvPr id="254" name="Google Shape;254;p27"/>
          <p:cNvSpPr txBox="1"/>
          <p:nvPr/>
        </p:nvSpPr>
        <p:spPr>
          <a:xfrm>
            <a:off x="571500" y="2505075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Firebase trusts the provider (e.g., Google) to have verified the user. The process is a "credential handoff."</a:t>
            </a:r>
            <a:endParaRPr/>
          </a:p>
        </p:txBody>
      </p:sp>
      <p:sp>
        <p:nvSpPr>
          <p:cNvPr id="255" name="Google Shape;255;p27"/>
          <p:cNvSpPr txBox="1"/>
          <p:nvPr/>
        </p:nvSpPr>
        <p:spPr>
          <a:xfrm>
            <a:off x="857250" y="319087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1.</a:t>
            </a:r>
            <a:endParaRPr/>
          </a:p>
        </p:txBody>
      </p:sp>
      <p:sp>
        <p:nvSpPr>
          <p:cNvPr id="256" name="Google Shape;256;p27"/>
          <p:cNvSpPr txBox="1"/>
          <p:nvPr/>
        </p:nvSpPr>
        <p:spPr>
          <a:xfrm>
            <a:off x="952500" y="3190875"/>
            <a:ext cx="49053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App → Provider SDK: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App triggers google_sign_in.</a:t>
            </a:r>
            <a:endParaRPr/>
          </a:p>
        </p:txBody>
      </p:sp>
      <p:sp>
        <p:nvSpPr>
          <p:cNvPr id="257" name="Google Shape;257;p27"/>
          <p:cNvSpPr txBox="1"/>
          <p:nvPr/>
        </p:nvSpPr>
        <p:spPr>
          <a:xfrm>
            <a:off x="819150" y="3590925"/>
            <a:ext cx="1333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2.</a:t>
            </a:r>
            <a:endParaRPr/>
          </a:p>
        </p:txBody>
      </p:sp>
      <p:sp>
        <p:nvSpPr>
          <p:cNvPr id="258" name="Google Shape;258;p27"/>
          <p:cNvSpPr txBox="1"/>
          <p:nvPr/>
        </p:nvSpPr>
        <p:spPr>
          <a:xfrm>
            <a:off x="952500" y="3590925"/>
            <a:ext cx="4905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33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Provider → App: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Google returns an ID Token and Access Token to the app.</a:t>
            </a:r>
            <a:endParaRPr/>
          </a:p>
        </p:txBody>
      </p:sp>
      <p:sp>
        <p:nvSpPr>
          <p:cNvPr id="259" name="Google Shape;259;p27"/>
          <p:cNvSpPr txBox="1"/>
          <p:nvPr/>
        </p:nvSpPr>
        <p:spPr>
          <a:xfrm>
            <a:off x="809625" y="4248150"/>
            <a:ext cx="1428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3.</a:t>
            </a:r>
            <a:endParaRPr dirty="0"/>
          </a:p>
        </p:txBody>
      </p:sp>
      <p:sp>
        <p:nvSpPr>
          <p:cNvPr id="260" name="Google Shape;260;p27"/>
          <p:cNvSpPr txBox="1"/>
          <p:nvPr/>
        </p:nvSpPr>
        <p:spPr>
          <a:xfrm>
            <a:off x="952500" y="4248150"/>
            <a:ext cx="4905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App → Firebase: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App creates a </a:t>
            </a:r>
            <a:r>
              <a:rPr lang="en-US" sz="135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GoogleAuthProvider.credential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and passes it to Firebase.</a:t>
            </a:r>
            <a:endParaRPr dirty="0"/>
          </a:p>
        </p:txBody>
      </p:sp>
      <p:sp>
        <p:nvSpPr>
          <p:cNvPr id="261" name="Google Shape;261;p27"/>
          <p:cNvSpPr txBox="1"/>
          <p:nvPr/>
        </p:nvSpPr>
        <p:spPr>
          <a:xfrm>
            <a:off x="809625" y="4905375"/>
            <a:ext cx="1428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4.</a:t>
            </a:r>
            <a:endParaRPr/>
          </a:p>
        </p:txBody>
      </p:sp>
      <p:sp>
        <p:nvSpPr>
          <p:cNvPr id="262" name="Google Shape;262;p27"/>
          <p:cNvSpPr txBox="1"/>
          <p:nvPr/>
        </p:nvSpPr>
        <p:spPr>
          <a:xfrm>
            <a:off x="952500" y="4905375"/>
            <a:ext cx="4905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Firebase: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Verifies the token and creates its own Firebase session for the user.</a:t>
            </a:r>
            <a:endParaRPr/>
          </a:p>
        </p:txBody>
      </p:sp>
      <p:pic>
        <p:nvPicPr>
          <p:cNvPr id="263" name="Google Shape;263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53175" y="1971675"/>
            <a:ext cx="5248275" cy="3771900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27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The OAuth "Credential Handoff"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8"/>
        </a:solidFill>
        <a:effectLst/>
      </p:bgPr>
    </p:bg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8"/>
          <p:cNvSpPr/>
          <p:nvPr/>
        </p:nvSpPr>
        <p:spPr>
          <a:xfrm>
            <a:off x="5619750" y="2795587"/>
            <a:ext cx="952500" cy="4762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8"/>
          <p:cNvSpPr txBox="1"/>
          <p:nvPr/>
        </p:nvSpPr>
        <p:spPr>
          <a:xfrm>
            <a:off x="3335655" y="3128962"/>
            <a:ext cx="552069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Part 5: The "What"</a:t>
            </a:r>
            <a:endParaRPr/>
          </a:p>
        </p:txBody>
      </p:sp>
      <p:sp>
        <p:nvSpPr>
          <p:cNvPr id="271" name="Google Shape;271;p28"/>
          <p:cNvSpPr txBox="1"/>
          <p:nvPr/>
        </p:nvSpPr>
        <p:spPr>
          <a:xfrm>
            <a:off x="3714750" y="4033837"/>
            <a:ext cx="47625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Securing Your Backend with Firebase App Check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309812"/>
            <a:ext cx="3429000" cy="309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81500" y="2309812"/>
            <a:ext cx="3429000" cy="309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91500" y="2309812"/>
            <a:ext cx="3429000" cy="3095625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29"/>
          <p:cNvSpPr txBox="1"/>
          <p:nvPr/>
        </p:nvSpPr>
        <p:spPr>
          <a:xfrm>
            <a:off x="1625917" y="3309937"/>
            <a:ext cx="1320165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The Threat</a:t>
            </a:r>
            <a:endParaRPr/>
          </a:p>
        </p:txBody>
      </p:sp>
      <p:sp>
        <p:nvSpPr>
          <p:cNvPr id="280" name="Google Shape;280;p29"/>
          <p:cNvSpPr txBox="1"/>
          <p:nvPr/>
        </p:nvSpPr>
        <p:spPr>
          <a:xfrm>
            <a:off x="857250" y="3919537"/>
            <a:ext cx="28575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An attacker decompiles your app, extracts your API keys (e.g., google-services.json), and finds your database URL.</a:t>
            </a:r>
            <a:endParaRPr/>
          </a:p>
        </p:txBody>
      </p:sp>
      <p:sp>
        <p:nvSpPr>
          <p:cNvPr id="281" name="Google Shape;281;p29"/>
          <p:cNvSpPr txBox="1"/>
          <p:nvPr/>
        </p:nvSpPr>
        <p:spPr>
          <a:xfrm>
            <a:off x="5445918" y="3309937"/>
            <a:ext cx="1300162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The Attack</a:t>
            </a:r>
            <a:endParaRPr/>
          </a:p>
        </p:txBody>
      </p:sp>
      <p:sp>
        <p:nvSpPr>
          <p:cNvPr id="282" name="Google Shape;282;p29"/>
          <p:cNvSpPr txBox="1"/>
          <p:nvPr/>
        </p:nvSpPr>
        <p:spPr>
          <a:xfrm>
            <a:off x="4667250" y="3919537"/>
            <a:ext cx="28575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They write a script (Python, Node.js) to make requests directly to your backend, completely bypassing your mobile app.</a:t>
            </a:r>
            <a:endParaRPr/>
          </a:p>
        </p:txBody>
      </p:sp>
      <p:sp>
        <p:nvSpPr>
          <p:cNvPr id="283" name="Google Shape;283;p29"/>
          <p:cNvSpPr txBox="1"/>
          <p:nvPr/>
        </p:nvSpPr>
        <p:spPr>
          <a:xfrm>
            <a:off x="9225915" y="3309937"/>
            <a:ext cx="1360170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The Impact</a:t>
            </a:r>
            <a:endParaRPr/>
          </a:p>
        </p:txBody>
      </p:sp>
      <p:sp>
        <p:nvSpPr>
          <p:cNvPr id="284" name="Google Shape;284;p29"/>
          <p:cNvSpPr txBox="1"/>
          <p:nvPr/>
        </p:nvSpPr>
        <p:spPr>
          <a:xfrm>
            <a:off x="8477250" y="3919537"/>
            <a:ext cx="28575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Billing Fraud (millions of writes, massive bills) and Data Poisoning (spamming your database with malicious data).</a:t>
            </a:r>
            <a:endParaRPr/>
          </a:p>
        </p:txBody>
      </p:sp>
      <p:pic>
        <p:nvPicPr>
          <p:cNvPr id="285" name="Google Shape;285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057400" y="261461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2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38825" y="2614612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2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734550" y="2614612"/>
            <a:ext cx="3429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9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The "Other" Security Problem: App Impersonation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3" name="Google Shape;293;p30"/>
          <p:cNvGraphicFramePr/>
          <p:nvPr/>
        </p:nvGraphicFramePr>
        <p:xfrm>
          <a:off x="571500" y="2628900"/>
          <a:ext cx="11049000" cy="2457425"/>
        </p:xfrm>
        <a:graphic>
          <a:graphicData uri="http://schemas.openxmlformats.org/drawingml/2006/table">
            <a:tbl>
              <a:tblPr firstRow="1" bandRow="1">
                <a:noFill/>
                <a:tableStyleId>{81E4A3A0-1DFE-4022-ACF4-C8DEEE978E9A}</a:tableStyleId>
              </a:tblPr>
              <a:tblGrid>
                <a:gridCol w="275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6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2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3F0D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Security Layer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3F0D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Question It Answers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3F0D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Who It Protects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1. Firebase App Check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"Is this my </a:t>
                      </a: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real, unmodified app</a:t>
                      </a: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?"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The Developer</a:t>
                      </a: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(from abuse, billing 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2. Firebase Auth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"Is this a </a:t>
                      </a: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known, valid user</a:t>
                      </a: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?"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The User</a:t>
                      </a: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(from unauthorized access)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4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3. Security Rules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"Is this user </a:t>
                      </a: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allowed to do this</a:t>
                      </a: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?"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The Data</a:t>
                      </a:r>
                      <a:r>
                        <a:rPr lang="en-US" sz="135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(from misuse by valid users)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4" name="Google Shape;294;p30"/>
          <p:cNvSpPr/>
          <p:nvPr/>
        </p:nvSpPr>
        <p:spPr>
          <a:xfrm>
            <a:off x="571500" y="3252787"/>
            <a:ext cx="2759273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30"/>
          <p:cNvSpPr/>
          <p:nvPr/>
        </p:nvSpPr>
        <p:spPr>
          <a:xfrm>
            <a:off x="3330773" y="3252787"/>
            <a:ext cx="3796903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0"/>
          <p:cNvSpPr/>
          <p:nvPr/>
        </p:nvSpPr>
        <p:spPr>
          <a:xfrm>
            <a:off x="7127676" y="3252787"/>
            <a:ext cx="4492823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30"/>
          <p:cNvSpPr/>
          <p:nvPr/>
        </p:nvSpPr>
        <p:spPr>
          <a:xfrm>
            <a:off x="571500" y="3862387"/>
            <a:ext cx="2759273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30"/>
          <p:cNvSpPr/>
          <p:nvPr/>
        </p:nvSpPr>
        <p:spPr>
          <a:xfrm>
            <a:off x="3330773" y="3862387"/>
            <a:ext cx="3796903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0"/>
          <p:cNvSpPr/>
          <p:nvPr/>
        </p:nvSpPr>
        <p:spPr>
          <a:xfrm>
            <a:off x="7127676" y="3862387"/>
            <a:ext cx="4492823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30"/>
          <p:cNvSpPr/>
          <p:nvPr/>
        </p:nvSpPr>
        <p:spPr>
          <a:xfrm>
            <a:off x="571500" y="4471987"/>
            <a:ext cx="2759273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30"/>
          <p:cNvSpPr/>
          <p:nvPr/>
        </p:nvSpPr>
        <p:spPr>
          <a:xfrm>
            <a:off x="3330773" y="4471987"/>
            <a:ext cx="3796903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30"/>
          <p:cNvSpPr/>
          <p:nvPr/>
        </p:nvSpPr>
        <p:spPr>
          <a:xfrm>
            <a:off x="7127676" y="4471987"/>
            <a:ext cx="4492823" cy="9525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30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The Three Layers of Firebase Security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1"/>
          <p:cNvSpPr txBox="1"/>
          <p:nvPr/>
        </p:nvSpPr>
        <p:spPr>
          <a:xfrm>
            <a:off x="2190750" y="2081212"/>
            <a:ext cx="8191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The Problem: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Production providers (Play Integrity, App Attest) are designed to only validate </a:t>
            </a:r>
            <a:r>
              <a:rPr lang="en-US" sz="13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real, physical devices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/>
          </a:p>
        </p:txBody>
      </p:sp>
      <p:sp>
        <p:nvSpPr>
          <p:cNvPr id="309" name="Google Shape;309;p31"/>
          <p:cNvSpPr txBox="1"/>
          <p:nvPr/>
        </p:nvSpPr>
        <p:spPr>
          <a:xfrm>
            <a:off x="2190750" y="2786062"/>
            <a:ext cx="8191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The Result: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Your Android Emulator and iOS Simulator are </a:t>
            </a:r>
            <a:r>
              <a:rPr lang="en-US" sz="13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not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real devices. All requests from your dev environment will be blocked.</a:t>
            </a:r>
            <a:endParaRPr/>
          </a:p>
        </p:txBody>
      </p:sp>
      <p:sp>
        <p:nvSpPr>
          <p:cNvPr id="310" name="Google Shape;310;p31"/>
          <p:cNvSpPr txBox="1"/>
          <p:nvPr/>
        </p:nvSpPr>
        <p:spPr>
          <a:xfrm>
            <a:off x="2190750" y="3490912"/>
            <a:ext cx="81915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The Solution: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Use the Debug Provider during development.</a:t>
            </a:r>
            <a:endParaRPr/>
          </a:p>
        </p:txBody>
      </p:sp>
      <p:sp>
        <p:nvSpPr>
          <p:cNvPr id="311" name="Google Shape;311;p31"/>
          <p:cNvSpPr txBox="1"/>
          <p:nvPr/>
        </p:nvSpPr>
        <p:spPr>
          <a:xfrm>
            <a:off x="2190750" y="3938587"/>
            <a:ext cx="8191500" cy="1504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The Workflow:</a:t>
            </a:r>
            <a:endParaRPr/>
          </a:p>
        </p:txBody>
      </p:sp>
      <p:pic>
        <p:nvPicPr>
          <p:cNvPr id="312" name="Google Shape;312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9750" y="2128837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2833687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3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809750" y="3538537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" name="Google Shape;315;p3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809750" y="3986212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31"/>
          <p:cNvSpPr txBox="1"/>
          <p:nvPr/>
        </p:nvSpPr>
        <p:spPr>
          <a:xfrm>
            <a:off x="2286000" y="429101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1.</a:t>
            </a:r>
            <a:endParaRPr/>
          </a:p>
        </p:txBody>
      </p:sp>
      <p:sp>
        <p:nvSpPr>
          <p:cNvPr id="317" name="Google Shape;317;p31"/>
          <p:cNvSpPr txBox="1"/>
          <p:nvPr/>
        </p:nvSpPr>
        <p:spPr>
          <a:xfrm>
            <a:off x="2762250" y="4291012"/>
            <a:ext cx="76200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Run your app with AndroidProvider.debug.</a:t>
            </a:r>
            <a:endParaRPr/>
          </a:p>
        </p:txBody>
      </p:sp>
      <p:sp>
        <p:nvSpPr>
          <p:cNvPr id="318" name="Google Shape;318;p31"/>
          <p:cNvSpPr txBox="1"/>
          <p:nvPr/>
        </p:nvSpPr>
        <p:spPr>
          <a:xfrm>
            <a:off x="2247900" y="4738687"/>
            <a:ext cx="1333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2.</a:t>
            </a:r>
            <a:endParaRPr/>
          </a:p>
        </p:txBody>
      </p:sp>
      <p:sp>
        <p:nvSpPr>
          <p:cNvPr id="319" name="Google Shape;319;p31"/>
          <p:cNvSpPr txBox="1"/>
          <p:nvPr/>
        </p:nvSpPr>
        <p:spPr>
          <a:xfrm>
            <a:off x="2762250" y="4738687"/>
            <a:ext cx="76200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33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Look in the debug console for the printed debug token.</a:t>
            </a:r>
            <a:endParaRPr/>
          </a:p>
        </p:txBody>
      </p:sp>
      <p:sp>
        <p:nvSpPr>
          <p:cNvPr id="320" name="Google Shape;320;p31"/>
          <p:cNvSpPr txBox="1"/>
          <p:nvPr/>
        </p:nvSpPr>
        <p:spPr>
          <a:xfrm>
            <a:off x="2238375" y="5186362"/>
            <a:ext cx="1428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3.</a:t>
            </a:r>
            <a:endParaRPr/>
          </a:p>
        </p:txBody>
      </p:sp>
      <p:sp>
        <p:nvSpPr>
          <p:cNvPr id="321" name="Google Shape;321;p31"/>
          <p:cNvSpPr txBox="1"/>
          <p:nvPr/>
        </p:nvSpPr>
        <p:spPr>
          <a:xfrm>
            <a:off x="2762250" y="5186362"/>
            <a:ext cx="76200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Copy/paste this token into the Firebase Console (App Check &gt; Manage debug tokens).</a:t>
            </a:r>
            <a:endParaRPr/>
          </a:p>
        </p:txBody>
      </p:sp>
      <p:sp>
        <p:nvSpPr>
          <p:cNvPr id="322" name="Google Shape;322;p31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The App Check Development "Catch-22"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1136</Words>
  <Application>Microsoft Macintosh PowerPoint</Application>
  <PresentationFormat>Widescreen</PresentationFormat>
  <Paragraphs>140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Calibri</vt:lpstr>
      <vt:lpstr>DM Sans</vt:lpstr>
      <vt:lpstr>Merriweather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Stefan Dinu Rusu | Tazz, IT</cp:lastModifiedBy>
  <cp:revision>1</cp:revision>
  <dcterms:modified xsi:type="dcterms:W3CDTF">2025-11-15T12:33:16Z</dcterms:modified>
</cp:coreProperties>
</file>