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lecture your semester project needs: the project brief requires persistence, offline behavior and cross-device sync, and no lab covers it. Everything from here to the closing slide is buildable in an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deck taught CAP twice, once for the offline-first half and again for the CRDT half, with slightly different framing each time. This is the single version. Note the common misreading: CAP does not say 'pick two of three'; it says 'during a partition, pick one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dart run build_runner build generates the DAO mixin and the row classes. Show the generated schema version bump when a column is added, because migrations are the part students discover when they ship an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outbox pattern, exactly as it is used in backend services. The subtlety worth saying aloud: the transaction is what makes it safe. Writing the row and then enqueueing outside a transaction gives you a window where the app can be killed and the change is silently never synced.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deck illustrated this with a digital-circuit clock-skew diagram: CLKA and CLKB waveforms from a hardware textbook. That is the wrong domain, because it describes signal propagation inside a chip, not two machines disagreeing about what time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math students usually want spelled out: Lamport gives a total order consistent with causality, not a reconstruction of real time. Two concurrent events get some order, arbitrary but consistent, which is what you need to make a merge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flavors worth naming: state-based (send the whole state, merge on arrival, robust over lossy links) and operation-based (send individual operations, far smaller, but requires exactly-once causal delivery). Delta-state CRDTs are the practical middle: send only the fragment that changed, keep state-based robustness.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dinu/dev/upb/mobile-and-embedded-computing/slides/assets/icons2/cloud-white.png">    </p:cNvPr>
          <p:cNvPicPr>
            <a:picLocks noChangeAspect="1"/>
          </p:cNvPicPr>
          <p:nvPr/>
        </p:nvPicPr>
        <p:blipFill>
          <a:blip r:embed="rId1"/>
          <a:stretch>
            <a:fillRect/>
          </a:stretch>
        </p:blipFill>
        <p:spPr>
          <a:xfrm>
            <a:off x="3433572" y="1600200"/>
            <a:ext cx="384048" cy="384048"/>
          </a:xfrm>
          <a:prstGeom prst="rect">
            <a:avLst/>
          </a:prstGeom>
        </p:spPr>
      </p:pic>
      <p:pic>
        <p:nvPicPr>
          <p:cNvPr id="3" name="Image 1" descr="/Users/dinu/dev/upb/mobile-and-embedded-computing/slides/assets/icons2/laptop-white.png">    </p:cNvPr>
          <p:cNvPicPr>
            <a:picLocks noChangeAspect="1"/>
          </p:cNvPicPr>
          <p:nvPr/>
        </p:nvPicPr>
        <p:blipFill>
          <a:blip r:embed="rId2"/>
          <a:stretch>
            <a:fillRect/>
          </a:stretch>
        </p:blipFill>
        <p:spPr>
          <a:xfrm>
            <a:off x="4421124" y="1600200"/>
            <a:ext cx="384048" cy="384048"/>
          </a:xfrm>
          <a:prstGeom prst="rect">
            <a:avLst/>
          </a:prstGeom>
        </p:spPr>
      </p:pic>
      <p:pic>
        <p:nvPicPr>
          <p:cNvPr id="4" name="Image 2" descr="/Users/dinu/dev/upb/mobile-and-embedded-computing/slides/assets/icons2/smartphone-white.png">    </p:cNvPr>
          <p:cNvPicPr>
            <a:picLocks noChangeAspect="1"/>
          </p:cNvPicPr>
          <p:nvPr/>
        </p:nvPicPr>
        <p:blipFill>
          <a:blip r:embed="rId3"/>
          <a:stretch>
            <a:fillRect/>
          </a:stretch>
        </p:blipFill>
        <p:spPr>
          <a:xfrm>
            <a:off x="5408676" y="1600200"/>
            <a:ext cx="384048" cy="384048"/>
          </a:xfrm>
          <a:prstGeom prst="rect">
            <a:avLst/>
          </a:prstGeom>
        </p:spPr>
      </p:pic>
      <p:pic>
        <p:nvPicPr>
          <p:cNvPr id="5" name="Image 3" descr="/Users/dinu/dev/upb/mobile-and-embedded-computing/slides/assets/icons2/watch-white.png">    </p:cNvPr>
          <p:cNvPicPr>
            <a:picLocks noChangeAspect="1"/>
          </p:cNvPicPr>
          <p:nvPr/>
        </p:nvPicPr>
        <p:blipFill>
          <a:blip r:embed="rId4"/>
          <a:stretch>
            <a:fillRect/>
          </a:stretch>
        </p:blipFill>
        <p:spPr>
          <a:xfrm>
            <a:off x="6396228" y="1600200"/>
            <a:ext cx="384048" cy="384048"/>
          </a:xfrm>
          <a:prstGeom prst="rect">
            <a:avLst/>
          </a:prstGeom>
        </p:spPr>
      </p:pic>
      <p:pic>
        <p:nvPicPr>
          <p:cNvPr id="6" name="Image 4" descr="/Users/dinu/dev/upb/mobile-and-embedded-computing/slides/assets/icons2/board-white.png">    </p:cNvPr>
          <p:cNvPicPr>
            <a:picLocks noChangeAspect="1"/>
          </p:cNvPicPr>
          <p:nvPr/>
        </p:nvPicPr>
        <p:blipFill>
          <a:blip r:embed="rId5"/>
          <a:stretch>
            <a:fillRect/>
          </a:stretch>
        </p:blipFill>
        <p:spPr>
          <a:xfrm>
            <a:off x="7383780" y="1600200"/>
            <a:ext cx="384048" cy="384048"/>
          </a:xfrm>
          <a:prstGeom prst="rect">
            <a:avLst/>
          </a:prstGeom>
        </p:spPr>
      </p:pic>
      <p:pic>
        <p:nvPicPr>
          <p:cNvPr id="7" name="Image 5" descr="/Users/dinu/dev/upb/mobile-and-embedded-computing/slides/assets/icons2/cpu-white.png">    </p:cNvPr>
          <p:cNvPicPr>
            <a:picLocks noChangeAspect="1"/>
          </p:cNvPicPr>
          <p:nvPr/>
        </p:nvPicPr>
        <p:blipFill>
          <a:blip r:embed="rId6"/>
          <a:stretch>
            <a:fillRect/>
          </a:stretch>
        </p:blipFill>
        <p:spPr>
          <a:xfrm>
            <a:off x="8371332" y="1600200"/>
            <a:ext cx="384048" cy="384048"/>
          </a:xfrm>
          <a:prstGeom prst="rect">
            <a:avLst/>
          </a:prstGeom>
        </p:spPr>
      </p:pic>
      <p:sp>
        <p:nvSpPr>
          <p:cNvPr id="8" name="Text 0"/>
          <p:cNvSpPr/>
          <p:nvPr/>
        </p:nvSpPr>
        <p:spPr>
          <a:xfrm>
            <a:off x="731520" y="2606040"/>
            <a:ext cx="10725912" cy="86868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Offline-First</a:t>
            </a:r>
            <a:endParaRPr lang="en-US" sz="4600" dirty="0"/>
          </a:p>
        </p:txBody>
      </p:sp>
      <p:sp>
        <p:nvSpPr>
          <p:cNvPr id="9" name="Text 1"/>
          <p:cNvSpPr/>
          <p:nvPr/>
        </p:nvSpPr>
        <p:spPr>
          <a:xfrm>
            <a:off x="731520" y="3611880"/>
            <a:ext cx="10725912" cy="411480"/>
          </a:xfrm>
          <a:prstGeom prst="rect">
            <a:avLst/>
          </a:prstGeom>
          <a:noFill/>
          <a:ln/>
        </p:spPr>
        <p:txBody>
          <a:bodyPr wrap="square" lIns="0" tIns="0" rIns="0" bIns="0" rtlCol="0" anchor="ctr"/>
          <a:lstStyle/>
          <a:p>
            <a:pPr algn="ctr" indent="0" marL="0">
              <a:buNone/>
            </a:pPr>
            <a:r>
              <a:rPr lang="en-US" sz="1700" dirty="0">
                <a:solidFill>
                  <a:srgbClr val="A1A1A6"/>
                </a:solidFill>
                <a:latin typeface="Arial" pitchFamily="34" charset="0"/>
                <a:ea typeface="Arial" pitchFamily="34" charset="-122"/>
                <a:cs typeface="Arial" pitchFamily="34" charset="-120"/>
              </a:rPr>
              <a:t>Lecture 10: local-first data, sync and conflict resolution</a:t>
            </a:r>
            <a:endParaRPr lang="en-US" sz="1700" dirty="0"/>
          </a:p>
        </p:txBody>
      </p:sp>
      <p:sp>
        <p:nvSpPr>
          <p:cNvPr id="10" name="Text 2"/>
          <p:cNvSpPr/>
          <p:nvPr/>
        </p:nvSpPr>
        <p:spPr>
          <a:xfrm>
            <a:off x="731520" y="5806440"/>
            <a:ext cx="10725912" cy="365760"/>
          </a:xfrm>
          <a:prstGeom prst="rect">
            <a:avLst/>
          </a:prstGeom>
          <a:noFill/>
          <a:ln/>
        </p:spPr>
        <p:txBody>
          <a:bodyPr wrap="square" lIns="0" tIns="0" rIns="0" bIns="0" rtlCol="0" anchor="ctr"/>
          <a:lstStyle/>
          <a:p>
            <a:pPr algn="ctr" indent="0" marL="0">
              <a:buNone/>
            </a:pPr>
            <a:r>
              <a:rPr lang="en-US" sz="1300" dirty="0">
                <a:solidFill>
                  <a:srgbClr val="6E6E73"/>
                </a:solidFill>
                <a:latin typeface="Arial" pitchFamily="34" charset="0"/>
                <a:ea typeface="Arial" pitchFamily="34" charset="-122"/>
                <a:cs typeface="Arial" pitchFamily="34" charset="-120"/>
              </a:rPr>
              <a:t>Dinu-Ștefan Rusu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ORIENTATION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Who's teaching this course</a:t>
            </a:r>
            <a:endParaRPr lang="en-US" sz="3000" dirty="0"/>
          </a:p>
        </p:txBody>
      </p:sp>
      <p:sp>
        <p:nvSpPr>
          <p:cNvPr id="5" name="Text 3"/>
          <p:cNvSpPr/>
          <p:nvPr/>
        </p:nvSpPr>
        <p:spPr>
          <a:xfrm>
            <a:off x="822960" y="1783080"/>
            <a:ext cx="5303520"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Dinu-Ștefan Rusu</a:t>
            </a:r>
            <a:endParaRPr lang="en-US" sz="2200" dirty="0"/>
          </a:p>
        </p:txBody>
      </p:sp>
      <p:sp>
        <p:nvSpPr>
          <p:cNvPr id="6" name="Text 4"/>
          <p:cNvSpPr/>
          <p:nvPr/>
        </p:nvSpPr>
        <p:spPr>
          <a:xfrm>
            <a:off x="822960" y="2331720"/>
            <a:ext cx="5303520" cy="1188720"/>
          </a:xfrm>
          <a:prstGeom prst="rect">
            <a:avLst/>
          </a:prstGeom>
          <a:noFill/>
          <a:ln/>
        </p:spPr>
        <p:txBody>
          <a:bodyPr wrap="square" lIns="0" tIns="0" rIns="0" bIns="0" rtlCol="0" anchor="ctr"/>
          <a:lstStyle/>
          <a:p>
            <a:pPr indent="0" marL="0">
              <a:spcAft>
                <a:spcPts val="600"/>
              </a:spcAft>
              <a:buNone/>
            </a:pPr>
            <a:r>
              <a:rPr lang="en-US" sz="1400" dirty="0">
                <a:solidFill>
                  <a:srgbClr val="86868B"/>
                </a:solidFill>
                <a:latin typeface="Arial" pitchFamily="34" charset="0"/>
                <a:ea typeface="Arial" pitchFamily="34" charset="-122"/>
                <a:cs typeface="Arial" pitchFamily="34" charset="-120"/>
              </a:rPr>
              <a:t>dinu_stefan.rusu@upb.ro</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Microsoft Teams course channel</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rusudinu.com</a:t>
            </a:r>
            <a:endParaRPr lang="en-US" sz="1400" dirty="0"/>
          </a:p>
        </p:txBody>
      </p:sp>
      <p:sp>
        <p:nvSpPr>
          <p:cNvPr id="7" name="Text 5"/>
          <p:cNvSpPr/>
          <p:nvPr/>
        </p:nvSpPr>
        <p:spPr>
          <a:xfrm>
            <a:off x="667512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45+</a:t>
            </a:r>
            <a:endParaRPr lang="en-US" sz="5600" dirty="0"/>
          </a:p>
        </p:txBody>
      </p:sp>
      <p:sp>
        <p:nvSpPr>
          <p:cNvPr id="8" name="Text 6"/>
          <p:cNvSpPr/>
          <p:nvPr/>
        </p:nvSpPr>
        <p:spPr>
          <a:xfrm>
            <a:off x="667512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Flutter apps shipped</a:t>
            </a:r>
            <a:endParaRPr lang="en-US" sz="1300" dirty="0"/>
          </a:p>
        </p:txBody>
      </p:sp>
      <p:sp>
        <p:nvSpPr>
          <p:cNvPr id="9" name="Text 7"/>
          <p:cNvSpPr/>
          <p:nvPr/>
        </p:nvSpPr>
        <p:spPr>
          <a:xfrm>
            <a:off x="932688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400k</a:t>
            </a:r>
            <a:endParaRPr lang="en-US" sz="5600" dirty="0"/>
          </a:p>
        </p:txBody>
      </p:sp>
      <p:sp>
        <p:nvSpPr>
          <p:cNvPr id="10" name="Text 8"/>
          <p:cNvSpPr/>
          <p:nvPr/>
        </p:nvSpPr>
        <p:spPr>
          <a:xfrm>
            <a:off x="932688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installs across them</a:t>
            </a:r>
            <a:endParaRPr lang="en-US" sz="1300" dirty="0"/>
          </a:p>
        </p:txBody>
      </p:sp>
      <p:sp>
        <p:nvSpPr>
          <p:cNvPr id="11" name="Shape 9"/>
          <p:cNvSpPr/>
          <p:nvPr/>
        </p:nvSpPr>
        <p:spPr>
          <a:xfrm>
            <a:off x="822960" y="3977640"/>
            <a:ext cx="10543032" cy="0"/>
          </a:xfrm>
          <a:prstGeom prst="line">
            <a:avLst/>
          </a:prstGeom>
          <a:noFill/>
          <a:ln w="9525">
            <a:solidFill>
              <a:srgbClr val="D2D2D7"/>
            </a:solidFill>
            <a:prstDash val="solid"/>
          </a:ln>
        </p:spPr>
      </p:sp>
      <p:sp>
        <p:nvSpPr>
          <p:cNvPr id="12" name="Text 10"/>
          <p:cNvSpPr/>
          <p:nvPr/>
        </p:nvSpPr>
        <p:spPr>
          <a:xfrm>
            <a:off x="822960" y="4160520"/>
            <a:ext cx="10515600" cy="274320"/>
          </a:xfrm>
          <a:prstGeom prst="rect">
            <a:avLst/>
          </a:prstGeom>
          <a:noFill/>
          <a:ln/>
        </p:spPr>
        <p:txBody>
          <a:bodyPr wrap="square" lIns="0" tIns="0" rIns="0" bIns="0" rtlCol="0" anchor="ctr"/>
          <a:lstStyle/>
          <a:p>
            <a:pPr indent="0" marL="0">
              <a:buNone/>
            </a:pPr>
            <a:r>
              <a:rPr lang="en-US" sz="1100" spc="150" kern="0" dirty="0">
                <a:solidFill>
                  <a:srgbClr val="86868B"/>
                </a:solidFill>
                <a:latin typeface="Arial" pitchFamily="34" charset="0"/>
                <a:ea typeface="Arial" pitchFamily="34" charset="-122"/>
                <a:cs typeface="Arial" pitchFamily="34" charset="-120"/>
              </a:rPr>
              <a:t>Appeared in, spoken at &amp; partnered with</a:t>
            </a:r>
            <a:endParaRPr lang="en-US" sz="1100" dirty="0"/>
          </a:p>
        </p:txBody>
      </p:sp>
      <p:pic>
        <p:nvPicPr>
          <p:cNvPr id="13" name="Image 0" descr="/Users/dinu/dev/upb/mobile-and-embedded-computing/slides/assets/logos/image1.png">    </p:cNvPr>
          <p:cNvPicPr>
            <a:picLocks noChangeAspect="1"/>
          </p:cNvPicPr>
          <p:nvPr/>
        </p:nvPicPr>
        <p:blipFill>
          <a:blip r:embed="rId1"/>
          <a:stretch>
            <a:fillRect/>
          </a:stretch>
        </p:blipFill>
        <p:spPr>
          <a:xfrm>
            <a:off x="822960" y="4732477"/>
            <a:ext cx="1047902" cy="319126"/>
          </a:xfrm>
          <a:prstGeom prst="rect">
            <a:avLst/>
          </a:prstGeom>
        </p:spPr>
      </p:pic>
      <p:pic>
        <p:nvPicPr>
          <p:cNvPr id="14" name="Image 1" descr="/Users/dinu/dev/upb/mobile-and-embedded-computing/slides/assets/logos/image2.png">    </p:cNvPr>
          <p:cNvPicPr>
            <a:picLocks noChangeAspect="1"/>
          </p:cNvPicPr>
          <p:nvPr/>
        </p:nvPicPr>
        <p:blipFill>
          <a:blip r:embed="rId2"/>
          <a:stretch>
            <a:fillRect/>
          </a:stretch>
        </p:blipFill>
        <p:spPr>
          <a:xfrm>
            <a:off x="2155763" y="4675327"/>
            <a:ext cx="770839" cy="433426"/>
          </a:xfrm>
          <a:prstGeom prst="rect">
            <a:avLst/>
          </a:prstGeom>
        </p:spPr>
      </p:pic>
      <p:pic>
        <p:nvPicPr>
          <p:cNvPr id="15" name="Image 2" descr="/Users/dinu/dev/upb/mobile-and-embedded-computing/slides/assets/logos/image3.png">    </p:cNvPr>
          <p:cNvPicPr>
            <a:picLocks noChangeAspect="1"/>
          </p:cNvPicPr>
          <p:nvPr/>
        </p:nvPicPr>
        <p:blipFill>
          <a:blip r:embed="rId3"/>
          <a:stretch>
            <a:fillRect/>
          </a:stretch>
        </p:blipFill>
        <p:spPr>
          <a:xfrm>
            <a:off x="3211503" y="4715104"/>
            <a:ext cx="945490" cy="353873"/>
          </a:xfrm>
          <a:prstGeom prst="rect">
            <a:avLst/>
          </a:prstGeom>
        </p:spPr>
      </p:pic>
      <p:pic>
        <p:nvPicPr>
          <p:cNvPr id="16" name="Image 3" descr="/Users/dinu/dev/upb/mobile-and-embedded-computing/slides/assets/logos/image4.png">    </p:cNvPr>
          <p:cNvPicPr>
            <a:picLocks noChangeAspect="1"/>
          </p:cNvPicPr>
          <p:nvPr/>
        </p:nvPicPr>
        <p:blipFill>
          <a:blip r:embed="rId4"/>
          <a:stretch>
            <a:fillRect/>
          </a:stretch>
        </p:blipFill>
        <p:spPr>
          <a:xfrm>
            <a:off x="4441894" y="4716932"/>
            <a:ext cx="1313078" cy="350215"/>
          </a:xfrm>
          <a:prstGeom prst="rect">
            <a:avLst/>
          </a:prstGeom>
        </p:spPr>
      </p:pic>
      <p:pic>
        <p:nvPicPr>
          <p:cNvPr id="17" name="Image 4" descr="/Users/dinu/dev/upb/mobile-and-embedded-computing/slides/assets/logos/image5.png">    </p:cNvPr>
          <p:cNvPicPr>
            <a:picLocks noChangeAspect="1"/>
          </p:cNvPicPr>
          <p:nvPr/>
        </p:nvPicPr>
        <p:blipFill>
          <a:blip r:embed="rId5"/>
          <a:stretch>
            <a:fillRect/>
          </a:stretch>
        </p:blipFill>
        <p:spPr>
          <a:xfrm>
            <a:off x="6039873" y="4626864"/>
            <a:ext cx="611734" cy="530352"/>
          </a:xfrm>
          <a:prstGeom prst="rect">
            <a:avLst/>
          </a:prstGeom>
        </p:spPr>
      </p:pic>
      <p:pic>
        <p:nvPicPr>
          <p:cNvPr id="18" name="Image 5" descr="/Users/dinu/dev/upb/mobile-and-embedded-computing/slides/assets/logos/image6.png">    </p:cNvPr>
          <p:cNvPicPr>
            <a:picLocks noChangeAspect="1"/>
          </p:cNvPicPr>
          <p:nvPr/>
        </p:nvPicPr>
        <p:blipFill>
          <a:blip r:embed="rId6"/>
          <a:stretch>
            <a:fillRect/>
          </a:stretch>
        </p:blipFill>
        <p:spPr>
          <a:xfrm>
            <a:off x="6936508" y="4626864"/>
            <a:ext cx="846734" cy="530352"/>
          </a:xfrm>
          <a:prstGeom prst="rect">
            <a:avLst/>
          </a:prstGeom>
        </p:spPr>
      </p:pic>
      <p:pic>
        <p:nvPicPr>
          <p:cNvPr id="19" name="Image 6" descr="/Users/dinu/dev/upb/mobile-and-embedded-computing/slides/assets/logos/image7.png">    </p:cNvPr>
          <p:cNvPicPr>
            <a:picLocks noChangeAspect="1"/>
          </p:cNvPicPr>
          <p:nvPr/>
        </p:nvPicPr>
        <p:blipFill>
          <a:blip r:embed="rId7"/>
          <a:stretch>
            <a:fillRect/>
          </a:stretch>
        </p:blipFill>
        <p:spPr>
          <a:xfrm>
            <a:off x="8068143" y="4767682"/>
            <a:ext cx="1691640" cy="248717"/>
          </a:xfrm>
          <a:prstGeom prst="rect">
            <a:avLst/>
          </a:prstGeom>
        </p:spPr>
      </p:pic>
      <p:pic>
        <p:nvPicPr>
          <p:cNvPr id="20" name="Image 7" descr="/Users/dinu/dev/upb/mobile-and-embedded-computing/slides/assets/logos/image8.png">    </p:cNvPr>
          <p:cNvPicPr>
            <a:picLocks noChangeAspect="1"/>
          </p:cNvPicPr>
          <p:nvPr/>
        </p:nvPicPr>
        <p:blipFill>
          <a:blip r:embed="rId8"/>
          <a:stretch>
            <a:fillRect/>
          </a:stretch>
        </p:blipFill>
        <p:spPr>
          <a:xfrm>
            <a:off x="10044684" y="4717847"/>
            <a:ext cx="1321308" cy="348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TODAY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you should leave with</a:t>
            </a:r>
            <a:endParaRPr lang="en-US" sz="3000" dirty="0"/>
          </a:p>
        </p:txBody>
      </p:sp>
      <p:pic>
        <p:nvPicPr>
          <p:cNvPr id="5" name="Image 0" descr="/Users/dinu/dev/upb/mobile-and-embedded-computing/slides/assets/icons2/cloudoff-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1508760" y="1828800"/>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Design for offline</a:t>
            </a:r>
            <a:endParaRPr lang="en-US" sz="1600" dirty="0"/>
          </a:p>
        </p:txBody>
      </p:sp>
      <p:sp>
        <p:nvSpPr>
          <p:cNvPr id="7" name="Text 4"/>
          <p:cNvSpPr/>
          <p:nvPr/>
        </p:nvSpPr>
        <p:spPr>
          <a:xfrm>
            <a:off x="4709160" y="1828800"/>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Why offline is a normal state, and why the UI reads local data, never the server</a:t>
            </a:r>
            <a:endParaRPr lang="en-US" sz="1300" dirty="0"/>
          </a:p>
        </p:txBody>
      </p:sp>
      <p:sp>
        <p:nvSpPr>
          <p:cNvPr id="8" name="Shape 5"/>
          <p:cNvSpPr/>
          <p:nvPr/>
        </p:nvSpPr>
        <p:spPr>
          <a:xfrm>
            <a:off x="822960" y="2432304"/>
            <a:ext cx="10543032" cy="0"/>
          </a:xfrm>
          <a:prstGeom prst="line">
            <a:avLst/>
          </a:prstGeom>
          <a:noFill/>
          <a:ln w="9525">
            <a:solidFill>
              <a:srgbClr val="D2D2D7"/>
            </a:solidFill>
            <a:prstDash val="solid"/>
          </a:ln>
        </p:spPr>
      </p:sp>
      <p:pic>
        <p:nvPicPr>
          <p:cNvPr id="9" name="Image 1" descr="/Users/dinu/dev/upb/mobile-and-embedded-computing/slides/assets/icons2/database-ink.png">    </p:cNvPr>
          <p:cNvPicPr>
            <a:picLocks noChangeAspect="1"/>
          </p:cNvPicPr>
          <p:nvPr/>
        </p:nvPicPr>
        <p:blipFill>
          <a:blip r:embed="rId2"/>
          <a:stretch>
            <a:fillRect/>
          </a:stretch>
        </p:blipFill>
        <p:spPr>
          <a:xfrm>
            <a:off x="822960" y="2587752"/>
            <a:ext cx="384048" cy="384048"/>
          </a:xfrm>
          <a:prstGeom prst="rect">
            <a:avLst/>
          </a:prstGeom>
        </p:spPr>
      </p:pic>
      <p:sp>
        <p:nvSpPr>
          <p:cNvPr id="10" name="Text 6"/>
          <p:cNvSpPr/>
          <p:nvPr/>
        </p:nvSpPr>
        <p:spPr>
          <a:xfrm>
            <a:off x="1508760" y="2542032"/>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Build the local layer</a:t>
            </a:r>
            <a:endParaRPr lang="en-US" sz="1600" dirty="0"/>
          </a:p>
        </p:txBody>
      </p:sp>
      <p:sp>
        <p:nvSpPr>
          <p:cNvPr id="11" name="Text 7"/>
          <p:cNvSpPr/>
          <p:nvPr/>
        </p:nvSpPr>
        <p:spPr>
          <a:xfrm>
            <a:off x="4709160" y="2542032"/>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A Drift schema with sync metadata, a reactive watch() query, and an outbox table</a:t>
            </a:r>
            <a:endParaRPr lang="en-US" sz="1300" dirty="0"/>
          </a:p>
        </p:txBody>
      </p:sp>
      <p:sp>
        <p:nvSpPr>
          <p:cNvPr id="12" name="Shape 8"/>
          <p:cNvSpPr/>
          <p:nvPr/>
        </p:nvSpPr>
        <p:spPr>
          <a:xfrm>
            <a:off x="822960" y="3145536"/>
            <a:ext cx="10543032" cy="0"/>
          </a:xfrm>
          <a:prstGeom prst="line">
            <a:avLst/>
          </a:prstGeom>
          <a:noFill/>
          <a:ln w="9525">
            <a:solidFill>
              <a:srgbClr val="D2D2D7"/>
            </a:solidFill>
            <a:prstDash val="solid"/>
          </a:ln>
        </p:spPr>
      </p:sp>
      <p:pic>
        <p:nvPicPr>
          <p:cNvPr id="13" name="Image 2" descr="/Users/dinu/dev/upb/mobile-and-embedded-computing/slides/assets/icons2/foldersync-ink.png">    </p:cNvPr>
          <p:cNvPicPr>
            <a:picLocks noChangeAspect="1"/>
          </p:cNvPicPr>
          <p:nvPr/>
        </p:nvPicPr>
        <p:blipFill>
          <a:blip r:embed="rId3"/>
          <a:stretch>
            <a:fillRect/>
          </a:stretch>
        </p:blipFill>
        <p:spPr>
          <a:xfrm>
            <a:off x="822960" y="3300984"/>
            <a:ext cx="384048" cy="384048"/>
          </a:xfrm>
          <a:prstGeom prst="rect">
            <a:avLst/>
          </a:prstGeom>
        </p:spPr>
      </p:pic>
      <p:sp>
        <p:nvSpPr>
          <p:cNvPr id="14" name="Text 9"/>
          <p:cNvSpPr/>
          <p:nvPr/>
        </p:nvSpPr>
        <p:spPr>
          <a:xfrm>
            <a:off x="1508760" y="3255264"/>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Write the sync engine</a:t>
            </a:r>
            <a:endParaRPr lang="en-US" sz="1600" dirty="0"/>
          </a:p>
        </p:txBody>
      </p:sp>
      <p:sp>
        <p:nvSpPr>
          <p:cNvPr id="15" name="Text 10"/>
          <p:cNvSpPr/>
          <p:nvPr/>
        </p:nvSpPr>
        <p:spPr>
          <a:xfrm>
            <a:off x="4709160" y="3255264"/>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Push loop, delta pull, checkpoints, and the background triggers you can actually rely on</a:t>
            </a:r>
            <a:endParaRPr lang="en-US" sz="1300" dirty="0"/>
          </a:p>
        </p:txBody>
      </p:sp>
      <p:sp>
        <p:nvSpPr>
          <p:cNvPr id="16" name="Shape 11"/>
          <p:cNvSpPr/>
          <p:nvPr/>
        </p:nvSpPr>
        <p:spPr>
          <a:xfrm>
            <a:off x="822960" y="3858768"/>
            <a:ext cx="10543032" cy="0"/>
          </a:xfrm>
          <a:prstGeom prst="line">
            <a:avLst/>
          </a:prstGeom>
          <a:noFill/>
          <a:ln w="9525">
            <a:solidFill>
              <a:srgbClr val="D2D2D7"/>
            </a:solidFill>
            <a:prstDash val="solid"/>
          </a:ln>
        </p:spPr>
      </p:sp>
      <p:pic>
        <p:nvPicPr>
          <p:cNvPr id="17" name="Image 3" descr="/Users/dinu/dev/upb/mobile-and-embedded-computing/slides/assets/icons2/merge-ink.png">    </p:cNvPr>
          <p:cNvPicPr>
            <a:picLocks noChangeAspect="1"/>
          </p:cNvPicPr>
          <p:nvPr/>
        </p:nvPicPr>
        <p:blipFill>
          <a:blip r:embed="rId4"/>
          <a:stretch>
            <a:fillRect/>
          </a:stretch>
        </p:blipFill>
        <p:spPr>
          <a:xfrm>
            <a:off x="822960" y="4014216"/>
            <a:ext cx="384048" cy="384048"/>
          </a:xfrm>
          <a:prstGeom prst="rect">
            <a:avLst/>
          </a:prstGeom>
        </p:spPr>
      </p:pic>
      <p:sp>
        <p:nvSpPr>
          <p:cNvPr id="18" name="Text 12"/>
          <p:cNvSpPr/>
          <p:nvPr/>
        </p:nvSpPr>
        <p:spPr>
          <a:xfrm>
            <a:off x="1508760" y="3968496"/>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Resolve conflicts honestly</a:t>
            </a:r>
            <a:endParaRPr lang="en-US" sz="1600" dirty="0"/>
          </a:p>
        </p:txBody>
      </p:sp>
      <p:sp>
        <p:nvSpPr>
          <p:cNvPr id="19" name="Text 13"/>
          <p:cNvSpPr/>
          <p:nvPr/>
        </p:nvSpPr>
        <p:spPr>
          <a:xfrm>
            <a:off x="4709160" y="3968496"/>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Clock skew, hybrid logical clocks, merge by field, and what a CRDT guarantees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WHY OFFLINE-FIRST</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The network is not a dependency</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It is a background utility that is often, briefly, absent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WHY OFFLINE-FIRST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Offline is a state, not an error</a:t>
            </a:r>
            <a:endParaRPr lang="en-US" sz="3000" dirty="0"/>
          </a:p>
        </p:txBody>
      </p:sp>
      <p:sp>
        <p:nvSpPr>
          <p:cNvPr id="5" name="Text 3"/>
          <p:cNvSpPr/>
          <p:nvPr/>
        </p:nvSpPr>
        <p:spPr>
          <a:xfrm>
            <a:off x="822960" y="1874520"/>
            <a:ext cx="3240024"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&lt; 1 ms</a:t>
            </a:r>
            <a:endParaRPr lang="en-US" sz="4000" dirty="0"/>
          </a:p>
        </p:txBody>
      </p:sp>
      <p:sp>
        <p:nvSpPr>
          <p:cNvPr id="6" name="Text 4"/>
          <p:cNvSpPr/>
          <p:nvPr/>
        </p:nvSpPr>
        <p:spPr>
          <a:xfrm>
            <a:off x="822960" y="2926080"/>
            <a:ext cx="3240024"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A local read</a:t>
            </a:r>
            <a:endParaRPr lang="en-US" sz="1350" dirty="0"/>
          </a:p>
        </p:txBody>
      </p:sp>
      <p:sp>
        <p:nvSpPr>
          <p:cNvPr id="7" name="Text 5"/>
          <p:cNvSpPr/>
          <p:nvPr/>
        </p:nvSpPr>
        <p:spPr>
          <a:xfrm>
            <a:off x="822960" y="3429000"/>
            <a:ext cx="3240024"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an indexed SQLite query on the device: no radio, no server, no failure mode</a:t>
            </a:r>
            <a:endParaRPr lang="en-US" sz="1150" dirty="0"/>
          </a:p>
        </p:txBody>
      </p:sp>
      <p:sp>
        <p:nvSpPr>
          <p:cNvPr id="8" name="Text 6"/>
          <p:cNvSpPr/>
          <p:nvPr/>
        </p:nvSpPr>
        <p:spPr>
          <a:xfrm>
            <a:off x="4337304" y="1874520"/>
            <a:ext cx="3240024"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40–200 ms</a:t>
            </a:r>
            <a:endParaRPr lang="en-US" sz="4000" dirty="0"/>
          </a:p>
        </p:txBody>
      </p:sp>
      <p:sp>
        <p:nvSpPr>
          <p:cNvPr id="9" name="Text 7"/>
          <p:cNvSpPr/>
          <p:nvPr/>
        </p:nvSpPr>
        <p:spPr>
          <a:xfrm>
            <a:off x="4337304" y="2926080"/>
            <a:ext cx="3240024"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A good round trip</a:t>
            </a:r>
            <a:endParaRPr lang="en-US" sz="1350" dirty="0"/>
          </a:p>
        </p:txBody>
      </p:sp>
      <p:sp>
        <p:nvSpPr>
          <p:cNvPr id="10" name="Text 8"/>
          <p:cNvSpPr/>
          <p:nvPr/>
        </p:nvSpPr>
        <p:spPr>
          <a:xfrm>
            <a:off x="4337304" y="3429000"/>
            <a:ext cx="3240024"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4G or 5G, warm connection, server in the same region. On a bad link: seconds</a:t>
            </a:r>
            <a:endParaRPr lang="en-US" sz="1150" dirty="0"/>
          </a:p>
        </p:txBody>
      </p:sp>
      <p:sp>
        <p:nvSpPr>
          <p:cNvPr id="11" name="Text 9"/>
          <p:cNvSpPr/>
          <p:nvPr/>
        </p:nvSpPr>
        <p:spPr>
          <a:xfrm>
            <a:off x="7851648" y="1874520"/>
            <a:ext cx="3240024"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30 s</a:t>
            </a:r>
            <a:endParaRPr lang="en-US" sz="4000" dirty="0"/>
          </a:p>
        </p:txBody>
      </p:sp>
      <p:sp>
        <p:nvSpPr>
          <p:cNvPr id="12" name="Text 10"/>
          <p:cNvSpPr/>
          <p:nvPr/>
        </p:nvSpPr>
        <p:spPr>
          <a:xfrm>
            <a:off x="7851648" y="2926080"/>
            <a:ext cx="3240024"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Your timeout</a:t>
            </a:r>
            <a:endParaRPr lang="en-US" sz="1350" dirty="0"/>
          </a:p>
        </p:txBody>
      </p:sp>
      <p:sp>
        <p:nvSpPr>
          <p:cNvPr id="13" name="Text 11"/>
          <p:cNvSpPr/>
          <p:nvPr/>
        </p:nvSpPr>
        <p:spPr>
          <a:xfrm>
            <a:off x="7851648" y="3429000"/>
            <a:ext cx="3240024"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how long the user waits before the request is abandoned</a:t>
            </a:r>
            <a:endParaRPr lang="en-US" sz="1150" dirty="0"/>
          </a:p>
        </p:txBody>
      </p:sp>
      <p:sp>
        <p:nvSpPr>
          <p:cNvPr id="14" name="Shape 12"/>
          <p:cNvSpPr/>
          <p:nvPr/>
        </p:nvSpPr>
        <p:spPr>
          <a:xfrm>
            <a:off x="822960" y="3977640"/>
            <a:ext cx="10543032" cy="0"/>
          </a:xfrm>
          <a:prstGeom prst="line">
            <a:avLst/>
          </a:prstGeom>
          <a:noFill/>
          <a:ln w="9525">
            <a:solidFill>
              <a:srgbClr val="D2D2D7"/>
            </a:solidFill>
            <a:prstDash val="solid"/>
          </a:ln>
        </p:spPr>
      </p:sp>
      <p:sp>
        <p:nvSpPr>
          <p:cNvPr id="15" name="Text 13"/>
          <p:cNvSpPr/>
          <p:nvPr/>
        </p:nvSpPr>
        <p:spPr>
          <a:xfrm>
            <a:off x="822960" y="4206240"/>
            <a:ext cx="10543032" cy="173736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Lifts, tunnels, basements, planes, trains, festivals, hospital wards, rural roads, and the hotel Wi-Fi that resolves DNS and then routes nothing. All of them are ordinary conditions for your users.</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Worse than no signal is “lie-fi”: the interface is up, the TCP connection opens, and the request hangs until your timeout fires. An app that treats the network as available-or-not gets this wrong every time.</a:t>
            </a:r>
            <a:endParaRPr lang="en-US" sz="1300" dirty="0"/>
          </a:p>
          <a:p>
            <a:pPr indent="0" marL="0">
              <a:spcAft>
                <a:spcPts val="1200"/>
              </a:spcAft>
              <a:buNone/>
            </a:pPr>
            <a:r>
              <a:rPr lang="en-US" sz="1300" b="1" dirty="0">
                <a:solidFill>
                  <a:srgbClr val="1D1D1F"/>
                </a:solidFill>
                <a:latin typeface="Arial" pitchFamily="34" charset="0"/>
                <a:ea typeface="Arial" pitchFamily="34" charset="-122"/>
                <a:cs typeface="Arial" pitchFamily="34" charset="-120"/>
              </a:rPr>
              <a:t>An offline-first app has no offline error path, because being offline is not an error.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WHY OFFLINE-FIRST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inversion of truth</a:t>
            </a:r>
            <a:endParaRPr lang="en-US" sz="3000" dirty="0"/>
          </a:p>
        </p:txBody>
      </p:sp>
      <p:sp>
        <p:nvSpPr>
          <p:cNvPr id="5" name="Text 3"/>
          <p:cNvSpPr/>
          <p:nvPr/>
        </p:nvSpPr>
        <p:spPr>
          <a:xfrm>
            <a:off x="822960" y="1737360"/>
            <a:ext cx="10543032" cy="320040"/>
          </a:xfrm>
          <a:prstGeom prst="rect">
            <a:avLst/>
          </a:prstGeom>
          <a:noFill/>
          <a:ln/>
        </p:spPr>
        <p:txBody>
          <a:bodyPr wrap="square" lIns="0" tIns="0" rIns="0" bIns="0" rtlCol="0" anchor="ctr"/>
          <a:lstStyle/>
          <a:p>
            <a:pPr indent="0" marL="0">
              <a:buNone/>
            </a:pPr>
            <a:r>
              <a:rPr lang="en-US" sz="1350" dirty="0">
                <a:solidFill>
                  <a:srgbClr val="86868B"/>
                </a:solidFill>
                <a:latin typeface="Arial" pitchFamily="34" charset="0"/>
                <a:ea typeface="Arial" pitchFamily="34" charset="-122"/>
                <a:cs typeface="Arial" pitchFamily="34" charset="-120"/>
              </a:rPr>
              <a:t>The same user action, in the two architectures. Only one of them still works in a lift.</a:t>
            </a:r>
            <a:endParaRPr lang="en-US" sz="1350" dirty="0"/>
          </a:p>
        </p:txBody>
      </p:sp>
      <p:sp>
        <p:nvSpPr>
          <p:cNvPr id="6" name="Text 4"/>
          <p:cNvSpPr/>
          <p:nvPr/>
        </p:nvSpPr>
        <p:spPr>
          <a:xfrm>
            <a:off x="822960" y="2148840"/>
            <a:ext cx="484632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Online-first: UI = f(network response)</a:t>
            </a:r>
            <a:endParaRPr lang="en-US" sz="1400" dirty="0"/>
          </a:p>
        </p:txBody>
      </p:sp>
      <p:sp>
        <p:nvSpPr>
          <p:cNvPr id="7" name="Text 5"/>
          <p:cNvSpPr/>
          <p:nvPr/>
        </p:nvSpPr>
        <p:spPr>
          <a:xfrm>
            <a:off x="6519672" y="2148840"/>
            <a:ext cx="484632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Offline-first: UI = f(local database)</a:t>
            </a:r>
            <a:endParaRPr lang="en-US" sz="1400" dirty="0"/>
          </a:p>
        </p:txBody>
      </p:sp>
      <p:sp>
        <p:nvSpPr>
          <p:cNvPr id="8" name="Shape 6"/>
          <p:cNvSpPr/>
          <p:nvPr/>
        </p:nvSpPr>
        <p:spPr>
          <a:xfrm>
            <a:off x="822960" y="2487168"/>
            <a:ext cx="4846320" cy="640080"/>
          </a:xfrm>
          <a:prstGeom prst="roundRect">
            <a:avLst>
              <a:gd name="adj" fmla="val 12857"/>
            </a:avLst>
          </a:prstGeom>
          <a:solidFill>
            <a:srgbClr val="FFFFFF"/>
          </a:solidFill>
          <a:ln w="12700">
            <a:solidFill>
              <a:srgbClr val="D2D2D7"/>
            </a:solidFill>
            <a:prstDash val="solid"/>
          </a:ln>
        </p:spPr>
      </p:sp>
      <p:sp>
        <p:nvSpPr>
          <p:cNvPr id="9" name="Text 7"/>
          <p:cNvSpPr/>
          <p:nvPr/>
        </p:nvSpPr>
        <p:spPr>
          <a:xfrm>
            <a:off x="822960" y="2487168"/>
            <a:ext cx="4846320" cy="6400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User taps Save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spinner appears</a:t>
            </a:r>
            <a:endParaRPr lang="en-US" sz="1350" dirty="0"/>
          </a:p>
        </p:txBody>
      </p:sp>
      <p:sp>
        <p:nvSpPr>
          <p:cNvPr id="10" name="Shape 8"/>
          <p:cNvSpPr/>
          <p:nvPr/>
        </p:nvSpPr>
        <p:spPr>
          <a:xfrm>
            <a:off x="3246120" y="3127248"/>
            <a:ext cx="0" cy="182880"/>
          </a:xfrm>
          <a:prstGeom prst="line">
            <a:avLst/>
          </a:prstGeom>
          <a:noFill/>
          <a:ln w="15875">
            <a:solidFill>
              <a:srgbClr val="86868B"/>
            </a:solidFill>
            <a:prstDash val="solid"/>
            <a:tailEnd type="triangle"/>
          </a:ln>
        </p:spPr>
      </p:sp>
      <p:sp>
        <p:nvSpPr>
          <p:cNvPr id="11" name="Shape 9"/>
          <p:cNvSpPr/>
          <p:nvPr/>
        </p:nvSpPr>
        <p:spPr>
          <a:xfrm>
            <a:off x="822960" y="3310128"/>
            <a:ext cx="4846320" cy="640080"/>
          </a:xfrm>
          <a:prstGeom prst="roundRect">
            <a:avLst>
              <a:gd name="adj" fmla="val 17143"/>
            </a:avLst>
          </a:prstGeom>
          <a:solidFill>
            <a:srgbClr val="F5F5F7"/>
          </a:solidFill>
          <a:ln/>
        </p:spPr>
      </p:sp>
      <p:sp>
        <p:nvSpPr>
          <p:cNvPr id="12" name="Text 10"/>
          <p:cNvSpPr/>
          <p:nvPr/>
        </p:nvSpPr>
        <p:spPr>
          <a:xfrm>
            <a:off x="822960" y="3310128"/>
            <a:ext cx="4846320" cy="6400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Request goes out</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latency, retries, timeout</a:t>
            </a:r>
            <a:endParaRPr lang="en-US" sz="1350" dirty="0"/>
          </a:p>
        </p:txBody>
      </p:sp>
      <p:sp>
        <p:nvSpPr>
          <p:cNvPr id="13" name="Shape 11"/>
          <p:cNvSpPr/>
          <p:nvPr/>
        </p:nvSpPr>
        <p:spPr>
          <a:xfrm>
            <a:off x="3246120" y="3950208"/>
            <a:ext cx="0" cy="182880"/>
          </a:xfrm>
          <a:prstGeom prst="line">
            <a:avLst/>
          </a:prstGeom>
          <a:noFill/>
          <a:ln w="15875">
            <a:solidFill>
              <a:srgbClr val="86868B"/>
            </a:solidFill>
            <a:prstDash val="solid"/>
            <a:tailEnd type="triangle"/>
          </a:ln>
        </p:spPr>
      </p:sp>
      <p:sp>
        <p:nvSpPr>
          <p:cNvPr id="14" name="Shape 12"/>
          <p:cNvSpPr/>
          <p:nvPr/>
        </p:nvSpPr>
        <p:spPr>
          <a:xfrm>
            <a:off x="822960" y="4133088"/>
            <a:ext cx="4846320" cy="640080"/>
          </a:xfrm>
          <a:prstGeom prst="roundRect">
            <a:avLst>
              <a:gd name="adj" fmla="val 12857"/>
            </a:avLst>
          </a:prstGeom>
          <a:solidFill>
            <a:srgbClr val="FFFFFF"/>
          </a:solidFill>
          <a:ln w="12700">
            <a:solidFill>
              <a:srgbClr val="D2D2D7"/>
            </a:solidFill>
            <a:prstDash val="solid"/>
          </a:ln>
        </p:spPr>
      </p:sp>
      <p:sp>
        <p:nvSpPr>
          <p:cNvPr id="15" name="Text 13"/>
          <p:cNvSpPr/>
          <p:nvPr/>
        </p:nvSpPr>
        <p:spPr>
          <a:xfrm>
            <a:off x="822960" y="4133088"/>
            <a:ext cx="4846320" cy="6400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Server answers 200</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or it does not</a:t>
            </a:r>
            <a:endParaRPr lang="en-US" sz="1350" dirty="0"/>
          </a:p>
        </p:txBody>
      </p:sp>
      <p:sp>
        <p:nvSpPr>
          <p:cNvPr id="16" name="Shape 14"/>
          <p:cNvSpPr/>
          <p:nvPr/>
        </p:nvSpPr>
        <p:spPr>
          <a:xfrm>
            <a:off x="3246120" y="4773168"/>
            <a:ext cx="0" cy="182880"/>
          </a:xfrm>
          <a:prstGeom prst="line">
            <a:avLst/>
          </a:prstGeom>
          <a:noFill/>
          <a:ln w="15875">
            <a:solidFill>
              <a:srgbClr val="86868B"/>
            </a:solidFill>
            <a:prstDash val="solid"/>
            <a:tailEnd type="triangle"/>
          </a:ln>
        </p:spPr>
      </p:sp>
      <p:sp>
        <p:nvSpPr>
          <p:cNvPr id="17" name="Shape 15"/>
          <p:cNvSpPr/>
          <p:nvPr/>
        </p:nvSpPr>
        <p:spPr>
          <a:xfrm>
            <a:off x="822960" y="4956048"/>
            <a:ext cx="4846320" cy="640080"/>
          </a:xfrm>
          <a:prstGeom prst="roundRect">
            <a:avLst>
              <a:gd name="adj" fmla="val 17143"/>
            </a:avLst>
          </a:prstGeom>
          <a:solidFill>
            <a:srgbClr val="F5F5F7"/>
          </a:solidFill>
          <a:ln/>
        </p:spPr>
      </p:sp>
      <p:sp>
        <p:nvSpPr>
          <p:cNvPr id="18" name="Text 16"/>
          <p:cNvSpPr/>
          <p:nvPr/>
        </p:nvSpPr>
        <p:spPr>
          <a:xfrm>
            <a:off x="822960" y="4956048"/>
            <a:ext cx="4846320" cy="6400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UI finally updates</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or shows an error the user cannot act on</a:t>
            </a:r>
            <a:endParaRPr lang="en-US" sz="1350" dirty="0"/>
          </a:p>
        </p:txBody>
      </p:sp>
      <p:sp>
        <p:nvSpPr>
          <p:cNvPr id="19" name="Shape 17"/>
          <p:cNvSpPr/>
          <p:nvPr/>
        </p:nvSpPr>
        <p:spPr>
          <a:xfrm>
            <a:off x="6519672" y="2487168"/>
            <a:ext cx="4846320" cy="640080"/>
          </a:xfrm>
          <a:prstGeom prst="roundRect">
            <a:avLst>
              <a:gd name="adj" fmla="val 12857"/>
            </a:avLst>
          </a:prstGeom>
          <a:solidFill>
            <a:srgbClr val="000000"/>
          </a:solidFill>
          <a:ln/>
        </p:spPr>
      </p:sp>
      <p:sp>
        <p:nvSpPr>
          <p:cNvPr id="20" name="Text 18"/>
          <p:cNvSpPr/>
          <p:nvPr/>
        </p:nvSpPr>
        <p:spPr>
          <a:xfrm>
            <a:off x="6519672" y="2487168"/>
            <a:ext cx="4846320"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User taps Save</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no spinner at all</a:t>
            </a:r>
            <a:endParaRPr lang="en-US" sz="1350" dirty="0"/>
          </a:p>
        </p:txBody>
      </p:sp>
      <p:sp>
        <p:nvSpPr>
          <p:cNvPr id="21" name="Shape 19"/>
          <p:cNvSpPr/>
          <p:nvPr/>
        </p:nvSpPr>
        <p:spPr>
          <a:xfrm>
            <a:off x="8942832" y="3127248"/>
            <a:ext cx="0" cy="182880"/>
          </a:xfrm>
          <a:prstGeom prst="line">
            <a:avLst/>
          </a:prstGeom>
          <a:noFill/>
          <a:ln w="15875">
            <a:solidFill>
              <a:srgbClr val="86868B"/>
            </a:solidFill>
            <a:prstDash val="solid"/>
            <a:tailEnd type="triangle"/>
          </a:ln>
        </p:spPr>
      </p:sp>
      <p:sp>
        <p:nvSpPr>
          <p:cNvPr id="22" name="Shape 20"/>
          <p:cNvSpPr/>
          <p:nvPr/>
        </p:nvSpPr>
        <p:spPr>
          <a:xfrm>
            <a:off x="6519672" y="3310128"/>
            <a:ext cx="4846320" cy="640080"/>
          </a:xfrm>
          <a:prstGeom prst="roundRect">
            <a:avLst>
              <a:gd name="adj" fmla="val 12857"/>
            </a:avLst>
          </a:prstGeom>
          <a:solidFill>
            <a:srgbClr val="FFFFFF"/>
          </a:solidFill>
          <a:ln w="12700">
            <a:solidFill>
              <a:srgbClr val="D2D2D7"/>
            </a:solidFill>
            <a:prstDash val="solid"/>
          </a:ln>
        </p:spPr>
      </p:sp>
      <p:sp>
        <p:nvSpPr>
          <p:cNvPr id="23" name="Text 21"/>
          <p:cNvSpPr/>
          <p:nvPr/>
        </p:nvSpPr>
        <p:spPr>
          <a:xfrm>
            <a:off x="6519672" y="3310128"/>
            <a:ext cx="4846320" cy="6400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Local DB write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committed in one transaction</a:t>
            </a:r>
            <a:endParaRPr lang="en-US" sz="1350" dirty="0"/>
          </a:p>
        </p:txBody>
      </p:sp>
      <p:sp>
        <p:nvSpPr>
          <p:cNvPr id="24" name="Shape 22"/>
          <p:cNvSpPr/>
          <p:nvPr/>
        </p:nvSpPr>
        <p:spPr>
          <a:xfrm>
            <a:off x="8942832" y="3950208"/>
            <a:ext cx="0" cy="182880"/>
          </a:xfrm>
          <a:prstGeom prst="line">
            <a:avLst/>
          </a:prstGeom>
          <a:noFill/>
          <a:ln w="15875">
            <a:solidFill>
              <a:srgbClr val="86868B"/>
            </a:solidFill>
            <a:prstDash val="solid"/>
            <a:tailEnd type="triangle"/>
          </a:ln>
        </p:spPr>
      </p:sp>
      <p:sp>
        <p:nvSpPr>
          <p:cNvPr id="25" name="Shape 23"/>
          <p:cNvSpPr/>
          <p:nvPr/>
        </p:nvSpPr>
        <p:spPr>
          <a:xfrm>
            <a:off x="6519672" y="4133088"/>
            <a:ext cx="4846320" cy="640080"/>
          </a:xfrm>
          <a:prstGeom prst="roundRect">
            <a:avLst>
              <a:gd name="adj" fmla="val 17143"/>
            </a:avLst>
          </a:prstGeom>
          <a:solidFill>
            <a:srgbClr val="F5F5F7"/>
          </a:solidFill>
          <a:ln/>
        </p:spPr>
      </p:sp>
      <p:sp>
        <p:nvSpPr>
          <p:cNvPr id="26" name="Text 24"/>
          <p:cNvSpPr/>
          <p:nvPr/>
        </p:nvSpPr>
        <p:spPr>
          <a:xfrm>
            <a:off x="6519672" y="4133088"/>
            <a:ext cx="4846320" cy="6400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UI rebuilds instantly</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watch() re-emits from the database</a:t>
            </a:r>
            <a:endParaRPr lang="en-US" sz="1350" dirty="0"/>
          </a:p>
        </p:txBody>
      </p:sp>
      <p:sp>
        <p:nvSpPr>
          <p:cNvPr id="27" name="Shape 25"/>
          <p:cNvSpPr/>
          <p:nvPr/>
        </p:nvSpPr>
        <p:spPr>
          <a:xfrm>
            <a:off x="8942832" y="4773168"/>
            <a:ext cx="0" cy="182880"/>
          </a:xfrm>
          <a:prstGeom prst="line">
            <a:avLst/>
          </a:prstGeom>
          <a:noFill/>
          <a:ln w="15875">
            <a:solidFill>
              <a:srgbClr val="86868B"/>
            </a:solidFill>
            <a:prstDash val="solid"/>
            <a:tailEnd type="triangle"/>
          </a:ln>
        </p:spPr>
      </p:sp>
      <p:sp>
        <p:nvSpPr>
          <p:cNvPr id="28" name="Shape 26"/>
          <p:cNvSpPr/>
          <p:nvPr/>
        </p:nvSpPr>
        <p:spPr>
          <a:xfrm>
            <a:off x="6519672" y="4956048"/>
            <a:ext cx="4846320" cy="640080"/>
          </a:xfrm>
          <a:prstGeom prst="roundRect">
            <a:avLst>
              <a:gd name="adj" fmla="val 12857"/>
            </a:avLst>
          </a:prstGeom>
          <a:solidFill>
            <a:srgbClr val="FFFFFF"/>
          </a:solidFill>
          <a:ln w="12700">
            <a:solidFill>
              <a:srgbClr val="D2D2D7"/>
            </a:solidFill>
            <a:prstDash val="solid"/>
          </a:ln>
        </p:spPr>
      </p:sp>
      <p:sp>
        <p:nvSpPr>
          <p:cNvPr id="29" name="Text 27"/>
          <p:cNvSpPr/>
          <p:nvPr/>
        </p:nvSpPr>
        <p:spPr>
          <a:xfrm>
            <a:off x="6519672" y="4956048"/>
            <a:ext cx="4846320" cy="6400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Sync, at some point</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background, retried, invisible</a:t>
            </a:r>
            <a:endParaRPr lang="en-US" sz="1350" dirty="0"/>
          </a:p>
        </p:txBody>
      </p:sp>
      <p:sp>
        <p:nvSpPr>
          <p:cNvPr id="30" name="Text 28"/>
          <p:cNvSpPr/>
          <p:nvPr/>
        </p:nvSpPr>
        <p:spPr>
          <a:xfrm>
            <a:off x="822960" y="5760720"/>
            <a:ext cx="10543032" cy="457200"/>
          </a:xfrm>
          <a:prstGeom prst="rect">
            <a:avLst/>
          </a:prstGeom>
          <a:noFill/>
          <a:ln/>
        </p:spPr>
        <p:txBody>
          <a:bodyPr wrap="square" lIns="0" tIns="0" rIns="0" bIns="0" rtlCol="0" anchor="t"/>
          <a:lstStyle/>
          <a:p>
            <a:pPr indent="0" marL="0">
              <a:buNone/>
            </a:pPr>
            <a:r>
              <a:rPr lang="en-US" sz="1250" dirty="0">
                <a:solidFill>
                  <a:srgbClr val="86868B"/>
                </a:solidFill>
                <a:latin typeface="Arial" pitchFamily="34" charset="0"/>
                <a:ea typeface="Arial" pitchFamily="34" charset="-122"/>
                <a:cs typeface="Arial" pitchFamily="34" charset="-120"/>
              </a:rPr>
              <a:t>The network stops being on the critical path of a user action. It becomes a background job that reconciles two copies of the truth, and the user never waits for 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WHY OFFLINE-FIRST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CAP, on a device in your pocket</a:t>
            </a:r>
            <a:endParaRPr lang="en-US" sz="3000" dirty="0"/>
          </a:p>
        </p:txBody>
      </p:sp>
      <p:sp>
        <p:nvSpPr>
          <p:cNvPr id="5" name="Text 3"/>
          <p:cNvSpPr/>
          <p:nvPr/>
        </p:nvSpPr>
        <p:spPr>
          <a:xfrm>
            <a:off x="822960" y="1737360"/>
            <a:ext cx="10543032" cy="457200"/>
          </a:xfrm>
          <a:prstGeom prst="rect">
            <a:avLst/>
          </a:prstGeom>
          <a:noFill/>
          <a:ln/>
        </p:spPr>
        <p:txBody>
          <a:bodyPr wrap="square" lIns="0" tIns="0" rIns="0" bIns="0" rtlCol="0" anchor="t"/>
          <a:lstStyle/>
          <a:p>
            <a:pPr indent="0" marL="0">
              <a:buNone/>
            </a:pPr>
            <a:r>
              <a:rPr lang="en-US" sz="1350" dirty="0">
                <a:solidFill>
                  <a:srgbClr val="1D1D1F"/>
                </a:solidFill>
                <a:latin typeface="Arial" pitchFamily="34" charset="0"/>
                <a:ea typeface="Arial" pitchFamily="34" charset="-122"/>
                <a:cs typeface="Arial" pitchFamily="34" charset="-120"/>
              </a:rPr>
              <a:t>CAP is a statement about what happens during a partition: when the two sides cannot talk, you either refuse to answer, or you answer with data that may be stale. You cannot have both.</a:t>
            </a:r>
            <a:endParaRPr lang="en-US" sz="1350" dirty="0"/>
          </a:p>
        </p:txBody>
      </p:sp>
      <p:pic>
        <p:nvPicPr>
          <p:cNvPr id="6" name="Image 0" descr="/Users/dinu/dev/upb/mobile-and-embedded-computing/slides/assets/icons2/network-ink.png">    </p:cNvPr>
          <p:cNvPicPr>
            <a:picLocks noChangeAspect="1"/>
          </p:cNvPicPr>
          <p:nvPr/>
        </p:nvPicPr>
        <p:blipFill>
          <a:blip r:embed="rId1"/>
          <a:stretch>
            <a:fillRect/>
          </a:stretch>
        </p:blipFill>
        <p:spPr>
          <a:xfrm>
            <a:off x="822960" y="2377440"/>
            <a:ext cx="384048" cy="384048"/>
          </a:xfrm>
          <a:prstGeom prst="rect">
            <a:avLst/>
          </a:prstGeom>
        </p:spPr>
      </p:pic>
      <p:sp>
        <p:nvSpPr>
          <p:cNvPr id="7" name="Text 4"/>
          <p:cNvSpPr/>
          <p:nvPr/>
        </p:nvSpPr>
        <p:spPr>
          <a:xfrm>
            <a:off x="822960" y="290779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Partition tolerance</a:t>
            </a:r>
            <a:endParaRPr lang="en-US" sz="1450" dirty="0"/>
          </a:p>
        </p:txBody>
      </p:sp>
      <p:sp>
        <p:nvSpPr>
          <p:cNvPr id="8" name="Text 5"/>
          <p:cNvSpPr/>
          <p:nvPr/>
        </p:nvSpPr>
        <p:spPr>
          <a:xfrm>
            <a:off x="822960" y="336499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Not a choice on mobile. The partition is not a rare fault you engineer against. It is the resting state of a phone in a lift.</a:t>
            </a:r>
            <a:endParaRPr lang="en-US" sz="1150" dirty="0"/>
          </a:p>
        </p:txBody>
      </p:sp>
      <p:pic>
        <p:nvPicPr>
          <p:cNvPr id="9" name="Image 1" descr="/Users/dinu/dev/upb/mobile-and-embedded-computing/slides/assets/icons2/circlecheck-ink.png">    </p:cNvPr>
          <p:cNvPicPr>
            <a:picLocks noChangeAspect="1"/>
          </p:cNvPicPr>
          <p:nvPr/>
        </p:nvPicPr>
        <p:blipFill>
          <a:blip r:embed="rId2"/>
          <a:stretch>
            <a:fillRect/>
          </a:stretch>
        </p:blipFill>
        <p:spPr>
          <a:xfrm>
            <a:off x="4663440" y="2377440"/>
            <a:ext cx="384048" cy="384048"/>
          </a:xfrm>
          <a:prstGeom prst="rect">
            <a:avLst/>
          </a:prstGeom>
        </p:spPr>
      </p:pic>
      <p:sp>
        <p:nvSpPr>
          <p:cNvPr id="10" name="Text 6"/>
          <p:cNvSpPr/>
          <p:nvPr/>
        </p:nvSpPr>
        <p:spPr>
          <a:xfrm>
            <a:off x="4663440" y="290779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Availability</a:t>
            </a:r>
            <a:endParaRPr lang="en-US" sz="1450" dirty="0"/>
          </a:p>
        </p:txBody>
      </p:sp>
      <p:sp>
        <p:nvSpPr>
          <p:cNvPr id="11" name="Text 7"/>
          <p:cNvSpPr/>
          <p:nvPr/>
        </p:nvSpPr>
        <p:spPr>
          <a:xfrm>
            <a:off x="4663440" y="336499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You keep it. Every read is answered from the local database and every write is accepted, signal or no signal.</a:t>
            </a:r>
            <a:endParaRPr lang="en-US" sz="1150" dirty="0"/>
          </a:p>
        </p:txBody>
      </p:sp>
      <p:pic>
        <p:nvPicPr>
          <p:cNvPr id="12" name="Image 2" descr="/Users/dinu/dev/upb/mobile-and-embedded-computing/slides/assets/icons2/scale-ink.png">    </p:cNvPr>
          <p:cNvPicPr>
            <a:picLocks noChangeAspect="1"/>
          </p:cNvPicPr>
          <p:nvPr/>
        </p:nvPicPr>
        <p:blipFill>
          <a:blip r:embed="rId3"/>
          <a:stretch>
            <a:fillRect/>
          </a:stretch>
        </p:blipFill>
        <p:spPr>
          <a:xfrm>
            <a:off x="8503920" y="2377440"/>
            <a:ext cx="384048" cy="384048"/>
          </a:xfrm>
          <a:prstGeom prst="rect">
            <a:avLst/>
          </a:prstGeom>
        </p:spPr>
      </p:pic>
      <p:sp>
        <p:nvSpPr>
          <p:cNvPr id="13" name="Text 8"/>
          <p:cNvSpPr/>
          <p:nvPr/>
        </p:nvSpPr>
        <p:spPr>
          <a:xfrm>
            <a:off x="8503920" y="290779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Consistency</a:t>
            </a:r>
            <a:endParaRPr lang="en-US" sz="1450" dirty="0"/>
          </a:p>
        </p:txBody>
      </p:sp>
      <p:sp>
        <p:nvSpPr>
          <p:cNvPr id="14" name="Text 9"/>
          <p:cNvSpPr/>
          <p:nvPr/>
        </p:nvSpPr>
        <p:spPr>
          <a:xfrm>
            <a:off x="8503920" y="336499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You give it up. What you get instead is eventual consistency, and the cost of it is the whole second half of this lecture.</a:t>
            </a:r>
            <a:endParaRPr lang="en-US" sz="1150" dirty="0"/>
          </a:p>
        </p:txBody>
      </p:sp>
      <p:sp>
        <p:nvSpPr>
          <p:cNvPr id="15" name="Shape 10"/>
          <p:cNvSpPr/>
          <p:nvPr/>
        </p:nvSpPr>
        <p:spPr>
          <a:xfrm>
            <a:off x="822960" y="5029200"/>
            <a:ext cx="10543032" cy="0"/>
          </a:xfrm>
          <a:prstGeom prst="line">
            <a:avLst/>
          </a:prstGeom>
          <a:noFill/>
          <a:ln w="9525">
            <a:solidFill>
              <a:srgbClr val="D2D2D7"/>
            </a:solidFill>
            <a:prstDash val="solid"/>
          </a:ln>
        </p:spPr>
      </p:sp>
      <p:sp>
        <p:nvSpPr>
          <p:cNvPr id="16" name="Text 11"/>
          <p:cNvSpPr/>
          <p:nvPr/>
        </p:nvSpPr>
        <p:spPr>
          <a:xfrm>
            <a:off x="822960" y="52578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The network picks P for you.</a:t>
            </a:r>
            <a:pPr indent="0" marL="0">
              <a:buNone/>
            </a:pPr>
            <a:r>
              <a:rPr lang="en-US" sz="1400" dirty="0">
                <a:solidFill>
                  <a:srgbClr val="86868B"/>
                </a:solidFill>
                <a:latin typeface="Arial" pitchFamily="34" charset="0"/>
                <a:ea typeface="Arial" pitchFamily="34" charset="-122"/>
                <a:cs typeface="Arial" pitchFamily="34" charset="-120"/>
              </a:rPr>
              <a:t> The only thing you choose is whether the app stays useful while partitioned, or freezes waiting for data it cannot reach.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THE LOCAL DATABASE</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One source of truth, on the device</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Schema, reactive reads, and an outbox for every write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LOCAL DATABASE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Firestore's cache, or your own SQLite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1810512"/>
          <a:ext cx="10543032" cy="914400"/>
        </p:xfrm>
        <a:graphic>
          <a:graphicData uri="http://schemas.openxmlformats.org/drawingml/2006/table">
            <a:tbl>
              <a:tblPr/>
              <a:tblGrid>
                <a:gridCol w="1508760"/>
                <a:gridCol w="4517136"/>
                <a:gridCol w="4517136"/>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Firestore offline cache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Drift (SQLite)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Types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dynamic maps, checked at runtime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compile-time checked SQL and rows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Reactive UI</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snapshots() streams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watch() streams, on any query you can write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Offline queries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no local indexes: full scans, and jank</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your indexes work offline too</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Transactions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online only, no offline atomicity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full local ACID transactions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Cache control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opaque LRU; you cannot pin a document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it is your file; nothing is evicted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Cost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billed per document read, sync catch-up included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flat: whatever your backend costs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bl>
          </a:graphicData>
        </a:graphic>
      </p:graphicFrame>
      <p:sp>
        <p:nvSpPr>
          <p:cNvPr id="6" name="Shape 3"/>
          <p:cNvSpPr/>
          <p:nvPr/>
        </p:nvSpPr>
        <p:spPr>
          <a:xfrm>
            <a:off x="822960" y="5257800"/>
            <a:ext cx="10543032" cy="0"/>
          </a:xfrm>
          <a:prstGeom prst="line">
            <a:avLst/>
          </a:prstGeom>
          <a:noFill/>
          <a:ln w="9525">
            <a:solidFill>
              <a:srgbClr val="D2D2D7"/>
            </a:solidFill>
            <a:prstDash val="solid"/>
          </a:ln>
        </p:spPr>
      </p:sp>
      <p:sp>
        <p:nvSpPr>
          <p:cNvPr id="7" name="Text 4"/>
          <p:cNvSpPr/>
          <p:nvPr/>
        </p:nvSpPr>
        <p:spPr>
          <a:xfrm>
            <a:off x="822960" y="54864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Firestore is a managed sync engine you cannot open.</a:t>
            </a:r>
            <a:pPr indent="0" marL="0">
              <a:buNone/>
            </a:pPr>
            <a:r>
              <a:rPr lang="en-US" sz="1400" dirty="0">
                <a:solidFill>
                  <a:srgbClr val="86868B"/>
                </a:solidFill>
                <a:latin typeface="Arial" pitchFamily="34" charset="0"/>
                <a:ea typeface="Arial" pitchFamily="34" charset="-122"/>
                <a:cs typeface="Arial" pitchFamily="34" charset="-120"/>
              </a:rPr>
              <a:t> For a project that must query, transact and search offline, own the database, or take a middle path like PowerSync.  → Lecture 5, the backend it syncs with</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LOCAL DATABASE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Every synced table carries sync metadata</a:t>
            </a:r>
            <a:endParaRPr lang="en-US" sz="3000" dirty="0"/>
          </a:p>
        </p:txBody>
      </p:sp>
      <p:sp>
        <p:nvSpPr>
          <p:cNvPr id="5" name="Shape 3"/>
          <p:cNvSpPr/>
          <p:nvPr/>
        </p:nvSpPr>
        <p:spPr>
          <a:xfrm>
            <a:off x="822960" y="1783080"/>
            <a:ext cx="6858000" cy="4389120"/>
          </a:xfrm>
          <a:prstGeom prst="roundRect">
            <a:avLst>
              <a:gd name="adj" fmla="val 2500"/>
            </a:avLst>
          </a:prstGeom>
          <a:solidFill>
            <a:srgbClr val="F5F5F7"/>
          </a:solidFill>
          <a:ln/>
        </p:spPr>
      </p:sp>
      <p:sp>
        <p:nvSpPr>
          <p:cNvPr id="6" name="Text 4"/>
          <p:cNvSpPr/>
          <p:nvPr/>
        </p:nvSpPr>
        <p:spPr>
          <a:xfrm>
            <a:off x="1234440" y="2103120"/>
            <a:ext cx="6126480" cy="3794760"/>
          </a:xfrm>
          <a:prstGeom prst="rect">
            <a:avLst/>
          </a:prstGeom>
          <a:noFill/>
          <a:ln/>
        </p:spPr>
        <p:txBody>
          <a:bodyPr wrap="square" lIns="0" tIns="0" rIns="0" bIns="0" rtlCol="0" anchor="t"/>
          <a:lstStyle/>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lib/db/tables.dart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class Notes extends Table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client-generated UUID: two offline devices must never</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invent the same primary key</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TextColumn get id =&gt; text()();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TextColumn get title =&gt; text().withDefault(const Constant(''))();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TextColumn get body  =&gt; text().withDefault(const Constant(''))();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 the four columns that make a table syncable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DateTimeColumn get updatedAt   =&gt; dateTime()();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DateTimeColumn get deletedAt   =&gt; dateTime().nullable()();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BoolColumn get pendingSync =&gt;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boolean().withDefault(const Constant(true))();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IntColumn  get serverVersion =&gt;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integer().withDefault(const Constant(0))();</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@override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Set&lt;Column&gt; get primaryKey =&gt; {id};</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Text 5"/>
          <p:cNvSpPr/>
          <p:nvPr/>
        </p:nvSpPr>
        <p:spPr>
          <a:xfrm>
            <a:off x="7955280" y="1783080"/>
            <a:ext cx="3410712" cy="4480560"/>
          </a:xfrm>
          <a:prstGeom prst="rect">
            <a:avLst/>
          </a:prstGeom>
          <a:noFill/>
          <a:ln/>
        </p:spPr>
        <p:txBody>
          <a:bodyPr wrap="square" lIns="0" tIns="0" rIns="0" bIns="0" rtlCol="0" anchor="t"/>
          <a:lstStyle/>
          <a:p>
            <a:pPr indent="0" marL="0">
              <a:spcAft>
                <a:spcPts val="600"/>
              </a:spcAft>
              <a:buNone/>
            </a:pPr>
            <a:r>
              <a:rPr lang="en-US" sz="1050" b="1" dirty="0">
                <a:solidFill>
                  <a:srgbClr val="1D1D1F"/>
                </a:solidFill>
                <a:latin typeface="Arial" pitchFamily="34" charset="0"/>
                <a:ea typeface="Arial" pitchFamily="34" charset="-122"/>
                <a:cs typeface="Arial" pitchFamily="34" charset="-120"/>
              </a:rPr>
              <a:t>id: a UUID, made on the client</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Auto-increment collides: two offline devices both create row 42, and one of them loses.</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updatedAt: when this device last edited</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The input to any timestamp-based resolution. Its weakness is slide 21.</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deletedAt: the tombstone</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A delete is a write. Never issue a local DELETE for a synced row.</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pendingSync: the isDirty flag</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True from the moment you touch the row until the server has acknowledged it.</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serverVersion: what we last saw</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Lets the resolver tell “we are ahead” from “both sides moved”.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LOCAL DATABASE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UI reads local data</a:t>
            </a:r>
            <a:endParaRPr lang="en-US" sz="3000" dirty="0"/>
          </a:p>
        </p:txBody>
      </p:sp>
      <p:sp>
        <p:nvSpPr>
          <p:cNvPr id="5" name="Shape 3"/>
          <p:cNvSpPr/>
          <p:nvPr/>
        </p:nvSpPr>
        <p:spPr>
          <a:xfrm>
            <a:off x="822960" y="1783080"/>
            <a:ext cx="6858000" cy="3017520"/>
          </a:xfrm>
          <a:prstGeom prst="roundRect">
            <a:avLst>
              <a:gd name="adj" fmla="val 3636"/>
            </a:avLst>
          </a:prstGeom>
          <a:solidFill>
            <a:srgbClr val="F5F5F7"/>
          </a:solidFill>
          <a:ln/>
        </p:spPr>
      </p:sp>
      <p:sp>
        <p:nvSpPr>
          <p:cNvPr id="6" name="Text 4"/>
          <p:cNvSpPr/>
          <p:nvPr/>
        </p:nvSpPr>
        <p:spPr>
          <a:xfrm>
            <a:off x="1234440" y="2103120"/>
            <a:ext cx="6126480" cy="2423160"/>
          </a:xfrm>
          <a:prstGeom prst="rect">
            <a:avLst/>
          </a:prstGeom>
          <a:noFill/>
          <a:ln/>
        </p:spPr>
        <p:txBody>
          <a:bodyPr wrap="square" lIns="0" tIns="0" rIns="0" bIns="0" rtlCol="0" anchor="t"/>
          <a:lstStyle/>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@DriftAccessor(tables: [Notes])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class NotesDao extends DatabaseAccessor&lt;AppDb&gt; with _$NotesDaoMixin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NotesDao(super.db);</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A live query. Drift re-runs it and re-emits whenever the</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notes table changes, no matter who changed it: the user,</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or the sync engine writing rows it pulled from the server.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Stream&lt;List&lt;Note&gt;&gt; watchActive() =&gt;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(select(notes)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..where((n) =&gt; n.deletedAt.isNull())</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..orderBy([(n) =&gt; OrderingTerm.desc(n.updatedAt)]))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.watch();</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Shape 5"/>
          <p:cNvSpPr/>
          <p:nvPr/>
        </p:nvSpPr>
        <p:spPr>
          <a:xfrm>
            <a:off x="822960" y="4983480"/>
            <a:ext cx="6858000" cy="1234440"/>
          </a:xfrm>
          <a:prstGeom prst="roundRect">
            <a:avLst>
              <a:gd name="adj" fmla="val 8889"/>
            </a:avLst>
          </a:prstGeom>
          <a:solidFill>
            <a:srgbClr val="F5F5F7"/>
          </a:solidFill>
          <a:ln/>
        </p:spPr>
      </p:sp>
      <p:sp>
        <p:nvSpPr>
          <p:cNvPr id="8" name="Text 6"/>
          <p:cNvSpPr/>
          <p:nvPr/>
        </p:nvSpPr>
        <p:spPr>
          <a:xfrm>
            <a:off x="1234440" y="5303520"/>
            <a:ext cx="6126480" cy="640080"/>
          </a:xfrm>
          <a:prstGeom prst="rect">
            <a:avLst/>
          </a:prstGeom>
          <a:noFill/>
          <a:ln/>
        </p:spPr>
        <p:txBody>
          <a:bodyPr wrap="square" lIns="0" tIns="0" rIns="0" bIns="0" rtlCol="0" anchor="t"/>
          <a:lstStyle/>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StreamBuilder&lt;List&lt;Note&gt;&gt;(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stream: dao.watchActive(),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builder: (_, snap) =&gt; NoteList(snap.data ?? const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p:txBody>
      </p:sp>
      <p:sp>
        <p:nvSpPr>
          <p:cNvPr id="9" name="Text 7"/>
          <p:cNvSpPr/>
          <p:nvPr/>
        </p:nvSpPr>
        <p:spPr>
          <a:xfrm>
            <a:off x="7955280" y="1783080"/>
            <a:ext cx="3410712" cy="4480560"/>
          </a:xfrm>
          <a:prstGeom prst="rect">
            <a:avLst/>
          </a:prstGeom>
          <a:noFill/>
          <a:ln/>
        </p:spPr>
        <p:txBody>
          <a:bodyPr wrap="square" lIns="0" tIns="0" rIns="0" bIns="0" rtlCol="0" anchor="t"/>
          <a:lstStyle/>
          <a:p>
            <a:pPr indent="0" marL="0">
              <a:spcAft>
                <a:spcPts val="1100"/>
              </a:spcAft>
              <a:buNone/>
            </a:pPr>
            <a:r>
              <a:rPr lang="en-US" sz="1100" dirty="0">
                <a:solidFill>
                  <a:srgbClr val="1D1D1F"/>
                </a:solidFill>
                <a:latin typeface="Arial" pitchFamily="34" charset="0"/>
                <a:ea typeface="Arial" pitchFamily="34" charset="-122"/>
                <a:cs typeface="Arial" pitchFamily="34" charset="-120"/>
              </a:rPr>
              <a:t>One stream, two writers. The user edits a note and the list updates; the sync engine pulls a change from the server and the same list updates. The widget never knows which happened.</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There is no loading state for the network here, only the first-launch case where the database is genuinely empty.</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Filtering deletedAt IS NULL in the query is what makes tombstones invisible to the UI while they stay visible to the sync engine.</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Drift's watch() is a Stream, so everything you learned about StreamBuilder and Riverpod still applies.  → Lecture 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LOCAL DATABASE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Writes go to the table and an outbox</a:t>
            </a:r>
            <a:endParaRPr lang="en-US" sz="3000" dirty="0"/>
          </a:p>
        </p:txBody>
      </p:sp>
      <p:sp>
        <p:nvSpPr>
          <p:cNvPr id="5" name="Shape 3"/>
          <p:cNvSpPr/>
          <p:nvPr/>
        </p:nvSpPr>
        <p:spPr>
          <a:xfrm>
            <a:off x="822960" y="1783080"/>
            <a:ext cx="7040880" cy="4434840"/>
          </a:xfrm>
          <a:prstGeom prst="roundRect">
            <a:avLst>
              <a:gd name="adj" fmla="val 2474"/>
            </a:avLst>
          </a:prstGeom>
          <a:solidFill>
            <a:srgbClr val="F5F5F7"/>
          </a:solidFill>
          <a:ln/>
        </p:spPr>
      </p:sp>
      <p:sp>
        <p:nvSpPr>
          <p:cNvPr id="6" name="Text 4"/>
          <p:cNvSpPr/>
          <p:nvPr/>
        </p:nvSpPr>
        <p:spPr>
          <a:xfrm>
            <a:off x="1234440" y="2103120"/>
            <a:ext cx="6309360" cy="3840480"/>
          </a:xfrm>
          <a:prstGeom prst="rect">
            <a:avLst/>
          </a:prstGeom>
          <a:noFill/>
          <a:ln/>
        </p:spPr>
        <p:txBody>
          <a:bodyPr wrap="square" lIns="0" tIns="0" rIns="0" bIns="0" rtlCol="0" anchor="t"/>
          <a:lstStyle/>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One transaction. Either both rows land, or neither does.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Future&lt;void&gt; saveNote(Note n) =&gt; db.transaction(()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row = n.copyWith(</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updatedAt: DateTime.now(), pendingSync: true);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into(notes).insertOnConflictUpdate(row);</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into(outbox).insert(OutboxCompanion.insert(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id: uuid.v4(), entity: 'note', entityId: n.id,</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op: 'upsert', payload: jsonEncode(row.toJson()),</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queuedAt: DateTime.now(),</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A delete is a write. Never a DELETE statement.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Future&lt;void&gt; deleteNote(String id) =&gt; db.transaction(()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(update(notes)..where((n) =&gt; n.id.equals(id))).write(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NotesCompanion(deletedAt: Value(DateTime.now()),</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pendingSync: const Value(true)));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into(outbox).insert(/* op: 'delete', entityId: id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Text 5"/>
          <p:cNvSpPr/>
          <p:nvPr/>
        </p:nvSpPr>
        <p:spPr>
          <a:xfrm>
            <a:off x="8138160" y="1783080"/>
            <a:ext cx="3227832" cy="4480560"/>
          </a:xfrm>
          <a:prstGeom prst="rect">
            <a:avLst/>
          </a:prstGeom>
          <a:noFill/>
          <a:ln/>
        </p:spPr>
        <p:txBody>
          <a:bodyPr wrap="square" lIns="0" tIns="0" rIns="0" bIns="0" rtlCol="0" anchor="t"/>
          <a:lstStyle/>
          <a:p>
            <a:pPr indent="0" marL="0">
              <a:spcAft>
                <a:spcPts val="1100"/>
              </a:spcAft>
              <a:buNone/>
            </a:pPr>
            <a:r>
              <a:rPr lang="en-US" sz="1100" b="1" dirty="0">
                <a:solidFill>
                  <a:srgbClr val="1D1D1F"/>
                </a:solidFill>
                <a:latin typeface="Arial" pitchFamily="34" charset="0"/>
                <a:ea typeface="Arial" pitchFamily="34" charset="-122"/>
                <a:cs typeface="Arial" pitchFamily="34" charset="-120"/>
              </a:rPr>
              <a:t>Why not just call the API?</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Because the call can fail, and then your local row and the server disagree with nothing recording that fact.</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The outbox is that record: a durable, ordered list of intents that survives the process being killed mid-request.</a:t>
            </a:r>
            <a:endParaRPr lang="en-US" sz="1100" dirty="0"/>
          </a:p>
          <a:p>
            <a:pPr indent="0" marL="0">
              <a:spcAft>
                <a:spcPts val="1100"/>
              </a:spcAft>
              <a:buNone/>
            </a:pPr>
            <a:r>
              <a:rPr lang="en-US" sz="1100" b="1" dirty="0">
                <a:solidFill>
                  <a:srgbClr val="1D1D1F"/>
                </a:solidFill>
                <a:latin typeface="Arial" pitchFamily="34" charset="0"/>
                <a:ea typeface="Arial" pitchFamily="34" charset="-122"/>
                <a:cs typeface="Arial" pitchFamily="34" charset="-120"/>
              </a:rPr>
              <a:t>One transaction, two effects.</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The data row and the intent to sync it commit together, so the queue can never drift out of step with the data.</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The UI already updated: watch() fired the moment the transaction committed, long before any packet left the device.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THE SYNC ENGINE</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Two loops and a checkpoint</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Push what we changed, pull what they changed, remember where we got to</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SYNC ENGINE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two loops</a:t>
            </a:r>
            <a:endParaRPr lang="en-US" sz="3000" dirty="0"/>
          </a:p>
        </p:txBody>
      </p:sp>
      <p:sp>
        <p:nvSpPr>
          <p:cNvPr id="5" name="Text 3"/>
          <p:cNvSpPr/>
          <p:nvPr/>
        </p:nvSpPr>
        <p:spPr>
          <a:xfrm>
            <a:off x="822960" y="1737360"/>
            <a:ext cx="10543032" cy="320040"/>
          </a:xfrm>
          <a:prstGeom prst="rect">
            <a:avLst/>
          </a:prstGeom>
          <a:noFill/>
          <a:ln/>
        </p:spPr>
        <p:txBody>
          <a:bodyPr wrap="square" lIns="0" tIns="0" rIns="0" bIns="0" rtlCol="0" anchor="ctr"/>
          <a:lstStyle/>
          <a:p>
            <a:pPr indent="0" marL="0">
              <a:buNone/>
            </a:pPr>
            <a:r>
              <a:rPr lang="en-US" sz="1350" dirty="0">
                <a:solidFill>
                  <a:srgbClr val="86868B"/>
                </a:solidFill>
                <a:latin typeface="Arial" pitchFamily="34" charset="0"/>
                <a:ea typeface="Arial" pitchFamily="34" charset="-122"/>
                <a:cs typeface="Arial" pitchFamily="34" charset="-120"/>
              </a:rPr>
              <a:t>Nothing here runs while the user is waiting. Both loops are triggered by events, and both are safe to interrupt.</a:t>
            </a:r>
            <a:endParaRPr lang="en-US" sz="1350" dirty="0"/>
          </a:p>
        </p:txBody>
      </p:sp>
      <p:sp>
        <p:nvSpPr>
          <p:cNvPr id="6" name="Text 4"/>
          <p:cNvSpPr/>
          <p:nvPr/>
        </p:nvSpPr>
        <p:spPr>
          <a:xfrm>
            <a:off x="822960" y="2121408"/>
            <a:ext cx="484632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Push: what this device changed</a:t>
            </a:r>
            <a:endParaRPr lang="en-US" sz="1400" dirty="0"/>
          </a:p>
        </p:txBody>
      </p:sp>
      <p:sp>
        <p:nvSpPr>
          <p:cNvPr id="7" name="Text 5"/>
          <p:cNvSpPr/>
          <p:nvPr/>
        </p:nvSpPr>
        <p:spPr>
          <a:xfrm>
            <a:off x="6519672" y="2121408"/>
            <a:ext cx="484632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Pull: what everyone else changed</a:t>
            </a:r>
            <a:endParaRPr lang="en-US" sz="1400" dirty="0"/>
          </a:p>
        </p:txBody>
      </p:sp>
      <p:sp>
        <p:nvSpPr>
          <p:cNvPr id="8" name="Shape 6"/>
          <p:cNvSpPr/>
          <p:nvPr/>
        </p:nvSpPr>
        <p:spPr>
          <a:xfrm>
            <a:off x="822960" y="2468880"/>
            <a:ext cx="4846320" cy="658368"/>
          </a:xfrm>
          <a:prstGeom prst="roundRect">
            <a:avLst>
              <a:gd name="adj" fmla="val 12500"/>
            </a:avLst>
          </a:prstGeom>
          <a:solidFill>
            <a:srgbClr val="FFFFFF"/>
          </a:solidFill>
          <a:ln w="12700">
            <a:solidFill>
              <a:srgbClr val="D2D2D7"/>
            </a:solidFill>
            <a:prstDash val="solid"/>
          </a:ln>
        </p:spPr>
      </p:sp>
      <p:sp>
        <p:nvSpPr>
          <p:cNvPr id="9" name="Text 7"/>
          <p:cNvSpPr/>
          <p:nvPr/>
        </p:nvSpPr>
        <p:spPr>
          <a:xfrm>
            <a:off x="822960" y="2468880"/>
            <a:ext cx="484632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Read the outbox</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oldest first, in batches</a:t>
            </a:r>
            <a:endParaRPr lang="en-US" sz="1350" dirty="0"/>
          </a:p>
        </p:txBody>
      </p:sp>
      <p:sp>
        <p:nvSpPr>
          <p:cNvPr id="10" name="Shape 8"/>
          <p:cNvSpPr/>
          <p:nvPr/>
        </p:nvSpPr>
        <p:spPr>
          <a:xfrm>
            <a:off x="3246120" y="3127248"/>
            <a:ext cx="0" cy="182880"/>
          </a:xfrm>
          <a:prstGeom prst="line">
            <a:avLst/>
          </a:prstGeom>
          <a:noFill/>
          <a:ln w="15875">
            <a:solidFill>
              <a:srgbClr val="86868B"/>
            </a:solidFill>
            <a:prstDash val="solid"/>
            <a:tailEnd type="triangle"/>
          </a:ln>
        </p:spPr>
      </p:sp>
      <p:sp>
        <p:nvSpPr>
          <p:cNvPr id="11" name="Shape 9"/>
          <p:cNvSpPr/>
          <p:nvPr/>
        </p:nvSpPr>
        <p:spPr>
          <a:xfrm>
            <a:off x="822960" y="3310128"/>
            <a:ext cx="4846320" cy="658368"/>
          </a:xfrm>
          <a:prstGeom prst="roundRect">
            <a:avLst>
              <a:gd name="adj" fmla="val 16667"/>
            </a:avLst>
          </a:prstGeom>
          <a:solidFill>
            <a:srgbClr val="F5F5F7"/>
          </a:solidFill>
          <a:ln/>
        </p:spPr>
      </p:sp>
      <p:sp>
        <p:nvSpPr>
          <p:cNvPr id="12" name="Text 10"/>
          <p:cNvSpPr/>
          <p:nvPr/>
        </p:nvSpPr>
        <p:spPr>
          <a:xfrm>
            <a:off x="822960" y="3310128"/>
            <a:ext cx="484632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POST it</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with an idempotency key</a:t>
            </a:r>
            <a:endParaRPr lang="en-US" sz="1350" dirty="0"/>
          </a:p>
        </p:txBody>
      </p:sp>
      <p:sp>
        <p:nvSpPr>
          <p:cNvPr id="13" name="Shape 11"/>
          <p:cNvSpPr/>
          <p:nvPr/>
        </p:nvSpPr>
        <p:spPr>
          <a:xfrm>
            <a:off x="3246120" y="3968496"/>
            <a:ext cx="0" cy="182880"/>
          </a:xfrm>
          <a:prstGeom prst="line">
            <a:avLst/>
          </a:prstGeom>
          <a:noFill/>
          <a:ln w="15875">
            <a:solidFill>
              <a:srgbClr val="86868B"/>
            </a:solidFill>
            <a:prstDash val="solid"/>
            <a:tailEnd type="triangle"/>
          </a:ln>
        </p:spPr>
      </p:sp>
      <p:sp>
        <p:nvSpPr>
          <p:cNvPr id="14" name="Shape 12"/>
          <p:cNvSpPr/>
          <p:nvPr/>
        </p:nvSpPr>
        <p:spPr>
          <a:xfrm>
            <a:off x="822960" y="4151376"/>
            <a:ext cx="4846320" cy="658368"/>
          </a:xfrm>
          <a:prstGeom prst="roundRect">
            <a:avLst>
              <a:gd name="adj" fmla="val 12500"/>
            </a:avLst>
          </a:prstGeom>
          <a:solidFill>
            <a:srgbClr val="FFFFFF"/>
          </a:solidFill>
          <a:ln w="12700">
            <a:solidFill>
              <a:srgbClr val="D2D2D7"/>
            </a:solidFill>
            <a:prstDash val="solid"/>
          </a:ln>
        </p:spPr>
      </p:sp>
      <p:sp>
        <p:nvSpPr>
          <p:cNvPr id="15" name="Text 13"/>
          <p:cNvSpPr/>
          <p:nvPr/>
        </p:nvSpPr>
        <p:spPr>
          <a:xfrm>
            <a:off x="822960" y="4151376"/>
            <a:ext cx="484632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Server accepts</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assigns a version, stamps its own clock</a:t>
            </a:r>
            <a:endParaRPr lang="en-US" sz="1350" dirty="0"/>
          </a:p>
        </p:txBody>
      </p:sp>
      <p:sp>
        <p:nvSpPr>
          <p:cNvPr id="16" name="Shape 14"/>
          <p:cNvSpPr/>
          <p:nvPr/>
        </p:nvSpPr>
        <p:spPr>
          <a:xfrm>
            <a:off x="3246120" y="4809744"/>
            <a:ext cx="0" cy="182880"/>
          </a:xfrm>
          <a:prstGeom prst="line">
            <a:avLst/>
          </a:prstGeom>
          <a:noFill/>
          <a:ln w="15875">
            <a:solidFill>
              <a:srgbClr val="86868B"/>
            </a:solidFill>
            <a:prstDash val="solid"/>
            <a:tailEnd type="triangle"/>
          </a:ln>
        </p:spPr>
      </p:sp>
      <p:sp>
        <p:nvSpPr>
          <p:cNvPr id="17" name="Shape 15"/>
          <p:cNvSpPr/>
          <p:nvPr/>
        </p:nvSpPr>
        <p:spPr>
          <a:xfrm>
            <a:off x="822960" y="4992624"/>
            <a:ext cx="4846320" cy="658368"/>
          </a:xfrm>
          <a:prstGeom prst="roundRect">
            <a:avLst>
              <a:gd name="adj" fmla="val 12500"/>
            </a:avLst>
          </a:prstGeom>
          <a:solidFill>
            <a:srgbClr val="000000"/>
          </a:solidFill>
          <a:ln/>
        </p:spPr>
      </p:sp>
      <p:sp>
        <p:nvSpPr>
          <p:cNvPr id="18" name="Text 16"/>
          <p:cNvSpPr/>
          <p:nvPr/>
        </p:nvSpPr>
        <p:spPr>
          <a:xfrm>
            <a:off x="822960" y="4992624"/>
            <a:ext cx="4846320" cy="658368"/>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Drop the row, clear pendingSync</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in one transaction</a:t>
            </a:r>
            <a:endParaRPr lang="en-US" sz="1350" dirty="0"/>
          </a:p>
        </p:txBody>
      </p:sp>
      <p:sp>
        <p:nvSpPr>
          <p:cNvPr id="19" name="Shape 17"/>
          <p:cNvSpPr/>
          <p:nvPr/>
        </p:nvSpPr>
        <p:spPr>
          <a:xfrm>
            <a:off x="6519672" y="2468880"/>
            <a:ext cx="4846320" cy="658368"/>
          </a:xfrm>
          <a:prstGeom prst="roundRect">
            <a:avLst>
              <a:gd name="adj" fmla="val 12500"/>
            </a:avLst>
          </a:prstGeom>
          <a:solidFill>
            <a:srgbClr val="FFFFFF"/>
          </a:solidFill>
          <a:ln w="12700">
            <a:solidFill>
              <a:srgbClr val="D2D2D7"/>
            </a:solidFill>
            <a:prstDash val="solid"/>
          </a:ln>
        </p:spPr>
      </p:sp>
      <p:sp>
        <p:nvSpPr>
          <p:cNvPr id="20" name="Text 18"/>
          <p:cNvSpPr/>
          <p:nvPr/>
        </p:nvSpPr>
        <p:spPr>
          <a:xfrm>
            <a:off x="6519672" y="2468880"/>
            <a:ext cx="484632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GET /sync?since=…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the last checkpoint we were given</a:t>
            </a:r>
            <a:endParaRPr lang="en-US" sz="1350" dirty="0"/>
          </a:p>
        </p:txBody>
      </p:sp>
      <p:sp>
        <p:nvSpPr>
          <p:cNvPr id="21" name="Shape 19"/>
          <p:cNvSpPr/>
          <p:nvPr/>
        </p:nvSpPr>
        <p:spPr>
          <a:xfrm>
            <a:off x="8942832" y="3127248"/>
            <a:ext cx="0" cy="182880"/>
          </a:xfrm>
          <a:prstGeom prst="line">
            <a:avLst/>
          </a:prstGeom>
          <a:noFill/>
          <a:ln w="15875">
            <a:solidFill>
              <a:srgbClr val="86868B"/>
            </a:solidFill>
            <a:prstDash val="solid"/>
            <a:tailEnd type="triangle"/>
          </a:ln>
        </p:spPr>
      </p:sp>
      <p:sp>
        <p:nvSpPr>
          <p:cNvPr id="22" name="Shape 20"/>
          <p:cNvSpPr/>
          <p:nvPr/>
        </p:nvSpPr>
        <p:spPr>
          <a:xfrm>
            <a:off x="6519672" y="3310128"/>
            <a:ext cx="4846320" cy="658368"/>
          </a:xfrm>
          <a:prstGeom prst="roundRect">
            <a:avLst>
              <a:gd name="adj" fmla="val 16667"/>
            </a:avLst>
          </a:prstGeom>
          <a:solidFill>
            <a:srgbClr val="F5F5F7"/>
          </a:solidFill>
          <a:ln/>
        </p:spPr>
      </p:sp>
      <p:sp>
        <p:nvSpPr>
          <p:cNvPr id="23" name="Text 21"/>
          <p:cNvSpPr/>
          <p:nvPr/>
        </p:nvSpPr>
        <p:spPr>
          <a:xfrm>
            <a:off x="6519672" y="3310128"/>
            <a:ext cx="484632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Server returns a delta</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rows changed after that point, tombstones included</a:t>
            </a:r>
            <a:endParaRPr lang="en-US" sz="1350" dirty="0"/>
          </a:p>
        </p:txBody>
      </p:sp>
      <p:sp>
        <p:nvSpPr>
          <p:cNvPr id="24" name="Shape 22"/>
          <p:cNvSpPr/>
          <p:nvPr/>
        </p:nvSpPr>
        <p:spPr>
          <a:xfrm>
            <a:off x="8942832" y="3968496"/>
            <a:ext cx="0" cy="182880"/>
          </a:xfrm>
          <a:prstGeom prst="line">
            <a:avLst/>
          </a:prstGeom>
          <a:noFill/>
          <a:ln w="15875">
            <a:solidFill>
              <a:srgbClr val="86868B"/>
            </a:solidFill>
            <a:prstDash val="solid"/>
            <a:tailEnd type="triangle"/>
          </a:ln>
        </p:spPr>
      </p:sp>
      <p:sp>
        <p:nvSpPr>
          <p:cNvPr id="25" name="Shape 23"/>
          <p:cNvSpPr/>
          <p:nvPr/>
        </p:nvSpPr>
        <p:spPr>
          <a:xfrm>
            <a:off x="6519672" y="4151376"/>
            <a:ext cx="4846320" cy="658368"/>
          </a:xfrm>
          <a:prstGeom prst="roundRect">
            <a:avLst>
              <a:gd name="adj" fmla="val 12500"/>
            </a:avLst>
          </a:prstGeom>
          <a:solidFill>
            <a:srgbClr val="FFFFFF"/>
          </a:solidFill>
          <a:ln w="12700">
            <a:solidFill>
              <a:srgbClr val="D2D2D7"/>
            </a:solidFill>
            <a:prstDash val="solid"/>
          </a:ln>
        </p:spPr>
      </p:sp>
      <p:sp>
        <p:nvSpPr>
          <p:cNvPr id="26" name="Text 24"/>
          <p:cNvSpPr/>
          <p:nvPr/>
        </p:nvSpPr>
        <p:spPr>
          <a:xfrm>
            <a:off x="6519672" y="4151376"/>
            <a:ext cx="484632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Upsert, or resolve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conflict only if pendingSync is set</a:t>
            </a:r>
            <a:endParaRPr lang="en-US" sz="1350" dirty="0"/>
          </a:p>
        </p:txBody>
      </p:sp>
      <p:sp>
        <p:nvSpPr>
          <p:cNvPr id="27" name="Shape 25"/>
          <p:cNvSpPr/>
          <p:nvPr/>
        </p:nvSpPr>
        <p:spPr>
          <a:xfrm>
            <a:off x="8942832" y="4809744"/>
            <a:ext cx="0" cy="182880"/>
          </a:xfrm>
          <a:prstGeom prst="line">
            <a:avLst/>
          </a:prstGeom>
          <a:noFill/>
          <a:ln w="15875">
            <a:solidFill>
              <a:srgbClr val="86868B"/>
            </a:solidFill>
            <a:prstDash val="solid"/>
            <a:tailEnd type="triangle"/>
          </a:ln>
        </p:spPr>
      </p:sp>
      <p:sp>
        <p:nvSpPr>
          <p:cNvPr id="28" name="Shape 26"/>
          <p:cNvSpPr/>
          <p:nvPr/>
        </p:nvSpPr>
        <p:spPr>
          <a:xfrm>
            <a:off x="6519672" y="4992624"/>
            <a:ext cx="4846320" cy="658368"/>
          </a:xfrm>
          <a:prstGeom prst="roundRect">
            <a:avLst>
              <a:gd name="adj" fmla="val 12500"/>
            </a:avLst>
          </a:prstGeom>
          <a:solidFill>
            <a:srgbClr val="000000"/>
          </a:solidFill>
          <a:ln/>
        </p:spPr>
      </p:sp>
      <p:sp>
        <p:nvSpPr>
          <p:cNvPr id="29" name="Text 27"/>
          <p:cNvSpPr/>
          <p:nvPr/>
        </p:nvSpPr>
        <p:spPr>
          <a:xfrm>
            <a:off x="6519672" y="4992624"/>
            <a:ext cx="4846320" cy="658368"/>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Save the new checkpoint</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the server's time, never ours</a:t>
            </a:r>
            <a:endParaRPr lang="en-US" sz="1350" dirty="0"/>
          </a:p>
        </p:txBody>
      </p:sp>
      <p:sp>
        <p:nvSpPr>
          <p:cNvPr id="30" name="Text 28"/>
          <p:cNvSpPr/>
          <p:nvPr/>
        </p:nvSpPr>
        <p:spPr>
          <a:xfrm>
            <a:off x="822960" y="5760720"/>
            <a:ext cx="10543032" cy="411480"/>
          </a:xfrm>
          <a:prstGeom prst="rect">
            <a:avLst/>
          </a:prstGeom>
          <a:noFill/>
          <a:ln/>
        </p:spPr>
        <p:txBody>
          <a:bodyPr wrap="square" lIns="0" tIns="0" rIns="0" bIns="0" rtlCol="0" anchor="t"/>
          <a:lstStyle/>
          <a:p>
            <a:pPr indent="0" marL="0">
              <a:buNone/>
            </a:pPr>
            <a:r>
              <a:rPr lang="en-US" sz="1250" dirty="0">
                <a:solidFill>
                  <a:srgbClr val="86868B"/>
                </a:solidFill>
                <a:latin typeface="Arial" pitchFamily="34" charset="0"/>
                <a:ea typeface="Arial" pitchFamily="34" charset="-122"/>
                <a:cs typeface="Arial" pitchFamily="34" charset="-120"/>
              </a:rPr>
              <a:t>The checkpoint is the whole protocol. Store the timestamp the server reported, not the one your device read. Otherwise clock skew makes you skip rows you never downloaded.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SYNC ENGINE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Draining the outbox</a:t>
            </a:r>
            <a:endParaRPr lang="en-US" sz="3000" dirty="0"/>
          </a:p>
        </p:txBody>
      </p:sp>
      <p:sp>
        <p:nvSpPr>
          <p:cNvPr id="5" name="Shape 3"/>
          <p:cNvSpPr/>
          <p:nvPr/>
        </p:nvSpPr>
        <p:spPr>
          <a:xfrm>
            <a:off x="822960" y="1783080"/>
            <a:ext cx="7040880" cy="4434840"/>
          </a:xfrm>
          <a:prstGeom prst="roundRect">
            <a:avLst>
              <a:gd name="adj" fmla="val 2474"/>
            </a:avLst>
          </a:prstGeom>
          <a:solidFill>
            <a:srgbClr val="F5F5F7"/>
          </a:solidFill>
          <a:ln/>
        </p:spPr>
      </p:sp>
      <p:sp>
        <p:nvSpPr>
          <p:cNvPr id="6" name="Text 4"/>
          <p:cNvSpPr/>
          <p:nvPr/>
        </p:nvSpPr>
        <p:spPr>
          <a:xfrm>
            <a:off x="1234440" y="2103120"/>
            <a:ext cx="6309360" cy="3840480"/>
          </a:xfrm>
          <a:prstGeom prst="rect">
            <a:avLst/>
          </a:prstGeom>
          <a:noFill/>
          <a:ln/>
        </p:spPr>
        <p:txBody>
          <a:bodyPr wrap="square" lIns="0" tIns="0" rIns="0" bIns="0" rtlCol="0" anchor="t"/>
          <a:lstStyle/>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Future&lt;void&gt; drainOutbox()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batch = await (select(outbox)</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..orderBy([(o) =&gt; OrderingTerm.asc(o.queuedAt)])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..limit(50)).get();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for (final item in batch)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try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api.push(item, idempotencyKey: item.id);</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db.transaction(()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(delete(outbox)..where((o) =&gt; o.id.equals(item.id))).go();</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(update(notes)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..where((n) =&gt; n.id.equals(item.entityId)))</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.write(const NotesCompanion(pendingSync: Value(false)));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 on ApiFailure catch (e)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(e.permanent) { await _park(item); continue; }  // 4xx</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break;   // transient: stop, keep the order, try again later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Text 5"/>
          <p:cNvSpPr/>
          <p:nvPr/>
        </p:nvSpPr>
        <p:spPr>
          <a:xfrm>
            <a:off x="8138160" y="1783080"/>
            <a:ext cx="3227832" cy="4480560"/>
          </a:xfrm>
          <a:prstGeom prst="rect">
            <a:avLst/>
          </a:prstGeom>
          <a:noFill/>
          <a:ln/>
        </p:spPr>
        <p:txBody>
          <a:bodyPr wrap="square" lIns="0" tIns="0" rIns="0" bIns="0" rtlCol="0" anchor="t"/>
          <a:lstStyle/>
          <a:p>
            <a:pPr indent="0" marL="0">
              <a:spcAft>
                <a:spcPts val="900"/>
              </a:spcAft>
              <a:buNone/>
            </a:pPr>
            <a:r>
              <a:rPr lang="en-US" sz="1050" b="1" dirty="0">
                <a:solidFill>
                  <a:srgbClr val="1D1D1F"/>
                </a:solidFill>
                <a:latin typeface="Arial" pitchFamily="34" charset="0"/>
                <a:ea typeface="Arial" pitchFamily="34" charset="-122"/>
                <a:cs typeface="Arial" pitchFamily="34" charset="-120"/>
              </a:rPr>
              <a:t>FIFO, and stop on the first transient failure.</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Skipping ahead reorders the user's edits, and the server sees an update for a row it has not been told about yet.</a:t>
            </a:r>
            <a:endParaRPr lang="en-US" sz="1050" dirty="0"/>
          </a:p>
          <a:p>
            <a:pPr indent="0" marL="0">
              <a:spcAft>
                <a:spcPts val="900"/>
              </a:spcAft>
              <a:buNone/>
            </a:pPr>
            <a:r>
              <a:rPr lang="en-US" sz="1050" b="1" dirty="0">
                <a:solidFill>
                  <a:srgbClr val="1D1D1F"/>
                </a:solidFill>
                <a:latin typeface="Arial" pitchFamily="34" charset="0"/>
                <a:ea typeface="Arial" pitchFamily="34" charset="-122"/>
                <a:cs typeface="Arial" pitchFamily="34" charset="-120"/>
              </a:rPr>
              <a:t>The idempotency key is the outbox row id.</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A reply lost on the way back means you push the same intent twice. The server must recognize it and do nothing.  → Lecture 5</a:t>
            </a:r>
            <a:endParaRPr lang="en-US" sz="1050" dirty="0"/>
          </a:p>
          <a:p>
            <a:pPr indent="0" marL="0">
              <a:spcAft>
                <a:spcPts val="900"/>
              </a:spcAft>
              <a:buNone/>
            </a:pPr>
            <a:r>
              <a:rPr lang="en-US" sz="1050" b="1" dirty="0">
                <a:solidFill>
                  <a:srgbClr val="1D1D1F"/>
                </a:solidFill>
                <a:latin typeface="Arial" pitchFamily="34" charset="0"/>
                <a:ea typeface="Arial" pitchFamily="34" charset="-122"/>
                <a:cs typeface="Arial" pitchFamily="34" charset="-120"/>
              </a:rPr>
              <a:t>Park poison messages.</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A permanent 4xx will fail identically forever. Move it aside, surface it, and let the rest of the queue through.</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SYNC ENGINE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Delta sync: only what changed</a:t>
            </a:r>
            <a:endParaRPr lang="en-US" sz="3000" dirty="0"/>
          </a:p>
        </p:txBody>
      </p:sp>
      <p:sp>
        <p:nvSpPr>
          <p:cNvPr id="5" name="Shape 3"/>
          <p:cNvSpPr/>
          <p:nvPr/>
        </p:nvSpPr>
        <p:spPr>
          <a:xfrm>
            <a:off x="822960" y="1783080"/>
            <a:ext cx="7040880" cy="4434840"/>
          </a:xfrm>
          <a:prstGeom prst="roundRect">
            <a:avLst>
              <a:gd name="adj" fmla="val 2474"/>
            </a:avLst>
          </a:prstGeom>
          <a:solidFill>
            <a:srgbClr val="F5F5F7"/>
          </a:solidFill>
          <a:ln/>
        </p:spPr>
      </p:sp>
      <p:sp>
        <p:nvSpPr>
          <p:cNvPr id="6" name="Text 4"/>
          <p:cNvSpPr/>
          <p:nvPr/>
        </p:nvSpPr>
        <p:spPr>
          <a:xfrm>
            <a:off x="1234440" y="2103120"/>
            <a:ext cx="6309360" cy="3840480"/>
          </a:xfrm>
          <a:prstGeom prst="rect">
            <a:avLst/>
          </a:prstGeom>
          <a:noFill/>
          <a:ln/>
        </p:spPr>
        <p:txBody>
          <a:bodyPr wrap="square" lIns="0" tIns="0" rIns="0" bIns="0" rtlCol="0" anchor="t"/>
          <a:lstStyle/>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Future&lt;void&gt; pull()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var cursor = await meta.checkpoint();   // the server's clock</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while (true)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page = await api.get('/sync', {'since': cursor});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db.transaction(()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for (final r in page.rows)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local = await notesDao.findById(r.id);</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(local != null &amp;&amp; local.pendingSync)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notesDao.put(resolve(local, r));  // slide 24</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 else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notesDao.put(fromServer(r));      // incl. deletedAt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meta.setCheckpoint(page.serverCursor);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(!page.hasMore) break;</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cursor = page.serverCursor;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Shape 5"/>
          <p:cNvSpPr/>
          <p:nvPr/>
        </p:nvSpPr>
        <p:spPr>
          <a:xfrm>
            <a:off x="8138160" y="1783080"/>
            <a:ext cx="3227832" cy="2286000"/>
          </a:xfrm>
          <a:prstGeom prst="roundRect">
            <a:avLst>
              <a:gd name="adj" fmla="val 4800"/>
            </a:avLst>
          </a:prstGeom>
          <a:solidFill>
            <a:srgbClr val="F5F5F7"/>
          </a:solidFill>
          <a:ln/>
        </p:spPr>
      </p:sp>
      <p:sp>
        <p:nvSpPr>
          <p:cNvPr id="8" name="Text 6"/>
          <p:cNvSpPr/>
          <p:nvPr/>
        </p:nvSpPr>
        <p:spPr>
          <a:xfrm>
            <a:off x="8549640" y="2103120"/>
            <a:ext cx="2496312" cy="1691640"/>
          </a:xfrm>
          <a:prstGeom prst="rect">
            <a:avLst/>
          </a:prstGeom>
          <a:noFill/>
          <a:ln/>
        </p:spPr>
        <p:txBody>
          <a:bodyPr wrap="square" lIns="0" tIns="0" rIns="0" bIns="0" rtlCol="0" anchor="t"/>
          <a:lstStyle/>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GET /sync?since=2026-08-01T09:14:22Z</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"serverCursor": "...:31Z",</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"hasMore": false,</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"rows":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{"id":"a1","title":"Milk",</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"deletedAt":null,"version":7},</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{"id":"b2","deletedAt":"..."}</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a:t>
            </a:r>
            <a:endParaRPr lang="en-US" sz="800" dirty="0"/>
          </a:p>
        </p:txBody>
      </p:sp>
      <p:sp>
        <p:nvSpPr>
          <p:cNvPr id="9" name="Text 7"/>
          <p:cNvSpPr/>
          <p:nvPr/>
        </p:nvSpPr>
        <p:spPr>
          <a:xfrm>
            <a:off x="8138160" y="4251960"/>
            <a:ext cx="3227832" cy="2011680"/>
          </a:xfrm>
          <a:prstGeom prst="rect">
            <a:avLst/>
          </a:prstGeom>
          <a:noFill/>
          <a:ln/>
        </p:spPr>
        <p:txBody>
          <a:bodyPr wrap="square" lIns="0" tIns="0" rIns="0" bIns="0" rtlCol="0" anchor="t"/>
          <a:lstStyle/>
          <a:p>
            <a:pPr indent="0" marL="0">
              <a:spcAft>
                <a:spcPts val="900"/>
              </a:spcAft>
              <a:buNone/>
            </a:pPr>
            <a:r>
              <a:rPr lang="en-US" sz="1050" dirty="0">
                <a:solidFill>
                  <a:srgbClr val="1D1D1F"/>
                </a:solidFill>
                <a:latin typeface="Arial" pitchFamily="34" charset="0"/>
                <a:ea typeface="Arial" pitchFamily="34" charset="-122"/>
                <a:cs typeface="Arial" pitchFamily="34" charset="-120"/>
              </a:rPr>
              <a:t>Deleted rows come down as rows. A row that is simply absent means “not changed”, never “gone”.</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Page it. A device offline for a fortnight will not get its backlog in one response.</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Whole transaction per page, so an interrupted sync leaves a consistent database and a usable checkpoint.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SYNC ENGINE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When to wake the radio</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1920240"/>
          <a:ext cx="10543032" cy="914400"/>
        </p:xfrm>
        <a:graphic>
          <a:graphicData uri="http://schemas.openxmlformats.org/drawingml/2006/table">
            <a:tbl>
              <a:tblPr/>
              <a:tblGrid>
                <a:gridCol w="1600200"/>
                <a:gridCol w="2235708"/>
                <a:gridCol w="2235708"/>
                <a:gridCol w="2235708"/>
                <a:gridCol w="2235708"/>
              </a:tblGrid>
              <a:tr h="438912">
                <a:tc>
                  <a:txBody>
                    <a:bodyPr/>
                    <a:lstStyle/>
                    <a:p>
                      <a:pPr indent="0" marL="0">
                        <a:buNone/>
                      </a:pP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How it works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Latency</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Radio cost</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Use it for</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65836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Push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server holds a socket open, or sends a data push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real time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high: keep-alives, constant wake-ups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chat, live tracking, shared editing</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65836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Poll</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a timer fires a request whether or not anything changed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half the interval</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high and wasted: most calls return nothing</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legacy backends with no push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65836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Delta on trigger</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sync when something happened: resume, reconnect, pull-to-refresh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seconds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low: one exchange per real event</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almost every app, including yours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65836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Nudge + delta</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a silent push says “there is news”, the client then pulls a delta</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near real time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low: the payload rides an existing channel</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feeds, inboxes, shared lists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bl>
          </a:graphicData>
        </a:graphic>
      </p:graphicFrame>
      <p:sp>
        <p:nvSpPr>
          <p:cNvPr id="6" name="Shape 3"/>
          <p:cNvSpPr/>
          <p:nvPr/>
        </p:nvSpPr>
        <p:spPr>
          <a:xfrm>
            <a:off x="822960" y="5120640"/>
            <a:ext cx="10543032" cy="0"/>
          </a:xfrm>
          <a:prstGeom prst="line">
            <a:avLst/>
          </a:prstGeom>
          <a:noFill/>
          <a:ln w="9525">
            <a:solidFill>
              <a:srgbClr val="D2D2D7"/>
            </a:solidFill>
            <a:prstDash val="solid"/>
          </a:ln>
        </p:spPr>
      </p:sp>
      <p:sp>
        <p:nvSpPr>
          <p:cNvPr id="7" name="Text 4"/>
          <p:cNvSpPr/>
          <p:nvPr/>
        </p:nvSpPr>
        <p:spPr>
          <a:xfrm>
            <a:off x="822960" y="53492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Sync on events, not on a timer.</a:t>
            </a:r>
            <a:pPr indent="0" marL="0">
              <a:buNone/>
            </a:pPr>
            <a:r>
              <a:rPr lang="en-US" sz="1400" dirty="0">
                <a:solidFill>
                  <a:srgbClr val="86868B"/>
                </a:solidFill>
                <a:latin typeface="Arial" pitchFamily="34" charset="0"/>
                <a:ea typeface="Arial" pitchFamily="34" charset="-122"/>
                <a:cs typeface="Arial" pitchFamily="34" charset="-120"/>
              </a:rPr>
              <a:t> App resumed, connectivity returned, user pulled down, or the server said something changed. A fixed interval spends battery on requests that return nothing.  → Lecture 8, WebSockets for the push channel  ·  → Lecture 11, what a radio wake-up actually costs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SYNC ENGINE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Background sync, and what it gives you</a:t>
            </a:r>
            <a:endParaRPr lang="en-US" sz="3000" dirty="0"/>
          </a:p>
        </p:txBody>
      </p:sp>
      <p:sp>
        <p:nvSpPr>
          <p:cNvPr id="5" name="Text 3"/>
          <p:cNvSpPr/>
          <p:nvPr/>
        </p:nvSpPr>
        <p:spPr>
          <a:xfrm>
            <a:off x="822960" y="1783080"/>
            <a:ext cx="5943600" cy="4023360"/>
          </a:xfrm>
          <a:prstGeom prst="rect">
            <a:avLst/>
          </a:prstGeom>
          <a:noFill/>
          <a:ln/>
        </p:spPr>
        <p:txBody>
          <a:bodyPr wrap="square" lIns="0" tIns="0" rIns="0" bIns="0" rtlCol="0" anchor="t"/>
          <a:lstStyle/>
          <a:p>
            <a:pPr indent="0" marL="0">
              <a:spcAft>
                <a:spcPts val="900"/>
              </a:spcAft>
              <a:buNone/>
            </a:pPr>
            <a:r>
              <a:rPr lang="en-US" sz="1200" b="1" dirty="0">
                <a:solidFill>
                  <a:srgbClr val="1D1D1F"/>
                </a:solidFill>
                <a:latin typeface="Arial" pitchFamily="34" charset="0"/>
                <a:ea typeface="Arial" pitchFamily="34" charset="-122"/>
                <a:cs typeface="Arial" pitchFamily="34" charset="-120"/>
              </a:rPr>
              <a:t>Android: WorkManager.</a:t>
            </a:r>
            <a:endParaRPr lang="en-US" sz="1200" dirty="0"/>
          </a:p>
          <a:p>
            <a:pPr indent="0" marL="0">
              <a:spcAft>
                <a:spcPts val="900"/>
              </a:spcAft>
              <a:buNone/>
            </a:pPr>
            <a:r>
              <a:rPr lang="en-US" sz="1200" dirty="0">
                <a:solidFill>
                  <a:srgbClr val="1D1D1F"/>
                </a:solidFill>
                <a:latin typeface="Arial" pitchFamily="34" charset="0"/>
                <a:ea typeface="Arial" pitchFamily="34" charset="-122"/>
                <a:cs typeface="Arial" pitchFamily="34" charset="-120"/>
              </a:rPr>
              <a:t>Periodic work with a 15-minute floor, constraints you can declare (network connected, charging, battery not low), and survival across reboots. Doze still batches it, so 15 minutes means “no sooner than”.</a:t>
            </a:r>
            <a:endParaRPr lang="en-US" sz="1200" dirty="0"/>
          </a:p>
          <a:p>
            <a:pPr indent="0" marL="0">
              <a:spcAft>
                <a:spcPts val="900"/>
              </a:spcAft>
              <a:buNone/>
            </a:pPr>
            <a:r>
              <a:rPr lang="en-US" sz="1200" b="1" dirty="0">
                <a:solidFill>
                  <a:srgbClr val="1D1D1F"/>
                </a:solidFill>
                <a:latin typeface="Arial" pitchFamily="34" charset="0"/>
                <a:ea typeface="Arial" pitchFamily="34" charset="-122"/>
                <a:cs typeface="Arial" pitchFamily="34" charset="-120"/>
              </a:rPr>
              <a:t>iOS: BGTaskScheduler.</a:t>
            </a:r>
            <a:endParaRPr lang="en-US" sz="1200" dirty="0"/>
          </a:p>
          <a:p>
            <a:pPr indent="0" marL="0">
              <a:spcAft>
                <a:spcPts val="900"/>
              </a:spcAft>
              <a:buNone/>
            </a:pPr>
            <a:r>
              <a:rPr lang="en-US" sz="1200" dirty="0">
                <a:solidFill>
                  <a:srgbClr val="1D1D1F"/>
                </a:solidFill>
                <a:latin typeface="Arial" pitchFamily="34" charset="0"/>
                <a:ea typeface="Arial" pitchFamily="34" charset="-122"/>
                <a:cs typeface="Arial" pitchFamily="34" charset="-120"/>
              </a:rPr>
              <a:t>You register an identifier and submit a request. The system decides, based on how often the user opens your app, whether you run at all. Execution is never guaranteed and the window is short.</a:t>
            </a:r>
            <a:endParaRPr lang="en-US" sz="1200" dirty="0"/>
          </a:p>
          <a:p>
            <a:pPr indent="0" marL="0">
              <a:spcAft>
                <a:spcPts val="900"/>
              </a:spcAft>
              <a:buNone/>
            </a:pPr>
            <a:r>
              <a:rPr lang="en-US" sz="1200" b="1" dirty="0">
                <a:solidFill>
                  <a:srgbClr val="1D1D1F"/>
                </a:solidFill>
                <a:latin typeface="Arial" pitchFamily="34" charset="0"/>
                <a:ea typeface="Arial" pitchFamily="34" charset="-122"/>
                <a:cs typeface="Arial" pitchFamily="34" charset="-120"/>
              </a:rPr>
              <a:t>So do not depend on it.</a:t>
            </a:r>
            <a:endParaRPr lang="en-US" sz="1200" dirty="0"/>
          </a:p>
          <a:p>
            <a:pPr indent="0" marL="0">
              <a:spcAft>
                <a:spcPts val="900"/>
              </a:spcAft>
              <a:buNone/>
            </a:pPr>
            <a:r>
              <a:rPr lang="en-US" sz="1200" dirty="0">
                <a:solidFill>
                  <a:srgbClr val="1D1D1F"/>
                </a:solidFill>
                <a:latin typeface="Arial" pitchFamily="34" charset="0"/>
                <a:ea typeface="Arial" pitchFamily="34" charset="-122"/>
                <a:cs typeface="Arial" pitchFamily="34" charset="-120"/>
              </a:rPr>
              <a:t>Treat background sync as an optimization. The syncs you can rely on are the ones you trigger yourself, in the foreground.</a:t>
            </a:r>
            <a:endParaRPr lang="en-US" sz="1200" dirty="0"/>
          </a:p>
        </p:txBody>
      </p:sp>
      <p:sp>
        <p:nvSpPr>
          <p:cNvPr id="6" name="Shape 4"/>
          <p:cNvSpPr/>
          <p:nvPr/>
        </p:nvSpPr>
        <p:spPr>
          <a:xfrm>
            <a:off x="7040880" y="1783080"/>
            <a:ext cx="4325112" cy="3703320"/>
          </a:xfrm>
          <a:prstGeom prst="roundRect">
            <a:avLst>
              <a:gd name="adj" fmla="val 2963"/>
            </a:avLst>
          </a:prstGeom>
          <a:solidFill>
            <a:srgbClr val="F5F5F7"/>
          </a:solidFill>
          <a:ln/>
        </p:spPr>
      </p:sp>
      <p:sp>
        <p:nvSpPr>
          <p:cNvPr id="7" name="Text 5"/>
          <p:cNvSpPr/>
          <p:nvPr/>
        </p:nvSpPr>
        <p:spPr>
          <a:xfrm>
            <a:off x="7452360" y="2103120"/>
            <a:ext cx="3593592" cy="3108960"/>
          </a:xfrm>
          <a:prstGeom prst="rect">
            <a:avLst/>
          </a:prstGeom>
          <a:noFill/>
          <a:ln/>
        </p:spPr>
        <p:txBody>
          <a:bodyPr wrap="square" lIns="0" tIns="0" rIns="0" bIns="0" rtlCol="0" anchor="t"/>
          <a:lstStyle/>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the triggers that actually fire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void didChangeAppLifecycleState(AppLifecycleState s)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(s == AppLifecycleState.resumed) sync.now();</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Connectivity().onConnectivityChanged.listen((r)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(!r.contains(ConnectivityResult.none)) sync.now();</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best effort, on top of those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Workmanager().registerPeriodicTask(</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'sync', 'sync',</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frequency: const Duration(minutes: 15),</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constraints: Constraints(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networkType: NetworkType.connected),</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8" name="Shape 6"/>
          <p:cNvSpPr/>
          <p:nvPr/>
        </p:nvSpPr>
        <p:spPr>
          <a:xfrm>
            <a:off x="822960" y="5623560"/>
            <a:ext cx="10543032" cy="0"/>
          </a:xfrm>
          <a:prstGeom prst="line">
            <a:avLst/>
          </a:prstGeom>
          <a:noFill/>
          <a:ln w="9525">
            <a:solidFill>
              <a:srgbClr val="D2D2D7"/>
            </a:solidFill>
            <a:prstDash val="solid"/>
          </a:ln>
        </p:spPr>
      </p:sp>
      <p:sp>
        <p:nvSpPr>
          <p:cNvPr id="9" name="Text 7"/>
          <p:cNvSpPr/>
          <p:nvPr/>
        </p:nvSpPr>
        <p:spPr>
          <a:xfrm>
            <a:off x="822960" y="58521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Foreground triggers are the contract; background work is a bonus.</a:t>
            </a:r>
            <a:pPr indent="0" marL="0">
              <a:buNone/>
            </a:pPr>
            <a:r>
              <a:rPr lang="en-US" sz="1400" dirty="0">
                <a:solidFill>
                  <a:srgbClr val="86868B"/>
                </a:solidFill>
                <a:latin typeface="Arial" pitchFamily="34" charset="0"/>
                <a:ea typeface="Arial" pitchFamily="34" charset="-122"/>
                <a:cs typeface="Arial" pitchFamily="34" charset="-120"/>
              </a:rPr>
              <a:t> → Lecture 11: every wake-up costs a radio ramp-up you pay for in battery.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CONFLICTS</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Two devices editing the same row</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Clocks, resolution strategies, and data types that cannot conflict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CONFLICTS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Where conflicts actually come from</a:t>
            </a:r>
            <a:endParaRPr lang="en-US" sz="3000" dirty="0"/>
          </a:p>
        </p:txBody>
      </p:sp>
      <p:sp>
        <p:nvSpPr>
          <p:cNvPr id="5" name="Text 3"/>
          <p:cNvSpPr/>
          <p:nvPr/>
        </p:nvSpPr>
        <p:spPr>
          <a:xfrm>
            <a:off x="822960" y="1783080"/>
            <a:ext cx="6126480" cy="3200400"/>
          </a:xfrm>
          <a:prstGeom prst="rect">
            <a:avLst/>
          </a:prstGeom>
          <a:noFill/>
          <a:ln/>
        </p:spPr>
        <p:txBody>
          <a:bodyPr wrap="square" lIns="0" tIns="0" rIns="0" bIns="0" rtlCol="0" anchor="t"/>
          <a:lstStyle/>
          <a:p>
            <a:pPr indent="0" marL="0">
              <a:spcAft>
                <a:spcPts val="1300"/>
              </a:spcAft>
              <a:buNone/>
            </a:pPr>
            <a:r>
              <a:rPr lang="en-US" sz="1300" dirty="0">
                <a:solidFill>
                  <a:srgbClr val="1D1D1F"/>
                </a:solidFill>
                <a:latin typeface="Arial" pitchFamily="34" charset="0"/>
                <a:ea typeface="Arial" pitchFamily="34" charset="-122"/>
                <a:cs typeface="Arial" pitchFamily="34" charset="-120"/>
              </a:rPr>
              <a:t>A conflict is not a bug and not a race in your code. It is two edits to the same row that were made without either side being able to see the other.</a:t>
            </a:r>
            <a:endParaRPr lang="en-US" sz="1300" dirty="0"/>
          </a:p>
          <a:p>
            <a:pPr indent="0" marL="0">
              <a:spcAft>
                <a:spcPts val="1300"/>
              </a:spcAft>
              <a:buNone/>
            </a:pPr>
            <a:r>
              <a:rPr lang="en-US" sz="1300" dirty="0">
                <a:solidFill>
                  <a:srgbClr val="1D1D1F"/>
                </a:solidFill>
                <a:latin typeface="Arial" pitchFamily="34" charset="0"/>
                <a:ea typeface="Arial" pitchFamily="34" charset="-122"/>
                <a:cs typeface="Arial" pitchFamily="34" charset="-120"/>
              </a:rPr>
              <a:t>Offline-first guarantees they will happen: the whole design is “accept the write now, reconcile later”. A single user with a phone and a laptop is enough.</a:t>
            </a:r>
            <a:endParaRPr lang="en-US" sz="1300" dirty="0"/>
          </a:p>
          <a:p>
            <a:pPr indent="0" marL="0">
              <a:spcAft>
                <a:spcPts val="1300"/>
              </a:spcAft>
              <a:buNone/>
            </a:pPr>
            <a:r>
              <a:rPr lang="en-US" sz="1300" dirty="0">
                <a:solidFill>
                  <a:srgbClr val="1D1D1F"/>
                </a:solidFill>
                <a:latin typeface="Arial" pitchFamily="34" charset="0"/>
                <a:ea typeface="Arial" pitchFamily="34" charset="-122"/>
                <a:cs typeface="Arial" pitchFamily="34" charset="-120"/>
              </a:rPr>
              <a:t>The server sees both updates arrive claiming to modify version 7. It has to pick, merge, or reject, and each of those affects someone's work.</a:t>
            </a:r>
            <a:endParaRPr lang="en-US" sz="1300" dirty="0"/>
          </a:p>
          <a:p>
            <a:pPr indent="0" marL="0">
              <a:spcAft>
                <a:spcPts val="1300"/>
              </a:spcAft>
              <a:buNone/>
            </a:pPr>
            <a:r>
              <a:rPr lang="en-US" sz="1300" b="1" dirty="0">
                <a:solidFill>
                  <a:srgbClr val="1D1D1F"/>
                </a:solidFill>
                <a:latin typeface="Arial" pitchFamily="34" charset="0"/>
                <a:ea typeface="Arial" pitchFamily="34" charset="-122"/>
                <a:cs typeface="Arial" pitchFamily="34" charset="-120"/>
              </a:rPr>
              <a:t>You cannot prevent conflicts. You can only decide, in advance and in writing, what happens when one occurs.</a:t>
            </a:r>
            <a:endParaRPr lang="en-US" sz="1300" dirty="0"/>
          </a:p>
        </p:txBody>
      </p:sp>
      <p:sp>
        <p:nvSpPr>
          <p:cNvPr id="6" name="Shape 4"/>
          <p:cNvSpPr/>
          <p:nvPr/>
        </p:nvSpPr>
        <p:spPr>
          <a:xfrm>
            <a:off x="7223760" y="1965960"/>
            <a:ext cx="1920240" cy="960120"/>
          </a:xfrm>
          <a:prstGeom prst="roundRect">
            <a:avLst>
              <a:gd name="adj" fmla="val 8571"/>
            </a:avLst>
          </a:prstGeom>
          <a:solidFill>
            <a:srgbClr val="FFFFFF"/>
          </a:solidFill>
          <a:ln w="12700">
            <a:solidFill>
              <a:srgbClr val="D2D2D7"/>
            </a:solidFill>
            <a:prstDash val="solid"/>
          </a:ln>
        </p:spPr>
      </p:sp>
      <p:sp>
        <p:nvSpPr>
          <p:cNvPr id="7" name="Text 5"/>
          <p:cNvSpPr/>
          <p:nvPr/>
        </p:nvSpPr>
        <p:spPr>
          <a:xfrm>
            <a:off x="7223760" y="1965960"/>
            <a:ext cx="1920240" cy="96012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Phone</a:t>
            </a:r>
            <a:endParaRPr lang="en-US" sz="1300" dirty="0"/>
          </a:p>
          <a:p>
            <a:pPr algn="ctr" indent="0" marL="0">
              <a:buNone/>
            </a:pPr>
            <a:r>
              <a:rPr lang="en-US" sz="1100" dirty="0">
                <a:solidFill>
                  <a:srgbClr val="86868B"/>
                </a:solidFill>
                <a:latin typeface="Arial" pitchFamily="34" charset="0"/>
                <a:ea typeface="Arial" pitchFamily="34" charset="-122"/>
                <a:cs typeface="Arial" pitchFamily="34" charset="-120"/>
              </a:rPr>
              <a:t>title → “Groceries”</a:t>
            </a:r>
            <a:endParaRPr lang="en-US" sz="1300" dirty="0"/>
          </a:p>
        </p:txBody>
      </p:sp>
      <p:sp>
        <p:nvSpPr>
          <p:cNvPr id="8" name="Shape 6"/>
          <p:cNvSpPr/>
          <p:nvPr/>
        </p:nvSpPr>
        <p:spPr>
          <a:xfrm>
            <a:off x="9445752" y="1965960"/>
            <a:ext cx="1920240" cy="960120"/>
          </a:xfrm>
          <a:prstGeom prst="roundRect">
            <a:avLst>
              <a:gd name="adj" fmla="val 8571"/>
            </a:avLst>
          </a:prstGeom>
          <a:solidFill>
            <a:srgbClr val="FFFFFF"/>
          </a:solidFill>
          <a:ln w="12700">
            <a:solidFill>
              <a:srgbClr val="D2D2D7"/>
            </a:solidFill>
            <a:prstDash val="solid"/>
          </a:ln>
        </p:spPr>
      </p:sp>
      <p:sp>
        <p:nvSpPr>
          <p:cNvPr id="9" name="Text 7"/>
          <p:cNvSpPr/>
          <p:nvPr/>
        </p:nvSpPr>
        <p:spPr>
          <a:xfrm>
            <a:off x="9445752" y="1965960"/>
            <a:ext cx="1920240" cy="96012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Laptop</a:t>
            </a:r>
            <a:endParaRPr lang="en-US" sz="1300" dirty="0"/>
          </a:p>
          <a:p>
            <a:pPr algn="ctr" indent="0" marL="0">
              <a:buNone/>
            </a:pPr>
            <a:r>
              <a:rPr lang="en-US" sz="1100" dirty="0">
                <a:solidFill>
                  <a:srgbClr val="86868B"/>
                </a:solidFill>
                <a:latin typeface="Arial" pitchFamily="34" charset="0"/>
                <a:ea typeface="Arial" pitchFamily="34" charset="-122"/>
                <a:cs typeface="Arial" pitchFamily="34" charset="-120"/>
              </a:rPr>
              <a:t>title → “Shopping”</a:t>
            </a:r>
            <a:endParaRPr lang="en-US" sz="1300" dirty="0"/>
          </a:p>
        </p:txBody>
      </p:sp>
      <p:sp>
        <p:nvSpPr>
          <p:cNvPr id="10" name="Shape 8"/>
          <p:cNvSpPr/>
          <p:nvPr/>
        </p:nvSpPr>
        <p:spPr>
          <a:xfrm>
            <a:off x="8183880" y="2926080"/>
            <a:ext cx="0" cy="685800"/>
          </a:xfrm>
          <a:prstGeom prst="line">
            <a:avLst/>
          </a:prstGeom>
          <a:noFill/>
          <a:ln w="15875">
            <a:solidFill>
              <a:srgbClr val="86868B"/>
            </a:solidFill>
            <a:prstDash val="solid"/>
            <a:tailEnd type="triangle"/>
          </a:ln>
        </p:spPr>
      </p:sp>
      <p:sp>
        <p:nvSpPr>
          <p:cNvPr id="11" name="Shape 9"/>
          <p:cNvSpPr/>
          <p:nvPr/>
        </p:nvSpPr>
        <p:spPr>
          <a:xfrm>
            <a:off x="10405872" y="2926080"/>
            <a:ext cx="0" cy="685800"/>
          </a:xfrm>
          <a:prstGeom prst="line">
            <a:avLst/>
          </a:prstGeom>
          <a:noFill/>
          <a:ln w="15875">
            <a:solidFill>
              <a:srgbClr val="86868B"/>
            </a:solidFill>
            <a:prstDash val="solid"/>
            <a:tailEnd type="triangle"/>
          </a:ln>
        </p:spPr>
      </p:sp>
      <p:sp>
        <p:nvSpPr>
          <p:cNvPr id="12" name="Shape 10"/>
          <p:cNvSpPr/>
          <p:nvPr/>
        </p:nvSpPr>
        <p:spPr>
          <a:xfrm>
            <a:off x="7223760" y="3611880"/>
            <a:ext cx="4142232" cy="868680"/>
          </a:xfrm>
          <a:prstGeom prst="roundRect">
            <a:avLst>
              <a:gd name="adj" fmla="val 9474"/>
            </a:avLst>
          </a:prstGeom>
          <a:solidFill>
            <a:srgbClr val="000000"/>
          </a:solidFill>
          <a:ln/>
        </p:spPr>
      </p:sp>
      <p:sp>
        <p:nvSpPr>
          <p:cNvPr id="13" name="Text 11"/>
          <p:cNvSpPr/>
          <p:nvPr/>
        </p:nvSpPr>
        <p:spPr>
          <a:xfrm>
            <a:off x="7223760" y="3611880"/>
            <a:ext cx="4142232"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Server: note #7, version 7</a:t>
            </a:r>
            <a:endParaRPr lang="en-US" sz="1300" dirty="0"/>
          </a:p>
          <a:p>
            <a:pPr algn="ctr" indent="0" marL="0">
              <a:buNone/>
            </a:pPr>
            <a:r>
              <a:rPr lang="en-US" sz="1100" dirty="0">
                <a:solidFill>
                  <a:srgbClr val="A1A1A6"/>
                </a:solidFill>
                <a:latin typeface="Arial" pitchFamily="34" charset="0"/>
                <a:ea typeface="Arial" pitchFamily="34" charset="-122"/>
                <a:cs typeface="Arial" pitchFamily="34" charset="-120"/>
              </a:rPr>
              <a:t>two updates, both claim to follow version 7</a:t>
            </a:r>
            <a:endParaRPr lang="en-US" sz="1300" dirty="0"/>
          </a:p>
        </p:txBody>
      </p:sp>
      <p:sp>
        <p:nvSpPr>
          <p:cNvPr id="14" name="Text 12"/>
          <p:cNvSpPr/>
          <p:nvPr/>
        </p:nvSpPr>
        <p:spPr>
          <a:xfrm>
            <a:off x="7223760" y="4663440"/>
            <a:ext cx="4142232" cy="822960"/>
          </a:xfrm>
          <a:prstGeom prst="rect">
            <a:avLst/>
          </a:prstGeom>
          <a:noFill/>
          <a:ln/>
        </p:spPr>
        <p:txBody>
          <a:bodyPr wrap="square" lIns="0" tIns="0" rIns="0" bIns="0" rtlCol="0" anchor="t"/>
          <a:lstStyle/>
          <a:p>
            <a:pPr indent="0" marL="0">
              <a:buNone/>
            </a:pPr>
            <a:r>
              <a:rPr lang="en-US" sz="1100" dirty="0">
                <a:solidFill>
                  <a:srgbClr val="86868B"/>
                </a:solidFill>
                <a:latin typeface="Arial" pitchFamily="34" charset="0"/>
                <a:ea typeface="Arial" pitchFamily="34" charset="-122"/>
                <a:cs typeface="Arial" pitchFamily="34" charset="-120"/>
              </a:rPr>
              <a:t>Both edits were made while offline. Neither device saw the other. Nothing has been overwritten yet. That decision is still yours to make.</a:t>
            </a:r>
            <a:endParaRPr lang="en-US" sz="1100" dirty="0"/>
          </a:p>
        </p:txBody>
      </p:sp>
      <p:sp>
        <p:nvSpPr>
          <p:cNvPr id="15" name="Shape 13"/>
          <p:cNvSpPr/>
          <p:nvPr/>
        </p:nvSpPr>
        <p:spPr>
          <a:xfrm>
            <a:off x="822960" y="5212080"/>
            <a:ext cx="6126480" cy="0"/>
          </a:xfrm>
          <a:prstGeom prst="line">
            <a:avLst/>
          </a:prstGeom>
          <a:noFill/>
          <a:ln w="9525">
            <a:solidFill>
              <a:srgbClr val="D2D2D7"/>
            </a:solidFill>
            <a:prstDash val="solid"/>
          </a:ln>
        </p:spPr>
      </p:sp>
      <p:sp>
        <p:nvSpPr>
          <p:cNvPr id="16" name="Text 14"/>
          <p:cNvSpPr/>
          <p:nvPr/>
        </p:nvSpPr>
        <p:spPr>
          <a:xfrm>
            <a:off x="822960" y="5440680"/>
            <a:ext cx="612648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Design the resolution rule before you need it.</a:t>
            </a:r>
            <a:pPr indent="0" marL="0">
              <a:buNone/>
            </a:pPr>
            <a:r>
              <a:rPr lang="en-US" sz="1400" dirty="0">
                <a:solidFill>
                  <a:srgbClr val="86868B"/>
                </a:solidFill>
                <a:latin typeface="Arial" pitchFamily="34" charset="0"/>
                <a:ea typeface="Arial" pitchFamily="34" charset="-122"/>
                <a:cs typeface="Arial" pitchFamily="34" charset="-120"/>
              </a:rPr>
              <a:t> Otherwise the rule is whatever your ORM happened to do.</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CONFLICTS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Device clocks cannot order events</a:t>
            </a:r>
            <a:endParaRPr lang="en-US" sz="3000" dirty="0"/>
          </a:p>
        </p:txBody>
      </p:sp>
      <p:sp>
        <p:nvSpPr>
          <p:cNvPr id="5" name="Text 3"/>
          <p:cNvSpPr/>
          <p:nvPr/>
        </p:nvSpPr>
        <p:spPr>
          <a:xfrm>
            <a:off x="822960" y="1737360"/>
            <a:ext cx="10543032" cy="411480"/>
          </a:xfrm>
          <a:prstGeom prst="rect">
            <a:avLst/>
          </a:prstGeom>
          <a:noFill/>
          <a:ln/>
        </p:spPr>
        <p:txBody>
          <a:bodyPr wrap="square" lIns="0" tIns="0" rIns="0" bIns="0" rtlCol="0" anchor="t"/>
          <a:lstStyle/>
          <a:p>
            <a:pPr indent="0" marL="0">
              <a:buNone/>
            </a:pPr>
            <a:r>
              <a:rPr lang="en-US" sz="1350" dirty="0">
                <a:solidFill>
                  <a:srgbClr val="1D1D1F"/>
                </a:solidFill>
                <a:latin typeface="Arial" pitchFamily="34" charset="0"/>
                <a:ea typeface="Arial" pitchFamily="34" charset="-122"/>
                <a:cs typeface="Arial" pitchFamily="34" charset="-120"/>
              </a:rPr>
              <a:t>Every device believes its own clock. NTP drift, a user setting the time by hand, a flat battery, a cheap RTC: a few seconds of disagreement is normal, and minutes is not rare.</a:t>
            </a:r>
            <a:endParaRPr lang="en-US" sz="1350" dirty="0"/>
          </a:p>
        </p:txBody>
      </p:sp>
      <p:sp>
        <p:nvSpPr>
          <p:cNvPr id="6" name="Text 4"/>
          <p:cNvSpPr/>
          <p:nvPr/>
        </p:nvSpPr>
        <p:spPr>
          <a:xfrm>
            <a:off x="822960" y="2651760"/>
            <a:ext cx="1371600" cy="548640"/>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Phone clock</a:t>
            </a:r>
            <a:endParaRPr lang="en-US" sz="1250" dirty="0"/>
          </a:p>
          <a:p>
            <a:pPr indent="0" marL="0">
              <a:buNone/>
            </a:pPr>
            <a:r>
              <a:rPr lang="en-US" sz="1050" dirty="0">
                <a:solidFill>
                  <a:srgbClr val="86868B"/>
                </a:solidFill>
                <a:latin typeface="Arial" pitchFamily="34" charset="0"/>
                <a:ea typeface="Arial" pitchFamily="34" charset="-122"/>
                <a:cs typeface="Arial" pitchFamily="34" charset="-120"/>
              </a:rPr>
              <a:t>12 s ahead</a:t>
            </a:r>
            <a:endParaRPr lang="en-US" sz="1250" dirty="0"/>
          </a:p>
        </p:txBody>
      </p:sp>
      <p:sp>
        <p:nvSpPr>
          <p:cNvPr id="7" name="Shape 5"/>
          <p:cNvSpPr/>
          <p:nvPr/>
        </p:nvSpPr>
        <p:spPr>
          <a:xfrm>
            <a:off x="2377440" y="2926080"/>
            <a:ext cx="8778240" cy="0"/>
          </a:xfrm>
          <a:prstGeom prst="line">
            <a:avLst/>
          </a:prstGeom>
          <a:noFill/>
          <a:ln w="9525">
            <a:solidFill>
              <a:srgbClr val="D2D2D7"/>
            </a:solidFill>
            <a:prstDash val="solid"/>
          </a:ln>
        </p:spPr>
      </p:sp>
      <p:sp>
        <p:nvSpPr>
          <p:cNvPr id="8" name="Shape 6"/>
          <p:cNvSpPr/>
          <p:nvPr/>
        </p:nvSpPr>
        <p:spPr>
          <a:xfrm>
            <a:off x="4343400" y="2852928"/>
            <a:ext cx="146304" cy="146304"/>
          </a:xfrm>
          <a:prstGeom prst="roundRect">
            <a:avLst>
              <a:gd name="adj" fmla="val 56250"/>
            </a:avLst>
          </a:prstGeom>
          <a:solidFill>
            <a:srgbClr val="000000"/>
          </a:solidFill>
          <a:ln/>
        </p:spPr>
      </p:sp>
      <p:sp>
        <p:nvSpPr>
          <p:cNvPr id="9" name="Text 7"/>
          <p:cNvSpPr/>
          <p:nvPr/>
        </p:nvSpPr>
        <p:spPr>
          <a:xfrm>
            <a:off x="3200400" y="2542032"/>
            <a:ext cx="3291840" cy="292608"/>
          </a:xfrm>
          <a:prstGeom prst="rect">
            <a:avLst/>
          </a:prstGeom>
          <a:noFill/>
          <a:ln/>
        </p:spPr>
        <p:txBody>
          <a:bodyPr wrap="square" lIns="0" tIns="0" rIns="0" bIns="0" rtlCol="0" anchor="ctr"/>
          <a:lstStyle/>
          <a:p>
            <a:pPr algn="ctr" indent="0" marL="0">
              <a:buNone/>
            </a:pPr>
            <a:r>
              <a:rPr lang="en-US" sz="1150" dirty="0">
                <a:solidFill>
                  <a:srgbClr val="1D1D1F"/>
                </a:solidFill>
                <a:latin typeface="Arial" pitchFamily="34" charset="0"/>
                <a:ea typeface="Arial" pitchFamily="34" charset="-122"/>
                <a:cs typeface="Arial" pitchFamily="34" charset="-120"/>
              </a:rPr>
              <a:t>writes “Milk”  ·  stamps 09:14:07</a:t>
            </a:r>
            <a:endParaRPr lang="en-US" sz="1150" dirty="0"/>
          </a:p>
        </p:txBody>
      </p:sp>
      <p:sp>
        <p:nvSpPr>
          <p:cNvPr id="10" name="Text 8"/>
          <p:cNvSpPr/>
          <p:nvPr/>
        </p:nvSpPr>
        <p:spPr>
          <a:xfrm>
            <a:off x="822960" y="3703320"/>
            <a:ext cx="1371600" cy="548640"/>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Laptop clock</a:t>
            </a:r>
            <a:endParaRPr lang="en-US" sz="1250" dirty="0"/>
          </a:p>
          <a:p>
            <a:pPr indent="0" marL="0">
              <a:buNone/>
            </a:pPr>
            <a:r>
              <a:rPr lang="en-US" sz="1050" dirty="0">
                <a:solidFill>
                  <a:srgbClr val="86868B"/>
                </a:solidFill>
                <a:latin typeface="Arial" pitchFamily="34" charset="0"/>
                <a:ea typeface="Arial" pitchFamily="34" charset="-122"/>
                <a:cs typeface="Arial" pitchFamily="34" charset="-120"/>
              </a:rPr>
              <a:t>40 s behind</a:t>
            </a:r>
            <a:endParaRPr lang="en-US" sz="1250" dirty="0"/>
          </a:p>
        </p:txBody>
      </p:sp>
      <p:sp>
        <p:nvSpPr>
          <p:cNvPr id="11" name="Shape 9"/>
          <p:cNvSpPr/>
          <p:nvPr/>
        </p:nvSpPr>
        <p:spPr>
          <a:xfrm>
            <a:off x="2377440" y="3977640"/>
            <a:ext cx="8778240" cy="0"/>
          </a:xfrm>
          <a:prstGeom prst="line">
            <a:avLst/>
          </a:prstGeom>
          <a:noFill/>
          <a:ln w="9525">
            <a:solidFill>
              <a:srgbClr val="D2D2D7"/>
            </a:solidFill>
            <a:prstDash val="solid"/>
          </a:ln>
        </p:spPr>
      </p:sp>
      <p:sp>
        <p:nvSpPr>
          <p:cNvPr id="12" name="Shape 10"/>
          <p:cNvSpPr/>
          <p:nvPr/>
        </p:nvSpPr>
        <p:spPr>
          <a:xfrm>
            <a:off x="7726680" y="3904488"/>
            <a:ext cx="146304" cy="146304"/>
          </a:xfrm>
          <a:prstGeom prst="roundRect">
            <a:avLst>
              <a:gd name="adj" fmla="val 56250"/>
            </a:avLst>
          </a:prstGeom>
          <a:solidFill>
            <a:srgbClr val="000000"/>
          </a:solidFill>
          <a:ln/>
        </p:spPr>
      </p:sp>
      <p:sp>
        <p:nvSpPr>
          <p:cNvPr id="13" name="Text 11"/>
          <p:cNvSpPr/>
          <p:nvPr/>
        </p:nvSpPr>
        <p:spPr>
          <a:xfrm>
            <a:off x="6492240" y="3593592"/>
            <a:ext cx="3474720" cy="292608"/>
          </a:xfrm>
          <a:prstGeom prst="rect">
            <a:avLst/>
          </a:prstGeom>
          <a:noFill/>
          <a:ln/>
        </p:spPr>
        <p:txBody>
          <a:bodyPr wrap="square" lIns="0" tIns="0" rIns="0" bIns="0" rtlCol="0" anchor="ctr"/>
          <a:lstStyle/>
          <a:p>
            <a:pPr algn="ctr" indent="0" marL="0">
              <a:buNone/>
            </a:pPr>
            <a:r>
              <a:rPr lang="en-US" sz="1150" dirty="0">
                <a:solidFill>
                  <a:srgbClr val="1D1D1F"/>
                </a:solidFill>
                <a:latin typeface="Arial" pitchFamily="34" charset="0"/>
                <a:ea typeface="Arial" pitchFamily="34" charset="-122"/>
                <a:cs typeface="Arial" pitchFamily="34" charset="-120"/>
              </a:rPr>
              <a:t>writes “Oat milk”  ·  stamps 09:13:55</a:t>
            </a:r>
            <a:endParaRPr lang="en-US" sz="1150" dirty="0"/>
          </a:p>
        </p:txBody>
      </p:sp>
      <p:sp>
        <p:nvSpPr>
          <p:cNvPr id="14" name="Text 12"/>
          <p:cNvSpPr/>
          <p:nvPr/>
        </p:nvSpPr>
        <p:spPr>
          <a:xfrm>
            <a:off x="822960" y="4434840"/>
            <a:ext cx="1371600" cy="320040"/>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Real time</a:t>
            </a:r>
            <a:endParaRPr lang="en-US" sz="1250" dirty="0"/>
          </a:p>
        </p:txBody>
      </p:sp>
      <p:sp>
        <p:nvSpPr>
          <p:cNvPr id="15" name="Shape 13"/>
          <p:cNvSpPr/>
          <p:nvPr/>
        </p:nvSpPr>
        <p:spPr>
          <a:xfrm>
            <a:off x="2377440" y="4590288"/>
            <a:ext cx="8778240" cy="0"/>
          </a:xfrm>
          <a:prstGeom prst="line">
            <a:avLst/>
          </a:prstGeom>
          <a:noFill/>
          <a:ln w="15875">
            <a:solidFill>
              <a:srgbClr val="86868B"/>
            </a:solidFill>
            <a:prstDash val="solid"/>
            <a:tailEnd type="triangle"/>
          </a:ln>
        </p:spPr>
      </p:sp>
      <p:sp>
        <p:nvSpPr>
          <p:cNvPr id="16" name="Text 14"/>
          <p:cNvSpPr/>
          <p:nvPr/>
        </p:nvSpPr>
        <p:spPr>
          <a:xfrm>
            <a:off x="3749040" y="4663440"/>
            <a:ext cx="1371600" cy="274320"/>
          </a:xfrm>
          <a:prstGeom prst="rect">
            <a:avLst/>
          </a:prstGeom>
          <a:noFill/>
          <a:ln/>
        </p:spPr>
        <p:txBody>
          <a:bodyPr wrap="square" lIns="0" tIns="0" rIns="0" bIns="0" rtlCol="0" anchor="ctr"/>
          <a:lstStyle/>
          <a:p>
            <a:pPr algn="ctr" indent="0" marL="0">
              <a:buNone/>
            </a:pPr>
            <a:r>
              <a:rPr lang="en-US" sz="1100" dirty="0">
                <a:solidFill>
                  <a:srgbClr val="86868B"/>
                </a:solidFill>
                <a:latin typeface="Arial" pitchFamily="34" charset="0"/>
                <a:ea typeface="Arial" pitchFamily="34" charset="-122"/>
                <a:cs typeface="Arial" pitchFamily="34" charset="-120"/>
              </a:rPr>
              <a:t>t = 0</a:t>
            </a:r>
            <a:endParaRPr lang="en-US" sz="1100" dirty="0"/>
          </a:p>
        </p:txBody>
      </p:sp>
      <p:sp>
        <p:nvSpPr>
          <p:cNvPr id="17" name="Text 15"/>
          <p:cNvSpPr/>
          <p:nvPr/>
        </p:nvSpPr>
        <p:spPr>
          <a:xfrm>
            <a:off x="7114032" y="4663440"/>
            <a:ext cx="1371600" cy="274320"/>
          </a:xfrm>
          <a:prstGeom prst="rect">
            <a:avLst/>
          </a:prstGeom>
          <a:noFill/>
          <a:ln/>
        </p:spPr>
        <p:txBody>
          <a:bodyPr wrap="square" lIns="0" tIns="0" rIns="0" bIns="0" rtlCol="0" anchor="ctr"/>
          <a:lstStyle/>
          <a:p>
            <a:pPr algn="ctr" indent="0" marL="0">
              <a:buNone/>
            </a:pPr>
            <a:r>
              <a:rPr lang="en-US" sz="1100" dirty="0">
                <a:solidFill>
                  <a:srgbClr val="86868B"/>
                </a:solidFill>
                <a:latin typeface="Arial" pitchFamily="34" charset="0"/>
                <a:ea typeface="Arial" pitchFamily="34" charset="-122"/>
                <a:cs typeface="Arial" pitchFamily="34" charset="-120"/>
              </a:rPr>
              <a:t>t = +40 s</a:t>
            </a:r>
            <a:endParaRPr lang="en-US" sz="1100" dirty="0"/>
          </a:p>
        </p:txBody>
      </p:sp>
      <p:sp>
        <p:nvSpPr>
          <p:cNvPr id="18" name="Shape 16"/>
          <p:cNvSpPr/>
          <p:nvPr/>
        </p:nvSpPr>
        <p:spPr>
          <a:xfrm>
            <a:off x="822960" y="5120640"/>
            <a:ext cx="10543032" cy="0"/>
          </a:xfrm>
          <a:prstGeom prst="line">
            <a:avLst/>
          </a:prstGeom>
          <a:noFill/>
          <a:ln w="9525">
            <a:solidFill>
              <a:srgbClr val="D2D2D7"/>
            </a:solidFill>
            <a:prstDash val="solid"/>
          </a:ln>
        </p:spPr>
      </p:sp>
      <p:sp>
        <p:nvSpPr>
          <p:cNvPr id="19" name="Text 17"/>
          <p:cNvSpPr/>
          <p:nvPr/>
        </p:nvSpPr>
        <p:spPr>
          <a:xfrm>
            <a:off x="822960" y="53492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The later write carries the earlier timestamp.</a:t>
            </a:r>
            <a:pPr indent="0" marL="0">
              <a:buNone/>
            </a:pPr>
            <a:r>
              <a:rPr lang="en-US" sz="1400" dirty="0">
                <a:solidFill>
                  <a:srgbClr val="86868B"/>
                </a:solidFill>
                <a:latin typeface="Arial" pitchFamily="34" charset="0"/>
                <a:ea typeface="Arial" pitchFamily="34" charset="-122"/>
                <a:cs typeface="Arial" pitchFamily="34" charset="-120"/>
              </a:rPr>
              <a:t> Last-write-wins compares 09:14:07 with 09:13:55 and keeps “Milk”. The user's newest edit is discarded with no error, no log and no undo. That happens whenever two clocks disagree by more than the gap between two edits.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CONFLICTS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Logical clocks: order without a clock</a:t>
            </a:r>
            <a:endParaRPr lang="en-US" sz="3000" dirty="0"/>
          </a:p>
        </p:txBody>
      </p:sp>
      <p:sp>
        <p:nvSpPr>
          <p:cNvPr id="5" name="Shape 3"/>
          <p:cNvSpPr/>
          <p:nvPr/>
        </p:nvSpPr>
        <p:spPr>
          <a:xfrm>
            <a:off x="822960" y="1783080"/>
            <a:ext cx="6858000" cy="4434840"/>
          </a:xfrm>
          <a:prstGeom prst="roundRect">
            <a:avLst>
              <a:gd name="adj" fmla="val 2474"/>
            </a:avLst>
          </a:prstGeom>
          <a:solidFill>
            <a:srgbClr val="F5F5F7"/>
          </a:solidFill>
          <a:ln/>
        </p:spPr>
      </p:sp>
      <p:sp>
        <p:nvSpPr>
          <p:cNvPr id="6" name="Text 4"/>
          <p:cNvSpPr/>
          <p:nvPr/>
        </p:nvSpPr>
        <p:spPr>
          <a:xfrm>
            <a:off x="1234440" y="2103120"/>
            <a:ext cx="6126480" cy="3840480"/>
          </a:xfrm>
          <a:prstGeom prst="rect">
            <a:avLst/>
          </a:prstGeom>
          <a:noFill/>
          <a:ln/>
        </p:spPr>
        <p:txBody>
          <a:bodyPr wrap="square" lIns="0" tIns="0" rIns="0" bIns="0" rtlCol="0" anchor="t"/>
          <a:lstStyle/>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Hybrid Logical Clock: readable time, trustworthy order.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class Hlc implements Comparable&lt;Hlc&gt;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int wallMs;    // milliseconds since epoch</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int counter;   // ties inside the same millisecond</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String node;   // replica id, deterministic tiebreak</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Hlc tick(int nowMs) =&gt; nowMs &gt; wallMs      // a local event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 Hlc(nowMs, 0, node)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 Hlc(wallMs, counter + 1, node);</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a timestamp arrived from another replica</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Hlc receive(Hlc r, int nowMs)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w = [nowMs, wallMs, r.wallMs].reduce(max);</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(w == wallMs &amp;&amp; w == r.wallMs)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return Hlc(w, max(counter, r.counter) + 1, node);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(w == wallMs)   return Hlc(w, counter + 1, node);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(w == r.wallMs) return Hlc(w, r.counter + 1, node);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return Hlc(w, 0, node);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Text 5"/>
          <p:cNvSpPr/>
          <p:nvPr/>
        </p:nvSpPr>
        <p:spPr>
          <a:xfrm>
            <a:off x="7955280" y="1783080"/>
            <a:ext cx="3410712" cy="4480560"/>
          </a:xfrm>
          <a:prstGeom prst="rect">
            <a:avLst/>
          </a:prstGeom>
          <a:noFill/>
          <a:ln/>
        </p:spPr>
        <p:txBody>
          <a:bodyPr wrap="square" lIns="0" tIns="0" rIns="0" bIns="0" rtlCol="0" anchor="t"/>
          <a:lstStyle/>
          <a:p>
            <a:pPr indent="0" marL="0">
              <a:spcAft>
                <a:spcPts val="800"/>
              </a:spcAft>
              <a:buNone/>
            </a:pPr>
            <a:r>
              <a:rPr lang="en-US" sz="1050" b="1" dirty="0">
                <a:solidFill>
                  <a:srgbClr val="1D1D1F"/>
                </a:solidFill>
                <a:latin typeface="Arial" pitchFamily="34" charset="0"/>
                <a:ea typeface="Arial" pitchFamily="34" charset="-122"/>
                <a:cs typeface="Arial" pitchFamily="34" charset="-120"/>
              </a:rPr>
              <a:t>Lamport clock: a counter, not a time.</a:t>
            </a:r>
            <a:endParaRPr lang="en-US" sz="1050" dirty="0"/>
          </a:p>
          <a:p>
            <a:pPr indent="0" marL="0">
              <a:spcAft>
                <a:spcPts val="800"/>
              </a:spcAft>
              <a:buNone/>
            </a:pPr>
            <a:r>
              <a:rPr lang="en-US" sz="1050" dirty="0">
                <a:solidFill>
                  <a:srgbClr val="1D1D1F"/>
                </a:solidFill>
                <a:latin typeface="Arial" pitchFamily="34" charset="0"/>
                <a:ea typeface="Arial" pitchFamily="34" charset="-122"/>
                <a:cs typeface="Arial" pitchFamily="34" charset="-120"/>
              </a:rPr>
              <a:t>Local event: L = L + 1. Send: attach L. Receive: L = max(L, L received) + 1.</a:t>
            </a:r>
            <a:endParaRPr lang="en-US" sz="1050" dirty="0"/>
          </a:p>
          <a:p>
            <a:pPr indent="0" marL="0">
              <a:spcAft>
                <a:spcPts val="800"/>
              </a:spcAft>
              <a:buNone/>
            </a:pPr>
            <a:r>
              <a:rPr lang="en-US" sz="1050" dirty="0">
                <a:solidFill>
                  <a:srgbClr val="1D1D1F"/>
                </a:solidFill>
                <a:latin typeface="Arial" pitchFamily="34" charset="0"/>
                <a:ea typeface="Arial" pitchFamily="34" charset="-122"/>
                <a:cs typeface="Arial" pitchFamily="34" charset="-120"/>
              </a:rPr>
              <a:t>Guarantee: if a caused b, then L(a) is less than L(b). The converse is false: a smaller counter does not prove causality, and may just mean the two events were concurrent.</a:t>
            </a:r>
            <a:endParaRPr lang="en-US" sz="1050" dirty="0"/>
          </a:p>
          <a:p>
            <a:pPr indent="0" marL="0">
              <a:spcAft>
                <a:spcPts val="800"/>
              </a:spcAft>
              <a:buNone/>
            </a:pPr>
            <a:r>
              <a:rPr lang="en-US" sz="1050" b="1" dirty="0">
                <a:solidFill>
                  <a:srgbClr val="1D1D1F"/>
                </a:solidFill>
                <a:latin typeface="Arial" pitchFamily="34" charset="0"/>
                <a:ea typeface="Arial" pitchFamily="34" charset="-122"/>
                <a:cs typeface="Arial" pitchFamily="34" charset="-120"/>
              </a:rPr>
              <a:t>Vector clock: one counter per replica.</a:t>
            </a:r>
            <a:endParaRPr lang="en-US" sz="1050" dirty="0"/>
          </a:p>
          <a:p>
            <a:pPr indent="0" marL="0">
              <a:spcAft>
                <a:spcPts val="800"/>
              </a:spcAft>
              <a:buNone/>
            </a:pPr>
            <a:r>
              <a:rPr lang="en-US" sz="1050" dirty="0">
                <a:solidFill>
                  <a:srgbClr val="1D1D1F"/>
                </a:solidFill>
                <a:latin typeface="Arial" pitchFamily="34" charset="0"/>
                <a:ea typeface="Arial" pitchFamily="34" charset="-122"/>
                <a:cs typeface="Arial" pitchFamily="34" charset="-120"/>
              </a:rPr>
              <a:t>Can actually detect concurrency, at the cost of state that grows with the number of devices.</a:t>
            </a:r>
            <a:endParaRPr lang="en-US" sz="1050" dirty="0"/>
          </a:p>
          <a:p>
            <a:pPr indent="0" marL="0">
              <a:spcAft>
                <a:spcPts val="800"/>
              </a:spcAft>
              <a:buNone/>
            </a:pPr>
            <a:r>
              <a:rPr lang="en-US" sz="1050" b="1" dirty="0">
                <a:solidFill>
                  <a:srgbClr val="1D1D1F"/>
                </a:solidFill>
                <a:latin typeface="Arial" pitchFamily="34" charset="0"/>
                <a:ea typeface="Arial" pitchFamily="34" charset="-122"/>
                <a:cs typeface="Arial" pitchFamily="34" charset="-120"/>
              </a:rPr>
              <a:t>HLC: the practical compromise.</a:t>
            </a:r>
            <a:endParaRPr lang="en-US" sz="1050" dirty="0"/>
          </a:p>
          <a:p>
            <a:pPr indent="0" marL="0">
              <a:spcAft>
                <a:spcPts val="800"/>
              </a:spcAft>
              <a:buNone/>
            </a:pPr>
            <a:r>
              <a:rPr lang="en-US" sz="1050" dirty="0">
                <a:solidFill>
                  <a:srgbClr val="1D1D1F"/>
                </a:solidFill>
                <a:latin typeface="Arial" pitchFamily="34" charset="0"/>
                <a:ea typeface="Arial" pitchFamily="34" charset="-122"/>
                <a:cs typeface="Arial" pitchFamily="34" charset="-120"/>
              </a:rPr>
              <a:t>Ordering that never contradicts causality, timestamps that still read like real times, 64 bits on the wire. Use it as your updatedAt.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CONFLICTS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Four strategies, honestly ranked</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1920240"/>
          <a:ext cx="10543032" cy="914400"/>
        </p:xfrm>
        <a:graphic>
          <a:graphicData uri="http://schemas.openxmlformats.org/drawingml/2006/table">
            <a:tbl>
              <a:tblPr/>
              <a:tblGrid>
                <a:gridCol w="1783080"/>
                <a:gridCol w="2919984"/>
                <a:gridCol w="2919984"/>
                <a:gridCol w="2919984"/>
              </a:tblGrid>
              <a:tr h="438912">
                <a:tc>
                  <a:txBody>
                    <a:bodyPr/>
                    <a:lstStyle/>
                    <a:p>
                      <a:pPr indent="0" marL="0">
                        <a:buNone/>
                      </a:pP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How it decides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What it costs you</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Reach for it when</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676656">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Last-write-wins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the whole row with the highest timestamp wins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silent data loss: the loser's edit is gone and nobody is told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one user, one device at a time, low-value fields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676656">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Server-authoritative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the server recomputes and its answer is final</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an accepted offline edit can be rejected later; you must show the user</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money, stock, bookings, anything with an invariant</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676656">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Merge by field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compare column by column; only changed fields overwrite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one resolver per entity, written and tested by you</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documents and forms with independent fields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676656">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CRDT</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merge() is defined so every order of arrival converges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metadata: tags, tombstones, version vectors, and their growth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counters, sets, and collaborative text</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bl>
          </a:graphicData>
        </a:graphic>
      </p:graphicFrame>
      <p:sp>
        <p:nvSpPr>
          <p:cNvPr id="6" name="Shape 3"/>
          <p:cNvSpPr/>
          <p:nvPr/>
        </p:nvSpPr>
        <p:spPr>
          <a:xfrm>
            <a:off x="822960" y="5212080"/>
            <a:ext cx="10543032" cy="0"/>
          </a:xfrm>
          <a:prstGeom prst="line">
            <a:avLst/>
          </a:prstGeom>
          <a:noFill/>
          <a:ln w="9525">
            <a:solidFill>
              <a:srgbClr val="D2D2D7"/>
            </a:solidFill>
            <a:prstDash val="solid"/>
          </a:ln>
        </p:spPr>
      </p:sp>
      <p:sp>
        <p:nvSpPr>
          <p:cNvPr id="7" name="Text 4"/>
          <p:cNvSpPr/>
          <p:nvPr/>
        </p:nvSpPr>
        <p:spPr>
          <a:xfrm>
            <a:off x="822960" y="544068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Most apps need two of these, not one.</a:t>
            </a:r>
            <a:pPr indent="0" marL="0">
              <a:buNone/>
            </a:pPr>
            <a:r>
              <a:rPr lang="en-US" sz="1400" dirty="0">
                <a:solidFill>
                  <a:srgbClr val="86868B"/>
                </a:solidFill>
                <a:latin typeface="Arial" pitchFamily="34" charset="0"/>
                <a:ea typeface="Arial" pitchFamily="34" charset="-122"/>
                <a:cs typeface="Arial" pitchFamily="34" charset="-120"/>
              </a:rPr>
              <a:t> Merge by field for the user's own documents, server-authoritative for anything that must add up. Reach for a CRDT when the data type genuinely fits one.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CONFLICTS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 resolver you can actually ship</a:t>
            </a:r>
            <a:endParaRPr lang="en-US" sz="3000" dirty="0"/>
          </a:p>
        </p:txBody>
      </p:sp>
      <p:sp>
        <p:nvSpPr>
          <p:cNvPr id="5" name="Shape 3"/>
          <p:cNvSpPr/>
          <p:nvPr/>
        </p:nvSpPr>
        <p:spPr>
          <a:xfrm>
            <a:off x="822960" y="1783080"/>
            <a:ext cx="7040880" cy="4206240"/>
          </a:xfrm>
          <a:prstGeom prst="roundRect">
            <a:avLst>
              <a:gd name="adj" fmla="val 2609"/>
            </a:avLst>
          </a:prstGeom>
          <a:solidFill>
            <a:srgbClr val="F5F5F7"/>
          </a:solidFill>
          <a:ln/>
        </p:spPr>
      </p:sp>
      <p:sp>
        <p:nvSpPr>
          <p:cNvPr id="6" name="Text 4"/>
          <p:cNvSpPr/>
          <p:nvPr/>
        </p:nvSpPr>
        <p:spPr>
          <a:xfrm>
            <a:off x="1234440" y="2103120"/>
            <a:ext cx="6309360" cy="3611880"/>
          </a:xfrm>
          <a:prstGeom prst="rect">
            <a:avLst/>
          </a:prstGeom>
          <a:noFill/>
          <a:ln/>
        </p:spPr>
        <p:txBody>
          <a:bodyPr wrap="square" lIns="0" tIns="0" rIns="0" bIns="0" rtlCol="0" anchor="t"/>
          <a:lstStyle/>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Merge by field. Needs a per-field timestamp: the row stores</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titleAt / bodyAt as well as updatedAt.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Note resolve(Note local, ServerNote remote)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nothing pending locally: the server is simply newer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(!local.pendingSync) return fromServer(remote);</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we already have everything they have: keep ours, push it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if (remote.version &lt;= local.serverVersion) return local;</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real conflict: both sides moved past version N</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return local.copyWith(</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title: _pick(local.title, local.titleAt,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remote.title, remote.titleAt),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body:  _pick(local.body,  local.bodyAt,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remote.body,  remote.bodyAt),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deletedAt: local.deletedAt ?? remote.deletedAt, // delete wins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serverVersion: remote.version,</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pendingSync: true,  // a new value, push it back</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Shape 5"/>
          <p:cNvSpPr/>
          <p:nvPr/>
        </p:nvSpPr>
        <p:spPr>
          <a:xfrm>
            <a:off x="8138160" y="1783080"/>
            <a:ext cx="3227832" cy="1417320"/>
          </a:xfrm>
          <a:prstGeom prst="roundRect">
            <a:avLst>
              <a:gd name="adj" fmla="val 7742"/>
            </a:avLst>
          </a:prstGeom>
          <a:solidFill>
            <a:srgbClr val="F5F5F7"/>
          </a:solidFill>
          <a:ln/>
        </p:spPr>
      </p:sp>
      <p:sp>
        <p:nvSpPr>
          <p:cNvPr id="8" name="Text 6"/>
          <p:cNvSpPr/>
          <p:nvPr/>
        </p:nvSpPr>
        <p:spPr>
          <a:xfrm>
            <a:off x="8549640" y="2103120"/>
            <a:ext cx="2496312" cy="822960"/>
          </a:xfrm>
          <a:prstGeom prst="rect">
            <a:avLst/>
          </a:prstGeom>
          <a:noFill/>
          <a:ln/>
        </p:spPr>
        <p:txBody>
          <a:bodyPr wrap="square" lIns="0" tIns="0" rIns="0" bIns="0" rtlCol="0" anchor="t"/>
          <a:lstStyle/>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T _pick&lt;T&gt;(T mine, Hlc mineAt,</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T theirs, Hlc theirsAt) =&gt;</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mineAt.compareTo(theirsAt) &gt;= 0</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 mine : theirs;</a:t>
            </a:r>
            <a:endParaRPr lang="en-US" sz="800" dirty="0"/>
          </a:p>
        </p:txBody>
      </p:sp>
      <p:sp>
        <p:nvSpPr>
          <p:cNvPr id="9" name="Text 7"/>
          <p:cNvSpPr/>
          <p:nvPr/>
        </p:nvSpPr>
        <p:spPr>
          <a:xfrm>
            <a:off x="8138160" y="3429000"/>
            <a:ext cx="3227832" cy="2834640"/>
          </a:xfrm>
          <a:prstGeom prst="rect">
            <a:avLst/>
          </a:prstGeom>
          <a:noFill/>
          <a:ln/>
        </p:spPr>
        <p:txBody>
          <a:bodyPr wrap="square" lIns="0" tIns="0" rIns="0" bIns="0" rtlCol="0" anchor="t"/>
          <a:lstStyle/>
          <a:p>
            <a:pPr indent="0" marL="0">
              <a:spcAft>
                <a:spcPts val="900"/>
              </a:spcAft>
              <a:buNone/>
            </a:pPr>
            <a:r>
              <a:rPr lang="en-US" sz="1050" dirty="0">
                <a:solidFill>
                  <a:srgbClr val="1D1D1F"/>
                </a:solidFill>
                <a:latin typeface="Arial" pitchFamily="34" charset="0"/>
                <a:ea typeface="Arial" pitchFamily="34" charset="-122"/>
                <a:cs typeface="Arial" pitchFamily="34" charset="-120"/>
              </a:rPr>
              <a:t>Per field it is still last-write-wins, but only one column is affected instead of the whole record. A concurrent title and body edit now both survive.</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_pick compares HLCs, so it is deterministic: both devices reach the same answer without talking to each other.</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Delete beats edit here. That is a product decision, not a technical one. Write it down, and consider an undo instead.</a:t>
            </a:r>
            <a:endParaRPr lang="en-US" sz="1050" dirty="0"/>
          </a:p>
          <a:p>
            <a:pPr indent="0" marL="0">
              <a:spcAft>
                <a:spcPts val="900"/>
              </a:spcAft>
              <a:buNone/>
            </a:pPr>
            <a:r>
              <a:rPr lang="en-US" sz="1050" b="1" dirty="0">
                <a:solidFill>
                  <a:srgbClr val="1D1D1F"/>
                </a:solidFill>
                <a:latin typeface="Arial" pitchFamily="34" charset="0"/>
                <a:ea typeface="Arial" pitchFamily="34" charset="-122"/>
                <a:cs typeface="Arial" pitchFamily="34" charset="-120"/>
              </a:rPr>
              <a:t>Push the merged row back.</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If the resolver only fixes the local copy, the two sides never converge.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CONFLICTS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CRDTs: convergence without coordination</a:t>
            </a:r>
            <a:endParaRPr lang="en-US" sz="3000" dirty="0"/>
          </a:p>
        </p:txBody>
      </p:sp>
      <p:sp>
        <p:nvSpPr>
          <p:cNvPr id="5" name="Text 3"/>
          <p:cNvSpPr/>
          <p:nvPr/>
        </p:nvSpPr>
        <p:spPr>
          <a:xfrm>
            <a:off x="822960" y="1737360"/>
            <a:ext cx="10543032" cy="502920"/>
          </a:xfrm>
          <a:prstGeom prst="rect">
            <a:avLst/>
          </a:prstGeom>
          <a:noFill/>
          <a:ln/>
        </p:spPr>
        <p:txBody>
          <a:bodyPr wrap="square" lIns="0" tIns="0" rIns="0" bIns="0" rtlCol="0" anchor="t"/>
          <a:lstStyle/>
          <a:p>
            <a:pPr indent="0" marL="0">
              <a:buNone/>
            </a:pPr>
            <a:r>
              <a:rPr lang="en-US" sz="1350" dirty="0">
                <a:solidFill>
                  <a:srgbClr val="1D1D1F"/>
                </a:solidFill>
                <a:latin typeface="Arial" pitchFamily="34" charset="0"/>
                <a:ea typeface="Arial" pitchFamily="34" charset="-122"/>
                <a:cs typeface="Arial" pitchFamily="34" charset="-120"/>
              </a:rPr>
              <a:t>A CRDT is a data type whose merge function is defined so that replicas which have received the same set of updates end up in the same state, with no leader, no locks and no round trip. That property is called strong eventual consistency.</a:t>
            </a:r>
            <a:endParaRPr lang="en-US" sz="1350" dirty="0"/>
          </a:p>
        </p:txBody>
      </p:sp>
      <p:pic>
        <p:nvPicPr>
          <p:cNvPr id="6" name="Image 0" descr="/Users/dinu/dev/upb/mobile-and-embedded-computing/slides/assets/icons2/arrowleftright-ink.png">    </p:cNvPr>
          <p:cNvPicPr>
            <a:picLocks noChangeAspect="1"/>
          </p:cNvPicPr>
          <p:nvPr/>
        </p:nvPicPr>
        <p:blipFill>
          <a:blip r:embed="rId1"/>
          <a:stretch>
            <a:fillRect/>
          </a:stretch>
        </p:blipFill>
        <p:spPr>
          <a:xfrm>
            <a:off x="822960" y="2423160"/>
            <a:ext cx="384048" cy="384048"/>
          </a:xfrm>
          <a:prstGeom prst="rect">
            <a:avLst/>
          </a:prstGeom>
        </p:spPr>
      </p:pic>
      <p:sp>
        <p:nvSpPr>
          <p:cNvPr id="7" name="Text 4"/>
          <p:cNvSpPr/>
          <p:nvPr/>
        </p:nvSpPr>
        <p:spPr>
          <a:xfrm>
            <a:off x="822960" y="295351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Commutative</a:t>
            </a:r>
            <a:endParaRPr lang="en-US" sz="1450" dirty="0"/>
          </a:p>
        </p:txBody>
      </p:sp>
      <p:sp>
        <p:nvSpPr>
          <p:cNvPr id="8" name="Text 5"/>
          <p:cNvSpPr/>
          <p:nvPr/>
        </p:nvSpPr>
        <p:spPr>
          <a:xfrm>
            <a:off x="822960" y="341071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merge(a, b) equals merge(b, a). Messages may arrive in any order, from any device, over any path.</a:t>
            </a:r>
            <a:endParaRPr lang="en-US" sz="1150" dirty="0"/>
          </a:p>
        </p:txBody>
      </p:sp>
      <p:pic>
        <p:nvPicPr>
          <p:cNvPr id="9" name="Image 1" descr="/Users/dinu/dev/upb/mobile-and-embedded-computing/slides/assets/icons2/combine-ink.png">    </p:cNvPr>
          <p:cNvPicPr>
            <a:picLocks noChangeAspect="1"/>
          </p:cNvPicPr>
          <p:nvPr/>
        </p:nvPicPr>
        <p:blipFill>
          <a:blip r:embed="rId2"/>
          <a:stretch>
            <a:fillRect/>
          </a:stretch>
        </p:blipFill>
        <p:spPr>
          <a:xfrm>
            <a:off x="4663440" y="2423160"/>
            <a:ext cx="384048" cy="384048"/>
          </a:xfrm>
          <a:prstGeom prst="rect">
            <a:avLst/>
          </a:prstGeom>
        </p:spPr>
      </p:pic>
      <p:sp>
        <p:nvSpPr>
          <p:cNvPr id="10" name="Text 6"/>
          <p:cNvSpPr/>
          <p:nvPr/>
        </p:nvSpPr>
        <p:spPr>
          <a:xfrm>
            <a:off x="4663440" y="295351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Associative</a:t>
            </a:r>
            <a:endParaRPr lang="en-US" sz="1450" dirty="0"/>
          </a:p>
        </p:txBody>
      </p:sp>
      <p:sp>
        <p:nvSpPr>
          <p:cNvPr id="11" name="Text 7"/>
          <p:cNvSpPr/>
          <p:nvPr/>
        </p:nvSpPr>
        <p:spPr>
          <a:xfrm>
            <a:off x="4663440" y="341071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Grouping does not matter, so replicas can gossip in whatever topology the network gives them.</a:t>
            </a:r>
            <a:endParaRPr lang="en-US" sz="1150" dirty="0"/>
          </a:p>
        </p:txBody>
      </p:sp>
      <p:pic>
        <p:nvPicPr>
          <p:cNvPr id="12" name="Image 2" descr="/Users/dinu/dev/upb/mobile-and-embedded-computing/slides/assets/icons2/repeat-ink.png">    </p:cNvPr>
          <p:cNvPicPr>
            <a:picLocks noChangeAspect="1"/>
          </p:cNvPicPr>
          <p:nvPr/>
        </p:nvPicPr>
        <p:blipFill>
          <a:blip r:embed="rId3"/>
          <a:stretch>
            <a:fillRect/>
          </a:stretch>
        </p:blipFill>
        <p:spPr>
          <a:xfrm>
            <a:off x="8503920" y="2423160"/>
            <a:ext cx="384048" cy="384048"/>
          </a:xfrm>
          <a:prstGeom prst="rect">
            <a:avLst/>
          </a:prstGeom>
        </p:spPr>
      </p:pic>
      <p:sp>
        <p:nvSpPr>
          <p:cNvPr id="13" name="Text 8"/>
          <p:cNvSpPr/>
          <p:nvPr/>
        </p:nvSpPr>
        <p:spPr>
          <a:xfrm>
            <a:off x="8503920" y="295351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Idempotent</a:t>
            </a:r>
            <a:endParaRPr lang="en-US" sz="1450" dirty="0"/>
          </a:p>
        </p:txBody>
      </p:sp>
      <p:sp>
        <p:nvSpPr>
          <p:cNvPr id="14" name="Text 9"/>
          <p:cNvSpPr/>
          <p:nvPr/>
        </p:nvSpPr>
        <p:spPr>
          <a:xfrm>
            <a:off x="8503920" y="341071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merge(a, a) equals a. Receiving the same update twice is a no-op, which is what makes retries free.</a:t>
            </a:r>
            <a:endParaRPr lang="en-US" sz="1150" dirty="0"/>
          </a:p>
        </p:txBody>
      </p:sp>
      <p:sp>
        <p:nvSpPr>
          <p:cNvPr id="15" name="Shape 10"/>
          <p:cNvSpPr/>
          <p:nvPr/>
        </p:nvSpPr>
        <p:spPr>
          <a:xfrm>
            <a:off x="822960" y="5029200"/>
            <a:ext cx="10543032" cy="0"/>
          </a:xfrm>
          <a:prstGeom prst="line">
            <a:avLst/>
          </a:prstGeom>
          <a:noFill/>
          <a:ln w="9525">
            <a:solidFill>
              <a:srgbClr val="D2D2D7"/>
            </a:solidFill>
            <a:prstDash val="solid"/>
          </a:ln>
        </p:spPr>
      </p:sp>
      <p:sp>
        <p:nvSpPr>
          <p:cNvPr id="16" name="Text 11"/>
          <p:cNvSpPr/>
          <p:nvPr/>
        </p:nvSpPr>
        <p:spPr>
          <a:xfrm>
            <a:off x="822960" y="52578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Convergent is not the same as correct.</a:t>
            </a:r>
            <a:pPr indent="0" marL="0">
              <a:buNone/>
            </a:pPr>
            <a:r>
              <a:rPr lang="en-US" sz="1400" dirty="0">
                <a:solidFill>
                  <a:srgbClr val="86868B"/>
                </a:solidFill>
                <a:latin typeface="Arial" pitchFamily="34" charset="0"/>
                <a:ea typeface="Arial" pitchFamily="34" charset="-122"/>
                <a:cs typeface="Arial" pitchFamily="34" charset="-120"/>
              </a:rPr>
              <a:t> A CRDT guarantees every replica agrees on the answer. It does not guarantee the answer is what the user meant, and it cannot enforce “the balance must never go below zero”, because that needs coordination by definition.</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CONFLICTS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 counter that survives being merged</a:t>
            </a:r>
            <a:endParaRPr lang="en-US" sz="3000" dirty="0"/>
          </a:p>
        </p:txBody>
      </p:sp>
      <p:sp>
        <p:nvSpPr>
          <p:cNvPr id="5" name="Text 3"/>
          <p:cNvSpPr/>
          <p:nvPr/>
        </p:nvSpPr>
        <p:spPr>
          <a:xfrm>
            <a:off x="822960" y="1737360"/>
            <a:ext cx="10543032" cy="457200"/>
          </a:xfrm>
          <a:prstGeom prst="rect">
            <a:avLst/>
          </a:prstGeom>
          <a:noFill/>
          <a:ln/>
        </p:spPr>
        <p:txBody>
          <a:bodyPr wrap="square" lIns="0" tIns="0" rIns="0" bIns="0" rtlCol="0" anchor="t"/>
          <a:lstStyle/>
          <a:p>
            <a:pPr indent="0" marL="0">
              <a:buNone/>
            </a:pPr>
            <a:r>
              <a:rPr lang="en-US" sz="1350" dirty="0">
                <a:solidFill>
                  <a:srgbClr val="1D1D1F"/>
                </a:solidFill>
                <a:latin typeface="Arial" pitchFamily="34" charset="0"/>
                <a:ea typeface="Arial" pitchFamily="34" charset="-122"/>
                <a:cs typeface="Arial" pitchFamily="34" charset="-120"/>
              </a:rPr>
              <a:t>A plain integer cannot merge. Phone says 4, laptop says 3: is the answer 4, or 7? You cannot tell without the history. So keep the history: one slot per replica, each replica only ever increments its own slot.</a:t>
            </a:r>
            <a:endParaRPr lang="en-US" sz="13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22960" y="2377440"/>
          <a:ext cx="10543032" cy="914400"/>
        </p:xfrm>
        <a:graphic>
          <a:graphicData uri="http://schemas.openxmlformats.org/drawingml/2006/table">
            <a:tbl>
              <a:tblPr/>
              <a:tblGrid>
                <a:gridCol w="2194560"/>
                <a:gridCol w="2087118"/>
                <a:gridCol w="2087118"/>
                <a:gridCol w="2087118"/>
                <a:gridCol w="2087118"/>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Phone's slot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Laptop's slot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Tablet's slot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Value = sum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Phone's state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Laptop's state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Merge = max per slot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Tablet then adds 1</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bl>
          </a:graphicData>
        </a:graphic>
      </p:graphicFrame>
      <p:sp>
        <p:nvSpPr>
          <p:cNvPr id="7" name="Text 4"/>
          <p:cNvSpPr/>
          <p:nvPr/>
        </p:nvSpPr>
        <p:spPr>
          <a:xfrm>
            <a:off x="822960" y="4846320"/>
            <a:ext cx="10543032" cy="1234440"/>
          </a:xfrm>
          <a:prstGeom prst="rect">
            <a:avLst/>
          </a:prstGeom>
          <a:noFill/>
          <a:ln/>
        </p:spPr>
        <p:txBody>
          <a:bodyPr wrap="square" lIns="0" tIns="0" rIns="0" bIns="0" rtlCol="0" anchor="t"/>
          <a:lstStyle/>
          <a:p>
            <a:pPr indent="0" marL="0">
              <a:spcAft>
                <a:spcPts val="1000"/>
              </a:spcAft>
              <a:buNone/>
            </a:pPr>
            <a:r>
              <a:rPr lang="en-US" sz="1250" dirty="0">
                <a:solidFill>
                  <a:srgbClr val="1D1D1F"/>
                </a:solidFill>
                <a:latin typeface="Arial" pitchFamily="34" charset="0"/>
                <a:ea typeface="Arial" pitchFamily="34" charset="-122"/>
                <a:cs typeface="Arial" pitchFamily="34" charset="-120"/>
              </a:rPr>
              <a:t>The merge is a maximum, not an addition, which is why receiving the same state twice changes nothing. The value is the sum of the slots.</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This is a G-Counter: grow-only. To support decrements you keep two of them, one for increments and one for decrements, and subtract the totals: that is a PN-Counter. A maximum cannot un-count.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CONFLICTS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Deleted is a row, not a missing row</a:t>
            </a:r>
            <a:endParaRPr lang="en-US" sz="3000" dirty="0"/>
          </a:p>
        </p:txBody>
      </p:sp>
      <p:sp>
        <p:nvSpPr>
          <p:cNvPr id="5" name="Text 3"/>
          <p:cNvSpPr/>
          <p:nvPr/>
        </p:nvSpPr>
        <p:spPr>
          <a:xfrm>
            <a:off x="822960" y="1783080"/>
            <a:ext cx="6309360" cy="4023360"/>
          </a:xfrm>
          <a:prstGeom prst="rect">
            <a:avLst/>
          </a:prstGeom>
          <a:noFill/>
          <a:ln/>
        </p:spPr>
        <p:txBody>
          <a:bodyPr wrap="square" lIns="0" tIns="0" rIns="0" bIns="0" rtlCol="0" anchor="t"/>
          <a:lstStyle/>
          <a:p>
            <a:pPr indent="0" marL="0">
              <a:spcAft>
                <a:spcPts val="1000"/>
              </a:spcAft>
              <a:buNone/>
            </a:pPr>
            <a:r>
              <a:rPr lang="en-US" sz="1200" dirty="0">
                <a:solidFill>
                  <a:srgbClr val="1D1D1F"/>
                </a:solidFill>
                <a:latin typeface="Arial" pitchFamily="34" charset="0"/>
                <a:ea typeface="Arial" pitchFamily="34" charset="-122"/>
                <a:cs typeface="Arial" pitchFamily="34" charset="-120"/>
              </a:rPr>
              <a:t>Delete a row locally and the next pull cannot tell “this was deleted here” from “this has not reached me yet”. The server sends it back, and the item the user deleted reappears.</a:t>
            </a:r>
            <a:endParaRPr lang="en-US" sz="1200" dirty="0"/>
          </a:p>
          <a:p>
            <a:pPr indent="0" marL="0">
              <a:spcAft>
                <a:spcPts val="1000"/>
              </a:spcAft>
              <a:buNone/>
            </a:pPr>
            <a:r>
              <a:rPr lang="en-US" sz="1200" dirty="0">
                <a:solidFill>
                  <a:srgbClr val="1D1D1F"/>
                </a:solidFill>
                <a:latin typeface="Arial" pitchFamily="34" charset="0"/>
                <a:ea typeface="Arial" pitchFamily="34" charset="-122"/>
                <a:cs typeface="Arial" pitchFamily="34" charset="-120"/>
              </a:rPr>
              <a:t>So a delete is a write: set deletedAt, keep the row, filter it out of every query the UI runs. The tombstone is what propagates the deletion.</a:t>
            </a:r>
            <a:endParaRPr lang="en-US" sz="1200" dirty="0"/>
          </a:p>
          <a:p>
            <a:pPr indent="0" marL="0">
              <a:spcAft>
                <a:spcPts val="1000"/>
              </a:spcAft>
              <a:buNone/>
            </a:pPr>
            <a:r>
              <a:rPr lang="en-US" sz="1200" b="1" dirty="0">
                <a:solidFill>
                  <a:srgbClr val="1D1D1F"/>
                </a:solidFill>
                <a:latin typeface="Arial" pitchFamily="34" charset="0"/>
                <a:ea typeface="Arial" pitchFamily="34" charset="-122"/>
                <a:cs typeface="Arial" pitchFamily="34" charset="-120"/>
              </a:rPr>
              <a:t>The same problem inside a set.</a:t>
            </a:r>
            <a:endParaRPr lang="en-US" sz="1200" dirty="0"/>
          </a:p>
          <a:p>
            <a:pPr indent="0" marL="0">
              <a:spcAft>
                <a:spcPts val="1000"/>
              </a:spcAft>
              <a:buNone/>
            </a:pPr>
            <a:r>
              <a:rPr lang="en-US" sz="1200" dirty="0">
                <a:solidFill>
                  <a:srgbClr val="1D1D1F"/>
                </a:solidFill>
                <a:latin typeface="Arial" pitchFamily="34" charset="0"/>
                <a:ea typeface="Arial" pitchFamily="34" charset="-122"/>
                <a:cs typeface="Arial" pitchFamily="34" charset="-120"/>
              </a:rPr>
              <a:t>An OR-Set gives every add a unique tag. A remove takes away only the tags that replica has observed. A concurrent add survives: the remover never saw its tag, so it could not have meant to remove it.</a:t>
            </a:r>
            <a:endParaRPr lang="en-US" sz="1200" dirty="0"/>
          </a:p>
          <a:p>
            <a:pPr indent="0" marL="0">
              <a:spcAft>
                <a:spcPts val="1000"/>
              </a:spcAft>
              <a:buNone/>
            </a:pPr>
            <a:r>
              <a:rPr lang="en-US" sz="1200" b="1" dirty="0">
                <a:solidFill>
                  <a:srgbClr val="1D1D1F"/>
                </a:solidFill>
                <a:latin typeface="Arial" pitchFamily="34" charset="0"/>
                <a:ea typeface="Arial" pitchFamily="34" charset="-122"/>
                <a:cs typeface="Arial" pitchFamily="34" charset="-120"/>
              </a:rPr>
              <a:t>Tombstones are not free.</a:t>
            </a:r>
            <a:endParaRPr lang="en-US" sz="1200" dirty="0"/>
          </a:p>
          <a:p>
            <a:pPr indent="0" marL="0">
              <a:spcAft>
                <a:spcPts val="1000"/>
              </a:spcAft>
              <a:buNone/>
            </a:pPr>
            <a:r>
              <a:rPr lang="en-US" sz="1200" dirty="0">
                <a:solidFill>
                  <a:srgbClr val="1D1D1F"/>
                </a:solidFill>
                <a:latin typeface="Arial" pitchFamily="34" charset="0"/>
                <a:ea typeface="Arial" pitchFamily="34" charset="-122"/>
                <a:cs typeface="Arial" pitchFamily="34" charset="-120"/>
              </a:rPr>
              <a:t>They accumulate forever unless you collect them. Either prove every replica has seen the deletion, or set a retention window: purge tombstones older than, say, 90 days, and make any device that has been offline longer do a full resync instead of a delta.</a:t>
            </a:r>
            <a:endParaRPr lang="en-US" sz="1200" dirty="0"/>
          </a:p>
        </p:txBody>
      </p:sp>
      <p:sp>
        <p:nvSpPr>
          <p:cNvPr id="6" name="Shape 4"/>
          <p:cNvSpPr/>
          <p:nvPr/>
        </p:nvSpPr>
        <p:spPr>
          <a:xfrm>
            <a:off x="7406640" y="1783080"/>
            <a:ext cx="3959352" cy="2651760"/>
          </a:xfrm>
          <a:prstGeom prst="roundRect">
            <a:avLst>
              <a:gd name="adj" fmla="val 3103"/>
            </a:avLst>
          </a:prstGeom>
          <a:solidFill>
            <a:srgbClr val="FFFFFF"/>
          </a:solidFill>
          <a:ln w="12700">
            <a:solidFill>
              <a:srgbClr val="D2D2D7"/>
            </a:solidFill>
            <a:prstDash val="solid"/>
          </a:ln>
        </p:spPr>
      </p:sp>
      <p:sp>
        <p:nvSpPr>
          <p:cNvPr id="7" name="Text 5"/>
          <p:cNvSpPr/>
          <p:nvPr/>
        </p:nvSpPr>
        <p:spPr>
          <a:xfrm>
            <a:off x="7680960" y="1965960"/>
            <a:ext cx="3474720" cy="3200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OR-Set, one worked case</a:t>
            </a:r>
            <a:endParaRPr lang="en-US" sz="1350" dirty="0"/>
          </a:p>
        </p:txBody>
      </p:sp>
      <p:sp>
        <p:nvSpPr>
          <p:cNvPr id="8" name="Text 6"/>
          <p:cNvSpPr/>
          <p:nvPr/>
        </p:nvSpPr>
        <p:spPr>
          <a:xfrm>
            <a:off x="7680960" y="2377440"/>
            <a:ext cx="3474720" cy="2377440"/>
          </a:xfrm>
          <a:prstGeom prst="rect">
            <a:avLst/>
          </a:prstGeom>
          <a:noFill/>
          <a:ln/>
        </p:spPr>
        <p:txBody>
          <a:bodyPr wrap="square" lIns="0" tIns="0" rIns="0" bIns="0" rtlCol="0" anchor="t"/>
          <a:lstStyle/>
          <a:p>
            <a:pPr indent="0" marL="0">
              <a:spcAft>
                <a:spcPts val="500"/>
              </a:spcAft>
              <a:buNone/>
            </a:pPr>
            <a:r>
              <a:rPr lang="en-US" sz="1150" b="1" dirty="0">
                <a:solidFill>
                  <a:srgbClr val="1D1D1F"/>
                </a:solidFill>
                <a:latin typeface="Arial" pitchFamily="34" charset="0"/>
                <a:ea typeface="Arial" pitchFamily="34" charset="-122"/>
                <a:cs typeface="Arial" pitchFamily="34" charset="-120"/>
              </a:rPr>
              <a:t>A: add “milk”</a:t>
            </a:r>
            <a:endParaRPr lang="en-US" sz="1150" dirty="0"/>
          </a:p>
          <a:p>
            <a:pPr indent="0" marL="0">
              <a:spcAft>
                <a:spcPts val="500"/>
              </a:spcAft>
              <a:buNone/>
            </a:pPr>
            <a:r>
              <a:rPr lang="en-US" sz="1000" dirty="0">
                <a:solidFill>
                  <a:srgbClr val="86868B"/>
                </a:solidFill>
                <a:latin typeface="Courier New" pitchFamily="34" charset="0"/>
                <a:ea typeface="Courier New" pitchFamily="34" charset="-122"/>
                <a:cs typeface="Courier New" pitchFamily="34" charset="-120"/>
              </a:rPr>
              <a:t>adds = {(milk, a1)}</a:t>
            </a:r>
            <a:endParaRPr lang="en-US" sz="1150" dirty="0"/>
          </a:p>
          <a:p>
            <a:pPr indent="0" marL="0">
              <a:spcAft>
                <a:spcPts val="500"/>
              </a:spcAft>
              <a:buNone/>
            </a:pPr>
            <a:r>
              <a:rPr lang="en-US" sz="1150" b="1" dirty="0">
                <a:solidFill>
                  <a:srgbClr val="1D1D1F"/>
                </a:solidFill>
                <a:latin typeface="Arial" pitchFamily="34" charset="0"/>
                <a:ea typeface="Arial" pitchFamily="34" charset="-122"/>
                <a:cs typeface="Arial" pitchFamily="34" charset="-120"/>
              </a:rPr>
              <a:t>B: sees a1, removes “milk”</a:t>
            </a:r>
            <a:endParaRPr lang="en-US" sz="1150" dirty="0"/>
          </a:p>
          <a:p>
            <a:pPr indent="0" marL="0">
              <a:spcAft>
                <a:spcPts val="500"/>
              </a:spcAft>
              <a:buNone/>
            </a:pPr>
            <a:r>
              <a:rPr lang="en-US" sz="1000" dirty="0">
                <a:solidFill>
                  <a:srgbClr val="86868B"/>
                </a:solidFill>
                <a:latin typeface="Courier New" pitchFamily="34" charset="0"/>
                <a:ea typeface="Courier New" pitchFamily="34" charset="-122"/>
                <a:cs typeface="Courier New" pitchFamily="34" charset="-120"/>
              </a:rPr>
              <a:t>removed = {a1}</a:t>
            </a:r>
            <a:endParaRPr lang="en-US" sz="1150" dirty="0"/>
          </a:p>
          <a:p>
            <a:pPr indent="0" marL="0">
              <a:spcAft>
                <a:spcPts val="500"/>
              </a:spcAft>
              <a:buNone/>
            </a:pPr>
            <a:r>
              <a:rPr lang="en-US" sz="1150" b="1" dirty="0">
                <a:solidFill>
                  <a:srgbClr val="1D1D1F"/>
                </a:solidFill>
                <a:latin typeface="Arial" pitchFamily="34" charset="0"/>
                <a:ea typeface="Arial" pitchFamily="34" charset="-122"/>
                <a:cs typeface="Arial" pitchFamily="34" charset="-120"/>
              </a:rPr>
              <a:t>A, concurrently: add “milk” again</a:t>
            </a:r>
            <a:endParaRPr lang="en-US" sz="1150" dirty="0"/>
          </a:p>
          <a:p>
            <a:pPr indent="0" marL="0">
              <a:spcAft>
                <a:spcPts val="500"/>
              </a:spcAft>
              <a:buNone/>
            </a:pPr>
            <a:r>
              <a:rPr lang="en-US" sz="1000" dirty="0">
                <a:solidFill>
                  <a:srgbClr val="86868B"/>
                </a:solidFill>
                <a:latin typeface="Courier New" pitchFamily="34" charset="0"/>
                <a:ea typeface="Courier New" pitchFamily="34" charset="-122"/>
                <a:cs typeface="Courier New" pitchFamily="34" charset="-120"/>
              </a:rPr>
              <a:t>adds = {(milk, a1), (milk, a2)}</a:t>
            </a:r>
            <a:endParaRPr lang="en-US" sz="1150" dirty="0"/>
          </a:p>
          <a:p>
            <a:pPr indent="0" marL="0">
              <a:spcAft>
                <a:spcPts val="500"/>
              </a:spcAft>
              <a:buNone/>
            </a:pPr>
            <a:r>
              <a:rPr lang="en-US" sz="1150" b="1" dirty="0">
                <a:solidFill>
                  <a:srgbClr val="0071E3"/>
                </a:solidFill>
                <a:latin typeface="Arial" pitchFamily="34" charset="0"/>
                <a:ea typeface="Arial" pitchFamily="34" charset="-122"/>
                <a:cs typeface="Arial" pitchFamily="34" charset="-120"/>
              </a:rPr>
              <a:t>merge: adds minus removed</a:t>
            </a:r>
            <a:endParaRPr lang="en-US" sz="1150" dirty="0"/>
          </a:p>
          <a:p>
            <a:pPr indent="0" marL="0">
              <a:spcAft>
                <a:spcPts val="500"/>
              </a:spcAft>
              <a:buNone/>
            </a:pPr>
            <a:r>
              <a:rPr lang="en-US" sz="1000" dirty="0">
                <a:solidFill>
                  <a:srgbClr val="86868B"/>
                </a:solidFill>
                <a:latin typeface="Courier New" pitchFamily="34" charset="0"/>
                <a:ea typeface="Courier New" pitchFamily="34" charset="-122"/>
                <a:cs typeface="Courier New" pitchFamily="34" charset="-120"/>
              </a:rPr>
              <a:t>= {(milk, a2)}, milk is present</a:t>
            </a:r>
            <a:endParaRPr lang="en-US" sz="1150" dirty="0"/>
          </a:p>
        </p:txBody>
      </p:sp>
      <p:sp>
        <p:nvSpPr>
          <p:cNvPr id="9" name="Shape 7"/>
          <p:cNvSpPr/>
          <p:nvPr/>
        </p:nvSpPr>
        <p:spPr>
          <a:xfrm>
            <a:off x="822960" y="5212080"/>
            <a:ext cx="6309360" cy="0"/>
          </a:xfrm>
          <a:prstGeom prst="line">
            <a:avLst/>
          </a:prstGeom>
          <a:noFill/>
          <a:ln w="9525">
            <a:solidFill>
              <a:srgbClr val="D2D2D7"/>
            </a:solidFill>
            <a:prstDash val="solid"/>
          </a:ln>
        </p:spPr>
      </p:sp>
      <p:sp>
        <p:nvSpPr>
          <p:cNvPr id="10" name="Text 8"/>
          <p:cNvSpPr/>
          <p:nvPr/>
        </p:nvSpPr>
        <p:spPr>
          <a:xfrm>
            <a:off x="822960" y="5440680"/>
            <a:ext cx="63093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Add wins, because the remover could not have observed it.</a:t>
            </a:r>
            <a:pPr indent="0" marL="0">
              <a:buNone/>
            </a:pPr>
            <a:r>
              <a:rPr lang="en-US" sz="1400" dirty="0">
                <a:solidFill>
                  <a:srgbClr val="86868B"/>
                </a:solidFill>
                <a:latin typeface="Arial" pitchFamily="34" charset="0"/>
                <a:ea typeface="Arial" pitchFamily="34" charset="-122"/>
                <a:cs typeface="Arial" pitchFamily="34" charset="-120"/>
              </a:rPr>
              <a:t> That is a defensible default for a shopping list, and the wrong one for a bank ledger.</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Before next week</a:t>
            </a:r>
            <a:endParaRPr lang="en-US" sz="3000" dirty="0"/>
          </a:p>
        </p:txBody>
      </p:sp>
      <p:pic>
        <p:nvPicPr>
          <p:cNvPr id="3" name="Image 0" descr="/Users/dinu/dev/upb/mobile-and-embedded-computing/slides/assets/icons2/checklist-white.png">    </p:cNvPr>
          <p:cNvPicPr>
            <a:picLocks noChangeAspect="1"/>
          </p:cNvPicPr>
          <p:nvPr/>
        </p:nvPicPr>
        <p:blipFill>
          <a:blip r:embed="rId1"/>
          <a:stretch>
            <a:fillRect/>
          </a:stretch>
        </p:blipFill>
        <p:spPr>
          <a:xfrm>
            <a:off x="822960" y="1783080"/>
            <a:ext cx="384048" cy="384048"/>
          </a:xfrm>
          <a:prstGeom prst="rect">
            <a:avLst/>
          </a:prstGeom>
        </p:spPr>
      </p:pic>
      <p:sp>
        <p:nvSpPr>
          <p:cNvPr id="4" name="Text 1"/>
          <p:cNvSpPr/>
          <p:nvPr/>
        </p:nvSpPr>
        <p:spPr>
          <a:xfrm>
            <a:off x="82296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Recap</a:t>
            </a:r>
            <a:endParaRPr lang="en-US" sz="1700" dirty="0"/>
          </a:p>
        </p:txBody>
      </p:sp>
      <p:sp>
        <p:nvSpPr>
          <p:cNvPr id="5" name="Text 2"/>
          <p:cNvSpPr/>
          <p:nvPr/>
        </p:nvSpPr>
        <p:spPr>
          <a:xfrm>
            <a:off x="82296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Offline is a normal state; the local database is what the UI reads, always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One transaction writes the row and the outbox intent together</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Delta sync on a server-issued checkpoint, never on your device's clock</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Wall clocks cannot order events; HLCs can, and still read like times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Deleted is a row. LWW is simple and lossy. CRDTs converge, but convergence is not correctness</a:t>
            </a:r>
            <a:endParaRPr lang="en-US" sz="1250" dirty="0"/>
          </a:p>
        </p:txBody>
      </p:sp>
      <p:pic>
        <p:nvPicPr>
          <p:cNvPr id="6" name="Image 1" descr="/Users/dinu/dev/upb/mobile-and-embedded-computing/slides/assets/icons2/calendar-white.png">    </p:cNvPr>
          <p:cNvPicPr>
            <a:picLocks noChangeAspect="1"/>
          </p:cNvPicPr>
          <p:nvPr/>
        </p:nvPicPr>
        <p:blipFill>
          <a:blip r:embed="rId2"/>
          <a:stretch>
            <a:fillRect/>
          </a:stretch>
        </p:blipFill>
        <p:spPr>
          <a:xfrm>
            <a:off x="4389120" y="1783080"/>
            <a:ext cx="384048" cy="384048"/>
          </a:xfrm>
          <a:prstGeom prst="rect">
            <a:avLst/>
          </a:prstGeom>
        </p:spPr>
      </p:pic>
      <p:sp>
        <p:nvSpPr>
          <p:cNvPr id="7" name="Text 3"/>
          <p:cNvSpPr/>
          <p:nvPr/>
        </p:nvSpPr>
        <p:spPr>
          <a:xfrm>
            <a:off x="438912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This week: on your project</a:t>
            </a:r>
            <a:endParaRPr lang="en-US" sz="1700" dirty="0"/>
          </a:p>
        </p:txBody>
      </p:sp>
      <p:sp>
        <p:nvSpPr>
          <p:cNvPr id="8" name="Text 4"/>
          <p:cNvSpPr/>
          <p:nvPr/>
        </p:nvSpPr>
        <p:spPr>
          <a:xfrm>
            <a:off x="438912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Add Drift, with id (UUID), updatedAt, deletedAt and pendingSync on every synced table</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Replace one FutureBuilder with a watch() stream</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Add the outbox table and drain it on resume and on reconnect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Then turn on airplane mode and use your own app for five minutes</a:t>
            </a:r>
            <a:endParaRPr lang="en-US" sz="1250" dirty="0"/>
          </a:p>
        </p:txBody>
      </p:sp>
      <p:pic>
        <p:nvPicPr>
          <p:cNvPr id="9" name="Image 2" descr="/Users/dinu/dev/upb/mobile-and-embedded-computing/slides/assets/icons2/bookopen-white.png">    </p:cNvPr>
          <p:cNvPicPr>
            <a:picLocks noChangeAspect="1"/>
          </p:cNvPicPr>
          <p:nvPr/>
        </p:nvPicPr>
        <p:blipFill>
          <a:blip r:embed="rId3"/>
          <a:stretch>
            <a:fillRect/>
          </a:stretch>
        </p:blipFill>
        <p:spPr>
          <a:xfrm>
            <a:off x="7955280" y="1783080"/>
            <a:ext cx="384048" cy="384048"/>
          </a:xfrm>
          <a:prstGeom prst="rect">
            <a:avLst/>
          </a:prstGeom>
        </p:spPr>
      </p:pic>
      <p:sp>
        <p:nvSpPr>
          <p:cNvPr id="10" name="Text 5"/>
          <p:cNvSpPr/>
          <p:nvPr/>
        </p:nvSpPr>
        <p:spPr>
          <a:xfrm>
            <a:off x="795528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Read more</a:t>
            </a:r>
            <a:endParaRPr lang="en-US" sz="1700" dirty="0"/>
          </a:p>
        </p:txBody>
      </p:sp>
      <p:sp>
        <p:nvSpPr>
          <p:cNvPr id="11" name="Text 6"/>
          <p:cNvSpPr/>
          <p:nvPr/>
        </p:nvSpPr>
        <p:spPr>
          <a:xfrm>
            <a:off x="795528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drift.simonbinder.eu: schema, DAOs, migrations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crdt.tech: the CRDT catalog and the original papers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Kleppmann, Designing Data-Intensive Applications, ch. 5</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inkandswitch.com/local-first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pub.dev/packages/workmanager · powersync.com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and Embedded Computing, Lecture 10</dc:title>
  <dc:subject>PptxGenJS Presentation</dc:subject>
  <dc:creator>Dinu-Ștefan Rusu</dc:creator>
  <cp:lastModifiedBy>Dinu-Ștefan Rusu</cp:lastModifiedBy>
  <cp:revision>1</cp:revision>
  <dcterms:created xsi:type="dcterms:W3CDTF">2026-08-08T15:40:12Z</dcterms:created>
  <dcterms:modified xsi:type="dcterms:W3CDTF">2026-08-08T15:40:12Z</dcterms:modified>
</cp:coreProperties>
</file>