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embeddedFontLst>
    <p:embeddedFont>
      <p:font typeface="Inter" panose="020F0702030404030204" pitchFamily="34" charset="0"/>
      <p:regular r:id="rId33"/>
      <p:bold r:id="rId33"/>
      <p:italic r:id="rId33"/>
      <p:boldItalic r:id="rId34"/>
    </p:embeddedFont>
    <p:embeddedFont>
      <p:font typeface="Inter Light" panose="020F0502020204030204" pitchFamily="34" charset="0"/>
      <p:regular r:id="rId35"/>
      <p:bold r:id="rId33"/>
      <p:italic r:id="rId36"/>
      <p:boldItalic r:id="rId37"/>
    </p:embeddedFont>
    <p:embeddedFont>
      <p:font typeface="Inter SemiBold" panose="020F0502020204030204" pitchFamily="34" charset="0"/>
      <p:regular r:id="rId34"/>
      <p:bold r:id="rId38"/>
      <p:italic r:id="rId39"/>
      <p:boldItalic r:id="rId40"/>
    </p:embeddedFont>
    <p:embeddedFont>
      <p:font typeface="JetBrains Mono" panose="020F0502020204030204" pitchFamily="34" charset="0"/>
      <p:regular r:id="rId34"/>
      <p:bold r:id="rId34"/>
      <p:italic r:id="rId34"/>
      <p:boldItalic r:id="rId34"/>
    </p:embeddedFont>
    <p:embeddedFont>
      <p:font typeface="Playfair Display" pitchFamily="2" charset="77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9EC1418-80E4-4D0E-8E05-970B81C7DF05}">
  <a:tblStyle styleId="{79EC1418-80E4-4D0E-8E05-970B81C7DF0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2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42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42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42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42.pn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293304"/>
            <a:ext cx="12172950" cy="683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581025" y="2242839"/>
            <a:ext cx="6588792" cy="1625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Offline-First Flutter Applications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3883818"/>
            <a:ext cx="627504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Architectural Patterns, Synchronization Strategies, and Technical Trade-offs</a:t>
            </a:r>
            <a:endParaRPr dirty="0"/>
          </a:p>
        </p:txBody>
      </p:sp>
      <p:pic>
        <p:nvPicPr>
          <p:cNvPr id="89" name="Google Shape;89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427565" y="2242839"/>
            <a:ext cx="4183409" cy="2372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19287"/>
            <a:ext cx="5229225" cy="41624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Executive Summary</a:t>
            </a:r>
            <a:endParaRPr/>
          </a:p>
        </p:txBody>
      </p:sp>
      <p:sp>
        <p:nvSpPr>
          <p:cNvPr id="98" name="Google Shape;98;p14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581025" y="245268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The Paradigm Shift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81025" y="2919412"/>
            <a:ext cx="5229225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Modern mobile development has shifted from an "online-first" assumption to an </a:t>
            </a:r>
            <a:r>
              <a:rPr lang="en-US" sz="15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"offline-first" requirement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An offline-first architecture is not a feature; it is a fundamental structural commitment that inverts the traditional client-server relationship.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581025" y="463391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local device becomes the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primary authority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the UI, while the network serves merely as a background synchronization utility.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6772275" y="2309812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The Core Dichotomy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7058025" y="2824162"/>
            <a:ext cx="416242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Firebase Ecosystem: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Offers rapid development with a cohesive but opaque synchronization engine. Best for prototyping and simple data models.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7058025" y="4329112"/>
            <a:ext cx="416242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Custom SQLite (Enterprise):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Provides granular control over data consistency, query performance, and schema evolution. Best for complex, mission-critical applications.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72275" y="2843212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72275" y="4348162"/>
            <a:ext cx="857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724025"/>
            <a:ext cx="5229225" cy="460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724025"/>
            <a:ext cx="5229225" cy="4600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Theoretical Framework: The Inversion of Truth</a:t>
            </a:r>
            <a:endParaRPr/>
          </a:p>
        </p:txBody>
      </p:sp>
      <p:sp>
        <p:nvSpPr>
          <p:cNvPr id="115" name="Google Shape;115;p15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962025" y="2105025"/>
            <a:ext cx="44672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8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Traditional Model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62025" y="2667000"/>
            <a:ext cx="46905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Request-Response Cycle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962025" y="3133725"/>
            <a:ext cx="4467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 traditional apps, the UI waits for the server. A user action triggers a network request, and the UI updates only upon a successful response.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962025" y="4238625"/>
            <a:ext cx="4467225" cy="5810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1152525" y="4429125"/>
            <a:ext cx="40862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1F5F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UI = f(Network_Response)</a:t>
            </a:r>
            <a:endParaRPr/>
          </a:p>
        </p:txBody>
      </p:sp>
      <p:sp>
        <p:nvSpPr>
          <p:cNvPr id="121" name="Google Shape;121;p15"/>
          <p:cNvSpPr/>
          <p:nvPr/>
        </p:nvSpPr>
        <p:spPr>
          <a:xfrm>
            <a:off x="962025" y="4238625"/>
            <a:ext cx="38100" cy="5810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962025" y="5010150"/>
            <a:ext cx="4467225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 Fragile: Latency breaks UX.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772275" y="2114550"/>
            <a:ext cx="444817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Offline-First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772275" y="2676525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Inversion of Truth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772275" y="3143250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Local Read Authority: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UI reads exclusively from local persistence, guaranteeing consistent 60fps rendering.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772275" y="4057650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Optimistic Write Authority: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User actions mutate local state immediately. Network requests are background side-effects.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6772275" y="5162550"/>
            <a:ext cx="4448175" cy="5810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6962775" y="5353050"/>
            <a:ext cx="40671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1F5F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UI = f(Local_Database)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6772275" y="5162550"/>
            <a:ext cx="38100" cy="5810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13360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5048250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72275" y="2143125"/>
            <a:ext cx="2667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828925"/>
            <a:ext cx="34861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52925" y="2828925"/>
            <a:ext cx="34861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4825" y="2828925"/>
            <a:ext cx="34861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6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CAP Theorem in Mobile Context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581025" y="1838325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Mobile devices operate in a perpetually partitioned state. Therefore, offline-first apps must prioritize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Availability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Partition Tolerance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over immediate Consistency.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03910" y="38766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Partition Tolerance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876300" y="434340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system continues to operate despite an arbitrary number of messages being dropped or delayed by the network.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4575810" y="38766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Availability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4648200" y="4343400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Every request receives a (non-error) response, without the guarantee that it contains the most recent write.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8347710" y="38766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Consistency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8420100" y="4343400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Sacrificed. We accept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Eventual Consistency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creating the architectural challenge of synchronization and conflict resolution.</a:t>
            </a:r>
            <a:endParaRPr/>
          </a:p>
        </p:txBody>
      </p:sp>
      <p:pic>
        <p:nvPicPr>
          <p:cNvPr id="149" name="Google Shape;14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38350" y="317182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924550" y="3171825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582150" y="3171825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7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Data Synchronization Topologies</a:t>
            </a: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8" name="Google Shape;158;p17"/>
          <p:cNvGraphicFramePr/>
          <p:nvPr>
            <p:extLst>
              <p:ext uri="{D42A27DB-BD31-4B8C-83A1-F6EECF244321}">
                <p14:modId xmlns:p14="http://schemas.microsoft.com/office/powerpoint/2010/main" val="592908017"/>
              </p:ext>
            </p:extLst>
          </p:nvPr>
        </p:nvGraphicFramePr>
        <p:xfrm>
          <a:off x="581025" y="1895475"/>
          <a:ext cx="11029950" cy="3314700"/>
        </p:xfrm>
        <a:graphic>
          <a:graphicData uri="http://schemas.openxmlformats.org/drawingml/2006/table">
            <a:tbl>
              <a:tblPr firstRow="1" bandRow="1">
                <a:noFill/>
                <a:tableStyleId>{79EC1418-80E4-4D0E-8E05-970B81C7DF05}</a:tableStyleId>
              </a:tblPr>
              <a:tblGrid>
                <a:gridCol w="1679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28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Topology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Mechanism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Latency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Battery Impact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Ideal Use Case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8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Push-Based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WebSockets (e.g., Firebase, GraphQL Subscriptions)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Real-time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 (Keep-alive)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Chat, Live Tracking, Collaborative Editing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Pull-Based (Polling)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Fixed Interval Requests (REST GET)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 (Radio wake-ups)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Non-critical updates, Legacy backends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86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Hybrid (Delta Sync)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Request "changes since X" on trigger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Moderate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Enterprise Data, Inventory, Social Feeds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9" name="Google Shape;159;p17"/>
          <p:cNvSpPr txBox="1"/>
          <p:nvPr/>
        </p:nvSpPr>
        <p:spPr>
          <a:xfrm>
            <a:off x="581025" y="5495925"/>
            <a:ext cx="11029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choice between Firebase and SQLite is largely a choice between a managed </a:t>
            </a:r>
            <a:r>
              <a:rPr lang="en-US" sz="1500" b="1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Push-Based</a:t>
            </a:r>
            <a:r>
              <a:rPr lang="en-US" sz="150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topology and a developer-constructed </a:t>
            </a:r>
            <a:r>
              <a:rPr lang="en-US" sz="1500" b="1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Hybrid</a:t>
            </a:r>
            <a:r>
              <a:rPr lang="en-US" sz="150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topology.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581025" y="2476500"/>
            <a:ext cx="1679674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2260699" y="2476500"/>
            <a:ext cx="3545234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5805933" y="2476500"/>
            <a:ext cx="1162050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6967983" y="2476500"/>
            <a:ext cx="1737866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8705850" y="2476500"/>
            <a:ext cx="2905125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581025" y="3395662"/>
            <a:ext cx="167967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2260699" y="3395662"/>
            <a:ext cx="354523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5805933" y="3395662"/>
            <a:ext cx="1162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6967983" y="3395662"/>
            <a:ext cx="173786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8705850" y="3395662"/>
            <a:ext cx="29051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581025" y="4300537"/>
            <a:ext cx="167967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2260699" y="4300537"/>
            <a:ext cx="354523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5805933" y="4300537"/>
            <a:ext cx="11620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6967983" y="4300537"/>
            <a:ext cx="173786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8705850" y="4300537"/>
            <a:ext cx="29051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 txBox="1"/>
          <p:nvPr/>
        </p:nvSpPr>
        <p:spPr>
          <a:xfrm>
            <a:off x="581025" y="609600"/>
            <a:ext cx="5190648" cy="112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Approach A: The Firebase Ecosystem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581025" y="2114550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Google's Firebase offers an "out-of-the-box" solution by abstracting local storage and synchronization.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581025" y="2914650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Local Cache Mechanism</a:t>
            </a:r>
            <a:endParaRPr/>
          </a:p>
        </p:txBody>
      </p:sp>
      <p:pic>
        <p:nvPicPr>
          <p:cNvPr id="182" name="Google Shape;18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 txBox="1"/>
          <p:nvPr/>
        </p:nvSpPr>
        <p:spPr>
          <a:xfrm>
            <a:off x="866775" y="3381375"/>
            <a:ext cx="46577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Interceptor Pattern: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 SDK intercepts queries and inspects the local persistence layer first.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866775" y="4133850"/>
            <a:ext cx="4657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Pending Write Queue: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Writes are applied atomically to the local cache and appended to a persistent queue for background syncing.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866775" y="5191125"/>
            <a:ext cx="4657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Latency Compensation: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 UI reflects changes instantly via snapshots, bypassing the network stack entirely.</a:t>
            </a:r>
            <a:endParaRPr/>
          </a:p>
        </p:txBody>
      </p:sp>
      <p:pic>
        <p:nvPicPr>
          <p:cNvPr id="186" name="Google Shape;18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00425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52900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5210175"/>
            <a:ext cx="857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9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Firebase Implementation Details</a:t>
            </a:r>
            <a:endParaRPr/>
          </a:p>
        </p:txBody>
      </p:sp>
      <p:sp>
        <p:nvSpPr>
          <p:cNvPr id="194" name="Google Shape;194;p19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581025" y="264318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Handling Data Availability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581025" y="310991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robust implementation must explicitly handle scenarios where the network is unavailable and fallback to the cache. Standard error handling often misses this nuance.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581025" y="42148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Configuration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581025" y="4681537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While persistence is enabled by default, cache size management is critical for enterprise apps to prevent the eviction of vital operational data.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724025"/>
            <a:ext cx="5324475" cy="258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724025"/>
            <a:ext cx="5324475" cy="258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4686300"/>
            <a:ext cx="5324475" cy="197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6500" y="4686300"/>
            <a:ext cx="5324475" cy="197167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0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Critical Limitations &amp; Risks</a:t>
            </a:r>
            <a:endParaRPr/>
          </a:p>
        </p:txBody>
      </p:sp>
      <p:sp>
        <p:nvSpPr>
          <p:cNvPr id="227" name="Google Shape;227;p20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0"/>
          <p:cNvSpPr txBox="1"/>
          <p:nvPr/>
        </p:nvSpPr>
        <p:spPr>
          <a:xfrm>
            <a:off x="876300" y="2019300"/>
            <a:ext cx="497062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14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Indexing Bottleneck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876300" y="2486025"/>
            <a:ext cx="4733925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Firestore guarantees performance via server-side indexing. However, the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local cache lacks these indexes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Offline queries often result in full table scans, causing significant UI jank with large datasets.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6581775" y="2019300"/>
            <a:ext cx="497062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48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Billing Anomalies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6581775" y="2486025"/>
            <a:ext cx="473392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Syncing after a long offline period can trigger thousands of read operations instantly (one per updated document), leading to unexpected "bill shock."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876300" y="4981575"/>
            <a:ext cx="497062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81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Transactional Integrity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876300" y="5448300"/>
            <a:ext cx="47339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Transactions strictly require online connectivity. Complex business logic involving prerequisite checks cannot be executed atomically while offline.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6581775" y="4981575"/>
            <a:ext cx="497062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14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Opaque Cache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6581775" y="5448300"/>
            <a:ext cx="47339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cache is a "Black Box" managed by LRU (Least Recently Used). Developers cannot "pin" critical documents, risking data eviction before use.</a:t>
            </a:r>
            <a:endParaRPr/>
          </a:p>
        </p:txBody>
      </p:sp>
      <p:pic>
        <p:nvPicPr>
          <p:cNvPr id="236" name="Google Shape;236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047875"/>
            <a:ext cx="26149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81775" y="2047875"/>
            <a:ext cx="19481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76300" y="5010150"/>
            <a:ext cx="32816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81775" y="5010150"/>
            <a:ext cx="261491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1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Approach B: Custom SQLite (Enterprise Standard)</a:t>
            </a:r>
            <a:endParaRPr/>
          </a:p>
        </p:txBody>
      </p:sp>
      <p:sp>
        <p:nvSpPr>
          <p:cNvPr id="245" name="Google Shape;245;p21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 txBox="1"/>
          <p:nvPr/>
        </p:nvSpPr>
        <p:spPr>
          <a:xfrm>
            <a:off x="581025" y="2052637"/>
            <a:ext cx="11029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For applications requiring strict data sovereignty or high-performance offline querying, a custom architecture using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Drift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(formerly Moor) is the superior choice.</a:t>
            </a:r>
            <a:endParaRPr/>
          </a:p>
        </p:txBody>
      </p:sp>
      <p:graphicFrame>
        <p:nvGraphicFramePr>
          <p:cNvPr id="247" name="Google Shape;247;p21"/>
          <p:cNvGraphicFramePr/>
          <p:nvPr>
            <p:extLst>
              <p:ext uri="{D42A27DB-BD31-4B8C-83A1-F6EECF244321}">
                <p14:modId xmlns:p14="http://schemas.microsoft.com/office/powerpoint/2010/main" val="755651125"/>
              </p:ext>
            </p:extLst>
          </p:nvPr>
        </p:nvGraphicFramePr>
        <p:xfrm>
          <a:off x="581025" y="2947987"/>
          <a:ext cx="11029950" cy="3000375"/>
        </p:xfrm>
        <a:graphic>
          <a:graphicData uri="http://schemas.openxmlformats.org/drawingml/2006/table">
            <a:tbl>
              <a:tblPr firstRow="1" bandRow="1">
                <a:noFill/>
                <a:tableStyleId>{79EC1418-80E4-4D0E-8E05-970B81C7DF05}</a:tableStyleId>
              </a:tblPr>
              <a:tblGrid>
                <a:gridCol w="222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4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Sqflite (Raw)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Drift (Recommended)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Type Safety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None (Dynamic Maps)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Full Compile-time Safety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Reactivity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StreamController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Built-in Streams (watch())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Boilerplate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 (Manual Mapping)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 (Code Generation)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Migrations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SQL Scripts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Managed Schema Versioning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8" name="Google Shape;248;p21"/>
          <p:cNvSpPr/>
          <p:nvPr/>
        </p:nvSpPr>
        <p:spPr>
          <a:xfrm>
            <a:off x="581025" y="3529012"/>
            <a:ext cx="2223938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2804963" y="3529012"/>
            <a:ext cx="4057203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6862167" y="3529012"/>
            <a:ext cx="4748807" cy="190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581025" y="4143375"/>
            <a:ext cx="222393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2804963" y="4143375"/>
            <a:ext cx="40572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6862167" y="4143375"/>
            <a:ext cx="474880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581025" y="4743450"/>
            <a:ext cx="222393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2804963" y="4743450"/>
            <a:ext cx="40572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6862167" y="4743450"/>
            <a:ext cx="474880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581025" y="5343525"/>
            <a:ext cx="222393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2804963" y="5343525"/>
            <a:ext cx="40572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6862167" y="5343525"/>
            <a:ext cx="474880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Schema Design: The "Tombstone" Pattern</a:t>
            </a:r>
            <a:endParaRPr/>
          </a:p>
        </p:txBody>
      </p:sp>
      <p:sp>
        <p:nvSpPr>
          <p:cNvPr id="265" name="Google Shape;265;p22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 txBox="1"/>
          <p:nvPr/>
        </p:nvSpPr>
        <p:spPr>
          <a:xfrm>
            <a:off x="581025" y="1971675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Identification Strategy</a:t>
            </a:r>
            <a:endParaRPr/>
          </a:p>
        </p:txBody>
      </p:sp>
      <p:sp>
        <p:nvSpPr>
          <p:cNvPr id="267" name="Google Shape;267;p22"/>
          <p:cNvSpPr txBox="1"/>
          <p:nvPr/>
        </p:nvSpPr>
        <p:spPr>
          <a:xfrm>
            <a:off x="581025" y="2438400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Auto-increment IDs cause collisions in distributed systems.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UUIDs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generated on the client are mandatory.</a:t>
            </a:r>
            <a:endParaRPr/>
          </a:p>
        </p:txBody>
      </p:sp>
      <p:sp>
        <p:nvSpPr>
          <p:cNvPr id="268" name="Google Shape;268;p22"/>
          <p:cNvSpPr txBox="1"/>
          <p:nvPr/>
        </p:nvSpPr>
        <p:spPr>
          <a:xfrm>
            <a:off x="581025" y="32385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Sync Metadata</a:t>
            </a:r>
            <a:endParaRPr/>
          </a:p>
        </p:txBody>
      </p:sp>
      <p:sp>
        <p:nvSpPr>
          <p:cNvPr id="269" name="Google Shape;269;p22"/>
          <p:cNvSpPr txBox="1"/>
          <p:nvPr/>
        </p:nvSpPr>
        <p:spPr>
          <a:xfrm>
            <a:off x="581025" y="3705225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Every table requires tracking columns to manage the sync state:</a:t>
            </a:r>
            <a:endParaRPr/>
          </a:p>
        </p:txBody>
      </p:sp>
      <p:sp>
        <p:nvSpPr>
          <p:cNvPr id="270" name="Google Shape;270;p22"/>
          <p:cNvSpPr txBox="1"/>
          <p:nvPr/>
        </p:nvSpPr>
        <p:spPr>
          <a:xfrm>
            <a:off x="866775" y="4314825"/>
            <a:ext cx="4943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updatedAt: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Last-Write-Wins resolution.</a:t>
            </a:r>
            <a:endParaRPr/>
          </a:p>
        </p:txBody>
      </p:sp>
      <p:sp>
        <p:nvSpPr>
          <p:cNvPr id="271" name="Google Shape;271;p22"/>
          <p:cNvSpPr txBox="1"/>
          <p:nvPr/>
        </p:nvSpPr>
        <p:spPr>
          <a:xfrm>
            <a:off x="866775" y="4762500"/>
            <a:ext cx="4943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isDirty: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Flags records needing sync.</a:t>
            </a:r>
            <a:endParaRPr/>
          </a:p>
        </p:txBody>
      </p:sp>
      <p:sp>
        <p:nvSpPr>
          <p:cNvPr id="272" name="Google Shape;272;p22"/>
          <p:cNvSpPr txBox="1"/>
          <p:nvPr/>
        </p:nvSpPr>
        <p:spPr>
          <a:xfrm>
            <a:off x="866775" y="5210175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deletedAt: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 "Tombstone". We never physically delete rows; we mark them to ensure the deletion propagates to the server.</a:t>
            </a:r>
            <a:endParaRPr/>
          </a:p>
        </p:txBody>
      </p:sp>
      <p:pic>
        <p:nvPicPr>
          <p:cNvPr id="292" name="Google Shape;29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4333875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4781550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5229225"/>
            <a:ext cx="857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3657600"/>
            <a:ext cx="4943475" cy="280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3"/>
          <p:cNvSpPr txBox="1"/>
          <p:nvPr/>
        </p:nvSpPr>
        <p:spPr>
          <a:xfrm>
            <a:off x="581025" y="581025"/>
            <a:ext cx="5190648" cy="112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Sync Engine: Push Loop</a:t>
            </a:r>
            <a:endParaRPr/>
          </a:p>
        </p:txBody>
      </p:sp>
      <p:sp>
        <p:nvSpPr>
          <p:cNvPr id="301" name="Google Shape;301;p23"/>
          <p:cNvSpPr txBox="1"/>
          <p:nvPr/>
        </p:nvSpPr>
        <p:spPr>
          <a:xfrm>
            <a:off x="581025" y="2085975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Outbox Pattern</a:t>
            </a:r>
            <a:endParaRPr/>
          </a:p>
        </p:txBody>
      </p:sp>
      <p:sp>
        <p:nvSpPr>
          <p:cNvPr id="302" name="Google Shape;302;p23"/>
          <p:cNvSpPr txBox="1"/>
          <p:nvPr/>
        </p:nvSpPr>
        <p:spPr>
          <a:xfrm>
            <a:off x="581025" y="2552700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We do not call the API immediately upon user action. Instead, we insert a record into a local SyncQueue table.</a:t>
            </a:r>
            <a:endParaRPr/>
          </a:p>
        </p:txBody>
      </p:sp>
      <p:pic>
        <p:nvPicPr>
          <p:cNvPr id="303" name="Google Shape;30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3"/>
          <p:cNvSpPr txBox="1"/>
          <p:nvPr/>
        </p:nvSpPr>
        <p:spPr>
          <a:xfrm>
            <a:off x="771525" y="3848100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1. Capture Intent: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User saves data -&gt; Insert into DB + Insert into SyncQueue (Atomic Transaction).</a:t>
            </a:r>
            <a:endParaRPr/>
          </a:p>
        </p:txBody>
      </p:sp>
      <p:sp>
        <p:nvSpPr>
          <p:cNvPr id="305" name="Google Shape;305;p23"/>
          <p:cNvSpPr txBox="1"/>
          <p:nvPr/>
        </p:nvSpPr>
        <p:spPr>
          <a:xfrm>
            <a:off x="771525" y="4552950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2. Process Queue: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Background worker reads FIFO queue.</a:t>
            </a:r>
            <a:endParaRPr/>
          </a:p>
        </p:txBody>
      </p:sp>
      <p:sp>
        <p:nvSpPr>
          <p:cNvPr id="306" name="Google Shape;306;p23"/>
          <p:cNvSpPr txBox="1"/>
          <p:nvPr/>
        </p:nvSpPr>
        <p:spPr>
          <a:xfrm>
            <a:off x="771525" y="5257800"/>
            <a:ext cx="4562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3. Execute: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Attempt API call.</a:t>
            </a:r>
            <a:endParaRPr/>
          </a:p>
        </p:txBody>
      </p:sp>
      <p:sp>
        <p:nvSpPr>
          <p:cNvPr id="307" name="Google Shape;307;p23"/>
          <p:cNvSpPr txBox="1"/>
          <p:nvPr/>
        </p:nvSpPr>
        <p:spPr>
          <a:xfrm>
            <a:off x="771525" y="5657850"/>
            <a:ext cx="4562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4. Finalize: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If 200 OK -&gt; Delete Queue Item + Clear isDirty. If Fail -&gt; Retry later.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724025"/>
            <a:ext cx="5229225" cy="4638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1750" y="1724025"/>
            <a:ext cx="5229225" cy="4638675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24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Sync Engine: Pull Loop (Delta Sync)</a:t>
            </a:r>
            <a:endParaRPr/>
          </a:p>
        </p:txBody>
      </p:sp>
      <p:sp>
        <p:nvSpPr>
          <p:cNvPr id="315" name="Google Shape;315;p24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4"/>
          <p:cNvSpPr txBox="1"/>
          <p:nvPr/>
        </p:nvSpPr>
        <p:spPr>
          <a:xfrm>
            <a:off x="962025" y="2105025"/>
            <a:ext cx="46905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/>
          </a:p>
        </p:txBody>
      </p:sp>
      <p:sp>
        <p:nvSpPr>
          <p:cNvPr id="317" name="Google Shape;317;p24"/>
          <p:cNvSpPr txBox="1"/>
          <p:nvPr/>
        </p:nvSpPr>
        <p:spPr>
          <a:xfrm>
            <a:off x="962025" y="2571750"/>
            <a:ext cx="4467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Downloading the entire database on every sync is bandwidth-prohibitive and slow.</a:t>
            </a:r>
            <a:endParaRPr/>
          </a:p>
        </p:txBody>
      </p:sp>
      <p:sp>
        <p:nvSpPr>
          <p:cNvPr id="318" name="Google Shape;318;p24"/>
          <p:cNvSpPr txBox="1"/>
          <p:nvPr/>
        </p:nvSpPr>
        <p:spPr>
          <a:xfrm>
            <a:off x="962025" y="3562350"/>
            <a:ext cx="46905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The Solution: Delta Sync</a:t>
            </a:r>
            <a:endParaRPr/>
          </a:p>
        </p:txBody>
      </p:sp>
      <p:sp>
        <p:nvSpPr>
          <p:cNvPr id="319" name="Google Shape;319;p24"/>
          <p:cNvSpPr txBox="1"/>
          <p:nvPr/>
        </p:nvSpPr>
        <p:spPr>
          <a:xfrm>
            <a:off x="962025" y="4029075"/>
            <a:ext cx="4467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client requests only what has changed since the last successful synchronization checkpoint.</a:t>
            </a:r>
            <a:endParaRPr/>
          </a:p>
        </p:txBody>
      </p:sp>
      <p:sp>
        <p:nvSpPr>
          <p:cNvPr id="320" name="Google Shape;320;p24"/>
          <p:cNvSpPr/>
          <p:nvPr/>
        </p:nvSpPr>
        <p:spPr>
          <a:xfrm>
            <a:off x="962025" y="4829175"/>
            <a:ext cx="4467225" cy="5810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4"/>
          <p:cNvSpPr txBox="1"/>
          <p:nvPr/>
        </p:nvSpPr>
        <p:spPr>
          <a:xfrm>
            <a:off x="1152525" y="5019675"/>
            <a:ext cx="40862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1F5F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 /api/sync?since=2023-10-27T10:00:00Z</a:t>
            </a:r>
            <a:endParaRPr/>
          </a:p>
        </p:txBody>
      </p:sp>
      <p:sp>
        <p:nvSpPr>
          <p:cNvPr id="322" name="Google Shape;322;p24"/>
          <p:cNvSpPr/>
          <p:nvPr/>
        </p:nvSpPr>
        <p:spPr>
          <a:xfrm>
            <a:off x="962025" y="4829175"/>
            <a:ext cx="38100" cy="5810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4"/>
          <p:cNvSpPr txBox="1"/>
          <p:nvPr/>
        </p:nvSpPr>
        <p:spPr>
          <a:xfrm>
            <a:off x="6762750" y="2105025"/>
            <a:ext cx="46905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Logic Flow</a:t>
            </a:r>
            <a:endParaRPr/>
          </a:p>
        </p:txBody>
      </p:sp>
      <p:sp>
        <p:nvSpPr>
          <p:cNvPr id="324" name="Google Shape;324;p24"/>
          <p:cNvSpPr txBox="1"/>
          <p:nvPr/>
        </p:nvSpPr>
        <p:spPr>
          <a:xfrm>
            <a:off x="6762750" y="2571750"/>
            <a:ext cx="4467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Request: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Client sends last_synced_at timestamp.</a:t>
            </a:r>
            <a:endParaRPr/>
          </a:p>
        </p:txBody>
      </p:sp>
      <p:sp>
        <p:nvSpPr>
          <p:cNvPr id="325" name="Google Shape;325;p24"/>
          <p:cNvSpPr txBox="1"/>
          <p:nvPr/>
        </p:nvSpPr>
        <p:spPr>
          <a:xfrm>
            <a:off x="6762750" y="3324225"/>
            <a:ext cx="4467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2.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Query: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Server finds records where updated_at &gt; timestamp.</a:t>
            </a:r>
            <a:endParaRPr/>
          </a:p>
        </p:txBody>
      </p:sp>
      <p:sp>
        <p:nvSpPr>
          <p:cNvPr id="326" name="Google Shape;326;p24"/>
          <p:cNvSpPr txBox="1"/>
          <p:nvPr/>
        </p:nvSpPr>
        <p:spPr>
          <a:xfrm>
            <a:off x="6762750" y="4114800"/>
            <a:ext cx="44672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3.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Upsert: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Client iterates response:</a:t>
            </a:r>
            <a:endParaRPr/>
          </a:p>
        </p:txBody>
      </p:sp>
      <p:sp>
        <p:nvSpPr>
          <p:cNvPr id="327" name="Google Shape;327;p24"/>
          <p:cNvSpPr txBox="1"/>
          <p:nvPr/>
        </p:nvSpPr>
        <p:spPr>
          <a:xfrm>
            <a:off x="6762750" y="5372100"/>
            <a:ext cx="4467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4.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Checkpoint: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Update local last_synced_at to server time.</a:t>
            </a:r>
            <a:endParaRPr/>
          </a:p>
        </p:txBody>
      </p:sp>
      <p:sp>
        <p:nvSpPr>
          <p:cNvPr id="328" name="Google Shape;328;p24"/>
          <p:cNvSpPr txBox="1"/>
          <p:nvPr/>
        </p:nvSpPr>
        <p:spPr>
          <a:xfrm>
            <a:off x="7239000" y="4476750"/>
            <a:ext cx="39909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If deleted_at is set -&gt; Local Delete.</a:t>
            </a:r>
            <a:endParaRPr/>
          </a:p>
        </p:txBody>
      </p:sp>
      <p:sp>
        <p:nvSpPr>
          <p:cNvPr id="329" name="Google Shape;329;p24"/>
          <p:cNvSpPr txBox="1"/>
          <p:nvPr/>
        </p:nvSpPr>
        <p:spPr>
          <a:xfrm>
            <a:off x="7239000" y="4924425"/>
            <a:ext cx="39909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Else -&gt; Insert or Update.</a:t>
            </a:r>
            <a:endParaRPr/>
          </a:p>
        </p:txBody>
      </p:sp>
      <p:pic>
        <p:nvPicPr>
          <p:cNvPr id="330" name="Google Shape;330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3250" y="4495800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53250" y="4943475"/>
            <a:ext cx="857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619375"/>
            <a:ext cx="5372100" cy="272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2619375"/>
            <a:ext cx="5372100" cy="272415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5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Background Execution with Workmanager</a:t>
            </a:r>
            <a:endParaRPr/>
          </a:p>
        </p:txBody>
      </p:sp>
      <p:sp>
        <p:nvSpPr>
          <p:cNvPr id="339" name="Google Shape;339;p25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5"/>
          <p:cNvSpPr txBox="1"/>
          <p:nvPr/>
        </p:nvSpPr>
        <p:spPr>
          <a:xfrm>
            <a:off x="581025" y="1724025"/>
            <a:ext cx="11029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To ensure eventual consistency, synchronization must occur even when the app is closed. The workmanager package bridges the gap to Android WorkManager and iOS BGTaskScheduler.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581025" y="5819775"/>
            <a:ext cx="110299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Best Practice: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Use Workmanager for "best effort" background sync, but </a:t>
            </a:r>
            <a:r>
              <a:rPr lang="en-US" sz="1500" b="0" i="1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always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trigger an immediate sync when the app enters the foreground (didChangeAppLifecycleState).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581025" y="5629275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 txBox="1"/>
          <p:nvPr/>
        </p:nvSpPr>
        <p:spPr>
          <a:xfrm>
            <a:off x="756761" y="3667125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Android</a:t>
            </a:r>
            <a:endParaRPr/>
          </a:p>
        </p:txBody>
      </p:sp>
      <p:sp>
        <p:nvSpPr>
          <p:cNvPr id="344" name="Google Shape;344;p25"/>
          <p:cNvSpPr txBox="1"/>
          <p:nvPr/>
        </p:nvSpPr>
        <p:spPr>
          <a:xfrm>
            <a:off x="876300" y="4133850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Reliable. Periodic tasks can be scheduled with a minimum interval of 15 minutes.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6414611" y="3667125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iOS Constraints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6534150" y="4133850"/>
            <a:ext cx="47815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Highly restrictive. The OS decides when to run tasks based on user behavior (heuristics). Execution is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not guaranteed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pic>
        <p:nvPicPr>
          <p:cNvPr id="347" name="Google Shape;34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009900" y="29622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53475" y="2962275"/>
            <a:ext cx="3429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866900"/>
            <a:ext cx="3486150" cy="426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52925" y="1866900"/>
            <a:ext cx="3486150" cy="426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4825" y="1866900"/>
            <a:ext cx="3486150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26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Conflict Resolution Strategies</a:t>
            </a:r>
            <a:endParaRPr/>
          </a:p>
        </p:txBody>
      </p:sp>
      <p:sp>
        <p:nvSpPr>
          <p:cNvPr id="357" name="Google Shape;357;p26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6"/>
          <p:cNvSpPr txBox="1"/>
          <p:nvPr/>
        </p:nvSpPr>
        <p:spPr>
          <a:xfrm>
            <a:off x="803910" y="2914650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Last Write Wins (LWW)</a:t>
            </a:r>
            <a:endParaRPr/>
          </a:p>
        </p:txBody>
      </p:sp>
      <p:sp>
        <p:nvSpPr>
          <p:cNvPr id="359" name="Google Shape;359;p26"/>
          <p:cNvSpPr txBox="1"/>
          <p:nvPr/>
        </p:nvSpPr>
        <p:spPr>
          <a:xfrm>
            <a:off x="876300" y="3705225"/>
            <a:ext cx="289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if (remote.time &gt; local.time) overwrite.</a:t>
            </a:r>
            <a:endParaRPr/>
          </a:p>
        </p:txBody>
      </p:sp>
      <p:sp>
        <p:nvSpPr>
          <p:cNvPr id="360" name="Google Shape;360;p26"/>
          <p:cNvSpPr txBox="1"/>
          <p:nvPr/>
        </p:nvSpPr>
        <p:spPr>
          <a:xfrm>
            <a:off x="876300" y="43148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Simple to implement.</a:t>
            </a:r>
            <a:endParaRPr/>
          </a:p>
        </p:txBody>
      </p:sp>
      <p:sp>
        <p:nvSpPr>
          <p:cNvPr id="361" name="Google Shape;361;p26"/>
          <p:cNvSpPr txBox="1"/>
          <p:nvPr/>
        </p:nvSpPr>
        <p:spPr>
          <a:xfrm>
            <a:off x="876300" y="4619625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Data loss. If User A changes Title and User B changes Body, one entire record is lost.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5810" y="291465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Semantic Merge</a:t>
            </a:r>
            <a:endParaRPr/>
          </a:p>
        </p:txBody>
      </p:sp>
      <p:sp>
        <p:nvSpPr>
          <p:cNvPr id="363" name="Google Shape;363;p26"/>
          <p:cNvSpPr txBox="1"/>
          <p:nvPr/>
        </p:nvSpPr>
        <p:spPr>
          <a:xfrm>
            <a:off x="4648200" y="3381375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Field-level inspection. Apply changes only to modified fields.</a:t>
            </a:r>
            <a:endParaRPr/>
          </a:p>
        </p:txBody>
      </p:sp>
      <p:sp>
        <p:nvSpPr>
          <p:cNvPr id="364" name="Google Shape;364;p26"/>
          <p:cNvSpPr txBox="1"/>
          <p:nvPr/>
        </p:nvSpPr>
        <p:spPr>
          <a:xfrm>
            <a:off x="4648200" y="429577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Preserves data integrity.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4648200" y="4600575"/>
            <a:ext cx="289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Requires custom business logic per entity.</a:t>
            </a:r>
            <a:endParaRPr/>
          </a:p>
        </p:txBody>
      </p:sp>
      <p:sp>
        <p:nvSpPr>
          <p:cNvPr id="366" name="Google Shape;366;p26"/>
          <p:cNvSpPr txBox="1"/>
          <p:nvPr/>
        </p:nvSpPr>
        <p:spPr>
          <a:xfrm>
            <a:off x="8347710" y="2914650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CRDTs</a:t>
            </a:r>
            <a:endParaRPr/>
          </a:p>
        </p:txBody>
      </p:sp>
      <p:sp>
        <p:nvSpPr>
          <p:cNvPr id="367" name="Google Shape;367;p26"/>
          <p:cNvSpPr txBox="1"/>
          <p:nvPr/>
        </p:nvSpPr>
        <p:spPr>
          <a:xfrm>
            <a:off x="8420100" y="3381375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Logic: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Mathematical convergence (Conflict-free Replicated Data Types).</a:t>
            </a:r>
            <a:endParaRPr/>
          </a:p>
        </p:txBody>
      </p:sp>
      <p:sp>
        <p:nvSpPr>
          <p:cNvPr id="368" name="Google Shape;368;p26"/>
          <p:cNvSpPr txBox="1"/>
          <p:nvPr/>
        </p:nvSpPr>
        <p:spPr>
          <a:xfrm>
            <a:off x="8420100" y="4295775"/>
            <a:ext cx="289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Mathematically guaranteed consistency.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8420100" y="4905375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High storage overhead (operation history) and complexity.</a:t>
            </a:r>
            <a:endParaRPr/>
          </a:p>
        </p:txBody>
      </p:sp>
      <p:pic>
        <p:nvPicPr>
          <p:cNvPr id="370" name="Google Shape;370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95500" y="220980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95975" y="220980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67875" y="2209800"/>
            <a:ext cx="40005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7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Architecture Comparison</a:t>
            </a:r>
            <a:endParaRPr/>
          </a:p>
        </p:txBody>
      </p:sp>
      <p:sp>
        <p:nvSpPr>
          <p:cNvPr id="378" name="Google Shape;378;p27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9" name="Google Shape;379;p27"/>
          <p:cNvGraphicFramePr/>
          <p:nvPr>
            <p:extLst>
              <p:ext uri="{D42A27DB-BD31-4B8C-83A1-F6EECF244321}">
                <p14:modId xmlns:p14="http://schemas.microsoft.com/office/powerpoint/2010/main" val="3555137071"/>
              </p:ext>
            </p:extLst>
          </p:nvPr>
        </p:nvGraphicFramePr>
        <p:xfrm>
          <a:off x="581025" y="1762125"/>
          <a:ext cx="11029925" cy="4514850"/>
        </p:xfrm>
        <a:graphic>
          <a:graphicData uri="http://schemas.openxmlformats.org/drawingml/2006/table">
            <a:tbl>
              <a:tblPr firstRow="1" bandRow="1">
                <a:noFill/>
                <a:tableStyleId>{79EC1418-80E4-4D0E-8E05-970B81C7DF05}</a:tableStyleId>
              </a:tblPr>
              <a:tblGrid>
                <a:gridCol w="165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3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46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chemeClr val="bg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Feature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bg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Firebase (Firestore)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bg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Custom SQLite (Drift)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chemeClr val="bg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Implication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 Topology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NoSQL (Graph)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Relational (SQL)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Drift allows rigorous normalization.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Offline Queries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Restricted (Full Scans)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Unrestricted (Indexed)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Firestore is unsuitable for complex offline reporting.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Transactions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Online Only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Offline Supported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Critical for financial/inventory integrity.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Search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None Offline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FTS5 (Full Text Search)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SQLite allows "Search as you type" offline.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Cost Model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Usage (Reads/Writes)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Fixed (Infrastructure)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Firebase costs can explode with inefficient sync.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Google Shape;404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985962"/>
            <a:ext cx="5229225" cy="303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833562"/>
            <a:ext cx="5229225" cy="33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28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Recommendations</a:t>
            </a:r>
            <a:endParaRPr/>
          </a:p>
        </p:txBody>
      </p:sp>
      <p:sp>
        <p:nvSpPr>
          <p:cNvPr id="407" name="Google Shape;407;p28"/>
          <p:cNvSpPr/>
          <p:nvPr/>
        </p:nvSpPr>
        <p:spPr>
          <a:xfrm>
            <a:off x="581025" y="1333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8"/>
          <p:cNvSpPr txBox="1"/>
          <p:nvPr/>
        </p:nvSpPr>
        <p:spPr>
          <a:xfrm>
            <a:off x="581025" y="5667375"/>
            <a:ext cx="11029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"Third Way":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Middleware solutions like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PowerSync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offer a middle ground, providing SQLite performance with managed sync infrastructure.</a:t>
            </a:r>
            <a:endParaRPr/>
          </a:p>
        </p:txBody>
      </p:sp>
      <p:sp>
        <p:nvSpPr>
          <p:cNvPr id="409" name="Google Shape;409;p28"/>
          <p:cNvSpPr txBox="1"/>
          <p:nvPr/>
        </p:nvSpPr>
        <p:spPr>
          <a:xfrm>
            <a:off x="914400" y="2271712"/>
            <a:ext cx="484060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19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 Choose Firebase When:</a:t>
            </a:r>
            <a:endParaRPr/>
          </a:p>
        </p:txBody>
      </p:sp>
      <p:sp>
        <p:nvSpPr>
          <p:cNvPr id="410" name="Google Shape;410;p28"/>
          <p:cNvSpPr txBox="1"/>
          <p:nvPr/>
        </p:nvSpPr>
        <p:spPr>
          <a:xfrm>
            <a:off x="6715125" y="2119312"/>
            <a:ext cx="484060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29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Choose Custom SQLite When:</a:t>
            </a:r>
            <a:endParaRPr/>
          </a:p>
        </p:txBody>
      </p:sp>
      <p:pic>
        <p:nvPicPr>
          <p:cNvPr id="411" name="Google Shape;411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4400" y="2300287"/>
            <a:ext cx="251966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28"/>
          <p:cNvSpPr txBox="1"/>
          <p:nvPr/>
        </p:nvSpPr>
        <p:spPr>
          <a:xfrm>
            <a:off x="1200150" y="2786062"/>
            <a:ext cx="43243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Prototyping: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Speed is the primary metric.</a:t>
            </a:r>
            <a:endParaRPr/>
          </a:p>
        </p:txBody>
      </p:sp>
      <p:sp>
        <p:nvSpPr>
          <p:cNvPr id="413" name="Google Shape;413;p28"/>
          <p:cNvSpPr txBox="1"/>
          <p:nvPr/>
        </p:nvSpPr>
        <p:spPr>
          <a:xfrm>
            <a:off x="1200150" y="3233737"/>
            <a:ext cx="4324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Social Apps: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Simple data relationships; LWW is acceptable.</a:t>
            </a:r>
            <a:endParaRPr/>
          </a:p>
        </p:txBody>
      </p:sp>
      <p:sp>
        <p:nvSpPr>
          <p:cNvPr id="414" name="Google Shape;414;p28"/>
          <p:cNvSpPr txBox="1"/>
          <p:nvPr/>
        </p:nvSpPr>
        <p:spPr>
          <a:xfrm>
            <a:off x="1200150" y="3986212"/>
            <a:ext cx="4324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Live Collaboration: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Real-time push is a core feature.</a:t>
            </a:r>
            <a:endParaRPr/>
          </a:p>
        </p:txBody>
      </p:sp>
      <p:pic>
        <p:nvPicPr>
          <p:cNvPr id="415" name="Google Shape;415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15125" y="2147887"/>
            <a:ext cx="232916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8"/>
          <p:cNvSpPr txBox="1"/>
          <p:nvPr/>
        </p:nvSpPr>
        <p:spPr>
          <a:xfrm>
            <a:off x="7000875" y="2633662"/>
            <a:ext cx="4324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Enterprise Field Apps: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Offline for days; complex filtering needed.</a:t>
            </a:r>
            <a:endParaRPr/>
          </a:p>
        </p:txBody>
      </p:sp>
      <p:sp>
        <p:nvSpPr>
          <p:cNvPr id="417" name="Google Shape;417;p28"/>
          <p:cNvSpPr txBox="1"/>
          <p:nvPr/>
        </p:nvSpPr>
        <p:spPr>
          <a:xfrm>
            <a:off x="7000875" y="3386137"/>
            <a:ext cx="4324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Transaction-Critical: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Cannot risk data corruption.</a:t>
            </a:r>
            <a:endParaRPr/>
          </a:p>
        </p:txBody>
      </p:sp>
      <p:sp>
        <p:nvSpPr>
          <p:cNvPr id="418" name="Google Shape;418;p28"/>
          <p:cNvSpPr txBox="1"/>
          <p:nvPr/>
        </p:nvSpPr>
        <p:spPr>
          <a:xfrm>
            <a:off x="7000875" y="4138612"/>
            <a:ext cx="43243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Cost-Sensitive Scaling: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High read volume prohibits per-read billing.</a:t>
            </a:r>
            <a:endParaRPr/>
          </a:p>
        </p:txBody>
      </p:sp>
      <p:pic>
        <p:nvPicPr>
          <p:cNvPr id="419" name="Google Shape;419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2805112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3252787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4005262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15125" y="2652712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15125" y="3405187"/>
            <a:ext cx="857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15125" y="4157662"/>
            <a:ext cx="857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244054"/>
            <a:ext cx="11029950" cy="436989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115377" y="2921167"/>
            <a:ext cx="9961245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8FAFC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Synchronization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1352550" y="3882479"/>
            <a:ext cx="94869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Inter Light"/>
                <a:ea typeface="Inter Light"/>
                <a:cs typeface="Inter Light"/>
                <a:sym typeface="Inter Light"/>
              </a:rPr>
              <a:t>Conflict-Free Replicated Data Types (CRDTs) and Lattice Theory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47912"/>
            <a:ext cx="5229225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347912"/>
            <a:ext cx="52292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971550" y="273843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Challenge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71550" y="3252787"/>
            <a:ext cx="444817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Distributed systems face a binary choice between strong consistency and availability (CAP theorem). Traditional consensus algorithms (Paxos, Raft) sacrifice availability during partitions, which is unacceptable for real-time, collaborative applications.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772275" y="273843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CRDT Solution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772275" y="3252787"/>
            <a:ext cx="4448175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Conflict-free Replicated Data Types offer a rigorous alternative rooted in Abstract Algebra. By structuring data as monotonic join-semilattices, CRDTs guarantee Strong Eventual Consistency (SEC) without runtime arbitration.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Executive Summary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00262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81025" y="2290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CAP theorem posits that a distributed store can only provide two of three guarantees: Consistency, Availability, and Partition Tolerance.</a:t>
            </a:r>
            <a:endParaRPr/>
          </a:p>
        </p:txBody>
      </p:sp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05476" y="2109787"/>
            <a:ext cx="4181623" cy="379080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666750" y="339566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771525" y="3395662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CP Systems: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Refuse writes during partitions to maintain consistency (e.g., Spanner, Etcd). High latency.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666750" y="445293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771525" y="4452937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 Systems: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Prioritize uptime and low latency, allowing replicas to diverge. The challenge is reconciliation.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Consistency-Availability Trade-off</a:t>
            </a:r>
            <a:endParaRPr/>
          </a:p>
        </p:txBody>
      </p:sp>
      <p:sp>
        <p:nvSpPr>
          <p:cNvPr id="114" name="Google Shape;114;p15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00262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581025" y="2290762"/>
            <a:ext cx="522922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Naive eventual consistency often relies on "Last-Write-Wins" (LWW) based on wall-clock timestamps. This approach is mathematically unsound in asynchronous environments.</a:t>
            </a:r>
            <a:endParaRPr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99498" y="2109787"/>
            <a:ext cx="4593580" cy="379080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666750" y="370046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771525" y="3700462"/>
            <a:ext cx="50387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Clock Skew: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"Now" is a local illusion. A physically later write can be overwritten by a lagging clock.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666750" y="445293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71525" y="4452937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Data Loss: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LWW discards information rather than merging it. Concurrent edits to different fields may obliterate each other.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Failure of "Last-Write-Wins"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252662"/>
            <a:ext cx="5229225" cy="350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252662"/>
            <a:ext cx="5229225" cy="35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971550" y="264318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Partial Orders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971550" y="31575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For a state set , we define a relation satisfying: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772275" y="264318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Join-Semilattices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6772275" y="3157537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To resolve concurrent states, we need a Least Upper Bound (LUB), or supremum. A Join-Semilattice is a set where every pair has a unique LUB .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6772275" y="45672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This represents the union of all information in both states.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1057275" y="395763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1162050" y="3957637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Reflexivity: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1057275" y="440531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1162050" y="4405312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Antisymmetry: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1057275" y="485298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162050" y="4852987"/>
            <a:ext cx="4257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Transitivity:</a:t>
            </a:r>
            <a:endParaRPr/>
          </a:p>
        </p:txBody>
      </p:sp>
      <p:pic>
        <p:nvPicPr>
          <p:cNvPr id="149" name="Google Shape;14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478428" y="4376736"/>
            <a:ext cx="526851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22879" y="4376737"/>
            <a:ext cx="929878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247900" y="4033837"/>
            <a:ext cx="583703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581275" y="4471987"/>
            <a:ext cx="2366664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295525" y="4919662"/>
            <a:ext cx="2423517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Mathematical Foundations: Order Theory</a:t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00262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581025" y="2290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 a lattice-based system, the state only moves "upwards" towards a more complete state. Convergence is not arbitration, but a calculation.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581025" y="339566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If Replica A has state and Replica B has , the merged state is: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581025" y="485864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This guarantees that any two replicas that have seen the same updates will be in the exact same state.</a:t>
            </a:r>
            <a:endParaRPr/>
          </a:p>
        </p:txBody>
      </p:sp>
      <p:pic>
        <p:nvPicPr>
          <p:cNvPr id="166" name="Google Shape;166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1642" y="2109787"/>
            <a:ext cx="5049291" cy="3790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552700" y="3443287"/>
            <a:ext cx="266700" cy="243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43425" y="3443287"/>
            <a:ext cx="266700" cy="2437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92548" y="4291012"/>
            <a:ext cx="1806178" cy="28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Lattice of Convergence</a:t>
            </a: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347912"/>
            <a:ext cx="3770114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36889" y="2347912"/>
            <a:ext cx="3344167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66807" y="2347912"/>
            <a:ext cx="3344167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 txBox="1"/>
          <p:nvPr/>
        </p:nvSpPr>
        <p:spPr>
          <a:xfrm>
            <a:off x="796810" y="3300412"/>
            <a:ext cx="333854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Associativity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76300" y="4262437"/>
            <a:ext cx="3179564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Grouping doesn't matter. Enables arbitrary gossip topologies.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4863323" y="3300412"/>
            <a:ext cx="289129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Commutativity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4932164" y="4262437"/>
            <a:ext cx="2753617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Order doesn't matter. Messages can arrive in any sequence.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8493241" y="3300412"/>
            <a:ext cx="289129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Idempotence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8562082" y="4262437"/>
            <a:ext cx="2753617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Duplication is fine. Processing the same message twice is a no-op.</a:t>
            </a:r>
            <a:endParaRPr/>
          </a:p>
        </p:txBody>
      </p:sp>
      <p:pic>
        <p:nvPicPr>
          <p:cNvPr id="186" name="Google Shape;186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51769" y="2681287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3786187"/>
            <a:ext cx="3179564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118473" y="268128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642520" y="3852862"/>
            <a:ext cx="1332904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748391" y="268128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473951" y="3852862"/>
            <a:ext cx="929878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ACI Properties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Google Shape;19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09762"/>
            <a:ext cx="5229225" cy="419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09762"/>
            <a:ext cx="5229225" cy="419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0"/>
          <p:cNvSpPr txBox="1"/>
          <p:nvPr/>
        </p:nvSpPr>
        <p:spPr>
          <a:xfrm>
            <a:off x="971550" y="230028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State-based (CvRDT)</a:t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971550" y="28146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Mechanism: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Replicas broadcast their full local state.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971550" y="3614737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Protocol: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Gossip / Anti-Entropy.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971550" y="41100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Robust against network failures; simple messaging requirements.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971550" y="49101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High bandwidth usage (sending whole state for small changes).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6772275" y="230028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Operation-based (CmRDT)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6772275" y="28146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Mechanism: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Replicas broadcast individual operations (e.g., "insert 'a'").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6772275" y="3614737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Protocol: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Reliable Broadcast / Pub-Sub.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6772275" y="4110037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Highly bandwidth efficient.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6772275" y="460533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Requires strict causal delivery guarantees; fragile if ops are lost.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Taxonomy: State-based vs. Op-based</a:t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852612"/>
            <a:ext cx="6449615" cy="430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02140" y="1852612"/>
            <a:ext cx="4008834" cy="4305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1"/>
          <p:cNvSpPr txBox="1"/>
          <p:nvPr/>
        </p:nvSpPr>
        <p:spPr>
          <a:xfrm>
            <a:off x="971550" y="2243137"/>
            <a:ext cx="595199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G-Counter (Grow-Only)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971550" y="2757487"/>
            <a:ext cx="566856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simple integer fails merge ( ). A G-Counter uses a vector of integers, one per replica.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971550" y="3557587"/>
            <a:ext cx="566856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Merge: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Pointwise Maximum.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7992665" y="2243137"/>
            <a:ext cx="338917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PN-Counter (Pos-Neg)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7992665" y="2757487"/>
            <a:ext cx="3227784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To support decrements, we compose two G-Counters: (increments) and (decrements).</a:t>
            </a:r>
            <a:endParaRPr dirty="0"/>
          </a:p>
        </p:txBody>
      </p:sp>
      <p:sp>
        <p:nvSpPr>
          <p:cNvPr id="225" name="Google Shape;225;p21"/>
          <p:cNvSpPr txBox="1"/>
          <p:nvPr/>
        </p:nvSpPr>
        <p:spPr>
          <a:xfrm>
            <a:off x="7992665" y="3862387"/>
            <a:ext cx="3227784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Value: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7992665" y="4662487"/>
            <a:ext cx="3227784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state always grows monotonically, even if the value fluctuates.</a:t>
            </a:r>
            <a:endParaRPr/>
          </a:p>
        </p:txBody>
      </p:sp>
      <p:pic>
        <p:nvPicPr>
          <p:cNvPr id="227" name="Google Shape;227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1550" y="4431505"/>
            <a:ext cx="1840706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71550" y="4071937"/>
            <a:ext cx="566856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92665" y="4186237"/>
            <a:ext cx="2900957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1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Primitives: The Algebra of Counting</a:t>
            </a:r>
            <a:endParaRPr/>
          </a:p>
        </p:txBody>
      </p:sp>
      <p:sp>
        <p:nvSpPr>
          <p:cNvPr id="233" name="Google Shape;233;p21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2"/>
          <p:cNvSpPr txBox="1"/>
          <p:nvPr/>
        </p:nvSpPr>
        <p:spPr>
          <a:xfrm>
            <a:off x="962025" y="2640359"/>
            <a:ext cx="10648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Unique Tags: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Every "add" operation generates a unique tag (dot). Adding "milk" twice creates two distinct entries: ("milk", A1) and ("milk", A2).</a:t>
            </a:r>
            <a:endParaRPr/>
          </a:p>
        </p:txBody>
      </p:sp>
      <p:sp>
        <p:nvSpPr>
          <p:cNvPr id="240" name="Google Shape;240;p22"/>
          <p:cNvSpPr txBox="1"/>
          <p:nvPr/>
        </p:nvSpPr>
        <p:spPr>
          <a:xfrm>
            <a:off x="962025" y="3392834"/>
            <a:ext cx="10648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Observed-Remove: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When a user removes "milk", the system identifies all observed tags and moves them to a "Removed" set (tombstones).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962025" y="4145309"/>
            <a:ext cx="106489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Add-Wins Strategy: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If Replica A adds "milk" concurrently with Replica B removing it, the new add survives because B could not have "observed" A's new tag.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962025" y="4897784"/>
            <a:ext cx="10648950" cy="329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Lattice Definition:</a:t>
            </a:r>
            <a:endParaRPr/>
          </a:p>
        </p:txBody>
      </p:sp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19375" y="4916834"/>
            <a:ext cx="3990082" cy="310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67369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426172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17864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4931122"/>
            <a:ext cx="1428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2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Set Theory: The OR-Set</a:t>
            </a:r>
            <a:endParaRPr/>
          </a:p>
        </p:txBody>
      </p:sp>
      <p:sp>
        <p:nvSpPr>
          <p:cNvPr id="249" name="Google Shape;249;p22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924050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3"/>
          <p:cNvSpPr txBox="1"/>
          <p:nvPr/>
        </p:nvSpPr>
        <p:spPr>
          <a:xfrm>
            <a:off x="581025" y="2114550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Collaborative editing requires handling concurrent inserts at arbitrary positions. Naive indexing fails (Index 5 shifts to 6).</a:t>
            </a:r>
            <a:endParaRPr/>
          </a:p>
        </p:txBody>
      </p:sp>
      <p:pic>
        <p:nvPicPr>
          <p:cNvPr id="257" name="Google Shape;25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52307" y="1933575"/>
            <a:ext cx="4887962" cy="3790801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3"/>
          <p:cNvSpPr txBox="1"/>
          <p:nvPr/>
        </p:nvSpPr>
        <p:spPr>
          <a:xfrm>
            <a:off x="666750" y="32194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771525" y="3219450"/>
            <a:ext cx="50387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Indexing Problem: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Fixed indices cannot track dynamic content.</a:t>
            </a:r>
            <a:endParaRPr/>
          </a:p>
        </p:txBody>
      </p:sp>
      <p:sp>
        <p:nvSpPr>
          <p:cNvPr id="260" name="Google Shape;260;p23"/>
          <p:cNvSpPr txBox="1"/>
          <p:nvPr/>
        </p:nvSpPr>
        <p:spPr>
          <a:xfrm>
            <a:off x="666750" y="39719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1" name="Google Shape;261;p23"/>
          <p:cNvSpPr txBox="1"/>
          <p:nvPr/>
        </p:nvSpPr>
        <p:spPr>
          <a:xfrm>
            <a:off x="771525" y="3971925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RGA (Replicated Growable Array):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Uses a linked-list structure where every character has a unique timestamp ID.</a:t>
            </a:r>
            <a:endParaRPr/>
          </a:p>
        </p:txBody>
      </p:sp>
      <p:sp>
        <p:nvSpPr>
          <p:cNvPr id="262" name="Google Shape;262;p23"/>
          <p:cNvSpPr txBox="1"/>
          <p:nvPr/>
        </p:nvSpPr>
        <p:spPr>
          <a:xfrm>
            <a:off x="666750" y="50292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3" name="Google Shape;263;p23"/>
          <p:cNvSpPr txBox="1"/>
          <p:nvPr/>
        </p:nvSpPr>
        <p:spPr>
          <a:xfrm>
            <a:off x="771525" y="5029200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Tombstones: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Deleted characters are marked "dead" but kept to maintain relative structure for concurrent edits.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Sequence CRDTs: Text Editing</a:t>
            </a:r>
            <a:endParaRPr/>
          </a:p>
        </p:txBody>
      </p:sp>
      <p:sp>
        <p:nvSpPr>
          <p:cNvPr id="265" name="Google Shape;265;p23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57412"/>
            <a:ext cx="5229225" cy="369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57412"/>
            <a:ext cx="5229225" cy="3695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4"/>
          <p:cNvSpPr txBox="1"/>
          <p:nvPr/>
        </p:nvSpPr>
        <p:spPr>
          <a:xfrm>
            <a:off x="971550" y="254793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Bandwidth Problem</a:t>
            </a:r>
            <a:endParaRPr/>
          </a:p>
        </p:txBody>
      </p:sp>
      <p:sp>
        <p:nvSpPr>
          <p:cNvPr id="274" name="Google Shape;274;p24"/>
          <p:cNvSpPr txBox="1"/>
          <p:nvPr/>
        </p:nvSpPr>
        <p:spPr>
          <a:xfrm>
            <a:off x="971550" y="3062287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Standard CvRDTs must transmit their entire state to merge. For a large G-Set with a million items, adding a single item triggers a massive transfer.</a:t>
            </a:r>
            <a:endParaRPr/>
          </a:p>
        </p:txBody>
      </p:sp>
      <p:sp>
        <p:nvSpPr>
          <p:cNvPr id="275" name="Google Shape;275;p24"/>
          <p:cNvSpPr txBox="1"/>
          <p:nvPr/>
        </p:nvSpPr>
        <p:spPr>
          <a:xfrm>
            <a:off x="6772275" y="2547937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Delta Solution</a:t>
            </a:r>
            <a:endParaRPr/>
          </a:p>
        </p:txBody>
      </p:sp>
      <p:sp>
        <p:nvSpPr>
          <p:cNvPr id="276" name="Google Shape;276;p24"/>
          <p:cNvSpPr txBox="1"/>
          <p:nvPr/>
        </p:nvSpPr>
        <p:spPr>
          <a:xfrm>
            <a:off x="6772275" y="3062287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Delta-CRDTs define a mutator that returns a small state fragment, or "delta" ( ).</a:t>
            </a: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6772275" y="4357687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This reduces bandwidth consumption by orders of magnitude while maintaining the robustness of state-based models.</a:t>
            </a:r>
            <a:endParaRPr/>
          </a:p>
        </p:txBody>
      </p:sp>
      <p:pic>
        <p:nvPicPr>
          <p:cNvPr id="278" name="Google Shape;278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44405" y="3557587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72275" y="3910012"/>
            <a:ext cx="1253728" cy="253305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4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Optimization: Delta-CRDTs</a:t>
            </a:r>
            <a:endParaRPr/>
          </a:p>
        </p:txBody>
      </p:sp>
      <p:sp>
        <p:nvSpPr>
          <p:cNvPr id="281" name="Google Shape;281;p24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00262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5"/>
          <p:cNvSpPr txBox="1"/>
          <p:nvPr/>
        </p:nvSpPr>
        <p:spPr>
          <a:xfrm>
            <a:off x="581025" y="2290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CRDTs track concurrency using metadata (Vector Clocks, dots, tombstones). Without management, this grows indefinitely.</a:t>
            </a:r>
            <a:endParaRPr/>
          </a:p>
        </p:txBody>
      </p:sp>
      <p:pic>
        <p:nvPicPr>
          <p:cNvPr id="289" name="Google Shape;289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531417"/>
            <a:ext cx="5210175" cy="2947689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5"/>
          <p:cNvSpPr txBox="1"/>
          <p:nvPr/>
        </p:nvSpPr>
        <p:spPr>
          <a:xfrm>
            <a:off x="666750" y="339566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91" name="Google Shape;291;p25"/>
          <p:cNvSpPr txBox="1"/>
          <p:nvPr/>
        </p:nvSpPr>
        <p:spPr>
          <a:xfrm>
            <a:off x="771525" y="3395662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Dotted Version Vectors (DVV):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Optimized vector clocks that track individual events to solve the "Actor Explosion" problem.</a:t>
            </a:r>
            <a:endParaRPr/>
          </a:p>
        </p:txBody>
      </p:sp>
      <p:sp>
        <p:nvSpPr>
          <p:cNvPr id="292" name="Google Shape;292;p25"/>
          <p:cNvSpPr txBox="1"/>
          <p:nvPr/>
        </p:nvSpPr>
        <p:spPr>
          <a:xfrm>
            <a:off x="666750" y="445293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93" name="Google Shape;293;p25"/>
          <p:cNvSpPr txBox="1"/>
          <p:nvPr/>
        </p:nvSpPr>
        <p:spPr>
          <a:xfrm>
            <a:off x="771525" y="4452937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Causal Stability: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The only safe way to delete a tombstone is to prove that no future message will ever depend on it.</a:t>
            </a:r>
            <a:endParaRPr/>
          </a:p>
        </p:txBody>
      </p:sp>
      <p:sp>
        <p:nvSpPr>
          <p:cNvPr id="294" name="Google Shape;294;p25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Metadata Management</a:t>
            </a:r>
            <a:endParaRPr/>
          </a:p>
        </p:txBody>
      </p:sp>
      <p:sp>
        <p:nvSpPr>
          <p:cNvPr id="295" name="Google Shape;295;p25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95512"/>
            <a:ext cx="34861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95512"/>
            <a:ext cx="3486150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95512"/>
            <a:ext cx="348615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6"/>
          <p:cNvSpPr txBox="1"/>
          <p:nvPr/>
        </p:nvSpPr>
        <p:spPr>
          <a:xfrm>
            <a:off x="803910" y="3148012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Databases</a:t>
            </a:r>
            <a:endParaRPr/>
          </a:p>
        </p:txBody>
      </p:sp>
      <p:sp>
        <p:nvSpPr>
          <p:cNvPr id="305" name="Google Shape;305;p26"/>
          <p:cNvSpPr txBox="1"/>
          <p:nvPr/>
        </p:nvSpPr>
        <p:spPr>
          <a:xfrm>
            <a:off x="876300" y="3614737"/>
            <a:ext cx="2895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Riak KV: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Pioneering use of CvRDTs (Maps, Sets) with DVV.</a:t>
            </a:r>
            <a:endParaRPr/>
          </a:p>
        </p:txBody>
      </p:sp>
      <p:sp>
        <p:nvSpPr>
          <p:cNvPr id="306" name="Google Shape;306;p26"/>
          <p:cNvSpPr txBox="1"/>
          <p:nvPr/>
        </p:nvSpPr>
        <p:spPr>
          <a:xfrm>
            <a:off x="876300" y="441483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Redis Enterprise: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Implements "Active-Active" geo-replication using Op-based CRDTs.</a:t>
            </a:r>
            <a:endParaRPr/>
          </a:p>
        </p:txBody>
      </p:sp>
      <p:sp>
        <p:nvSpPr>
          <p:cNvPr id="307" name="Google Shape;307;p26"/>
          <p:cNvSpPr txBox="1"/>
          <p:nvPr/>
        </p:nvSpPr>
        <p:spPr>
          <a:xfrm>
            <a:off x="4575810" y="3148012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Collaboration</a:t>
            </a:r>
            <a:endParaRPr/>
          </a:p>
        </p:txBody>
      </p:sp>
      <p:sp>
        <p:nvSpPr>
          <p:cNvPr id="308" name="Google Shape;308;p26"/>
          <p:cNvSpPr txBox="1"/>
          <p:nvPr/>
        </p:nvSpPr>
        <p:spPr>
          <a:xfrm>
            <a:off x="4648200" y="3614737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Yjs &amp; Automerge: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JS libraries for Google Docs-like apps. Use complex Sequence CRDTs (YATA, RGA) optimized for JSON.</a:t>
            </a:r>
            <a:endParaRPr/>
          </a:p>
        </p:txBody>
      </p:sp>
      <p:sp>
        <p:nvSpPr>
          <p:cNvPr id="309" name="Google Shape;309;p26"/>
          <p:cNvSpPr txBox="1"/>
          <p:nvPr/>
        </p:nvSpPr>
        <p:spPr>
          <a:xfrm>
            <a:off x="8347710" y="3148012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Local-First</a:t>
            </a:r>
            <a:endParaRPr/>
          </a:p>
        </p:txBody>
      </p:sp>
      <p:sp>
        <p:nvSpPr>
          <p:cNvPr id="310" name="Google Shape;310;p26"/>
          <p:cNvSpPr txBox="1"/>
          <p:nvPr/>
        </p:nvSpPr>
        <p:spPr>
          <a:xfrm>
            <a:off x="8420100" y="3614737"/>
            <a:ext cx="28956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Ink &amp; Switch: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CRDTs enable software that keeps data local and syncs peer-to-peer, guaranteeing ownership and offline capability.</a:t>
            </a:r>
            <a:endParaRPr/>
          </a:p>
        </p:txBody>
      </p:sp>
      <p:pic>
        <p:nvPicPr>
          <p:cNvPr id="311" name="Google Shape;311;p2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33600" y="252888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81687" y="2528887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2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29775" y="2528887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26"/>
          <p:cNvSpPr txBox="1"/>
          <p:nvPr/>
        </p:nvSpPr>
        <p:spPr>
          <a:xfrm>
            <a:off x="581025" y="581025"/>
            <a:ext cx="1158144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Industry Adoption</a:t>
            </a:r>
            <a:endParaRPr/>
          </a:p>
        </p:txBody>
      </p:sp>
      <p:sp>
        <p:nvSpPr>
          <p:cNvPr id="315" name="Google Shape;315;p26"/>
          <p:cNvSpPr/>
          <p:nvPr/>
        </p:nvSpPr>
        <p:spPr>
          <a:xfrm>
            <a:off x="581025" y="13335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2409</Words>
  <Application>Microsoft Macintosh PowerPoint</Application>
  <PresentationFormat>Widescreen</PresentationFormat>
  <Paragraphs>264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Calibri</vt:lpstr>
      <vt:lpstr>Inter</vt:lpstr>
      <vt:lpstr>Playfair Display</vt:lpstr>
      <vt:lpstr>Inter SemiBold</vt:lpstr>
      <vt:lpstr>Inter Light</vt:lpstr>
      <vt:lpstr>JetBrains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Stefan Dinu Rusu | Tazz, IT</cp:lastModifiedBy>
  <cp:revision>5</cp:revision>
  <dcterms:modified xsi:type="dcterms:W3CDTF">2025-12-12T06:17:12Z</dcterms:modified>
</cp:coreProperties>
</file>