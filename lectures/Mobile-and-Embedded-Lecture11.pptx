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thresholds above are Android vitals' bad-behavior thresholds: they are what Google Play flags, not engineering targets. Do not quote a 'good' number you cannot source; measure your own app and track the trend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Worth saying aloud: shader warm-up (SkSL bundles) was a real, widely-copied workaround for Skia. It is dead code today. Anything on the internet older than 2023 about Flutter rendering needs re-checking.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Classic demo: a ListView of stateful color tiles with a shuffle button, once without keys and once with ValueKey. Without keys the colors stay put while the labels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word out loud: O(N squared) is QUADRATIC, not exponential. Exponential would be 2^N. The distinction matters the moment a student tries to reason about scale in an exam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mirror image of this slide is RepaintBoundary: it deliberately creates a layer so that a repaint inside it does not spread outward. The cost is video memory: width x height x 4 bytes for RGBA, per boundary. Wrapping every row of a list fragments the layer tree and multiplies VRAM use; wrap the one spinner that animates, not the list around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Write-XOR-execute is worth two minutes on the whiteboard: it is the single constraint that explains why iOS never had a Dalvik-style runtime, why Flutter release builds are AOT, and why JavaScript on iOS only goes fast inside Safari.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slide in mind: the last section of the lecture applies the same principle on a device with far less energy to spend.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re-teach the spectrum, since students met it in Lecture 1. The point here is only the magnitude of the step: the phone column is roughly ten thousand times the memory and a thousand times the power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a broker on the lab machine (mosquitto in Docker, one command) and subscribe from a laptop with mosquitto_sub while the board publishes. Seeing the JSON appear in a terminal before any Flutter code exists makes the next slide obvious.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payoff of the whole lecture: batching network calls to dodge the cellular radio tail on a phone, and duty cycling an MCU so its radio sleeps, are the same optimization. On a phone it saves battery over an afternoon; on a coin cell it decides whether the device runs for a week or a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1.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slideLayout" Target="../slideLayouts/slideLayout1.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slideLayout" Target="../slideLayouts/slideLayout1.xml"/><Relationship Id="rId5"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p:bgPr>
    </p:bg>
    <p:spTree>
      <p:nvGrpSpPr>
        <p:cNvPr id="1" name=""/>
        <p:cNvGrpSpPr/>
        <p:nvPr/>
      </p:nvGrpSpPr>
      <p:grpSpPr>
        <a:xfrm>
          <a:off x="0" y="0"/>
          <a:ext cx="0" cy="0"/>
          <a:chOff x="0" y="0"/>
          <a:chExt cx="0" cy="0"/>
        </a:xfrm>
      </p:grpSpPr>
      <p:pic>
        <p:nvPicPr>
          <p:cNvPr id="2" name="Image 0" descr="/Users/dinu/dev/upb/mobile-and-embedded-computing/slides/assets/icons2/cloud-white.png">    </p:cNvPr>
          <p:cNvPicPr>
            <a:picLocks noChangeAspect="1"/>
          </p:cNvPicPr>
          <p:nvPr/>
        </p:nvPicPr>
        <p:blipFill>
          <a:blip r:embed="rId1"/>
          <a:stretch>
            <a:fillRect/>
          </a:stretch>
        </p:blipFill>
        <p:spPr>
          <a:xfrm>
            <a:off x="3433572" y="1600200"/>
            <a:ext cx="384048" cy="384048"/>
          </a:xfrm>
          <a:prstGeom prst="rect">
            <a:avLst/>
          </a:prstGeom>
        </p:spPr>
      </p:pic>
      <p:pic>
        <p:nvPicPr>
          <p:cNvPr id="3" name="Image 1" descr="/Users/dinu/dev/upb/mobile-and-embedded-computing/slides/assets/icons2/laptop-white.png">    </p:cNvPr>
          <p:cNvPicPr>
            <a:picLocks noChangeAspect="1"/>
          </p:cNvPicPr>
          <p:nvPr/>
        </p:nvPicPr>
        <p:blipFill>
          <a:blip r:embed="rId2"/>
          <a:stretch>
            <a:fillRect/>
          </a:stretch>
        </p:blipFill>
        <p:spPr>
          <a:xfrm>
            <a:off x="4421124" y="1600200"/>
            <a:ext cx="384048" cy="384048"/>
          </a:xfrm>
          <a:prstGeom prst="rect">
            <a:avLst/>
          </a:prstGeom>
        </p:spPr>
      </p:pic>
      <p:pic>
        <p:nvPicPr>
          <p:cNvPr id="4" name="Image 2" descr="/Users/dinu/dev/upb/mobile-and-embedded-computing/slides/assets/icons2/smartphone-white.png">    </p:cNvPr>
          <p:cNvPicPr>
            <a:picLocks noChangeAspect="1"/>
          </p:cNvPicPr>
          <p:nvPr/>
        </p:nvPicPr>
        <p:blipFill>
          <a:blip r:embed="rId3"/>
          <a:stretch>
            <a:fillRect/>
          </a:stretch>
        </p:blipFill>
        <p:spPr>
          <a:xfrm>
            <a:off x="5408676" y="1600200"/>
            <a:ext cx="384048" cy="384048"/>
          </a:xfrm>
          <a:prstGeom prst="rect">
            <a:avLst/>
          </a:prstGeom>
        </p:spPr>
      </p:pic>
      <p:pic>
        <p:nvPicPr>
          <p:cNvPr id="5" name="Image 3" descr="/Users/dinu/dev/upb/mobile-and-embedded-computing/slides/assets/icons2/watch-white.png">    </p:cNvPr>
          <p:cNvPicPr>
            <a:picLocks noChangeAspect="1"/>
          </p:cNvPicPr>
          <p:nvPr/>
        </p:nvPicPr>
        <p:blipFill>
          <a:blip r:embed="rId4"/>
          <a:stretch>
            <a:fillRect/>
          </a:stretch>
        </p:blipFill>
        <p:spPr>
          <a:xfrm>
            <a:off x="6396228" y="1600200"/>
            <a:ext cx="384048" cy="384048"/>
          </a:xfrm>
          <a:prstGeom prst="rect">
            <a:avLst/>
          </a:prstGeom>
        </p:spPr>
      </p:pic>
      <p:pic>
        <p:nvPicPr>
          <p:cNvPr id="6" name="Image 4" descr="/Users/dinu/dev/upb/mobile-and-embedded-computing/slides/assets/icons2/board-white.png">    </p:cNvPr>
          <p:cNvPicPr>
            <a:picLocks noChangeAspect="1"/>
          </p:cNvPicPr>
          <p:nvPr/>
        </p:nvPicPr>
        <p:blipFill>
          <a:blip r:embed="rId5"/>
          <a:stretch>
            <a:fillRect/>
          </a:stretch>
        </p:blipFill>
        <p:spPr>
          <a:xfrm>
            <a:off x="7383780" y="1600200"/>
            <a:ext cx="384048" cy="384048"/>
          </a:xfrm>
          <a:prstGeom prst="rect">
            <a:avLst/>
          </a:prstGeom>
        </p:spPr>
      </p:pic>
      <p:pic>
        <p:nvPicPr>
          <p:cNvPr id="7" name="Image 5" descr="/Users/dinu/dev/upb/mobile-and-embedded-computing/slides/assets/icons2/cpu-white.png">    </p:cNvPr>
          <p:cNvPicPr>
            <a:picLocks noChangeAspect="1"/>
          </p:cNvPicPr>
          <p:nvPr/>
        </p:nvPicPr>
        <p:blipFill>
          <a:blip r:embed="rId6"/>
          <a:stretch>
            <a:fillRect/>
          </a:stretch>
        </p:blipFill>
        <p:spPr>
          <a:xfrm>
            <a:off x="8371332" y="1600200"/>
            <a:ext cx="384048" cy="384048"/>
          </a:xfrm>
          <a:prstGeom prst="rect">
            <a:avLst/>
          </a:prstGeom>
        </p:spPr>
      </p:pic>
      <p:sp>
        <p:nvSpPr>
          <p:cNvPr id="8" name="Text 0"/>
          <p:cNvSpPr/>
          <p:nvPr/>
        </p:nvSpPr>
        <p:spPr>
          <a:xfrm>
            <a:off x="731520" y="2606040"/>
            <a:ext cx="10725912" cy="868680"/>
          </a:xfrm>
          <a:prstGeom prst="rect">
            <a:avLst/>
          </a:prstGeom>
          <a:noFill/>
          <a:ln/>
        </p:spPr>
        <p:txBody>
          <a:bodyPr wrap="square" lIns="0" tIns="0" rIns="0" bIns="0" rtlCol="0" anchor="ctr"/>
          <a:lstStyle/>
          <a:p>
            <a:pPr algn="ctr" indent="0" marL="0">
              <a:buNone/>
            </a:pPr>
            <a:r>
              <a:rPr lang="en-US" sz="4600" b="1" dirty="0">
                <a:solidFill>
                  <a:srgbClr val="FFFFFF"/>
                </a:solidFill>
                <a:latin typeface="Arial" pitchFamily="34" charset="0"/>
                <a:ea typeface="Arial" pitchFamily="34" charset="-122"/>
                <a:cs typeface="Arial" pitchFamily="34" charset="-120"/>
              </a:rPr>
              <a:t>Performance &amp; Energy</a:t>
            </a:r>
            <a:endParaRPr lang="en-US" sz="4600" dirty="0"/>
          </a:p>
        </p:txBody>
      </p:sp>
      <p:sp>
        <p:nvSpPr>
          <p:cNvPr id="9" name="Text 1"/>
          <p:cNvSpPr/>
          <p:nvPr/>
        </p:nvSpPr>
        <p:spPr>
          <a:xfrm>
            <a:off x="731520" y="3611880"/>
            <a:ext cx="10725912" cy="411480"/>
          </a:xfrm>
          <a:prstGeom prst="rect">
            <a:avLst/>
          </a:prstGeom>
          <a:noFill/>
          <a:ln/>
        </p:spPr>
        <p:txBody>
          <a:bodyPr wrap="square" lIns="0" tIns="0" rIns="0" bIns="0" rtlCol="0" anchor="ctr"/>
          <a:lstStyle/>
          <a:p>
            <a:pPr algn="ctr" indent="0" marL="0">
              <a:buNone/>
            </a:pPr>
            <a:r>
              <a:rPr lang="en-US" sz="1700" dirty="0">
                <a:solidFill>
                  <a:srgbClr val="A1A1A6"/>
                </a:solidFill>
                <a:latin typeface="Arial" pitchFamily="34" charset="0"/>
                <a:ea typeface="Arial" pitchFamily="34" charset="-122"/>
                <a:cs typeface="Arial" pitchFamily="34" charset="-120"/>
              </a:rPr>
              <a:t>Lecture 11: rendering, compilation and energy, from phones to microcontrollers</a:t>
            </a:r>
            <a:endParaRPr lang="en-US" sz="1700" dirty="0"/>
          </a:p>
        </p:txBody>
      </p:sp>
      <p:sp>
        <p:nvSpPr>
          <p:cNvPr id="10" name="Text 2"/>
          <p:cNvSpPr/>
          <p:nvPr/>
        </p:nvSpPr>
        <p:spPr>
          <a:xfrm>
            <a:off x="731520" y="5806440"/>
            <a:ext cx="10725912" cy="365760"/>
          </a:xfrm>
          <a:prstGeom prst="rect">
            <a:avLst/>
          </a:prstGeom>
          <a:noFill/>
          <a:ln/>
        </p:spPr>
        <p:txBody>
          <a:bodyPr wrap="square" lIns="0" tIns="0" rIns="0" bIns="0" rtlCol="0" anchor="ctr"/>
          <a:lstStyle/>
          <a:p>
            <a:pPr algn="ctr" indent="0" marL="0">
              <a:buNone/>
            </a:pPr>
            <a:r>
              <a:rPr lang="en-US" sz="1300" dirty="0">
                <a:solidFill>
                  <a:srgbClr val="6E6E73"/>
                </a:solidFill>
                <a:latin typeface="Arial" pitchFamily="34" charset="0"/>
                <a:ea typeface="Arial" pitchFamily="34" charset="-122"/>
                <a:cs typeface="Arial" pitchFamily="34" charset="-120"/>
              </a:rPr>
              <a:t>Dinu-Ștefan Rusu</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2</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ORIENTATION</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Who's teaching this course</a:t>
            </a:r>
            <a:endParaRPr lang="en-US" sz="3000" dirty="0"/>
          </a:p>
        </p:txBody>
      </p:sp>
      <p:sp>
        <p:nvSpPr>
          <p:cNvPr id="5" name="Text 3"/>
          <p:cNvSpPr/>
          <p:nvPr/>
        </p:nvSpPr>
        <p:spPr>
          <a:xfrm>
            <a:off x="822960" y="1783080"/>
            <a:ext cx="5303520" cy="457200"/>
          </a:xfrm>
          <a:prstGeom prst="rect">
            <a:avLst/>
          </a:prstGeom>
          <a:noFill/>
          <a:ln/>
        </p:spPr>
        <p:txBody>
          <a:bodyPr wrap="square" lIns="0" tIns="0" rIns="0" bIns="0" rtlCol="0" anchor="ctr"/>
          <a:lstStyle/>
          <a:p>
            <a:pPr indent="0" marL="0">
              <a:buNone/>
            </a:pPr>
            <a:r>
              <a:rPr lang="en-US" sz="2200" b="1" dirty="0">
                <a:solidFill>
                  <a:srgbClr val="1D1D1F"/>
                </a:solidFill>
                <a:latin typeface="Arial" pitchFamily="34" charset="0"/>
                <a:ea typeface="Arial" pitchFamily="34" charset="-122"/>
                <a:cs typeface="Arial" pitchFamily="34" charset="-120"/>
              </a:rPr>
              <a:t>Dinu-Ștefan Rusu</a:t>
            </a:r>
            <a:endParaRPr lang="en-US" sz="2200" dirty="0"/>
          </a:p>
        </p:txBody>
      </p:sp>
      <p:sp>
        <p:nvSpPr>
          <p:cNvPr id="6" name="Text 4"/>
          <p:cNvSpPr/>
          <p:nvPr/>
        </p:nvSpPr>
        <p:spPr>
          <a:xfrm>
            <a:off x="822960" y="2331720"/>
            <a:ext cx="5303520" cy="1188720"/>
          </a:xfrm>
          <a:prstGeom prst="rect">
            <a:avLst/>
          </a:prstGeom>
          <a:noFill/>
          <a:ln/>
        </p:spPr>
        <p:txBody>
          <a:bodyPr wrap="square" lIns="0" tIns="0" rIns="0" bIns="0" rtlCol="0" anchor="ctr"/>
          <a:lstStyle/>
          <a:p>
            <a:pPr indent="0" marL="0">
              <a:spcAft>
                <a:spcPts val="600"/>
              </a:spcAft>
              <a:buNone/>
            </a:pPr>
            <a:r>
              <a:rPr lang="en-US" sz="1400" dirty="0">
                <a:solidFill>
                  <a:srgbClr val="86868B"/>
                </a:solidFill>
                <a:latin typeface="Arial" pitchFamily="34" charset="0"/>
                <a:ea typeface="Arial" pitchFamily="34" charset="-122"/>
                <a:cs typeface="Arial" pitchFamily="34" charset="-120"/>
              </a:rPr>
              <a:t>dinu_stefan.rusu@upb.ro</a:t>
            </a:r>
            <a:endParaRPr lang="en-US" sz="1400" dirty="0"/>
          </a:p>
          <a:p>
            <a:pPr indent="0" marL="0">
              <a:spcAft>
                <a:spcPts val="600"/>
              </a:spcAft>
              <a:buNone/>
            </a:pPr>
            <a:r>
              <a:rPr lang="en-US" sz="1400" dirty="0">
                <a:solidFill>
                  <a:srgbClr val="86868B"/>
                </a:solidFill>
                <a:latin typeface="Arial" pitchFamily="34" charset="0"/>
                <a:ea typeface="Arial" pitchFamily="34" charset="-122"/>
                <a:cs typeface="Arial" pitchFamily="34" charset="-120"/>
              </a:rPr>
              <a:t>Microsoft Teams course channel</a:t>
            </a:r>
            <a:endParaRPr lang="en-US" sz="1400" dirty="0"/>
          </a:p>
          <a:p>
            <a:pPr indent="0" marL="0">
              <a:spcAft>
                <a:spcPts val="600"/>
              </a:spcAft>
              <a:buNone/>
            </a:pPr>
            <a:r>
              <a:rPr lang="en-US" sz="1400" dirty="0">
                <a:solidFill>
                  <a:srgbClr val="86868B"/>
                </a:solidFill>
                <a:latin typeface="Arial" pitchFamily="34" charset="0"/>
                <a:ea typeface="Arial" pitchFamily="34" charset="-122"/>
                <a:cs typeface="Arial" pitchFamily="34" charset="-120"/>
              </a:rPr>
              <a:t>rusudinu.com</a:t>
            </a:r>
            <a:endParaRPr lang="en-US" sz="1400" dirty="0"/>
          </a:p>
        </p:txBody>
      </p:sp>
      <p:sp>
        <p:nvSpPr>
          <p:cNvPr id="7" name="Text 5"/>
          <p:cNvSpPr/>
          <p:nvPr/>
        </p:nvSpPr>
        <p:spPr>
          <a:xfrm>
            <a:off x="6675120" y="1600200"/>
            <a:ext cx="2377440" cy="914400"/>
          </a:xfrm>
          <a:prstGeom prst="rect">
            <a:avLst/>
          </a:prstGeom>
          <a:noFill/>
          <a:ln/>
        </p:spPr>
        <p:txBody>
          <a:bodyPr wrap="square" lIns="0" tIns="0" rIns="0" bIns="0" rtlCol="0" anchor="ctr"/>
          <a:lstStyle/>
          <a:p>
            <a:pPr indent="0" marL="0">
              <a:buNone/>
            </a:pPr>
            <a:r>
              <a:rPr lang="en-US" sz="5600" dirty="0">
                <a:solidFill>
                  <a:srgbClr val="1D1D1F"/>
                </a:solidFill>
                <a:latin typeface="Arial" pitchFamily="34" charset="0"/>
                <a:ea typeface="Arial" pitchFamily="34" charset="-122"/>
                <a:cs typeface="Arial" pitchFamily="34" charset="-120"/>
              </a:rPr>
              <a:t>45+</a:t>
            </a:r>
            <a:endParaRPr lang="en-US" sz="5600" dirty="0"/>
          </a:p>
        </p:txBody>
      </p:sp>
      <p:sp>
        <p:nvSpPr>
          <p:cNvPr id="8" name="Text 6"/>
          <p:cNvSpPr/>
          <p:nvPr/>
        </p:nvSpPr>
        <p:spPr>
          <a:xfrm>
            <a:off x="6675120" y="2560320"/>
            <a:ext cx="2377440" cy="320040"/>
          </a:xfrm>
          <a:prstGeom prst="rect">
            <a:avLst/>
          </a:prstGeom>
          <a:noFill/>
          <a:ln/>
        </p:spPr>
        <p:txBody>
          <a:bodyPr wrap="square" lIns="0" tIns="0" rIns="0" bIns="0" rtlCol="0" anchor="ctr"/>
          <a:lstStyle/>
          <a:p>
            <a:pPr indent="0" marL="0">
              <a:buNone/>
            </a:pPr>
            <a:r>
              <a:rPr lang="en-US" sz="1300" dirty="0">
                <a:solidFill>
                  <a:srgbClr val="86868B"/>
                </a:solidFill>
                <a:latin typeface="Arial" pitchFamily="34" charset="0"/>
                <a:ea typeface="Arial" pitchFamily="34" charset="-122"/>
                <a:cs typeface="Arial" pitchFamily="34" charset="-120"/>
              </a:rPr>
              <a:t>Flutter apps shipped</a:t>
            </a:r>
            <a:endParaRPr lang="en-US" sz="1300" dirty="0"/>
          </a:p>
        </p:txBody>
      </p:sp>
      <p:sp>
        <p:nvSpPr>
          <p:cNvPr id="9" name="Text 7"/>
          <p:cNvSpPr/>
          <p:nvPr/>
        </p:nvSpPr>
        <p:spPr>
          <a:xfrm>
            <a:off x="9326880" y="1600200"/>
            <a:ext cx="2377440" cy="914400"/>
          </a:xfrm>
          <a:prstGeom prst="rect">
            <a:avLst/>
          </a:prstGeom>
          <a:noFill/>
          <a:ln/>
        </p:spPr>
        <p:txBody>
          <a:bodyPr wrap="square" lIns="0" tIns="0" rIns="0" bIns="0" rtlCol="0" anchor="ctr"/>
          <a:lstStyle/>
          <a:p>
            <a:pPr indent="0" marL="0">
              <a:buNone/>
            </a:pPr>
            <a:r>
              <a:rPr lang="en-US" sz="5600" dirty="0">
                <a:solidFill>
                  <a:srgbClr val="1D1D1F"/>
                </a:solidFill>
                <a:latin typeface="Arial" pitchFamily="34" charset="0"/>
                <a:ea typeface="Arial" pitchFamily="34" charset="-122"/>
                <a:cs typeface="Arial" pitchFamily="34" charset="-120"/>
              </a:rPr>
              <a:t>400k</a:t>
            </a:r>
            <a:endParaRPr lang="en-US" sz="5600" dirty="0"/>
          </a:p>
        </p:txBody>
      </p:sp>
      <p:sp>
        <p:nvSpPr>
          <p:cNvPr id="10" name="Text 8"/>
          <p:cNvSpPr/>
          <p:nvPr/>
        </p:nvSpPr>
        <p:spPr>
          <a:xfrm>
            <a:off x="9326880" y="2560320"/>
            <a:ext cx="2377440" cy="320040"/>
          </a:xfrm>
          <a:prstGeom prst="rect">
            <a:avLst/>
          </a:prstGeom>
          <a:noFill/>
          <a:ln/>
        </p:spPr>
        <p:txBody>
          <a:bodyPr wrap="square" lIns="0" tIns="0" rIns="0" bIns="0" rtlCol="0" anchor="ctr"/>
          <a:lstStyle/>
          <a:p>
            <a:pPr indent="0" marL="0">
              <a:buNone/>
            </a:pPr>
            <a:r>
              <a:rPr lang="en-US" sz="1300" dirty="0">
                <a:solidFill>
                  <a:srgbClr val="86868B"/>
                </a:solidFill>
                <a:latin typeface="Arial" pitchFamily="34" charset="0"/>
                <a:ea typeface="Arial" pitchFamily="34" charset="-122"/>
                <a:cs typeface="Arial" pitchFamily="34" charset="-120"/>
              </a:rPr>
              <a:t>installs across them</a:t>
            </a:r>
            <a:endParaRPr lang="en-US" sz="1300" dirty="0"/>
          </a:p>
        </p:txBody>
      </p:sp>
      <p:sp>
        <p:nvSpPr>
          <p:cNvPr id="11" name="Shape 9"/>
          <p:cNvSpPr/>
          <p:nvPr/>
        </p:nvSpPr>
        <p:spPr>
          <a:xfrm>
            <a:off x="822960" y="3977640"/>
            <a:ext cx="10543032" cy="0"/>
          </a:xfrm>
          <a:prstGeom prst="line">
            <a:avLst/>
          </a:prstGeom>
          <a:noFill/>
          <a:ln w="9525">
            <a:solidFill>
              <a:srgbClr val="D2D2D7"/>
            </a:solidFill>
            <a:prstDash val="solid"/>
          </a:ln>
        </p:spPr>
      </p:sp>
      <p:sp>
        <p:nvSpPr>
          <p:cNvPr id="12" name="Text 10"/>
          <p:cNvSpPr/>
          <p:nvPr/>
        </p:nvSpPr>
        <p:spPr>
          <a:xfrm>
            <a:off x="822960" y="4160520"/>
            <a:ext cx="10515600" cy="274320"/>
          </a:xfrm>
          <a:prstGeom prst="rect">
            <a:avLst/>
          </a:prstGeom>
          <a:noFill/>
          <a:ln/>
        </p:spPr>
        <p:txBody>
          <a:bodyPr wrap="square" lIns="0" tIns="0" rIns="0" bIns="0" rtlCol="0" anchor="ctr"/>
          <a:lstStyle/>
          <a:p>
            <a:pPr indent="0" marL="0">
              <a:buNone/>
            </a:pPr>
            <a:r>
              <a:rPr lang="en-US" sz="1100" spc="150" kern="0" dirty="0">
                <a:solidFill>
                  <a:srgbClr val="86868B"/>
                </a:solidFill>
                <a:latin typeface="Arial" pitchFamily="34" charset="0"/>
                <a:ea typeface="Arial" pitchFamily="34" charset="-122"/>
                <a:cs typeface="Arial" pitchFamily="34" charset="-120"/>
              </a:rPr>
              <a:t>Appeared in, spoken at &amp; partnered with</a:t>
            </a:r>
            <a:endParaRPr lang="en-US" sz="1100" dirty="0"/>
          </a:p>
        </p:txBody>
      </p:sp>
      <p:pic>
        <p:nvPicPr>
          <p:cNvPr id="13" name="Image 0" descr="/Users/dinu/dev/upb/mobile-and-embedded-computing/slides/assets/logos/image1.png">    </p:cNvPr>
          <p:cNvPicPr>
            <a:picLocks noChangeAspect="1"/>
          </p:cNvPicPr>
          <p:nvPr/>
        </p:nvPicPr>
        <p:blipFill>
          <a:blip r:embed="rId1"/>
          <a:stretch>
            <a:fillRect/>
          </a:stretch>
        </p:blipFill>
        <p:spPr>
          <a:xfrm>
            <a:off x="822960" y="4732477"/>
            <a:ext cx="1047902" cy="319126"/>
          </a:xfrm>
          <a:prstGeom prst="rect">
            <a:avLst/>
          </a:prstGeom>
        </p:spPr>
      </p:pic>
      <p:pic>
        <p:nvPicPr>
          <p:cNvPr id="14" name="Image 1" descr="/Users/dinu/dev/upb/mobile-and-embedded-computing/slides/assets/logos/image2.png">    </p:cNvPr>
          <p:cNvPicPr>
            <a:picLocks noChangeAspect="1"/>
          </p:cNvPicPr>
          <p:nvPr/>
        </p:nvPicPr>
        <p:blipFill>
          <a:blip r:embed="rId2"/>
          <a:stretch>
            <a:fillRect/>
          </a:stretch>
        </p:blipFill>
        <p:spPr>
          <a:xfrm>
            <a:off x="2155763" y="4675327"/>
            <a:ext cx="770839" cy="433426"/>
          </a:xfrm>
          <a:prstGeom prst="rect">
            <a:avLst/>
          </a:prstGeom>
        </p:spPr>
      </p:pic>
      <p:pic>
        <p:nvPicPr>
          <p:cNvPr id="15" name="Image 2" descr="/Users/dinu/dev/upb/mobile-and-embedded-computing/slides/assets/logos/image3.png">    </p:cNvPr>
          <p:cNvPicPr>
            <a:picLocks noChangeAspect="1"/>
          </p:cNvPicPr>
          <p:nvPr/>
        </p:nvPicPr>
        <p:blipFill>
          <a:blip r:embed="rId3"/>
          <a:stretch>
            <a:fillRect/>
          </a:stretch>
        </p:blipFill>
        <p:spPr>
          <a:xfrm>
            <a:off x="3211503" y="4715104"/>
            <a:ext cx="945490" cy="353873"/>
          </a:xfrm>
          <a:prstGeom prst="rect">
            <a:avLst/>
          </a:prstGeom>
        </p:spPr>
      </p:pic>
      <p:pic>
        <p:nvPicPr>
          <p:cNvPr id="16" name="Image 3" descr="/Users/dinu/dev/upb/mobile-and-embedded-computing/slides/assets/logos/image4.png">    </p:cNvPr>
          <p:cNvPicPr>
            <a:picLocks noChangeAspect="1"/>
          </p:cNvPicPr>
          <p:nvPr/>
        </p:nvPicPr>
        <p:blipFill>
          <a:blip r:embed="rId4"/>
          <a:stretch>
            <a:fillRect/>
          </a:stretch>
        </p:blipFill>
        <p:spPr>
          <a:xfrm>
            <a:off x="4441894" y="4716932"/>
            <a:ext cx="1313078" cy="350215"/>
          </a:xfrm>
          <a:prstGeom prst="rect">
            <a:avLst/>
          </a:prstGeom>
        </p:spPr>
      </p:pic>
      <p:pic>
        <p:nvPicPr>
          <p:cNvPr id="17" name="Image 4" descr="/Users/dinu/dev/upb/mobile-and-embedded-computing/slides/assets/logos/image5.png">    </p:cNvPr>
          <p:cNvPicPr>
            <a:picLocks noChangeAspect="1"/>
          </p:cNvPicPr>
          <p:nvPr/>
        </p:nvPicPr>
        <p:blipFill>
          <a:blip r:embed="rId5"/>
          <a:stretch>
            <a:fillRect/>
          </a:stretch>
        </p:blipFill>
        <p:spPr>
          <a:xfrm>
            <a:off x="6039873" y="4626864"/>
            <a:ext cx="611734" cy="530352"/>
          </a:xfrm>
          <a:prstGeom prst="rect">
            <a:avLst/>
          </a:prstGeom>
        </p:spPr>
      </p:pic>
      <p:pic>
        <p:nvPicPr>
          <p:cNvPr id="18" name="Image 5" descr="/Users/dinu/dev/upb/mobile-and-embedded-computing/slides/assets/logos/image6.png">    </p:cNvPr>
          <p:cNvPicPr>
            <a:picLocks noChangeAspect="1"/>
          </p:cNvPicPr>
          <p:nvPr/>
        </p:nvPicPr>
        <p:blipFill>
          <a:blip r:embed="rId6"/>
          <a:stretch>
            <a:fillRect/>
          </a:stretch>
        </p:blipFill>
        <p:spPr>
          <a:xfrm>
            <a:off x="6936508" y="4626864"/>
            <a:ext cx="846734" cy="530352"/>
          </a:xfrm>
          <a:prstGeom prst="rect">
            <a:avLst/>
          </a:prstGeom>
        </p:spPr>
      </p:pic>
      <p:pic>
        <p:nvPicPr>
          <p:cNvPr id="19" name="Image 6" descr="/Users/dinu/dev/upb/mobile-and-embedded-computing/slides/assets/logos/image7.png">    </p:cNvPr>
          <p:cNvPicPr>
            <a:picLocks noChangeAspect="1"/>
          </p:cNvPicPr>
          <p:nvPr/>
        </p:nvPicPr>
        <p:blipFill>
          <a:blip r:embed="rId7"/>
          <a:stretch>
            <a:fillRect/>
          </a:stretch>
        </p:blipFill>
        <p:spPr>
          <a:xfrm>
            <a:off x="8068143" y="4767682"/>
            <a:ext cx="1691640" cy="248717"/>
          </a:xfrm>
          <a:prstGeom prst="rect">
            <a:avLst/>
          </a:prstGeom>
        </p:spPr>
      </p:pic>
      <p:pic>
        <p:nvPicPr>
          <p:cNvPr id="20" name="Image 7" descr="/Users/dinu/dev/upb/mobile-and-embedded-computing/slides/assets/logos/image8.png">    </p:cNvPr>
          <p:cNvPicPr>
            <a:picLocks noChangeAspect="1"/>
          </p:cNvPicPr>
          <p:nvPr/>
        </p:nvPicPr>
        <p:blipFill>
          <a:blip r:embed="rId8"/>
          <a:stretch>
            <a:fillRect/>
          </a:stretch>
        </p:blipFill>
        <p:spPr>
          <a:xfrm>
            <a:off x="10044684" y="4717847"/>
            <a:ext cx="1321308" cy="34838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3</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TODAY</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What you should leave with</a:t>
            </a:r>
            <a:endParaRPr lang="en-US" sz="3000" dirty="0"/>
          </a:p>
        </p:txBody>
      </p:sp>
      <p:pic>
        <p:nvPicPr>
          <p:cNvPr id="5" name="Image 0" descr="/Users/dinu/dev/upb/mobile-and-embedded-computing/slides/assets/icons2/gauge-ink.png">    </p:cNvPr>
          <p:cNvPicPr>
            <a:picLocks noChangeAspect="1"/>
          </p:cNvPicPr>
          <p:nvPr/>
        </p:nvPicPr>
        <p:blipFill>
          <a:blip r:embed="rId1"/>
          <a:stretch>
            <a:fillRect/>
          </a:stretch>
        </p:blipFill>
        <p:spPr>
          <a:xfrm>
            <a:off x="822960" y="1874520"/>
            <a:ext cx="384048" cy="384048"/>
          </a:xfrm>
          <a:prstGeom prst="rect">
            <a:avLst/>
          </a:prstGeom>
        </p:spPr>
      </p:pic>
      <p:sp>
        <p:nvSpPr>
          <p:cNvPr id="6" name="Text 3"/>
          <p:cNvSpPr/>
          <p:nvPr/>
        </p:nvSpPr>
        <p:spPr>
          <a:xfrm>
            <a:off x="1508760" y="1828800"/>
            <a:ext cx="3017520" cy="502920"/>
          </a:xfrm>
          <a:prstGeom prst="rect">
            <a:avLst/>
          </a:prstGeom>
          <a:noFill/>
          <a:ln/>
        </p:spPr>
        <p:txBody>
          <a:bodyPr wrap="square" lIns="0" tIns="0" rIns="0" bIns="0" rtlCol="0" anchor="ctr"/>
          <a:lstStyle/>
          <a:p>
            <a:pPr indent="0" marL="0">
              <a:buNone/>
            </a:pPr>
            <a:r>
              <a:rPr lang="en-US" sz="1600" b="1" dirty="0">
                <a:solidFill>
                  <a:srgbClr val="1D1D1F"/>
                </a:solidFill>
                <a:latin typeface="Arial" pitchFamily="34" charset="0"/>
                <a:ea typeface="Arial" pitchFamily="34" charset="-122"/>
                <a:cs typeface="Arial" pitchFamily="34" charset="-120"/>
              </a:rPr>
              <a:t>A frame, accounted for</a:t>
            </a:r>
            <a:endParaRPr lang="en-US" sz="1600" dirty="0"/>
          </a:p>
        </p:txBody>
      </p:sp>
      <p:sp>
        <p:nvSpPr>
          <p:cNvPr id="7" name="Text 4"/>
          <p:cNvSpPr/>
          <p:nvPr/>
        </p:nvSpPr>
        <p:spPr>
          <a:xfrm>
            <a:off x="4709160" y="1828800"/>
            <a:ext cx="6675120" cy="502920"/>
          </a:xfrm>
          <a:prstGeom prst="rect">
            <a:avLst/>
          </a:prstGeom>
          <a:noFill/>
          <a:ln/>
        </p:spPr>
        <p:txBody>
          <a:bodyPr wrap="square" lIns="0" tIns="0" rIns="0" bIns="0" rtlCol="0" anchor="ctr"/>
          <a:lstStyle/>
          <a:p>
            <a:pPr indent="0" marL="0">
              <a:buNone/>
            </a:pPr>
            <a:r>
              <a:rPr lang="en-US" sz="1300" dirty="0">
                <a:solidFill>
                  <a:srgbClr val="86868B"/>
                </a:solidFill>
                <a:latin typeface="Arial" pitchFamily="34" charset="0"/>
                <a:ea typeface="Arial" pitchFamily="34" charset="-122"/>
                <a:cs typeface="Arial" pitchFamily="34" charset="-120"/>
              </a:rPr>
              <a:t>The frame budget as 1 ÷ refresh rate, the three trees, and what each mutation actually costs</a:t>
            </a:r>
            <a:endParaRPr lang="en-US" sz="1300" dirty="0"/>
          </a:p>
        </p:txBody>
      </p:sp>
      <p:sp>
        <p:nvSpPr>
          <p:cNvPr id="8" name="Shape 5"/>
          <p:cNvSpPr/>
          <p:nvPr/>
        </p:nvSpPr>
        <p:spPr>
          <a:xfrm>
            <a:off x="822960" y="2432304"/>
            <a:ext cx="10543032" cy="0"/>
          </a:xfrm>
          <a:prstGeom prst="line">
            <a:avLst/>
          </a:prstGeom>
          <a:noFill/>
          <a:ln w="9525">
            <a:solidFill>
              <a:srgbClr val="D2D2D7"/>
            </a:solidFill>
            <a:prstDash val="solid"/>
          </a:ln>
        </p:spPr>
      </p:sp>
      <p:pic>
        <p:nvPicPr>
          <p:cNvPr id="9" name="Image 1" descr="/Users/dinu/dev/upb/mobile-and-embedded-computing/slides/assets/icons2/code-ink.png">    </p:cNvPr>
          <p:cNvPicPr>
            <a:picLocks noChangeAspect="1"/>
          </p:cNvPicPr>
          <p:nvPr/>
        </p:nvPicPr>
        <p:blipFill>
          <a:blip r:embed="rId2"/>
          <a:stretch>
            <a:fillRect/>
          </a:stretch>
        </p:blipFill>
        <p:spPr>
          <a:xfrm>
            <a:off x="822960" y="2587752"/>
            <a:ext cx="384048" cy="384048"/>
          </a:xfrm>
          <a:prstGeom prst="rect">
            <a:avLst/>
          </a:prstGeom>
        </p:spPr>
      </p:pic>
      <p:sp>
        <p:nvSpPr>
          <p:cNvPr id="10" name="Text 6"/>
          <p:cNvSpPr/>
          <p:nvPr/>
        </p:nvSpPr>
        <p:spPr>
          <a:xfrm>
            <a:off x="1508760" y="2542032"/>
            <a:ext cx="3017520" cy="502920"/>
          </a:xfrm>
          <a:prstGeom prst="rect">
            <a:avLst/>
          </a:prstGeom>
          <a:noFill/>
          <a:ln/>
        </p:spPr>
        <p:txBody>
          <a:bodyPr wrap="square" lIns="0" tIns="0" rIns="0" bIns="0" rtlCol="0" anchor="ctr"/>
          <a:lstStyle/>
          <a:p>
            <a:pPr indent="0" marL="0">
              <a:buNone/>
            </a:pPr>
            <a:r>
              <a:rPr lang="en-US" sz="1600" b="1" dirty="0">
                <a:solidFill>
                  <a:srgbClr val="1D1D1F"/>
                </a:solidFill>
                <a:latin typeface="Arial" pitchFamily="34" charset="0"/>
                <a:ea typeface="Arial" pitchFamily="34" charset="-122"/>
                <a:cs typeface="Arial" pitchFamily="34" charset="-120"/>
              </a:rPr>
              <a:t>JIT and AOT as build modes</a:t>
            </a:r>
            <a:endParaRPr lang="en-US" sz="1600" dirty="0"/>
          </a:p>
        </p:txBody>
      </p:sp>
      <p:sp>
        <p:nvSpPr>
          <p:cNvPr id="11" name="Text 7"/>
          <p:cNvSpPr/>
          <p:nvPr/>
        </p:nvSpPr>
        <p:spPr>
          <a:xfrm>
            <a:off x="4709160" y="2542032"/>
            <a:ext cx="6675120" cy="502920"/>
          </a:xfrm>
          <a:prstGeom prst="rect">
            <a:avLst/>
          </a:prstGeom>
          <a:noFill/>
          <a:ln/>
        </p:spPr>
        <p:txBody>
          <a:bodyPr wrap="square" lIns="0" tIns="0" rIns="0" bIns="0" rtlCol="0" anchor="ctr"/>
          <a:lstStyle/>
          <a:p>
            <a:pPr indent="0" marL="0">
              <a:buNone/>
            </a:pPr>
            <a:r>
              <a:rPr lang="en-US" sz="1300" dirty="0">
                <a:solidFill>
                  <a:srgbClr val="86868B"/>
                </a:solidFill>
                <a:latin typeface="Arial" pitchFamily="34" charset="0"/>
                <a:ea typeface="Arial" pitchFamily="34" charset="-122"/>
                <a:cs typeface="Arial" pitchFamily="34" charset="-120"/>
              </a:rPr>
              <a:t>Why debug is JIT and release is AOT, on Dart and on ART, and why iOS has no choice</a:t>
            </a:r>
            <a:endParaRPr lang="en-US" sz="1300" dirty="0"/>
          </a:p>
        </p:txBody>
      </p:sp>
      <p:sp>
        <p:nvSpPr>
          <p:cNvPr id="12" name="Shape 8"/>
          <p:cNvSpPr/>
          <p:nvPr/>
        </p:nvSpPr>
        <p:spPr>
          <a:xfrm>
            <a:off x="822960" y="3145536"/>
            <a:ext cx="10543032" cy="0"/>
          </a:xfrm>
          <a:prstGeom prst="line">
            <a:avLst/>
          </a:prstGeom>
          <a:noFill/>
          <a:ln w="9525">
            <a:solidFill>
              <a:srgbClr val="D2D2D7"/>
            </a:solidFill>
            <a:prstDash val="solid"/>
          </a:ln>
        </p:spPr>
      </p:sp>
      <p:pic>
        <p:nvPicPr>
          <p:cNvPr id="13" name="Image 2" descr="/Users/dinu/dev/upb/mobile-and-embedded-computing/slides/assets/icons2/battery-ink.png">    </p:cNvPr>
          <p:cNvPicPr>
            <a:picLocks noChangeAspect="1"/>
          </p:cNvPicPr>
          <p:nvPr/>
        </p:nvPicPr>
        <p:blipFill>
          <a:blip r:embed="rId3"/>
          <a:stretch>
            <a:fillRect/>
          </a:stretch>
        </p:blipFill>
        <p:spPr>
          <a:xfrm>
            <a:off x="822960" y="3300984"/>
            <a:ext cx="384048" cy="384048"/>
          </a:xfrm>
          <a:prstGeom prst="rect">
            <a:avLst/>
          </a:prstGeom>
        </p:spPr>
      </p:pic>
      <p:sp>
        <p:nvSpPr>
          <p:cNvPr id="14" name="Text 9"/>
          <p:cNvSpPr/>
          <p:nvPr/>
        </p:nvSpPr>
        <p:spPr>
          <a:xfrm>
            <a:off x="1508760" y="3255264"/>
            <a:ext cx="3017520" cy="502920"/>
          </a:xfrm>
          <a:prstGeom prst="rect">
            <a:avLst/>
          </a:prstGeom>
          <a:noFill/>
          <a:ln/>
        </p:spPr>
        <p:txBody>
          <a:bodyPr wrap="square" lIns="0" tIns="0" rIns="0" bIns="0" rtlCol="0" anchor="ctr"/>
          <a:lstStyle/>
          <a:p>
            <a:pPr indent="0" marL="0">
              <a:buNone/>
            </a:pPr>
            <a:r>
              <a:rPr lang="en-US" sz="1600" b="1" dirty="0">
                <a:solidFill>
                  <a:srgbClr val="1D1D1F"/>
                </a:solidFill>
                <a:latin typeface="Arial" pitchFamily="34" charset="0"/>
                <a:ea typeface="Arial" pitchFamily="34" charset="-122"/>
                <a:cs typeface="Arial" pitchFamily="34" charset="-120"/>
              </a:rPr>
              <a:t>Energy as a design input</a:t>
            </a:r>
            <a:endParaRPr lang="en-US" sz="1600" dirty="0"/>
          </a:p>
        </p:txBody>
      </p:sp>
      <p:sp>
        <p:nvSpPr>
          <p:cNvPr id="15" name="Text 10"/>
          <p:cNvSpPr/>
          <p:nvPr/>
        </p:nvSpPr>
        <p:spPr>
          <a:xfrm>
            <a:off x="4709160" y="3255264"/>
            <a:ext cx="6675120" cy="502920"/>
          </a:xfrm>
          <a:prstGeom prst="rect">
            <a:avLst/>
          </a:prstGeom>
          <a:noFill/>
          <a:ln/>
        </p:spPr>
        <p:txBody>
          <a:bodyPr wrap="square" lIns="0" tIns="0" rIns="0" bIns="0" rtlCol="0" anchor="ctr"/>
          <a:lstStyle/>
          <a:p>
            <a:pPr indent="0" marL="0">
              <a:buNone/>
            </a:pPr>
            <a:r>
              <a:rPr lang="en-US" sz="1300" dirty="0">
                <a:solidFill>
                  <a:srgbClr val="86868B"/>
                </a:solidFill>
                <a:latin typeface="Arial" pitchFamily="34" charset="0"/>
                <a:ea typeface="Arial" pitchFamily="34" charset="-122"/>
                <a:cs typeface="Arial" pitchFamily="34" charset="-120"/>
              </a:rPr>
              <a:t>Screen, CPU and radio, and why the radio's tail decides your battery rating</a:t>
            </a:r>
            <a:endParaRPr lang="en-US" sz="1300" dirty="0"/>
          </a:p>
        </p:txBody>
      </p:sp>
      <p:sp>
        <p:nvSpPr>
          <p:cNvPr id="16" name="Shape 11"/>
          <p:cNvSpPr/>
          <p:nvPr/>
        </p:nvSpPr>
        <p:spPr>
          <a:xfrm>
            <a:off x="822960" y="3858768"/>
            <a:ext cx="10543032" cy="0"/>
          </a:xfrm>
          <a:prstGeom prst="line">
            <a:avLst/>
          </a:prstGeom>
          <a:noFill/>
          <a:ln w="9525">
            <a:solidFill>
              <a:srgbClr val="D2D2D7"/>
            </a:solidFill>
            <a:prstDash val="solid"/>
          </a:ln>
        </p:spPr>
      </p:sp>
      <p:pic>
        <p:nvPicPr>
          <p:cNvPr id="17" name="Image 3" descr="/Users/dinu/dev/upb/mobile-and-embedded-computing/slides/assets/icons2/cpu-ink.png">    </p:cNvPr>
          <p:cNvPicPr>
            <a:picLocks noChangeAspect="1"/>
          </p:cNvPicPr>
          <p:nvPr/>
        </p:nvPicPr>
        <p:blipFill>
          <a:blip r:embed="rId4"/>
          <a:stretch>
            <a:fillRect/>
          </a:stretch>
        </p:blipFill>
        <p:spPr>
          <a:xfrm>
            <a:off x="822960" y="4014216"/>
            <a:ext cx="384048" cy="384048"/>
          </a:xfrm>
          <a:prstGeom prst="rect">
            <a:avLst/>
          </a:prstGeom>
        </p:spPr>
      </p:pic>
      <p:sp>
        <p:nvSpPr>
          <p:cNvPr id="18" name="Text 12"/>
          <p:cNvSpPr/>
          <p:nvPr/>
        </p:nvSpPr>
        <p:spPr>
          <a:xfrm>
            <a:off x="1508760" y="3968496"/>
            <a:ext cx="3017520" cy="502920"/>
          </a:xfrm>
          <a:prstGeom prst="rect">
            <a:avLst/>
          </a:prstGeom>
          <a:noFill/>
          <a:ln/>
        </p:spPr>
        <p:txBody>
          <a:bodyPr wrap="square" lIns="0" tIns="0" rIns="0" bIns="0" rtlCol="0" anchor="ctr"/>
          <a:lstStyle/>
          <a:p>
            <a:pPr indent="0" marL="0">
              <a:buNone/>
            </a:pPr>
            <a:r>
              <a:rPr lang="en-US" sz="1600" b="1" dirty="0">
                <a:solidFill>
                  <a:srgbClr val="1D1D1F"/>
                </a:solidFill>
                <a:latin typeface="Arial" pitchFamily="34" charset="0"/>
                <a:ea typeface="Arial" pitchFamily="34" charset="-122"/>
                <a:cs typeface="Arial" pitchFamily="34" charset="-120"/>
              </a:rPr>
              <a:t>TinyGo on bare metal</a:t>
            </a:r>
            <a:endParaRPr lang="en-US" sz="1600" dirty="0"/>
          </a:p>
        </p:txBody>
      </p:sp>
      <p:sp>
        <p:nvSpPr>
          <p:cNvPr id="19" name="Text 13"/>
          <p:cNvSpPr/>
          <p:nvPr/>
        </p:nvSpPr>
        <p:spPr>
          <a:xfrm>
            <a:off x="4709160" y="3968496"/>
            <a:ext cx="6675120" cy="502920"/>
          </a:xfrm>
          <a:prstGeom prst="rect">
            <a:avLst/>
          </a:prstGeom>
          <a:noFill/>
          <a:ln/>
        </p:spPr>
        <p:txBody>
          <a:bodyPr wrap="square" lIns="0" tIns="0" rIns="0" bIns="0" rtlCol="0" anchor="ctr"/>
          <a:lstStyle/>
          <a:p>
            <a:pPr indent="0" marL="0">
              <a:buNone/>
            </a:pPr>
            <a:r>
              <a:rPr lang="en-US" sz="1300" dirty="0">
                <a:solidFill>
                  <a:srgbClr val="86868B"/>
                </a:solidFill>
                <a:latin typeface="Arial" pitchFamily="34" charset="0"/>
                <a:ea typeface="Arial" pitchFamily="34" charset="-122"/>
                <a:cs typeface="Arial" pitchFamily="34" charset="-120"/>
              </a:rPr>
              <a:t>The same lecture on a microcontroller: sensor → MQTT → your Flutter app, on milliwatts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731520" y="2514600"/>
            <a:ext cx="10725912" cy="320040"/>
          </a:xfrm>
          <a:prstGeom prst="rect">
            <a:avLst/>
          </a:prstGeom>
          <a:noFill/>
          <a:ln/>
        </p:spPr>
        <p:txBody>
          <a:bodyPr wrap="square" lIns="0" tIns="0" rIns="0" bIns="0" rtlCol="0" anchor="ctr"/>
          <a:lstStyle/>
          <a:p>
            <a:pPr algn="ctr" indent="0" marL="0">
              <a:buNone/>
            </a:pPr>
            <a:r>
              <a:rPr lang="en-US" sz="1200" spc="400" kern="0" dirty="0">
                <a:solidFill>
                  <a:srgbClr val="6E6E73"/>
                </a:solidFill>
                <a:latin typeface="Arial" pitchFamily="34" charset="0"/>
                <a:ea typeface="Arial" pitchFamily="34" charset="-122"/>
                <a:cs typeface="Arial" pitchFamily="34" charset="-120"/>
              </a:rPr>
              <a:t>PART 1 · RENDERING</a:t>
            </a:r>
            <a:endParaRPr lang="en-US" sz="1200" dirty="0"/>
          </a:p>
        </p:txBody>
      </p:sp>
      <p:sp>
        <p:nvSpPr>
          <p:cNvPr id="3" name="Text 1"/>
          <p:cNvSpPr/>
          <p:nvPr/>
        </p:nvSpPr>
        <p:spPr>
          <a:xfrm>
            <a:off x="731520" y="2926080"/>
            <a:ext cx="10725912" cy="777240"/>
          </a:xfrm>
          <a:prstGeom prst="rect">
            <a:avLst/>
          </a:prstGeom>
          <a:noFill/>
          <a:ln/>
        </p:spPr>
        <p:txBody>
          <a:bodyPr wrap="square" lIns="0" tIns="0" rIns="0" bIns="0" rtlCol="0" anchor="ctr"/>
          <a:lstStyle/>
          <a:p>
            <a:pPr algn="ctr" indent="0" marL="0">
              <a:buNone/>
            </a:pPr>
            <a:r>
              <a:rPr lang="en-US" sz="3600" b="1" dirty="0">
                <a:solidFill>
                  <a:srgbClr val="FFFFFF"/>
                </a:solidFill>
                <a:latin typeface="Arial" pitchFamily="34" charset="0"/>
                <a:ea typeface="Arial" pitchFamily="34" charset="-122"/>
                <a:cs typeface="Arial" pitchFamily="34" charset="-120"/>
              </a:rPr>
              <a:t>Where a frame goes</a:t>
            </a:r>
            <a:endParaRPr lang="en-US" sz="3600" dirty="0"/>
          </a:p>
        </p:txBody>
      </p:sp>
      <p:sp>
        <p:nvSpPr>
          <p:cNvPr id="4" name="Text 2"/>
          <p:cNvSpPr/>
          <p:nvPr/>
        </p:nvSpPr>
        <p:spPr>
          <a:xfrm>
            <a:off x="731520" y="3794760"/>
            <a:ext cx="10725912" cy="411480"/>
          </a:xfrm>
          <a:prstGeom prst="rect">
            <a:avLst/>
          </a:prstGeom>
          <a:noFill/>
          <a:ln/>
        </p:spPr>
        <p:txBody>
          <a:bodyPr wrap="square" lIns="0" tIns="0" rIns="0" bIns="0" rtlCol="0" anchor="ctr"/>
          <a:lstStyle/>
          <a:p>
            <a:pPr algn="ctr" indent="0" marL="0">
              <a:buNone/>
            </a:pPr>
            <a:r>
              <a:rPr lang="en-US" sz="1500" dirty="0">
                <a:solidFill>
                  <a:srgbClr val="A1A1A6"/>
                </a:solidFill>
                <a:latin typeface="Arial" pitchFamily="34" charset="0"/>
                <a:ea typeface="Arial" pitchFamily="34" charset="-122"/>
                <a:cs typeface="Arial" pitchFamily="34" charset="-120"/>
              </a:rPr>
              <a:t>The budget, the three trees, and the operations that exceed it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5</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PERFORMANCE</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Two different things we call “performance”</a:t>
            </a:r>
            <a:endParaRPr lang="en-US" sz="3000" dirty="0"/>
          </a:p>
        </p:txBody>
      </p:sp>
      <p:sp>
        <p:nvSpPr>
          <p:cNvPr id="5" name="Text 3"/>
          <p:cNvSpPr/>
          <p:nvPr/>
        </p:nvSpPr>
        <p:spPr>
          <a:xfrm>
            <a:off x="822960" y="1719072"/>
            <a:ext cx="10543032" cy="1417320"/>
          </a:xfrm>
          <a:prstGeom prst="rect">
            <a:avLst/>
          </a:prstGeom>
          <a:noFill/>
          <a:ln/>
        </p:spPr>
        <p:txBody>
          <a:bodyPr wrap="square" lIns="0" tIns="0" rIns="0" bIns="0" rtlCol="0" anchor="t"/>
          <a:lstStyle/>
          <a:p>
            <a:pPr indent="0" marL="0">
              <a:spcAft>
                <a:spcPts val="800"/>
              </a:spcAft>
              <a:buNone/>
            </a:pPr>
            <a:r>
              <a:rPr lang="en-US" sz="1300" b="1" dirty="0">
                <a:solidFill>
                  <a:srgbClr val="1D1D1F"/>
                </a:solidFill>
                <a:latin typeface="Arial" pitchFamily="34" charset="0"/>
                <a:ea typeface="Arial" pitchFamily="34" charset="-122"/>
                <a:cs typeface="Arial" pitchFamily="34" charset="-120"/>
              </a:rPr>
              <a:t>Speed: how fast the app answers.</a:t>
            </a:r>
            <a:endParaRPr lang="en-US" sz="1300" dirty="0"/>
          </a:p>
          <a:p>
            <a:pPr indent="0" marL="0">
              <a:spcAft>
                <a:spcPts val="800"/>
              </a:spcAft>
              <a:buNone/>
            </a:pPr>
            <a:r>
              <a:rPr lang="en-US" sz="1300" dirty="0">
                <a:solidFill>
                  <a:srgbClr val="1D1D1F"/>
                </a:solidFill>
                <a:latin typeface="Arial" pitchFamily="34" charset="0"/>
                <a:ea typeface="Arial" pitchFamily="34" charset="-122"/>
                <a:cs typeface="Arial" pitchFamily="34" charset="-120"/>
              </a:rPr>
              <a:t>Startup latency, scroll smoothness, the delay between a tap and something moving. The user feels this directly, in milliseconds.</a:t>
            </a:r>
            <a:endParaRPr lang="en-US" sz="1300" dirty="0"/>
          </a:p>
          <a:p>
            <a:pPr indent="0" marL="0">
              <a:spcAft>
                <a:spcPts val="800"/>
              </a:spcAft>
              <a:buNone/>
            </a:pPr>
            <a:r>
              <a:rPr lang="en-US" sz="1300" b="1" dirty="0">
                <a:solidFill>
                  <a:srgbClr val="1D1D1F"/>
                </a:solidFill>
                <a:latin typeface="Arial" pitchFamily="34" charset="0"/>
                <a:ea typeface="Arial" pitchFamily="34" charset="-122"/>
                <a:cs typeface="Arial" pitchFamily="34" charset="-120"/>
              </a:rPr>
              <a:t>Efficiency: what the app costs to run.</a:t>
            </a:r>
            <a:endParaRPr lang="en-US" sz="1300" dirty="0"/>
          </a:p>
          <a:p>
            <a:pPr indent="0" marL="0">
              <a:spcAft>
                <a:spcPts val="800"/>
              </a:spcAft>
              <a:buNone/>
            </a:pPr>
            <a:r>
              <a:rPr lang="en-US" sz="1300" dirty="0">
                <a:solidFill>
                  <a:srgbClr val="1D1D1F"/>
                </a:solidFill>
                <a:latin typeface="Arial" pitchFamily="34" charset="0"/>
                <a:ea typeface="Arial" pitchFamily="34" charset="-122"/>
                <a:cs typeface="Arial" pitchFamily="34" charset="-120"/>
              </a:rPr>
              <a:t>Memory footprint, install size, and energy. The user feels this indirectly, as a hot phone and a flat battery.</a:t>
            </a:r>
            <a:endParaRPr lang="en-US" sz="1300" dirty="0"/>
          </a:p>
        </p:txBody>
      </p:sp>
      <p:sp>
        <p:nvSpPr>
          <p:cNvPr id="6" name="Text 4"/>
          <p:cNvSpPr/>
          <p:nvPr/>
        </p:nvSpPr>
        <p:spPr>
          <a:xfrm>
            <a:off x="822960" y="3154680"/>
            <a:ext cx="10543032" cy="292608"/>
          </a:xfrm>
          <a:prstGeom prst="rect">
            <a:avLst/>
          </a:prstGeom>
          <a:noFill/>
          <a:ln/>
        </p:spPr>
        <p:txBody>
          <a:bodyPr wrap="square" lIns="0" tIns="0" rIns="0" bIns="0" rtlCol="0" anchor="ctr"/>
          <a:lstStyle/>
          <a:p>
            <a:pPr indent="0" marL="0">
              <a:buNone/>
            </a:pPr>
            <a:r>
              <a:rPr lang="en-US" sz="1250" b="1" dirty="0">
                <a:solidFill>
                  <a:srgbClr val="86868B"/>
                </a:solidFill>
                <a:latin typeface="Arial" pitchFamily="34" charset="0"/>
                <a:ea typeface="Arial" pitchFamily="34" charset="-122"/>
                <a:cs typeface="Arial" pitchFamily="34" charset="-120"/>
              </a:rPr>
              <a:t>Startup is the metric with a published bar</a:t>
            </a:r>
            <a:endParaRPr lang="en-US" sz="12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960" y="3520440"/>
          <a:ext cx="10543032" cy="914400"/>
        </p:xfrm>
        <a:graphic>
          <a:graphicData uri="http://schemas.openxmlformats.org/drawingml/2006/table">
            <a:tbl>
              <a:tblPr/>
              <a:tblGrid>
                <a:gridCol w="1188720"/>
                <a:gridCol w="4677156"/>
                <a:gridCol w="4677156"/>
              </a:tblGrid>
              <a:tr h="438912">
                <a:tc>
                  <a:txBody>
                    <a:bodyPr/>
                    <a:lstStyle/>
                    <a:p>
                      <a:pPr indent="0" marL="0">
                        <a:buNone/>
                      </a:pP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50" b="1" dirty="0">
                          <a:solidFill>
                            <a:srgbClr val="1D1D1F"/>
                          </a:solidFill>
                          <a:latin typeface="Arial" pitchFamily="34" charset="0"/>
                          <a:ea typeface="Arial" pitchFamily="34" charset="-122"/>
                          <a:cs typeface="Arial" pitchFamily="34" charset="-120"/>
                        </a:rPr>
                        <a:t>What the system already has in memory</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D1D1F"/>
                          </a:solidFill>
                          <a:latin typeface="Arial" pitchFamily="34" charset="0"/>
                          <a:ea typeface="Arial" pitchFamily="34" charset="-122"/>
                          <a:cs typeface="Arial" pitchFamily="34" charset="-120"/>
                        </a:rPr>
                        <a:t>Android vitals flags it above</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r h="457200">
                <a:tc>
                  <a:txBody>
                    <a:bodyPr/>
                    <a:lstStyle/>
                    <a:p>
                      <a:pPr algn="l" indent="0" marL="0">
                        <a:buNone/>
                      </a:pPr>
                      <a:r>
                        <a:rPr lang="en-US" sz="1150" dirty="0">
                          <a:solidFill>
                            <a:srgbClr val="86868B"/>
                          </a:solidFill>
                          <a:latin typeface="Arial" pitchFamily="34" charset="0"/>
                          <a:ea typeface="Arial" pitchFamily="34" charset="-122"/>
                          <a:cs typeface="Arial" pitchFamily="34" charset="-120"/>
                        </a:rPr>
                        <a:t>Cold</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nothing: process created, runtime initialized, first frame drawn</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5 s</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r h="457200">
                <a:tc>
                  <a:txBody>
                    <a:bodyPr/>
                    <a:lstStyle/>
                    <a:p>
                      <a:pPr algn="l" indent="0" marL="0">
                        <a:buNone/>
                      </a:pPr>
                      <a:r>
                        <a:rPr lang="en-US" sz="1150" dirty="0">
                          <a:solidFill>
                            <a:srgbClr val="86868B"/>
                          </a:solidFill>
                          <a:latin typeface="Arial" pitchFamily="34" charset="0"/>
                          <a:ea typeface="Arial" pitchFamily="34" charset="-122"/>
                          <a:cs typeface="Arial" pitchFamily="34" charset="-120"/>
                        </a:rPr>
                        <a:t>Warm</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the process, but the screen is rebuilt from scratch</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2 s</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r h="457200">
                <a:tc>
                  <a:txBody>
                    <a:bodyPr/>
                    <a:lstStyle/>
                    <a:p>
                      <a:pPr algn="l" indent="0" marL="0">
                        <a:buNone/>
                      </a:pPr>
                      <a:r>
                        <a:rPr lang="en-US" sz="1150" dirty="0">
                          <a:solidFill>
                            <a:srgbClr val="86868B"/>
                          </a:solidFill>
                          <a:latin typeface="Arial" pitchFamily="34" charset="0"/>
                          <a:ea typeface="Arial" pitchFamily="34" charset="-122"/>
                          <a:cs typeface="Arial" pitchFamily="34" charset="-120"/>
                        </a:rPr>
                        <a:t>Hot</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process and UI both alive, just brought to the foreground</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1.5 s</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bl>
          </a:graphicData>
        </a:graphic>
      </p:graphicFrame>
      <p:sp>
        <p:nvSpPr>
          <p:cNvPr id="8" name="Shape 5"/>
          <p:cNvSpPr/>
          <p:nvPr/>
        </p:nvSpPr>
        <p:spPr>
          <a:xfrm>
            <a:off x="822960" y="5440680"/>
            <a:ext cx="10543032" cy="0"/>
          </a:xfrm>
          <a:prstGeom prst="line">
            <a:avLst/>
          </a:prstGeom>
          <a:noFill/>
          <a:ln w="9525">
            <a:solidFill>
              <a:srgbClr val="D2D2D7"/>
            </a:solidFill>
            <a:prstDash val="solid"/>
          </a:ln>
        </p:spPr>
      </p:sp>
      <p:sp>
        <p:nvSpPr>
          <p:cNvPr id="9" name="Text 6"/>
          <p:cNvSpPr/>
          <p:nvPr/>
        </p:nvSpPr>
        <p:spPr>
          <a:xfrm>
            <a:off x="822960" y="5669280"/>
            <a:ext cx="10543032" cy="640080"/>
          </a:xfrm>
          <a:prstGeom prst="rect">
            <a:avLst/>
          </a:prstGeom>
          <a:noFill/>
          <a:ln/>
        </p:spPr>
        <p:txBody>
          <a:bodyPr wrap="square" lIns="0" tIns="0" rIns="0" bIns="0" rtlCol="0" anchor="t"/>
          <a:lstStyle/>
          <a:p>
            <a:pPr indent="0" marL="0">
              <a:buNone/>
            </a:pPr>
            <a:r>
              <a:rPr lang="en-US" sz="1400" b="1" dirty="0">
                <a:solidFill>
                  <a:srgbClr val="1D1D1F"/>
                </a:solidFill>
                <a:latin typeface="Arial" pitchFamily="34" charset="0"/>
                <a:ea typeface="Arial" pitchFamily="34" charset="-122"/>
                <a:cs typeface="Arial" pitchFamily="34" charset="-120"/>
              </a:rPr>
              <a:t>Measure the one your users are actually hitting.</a:t>
            </a:r>
            <a:pPr indent="0" marL="0">
              <a:buNone/>
            </a:pPr>
            <a:r>
              <a:rPr lang="en-US" sz="1400" dirty="0">
                <a:solidFill>
                  <a:srgbClr val="86868B"/>
                </a:solidFill>
                <a:latin typeface="Arial" pitchFamily="34" charset="0"/>
                <a:ea typeface="Arial" pitchFamily="34" charset="-122"/>
                <a:cs typeface="Arial" pitchFamily="34" charset="-120"/>
              </a:rPr>
              <a:t> Cold start is what a store reviewer sees; hot start is what a daily user sees ten times a day.</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6</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RENDERING</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The frame budget is 1 ÷ refresh rate</a:t>
            </a:r>
            <a:endParaRPr lang="en-US" sz="3000" dirty="0"/>
          </a:p>
        </p:txBody>
      </p:sp>
      <p:sp>
        <p:nvSpPr>
          <p:cNvPr id="5" name="Text 3"/>
          <p:cNvSpPr/>
          <p:nvPr/>
        </p:nvSpPr>
        <p:spPr>
          <a:xfrm>
            <a:off x="822960" y="1737360"/>
            <a:ext cx="6492240" cy="3200400"/>
          </a:xfrm>
          <a:prstGeom prst="rect">
            <a:avLst/>
          </a:prstGeom>
          <a:noFill/>
          <a:ln/>
        </p:spPr>
        <p:txBody>
          <a:bodyPr wrap="square" lIns="0" tIns="0" rIns="0" bIns="0" rtlCol="0" anchor="t"/>
          <a:lstStyle/>
          <a:p>
            <a:pPr indent="0" marL="0">
              <a:spcAft>
                <a:spcPts val="1200"/>
              </a:spcAft>
              <a:buNone/>
            </a:pPr>
            <a:r>
              <a:rPr lang="en-US" sz="1300" dirty="0">
                <a:solidFill>
                  <a:srgbClr val="1D1D1F"/>
                </a:solidFill>
                <a:latin typeface="Arial" pitchFamily="34" charset="0"/>
                <a:ea typeface="Arial" pitchFamily="34" charset="-122"/>
                <a:cs typeface="Arial" pitchFamily="34" charset="-120"/>
              </a:rPr>
              <a:t>A frame budget is not a constant. It is one divided by the display's refresh rate, and that rate has been climbing for a decade.</a:t>
            </a:r>
            <a:endParaRPr lang="en-US" sz="1300" dirty="0"/>
          </a:p>
          <a:p>
            <a:pPr indent="0" marL="0">
              <a:spcAft>
                <a:spcPts val="1200"/>
              </a:spcAft>
              <a:buNone/>
            </a:pPr>
            <a:r>
              <a:rPr lang="en-US" sz="1300" b="1" dirty="0">
                <a:solidFill>
                  <a:srgbClr val="1D1D1F"/>
                </a:solidFill>
                <a:latin typeface="Arial" pitchFamily="34" charset="0"/>
                <a:ea typeface="Arial" pitchFamily="34" charset="-122"/>
                <a:cs typeface="Arial" pitchFamily="34" charset="-120"/>
              </a:rPr>
              <a:t>The old “16 ms” is a 60 Hz number. Most phones you will ship to in 2026 run 90 or 120 Hz.</a:t>
            </a:r>
            <a:endParaRPr lang="en-US" sz="1300" dirty="0"/>
          </a:p>
          <a:p>
            <a:pPr indent="0" marL="0">
              <a:spcAft>
                <a:spcPts val="1200"/>
              </a:spcAft>
              <a:buNone/>
            </a:pPr>
            <a:r>
              <a:rPr lang="en-US" sz="1300" dirty="0">
                <a:solidFill>
                  <a:srgbClr val="1D1D1F"/>
                </a:solidFill>
                <a:latin typeface="Arial" pitchFamily="34" charset="0"/>
                <a:ea typeface="Arial" pitchFamily="34" charset="-122"/>
                <a:cs typeface="Arial" pitchFamily="34" charset="-120"/>
              </a:rPr>
              <a:t>At 120 Hz you have 8.3 ms to run build, layout, paint and rasterization. Miss it and the compositor shows the previous frame again, which is jank.</a:t>
            </a:r>
            <a:endParaRPr lang="en-US" sz="1300" dirty="0"/>
          </a:p>
          <a:p>
            <a:pPr indent="0" marL="0">
              <a:spcAft>
                <a:spcPts val="1200"/>
              </a:spcAft>
              <a:buNone/>
            </a:pPr>
            <a:r>
              <a:rPr lang="en-US" sz="1300" dirty="0">
                <a:solidFill>
                  <a:srgbClr val="1D1D1F"/>
                </a:solidFill>
                <a:latin typeface="Arial" pitchFamily="34" charset="0"/>
                <a:ea typeface="Arial" pitchFamily="34" charset="-122"/>
                <a:cs typeface="Arial" pitchFamily="34" charset="-120"/>
              </a:rPr>
              <a:t>And jank is variance, not average. A steady 30 fps feels smoother than 55 fps with occasional 100 ms spikes, because the eye tracks rhythm, not throughput.</a:t>
            </a:r>
            <a:endParaRPr lang="en-US" sz="1300" dirty="0"/>
          </a:p>
        </p:txBody>
      </p:sp>
      <p:sp>
        <p:nvSpPr>
          <p:cNvPr id="6" name="Shape 4"/>
          <p:cNvSpPr/>
          <p:nvPr/>
        </p:nvSpPr>
        <p:spPr>
          <a:xfrm>
            <a:off x="7772400" y="1783080"/>
            <a:ext cx="3593592" cy="2514600"/>
          </a:xfrm>
          <a:prstGeom prst="roundRect">
            <a:avLst>
              <a:gd name="adj" fmla="val 4364"/>
            </a:avLst>
          </a:prstGeom>
          <a:solidFill>
            <a:srgbClr val="F5F5F7"/>
          </a:solidFill>
          <a:ln/>
        </p:spPr>
      </p:sp>
      <p:sp>
        <p:nvSpPr>
          <p:cNvPr id="7" name="Text 5"/>
          <p:cNvSpPr/>
          <p:nvPr/>
        </p:nvSpPr>
        <p:spPr>
          <a:xfrm>
            <a:off x="8092440" y="2011680"/>
            <a:ext cx="3017520" cy="274320"/>
          </a:xfrm>
          <a:prstGeom prst="rect">
            <a:avLst/>
          </a:prstGeom>
          <a:noFill/>
          <a:ln/>
        </p:spPr>
        <p:txBody>
          <a:bodyPr wrap="square" lIns="0" tIns="0" rIns="0" bIns="0" rtlCol="0" anchor="ctr"/>
          <a:lstStyle/>
          <a:p>
            <a:pPr indent="0" marL="0">
              <a:buNone/>
            </a:pPr>
            <a:r>
              <a:rPr lang="en-US" sz="1150" b="1" dirty="0">
                <a:solidFill>
                  <a:srgbClr val="86868B"/>
                </a:solidFill>
                <a:latin typeface="Arial" pitchFamily="34" charset="0"/>
                <a:ea typeface="Arial" pitchFamily="34" charset="-122"/>
                <a:cs typeface="Arial" pitchFamily="34" charset="-120"/>
              </a:rPr>
              <a:t>One frame, in milliseconds</a:t>
            </a:r>
            <a:endParaRPr lang="en-US" sz="1150" dirty="0"/>
          </a:p>
        </p:txBody>
      </p:sp>
      <p:sp>
        <p:nvSpPr>
          <p:cNvPr id="8" name="Text 6"/>
          <p:cNvSpPr/>
          <p:nvPr/>
        </p:nvSpPr>
        <p:spPr>
          <a:xfrm>
            <a:off x="8092440" y="2377440"/>
            <a:ext cx="1280160" cy="384048"/>
          </a:xfrm>
          <a:prstGeom prst="rect">
            <a:avLst/>
          </a:prstGeom>
          <a:noFill/>
          <a:ln/>
        </p:spPr>
        <p:txBody>
          <a:bodyPr wrap="square" lIns="0" tIns="0" rIns="0" bIns="0" rtlCol="0" anchor="ctr"/>
          <a:lstStyle/>
          <a:p>
            <a:pPr indent="0" marL="0">
              <a:buNone/>
            </a:pPr>
            <a:r>
              <a:rPr lang="en-US" sz="1400" dirty="0">
                <a:solidFill>
                  <a:srgbClr val="86868B"/>
                </a:solidFill>
                <a:latin typeface="Arial" pitchFamily="34" charset="0"/>
                <a:ea typeface="Arial" pitchFamily="34" charset="-122"/>
                <a:cs typeface="Arial" pitchFamily="34" charset="-120"/>
              </a:rPr>
              <a:t>60 Hz</a:t>
            </a:r>
            <a:endParaRPr lang="en-US" sz="1400" dirty="0"/>
          </a:p>
        </p:txBody>
      </p:sp>
      <p:sp>
        <p:nvSpPr>
          <p:cNvPr id="9" name="Text 7"/>
          <p:cNvSpPr/>
          <p:nvPr/>
        </p:nvSpPr>
        <p:spPr>
          <a:xfrm>
            <a:off x="9372600" y="2377440"/>
            <a:ext cx="1737360" cy="384048"/>
          </a:xfrm>
          <a:prstGeom prst="rect">
            <a:avLst/>
          </a:prstGeom>
          <a:noFill/>
          <a:ln/>
        </p:spPr>
        <p:txBody>
          <a:bodyPr wrap="square" lIns="0" tIns="0" rIns="0" bIns="0" rtlCol="0" anchor="ctr"/>
          <a:lstStyle/>
          <a:p>
            <a:pPr algn="r" indent="0" marL="0">
              <a:buNone/>
            </a:pPr>
            <a:r>
              <a:rPr lang="en-US" sz="1700" dirty="0">
                <a:solidFill>
                  <a:srgbClr val="1D1D1F"/>
                </a:solidFill>
                <a:latin typeface="Arial" pitchFamily="34" charset="0"/>
                <a:ea typeface="Arial" pitchFamily="34" charset="-122"/>
                <a:cs typeface="Arial" pitchFamily="34" charset="-120"/>
              </a:rPr>
              <a:t>16.7 ms</a:t>
            </a:r>
            <a:endParaRPr lang="en-US" sz="1700" dirty="0"/>
          </a:p>
        </p:txBody>
      </p:sp>
      <p:sp>
        <p:nvSpPr>
          <p:cNvPr id="10" name="Shape 8"/>
          <p:cNvSpPr/>
          <p:nvPr/>
        </p:nvSpPr>
        <p:spPr>
          <a:xfrm>
            <a:off x="8092440" y="2852928"/>
            <a:ext cx="3017520" cy="0"/>
          </a:xfrm>
          <a:prstGeom prst="line">
            <a:avLst/>
          </a:prstGeom>
          <a:noFill/>
          <a:ln w="9525">
            <a:solidFill>
              <a:srgbClr val="D2D2D7"/>
            </a:solidFill>
            <a:prstDash val="solid"/>
          </a:ln>
        </p:spPr>
      </p:sp>
      <p:sp>
        <p:nvSpPr>
          <p:cNvPr id="11" name="Text 9"/>
          <p:cNvSpPr/>
          <p:nvPr/>
        </p:nvSpPr>
        <p:spPr>
          <a:xfrm>
            <a:off x="8092440" y="2944368"/>
            <a:ext cx="1280160" cy="384048"/>
          </a:xfrm>
          <a:prstGeom prst="rect">
            <a:avLst/>
          </a:prstGeom>
          <a:noFill/>
          <a:ln/>
        </p:spPr>
        <p:txBody>
          <a:bodyPr wrap="square" lIns="0" tIns="0" rIns="0" bIns="0" rtlCol="0" anchor="ctr"/>
          <a:lstStyle/>
          <a:p>
            <a:pPr indent="0" marL="0">
              <a:buNone/>
            </a:pPr>
            <a:r>
              <a:rPr lang="en-US" sz="1400" dirty="0">
                <a:solidFill>
                  <a:srgbClr val="86868B"/>
                </a:solidFill>
                <a:latin typeface="Arial" pitchFamily="34" charset="0"/>
                <a:ea typeface="Arial" pitchFamily="34" charset="-122"/>
                <a:cs typeface="Arial" pitchFamily="34" charset="-120"/>
              </a:rPr>
              <a:t>90 Hz</a:t>
            </a:r>
            <a:endParaRPr lang="en-US" sz="1400" dirty="0"/>
          </a:p>
        </p:txBody>
      </p:sp>
      <p:sp>
        <p:nvSpPr>
          <p:cNvPr id="12" name="Text 10"/>
          <p:cNvSpPr/>
          <p:nvPr/>
        </p:nvSpPr>
        <p:spPr>
          <a:xfrm>
            <a:off x="9372600" y="2944368"/>
            <a:ext cx="1737360" cy="384048"/>
          </a:xfrm>
          <a:prstGeom prst="rect">
            <a:avLst/>
          </a:prstGeom>
          <a:noFill/>
          <a:ln/>
        </p:spPr>
        <p:txBody>
          <a:bodyPr wrap="square" lIns="0" tIns="0" rIns="0" bIns="0" rtlCol="0" anchor="ctr"/>
          <a:lstStyle/>
          <a:p>
            <a:pPr algn="r" indent="0" marL="0">
              <a:buNone/>
            </a:pPr>
            <a:r>
              <a:rPr lang="en-US" sz="1700" dirty="0">
                <a:solidFill>
                  <a:srgbClr val="1D1D1F"/>
                </a:solidFill>
                <a:latin typeface="Arial" pitchFamily="34" charset="0"/>
                <a:ea typeface="Arial" pitchFamily="34" charset="-122"/>
                <a:cs typeface="Arial" pitchFamily="34" charset="-120"/>
              </a:rPr>
              <a:t>11.1 ms</a:t>
            </a:r>
            <a:endParaRPr lang="en-US" sz="1700" dirty="0"/>
          </a:p>
        </p:txBody>
      </p:sp>
      <p:sp>
        <p:nvSpPr>
          <p:cNvPr id="13" name="Shape 11"/>
          <p:cNvSpPr/>
          <p:nvPr/>
        </p:nvSpPr>
        <p:spPr>
          <a:xfrm>
            <a:off x="8092440" y="3419856"/>
            <a:ext cx="3017520" cy="0"/>
          </a:xfrm>
          <a:prstGeom prst="line">
            <a:avLst/>
          </a:prstGeom>
          <a:noFill/>
          <a:ln w="9525">
            <a:solidFill>
              <a:srgbClr val="D2D2D7"/>
            </a:solidFill>
            <a:prstDash val="solid"/>
          </a:ln>
        </p:spPr>
      </p:sp>
      <p:sp>
        <p:nvSpPr>
          <p:cNvPr id="14" name="Text 12"/>
          <p:cNvSpPr/>
          <p:nvPr/>
        </p:nvSpPr>
        <p:spPr>
          <a:xfrm>
            <a:off x="8092440" y="3511296"/>
            <a:ext cx="1280160" cy="384048"/>
          </a:xfrm>
          <a:prstGeom prst="rect">
            <a:avLst/>
          </a:prstGeom>
          <a:noFill/>
          <a:ln/>
        </p:spPr>
        <p:txBody>
          <a:bodyPr wrap="square" lIns="0" tIns="0" rIns="0" bIns="0" rtlCol="0" anchor="ctr"/>
          <a:lstStyle/>
          <a:p>
            <a:pPr indent="0" marL="0">
              <a:buNone/>
            </a:pPr>
            <a:r>
              <a:rPr lang="en-US" sz="1400" dirty="0">
                <a:solidFill>
                  <a:srgbClr val="86868B"/>
                </a:solidFill>
                <a:latin typeface="Arial" pitchFamily="34" charset="0"/>
                <a:ea typeface="Arial" pitchFamily="34" charset="-122"/>
                <a:cs typeface="Arial" pitchFamily="34" charset="-120"/>
              </a:rPr>
              <a:t>120 Hz</a:t>
            </a:r>
            <a:endParaRPr lang="en-US" sz="1400" dirty="0"/>
          </a:p>
        </p:txBody>
      </p:sp>
      <p:sp>
        <p:nvSpPr>
          <p:cNvPr id="15" name="Text 13"/>
          <p:cNvSpPr/>
          <p:nvPr/>
        </p:nvSpPr>
        <p:spPr>
          <a:xfrm>
            <a:off x="9372600" y="3511296"/>
            <a:ext cx="1737360" cy="384048"/>
          </a:xfrm>
          <a:prstGeom prst="rect">
            <a:avLst/>
          </a:prstGeom>
          <a:noFill/>
          <a:ln/>
        </p:spPr>
        <p:txBody>
          <a:bodyPr wrap="square" lIns="0" tIns="0" rIns="0" bIns="0" rtlCol="0" anchor="ctr"/>
          <a:lstStyle/>
          <a:p>
            <a:pPr algn="r" indent="0" marL="0">
              <a:buNone/>
            </a:pPr>
            <a:r>
              <a:rPr lang="en-US" sz="1700" b="1" dirty="0">
                <a:solidFill>
                  <a:srgbClr val="0071E3"/>
                </a:solidFill>
                <a:latin typeface="Arial" pitchFamily="34" charset="0"/>
                <a:ea typeface="Arial" pitchFamily="34" charset="-122"/>
                <a:cs typeface="Arial" pitchFamily="34" charset="-120"/>
              </a:rPr>
              <a:t>8.3 ms</a:t>
            </a:r>
            <a:endParaRPr lang="en-US" sz="1700" dirty="0"/>
          </a:p>
        </p:txBody>
      </p:sp>
      <p:sp>
        <p:nvSpPr>
          <p:cNvPr id="16" name="Shape 14"/>
          <p:cNvSpPr/>
          <p:nvPr/>
        </p:nvSpPr>
        <p:spPr>
          <a:xfrm>
            <a:off x="822960" y="4617720"/>
            <a:ext cx="6492240" cy="0"/>
          </a:xfrm>
          <a:prstGeom prst="line">
            <a:avLst/>
          </a:prstGeom>
          <a:noFill/>
          <a:ln w="9525">
            <a:solidFill>
              <a:srgbClr val="D2D2D7"/>
            </a:solidFill>
            <a:prstDash val="solid"/>
          </a:ln>
        </p:spPr>
      </p:sp>
      <p:sp>
        <p:nvSpPr>
          <p:cNvPr id="17" name="Text 15"/>
          <p:cNvSpPr/>
          <p:nvPr/>
        </p:nvSpPr>
        <p:spPr>
          <a:xfrm>
            <a:off x="822960" y="4846320"/>
            <a:ext cx="6492240" cy="640080"/>
          </a:xfrm>
          <a:prstGeom prst="rect">
            <a:avLst/>
          </a:prstGeom>
          <a:noFill/>
          <a:ln/>
        </p:spPr>
        <p:txBody>
          <a:bodyPr wrap="square" lIns="0" tIns="0" rIns="0" bIns="0" rtlCol="0" anchor="t"/>
          <a:lstStyle/>
          <a:p>
            <a:pPr indent="0" marL="0">
              <a:buNone/>
            </a:pPr>
            <a:r>
              <a:rPr lang="en-US" sz="1400" b="1" dirty="0">
                <a:solidFill>
                  <a:srgbClr val="1D1D1F"/>
                </a:solidFill>
                <a:latin typeface="Arial" pitchFamily="34" charset="0"/>
                <a:ea typeface="Arial" pitchFamily="34" charset="-122"/>
                <a:cs typeface="Arial" pitchFamily="34" charset="-120"/>
              </a:rPr>
              <a:t>Budget for the fastest panel you support, not the slowest.</a:t>
            </a:r>
            <a:pPr indent="0" marL="0">
              <a:buNone/>
            </a:pPr>
            <a:r>
              <a:rPr lang="en-US" sz="1400" dirty="0">
                <a:solidFill>
                  <a:srgbClr val="86868B"/>
                </a:solidFill>
                <a:latin typeface="Arial" pitchFamily="34" charset="0"/>
                <a:ea typeface="Arial" pitchFamily="34" charset="-122"/>
                <a:cs typeface="Arial" pitchFamily="34" charset="-120"/>
              </a:rPr>
              <a:t> → Lecture 3 introduced this budget; this lecture spends it.</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7</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RENDERING</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Flutter owns every pixel, and Impeller draws them</a:t>
            </a:r>
            <a:endParaRPr lang="en-US" sz="3000" dirty="0"/>
          </a:p>
        </p:txBody>
      </p:sp>
      <p:sp>
        <p:nvSpPr>
          <p:cNvPr id="5" name="Text 3"/>
          <p:cNvSpPr/>
          <p:nvPr/>
        </p:nvSpPr>
        <p:spPr>
          <a:xfrm>
            <a:off x="822960" y="1737360"/>
            <a:ext cx="6675120" cy="3566160"/>
          </a:xfrm>
          <a:prstGeom prst="rect">
            <a:avLst/>
          </a:prstGeom>
          <a:noFill/>
          <a:ln/>
        </p:spPr>
        <p:txBody>
          <a:bodyPr wrap="square" lIns="0" tIns="0" rIns="0" bIns="0" rtlCol="0" anchor="t"/>
          <a:lstStyle/>
          <a:p>
            <a:pPr indent="0" marL="0">
              <a:spcAft>
                <a:spcPts val="1200"/>
              </a:spcAft>
              <a:buNone/>
            </a:pPr>
            <a:r>
              <a:rPr lang="en-US" sz="1300" dirty="0">
                <a:solidFill>
                  <a:srgbClr val="1D1D1F"/>
                </a:solidFill>
                <a:latin typeface="Arial" pitchFamily="34" charset="0"/>
                <a:ea typeface="Arial" pitchFamily="34" charset="-122"/>
                <a:cs typeface="Arial" pitchFamily="34" charset="-120"/>
              </a:rPr>
              <a:t>Flutter does not drive the platform's widgets. It ships a renderer and paints the whole surface itself. That is why the UI is identical everywhere, and why every performance problem in it is Flutter's, and yours.</a:t>
            </a:r>
            <a:endParaRPr lang="en-US" sz="1300" dirty="0"/>
          </a:p>
          <a:p>
            <a:pPr indent="0" marL="0">
              <a:spcAft>
                <a:spcPts val="1200"/>
              </a:spcAft>
              <a:buNone/>
            </a:pPr>
            <a:r>
              <a:rPr lang="en-US" sz="1300" b="1" dirty="0">
                <a:solidFill>
                  <a:srgbClr val="1D1D1F"/>
                </a:solidFill>
                <a:latin typeface="Arial" pitchFamily="34" charset="0"/>
                <a:ea typeface="Arial" pitchFamily="34" charset="-122"/>
                <a:cs typeface="Arial" pitchFamily="34" charset="-120"/>
              </a:rPr>
              <a:t>The renderer is Impeller, not Skia.</a:t>
            </a:r>
            <a:endParaRPr lang="en-US" sz="1300" dirty="0"/>
          </a:p>
          <a:p>
            <a:pPr indent="0" marL="0">
              <a:spcAft>
                <a:spcPts val="1200"/>
              </a:spcAft>
              <a:buNone/>
            </a:pPr>
            <a:r>
              <a:rPr lang="en-US" sz="1300" dirty="0">
                <a:solidFill>
                  <a:srgbClr val="1D1D1F"/>
                </a:solidFill>
                <a:latin typeface="Arial" pitchFamily="34" charset="0"/>
                <a:ea typeface="Arial" pitchFamily="34" charset="-122"/>
                <a:cs typeface="Arial" pitchFamily="34" charset="-120"/>
              </a:rPr>
              <a:t>Impeller has been the iOS default since 2023 and the Android default (API 29+, Vulkan) since Flutter 3.29. As of Flutter 3.44 Skia is fully removed on iOS and Android 10+; only very old Android keeps an OpenGL fallback.</a:t>
            </a:r>
            <a:endParaRPr lang="en-US" sz="1300" dirty="0"/>
          </a:p>
          <a:p>
            <a:pPr indent="0" marL="0">
              <a:spcAft>
                <a:spcPts val="1200"/>
              </a:spcAft>
              <a:buNone/>
            </a:pPr>
            <a:r>
              <a:rPr lang="en-US" sz="1300" dirty="0">
                <a:solidFill>
                  <a:srgbClr val="1D1D1F"/>
                </a:solidFill>
                <a:latin typeface="Arial" pitchFamily="34" charset="0"/>
                <a:ea typeface="Arial" pitchFamily="34" charset="-122"/>
                <a:cs typeface="Arial" pitchFamily="34" charset="-120"/>
              </a:rPr>
              <a:t>The reason it exists: Skia compiled shaders at runtime, the first time an effect appeared on screen. That was the classic “first-run jank”: a blur that stuttered once and never again. Impeller compiles every shader at build time, so the first frame costs the same as the thousandth.</a:t>
            </a:r>
            <a:endParaRPr lang="en-US" sz="1300" dirty="0"/>
          </a:p>
        </p:txBody>
      </p:sp>
      <p:sp>
        <p:nvSpPr>
          <p:cNvPr id="6" name="Shape 4"/>
          <p:cNvSpPr/>
          <p:nvPr/>
        </p:nvSpPr>
        <p:spPr>
          <a:xfrm>
            <a:off x="7863840" y="1828800"/>
            <a:ext cx="3502152" cy="786384"/>
          </a:xfrm>
          <a:prstGeom prst="roundRect">
            <a:avLst>
              <a:gd name="adj" fmla="val 10465"/>
            </a:avLst>
          </a:prstGeom>
          <a:solidFill>
            <a:srgbClr val="FFFFFF"/>
          </a:solidFill>
          <a:ln w="12700">
            <a:solidFill>
              <a:srgbClr val="D2D2D7"/>
            </a:solidFill>
            <a:prstDash val="solid"/>
          </a:ln>
        </p:spPr>
      </p:sp>
      <p:sp>
        <p:nvSpPr>
          <p:cNvPr id="7" name="Text 5"/>
          <p:cNvSpPr/>
          <p:nvPr/>
        </p:nvSpPr>
        <p:spPr>
          <a:xfrm>
            <a:off x="7863840" y="1828800"/>
            <a:ext cx="3502152" cy="786384"/>
          </a:xfrm>
          <a:prstGeom prst="rect">
            <a:avLst/>
          </a:prstGeom>
          <a:noFill/>
          <a:ln/>
        </p:spPr>
        <p:txBody>
          <a:bodyPr wrap="square" lIns="0" tIns="0" rIns="0" bIns="0" rtlCol="0" anchor="ctr"/>
          <a:lstStyle/>
          <a:p>
            <a:pPr algn="ctr" indent="0" marL="0">
              <a:buNone/>
            </a:pPr>
            <a:r>
              <a:rPr lang="en-US" sz="1350" b="1" dirty="0">
                <a:solidFill>
                  <a:srgbClr val="1D1D1F"/>
                </a:solidFill>
                <a:latin typeface="Arial" pitchFamily="34" charset="0"/>
                <a:ea typeface="Arial" pitchFamily="34" charset="-122"/>
                <a:cs typeface="Arial" pitchFamily="34" charset="-120"/>
              </a:rPr>
              <a:t>Your widgets</a:t>
            </a:r>
            <a:endParaRPr lang="en-US" sz="1350" dirty="0"/>
          </a:p>
          <a:p>
            <a:pPr algn="ctr" indent="0" marL="0">
              <a:buNone/>
            </a:pPr>
            <a:r>
              <a:rPr lang="en-US" sz="1100" dirty="0">
                <a:solidFill>
                  <a:srgbClr val="86868B"/>
                </a:solidFill>
                <a:latin typeface="Arial" pitchFamily="34" charset="0"/>
                <a:ea typeface="Arial" pitchFamily="34" charset="-122"/>
                <a:cs typeface="Arial" pitchFamily="34" charset="-120"/>
              </a:rPr>
              <a:t>Dart: the blueprint</a:t>
            </a:r>
            <a:endParaRPr lang="en-US" sz="1350" dirty="0"/>
          </a:p>
        </p:txBody>
      </p:sp>
      <p:sp>
        <p:nvSpPr>
          <p:cNvPr id="8" name="Shape 6"/>
          <p:cNvSpPr/>
          <p:nvPr/>
        </p:nvSpPr>
        <p:spPr>
          <a:xfrm>
            <a:off x="9614916" y="2615184"/>
            <a:ext cx="0" cy="256032"/>
          </a:xfrm>
          <a:prstGeom prst="line">
            <a:avLst/>
          </a:prstGeom>
          <a:noFill/>
          <a:ln w="15875">
            <a:solidFill>
              <a:srgbClr val="86868B"/>
            </a:solidFill>
            <a:prstDash val="solid"/>
            <a:tailEnd type="triangle"/>
          </a:ln>
        </p:spPr>
      </p:sp>
      <p:sp>
        <p:nvSpPr>
          <p:cNvPr id="9" name="Shape 7"/>
          <p:cNvSpPr/>
          <p:nvPr/>
        </p:nvSpPr>
        <p:spPr>
          <a:xfrm>
            <a:off x="7863840" y="2871216"/>
            <a:ext cx="3502152" cy="786384"/>
          </a:xfrm>
          <a:prstGeom prst="roundRect">
            <a:avLst>
              <a:gd name="adj" fmla="val 10465"/>
            </a:avLst>
          </a:prstGeom>
          <a:solidFill>
            <a:srgbClr val="FFFFFF"/>
          </a:solidFill>
          <a:ln w="12700">
            <a:solidFill>
              <a:srgbClr val="D2D2D7"/>
            </a:solidFill>
            <a:prstDash val="solid"/>
          </a:ln>
        </p:spPr>
      </p:sp>
      <p:sp>
        <p:nvSpPr>
          <p:cNvPr id="10" name="Text 8"/>
          <p:cNvSpPr/>
          <p:nvPr/>
        </p:nvSpPr>
        <p:spPr>
          <a:xfrm>
            <a:off x="7863840" y="2871216"/>
            <a:ext cx="3502152" cy="786384"/>
          </a:xfrm>
          <a:prstGeom prst="rect">
            <a:avLst/>
          </a:prstGeom>
          <a:noFill/>
          <a:ln/>
        </p:spPr>
        <p:txBody>
          <a:bodyPr wrap="square" lIns="0" tIns="0" rIns="0" bIns="0" rtlCol="0" anchor="ctr"/>
          <a:lstStyle/>
          <a:p>
            <a:pPr algn="ctr" indent="0" marL="0">
              <a:buNone/>
            </a:pPr>
            <a:r>
              <a:rPr lang="en-US" sz="1350" b="1" dirty="0">
                <a:solidFill>
                  <a:srgbClr val="1D1D1F"/>
                </a:solidFill>
                <a:latin typeface="Arial" pitchFamily="34" charset="0"/>
                <a:ea typeface="Arial" pitchFamily="34" charset="-122"/>
                <a:cs typeface="Arial" pitchFamily="34" charset="-120"/>
              </a:rPr>
              <a:t>Framework</a:t>
            </a:r>
            <a:endParaRPr lang="en-US" sz="1350" dirty="0"/>
          </a:p>
          <a:p>
            <a:pPr algn="ctr" indent="0" marL="0">
              <a:buNone/>
            </a:pPr>
            <a:r>
              <a:rPr lang="en-US" sz="1100" dirty="0">
                <a:solidFill>
                  <a:srgbClr val="86868B"/>
                </a:solidFill>
                <a:latin typeface="Arial" pitchFamily="34" charset="0"/>
                <a:ea typeface="Arial" pitchFamily="34" charset="-122"/>
                <a:cs typeface="Arial" pitchFamily="34" charset="-120"/>
              </a:rPr>
              <a:t>layout, paint, layers</a:t>
            </a:r>
            <a:endParaRPr lang="en-US" sz="1350" dirty="0"/>
          </a:p>
        </p:txBody>
      </p:sp>
      <p:sp>
        <p:nvSpPr>
          <p:cNvPr id="11" name="Shape 9"/>
          <p:cNvSpPr/>
          <p:nvPr/>
        </p:nvSpPr>
        <p:spPr>
          <a:xfrm>
            <a:off x="9614916" y="3657600"/>
            <a:ext cx="0" cy="256032"/>
          </a:xfrm>
          <a:prstGeom prst="line">
            <a:avLst/>
          </a:prstGeom>
          <a:noFill/>
          <a:ln w="15875">
            <a:solidFill>
              <a:srgbClr val="86868B"/>
            </a:solidFill>
            <a:prstDash val="solid"/>
            <a:tailEnd type="triangle"/>
          </a:ln>
        </p:spPr>
      </p:sp>
      <p:sp>
        <p:nvSpPr>
          <p:cNvPr id="12" name="Shape 10"/>
          <p:cNvSpPr/>
          <p:nvPr/>
        </p:nvSpPr>
        <p:spPr>
          <a:xfrm>
            <a:off x="7863840" y="3913632"/>
            <a:ext cx="3502152" cy="786384"/>
          </a:xfrm>
          <a:prstGeom prst="roundRect">
            <a:avLst>
              <a:gd name="adj" fmla="val 10465"/>
            </a:avLst>
          </a:prstGeom>
          <a:solidFill>
            <a:srgbClr val="000000"/>
          </a:solidFill>
          <a:ln/>
        </p:spPr>
      </p:sp>
      <p:sp>
        <p:nvSpPr>
          <p:cNvPr id="13" name="Text 11"/>
          <p:cNvSpPr/>
          <p:nvPr/>
        </p:nvSpPr>
        <p:spPr>
          <a:xfrm>
            <a:off x="7863840" y="3913632"/>
            <a:ext cx="3502152" cy="786384"/>
          </a:xfrm>
          <a:prstGeom prst="rect">
            <a:avLst/>
          </a:prstGeom>
          <a:noFill/>
          <a:ln/>
        </p:spPr>
        <p:txBody>
          <a:bodyPr wrap="square" lIns="0" tIns="0" rIns="0" bIns="0" rtlCol="0" anchor="ctr"/>
          <a:lstStyle/>
          <a:p>
            <a:pPr algn="ctr" indent="0" marL="0">
              <a:buNone/>
            </a:pPr>
            <a:r>
              <a:rPr lang="en-US" sz="1350" b="1" dirty="0">
                <a:solidFill>
                  <a:srgbClr val="FFFFFF"/>
                </a:solidFill>
                <a:latin typeface="Arial" pitchFamily="34" charset="0"/>
                <a:ea typeface="Arial" pitchFamily="34" charset="-122"/>
                <a:cs typeface="Arial" pitchFamily="34" charset="-120"/>
              </a:rPr>
              <a:t>Impeller</a:t>
            </a:r>
            <a:endParaRPr lang="en-US" sz="1350" dirty="0"/>
          </a:p>
          <a:p>
            <a:pPr algn="ctr" indent="0" marL="0">
              <a:buNone/>
            </a:pPr>
            <a:r>
              <a:rPr lang="en-US" sz="1100" dirty="0">
                <a:solidFill>
                  <a:srgbClr val="A1A1A6"/>
                </a:solidFill>
                <a:latin typeface="Arial" pitchFamily="34" charset="0"/>
                <a:ea typeface="Arial" pitchFamily="34" charset="-122"/>
                <a:cs typeface="Arial" pitchFamily="34" charset="-120"/>
              </a:rPr>
              <a:t>precompiled shaders</a:t>
            </a:r>
            <a:endParaRPr lang="en-US" sz="1350" dirty="0"/>
          </a:p>
        </p:txBody>
      </p:sp>
      <p:sp>
        <p:nvSpPr>
          <p:cNvPr id="14" name="Shape 12"/>
          <p:cNvSpPr/>
          <p:nvPr/>
        </p:nvSpPr>
        <p:spPr>
          <a:xfrm>
            <a:off x="9614916" y="4700016"/>
            <a:ext cx="0" cy="256032"/>
          </a:xfrm>
          <a:prstGeom prst="line">
            <a:avLst/>
          </a:prstGeom>
          <a:noFill/>
          <a:ln w="15875">
            <a:solidFill>
              <a:srgbClr val="86868B"/>
            </a:solidFill>
            <a:prstDash val="solid"/>
            <a:tailEnd type="triangle"/>
          </a:ln>
        </p:spPr>
      </p:sp>
      <p:sp>
        <p:nvSpPr>
          <p:cNvPr id="15" name="Shape 13"/>
          <p:cNvSpPr/>
          <p:nvPr/>
        </p:nvSpPr>
        <p:spPr>
          <a:xfrm>
            <a:off x="7863840" y="4956048"/>
            <a:ext cx="3502152" cy="786384"/>
          </a:xfrm>
          <a:prstGeom prst="roundRect">
            <a:avLst>
              <a:gd name="adj" fmla="val 13953"/>
            </a:avLst>
          </a:prstGeom>
          <a:solidFill>
            <a:srgbClr val="F5F5F7"/>
          </a:solidFill>
          <a:ln/>
        </p:spPr>
      </p:sp>
      <p:sp>
        <p:nvSpPr>
          <p:cNvPr id="16" name="Text 14"/>
          <p:cNvSpPr/>
          <p:nvPr/>
        </p:nvSpPr>
        <p:spPr>
          <a:xfrm>
            <a:off x="7863840" y="4956048"/>
            <a:ext cx="3502152" cy="786384"/>
          </a:xfrm>
          <a:prstGeom prst="rect">
            <a:avLst/>
          </a:prstGeom>
          <a:noFill/>
          <a:ln/>
        </p:spPr>
        <p:txBody>
          <a:bodyPr wrap="square" lIns="0" tIns="0" rIns="0" bIns="0" rtlCol="0" anchor="ctr"/>
          <a:lstStyle/>
          <a:p>
            <a:pPr algn="ctr" indent="0" marL="0">
              <a:buNone/>
            </a:pPr>
            <a:r>
              <a:rPr lang="en-US" sz="1350" b="1" dirty="0">
                <a:solidFill>
                  <a:srgbClr val="1D1D1F"/>
                </a:solidFill>
                <a:latin typeface="Arial" pitchFamily="34" charset="0"/>
                <a:ea typeface="Arial" pitchFamily="34" charset="-122"/>
                <a:cs typeface="Arial" pitchFamily="34" charset="-120"/>
              </a:rPr>
              <a:t>Metal / Vulkan</a:t>
            </a:r>
            <a:endParaRPr lang="en-US" sz="1350" dirty="0"/>
          </a:p>
          <a:p>
            <a:pPr algn="ctr" indent="0" marL="0">
              <a:buNone/>
            </a:pPr>
            <a:r>
              <a:rPr lang="en-US" sz="1100" dirty="0">
                <a:solidFill>
                  <a:srgbClr val="86868B"/>
                </a:solidFill>
                <a:latin typeface="Arial" pitchFamily="34" charset="0"/>
                <a:ea typeface="Arial" pitchFamily="34" charset="-122"/>
                <a:cs typeface="Arial" pitchFamily="34" charset="-120"/>
              </a:rPr>
              <a:t>the GPU</a:t>
            </a:r>
            <a:endParaRPr lang="en-US" sz="1350" dirty="0"/>
          </a:p>
        </p:txBody>
      </p:sp>
      <p:sp>
        <p:nvSpPr>
          <p:cNvPr id="17" name="Shape 15"/>
          <p:cNvSpPr/>
          <p:nvPr/>
        </p:nvSpPr>
        <p:spPr>
          <a:xfrm>
            <a:off x="822960" y="5486400"/>
            <a:ext cx="6675120" cy="0"/>
          </a:xfrm>
          <a:prstGeom prst="line">
            <a:avLst/>
          </a:prstGeom>
          <a:noFill/>
          <a:ln w="9525">
            <a:solidFill>
              <a:srgbClr val="D2D2D7"/>
            </a:solidFill>
            <a:prstDash val="solid"/>
          </a:ln>
        </p:spPr>
      </p:sp>
      <p:sp>
        <p:nvSpPr>
          <p:cNvPr id="18" name="Text 16"/>
          <p:cNvSpPr/>
          <p:nvPr/>
        </p:nvSpPr>
        <p:spPr>
          <a:xfrm>
            <a:off x="822960" y="5715000"/>
            <a:ext cx="6675120" cy="640080"/>
          </a:xfrm>
          <a:prstGeom prst="rect">
            <a:avLst/>
          </a:prstGeom>
          <a:noFill/>
          <a:ln/>
        </p:spPr>
        <p:txBody>
          <a:bodyPr wrap="square" lIns="0" tIns="0" rIns="0" bIns="0" rtlCol="0" anchor="t"/>
          <a:lstStyle/>
          <a:p>
            <a:pPr indent="0" marL="0">
              <a:buNone/>
            </a:pPr>
            <a:r>
              <a:rPr lang="en-US" sz="1400" b="1" dirty="0">
                <a:solidFill>
                  <a:srgbClr val="1D1D1F"/>
                </a:solidFill>
                <a:latin typeface="Arial" pitchFamily="34" charset="0"/>
                <a:ea typeface="Arial" pitchFamily="34" charset="-122"/>
                <a:cs typeface="Arial" pitchFamily="34" charset="-120"/>
              </a:rPr>
              <a:t>If a tutorial tells you to warm up shaders, it predates Impeller.</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8</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RENDERING</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Three trees, three very different costs</a:t>
            </a:r>
            <a:endParaRPr lang="en-US" sz="3000" dirty="0"/>
          </a:p>
        </p:txBody>
      </p:sp>
      <p:pic>
        <p:nvPicPr>
          <p:cNvPr id="5" name="Image 0" descr="/Users/dinu/dev/upb/mobile-and-embedded-computing/slides/assets/icons2/frame-ink.png">    </p:cNvPr>
          <p:cNvPicPr>
            <a:picLocks noChangeAspect="1"/>
          </p:cNvPicPr>
          <p:nvPr/>
        </p:nvPicPr>
        <p:blipFill>
          <a:blip r:embed="rId1"/>
          <a:stretch>
            <a:fillRect/>
          </a:stretch>
        </p:blipFill>
        <p:spPr>
          <a:xfrm>
            <a:off x="822960" y="1828800"/>
            <a:ext cx="384048" cy="384048"/>
          </a:xfrm>
          <a:prstGeom prst="rect">
            <a:avLst/>
          </a:prstGeom>
        </p:spPr>
      </p:pic>
      <p:sp>
        <p:nvSpPr>
          <p:cNvPr id="6" name="Text 3"/>
          <p:cNvSpPr/>
          <p:nvPr/>
        </p:nvSpPr>
        <p:spPr>
          <a:xfrm>
            <a:off x="822960" y="2359152"/>
            <a:ext cx="3383280" cy="457200"/>
          </a:xfrm>
          <a:prstGeom prst="rect">
            <a:avLst/>
          </a:prstGeom>
          <a:noFill/>
          <a:ln/>
        </p:spPr>
        <p:txBody>
          <a:bodyPr wrap="square" lIns="0" tIns="0" rIns="0" bIns="0" rtlCol="0" anchor="ctr"/>
          <a:lstStyle/>
          <a:p>
            <a:pPr indent="0" marL="0">
              <a:buNone/>
            </a:pPr>
            <a:r>
              <a:rPr lang="en-US" sz="1450" b="1" dirty="0">
                <a:solidFill>
                  <a:srgbClr val="1D1D1F"/>
                </a:solidFill>
                <a:latin typeface="Arial" pitchFamily="34" charset="0"/>
                <a:ea typeface="Arial" pitchFamily="34" charset="-122"/>
                <a:cs typeface="Arial" pitchFamily="34" charset="-120"/>
              </a:rPr>
              <a:t>Widget tree</a:t>
            </a:r>
            <a:endParaRPr lang="en-US" sz="1450" dirty="0"/>
          </a:p>
        </p:txBody>
      </p:sp>
      <p:sp>
        <p:nvSpPr>
          <p:cNvPr id="7" name="Text 4"/>
          <p:cNvSpPr/>
          <p:nvPr/>
        </p:nvSpPr>
        <p:spPr>
          <a:xfrm>
            <a:off x="822960" y="2816352"/>
            <a:ext cx="3383280" cy="822960"/>
          </a:xfrm>
          <a:prstGeom prst="rect">
            <a:avLst/>
          </a:prstGeom>
          <a:noFill/>
          <a:ln/>
        </p:spPr>
        <p:txBody>
          <a:bodyPr wrap="square" lIns="0" tIns="0" rIns="0" bIns="0" rtlCol="0" anchor="ctr"/>
          <a:lstStyle/>
          <a:p>
            <a:pPr indent="0" marL="0">
              <a:buNone/>
            </a:pPr>
            <a:r>
              <a:rPr lang="en-US" sz="1150" dirty="0">
                <a:solidFill>
                  <a:srgbClr val="86868B"/>
                </a:solidFill>
                <a:latin typeface="Arial" pitchFamily="34" charset="0"/>
                <a:ea typeface="Arial" pitchFamily="34" charset="-122"/>
                <a:cs typeface="Arial" pitchFamily="34" charset="-120"/>
              </a:rPr>
              <a:t>The blueprint. Immutable configuration objects with no behavior. Allocating one is a bump-pointer write into the young heap: constant time, and genuinely cheap.</a:t>
            </a:r>
            <a:endParaRPr lang="en-US" sz="1150" dirty="0"/>
          </a:p>
        </p:txBody>
      </p:sp>
      <p:pic>
        <p:nvPicPr>
          <p:cNvPr id="8" name="Image 1" descr="/Users/dinu/dev/upb/mobile-and-embedded-computing/slides/assets/icons2/combine-ink.png">    </p:cNvPr>
          <p:cNvPicPr>
            <a:picLocks noChangeAspect="1"/>
          </p:cNvPicPr>
          <p:nvPr/>
        </p:nvPicPr>
        <p:blipFill>
          <a:blip r:embed="rId2"/>
          <a:stretch>
            <a:fillRect/>
          </a:stretch>
        </p:blipFill>
        <p:spPr>
          <a:xfrm>
            <a:off x="4663440" y="1828800"/>
            <a:ext cx="384048" cy="384048"/>
          </a:xfrm>
          <a:prstGeom prst="rect">
            <a:avLst/>
          </a:prstGeom>
        </p:spPr>
      </p:pic>
      <p:sp>
        <p:nvSpPr>
          <p:cNvPr id="9" name="Text 5"/>
          <p:cNvSpPr/>
          <p:nvPr/>
        </p:nvSpPr>
        <p:spPr>
          <a:xfrm>
            <a:off x="4663440" y="2359152"/>
            <a:ext cx="3383280" cy="457200"/>
          </a:xfrm>
          <a:prstGeom prst="rect">
            <a:avLst/>
          </a:prstGeom>
          <a:noFill/>
          <a:ln/>
        </p:spPr>
        <p:txBody>
          <a:bodyPr wrap="square" lIns="0" tIns="0" rIns="0" bIns="0" rtlCol="0" anchor="ctr"/>
          <a:lstStyle/>
          <a:p>
            <a:pPr indent="0" marL="0">
              <a:buNone/>
            </a:pPr>
            <a:r>
              <a:rPr lang="en-US" sz="1450" b="1" dirty="0">
                <a:solidFill>
                  <a:srgbClr val="1D1D1F"/>
                </a:solidFill>
                <a:latin typeface="Arial" pitchFamily="34" charset="0"/>
                <a:ea typeface="Arial" pitchFamily="34" charset="-122"/>
                <a:cs typeface="Arial" pitchFamily="34" charset="-120"/>
              </a:rPr>
              <a:t>Element tree</a:t>
            </a:r>
            <a:endParaRPr lang="en-US" sz="1450" dirty="0"/>
          </a:p>
        </p:txBody>
      </p:sp>
      <p:sp>
        <p:nvSpPr>
          <p:cNvPr id="10" name="Text 6"/>
          <p:cNvSpPr/>
          <p:nvPr/>
        </p:nvSpPr>
        <p:spPr>
          <a:xfrm>
            <a:off x="4663440" y="2816352"/>
            <a:ext cx="3383280" cy="822960"/>
          </a:xfrm>
          <a:prstGeom prst="rect">
            <a:avLst/>
          </a:prstGeom>
          <a:noFill/>
          <a:ln/>
        </p:spPr>
        <p:txBody>
          <a:bodyPr wrap="square" lIns="0" tIns="0" rIns="0" bIns="0" rtlCol="0" anchor="ctr"/>
          <a:lstStyle/>
          <a:p>
            <a:pPr indent="0" marL="0">
              <a:buNone/>
            </a:pPr>
            <a:r>
              <a:rPr lang="en-US" sz="1150" dirty="0">
                <a:solidFill>
                  <a:srgbClr val="86868B"/>
                </a:solidFill>
                <a:latin typeface="Arial" pitchFamily="34" charset="0"/>
                <a:ea typeface="Arial" pitchFamily="34" charset="-122"/>
                <a:cs typeface="Arial" pitchFamily="34" charset="-120"/>
              </a:rPr>
              <a:t>The mediator. Persists across frames, holds State, and decides, per child, whether the old render object can be kept or must be thrown away.</a:t>
            </a:r>
            <a:endParaRPr lang="en-US" sz="1150" dirty="0"/>
          </a:p>
        </p:txBody>
      </p:sp>
      <p:pic>
        <p:nvPicPr>
          <p:cNvPr id="11" name="Image 2" descr="/Users/dinu/dev/upb/mobile-and-embedded-computing/slides/assets/icons2/layers-ink.png">    </p:cNvPr>
          <p:cNvPicPr>
            <a:picLocks noChangeAspect="1"/>
          </p:cNvPicPr>
          <p:nvPr/>
        </p:nvPicPr>
        <p:blipFill>
          <a:blip r:embed="rId3"/>
          <a:stretch>
            <a:fillRect/>
          </a:stretch>
        </p:blipFill>
        <p:spPr>
          <a:xfrm>
            <a:off x="8503920" y="1828800"/>
            <a:ext cx="384048" cy="384048"/>
          </a:xfrm>
          <a:prstGeom prst="rect">
            <a:avLst/>
          </a:prstGeom>
        </p:spPr>
      </p:pic>
      <p:sp>
        <p:nvSpPr>
          <p:cNvPr id="12" name="Text 7"/>
          <p:cNvSpPr/>
          <p:nvPr/>
        </p:nvSpPr>
        <p:spPr>
          <a:xfrm>
            <a:off x="8503920" y="2359152"/>
            <a:ext cx="3383280" cy="457200"/>
          </a:xfrm>
          <a:prstGeom prst="rect">
            <a:avLst/>
          </a:prstGeom>
          <a:noFill/>
          <a:ln/>
        </p:spPr>
        <p:txBody>
          <a:bodyPr wrap="square" lIns="0" tIns="0" rIns="0" bIns="0" rtlCol="0" anchor="ctr"/>
          <a:lstStyle/>
          <a:p>
            <a:pPr indent="0" marL="0">
              <a:buNone/>
            </a:pPr>
            <a:r>
              <a:rPr lang="en-US" sz="1450" b="1" dirty="0">
                <a:solidFill>
                  <a:srgbClr val="1D1D1F"/>
                </a:solidFill>
                <a:latin typeface="Arial" pitchFamily="34" charset="0"/>
                <a:ea typeface="Arial" pitchFamily="34" charset="-122"/>
                <a:cs typeface="Arial" pitchFamily="34" charset="-120"/>
              </a:rPr>
              <a:t>Render object tree</a:t>
            </a:r>
            <a:endParaRPr lang="en-US" sz="1450" dirty="0"/>
          </a:p>
        </p:txBody>
      </p:sp>
      <p:sp>
        <p:nvSpPr>
          <p:cNvPr id="13" name="Text 8"/>
          <p:cNvSpPr/>
          <p:nvPr/>
        </p:nvSpPr>
        <p:spPr>
          <a:xfrm>
            <a:off x="8503920" y="2816352"/>
            <a:ext cx="3383280" cy="822960"/>
          </a:xfrm>
          <a:prstGeom prst="rect">
            <a:avLst/>
          </a:prstGeom>
          <a:noFill/>
          <a:ln/>
        </p:spPr>
        <p:txBody>
          <a:bodyPr wrap="square" lIns="0" tIns="0" rIns="0" bIns="0" rtlCol="0" anchor="ctr"/>
          <a:lstStyle/>
          <a:p>
            <a:pPr indent="0" marL="0">
              <a:buNone/>
            </a:pPr>
            <a:r>
              <a:rPr lang="en-US" sz="1150" dirty="0">
                <a:solidFill>
                  <a:srgbClr val="86868B"/>
                </a:solidFill>
                <a:latin typeface="Arial" pitchFamily="34" charset="0"/>
                <a:ea typeface="Arial" pitchFamily="34" charset="-122"/>
                <a:cs typeface="Arial" pitchFamily="34" charset="-120"/>
              </a:rPr>
              <a:t>The machinery. Layout, painting, hit-testing. Expensive to create, expensive to touch, so the framework keeps them alive as long as it possibly can.</a:t>
            </a:r>
            <a:endParaRPr lang="en-US" sz="1150" dirty="0"/>
          </a:p>
        </p:txBody>
      </p:sp>
      <p:sp>
        <p:nvSpPr>
          <p:cNvPr id="14" name="Shape 9"/>
          <p:cNvSpPr/>
          <p:nvPr/>
        </p:nvSpPr>
        <p:spPr>
          <a:xfrm>
            <a:off x="822960" y="4343400"/>
            <a:ext cx="10543032" cy="0"/>
          </a:xfrm>
          <a:prstGeom prst="line">
            <a:avLst/>
          </a:prstGeom>
          <a:noFill/>
          <a:ln w="9525">
            <a:solidFill>
              <a:srgbClr val="D2D2D7"/>
            </a:solidFill>
            <a:prstDash val="solid"/>
          </a:ln>
        </p:spPr>
      </p:sp>
      <p:sp>
        <p:nvSpPr>
          <p:cNvPr id="15" name="Text 10"/>
          <p:cNvSpPr/>
          <p:nvPr/>
        </p:nvSpPr>
        <p:spPr>
          <a:xfrm>
            <a:off x="822960" y="4572000"/>
            <a:ext cx="10543032" cy="1371600"/>
          </a:xfrm>
          <a:prstGeom prst="rect">
            <a:avLst/>
          </a:prstGeom>
          <a:noFill/>
          <a:ln/>
        </p:spPr>
        <p:txBody>
          <a:bodyPr wrap="square" lIns="0" tIns="0" rIns="0" bIns="0" rtlCol="0" anchor="t"/>
          <a:lstStyle/>
          <a:p>
            <a:pPr indent="0" marL="0">
              <a:spcAft>
                <a:spcPts val="800"/>
              </a:spcAft>
              <a:buNone/>
            </a:pPr>
            <a:r>
              <a:rPr lang="en-US" sz="1300" b="1" dirty="0">
                <a:solidFill>
                  <a:srgbClr val="1D1D1F"/>
                </a:solidFill>
                <a:latin typeface="Arial" pitchFamily="34" charset="0"/>
                <a:ea typeface="Arial" pitchFamily="34" charset="-122"/>
                <a:cs typeface="Arial" pitchFamily="34" charset="-120"/>
              </a:rPr>
              <a:t>Flutter does not rebuild the whole widget tree every frame.</a:t>
            </a:r>
            <a:endParaRPr lang="en-US" sz="1300" dirty="0"/>
          </a:p>
          <a:p>
            <a:pPr indent="0" marL="0">
              <a:spcAft>
                <a:spcPts val="800"/>
              </a:spcAft>
              <a:buNone/>
            </a:pPr>
            <a:r>
              <a:rPr lang="en-US" sz="1300" dirty="0">
                <a:solidFill>
                  <a:srgbClr val="1D1D1F"/>
                </a:solidFill>
                <a:latin typeface="Arial" pitchFamily="34" charset="0"/>
                <a:ea typeface="Arial" pitchFamily="34" charset="-122"/>
                <a:cs typeface="Arial" pitchFamily="34" charset="-120"/>
              </a:rPr>
              <a:t>Only subtrees marked dirty rebuild. “Rebuilding widgets is cheap” is a statement about allocation. It is not permission to rebuild the screen for one changed label, because every rebuilt widget still has to be diffed against the element tree.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9</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RENDERING</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Reconciliation: runtimeType first, then key</a:t>
            </a:r>
            <a:endParaRPr lang="en-US" sz="3000" dirty="0"/>
          </a:p>
        </p:txBody>
      </p:sp>
      <p:sp>
        <p:nvSpPr>
          <p:cNvPr id="5" name="Shape 3"/>
          <p:cNvSpPr/>
          <p:nvPr/>
        </p:nvSpPr>
        <p:spPr>
          <a:xfrm>
            <a:off x="822960" y="1783080"/>
            <a:ext cx="6492240" cy="3429000"/>
          </a:xfrm>
          <a:prstGeom prst="roundRect">
            <a:avLst>
              <a:gd name="adj" fmla="val 3200"/>
            </a:avLst>
          </a:prstGeom>
          <a:solidFill>
            <a:srgbClr val="F5F5F7"/>
          </a:solidFill>
          <a:ln/>
        </p:spPr>
      </p:sp>
      <p:sp>
        <p:nvSpPr>
          <p:cNvPr id="6" name="Text 4"/>
          <p:cNvSpPr/>
          <p:nvPr/>
        </p:nvSpPr>
        <p:spPr>
          <a:xfrm>
            <a:off x="1234440" y="2103120"/>
            <a:ext cx="5760720" cy="2834640"/>
          </a:xfrm>
          <a:prstGeom prst="rect">
            <a:avLst/>
          </a:prstGeom>
          <a:noFill/>
          <a:ln/>
        </p:spPr>
        <p:txBody>
          <a:bodyPr wrap="square" lIns="0" tIns="0" rIns="0" bIns="0" rtlCol="0" anchor="t"/>
          <a:lstStyle/>
          <a:p>
            <a:pPr indent="0" marL="0">
              <a:lnSpc>
                <a:spcPts val="1900"/>
              </a:lnSpc>
              <a:buNone/>
            </a:pPr>
            <a:r>
              <a:rPr lang="en-US" sz="1050" dirty="0">
                <a:solidFill>
                  <a:srgbClr val="86868B"/>
                </a:solidFill>
                <a:latin typeface="Courier New" pitchFamily="34" charset="0"/>
                <a:ea typeface="Courier New" pitchFamily="34" charset="-122"/>
                <a:cs typeface="Courier New" pitchFamily="34" charset="-120"/>
              </a:rPr>
              <a:t>// flutter/lib/src/widgets/framework.dart: the whole decision</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static bool canUpdate(Widget oldWidget, Widget newWidget) {</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return oldWidget.runtimeType == newWidget.runtimeType</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&amp;&amp; oldWidget.key == newWidget.key;</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a:t>
            </a:r>
            <a:endParaRPr lang="en-US" sz="1050" dirty="0"/>
          </a:p>
          <a:p>
            <a:pPr indent="0" marL="0">
              <a:lnSpc>
                <a:spcPts val="1900"/>
              </a:lnSpc>
              <a:buNone/>
            </a:pPr>
            <a:r>
              <a:rPr lang="en-US" sz="1050" dirty="0">
                <a:solidFill>
                  <a:srgbClr val="86868B"/>
                </a:solidFill>
                <a:latin typeface="Courier New" pitchFamily="34" charset="0"/>
                <a:ea typeface="Courier New" pitchFamily="34" charset="-122"/>
                <a:cs typeface="Courier New" pitchFamily="34" charset="-120"/>
              </a:rPr>
              <a:t>// true  → the element is updated in place.</a:t>
            </a:r>
            <a:endParaRPr lang="en-US" sz="1050" dirty="0"/>
          </a:p>
          <a:p>
            <a:pPr indent="0" marL="0">
              <a:lnSpc>
                <a:spcPts val="1900"/>
              </a:lnSpc>
              <a:buNone/>
            </a:pPr>
            <a:r>
              <a:rPr lang="en-US" sz="1050" dirty="0">
                <a:solidFill>
                  <a:srgbClr val="86868B"/>
                </a:solidFill>
                <a:latin typeface="Courier New" pitchFamily="34" charset="0"/>
                <a:ea typeface="Courier New" pitchFamily="34" charset="-122"/>
                <a:cs typeface="Courier New" pitchFamily="34" charset="-120"/>
              </a:rPr>
              <a:t>//         State survives. The render object is REUSED.</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a:t>
            </a:r>
            <a:endParaRPr lang="en-US" sz="1050" dirty="0"/>
          </a:p>
          <a:p>
            <a:pPr indent="0" marL="0">
              <a:lnSpc>
                <a:spcPts val="1900"/>
              </a:lnSpc>
              <a:buNone/>
            </a:pPr>
            <a:r>
              <a:rPr lang="en-US" sz="1050" dirty="0">
                <a:solidFill>
                  <a:srgbClr val="86868B"/>
                </a:solidFill>
                <a:latin typeface="Courier New" pitchFamily="34" charset="0"/>
                <a:ea typeface="Courier New" pitchFamily="34" charset="-122"/>
                <a:cs typeface="Courier New" pitchFamily="34" charset="-120"/>
              </a:rPr>
              <a:t>// false → the old element is deactivated, its render</a:t>
            </a:r>
            <a:endParaRPr lang="en-US" sz="1050" dirty="0"/>
          </a:p>
          <a:p>
            <a:pPr indent="0" marL="0">
              <a:lnSpc>
                <a:spcPts val="1900"/>
              </a:lnSpc>
              <a:buNone/>
            </a:pPr>
            <a:r>
              <a:rPr lang="en-US" sz="1050" dirty="0">
                <a:solidFill>
                  <a:srgbClr val="86868B"/>
                </a:solidFill>
                <a:latin typeface="Courier New" pitchFamily="34" charset="0"/>
                <a:ea typeface="Courier New" pitchFamily="34" charset="-122"/>
                <a:cs typeface="Courier New" pitchFamily="34" charset="-120"/>
              </a:rPr>
              <a:t>//         object dropped, a new one inflated and laid out.</a:t>
            </a:r>
            <a:endParaRPr lang="en-US" sz="1050" dirty="0"/>
          </a:p>
        </p:txBody>
      </p:sp>
      <p:sp>
        <p:nvSpPr>
          <p:cNvPr id="7" name="Text 5"/>
          <p:cNvSpPr/>
          <p:nvPr/>
        </p:nvSpPr>
        <p:spPr>
          <a:xfrm>
            <a:off x="7680960" y="1810512"/>
            <a:ext cx="3685032" cy="320040"/>
          </a:xfrm>
          <a:prstGeom prst="rect">
            <a:avLst/>
          </a:prstGeom>
          <a:noFill/>
          <a:ln/>
        </p:spPr>
        <p:txBody>
          <a:bodyPr wrap="square" lIns="0" tIns="0" rIns="0" bIns="0" rtlCol="0" anchor="ctr"/>
          <a:lstStyle/>
          <a:p>
            <a:pPr indent="0" marL="0">
              <a:buNone/>
            </a:pPr>
            <a:r>
              <a:rPr lang="en-US" sz="1400" b="1" dirty="0">
                <a:solidFill>
                  <a:srgbClr val="1D1D1F"/>
                </a:solidFill>
                <a:latin typeface="Arial" pitchFamily="34" charset="0"/>
                <a:ea typeface="Arial" pitchFamily="34" charset="-122"/>
                <a:cs typeface="Arial" pitchFamily="34" charset="-120"/>
              </a:rPr>
              <a:t>What this buys you</a:t>
            </a:r>
            <a:endParaRPr lang="en-US" sz="1400" dirty="0"/>
          </a:p>
        </p:txBody>
      </p:sp>
      <p:sp>
        <p:nvSpPr>
          <p:cNvPr id="8" name="Text 6"/>
          <p:cNvSpPr/>
          <p:nvPr/>
        </p:nvSpPr>
        <p:spPr>
          <a:xfrm>
            <a:off x="7680960" y="2240280"/>
            <a:ext cx="3685032" cy="3108960"/>
          </a:xfrm>
          <a:prstGeom prst="rect">
            <a:avLst/>
          </a:prstGeom>
          <a:noFill/>
          <a:ln/>
        </p:spPr>
        <p:txBody>
          <a:bodyPr wrap="square" lIns="0" tIns="0" rIns="0" bIns="0" rtlCol="0" anchor="t"/>
          <a:lstStyle/>
          <a:p>
            <a:pPr indent="0" marL="0">
              <a:spcAft>
                <a:spcPts val="1100"/>
              </a:spcAft>
              <a:buNone/>
            </a:pPr>
            <a:r>
              <a:rPr lang="en-US" sz="1150" dirty="0">
                <a:solidFill>
                  <a:srgbClr val="86868B"/>
                </a:solidFill>
                <a:latin typeface="Arial" pitchFamily="34" charset="0"/>
                <a:ea typeface="Arial" pitchFamily="34" charset="-122"/>
                <a:cs typeface="Arial" pitchFamily="34" charset="-120"/>
              </a:rPr>
              <a:t>The element tree walks the new children in order and asks this question once per child: a linear pass, O(N) in the number of children.</a:t>
            </a:r>
            <a:endParaRPr lang="en-US" sz="1150" dirty="0"/>
          </a:p>
          <a:p>
            <a:pPr indent="0" marL="0">
              <a:spcAft>
                <a:spcPts val="1100"/>
              </a:spcAft>
              <a:buNone/>
            </a:pPr>
            <a:r>
              <a:rPr lang="en-US" sz="1150" dirty="0">
                <a:solidFill>
                  <a:srgbClr val="86868B"/>
                </a:solidFill>
                <a:latin typeface="Arial" pitchFamily="34" charset="0"/>
                <a:ea typeface="Arial" pitchFamily="34" charset="-122"/>
                <a:cs typeface="Arial" pitchFamily="34" charset="-120"/>
              </a:rPr>
              <a:t>Everything you do to make Flutter fast is really about making the answer “true” more often: keep types stable, keep keys stable, and keep the dirty subtree small.</a:t>
            </a:r>
            <a:endParaRPr lang="en-US" sz="1150" dirty="0"/>
          </a:p>
          <a:p>
            <a:pPr indent="0" marL="0">
              <a:spcAft>
                <a:spcPts val="1100"/>
              </a:spcAft>
              <a:buNone/>
            </a:pPr>
            <a:r>
              <a:rPr lang="en-US" sz="1150" dirty="0">
                <a:solidFill>
                  <a:srgbClr val="1D1D1F"/>
                </a:solidFill>
                <a:latin typeface="Arial" pitchFamily="34" charset="0"/>
                <a:ea typeface="Arial" pitchFamily="34" charset="-122"/>
                <a:cs typeface="Arial" pitchFamily="34" charset="-120"/>
              </a:rPr>
              <a:t>Swapping a Container for a SizedBox in a conditional is a type change, and it silently destroys the state below it.</a:t>
            </a:r>
            <a:endParaRPr lang="en-US" sz="1150" dirty="0"/>
          </a:p>
        </p:txBody>
      </p:sp>
      <p:sp>
        <p:nvSpPr>
          <p:cNvPr id="9" name="Shape 7"/>
          <p:cNvSpPr/>
          <p:nvPr/>
        </p:nvSpPr>
        <p:spPr>
          <a:xfrm>
            <a:off x="822960" y="5440680"/>
            <a:ext cx="10543032" cy="0"/>
          </a:xfrm>
          <a:prstGeom prst="line">
            <a:avLst/>
          </a:prstGeom>
          <a:noFill/>
          <a:ln w="9525">
            <a:solidFill>
              <a:srgbClr val="D2D2D7"/>
            </a:solidFill>
            <a:prstDash val="solid"/>
          </a:ln>
        </p:spPr>
      </p:sp>
      <p:sp>
        <p:nvSpPr>
          <p:cNvPr id="10" name="Text 8"/>
          <p:cNvSpPr/>
          <p:nvPr/>
        </p:nvSpPr>
        <p:spPr>
          <a:xfrm>
            <a:off x="822960" y="5669280"/>
            <a:ext cx="10543032" cy="640080"/>
          </a:xfrm>
          <a:prstGeom prst="rect">
            <a:avLst/>
          </a:prstGeom>
          <a:noFill/>
          <a:ln/>
        </p:spPr>
        <p:txBody>
          <a:bodyPr wrap="square" lIns="0" tIns="0" rIns="0" bIns="0" rtlCol="0" anchor="t"/>
          <a:lstStyle/>
          <a:p>
            <a:pPr indent="0" marL="0">
              <a:buNone/>
            </a:pPr>
            <a:r>
              <a:rPr lang="en-US" sz="1400" b="1" dirty="0">
                <a:solidFill>
                  <a:srgbClr val="1D1D1F"/>
                </a:solidFill>
                <a:latin typeface="Arial" pitchFamily="34" charset="0"/>
                <a:ea typeface="Arial" pitchFamily="34" charset="-122"/>
                <a:cs typeface="Arial" pitchFamily="34" charset="-120"/>
              </a:rPr>
              <a:t>Same type, same key → the expensive object is kept.</a:t>
            </a:r>
            <a:pPr indent="0" marL="0">
              <a:buNone/>
            </a:pPr>
            <a:r>
              <a:rPr lang="en-US" sz="1400" dirty="0">
                <a:solidFill>
                  <a:srgbClr val="86868B"/>
                </a:solidFill>
                <a:latin typeface="Arial" pitchFamily="34" charset="0"/>
                <a:ea typeface="Arial" pitchFamily="34" charset="-122"/>
                <a:cs typeface="Arial" pitchFamily="34" charset="-120"/>
              </a:rPr>
              <a:t> Everything else on the next four slides follows from this one line of code.</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10</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RENDERING</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Keys: identity for things that move</a:t>
            </a:r>
            <a:endParaRPr lang="en-US" sz="3000" dirty="0"/>
          </a:p>
        </p:txBody>
      </p:sp>
      <p:sp>
        <p:nvSpPr>
          <p:cNvPr id="5" name="Text 3"/>
          <p:cNvSpPr/>
          <p:nvPr/>
        </p:nvSpPr>
        <p:spPr>
          <a:xfrm>
            <a:off x="822960" y="1737360"/>
            <a:ext cx="6309360" cy="2926080"/>
          </a:xfrm>
          <a:prstGeom prst="rect">
            <a:avLst/>
          </a:prstGeom>
          <a:noFill/>
          <a:ln/>
        </p:spPr>
        <p:txBody>
          <a:bodyPr wrap="square" lIns="0" tIns="0" rIns="0" bIns="0" rtlCol="0" anchor="t"/>
          <a:lstStyle/>
          <a:p>
            <a:pPr indent="0" marL="0">
              <a:spcAft>
                <a:spcPts val="1200"/>
              </a:spcAft>
              <a:buNone/>
            </a:pPr>
            <a:r>
              <a:rPr lang="en-US" sz="1300" dirty="0">
                <a:solidFill>
                  <a:srgbClr val="1D1D1F"/>
                </a:solidFill>
                <a:latin typeface="Arial" pitchFamily="34" charset="0"/>
                <a:ea typeface="Arial" pitchFamily="34" charset="-122"/>
                <a:cs typeface="Arial" pitchFamily="34" charset="-120"/>
              </a:rPr>
              <a:t>Without a key, children are matched by position. Reorder a list and Flutter hands item 3's state to whatever now sits third: the checkbox stays ticked, the wrong row animates, and the scroll offset jumps.</a:t>
            </a:r>
            <a:endParaRPr lang="en-US" sz="1300" dirty="0"/>
          </a:p>
          <a:p>
            <a:pPr indent="0" marL="0">
              <a:spcAft>
                <a:spcPts val="1200"/>
              </a:spcAft>
              <a:buNone/>
            </a:pPr>
            <a:r>
              <a:rPr lang="en-US" sz="1300" dirty="0">
                <a:solidFill>
                  <a:srgbClr val="1D1D1F"/>
                </a:solidFill>
                <a:latin typeface="Arial" pitchFamily="34" charset="0"/>
                <a:ea typeface="Arial" pitchFamily="34" charset="-122"/>
                <a:cs typeface="Arial" pitchFamily="34" charset="-120"/>
              </a:rPr>
              <a:t>With a key, Flutter recognizes the move: it relocates the element and its render object instead of rebuilding them, and the state travels with the item.</a:t>
            </a:r>
            <a:endParaRPr lang="en-US" sz="1300" dirty="0"/>
          </a:p>
          <a:p>
            <a:pPr indent="0" marL="0">
              <a:spcAft>
                <a:spcPts val="1200"/>
              </a:spcAft>
              <a:buNone/>
            </a:pPr>
            <a:r>
              <a:rPr lang="en-US" sz="1300" dirty="0">
                <a:solidFill>
                  <a:srgbClr val="1D1D1F"/>
                </a:solidFill>
                <a:latin typeface="Arial" pitchFamily="34" charset="0"/>
                <a:ea typeface="Arial" pitchFamily="34" charset="-122"/>
                <a:cs typeface="Arial" pitchFamily="34" charset="-120"/>
              </a:rPr>
              <a:t>ValueKey(item.id) for data you own. ObjectKey for identity by instance. UniqueKey only when you genuinely want destruction, since it never matches anything.</a:t>
            </a:r>
            <a:endParaRPr lang="en-US" sz="1300" dirty="0"/>
          </a:p>
        </p:txBody>
      </p:sp>
      <p:sp>
        <p:nvSpPr>
          <p:cNvPr id="6" name="Shape 4"/>
          <p:cNvSpPr/>
          <p:nvPr/>
        </p:nvSpPr>
        <p:spPr>
          <a:xfrm>
            <a:off x="7406640" y="1783080"/>
            <a:ext cx="3959352" cy="3063240"/>
          </a:xfrm>
          <a:prstGeom prst="roundRect">
            <a:avLst>
              <a:gd name="adj" fmla="val 3582"/>
            </a:avLst>
          </a:prstGeom>
          <a:solidFill>
            <a:srgbClr val="F5F5F7"/>
          </a:solidFill>
          <a:ln/>
        </p:spPr>
      </p:sp>
      <p:sp>
        <p:nvSpPr>
          <p:cNvPr id="7" name="Text 5"/>
          <p:cNvSpPr/>
          <p:nvPr/>
        </p:nvSpPr>
        <p:spPr>
          <a:xfrm>
            <a:off x="7726680" y="2011680"/>
            <a:ext cx="3383280" cy="320040"/>
          </a:xfrm>
          <a:prstGeom prst="rect">
            <a:avLst/>
          </a:prstGeom>
          <a:noFill/>
          <a:ln/>
        </p:spPr>
        <p:txBody>
          <a:bodyPr wrap="square" lIns="0" tIns="0" rIns="0" bIns="0" rtlCol="0" anchor="ctr"/>
          <a:lstStyle/>
          <a:p>
            <a:pPr indent="0" marL="0">
              <a:buNone/>
            </a:pPr>
            <a:r>
              <a:rPr lang="en-US" sz="1350" b="1" dirty="0">
                <a:solidFill>
                  <a:srgbClr val="1D1D1F"/>
                </a:solidFill>
                <a:latin typeface="Arial" pitchFamily="34" charset="0"/>
                <a:ea typeface="Arial" pitchFamily="34" charset="-122"/>
                <a:cs typeface="Arial" pitchFamily="34" charset="-120"/>
              </a:rPr>
              <a:t>GlobalKey is expensive</a:t>
            </a:r>
            <a:endParaRPr lang="en-US" sz="1350" dirty="0"/>
          </a:p>
        </p:txBody>
      </p:sp>
      <p:sp>
        <p:nvSpPr>
          <p:cNvPr id="8" name="Text 6"/>
          <p:cNvSpPr/>
          <p:nvPr/>
        </p:nvSpPr>
        <p:spPr>
          <a:xfrm>
            <a:off x="7726680" y="2377440"/>
            <a:ext cx="3383280" cy="2331720"/>
          </a:xfrm>
          <a:prstGeom prst="rect">
            <a:avLst/>
          </a:prstGeom>
          <a:noFill/>
          <a:ln/>
        </p:spPr>
        <p:txBody>
          <a:bodyPr wrap="square" lIns="0" tIns="0" rIns="0" bIns="0" rtlCol="0" anchor="t"/>
          <a:lstStyle/>
          <a:p>
            <a:pPr indent="0" marL="0">
              <a:spcAft>
                <a:spcPts val="800"/>
              </a:spcAft>
              <a:buNone/>
            </a:pPr>
            <a:r>
              <a:rPr lang="en-US" sz="1050" dirty="0">
                <a:solidFill>
                  <a:srgbClr val="86868B"/>
                </a:solidFill>
                <a:latin typeface="Arial" pitchFamily="34" charset="0"/>
                <a:ea typeface="Arial" pitchFamily="34" charset="-122"/>
                <a:cs typeface="Arial" pitchFamily="34" charset="-120"/>
              </a:rPr>
              <a:t>It can reparent a widget: move a live element under a completely different parent, keeping its state. Three costs come with it:</a:t>
            </a:r>
            <a:endParaRPr lang="en-US" sz="1050" dirty="0"/>
          </a:p>
          <a:p>
            <a:pPr indent="0" marL="0">
              <a:spcAft>
                <a:spcPts val="800"/>
              </a:spcAft>
              <a:buNone/>
            </a:pPr>
            <a:r>
              <a:rPr lang="en-US" sz="1050" dirty="0">
                <a:solidFill>
                  <a:srgbClr val="86868B"/>
                </a:solidFill>
                <a:latin typeface="Arial" pitchFamily="34" charset="0"/>
                <a:ea typeface="Arial" pitchFamily="34" charset="-122"/>
                <a:cs typeface="Arial" pitchFamily="34" charset="-120"/>
              </a:rPr>
              <a:t>The element is detached and re-attached, with a lookup in a global registry on top.</a:t>
            </a:r>
            <a:endParaRPr lang="en-US" sz="1050" dirty="0"/>
          </a:p>
          <a:p>
            <a:pPr indent="0" marL="0">
              <a:spcAft>
                <a:spcPts val="800"/>
              </a:spcAft>
              <a:buNone/>
            </a:pPr>
            <a:r>
              <a:rPr lang="en-US" sz="1050" dirty="0">
                <a:solidFill>
                  <a:srgbClr val="86868B"/>
                </a:solidFill>
                <a:latin typeface="Arial" pitchFamily="34" charset="0"/>
                <a:ea typeface="Arial" pitchFamily="34" charset="-122"/>
                <a:cs typeface="Arial" pitchFamily="34" charset="-120"/>
              </a:rPr>
              <a:t>Layout and paint are invalidated in both the old location and the new one.</a:t>
            </a:r>
            <a:endParaRPr lang="en-US" sz="1050" dirty="0"/>
          </a:p>
          <a:p>
            <a:pPr indent="0" marL="0">
              <a:spcAft>
                <a:spcPts val="800"/>
              </a:spcAft>
              <a:buNone/>
            </a:pPr>
            <a:r>
              <a:rPr lang="en-US" sz="1050" dirty="0">
                <a:solidFill>
                  <a:srgbClr val="86868B"/>
                </a:solidFill>
                <a:latin typeface="Arial" pitchFamily="34" charset="0"/>
                <a:ea typeface="Arial" pitchFamily="34" charset="-122"/>
                <a:cs typeface="Arial" pitchFamily="34" charset="-120"/>
              </a:rPr>
              <a:t>Every InheritedWidget dependency below it has to be resolved again.</a:t>
            </a:r>
            <a:endParaRPr lang="en-US" sz="1050" dirty="0"/>
          </a:p>
        </p:txBody>
      </p:sp>
      <p:sp>
        <p:nvSpPr>
          <p:cNvPr id="9" name="Shape 7"/>
          <p:cNvSpPr/>
          <p:nvPr/>
        </p:nvSpPr>
        <p:spPr>
          <a:xfrm>
            <a:off x="822960" y="5029200"/>
            <a:ext cx="6309360" cy="0"/>
          </a:xfrm>
          <a:prstGeom prst="line">
            <a:avLst/>
          </a:prstGeom>
          <a:noFill/>
          <a:ln w="9525">
            <a:solidFill>
              <a:srgbClr val="D2D2D7"/>
            </a:solidFill>
            <a:prstDash val="solid"/>
          </a:ln>
        </p:spPr>
      </p:sp>
      <p:sp>
        <p:nvSpPr>
          <p:cNvPr id="10" name="Text 8"/>
          <p:cNvSpPr/>
          <p:nvPr/>
        </p:nvSpPr>
        <p:spPr>
          <a:xfrm>
            <a:off x="822960" y="5257800"/>
            <a:ext cx="6309360" cy="640080"/>
          </a:xfrm>
          <a:prstGeom prst="rect">
            <a:avLst/>
          </a:prstGeom>
          <a:noFill/>
          <a:ln/>
        </p:spPr>
        <p:txBody>
          <a:bodyPr wrap="square" lIns="0" tIns="0" rIns="0" bIns="0" rtlCol="0" anchor="t"/>
          <a:lstStyle/>
          <a:p>
            <a:pPr indent="0" marL="0">
              <a:buNone/>
            </a:pPr>
            <a:r>
              <a:rPr lang="en-US" sz="1400" b="1" dirty="0">
                <a:solidFill>
                  <a:srgbClr val="1D1D1F"/>
                </a:solidFill>
                <a:latin typeface="Arial" pitchFamily="34" charset="0"/>
                <a:ea typeface="Arial" pitchFamily="34" charset="-122"/>
                <a:cs typeface="Arial" pitchFamily="34" charset="-120"/>
              </a:rPr>
              <a:t>Keys are cheap. GlobalKeys are not.</a:t>
            </a:r>
            <a:pPr indent="0" marL="0">
              <a:buNone/>
            </a:pPr>
            <a:r>
              <a:rPr lang="en-US" sz="1400" dirty="0">
                <a:solidFill>
                  <a:srgbClr val="86868B"/>
                </a:solidFill>
                <a:latin typeface="Arial" pitchFamily="34" charset="0"/>
                <a:ea typeface="Arial" pitchFamily="34" charset="-122"/>
                <a:cs typeface="Arial" pitchFamily="34" charset="-120"/>
              </a:rPr>
              <a:t> Use a GlobalKey when you actually need to reparent or reach a State from outside, not as a convenient handle.</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11</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RENDERING</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What each operation actually costs</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822960" y="1874520"/>
          <a:ext cx="10543032" cy="914400"/>
        </p:xfrm>
        <a:graphic>
          <a:graphicData uri="http://schemas.openxmlformats.org/drawingml/2006/table">
            <a:tbl>
              <a:tblPr/>
              <a:tblGrid>
                <a:gridCol w="2286000"/>
                <a:gridCol w="4128516"/>
                <a:gridCol w="4128516"/>
              </a:tblGrid>
              <a:tr h="438912">
                <a:tc>
                  <a:txBody>
                    <a:bodyPr/>
                    <a:lstStyle/>
                    <a:p>
                      <a:pPr indent="0" marL="0">
                        <a:buNone/>
                      </a:pP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50" b="1" dirty="0">
                          <a:solidFill>
                            <a:srgbClr val="1D1D1F"/>
                          </a:solidFill>
                          <a:latin typeface="Arial" pitchFamily="34" charset="0"/>
                          <a:ea typeface="Arial" pitchFamily="34" charset="-122"/>
                          <a:cs typeface="Arial" pitchFamily="34" charset="-120"/>
                        </a:rPr>
                        <a:t>Cost</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D1D1F"/>
                          </a:solidFill>
                          <a:latin typeface="Arial" pitchFamily="34" charset="0"/>
                          <a:ea typeface="Arial" pitchFamily="34" charset="-122"/>
                          <a:cs typeface="Arial" pitchFamily="34" charset="-120"/>
                        </a:rPr>
                        <a:t>Why</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r h="603504">
                <a:tc>
                  <a:txBody>
                    <a:bodyPr/>
                    <a:lstStyle/>
                    <a:p>
                      <a:pPr algn="l" indent="0" marL="0">
                        <a:buNone/>
                      </a:pPr>
                      <a:r>
                        <a:rPr lang="en-US" sz="1150" dirty="0">
                          <a:solidFill>
                            <a:srgbClr val="86868B"/>
                          </a:solidFill>
                          <a:latin typeface="Arial" pitchFamily="34" charset="0"/>
                          <a:ea typeface="Arial" pitchFamily="34" charset="-122"/>
                          <a:cs typeface="Arial" pitchFamily="34" charset="-120"/>
                        </a:rPr>
                        <a:t>Building a widget</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constant time</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an allocation in the young heap; the generational GC collects it almost for free</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r h="603504">
                <a:tc>
                  <a:txBody>
                    <a:bodyPr/>
                    <a:lstStyle/>
                    <a:p>
                      <a:pPr algn="l" indent="0" marL="0">
                        <a:buNone/>
                      </a:pPr>
                      <a:r>
                        <a:rPr lang="en-US" sz="1150" dirty="0">
                          <a:solidFill>
                            <a:srgbClr val="86868B"/>
                          </a:solidFill>
                          <a:latin typeface="Arial" pitchFamily="34" charset="0"/>
                          <a:ea typeface="Arial" pitchFamily="34" charset="-122"/>
                          <a:cs typeface="Arial" pitchFamily="34" charset="-120"/>
                        </a:rPr>
                        <a:t>Reconciling children</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linear, O(N)</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one canUpdate call per child; keys keep the answer positive when items move</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r h="603504">
                <a:tc>
                  <a:txBody>
                    <a:bodyPr/>
                    <a:lstStyle/>
                    <a:p>
                      <a:pPr algn="l" indent="0" marL="0">
                        <a:buNone/>
                      </a:pPr>
                      <a:r>
                        <a:rPr lang="en-US" sz="1150" dirty="0">
                          <a:solidFill>
                            <a:srgbClr val="86868B"/>
                          </a:solidFill>
                          <a:latin typeface="Arial" pitchFamily="34" charset="0"/>
                          <a:ea typeface="Arial" pitchFamily="34" charset="-122"/>
                          <a:cs typeface="Arial" pitchFamily="34" charset="-120"/>
                        </a:rPr>
                        <a:t>GlobalKey reparenting</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linear search + re-attach</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detach, re-attach, invalidate layout and paint in two places</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r h="603504">
                <a:tc>
                  <a:txBody>
                    <a:bodyPr/>
                    <a:lstStyle/>
                    <a:p>
                      <a:pPr algn="l" indent="0" marL="0">
                        <a:buNone/>
                      </a:pPr>
                      <a:r>
                        <a:rPr lang="en-US" sz="1150" dirty="0">
                          <a:solidFill>
                            <a:srgbClr val="86868B"/>
                          </a:solidFill>
                          <a:latin typeface="Arial" pitchFamily="34" charset="0"/>
                          <a:ea typeface="Arial" pitchFamily="34" charset="-122"/>
                          <a:cs typeface="Arial" pitchFamily="34" charset="-120"/>
                        </a:rPr>
                        <a:t>Intrinsic sizing</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quadratic, O(N²) when nested</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IntrinsicWidth/Height break the single-pass rule: each level walks its subtree again</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bl>
          </a:graphicData>
        </a:graphic>
      </p:graphicFrame>
      <p:sp>
        <p:nvSpPr>
          <p:cNvPr id="6" name="Shape 3"/>
          <p:cNvSpPr/>
          <p:nvPr/>
        </p:nvSpPr>
        <p:spPr>
          <a:xfrm>
            <a:off x="822960" y="4937760"/>
            <a:ext cx="10543032" cy="0"/>
          </a:xfrm>
          <a:prstGeom prst="line">
            <a:avLst/>
          </a:prstGeom>
          <a:noFill/>
          <a:ln w="9525">
            <a:solidFill>
              <a:srgbClr val="D2D2D7"/>
            </a:solidFill>
            <a:prstDash val="solid"/>
          </a:ln>
        </p:spPr>
      </p:sp>
      <p:sp>
        <p:nvSpPr>
          <p:cNvPr id="7" name="Text 4"/>
          <p:cNvSpPr/>
          <p:nvPr/>
        </p:nvSpPr>
        <p:spPr>
          <a:xfrm>
            <a:off x="822960" y="5138928"/>
            <a:ext cx="10543032" cy="1097280"/>
          </a:xfrm>
          <a:prstGeom prst="rect">
            <a:avLst/>
          </a:prstGeom>
          <a:noFill/>
          <a:ln/>
        </p:spPr>
        <p:txBody>
          <a:bodyPr wrap="square" lIns="0" tIns="0" rIns="0" bIns="0" rtlCol="0" anchor="t"/>
          <a:lstStyle/>
          <a:p>
            <a:pPr indent="0" marL="0">
              <a:spcAft>
                <a:spcPts val="700"/>
              </a:spcAft>
              <a:buNone/>
            </a:pPr>
            <a:r>
              <a:rPr lang="en-US" sz="1250" b="1" dirty="0">
                <a:solidFill>
                  <a:srgbClr val="1D1D1F"/>
                </a:solidFill>
                <a:latin typeface="Arial" pitchFamily="34" charset="0"/>
                <a:ea typeface="Arial" pitchFamily="34" charset="-122"/>
                <a:cs typeface="Arial" pitchFamily="34" charset="-120"/>
              </a:rPr>
              <a:t>Layout is one depth-first pass: constraints go down, sizes come up.</a:t>
            </a:r>
            <a:endParaRPr lang="en-US" sz="1250" dirty="0"/>
          </a:p>
          <a:p>
            <a:pPr indent="0" marL="0">
              <a:spcAft>
                <a:spcPts val="700"/>
              </a:spcAft>
              <a:buNone/>
            </a:pPr>
            <a:r>
              <a:rPr lang="en-US" sz="1250" dirty="0">
                <a:solidFill>
                  <a:srgbClr val="1D1D1F"/>
                </a:solidFill>
                <a:latin typeface="Arial" pitchFamily="34" charset="0"/>
                <a:ea typeface="Arial" pitchFamily="34" charset="-122"/>
                <a:cs typeface="Arial" pitchFamily="34" charset="-120"/>
              </a:rPr>
              <a:t>A relayout boundary, a subtree whose size cannot depend on its children, stops a dirty flag from propagating upward, which is why a fixed-size box around a busy widget is a real optimization and not a cosmetic one.</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12</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OPTIMIZATION</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const constructors, and what they save</a:t>
            </a:r>
            <a:endParaRPr lang="en-US" sz="3000" dirty="0"/>
          </a:p>
        </p:txBody>
      </p:sp>
      <p:sp>
        <p:nvSpPr>
          <p:cNvPr id="5" name="Shape 3"/>
          <p:cNvSpPr/>
          <p:nvPr/>
        </p:nvSpPr>
        <p:spPr>
          <a:xfrm>
            <a:off x="822960" y="1783080"/>
            <a:ext cx="6492240" cy="3977640"/>
          </a:xfrm>
          <a:prstGeom prst="roundRect">
            <a:avLst>
              <a:gd name="adj" fmla="val 2759"/>
            </a:avLst>
          </a:prstGeom>
          <a:solidFill>
            <a:srgbClr val="F5F5F7"/>
          </a:solidFill>
          <a:ln/>
        </p:spPr>
      </p:sp>
      <p:sp>
        <p:nvSpPr>
          <p:cNvPr id="6" name="Text 4"/>
          <p:cNvSpPr/>
          <p:nvPr/>
        </p:nvSpPr>
        <p:spPr>
          <a:xfrm>
            <a:off x="1234440" y="2103120"/>
            <a:ext cx="5760720" cy="3383280"/>
          </a:xfrm>
          <a:prstGeom prst="rect">
            <a:avLst/>
          </a:prstGeom>
          <a:noFill/>
          <a:ln/>
        </p:spPr>
        <p:txBody>
          <a:bodyPr wrap="square" lIns="0" tIns="0" rIns="0" bIns="0" rtlCol="0" anchor="t"/>
          <a:lstStyle/>
          <a:p>
            <a:pPr indent="0" marL="0">
              <a:lnSpc>
                <a:spcPts val="1900"/>
              </a:lnSpc>
              <a:buNone/>
            </a:pPr>
            <a:r>
              <a:rPr lang="en-US" sz="1050" dirty="0">
                <a:solidFill>
                  <a:srgbClr val="86868B"/>
                </a:solidFill>
                <a:latin typeface="Courier New" pitchFamily="34" charset="0"/>
                <a:ea typeface="Courier New" pitchFamily="34" charset="-122"/>
                <a:cs typeface="Courier New" pitchFamily="34" charset="-120"/>
              </a:rPr>
              <a:t>// Rebuilt, re-allocated and re-diffed on every parent build:</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Padding(</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padding: EdgeInsets.all(16),</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child: Text('Total'),</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a:t>
            </a:r>
            <a:endParaRPr lang="en-US" sz="1050" dirty="0"/>
          </a:p>
          <a:p>
            <a:pPr indent="0" marL="0">
              <a:lnSpc>
                <a:spcPts val="1900"/>
              </a:lnSpc>
              <a:buNone/>
            </a:pPr>
            <a:r>
              <a:rPr lang="en-US" sz="1050" dirty="0">
                <a:solidFill>
                  <a:srgbClr val="86868B"/>
                </a:solidFill>
                <a:latin typeface="Courier New" pitchFamily="34" charset="0"/>
                <a:ea typeface="Courier New" pitchFamily="34" charset="-122"/>
                <a:cs typeface="Courier New" pitchFamily="34" charset="-120"/>
              </a:rPr>
              <a:t>// Canonicalized at compile time: the SAME instance forever:</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const Padding(</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padding: EdgeInsets.all(16),</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child: Text('Total'),</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a:t>
            </a:r>
            <a:endParaRPr lang="en-US" sz="1050" dirty="0"/>
          </a:p>
          <a:p>
            <a:pPr indent="0" marL="0">
              <a:lnSpc>
                <a:spcPts val="1900"/>
              </a:lnSpc>
              <a:buNone/>
            </a:pPr>
            <a:r>
              <a:rPr lang="en-US" sz="1050" dirty="0">
                <a:solidFill>
                  <a:srgbClr val="86868B"/>
                </a:solidFill>
                <a:latin typeface="Courier New" pitchFamily="34" charset="0"/>
                <a:ea typeface="Courier New" pitchFamily="34" charset="-122"/>
                <a:cs typeface="Courier New" pitchFamily="34" charset="-120"/>
              </a:rPr>
              <a:t># analysis_options.yaml: let the IDE add them for you</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linter:</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rules: [prefer_const_constructors]</a:t>
            </a:r>
            <a:endParaRPr lang="en-US" sz="1050" dirty="0"/>
          </a:p>
        </p:txBody>
      </p:sp>
      <p:sp>
        <p:nvSpPr>
          <p:cNvPr id="7" name="Text 5"/>
          <p:cNvSpPr/>
          <p:nvPr/>
        </p:nvSpPr>
        <p:spPr>
          <a:xfrm>
            <a:off x="7680960" y="1810512"/>
            <a:ext cx="3685032" cy="320040"/>
          </a:xfrm>
          <a:prstGeom prst="rect">
            <a:avLst/>
          </a:prstGeom>
          <a:noFill/>
          <a:ln/>
        </p:spPr>
        <p:txBody>
          <a:bodyPr wrap="square" lIns="0" tIns="0" rIns="0" bIns="0" rtlCol="0" anchor="ctr"/>
          <a:lstStyle/>
          <a:p>
            <a:pPr indent="0" marL="0">
              <a:buNone/>
            </a:pPr>
            <a:r>
              <a:rPr lang="en-US" sz="1400" b="1" dirty="0">
                <a:solidFill>
                  <a:srgbClr val="1D1D1F"/>
                </a:solidFill>
                <a:latin typeface="Arial" pitchFamily="34" charset="0"/>
                <a:ea typeface="Arial" pitchFamily="34" charset="-122"/>
                <a:cs typeface="Arial" pitchFamily="34" charset="-120"/>
              </a:rPr>
              <a:t>Why it short-circuits the rebuild</a:t>
            </a:r>
            <a:endParaRPr lang="en-US" sz="1400" dirty="0"/>
          </a:p>
        </p:txBody>
      </p:sp>
      <p:sp>
        <p:nvSpPr>
          <p:cNvPr id="8" name="Text 6"/>
          <p:cNvSpPr/>
          <p:nvPr/>
        </p:nvSpPr>
        <p:spPr>
          <a:xfrm>
            <a:off x="7680960" y="2240280"/>
            <a:ext cx="3685032" cy="3749040"/>
          </a:xfrm>
          <a:prstGeom prst="rect">
            <a:avLst/>
          </a:prstGeom>
          <a:noFill/>
          <a:ln/>
        </p:spPr>
        <p:txBody>
          <a:bodyPr wrap="square" lIns="0" tIns="0" rIns="0" bIns="0" rtlCol="0" anchor="t"/>
          <a:lstStyle/>
          <a:p>
            <a:pPr indent="0" marL="0">
              <a:spcAft>
                <a:spcPts val="1100"/>
              </a:spcAft>
              <a:buNone/>
            </a:pPr>
            <a:r>
              <a:rPr lang="en-US" sz="1100" dirty="0">
                <a:solidFill>
                  <a:srgbClr val="86868B"/>
                </a:solidFill>
                <a:latin typeface="Arial" pitchFamily="34" charset="0"/>
                <a:ea typeface="Arial" pitchFamily="34" charset="-122"/>
                <a:cs typeface="Arial" pitchFamily="34" charset="-120"/>
              </a:rPr>
              <a:t>Dart canonicalizes const expressions: two identical const widgets are not equal objects, they are the same object.</a:t>
            </a:r>
            <a:endParaRPr lang="en-US" sz="1100" dirty="0"/>
          </a:p>
          <a:p>
            <a:pPr indent="0" marL="0">
              <a:spcAft>
                <a:spcPts val="1100"/>
              </a:spcAft>
              <a:buNone/>
            </a:pPr>
            <a:r>
              <a:rPr lang="en-US" sz="1100" dirty="0">
                <a:solidFill>
                  <a:srgbClr val="86868B"/>
                </a:solidFill>
                <a:latin typeface="Arial" pitchFamily="34" charset="0"/>
                <a:ea typeface="Arial" pitchFamily="34" charset="-122"/>
                <a:cs typeface="Arial" pitchFamily="34" charset="-120"/>
              </a:rPr>
              <a:t>So when the element compares the new child to the old one, identical(old, new) is true, so it returns immediately without descending. The entire subtree below is skipped.</a:t>
            </a:r>
            <a:endParaRPr lang="en-US" sz="1100" dirty="0"/>
          </a:p>
          <a:p>
            <a:pPr indent="0" marL="0">
              <a:spcAft>
                <a:spcPts val="1100"/>
              </a:spcAft>
              <a:buNone/>
            </a:pPr>
            <a:r>
              <a:rPr lang="en-US" sz="1100" dirty="0">
                <a:solidFill>
                  <a:srgbClr val="1D1D1F"/>
                </a:solidFill>
                <a:latin typeface="Arial" pitchFamily="34" charset="0"/>
                <a:ea typeface="Arial" pitchFamily="34" charset="-122"/>
                <a:cs typeface="Arial" pitchFamily="34" charset="-120"/>
              </a:rPr>
              <a:t>This is the one optimization that costs nothing but a keyword. Turn the lint on and let the IDE add them.</a:t>
            </a:r>
            <a:endParaRPr lang="en-US" sz="1100" dirty="0"/>
          </a:p>
          <a:p>
            <a:pPr indent="0" marL="0">
              <a:spcAft>
                <a:spcPts val="1100"/>
              </a:spcAft>
              <a:buNone/>
            </a:pPr>
            <a:r>
              <a:rPr lang="en-US" sz="1100" dirty="0">
                <a:solidFill>
                  <a:srgbClr val="86868B"/>
                </a:solidFill>
                <a:latin typeface="Arial" pitchFamily="34" charset="0"/>
                <a:ea typeface="Arial" pitchFamily="34" charset="-122"/>
                <a:cs typeface="Arial" pitchFamily="34" charset="-120"/>
              </a:rPr>
              <a:t>It only works if every argument is itself a compile-time constant, which is a good reason to hoist styles and paddings into static const fields.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13</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OPTIMIZATION</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Lists: build what is on screen, nothing else</a:t>
            </a:r>
            <a:endParaRPr lang="en-US" sz="3000" dirty="0"/>
          </a:p>
        </p:txBody>
      </p:sp>
      <p:sp>
        <p:nvSpPr>
          <p:cNvPr id="5" name="Shape 3"/>
          <p:cNvSpPr/>
          <p:nvPr/>
        </p:nvSpPr>
        <p:spPr>
          <a:xfrm>
            <a:off x="822960" y="1783080"/>
            <a:ext cx="6858000" cy="4343400"/>
          </a:xfrm>
          <a:prstGeom prst="roundRect">
            <a:avLst>
              <a:gd name="adj" fmla="val 2526"/>
            </a:avLst>
          </a:prstGeom>
          <a:solidFill>
            <a:srgbClr val="F5F5F7"/>
          </a:solidFill>
          <a:ln/>
        </p:spPr>
      </p:sp>
      <p:sp>
        <p:nvSpPr>
          <p:cNvPr id="6" name="Text 4"/>
          <p:cNvSpPr/>
          <p:nvPr/>
        </p:nvSpPr>
        <p:spPr>
          <a:xfrm>
            <a:off x="1234440" y="2103120"/>
            <a:ext cx="6126480" cy="3749040"/>
          </a:xfrm>
          <a:prstGeom prst="rect">
            <a:avLst/>
          </a:prstGeom>
          <a:noFill/>
          <a:ln/>
        </p:spPr>
        <p:txBody>
          <a:bodyPr wrap="square" lIns="0" tIns="0" rIns="0" bIns="0" rtlCol="0" anchor="t"/>
          <a:lstStyle/>
          <a:p>
            <a:pPr indent="0" marL="0">
              <a:lnSpc>
                <a:spcPts val="1900"/>
              </a:lnSpc>
              <a:buNone/>
            </a:pPr>
            <a:r>
              <a:rPr lang="en-US" sz="1050" dirty="0">
                <a:solidFill>
                  <a:srgbClr val="86868B"/>
                </a:solidFill>
                <a:latin typeface="Courier New" pitchFamily="34" charset="0"/>
                <a:ea typeface="Courier New" pitchFamily="34" charset="-122"/>
                <a:cs typeface="Courier New" pitchFamily="34" charset="-120"/>
              </a:rPr>
              <a:t>// Builds all 1,000 children before the first frame is shown.</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ListView(children: items.map(RowTile.new).toList())</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a:t>
            </a:r>
            <a:endParaRPr lang="en-US" sz="1050" dirty="0"/>
          </a:p>
          <a:p>
            <a:pPr indent="0" marL="0">
              <a:lnSpc>
                <a:spcPts val="1900"/>
              </a:lnSpc>
              <a:buNone/>
            </a:pPr>
            <a:r>
              <a:rPr lang="en-US" sz="1050" dirty="0">
                <a:solidFill>
                  <a:srgbClr val="86868B"/>
                </a:solidFill>
                <a:latin typeface="Courier New" pitchFamily="34" charset="0"/>
                <a:ea typeface="Courier New" pitchFamily="34" charset="-122"/>
                <a:cs typeface="Courier New" pitchFamily="34" charset="-120"/>
              </a:rPr>
              <a:t>// Builds only what is visible, plus a small cache extent.</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ListView.builder(</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itemCount: items.length,</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itemExtent: 72,        // fixed height: scroll math is O(1)</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itemBuilder: (context, i) =&gt; RowTile(</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key: ValueKey(items[i].id),</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item: items[i],</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a:t>
            </a:r>
            <a:endParaRPr lang="en-US" sz="1050" dirty="0"/>
          </a:p>
          <a:p>
            <a:pPr indent="0" marL="0">
              <a:lnSpc>
                <a:spcPts val="1900"/>
              </a:lnSpc>
              <a:buNone/>
            </a:pPr>
            <a:r>
              <a:rPr lang="en-US" sz="1050" dirty="0">
                <a:solidFill>
                  <a:srgbClr val="86868B"/>
                </a:solidFill>
                <a:latin typeface="Courier New" pitchFamily="34" charset="0"/>
                <a:ea typeface="Courier New" pitchFamily="34" charset="-122"/>
                <a:cs typeface="Courier New" pitchFamily="34" charset="-120"/>
              </a:rPr>
              <a:t>// Heavy parsing never belongs on the UI isolate:</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final rows = await compute(parseCsv, bytes);  // → Lecture 3</a:t>
            </a:r>
            <a:endParaRPr lang="en-US" sz="1050" dirty="0"/>
          </a:p>
        </p:txBody>
      </p:sp>
      <p:sp>
        <p:nvSpPr>
          <p:cNvPr id="7" name="Text 5"/>
          <p:cNvSpPr/>
          <p:nvPr/>
        </p:nvSpPr>
        <p:spPr>
          <a:xfrm>
            <a:off x="8046720" y="1810512"/>
            <a:ext cx="3319272" cy="320040"/>
          </a:xfrm>
          <a:prstGeom prst="rect">
            <a:avLst/>
          </a:prstGeom>
          <a:noFill/>
          <a:ln/>
        </p:spPr>
        <p:txBody>
          <a:bodyPr wrap="square" lIns="0" tIns="0" rIns="0" bIns="0" rtlCol="0" anchor="ctr"/>
          <a:lstStyle/>
          <a:p>
            <a:pPr indent="0" marL="0">
              <a:buNone/>
            </a:pPr>
            <a:r>
              <a:rPr lang="en-US" sz="1400" b="1" dirty="0">
                <a:solidFill>
                  <a:srgbClr val="1D1D1F"/>
                </a:solidFill>
                <a:latin typeface="Arial" pitchFamily="34" charset="0"/>
                <a:ea typeface="Arial" pitchFamily="34" charset="-122"/>
                <a:cs typeface="Arial" pitchFamily="34" charset="-120"/>
              </a:rPr>
              <a:t>Three things this fixes</a:t>
            </a:r>
            <a:endParaRPr lang="en-US" sz="1400" dirty="0"/>
          </a:p>
        </p:txBody>
      </p:sp>
      <p:sp>
        <p:nvSpPr>
          <p:cNvPr id="8" name="Text 6"/>
          <p:cNvSpPr/>
          <p:nvPr/>
        </p:nvSpPr>
        <p:spPr>
          <a:xfrm>
            <a:off x="8046720" y="2240280"/>
            <a:ext cx="3319272" cy="3886200"/>
          </a:xfrm>
          <a:prstGeom prst="rect">
            <a:avLst/>
          </a:prstGeom>
          <a:noFill/>
          <a:ln/>
        </p:spPr>
        <p:txBody>
          <a:bodyPr wrap="square" lIns="0" tIns="0" rIns="0" bIns="0" rtlCol="0" anchor="t"/>
          <a:lstStyle/>
          <a:p>
            <a:pPr indent="0" marL="0">
              <a:spcAft>
                <a:spcPts val="1000"/>
              </a:spcAft>
              <a:buNone/>
            </a:pPr>
            <a:r>
              <a:rPr lang="en-US" sz="1100" dirty="0">
                <a:solidFill>
                  <a:srgbClr val="86868B"/>
                </a:solidFill>
                <a:latin typeface="Arial" pitchFamily="34" charset="0"/>
                <a:ea typeface="Arial" pitchFamily="34" charset="-122"/>
                <a:cs typeface="Arial" pitchFamily="34" charset="-120"/>
              </a:rPr>
              <a:t>Startup: the first frame no longer waits for a thousand build() calls it will never show.</a:t>
            </a:r>
            <a:endParaRPr lang="en-US" sz="1100" dirty="0"/>
          </a:p>
          <a:p>
            <a:pPr indent="0" marL="0">
              <a:spcAft>
                <a:spcPts val="1000"/>
              </a:spcAft>
              <a:buNone/>
            </a:pPr>
            <a:r>
              <a:rPr lang="en-US" sz="1100" dirty="0">
                <a:solidFill>
                  <a:srgbClr val="86868B"/>
                </a:solidFill>
                <a:latin typeface="Arial" pitchFamily="34" charset="0"/>
                <a:ea typeface="Arial" pitchFamily="34" charset="-122"/>
                <a:cs typeface="Arial" pitchFamily="34" charset="-120"/>
              </a:rPr>
              <a:t>Memory: live elements and render objects stay proportional to the viewport, not to the data.</a:t>
            </a:r>
            <a:endParaRPr lang="en-US" sz="1100" dirty="0"/>
          </a:p>
          <a:p>
            <a:pPr indent="0" marL="0">
              <a:spcAft>
                <a:spcPts val="1000"/>
              </a:spcAft>
              <a:buNone/>
            </a:pPr>
            <a:r>
              <a:rPr lang="en-US" sz="1100" dirty="0">
                <a:solidFill>
                  <a:srgbClr val="86868B"/>
                </a:solidFill>
                <a:latin typeface="Arial" pitchFamily="34" charset="0"/>
                <a:ea typeface="Arial" pitchFamily="34" charset="-122"/>
                <a:cs typeface="Arial" pitchFamily="34" charset="-120"/>
              </a:rPr>
              <a:t>Scrolling: with itemExtent the framework computes positions arithmetically instead of measuring children.</a:t>
            </a:r>
            <a:endParaRPr lang="en-US" sz="1100" dirty="0"/>
          </a:p>
          <a:p>
            <a:pPr indent="0" marL="0">
              <a:spcAft>
                <a:spcPts val="1000"/>
              </a:spcAft>
              <a:buNone/>
            </a:pPr>
            <a:r>
              <a:rPr lang="en-US" sz="1100" dirty="0">
                <a:solidFill>
                  <a:srgbClr val="86868B"/>
                </a:solidFill>
                <a:latin typeface="Arial" pitchFamily="34" charset="0"/>
                <a:ea typeface="Arial" pitchFamily="34" charset="-122"/>
                <a:cs typeface="Arial" pitchFamily="34" charset="-120"/>
              </a:rPr>
              <a:t>Same idea, more control: SliverList and CustomScrollView, when a list has to share a scroll view with headers.</a:t>
            </a:r>
            <a:endParaRPr lang="en-US" sz="1100" dirty="0"/>
          </a:p>
          <a:p>
            <a:pPr indent="0" marL="0">
              <a:spcAft>
                <a:spcPts val="1000"/>
              </a:spcAft>
              <a:buNone/>
            </a:pPr>
            <a:r>
              <a:rPr lang="en-US" sz="1100" dirty="0">
                <a:solidFill>
                  <a:srgbClr val="1D1D1F"/>
                </a:solidFill>
                <a:latin typeface="Arial" pitchFamily="34" charset="0"/>
                <a:ea typeface="Arial" pitchFamily="34" charset="-122"/>
                <a:cs typeface="Arial" pitchFamily="34" charset="-120"/>
              </a:rPr>
              <a:t>The bad version is not slow, it is unbounded. It works on the ten rows you tested with and fails on a user's ten thousand.</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14</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OPTIMIZATION</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Offscreen buffers: when a layer helps and when it hurts</a:t>
            </a:r>
            <a:endParaRPr lang="en-US" sz="3000" dirty="0"/>
          </a:p>
        </p:txBody>
      </p:sp>
      <p:sp>
        <p:nvSpPr>
          <p:cNvPr id="5" name="Text 3"/>
          <p:cNvSpPr/>
          <p:nvPr/>
        </p:nvSpPr>
        <p:spPr>
          <a:xfrm>
            <a:off x="822960" y="1737360"/>
            <a:ext cx="6035040" cy="320040"/>
          </a:xfrm>
          <a:prstGeom prst="rect">
            <a:avLst/>
          </a:prstGeom>
          <a:noFill/>
          <a:ln/>
        </p:spPr>
        <p:txBody>
          <a:bodyPr wrap="square" lIns="0" tIns="0" rIns="0" bIns="0" rtlCol="0" anchor="ctr"/>
          <a:lstStyle/>
          <a:p>
            <a:pPr indent="0" marL="0">
              <a:buNone/>
            </a:pPr>
            <a:r>
              <a:rPr lang="en-US" sz="1400" b="1" dirty="0">
                <a:solidFill>
                  <a:srgbClr val="1D1D1F"/>
                </a:solidFill>
                <a:latin typeface="Arial" pitchFamily="34" charset="0"/>
                <a:ea typeface="Arial" pitchFamily="34" charset="-122"/>
                <a:cs typeface="Arial" pitchFamily="34" charset="-120"/>
              </a:rPr>
              <a:t>Opacity and ClipRRect can force a saveLayer</a:t>
            </a:r>
            <a:endParaRPr lang="en-US" sz="1400" dirty="0"/>
          </a:p>
        </p:txBody>
      </p:sp>
      <p:sp>
        <p:nvSpPr>
          <p:cNvPr id="6" name="Shape 4"/>
          <p:cNvSpPr/>
          <p:nvPr/>
        </p:nvSpPr>
        <p:spPr>
          <a:xfrm>
            <a:off x="822960" y="2194560"/>
            <a:ext cx="6035040" cy="658368"/>
          </a:xfrm>
          <a:prstGeom prst="roundRect">
            <a:avLst>
              <a:gd name="adj" fmla="val 12500"/>
            </a:avLst>
          </a:prstGeom>
          <a:solidFill>
            <a:srgbClr val="FFFFFF"/>
          </a:solidFill>
          <a:ln w="12700">
            <a:solidFill>
              <a:srgbClr val="D2D2D7"/>
            </a:solidFill>
            <a:prstDash val="solid"/>
          </a:ln>
        </p:spPr>
      </p:sp>
      <p:sp>
        <p:nvSpPr>
          <p:cNvPr id="7" name="Text 5"/>
          <p:cNvSpPr/>
          <p:nvPr/>
        </p:nvSpPr>
        <p:spPr>
          <a:xfrm>
            <a:off x="822960" y="2194560"/>
            <a:ext cx="6035040" cy="658368"/>
          </a:xfrm>
          <a:prstGeom prst="rect">
            <a:avLst/>
          </a:prstGeom>
          <a:noFill/>
          <a:ln/>
        </p:spPr>
        <p:txBody>
          <a:bodyPr wrap="square" lIns="0" tIns="0" rIns="0" bIns="0" rtlCol="0" anchor="ctr"/>
          <a:lstStyle/>
          <a:p>
            <a:pPr algn="ctr" indent="0" marL="0">
              <a:buNone/>
            </a:pPr>
            <a:r>
              <a:rPr lang="en-US" sz="1350" b="1" dirty="0">
                <a:solidFill>
                  <a:srgbClr val="1D1D1F"/>
                </a:solidFill>
                <a:latin typeface="Arial" pitchFamily="34" charset="0"/>
                <a:ea typeface="Arial" pitchFamily="34" charset="-122"/>
                <a:cs typeface="Arial" pitchFamily="34" charset="-120"/>
              </a:rPr>
              <a:t>1 · Allocate</a:t>
            </a:r>
            <a:endParaRPr lang="en-US" sz="1350" dirty="0"/>
          </a:p>
          <a:p>
            <a:pPr algn="ctr" indent="0" marL="0">
              <a:buNone/>
            </a:pPr>
            <a:r>
              <a:rPr lang="en-US" sz="1100" dirty="0">
                <a:solidFill>
                  <a:srgbClr val="86868B"/>
                </a:solidFill>
                <a:latin typeface="Arial" pitchFamily="34" charset="0"/>
                <a:ea typeface="Arial" pitchFamily="34" charset="-122"/>
                <a:cs typeface="Arial" pitchFamily="34" charset="-120"/>
              </a:rPr>
              <a:t>a new offscreen buffer in GPU memory</a:t>
            </a:r>
            <a:endParaRPr lang="en-US" sz="1350" dirty="0"/>
          </a:p>
        </p:txBody>
      </p:sp>
      <p:sp>
        <p:nvSpPr>
          <p:cNvPr id="8" name="Shape 6"/>
          <p:cNvSpPr/>
          <p:nvPr/>
        </p:nvSpPr>
        <p:spPr>
          <a:xfrm>
            <a:off x="3840480" y="2852928"/>
            <a:ext cx="0" cy="219456"/>
          </a:xfrm>
          <a:prstGeom prst="line">
            <a:avLst/>
          </a:prstGeom>
          <a:noFill/>
          <a:ln w="15875">
            <a:solidFill>
              <a:srgbClr val="86868B"/>
            </a:solidFill>
            <a:prstDash val="solid"/>
            <a:tailEnd type="triangle"/>
          </a:ln>
        </p:spPr>
      </p:sp>
      <p:sp>
        <p:nvSpPr>
          <p:cNvPr id="9" name="Shape 7"/>
          <p:cNvSpPr/>
          <p:nvPr/>
        </p:nvSpPr>
        <p:spPr>
          <a:xfrm>
            <a:off x="822960" y="3072384"/>
            <a:ext cx="6035040" cy="658368"/>
          </a:xfrm>
          <a:prstGeom prst="roundRect">
            <a:avLst>
              <a:gd name="adj" fmla="val 12500"/>
            </a:avLst>
          </a:prstGeom>
          <a:solidFill>
            <a:srgbClr val="FFFFFF"/>
          </a:solidFill>
          <a:ln w="12700">
            <a:solidFill>
              <a:srgbClr val="D2D2D7"/>
            </a:solidFill>
            <a:prstDash val="solid"/>
          </a:ln>
        </p:spPr>
      </p:sp>
      <p:sp>
        <p:nvSpPr>
          <p:cNvPr id="10" name="Text 8"/>
          <p:cNvSpPr/>
          <p:nvPr/>
        </p:nvSpPr>
        <p:spPr>
          <a:xfrm>
            <a:off x="822960" y="3072384"/>
            <a:ext cx="6035040" cy="658368"/>
          </a:xfrm>
          <a:prstGeom prst="rect">
            <a:avLst/>
          </a:prstGeom>
          <a:noFill/>
          <a:ln/>
        </p:spPr>
        <p:txBody>
          <a:bodyPr wrap="square" lIns="0" tIns="0" rIns="0" bIns="0" rtlCol="0" anchor="ctr"/>
          <a:lstStyle/>
          <a:p>
            <a:pPr algn="ctr" indent="0" marL="0">
              <a:buNone/>
            </a:pPr>
            <a:r>
              <a:rPr lang="en-US" sz="1350" b="1" dirty="0">
                <a:solidFill>
                  <a:srgbClr val="1D1D1F"/>
                </a:solidFill>
                <a:latin typeface="Arial" pitchFamily="34" charset="0"/>
                <a:ea typeface="Arial" pitchFamily="34" charset="-122"/>
                <a:cs typeface="Arial" pitchFamily="34" charset="-120"/>
              </a:rPr>
              <a:t>2 · Render</a:t>
            </a:r>
            <a:endParaRPr lang="en-US" sz="1350" dirty="0"/>
          </a:p>
          <a:p>
            <a:pPr algn="ctr" indent="0" marL="0">
              <a:buNone/>
            </a:pPr>
            <a:r>
              <a:rPr lang="en-US" sz="1100" dirty="0">
                <a:solidFill>
                  <a:srgbClr val="86868B"/>
                </a:solidFill>
                <a:latin typeface="Arial" pitchFamily="34" charset="0"/>
                <a:ea typeface="Arial" pitchFamily="34" charset="-122"/>
                <a:cs typeface="Arial" pitchFamily="34" charset="-120"/>
              </a:rPr>
              <a:t>the entire child subtree into that buffer</a:t>
            </a:r>
            <a:endParaRPr lang="en-US" sz="1350" dirty="0"/>
          </a:p>
        </p:txBody>
      </p:sp>
      <p:sp>
        <p:nvSpPr>
          <p:cNvPr id="11" name="Shape 9"/>
          <p:cNvSpPr/>
          <p:nvPr/>
        </p:nvSpPr>
        <p:spPr>
          <a:xfrm>
            <a:off x="3840480" y="3730752"/>
            <a:ext cx="0" cy="219456"/>
          </a:xfrm>
          <a:prstGeom prst="line">
            <a:avLst/>
          </a:prstGeom>
          <a:noFill/>
          <a:ln w="15875">
            <a:solidFill>
              <a:srgbClr val="86868B"/>
            </a:solidFill>
            <a:prstDash val="solid"/>
            <a:tailEnd type="triangle"/>
          </a:ln>
        </p:spPr>
      </p:sp>
      <p:sp>
        <p:nvSpPr>
          <p:cNvPr id="12" name="Shape 10"/>
          <p:cNvSpPr/>
          <p:nvPr/>
        </p:nvSpPr>
        <p:spPr>
          <a:xfrm>
            <a:off x="822960" y="3950208"/>
            <a:ext cx="6035040" cy="658368"/>
          </a:xfrm>
          <a:prstGeom prst="roundRect">
            <a:avLst>
              <a:gd name="adj" fmla="val 12500"/>
            </a:avLst>
          </a:prstGeom>
          <a:solidFill>
            <a:srgbClr val="FFFFFF"/>
          </a:solidFill>
          <a:ln w="12700">
            <a:solidFill>
              <a:srgbClr val="D2D2D7"/>
            </a:solidFill>
            <a:prstDash val="solid"/>
          </a:ln>
        </p:spPr>
      </p:sp>
      <p:sp>
        <p:nvSpPr>
          <p:cNvPr id="13" name="Text 11"/>
          <p:cNvSpPr/>
          <p:nvPr/>
        </p:nvSpPr>
        <p:spPr>
          <a:xfrm>
            <a:off x="822960" y="3950208"/>
            <a:ext cx="6035040" cy="658368"/>
          </a:xfrm>
          <a:prstGeom prst="rect">
            <a:avLst/>
          </a:prstGeom>
          <a:noFill/>
          <a:ln/>
        </p:spPr>
        <p:txBody>
          <a:bodyPr wrap="square" lIns="0" tIns="0" rIns="0" bIns="0" rtlCol="0" anchor="ctr"/>
          <a:lstStyle/>
          <a:p>
            <a:pPr algn="ctr" indent="0" marL="0">
              <a:buNone/>
            </a:pPr>
            <a:r>
              <a:rPr lang="en-US" sz="1350" b="1" dirty="0">
                <a:solidFill>
                  <a:srgbClr val="1D1D1F"/>
                </a:solidFill>
                <a:latin typeface="Arial" pitchFamily="34" charset="0"/>
                <a:ea typeface="Arial" pitchFamily="34" charset="-122"/>
                <a:cs typeface="Arial" pitchFamily="34" charset="-120"/>
              </a:rPr>
              <a:t>3 · Apply</a:t>
            </a:r>
            <a:endParaRPr lang="en-US" sz="1350" dirty="0"/>
          </a:p>
          <a:p>
            <a:pPr algn="ctr" indent="0" marL="0">
              <a:buNone/>
            </a:pPr>
            <a:r>
              <a:rPr lang="en-US" sz="1100" dirty="0">
                <a:solidFill>
                  <a:srgbClr val="86868B"/>
                </a:solidFill>
                <a:latin typeface="Arial" pitchFamily="34" charset="0"/>
                <a:ea typeface="Arial" pitchFamily="34" charset="-122"/>
                <a:cs typeface="Arial" pitchFamily="34" charset="-120"/>
              </a:rPr>
              <a:t>the alpha or the clip to the finished texture</a:t>
            </a:r>
            <a:endParaRPr lang="en-US" sz="1350" dirty="0"/>
          </a:p>
        </p:txBody>
      </p:sp>
      <p:sp>
        <p:nvSpPr>
          <p:cNvPr id="14" name="Shape 12"/>
          <p:cNvSpPr/>
          <p:nvPr/>
        </p:nvSpPr>
        <p:spPr>
          <a:xfrm>
            <a:off x="3840480" y="4608576"/>
            <a:ext cx="0" cy="219456"/>
          </a:xfrm>
          <a:prstGeom prst="line">
            <a:avLst/>
          </a:prstGeom>
          <a:noFill/>
          <a:ln w="15875">
            <a:solidFill>
              <a:srgbClr val="86868B"/>
            </a:solidFill>
            <a:prstDash val="solid"/>
            <a:tailEnd type="triangle"/>
          </a:ln>
        </p:spPr>
      </p:sp>
      <p:sp>
        <p:nvSpPr>
          <p:cNvPr id="15" name="Shape 13"/>
          <p:cNvSpPr/>
          <p:nvPr/>
        </p:nvSpPr>
        <p:spPr>
          <a:xfrm>
            <a:off x="822960" y="4828032"/>
            <a:ext cx="6035040" cy="658368"/>
          </a:xfrm>
          <a:prstGeom prst="roundRect">
            <a:avLst>
              <a:gd name="adj" fmla="val 12500"/>
            </a:avLst>
          </a:prstGeom>
          <a:solidFill>
            <a:srgbClr val="000000"/>
          </a:solidFill>
          <a:ln/>
        </p:spPr>
      </p:sp>
      <p:sp>
        <p:nvSpPr>
          <p:cNvPr id="16" name="Text 14"/>
          <p:cNvSpPr/>
          <p:nvPr/>
        </p:nvSpPr>
        <p:spPr>
          <a:xfrm>
            <a:off x="822960" y="4828032"/>
            <a:ext cx="6035040" cy="658368"/>
          </a:xfrm>
          <a:prstGeom prst="rect">
            <a:avLst/>
          </a:prstGeom>
          <a:noFill/>
          <a:ln/>
        </p:spPr>
        <p:txBody>
          <a:bodyPr wrap="square" lIns="0" tIns="0" rIns="0" bIns="0" rtlCol="0" anchor="ctr"/>
          <a:lstStyle/>
          <a:p>
            <a:pPr algn="ctr" indent="0" marL="0">
              <a:buNone/>
            </a:pPr>
            <a:r>
              <a:rPr lang="en-US" sz="1350" b="1" dirty="0">
                <a:solidFill>
                  <a:srgbClr val="FFFFFF"/>
                </a:solidFill>
                <a:latin typeface="Arial" pitchFamily="34" charset="0"/>
                <a:ea typeface="Arial" pitchFamily="34" charset="-122"/>
                <a:cs typeface="Arial" pitchFamily="34" charset="-120"/>
              </a:rPr>
              <a:t>4 · Composite</a:t>
            </a:r>
            <a:endParaRPr lang="en-US" sz="1350" dirty="0"/>
          </a:p>
          <a:p>
            <a:pPr algn="ctr" indent="0" marL="0">
              <a:buNone/>
            </a:pPr>
            <a:r>
              <a:rPr lang="en-US" sz="1100" dirty="0">
                <a:solidFill>
                  <a:srgbClr val="A1A1A6"/>
                </a:solidFill>
                <a:latin typeface="Arial" pitchFamily="34" charset="0"/>
                <a:ea typeface="Arial" pitchFamily="34" charset="-122"/>
                <a:cs typeface="Arial" pitchFamily="34" charset="-120"/>
              </a:rPr>
              <a:t>the texture back onto the frame</a:t>
            </a:r>
            <a:endParaRPr lang="en-US" sz="1350" dirty="0"/>
          </a:p>
        </p:txBody>
      </p:sp>
      <p:sp>
        <p:nvSpPr>
          <p:cNvPr id="17" name="Text 15"/>
          <p:cNvSpPr/>
          <p:nvPr/>
        </p:nvSpPr>
        <p:spPr>
          <a:xfrm>
            <a:off x="822960" y="5532120"/>
            <a:ext cx="6035040" cy="548640"/>
          </a:xfrm>
          <a:prstGeom prst="rect">
            <a:avLst/>
          </a:prstGeom>
          <a:noFill/>
          <a:ln/>
        </p:spPr>
        <p:txBody>
          <a:bodyPr wrap="square" lIns="0" tIns="0" rIns="0" bIns="0" rtlCol="0" anchor="t"/>
          <a:lstStyle/>
          <a:p>
            <a:pPr indent="0" marL="0">
              <a:buNone/>
            </a:pPr>
            <a:r>
              <a:rPr lang="en-US" sz="1150" dirty="0">
                <a:solidFill>
                  <a:srgbClr val="86868B"/>
                </a:solidFill>
                <a:latin typeface="Arial" pitchFamily="34" charset="0"/>
                <a:ea typeface="Arial" pitchFamily="34" charset="-122"/>
                <a:cs typeface="Arial" pitchFamily="34" charset="-120"/>
              </a:rPr>
              <a:t>Four GPU steps, every frame, for one faded widget. This is the classic green (raster thread) spike.</a:t>
            </a:r>
            <a:endParaRPr lang="en-US" sz="1150" dirty="0"/>
          </a:p>
        </p:txBody>
      </p:sp>
      <p:sp>
        <p:nvSpPr>
          <p:cNvPr id="18" name="Text 16"/>
          <p:cNvSpPr/>
          <p:nvPr/>
        </p:nvSpPr>
        <p:spPr>
          <a:xfrm>
            <a:off x="7406640" y="1737360"/>
            <a:ext cx="3959352" cy="320040"/>
          </a:xfrm>
          <a:prstGeom prst="rect">
            <a:avLst/>
          </a:prstGeom>
          <a:noFill/>
          <a:ln/>
        </p:spPr>
        <p:txBody>
          <a:bodyPr wrap="square" lIns="0" tIns="0" rIns="0" bIns="0" rtlCol="0" anchor="ctr"/>
          <a:lstStyle/>
          <a:p>
            <a:pPr indent="0" marL="0">
              <a:buNone/>
            </a:pPr>
            <a:r>
              <a:rPr lang="en-US" sz="1400" b="1" dirty="0">
                <a:solidFill>
                  <a:srgbClr val="1D1D1F"/>
                </a:solidFill>
                <a:latin typeface="Arial" pitchFamily="34" charset="0"/>
                <a:ea typeface="Arial" pitchFamily="34" charset="-122"/>
                <a:cs typeface="Arial" pitchFamily="34" charset="-120"/>
              </a:rPr>
              <a:t>What to do instead</a:t>
            </a:r>
            <a:endParaRPr lang="en-US" sz="1400" dirty="0"/>
          </a:p>
        </p:txBody>
      </p:sp>
      <p:sp>
        <p:nvSpPr>
          <p:cNvPr id="19" name="Text 17"/>
          <p:cNvSpPr/>
          <p:nvPr/>
        </p:nvSpPr>
        <p:spPr>
          <a:xfrm>
            <a:off x="7406640" y="2121408"/>
            <a:ext cx="3959352" cy="3931920"/>
          </a:xfrm>
          <a:prstGeom prst="rect">
            <a:avLst/>
          </a:prstGeom>
          <a:noFill/>
          <a:ln/>
        </p:spPr>
        <p:txBody>
          <a:bodyPr wrap="square" lIns="0" tIns="0" rIns="0" bIns="0" rtlCol="0" anchor="t"/>
          <a:lstStyle/>
          <a:p>
            <a:pPr indent="0" marL="0">
              <a:spcAft>
                <a:spcPts val="600"/>
              </a:spcAft>
              <a:buNone/>
            </a:pPr>
            <a:r>
              <a:rPr lang="en-US" sz="1050" b="1" dirty="0">
                <a:solidFill>
                  <a:srgbClr val="1D1D1F"/>
                </a:solidFill>
                <a:latin typeface="Arial" pitchFamily="34" charset="0"/>
                <a:ea typeface="Arial" pitchFamily="34" charset="-122"/>
                <a:cs typeface="Arial" pitchFamily="34" charset="-120"/>
              </a:rPr>
              <a:t>Animating a fade?</a:t>
            </a:r>
            <a:endParaRPr lang="en-US" sz="1050" dirty="0"/>
          </a:p>
          <a:p>
            <a:pPr indent="0" marL="0">
              <a:spcAft>
                <a:spcPts val="600"/>
              </a:spcAft>
              <a:buNone/>
            </a:pPr>
            <a:r>
              <a:rPr lang="en-US" sz="1050" dirty="0">
                <a:solidFill>
                  <a:srgbClr val="86868B"/>
                </a:solidFill>
                <a:latin typeface="Arial" pitchFamily="34" charset="0"/>
                <a:ea typeface="Arial" pitchFamily="34" charset="-122"/>
                <a:cs typeface="Arial" pitchFamily="34" charset="-120"/>
              </a:rPr>
              <a:t>Use AnimatedOpacity or FadeTransition rather than rebuilding an Opacity with a new value each frame. They drive a compositor opacity layer instead of re-diffing the subtree.</a:t>
            </a:r>
            <a:endParaRPr lang="en-US" sz="1050" dirty="0"/>
          </a:p>
          <a:p>
            <a:pPr indent="0" marL="0">
              <a:spcAft>
                <a:spcPts val="600"/>
              </a:spcAft>
              <a:buNone/>
            </a:pPr>
            <a:r>
              <a:rPr lang="en-US" sz="1050" b="1" dirty="0">
                <a:solidFill>
                  <a:srgbClr val="1D1D1F"/>
                </a:solidFill>
                <a:latin typeface="Arial" pitchFamily="34" charset="0"/>
                <a:ea typeface="Arial" pitchFamily="34" charset="-122"/>
                <a:cs typeface="Arial" pitchFamily="34" charset="-120"/>
              </a:rPr>
              <a:t>Fading a single image?</a:t>
            </a:r>
            <a:endParaRPr lang="en-US" sz="1050" dirty="0"/>
          </a:p>
          <a:p>
            <a:pPr indent="0" marL="0">
              <a:spcAft>
                <a:spcPts val="600"/>
              </a:spcAft>
              <a:buNone/>
            </a:pPr>
            <a:r>
              <a:rPr lang="en-US" sz="1050" dirty="0">
                <a:solidFill>
                  <a:srgbClr val="86868B"/>
                </a:solidFill>
                <a:latin typeface="Arial" pitchFamily="34" charset="0"/>
                <a:ea typeface="Arial" pitchFamily="34" charset="-122"/>
                <a:cs typeface="Arial" pitchFamily="34" charset="-120"/>
              </a:rPr>
              <a:t>Image has an opacity: parameter that takes an Animation&lt;double&gt; and blends in the shader, with no offscreen buffer at all.</a:t>
            </a:r>
            <a:endParaRPr lang="en-US" sz="1050" dirty="0"/>
          </a:p>
          <a:p>
            <a:pPr indent="0" marL="0">
              <a:spcAft>
                <a:spcPts val="600"/>
              </a:spcAft>
              <a:buNone/>
            </a:pPr>
            <a:r>
              <a:rPr lang="en-US" sz="1050" b="1" dirty="0">
                <a:solidFill>
                  <a:srgbClr val="1D1D1F"/>
                </a:solidFill>
                <a:latin typeface="Arial" pitchFamily="34" charset="0"/>
                <a:ea typeface="Arial" pitchFamily="34" charset="-122"/>
                <a:cs typeface="Arial" pitchFamily="34" charset="-120"/>
              </a:rPr>
              <a:t>Hiding something?</a:t>
            </a:r>
            <a:endParaRPr lang="en-US" sz="1050" dirty="0"/>
          </a:p>
          <a:p>
            <a:pPr indent="0" marL="0">
              <a:spcAft>
                <a:spcPts val="600"/>
              </a:spcAft>
              <a:buNone/>
            </a:pPr>
            <a:r>
              <a:rPr lang="en-US" sz="1050" dirty="0">
                <a:solidFill>
                  <a:srgbClr val="86868B"/>
                </a:solidFill>
                <a:latin typeface="Arial" pitchFamily="34" charset="0"/>
                <a:ea typeface="Arial" pitchFamily="34" charset="-122"/>
                <a:cs typeface="Arial" pitchFamily="34" charset="-120"/>
              </a:rPr>
              <a:t>Opacity(opacity: 0) still lays out, still paints, still costs. Use Visibility, or simply do not build the widget.</a:t>
            </a:r>
            <a:endParaRPr lang="en-US" sz="1050" dirty="0"/>
          </a:p>
          <a:p>
            <a:pPr indent="0" marL="0">
              <a:spcAft>
                <a:spcPts val="600"/>
              </a:spcAft>
              <a:buNone/>
            </a:pPr>
            <a:r>
              <a:rPr lang="en-US" sz="1050" b="1" dirty="0">
                <a:solidFill>
                  <a:srgbClr val="1D1D1F"/>
                </a:solidFill>
                <a:latin typeface="Arial" pitchFamily="34" charset="0"/>
                <a:ea typeface="Arial" pitchFamily="34" charset="-122"/>
                <a:cs typeface="Arial" pitchFamily="34" charset="-120"/>
              </a:rPr>
              <a:t>Rounded corners?</a:t>
            </a:r>
            <a:endParaRPr lang="en-US" sz="1050" dirty="0"/>
          </a:p>
          <a:p>
            <a:pPr indent="0" marL="0">
              <a:spcAft>
                <a:spcPts val="600"/>
              </a:spcAft>
              <a:buNone/>
            </a:pPr>
            <a:r>
              <a:rPr lang="en-US" sz="1050" dirty="0">
                <a:solidFill>
                  <a:srgbClr val="86868B"/>
                </a:solidFill>
                <a:latin typeface="Arial" pitchFamily="34" charset="0"/>
                <a:ea typeface="Arial" pitchFamily="34" charset="-122"/>
                <a:cs typeface="Arial" pitchFamily="34" charset="-120"/>
              </a:rPr>
              <a:t>A BoxDecoration with a borderRadius paints the shape directly. Reach for ClipRRect only when you must clip real content.</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15</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OPTIMIZATION</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Find the bottleneck before you fix anything</a:t>
            </a:r>
            <a:endParaRPr lang="en-US" sz="3000" dirty="0"/>
          </a:p>
        </p:txBody>
      </p:sp>
      <p:sp>
        <p:nvSpPr>
          <p:cNvPr id="5" name="Shape 3"/>
          <p:cNvSpPr/>
          <p:nvPr/>
        </p:nvSpPr>
        <p:spPr>
          <a:xfrm>
            <a:off x="822960" y="1719072"/>
            <a:ext cx="10543032" cy="1508760"/>
          </a:xfrm>
          <a:prstGeom prst="roundRect">
            <a:avLst>
              <a:gd name="adj" fmla="val 7273"/>
            </a:avLst>
          </a:prstGeom>
          <a:solidFill>
            <a:srgbClr val="F5F5F7"/>
          </a:solidFill>
          <a:ln/>
        </p:spPr>
      </p:sp>
      <p:sp>
        <p:nvSpPr>
          <p:cNvPr id="6" name="Text 4"/>
          <p:cNvSpPr/>
          <p:nvPr/>
        </p:nvSpPr>
        <p:spPr>
          <a:xfrm>
            <a:off x="1234440" y="2039112"/>
            <a:ext cx="9811512" cy="914400"/>
          </a:xfrm>
          <a:prstGeom prst="rect">
            <a:avLst/>
          </a:prstGeom>
          <a:noFill/>
          <a:ln/>
        </p:spPr>
        <p:txBody>
          <a:bodyPr wrap="square" lIns="0" tIns="0" rIns="0" bIns="0" rtlCol="0" anchor="t"/>
          <a:lstStyle/>
          <a:p>
            <a:pPr indent="0" marL="0">
              <a:lnSpc>
                <a:spcPts val="2000"/>
              </a:lnSpc>
              <a:buNone/>
            </a:pPr>
            <a:r>
              <a:rPr lang="en-US" sz="1100" dirty="0">
                <a:solidFill>
                  <a:srgbClr val="86868B"/>
                </a:solidFill>
                <a:latin typeface="Courier New" pitchFamily="34" charset="0"/>
                <a:ea typeface="Courier New" pitchFamily="34" charset="-122"/>
                <a:cs typeface="Courier New" pitchFamily="34" charset="-120"/>
              </a:rPr>
              <a:t># Debug builds are JIT and assert-heavy. Never quote a debug number.</a:t>
            </a:r>
            <a:endParaRPr lang="en-US" sz="1100" dirty="0"/>
          </a:p>
          <a:p>
            <a:pPr indent="0" marL="0">
              <a:lnSpc>
                <a:spcPts val="2000"/>
              </a:lnSpc>
              <a:buNone/>
            </a:pPr>
            <a:r>
              <a:rPr lang="en-US" sz="1100" dirty="0">
                <a:solidFill>
                  <a:srgbClr val="1D1D1F"/>
                </a:solidFill>
                <a:latin typeface="Courier New" pitchFamily="34" charset="0"/>
                <a:ea typeface="Courier New" pitchFamily="34" charset="-122"/>
                <a:cs typeface="Courier New" pitchFamily="34" charset="-120"/>
              </a:rPr>
              <a:t>flutter run --profile        # on a REAL device, not a simulator</a:t>
            </a:r>
            <a:endParaRPr lang="en-US" sz="1100" dirty="0"/>
          </a:p>
          <a:p>
            <a:pPr indent="0" marL="0">
              <a:lnSpc>
                <a:spcPts val="2000"/>
              </a:lnSpc>
              <a:buNone/>
            </a:pPr>
            <a:r>
              <a:rPr lang="en-US" sz="1100" dirty="0">
                <a:solidFill>
                  <a:srgbClr val="86868B"/>
                </a:solidFill>
                <a:latin typeface="Courier New" pitchFamily="34" charset="0"/>
                <a:ea typeface="Courier New" pitchFamily="34" charset="-122"/>
                <a:cs typeface="Courier New" pitchFamily="34" charset="-120"/>
              </a:rPr>
              <a:t># then open DevTools → Performance</a:t>
            </a:r>
            <a:endParaRPr lang="en-US" sz="1100" dirty="0"/>
          </a:p>
        </p:txBody>
      </p:sp>
      <p:sp>
        <p:nvSpPr>
          <p:cNvPr id="7" name="Text 5"/>
          <p:cNvSpPr/>
          <p:nvPr/>
        </p:nvSpPr>
        <p:spPr>
          <a:xfrm>
            <a:off x="822960" y="3520440"/>
            <a:ext cx="3200400" cy="457200"/>
          </a:xfrm>
          <a:prstGeom prst="rect">
            <a:avLst/>
          </a:prstGeom>
          <a:noFill/>
          <a:ln/>
        </p:spPr>
        <p:txBody>
          <a:bodyPr wrap="square" lIns="0" tIns="0" rIns="0" bIns="0" rtlCol="0" anchor="t"/>
          <a:lstStyle/>
          <a:p>
            <a:pPr indent="0" marL="0">
              <a:buNone/>
            </a:pPr>
            <a:r>
              <a:rPr lang="en-US" sz="1250" b="1" dirty="0">
                <a:solidFill>
                  <a:srgbClr val="1D1D1F"/>
                </a:solidFill>
                <a:latin typeface="Arial" pitchFamily="34" charset="0"/>
                <a:ea typeface="Arial" pitchFamily="34" charset="-122"/>
                <a:cs typeface="Arial" pitchFamily="34" charset="-120"/>
              </a:rPr>
              <a:t>Blue bar: UI thread</a:t>
            </a:r>
            <a:endParaRPr lang="en-US" sz="1250" dirty="0"/>
          </a:p>
        </p:txBody>
      </p:sp>
      <p:sp>
        <p:nvSpPr>
          <p:cNvPr id="8" name="Text 6"/>
          <p:cNvSpPr/>
          <p:nvPr/>
        </p:nvSpPr>
        <p:spPr>
          <a:xfrm>
            <a:off x="4206240" y="3520440"/>
            <a:ext cx="7159752" cy="457200"/>
          </a:xfrm>
          <a:prstGeom prst="rect">
            <a:avLst/>
          </a:prstGeom>
          <a:noFill/>
          <a:ln/>
        </p:spPr>
        <p:txBody>
          <a:bodyPr wrap="square" lIns="0" tIns="0" rIns="0" bIns="0" rtlCol="0" anchor="t"/>
          <a:lstStyle/>
          <a:p>
            <a:pPr indent="0" marL="0">
              <a:buNone/>
            </a:pPr>
            <a:r>
              <a:rPr lang="en-US" sz="1150" dirty="0">
                <a:solidFill>
                  <a:srgbClr val="86868B"/>
                </a:solidFill>
                <a:latin typeface="Arial" pitchFamily="34" charset="0"/>
                <a:ea typeface="Arial" pitchFamily="34" charset="-122"/>
                <a:cs typeface="Arial" pitchFamily="34" charset="-120"/>
              </a:rPr>
              <a:t>Your Dart is slow: an expensive build(), a setState() too high in the tree, work that belongs in an isolate.</a:t>
            </a:r>
            <a:endParaRPr lang="en-US" sz="1150" dirty="0"/>
          </a:p>
        </p:txBody>
      </p:sp>
      <p:sp>
        <p:nvSpPr>
          <p:cNvPr id="9" name="Shape 7"/>
          <p:cNvSpPr/>
          <p:nvPr/>
        </p:nvSpPr>
        <p:spPr>
          <a:xfrm>
            <a:off x="822960" y="3995928"/>
            <a:ext cx="10543032" cy="0"/>
          </a:xfrm>
          <a:prstGeom prst="line">
            <a:avLst/>
          </a:prstGeom>
          <a:noFill/>
          <a:ln w="9525">
            <a:solidFill>
              <a:srgbClr val="D2D2D7"/>
            </a:solidFill>
            <a:prstDash val="solid"/>
          </a:ln>
        </p:spPr>
      </p:sp>
      <p:sp>
        <p:nvSpPr>
          <p:cNvPr id="10" name="Text 8"/>
          <p:cNvSpPr/>
          <p:nvPr/>
        </p:nvSpPr>
        <p:spPr>
          <a:xfrm>
            <a:off x="822960" y="4087368"/>
            <a:ext cx="3200400" cy="457200"/>
          </a:xfrm>
          <a:prstGeom prst="rect">
            <a:avLst/>
          </a:prstGeom>
          <a:noFill/>
          <a:ln/>
        </p:spPr>
        <p:txBody>
          <a:bodyPr wrap="square" lIns="0" tIns="0" rIns="0" bIns="0" rtlCol="0" anchor="t"/>
          <a:lstStyle/>
          <a:p>
            <a:pPr indent="0" marL="0">
              <a:buNone/>
            </a:pPr>
            <a:r>
              <a:rPr lang="en-US" sz="1250" b="1" dirty="0">
                <a:solidFill>
                  <a:srgbClr val="1D1D1F"/>
                </a:solidFill>
                <a:latin typeface="Arial" pitchFamily="34" charset="0"/>
                <a:ea typeface="Arial" pitchFamily="34" charset="-122"/>
                <a:cs typeface="Arial" pitchFamily="34" charset="-120"/>
              </a:rPr>
              <a:t>Green bar: raster thread</a:t>
            </a:r>
            <a:endParaRPr lang="en-US" sz="1250" dirty="0"/>
          </a:p>
        </p:txBody>
      </p:sp>
      <p:sp>
        <p:nvSpPr>
          <p:cNvPr id="11" name="Text 9"/>
          <p:cNvSpPr/>
          <p:nvPr/>
        </p:nvSpPr>
        <p:spPr>
          <a:xfrm>
            <a:off x="4206240" y="4087368"/>
            <a:ext cx="7159752" cy="457200"/>
          </a:xfrm>
          <a:prstGeom prst="rect">
            <a:avLst/>
          </a:prstGeom>
          <a:noFill/>
          <a:ln/>
        </p:spPr>
        <p:txBody>
          <a:bodyPr wrap="square" lIns="0" tIns="0" rIns="0" bIns="0" rtlCol="0" anchor="t"/>
          <a:lstStyle/>
          <a:p>
            <a:pPr indent="0" marL="0">
              <a:buNone/>
            </a:pPr>
            <a:r>
              <a:rPr lang="en-US" sz="1150" dirty="0">
                <a:solidFill>
                  <a:srgbClr val="86868B"/>
                </a:solidFill>
                <a:latin typeface="Arial" pitchFamily="34" charset="0"/>
                <a:ea typeface="Arial" pitchFamily="34" charset="-122"/>
                <a:cs typeface="Arial" pitchFamily="34" charset="-120"/>
              </a:rPr>
              <a:t>The GPU is slow: a saveLayer, an over-large image, too many layers, an expensive clip.</a:t>
            </a:r>
            <a:endParaRPr lang="en-US" sz="1150" dirty="0"/>
          </a:p>
        </p:txBody>
      </p:sp>
      <p:sp>
        <p:nvSpPr>
          <p:cNvPr id="12" name="Shape 10"/>
          <p:cNvSpPr/>
          <p:nvPr/>
        </p:nvSpPr>
        <p:spPr>
          <a:xfrm>
            <a:off x="822960" y="4562856"/>
            <a:ext cx="10543032" cy="0"/>
          </a:xfrm>
          <a:prstGeom prst="line">
            <a:avLst/>
          </a:prstGeom>
          <a:noFill/>
          <a:ln w="9525">
            <a:solidFill>
              <a:srgbClr val="D2D2D7"/>
            </a:solidFill>
            <a:prstDash val="solid"/>
          </a:ln>
        </p:spPr>
      </p:sp>
      <p:sp>
        <p:nvSpPr>
          <p:cNvPr id="13" name="Text 11"/>
          <p:cNvSpPr/>
          <p:nvPr/>
        </p:nvSpPr>
        <p:spPr>
          <a:xfrm>
            <a:off x="822960" y="4654296"/>
            <a:ext cx="3200400" cy="457200"/>
          </a:xfrm>
          <a:prstGeom prst="rect">
            <a:avLst/>
          </a:prstGeom>
          <a:noFill/>
          <a:ln/>
        </p:spPr>
        <p:txBody>
          <a:bodyPr wrap="square" lIns="0" tIns="0" rIns="0" bIns="0" rtlCol="0" anchor="t"/>
          <a:lstStyle/>
          <a:p>
            <a:pPr indent="0" marL="0">
              <a:buNone/>
            </a:pPr>
            <a:r>
              <a:rPr lang="en-US" sz="1250" b="1" dirty="0">
                <a:solidFill>
                  <a:srgbClr val="1D1D1F"/>
                </a:solidFill>
                <a:latin typeface="Arial" pitchFamily="34" charset="0"/>
                <a:ea typeface="Arial" pitchFamily="34" charset="-122"/>
                <a:cs typeface="Arial" pitchFamily="34" charset="-120"/>
              </a:rPr>
              <a:t>Track widget builds</a:t>
            </a:r>
            <a:endParaRPr lang="en-US" sz="1250" dirty="0"/>
          </a:p>
        </p:txBody>
      </p:sp>
      <p:sp>
        <p:nvSpPr>
          <p:cNvPr id="14" name="Text 12"/>
          <p:cNvSpPr/>
          <p:nvPr/>
        </p:nvSpPr>
        <p:spPr>
          <a:xfrm>
            <a:off x="4206240" y="4654296"/>
            <a:ext cx="7159752" cy="457200"/>
          </a:xfrm>
          <a:prstGeom prst="rect">
            <a:avLst/>
          </a:prstGeom>
          <a:noFill/>
          <a:ln/>
        </p:spPr>
        <p:txBody>
          <a:bodyPr wrap="square" lIns="0" tIns="0" rIns="0" bIns="0" rtlCol="0" anchor="t"/>
          <a:lstStyle/>
          <a:p>
            <a:pPr indent="0" marL="0">
              <a:buNone/>
            </a:pPr>
            <a:r>
              <a:rPr lang="en-US" sz="1150" dirty="0">
                <a:solidFill>
                  <a:srgbClr val="86868B"/>
                </a:solidFill>
                <a:latin typeface="Arial" pitchFamily="34" charset="0"/>
                <a:ea typeface="Arial" pitchFamily="34" charset="-122"/>
                <a:cs typeface="Arial" pitchFamily="34" charset="-120"/>
              </a:rPr>
              <a:t>Shows which widgets rebuilt for a frame. If a whole screen lights up for one changed label, that is your bug.</a:t>
            </a:r>
            <a:endParaRPr lang="en-US" sz="1150" dirty="0"/>
          </a:p>
        </p:txBody>
      </p:sp>
      <p:sp>
        <p:nvSpPr>
          <p:cNvPr id="15" name="Shape 13"/>
          <p:cNvSpPr/>
          <p:nvPr/>
        </p:nvSpPr>
        <p:spPr>
          <a:xfrm>
            <a:off x="822960" y="5129784"/>
            <a:ext cx="10543032" cy="0"/>
          </a:xfrm>
          <a:prstGeom prst="line">
            <a:avLst/>
          </a:prstGeom>
          <a:noFill/>
          <a:ln w="9525">
            <a:solidFill>
              <a:srgbClr val="D2D2D7"/>
            </a:solidFill>
            <a:prstDash val="solid"/>
          </a:ln>
        </p:spPr>
      </p:sp>
      <p:sp>
        <p:nvSpPr>
          <p:cNvPr id="16" name="Text 14"/>
          <p:cNvSpPr/>
          <p:nvPr/>
        </p:nvSpPr>
        <p:spPr>
          <a:xfrm>
            <a:off x="822960" y="5221224"/>
            <a:ext cx="3200400" cy="457200"/>
          </a:xfrm>
          <a:prstGeom prst="rect">
            <a:avLst/>
          </a:prstGeom>
          <a:noFill/>
          <a:ln/>
        </p:spPr>
        <p:txBody>
          <a:bodyPr wrap="square" lIns="0" tIns="0" rIns="0" bIns="0" rtlCol="0" anchor="t"/>
          <a:lstStyle/>
          <a:p>
            <a:pPr indent="0" marL="0">
              <a:buNone/>
            </a:pPr>
            <a:r>
              <a:rPr lang="en-US" sz="1250" b="1" dirty="0">
                <a:solidFill>
                  <a:srgbClr val="1D1D1F"/>
                </a:solidFill>
                <a:latin typeface="Arial" pitchFamily="34" charset="0"/>
                <a:ea typeface="Arial" pitchFamily="34" charset="-122"/>
                <a:cs typeface="Arial" pitchFamily="34" charset="-120"/>
              </a:rPr>
              <a:t>CPU profiler &amp; Memory</a:t>
            </a:r>
            <a:endParaRPr lang="en-US" sz="1250" dirty="0"/>
          </a:p>
        </p:txBody>
      </p:sp>
      <p:sp>
        <p:nvSpPr>
          <p:cNvPr id="17" name="Text 15"/>
          <p:cNvSpPr/>
          <p:nvPr/>
        </p:nvSpPr>
        <p:spPr>
          <a:xfrm>
            <a:off x="4206240" y="5221224"/>
            <a:ext cx="7159752" cy="457200"/>
          </a:xfrm>
          <a:prstGeom prst="rect">
            <a:avLst/>
          </a:prstGeom>
          <a:noFill/>
          <a:ln/>
        </p:spPr>
        <p:txBody>
          <a:bodyPr wrap="square" lIns="0" tIns="0" rIns="0" bIns="0" rtlCol="0" anchor="t"/>
          <a:lstStyle/>
          <a:p>
            <a:pPr indent="0" marL="0">
              <a:buNone/>
            </a:pPr>
            <a:r>
              <a:rPr lang="en-US" sz="1150" dirty="0">
                <a:solidFill>
                  <a:srgbClr val="86868B"/>
                </a:solidFill>
                <a:latin typeface="Arial" pitchFamily="34" charset="0"/>
                <a:ea typeface="Arial" pitchFamily="34" charset="-122"/>
                <a:cs typeface="Arial" pitchFamily="34" charset="-120"/>
              </a:rPr>
              <a:t>Flame chart: look for deep stacks under performLayout or updateChild, which is layout thrashing.</a:t>
            </a:r>
            <a:endParaRPr lang="en-US" sz="1150" dirty="0"/>
          </a:p>
        </p:txBody>
      </p:sp>
      <p:sp>
        <p:nvSpPr>
          <p:cNvPr id="18" name="Text 16"/>
          <p:cNvSpPr/>
          <p:nvPr/>
        </p:nvSpPr>
        <p:spPr>
          <a:xfrm>
            <a:off x="822960" y="5852160"/>
            <a:ext cx="10543032" cy="365760"/>
          </a:xfrm>
          <a:prstGeom prst="rect">
            <a:avLst/>
          </a:prstGeom>
          <a:noFill/>
          <a:ln/>
        </p:spPr>
        <p:txBody>
          <a:bodyPr wrap="square" lIns="0" tIns="0" rIns="0" bIns="0" rtlCol="0" anchor="ctr"/>
          <a:lstStyle/>
          <a:p>
            <a:pPr indent="0" marL="0">
              <a:buNone/>
            </a:pPr>
            <a:r>
              <a:rPr lang="en-US" sz="1300" b="1" dirty="0">
                <a:solidFill>
                  <a:srgbClr val="1D1D1F"/>
                </a:solidFill>
                <a:latin typeface="Arial" pitchFamily="34" charset="0"/>
                <a:ea typeface="Arial" pitchFamily="34" charset="-122"/>
                <a:cs typeface="Arial" pitchFamily="34" charset="-120"/>
              </a:rPr>
              <a:t>Profile before you change anything. </a:t>
            </a:r>
            <a:pPr indent="0" marL="0">
              <a:buNone/>
            </a:pPr>
            <a:r>
              <a:rPr lang="en-US" sz="1300" dirty="0">
                <a:solidFill>
                  <a:srgbClr val="86868B"/>
                </a:solidFill>
                <a:latin typeface="Arial" pitchFamily="34" charset="0"/>
                <a:ea typeface="Arial" pitchFamily="34" charset="-122"/>
                <a:cs typeface="Arial" pitchFamily="34" charset="-120"/>
              </a:rPr>
              <a:t>The color of the bar tells you which half of the problem you have.</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731520" y="2514600"/>
            <a:ext cx="10725912" cy="320040"/>
          </a:xfrm>
          <a:prstGeom prst="rect">
            <a:avLst/>
          </a:prstGeom>
          <a:noFill/>
          <a:ln/>
        </p:spPr>
        <p:txBody>
          <a:bodyPr wrap="square" lIns="0" tIns="0" rIns="0" bIns="0" rtlCol="0" anchor="ctr"/>
          <a:lstStyle/>
          <a:p>
            <a:pPr algn="ctr" indent="0" marL="0">
              <a:buNone/>
            </a:pPr>
            <a:r>
              <a:rPr lang="en-US" sz="1200" spc="400" kern="0" dirty="0">
                <a:solidFill>
                  <a:srgbClr val="6E6E73"/>
                </a:solidFill>
                <a:latin typeface="Arial" pitchFamily="34" charset="0"/>
                <a:ea typeface="Arial" pitchFamily="34" charset="-122"/>
                <a:cs typeface="Arial" pitchFamily="34" charset="-120"/>
              </a:rPr>
              <a:t>PART 2 · COMPILATION</a:t>
            </a:r>
            <a:endParaRPr lang="en-US" sz="1200" dirty="0"/>
          </a:p>
        </p:txBody>
      </p:sp>
      <p:sp>
        <p:nvSpPr>
          <p:cNvPr id="3" name="Text 1"/>
          <p:cNvSpPr/>
          <p:nvPr/>
        </p:nvSpPr>
        <p:spPr>
          <a:xfrm>
            <a:off x="731520" y="2926080"/>
            <a:ext cx="10725912" cy="777240"/>
          </a:xfrm>
          <a:prstGeom prst="rect">
            <a:avLst/>
          </a:prstGeom>
          <a:noFill/>
          <a:ln/>
        </p:spPr>
        <p:txBody>
          <a:bodyPr wrap="square" lIns="0" tIns="0" rIns="0" bIns="0" rtlCol="0" anchor="ctr"/>
          <a:lstStyle/>
          <a:p>
            <a:pPr algn="ctr" indent="0" marL="0">
              <a:buNone/>
            </a:pPr>
            <a:r>
              <a:rPr lang="en-US" sz="3600" b="1" dirty="0">
                <a:solidFill>
                  <a:srgbClr val="FFFFFF"/>
                </a:solidFill>
                <a:latin typeface="Arial" pitchFamily="34" charset="0"/>
                <a:ea typeface="Arial" pitchFamily="34" charset="-122"/>
                <a:cs typeface="Arial" pitchFamily="34" charset="-120"/>
              </a:rPr>
              <a:t>JIT, AOT, and the phone in between</a:t>
            </a:r>
            <a:endParaRPr lang="en-US" sz="3600" dirty="0"/>
          </a:p>
        </p:txBody>
      </p:sp>
      <p:sp>
        <p:nvSpPr>
          <p:cNvPr id="4" name="Text 2"/>
          <p:cNvSpPr/>
          <p:nvPr/>
        </p:nvSpPr>
        <p:spPr>
          <a:xfrm>
            <a:off x="731520" y="3794760"/>
            <a:ext cx="10725912" cy="411480"/>
          </a:xfrm>
          <a:prstGeom prst="rect">
            <a:avLst/>
          </a:prstGeom>
          <a:noFill/>
          <a:ln/>
        </p:spPr>
        <p:txBody>
          <a:bodyPr wrap="square" lIns="0" tIns="0" rIns="0" bIns="0" rtlCol="0" anchor="ctr"/>
          <a:lstStyle/>
          <a:p>
            <a:pPr algn="ctr" indent="0" marL="0">
              <a:buNone/>
            </a:pPr>
            <a:r>
              <a:rPr lang="en-US" sz="1500" dirty="0">
                <a:solidFill>
                  <a:srgbClr val="A1A1A6"/>
                </a:solidFill>
                <a:latin typeface="Arial" pitchFamily="34" charset="0"/>
                <a:ea typeface="Arial" pitchFamily="34" charset="-122"/>
                <a:cs typeface="Arial" pitchFamily="34" charset="-120"/>
              </a:rPr>
              <a:t>Where the machine code comes from, and what that costs in battery</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17</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COMPILATION</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Three ways to turn your code into instructions</a:t>
            </a:r>
            <a:endParaRPr lang="en-US" sz="3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822960" y="2011680"/>
          <a:ext cx="10543032" cy="914400"/>
        </p:xfrm>
        <a:graphic>
          <a:graphicData uri="http://schemas.openxmlformats.org/drawingml/2006/table">
            <a:tbl>
              <a:tblPr/>
              <a:tblGrid>
                <a:gridCol w="1371600"/>
                <a:gridCol w="3057144"/>
                <a:gridCol w="3057144"/>
                <a:gridCol w="3057144"/>
              </a:tblGrid>
              <a:tr h="438912">
                <a:tc>
                  <a:txBody>
                    <a:bodyPr/>
                    <a:lstStyle/>
                    <a:p>
                      <a:pPr indent="0" marL="0">
                        <a:buNone/>
                      </a:pP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00" b="1" dirty="0">
                          <a:solidFill>
                            <a:srgbClr val="1D1D1F"/>
                          </a:solidFill>
                          <a:latin typeface="Arial" pitchFamily="34" charset="0"/>
                          <a:ea typeface="Arial" pitchFamily="34" charset="-122"/>
                          <a:cs typeface="Arial" pitchFamily="34" charset="-120"/>
                        </a:rPr>
                        <a:t>Interpretation</a:t>
                      </a: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D1D1F"/>
                          </a:solidFill>
                          <a:latin typeface="Arial" pitchFamily="34" charset="0"/>
                          <a:ea typeface="Arial" pitchFamily="34" charset="-122"/>
                          <a:cs typeface="Arial" pitchFamily="34" charset="-120"/>
                        </a:rPr>
                        <a:t>JIT</a:t>
                      </a: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D1D1F"/>
                          </a:solidFill>
                          <a:latin typeface="Arial" pitchFamily="34" charset="0"/>
                          <a:ea typeface="Arial" pitchFamily="34" charset="-122"/>
                          <a:cs typeface="Arial" pitchFamily="34" charset="-120"/>
                        </a:rPr>
                        <a:t>AOT</a:t>
                      </a: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r h="713232">
                <a:tc>
                  <a:txBody>
                    <a:bodyPr/>
                    <a:lstStyle/>
                    <a:p>
                      <a:pPr algn="l" indent="0" marL="0">
                        <a:buNone/>
                      </a:pPr>
                      <a:r>
                        <a:rPr lang="en-US" sz="1100" dirty="0">
                          <a:solidFill>
                            <a:srgbClr val="86868B"/>
                          </a:solidFill>
                          <a:latin typeface="Arial" pitchFamily="34" charset="0"/>
                          <a:ea typeface="Arial" pitchFamily="34" charset="-122"/>
                          <a:cs typeface="Arial" pitchFamily="34" charset="-120"/>
                        </a:rPr>
                        <a:t>Mechanism</a:t>
                      </a: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00" dirty="0">
                          <a:solidFill>
                            <a:srgbClr val="1D1D1F"/>
                          </a:solidFill>
                          <a:latin typeface="Arial" pitchFamily="34" charset="0"/>
                          <a:ea typeface="Arial" pitchFamily="34" charset="-122"/>
                          <a:cs typeface="Arial" pitchFamily="34" charset="-120"/>
                        </a:rPr>
                        <a:t>read and execute bytecode instruction by instruction</a:t>
                      </a: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D1D1F"/>
                          </a:solidFill>
                          <a:latin typeface="Arial" pitchFamily="34" charset="0"/>
                          <a:ea typeface="Arial" pitchFamily="34" charset="-122"/>
                          <a:cs typeface="Arial" pitchFamily="34" charset="-120"/>
                        </a:rPr>
                        <a:t>compile hot paths to machine code while the program runs</a:t>
                      </a: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D1D1F"/>
                          </a:solidFill>
                          <a:latin typeface="Arial" pitchFamily="34" charset="0"/>
                          <a:ea typeface="Arial" pitchFamily="34" charset="-122"/>
                          <a:cs typeface="Arial" pitchFamily="34" charset="-120"/>
                        </a:rPr>
                        <a:t>compile everything to machine code before the program runs</a:t>
                      </a: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r h="713232">
                <a:tc>
                  <a:txBody>
                    <a:bodyPr/>
                    <a:lstStyle/>
                    <a:p>
                      <a:pPr algn="l" indent="0" marL="0">
                        <a:buNone/>
                      </a:pPr>
                      <a:r>
                        <a:rPr lang="en-US" sz="1100" dirty="0">
                          <a:solidFill>
                            <a:srgbClr val="86868B"/>
                          </a:solidFill>
                          <a:latin typeface="Arial" pitchFamily="34" charset="0"/>
                          <a:ea typeface="Arial" pitchFamily="34" charset="-122"/>
                          <a:cs typeface="Arial" pitchFamily="34" charset="-120"/>
                        </a:rPr>
                        <a:t>Startup</a:t>
                      </a: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00" dirty="0">
                          <a:solidFill>
                            <a:srgbClr val="1D1D1F"/>
                          </a:solidFill>
                          <a:latin typeface="Arial" pitchFamily="34" charset="0"/>
                          <a:ea typeface="Arial" pitchFamily="34" charset="-122"/>
                          <a:cs typeface="Arial" pitchFamily="34" charset="-120"/>
                        </a:rPr>
                        <a:t>instant: nothing to compile</a:t>
                      </a: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D1D1F"/>
                          </a:solidFill>
                          <a:latin typeface="Arial" pitchFamily="34" charset="0"/>
                          <a:ea typeface="Arial" pitchFamily="34" charset="-122"/>
                          <a:cs typeface="Arial" pitchFamily="34" charset="-120"/>
                        </a:rPr>
                        <a:t>slow at first: you pay the compiler at runtime</a:t>
                      </a: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D1D1F"/>
                          </a:solidFill>
                          <a:latin typeface="Arial" pitchFamily="34" charset="0"/>
                          <a:ea typeface="Arial" pitchFamily="34" charset="-122"/>
                          <a:cs typeface="Arial" pitchFamily="34" charset="-120"/>
                        </a:rPr>
                        <a:t>instant: the code is already native</a:t>
                      </a: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r h="713232">
                <a:tc>
                  <a:txBody>
                    <a:bodyPr/>
                    <a:lstStyle/>
                    <a:p>
                      <a:pPr algn="l" indent="0" marL="0">
                        <a:buNone/>
                      </a:pPr>
                      <a:r>
                        <a:rPr lang="en-US" sz="1100" dirty="0">
                          <a:solidFill>
                            <a:srgbClr val="86868B"/>
                          </a:solidFill>
                          <a:latin typeface="Arial" pitchFamily="34" charset="0"/>
                          <a:ea typeface="Arial" pitchFamily="34" charset="-122"/>
                          <a:cs typeface="Arial" pitchFamily="34" charset="-120"/>
                        </a:rPr>
                        <a:t>Peak speed</a:t>
                      </a: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00" dirty="0">
                          <a:solidFill>
                            <a:srgbClr val="1D1D1F"/>
                          </a:solidFill>
                          <a:latin typeface="Arial" pitchFamily="34" charset="0"/>
                          <a:ea typeface="Arial" pitchFamily="34" charset="-122"/>
                          <a:cs typeface="Arial" pitchFamily="34" charset="-120"/>
                        </a:rPr>
                        <a:t>lowest</a:t>
                      </a: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D1D1F"/>
                          </a:solidFill>
                          <a:latin typeface="Arial" pitchFamily="34" charset="0"/>
                          <a:ea typeface="Arial" pitchFamily="34" charset="-122"/>
                          <a:cs typeface="Arial" pitchFamily="34" charset="-120"/>
                        </a:rPr>
                        <a:t>highest: it can optimize on real, observed types</a:t>
                      </a: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D1D1F"/>
                          </a:solidFill>
                          <a:latin typeface="Arial" pitchFamily="34" charset="0"/>
                          <a:ea typeface="Arial" pitchFamily="34" charset="-122"/>
                          <a:cs typeface="Arial" pitchFamily="34" charset="-120"/>
                        </a:rPr>
                        <a:t>high, but every decision was made without runtime data</a:t>
                      </a: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r h="713232">
                <a:tc>
                  <a:txBody>
                    <a:bodyPr/>
                    <a:lstStyle/>
                    <a:p>
                      <a:pPr algn="l" indent="0" marL="0">
                        <a:buNone/>
                      </a:pPr>
                      <a:r>
                        <a:rPr lang="en-US" sz="1100" dirty="0">
                          <a:solidFill>
                            <a:srgbClr val="86868B"/>
                          </a:solidFill>
                          <a:latin typeface="Arial" pitchFamily="34" charset="0"/>
                          <a:ea typeface="Arial" pitchFamily="34" charset="-122"/>
                          <a:cs typeface="Arial" pitchFamily="34" charset="-120"/>
                        </a:rPr>
                        <a:t>Memory</a:t>
                      </a: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00" dirty="0">
                          <a:solidFill>
                            <a:srgbClr val="1D1D1F"/>
                          </a:solidFill>
                          <a:latin typeface="Arial" pitchFamily="34" charset="0"/>
                          <a:ea typeface="Arial" pitchFamily="34" charset="-122"/>
                          <a:cs typeface="Arial" pitchFamily="34" charset="-120"/>
                        </a:rPr>
                        <a:t>small</a:t>
                      </a: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D1D1F"/>
                          </a:solidFill>
                          <a:latin typeface="Arial" pitchFamily="34" charset="0"/>
                          <a:ea typeface="Arial" pitchFamily="34" charset="-122"/>
                          <a:cs typeface="Arial" pitchFamily="34" charset="-120"/>
                        </a:rPr>
                        <a:t>largest: a compiler and its buffers live in your process</a:t>
                      </a: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D1D1F"/>
                          </a:solidFill>
                          <a:latin typeface="Arial" pitchFamily="34" charset="0"/>
                          <a:ea typeface="Arial" pitchFamily="34" charset="-122"/>
                          <a:cs typeface="Arial" pitchFamily="34" charset="-120"/>
                        </a:rPr>
                        <a:t>smallest at runtime; largest on disk</a:t>
                      </a: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bl>
          </a:graphicData>
        </a:graphic>
      </p:graphicFrame>
      <p:sp>
        <p:nvSpPr>
          <p:cNvPr id="6" name="Shape 3"/>
          <p:cNvSpPr/>
          <p:nvPr/>
        </p:nvSpPr>
        <p:spPr>
          <a:xfrm>
            <a:off x="822960" y="5394960"/>
            <a:ext cx="10543032" cy="0"/>
          </a:xfrm>
          <a:prstGeom prst="line">
            <a:avLst/>
          </a:prstGeom>
          <a:noFill/>
          <a:ln w="9525">
            <a:solidFill>
              <a:srgbClr val="D2D2D7"/>
            </a:solidFill>
            <a:prstDash val="solid"/>
          </a:ln>
        </p:spPr>
      </p:sp>
      <p:sp>
        <p:nvSpPr>
          <p:cNvPr id="7" name="Text 4"/>
          <p:cNvSpPr/>
          <p:nvPr/>
        </p:nvSpPr>
        <p:spPr>
          <a:xfrm>
            <a:off x="822960" y="5623560"/>
            <a:ext cx="10543032" cy="640080"/>
          </a:xfrm>
          <a:prstGeom prst="rect">
            <a:avLst/>
          </a:prstGeom>
          <a:noFill/>
          <a:ln/>
        </p:spPr>
        <p:txBody>
          <a:bodyPr wrap="square" lIns="0" tIns="0" rIns="0" bIns="0" rtlCol="0" anchor="t"/>
          <a:lstStyle/>
          <a:p>
            <a:pPr indent="0" marL="0">
              <a:buNone/>
            </a:pPr>
            <a:r>
              <a:rPr lang="en-US" sz="1400" b="1" dirty="0">
                <a:solidFill>
                  <a:srgbClr val="1D1D1F"/>
                </a:solidFill>
                <a:latin typeface="Arial" pitchFamily="34" charset="0"/>
                <a:ea typeface="Arial" pitchFamily="34" charset="-122"/>
                <a:cs typeface="Arial" pitchFamily="34" charset="-120"/>
              </a:rPr>
              <a:t>Startup, peak speed and memory trade off: improving one usually degrades another.</a:t>
            </a:r>
            <a:pPr indent="0" marL="0">
              <a:buNone/>
            </a:pPr>
            <a:r>
              <a:rPr lang="en-US" sz="1400" dirty="0">
                <a:solidFill>
                  <a:srgbClr val="86868B"/>
                </a:solidFill>
                <a:latin typeface="Arial" pitchFamily="34" charset="0"/>
                <a:ea typeface="Arial" pitchFamily="34" charset="-122"/>
                <a:cs typeface="Arial" pitchFamily="34" charset="-120"/>
              </a:rPr>
              <a:t> A phone has to navigate all three at once, on a battery, so nobody ships a pure strategy any more.</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18</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COMPILATION</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Dart uses both: they are build modes, not camps</a:t>
            </a:r>
            <a:endParaRPr lang="en-US" sz="3000" dirty="0"/>
          </a:p>
        </p:txBody>
      </p:sp>
      <p:sp>
        <p:nvSpPr>
          <p:cNvPr id="5" name="Shape 3"/>
          <p:cNvSpPr/>
          <p:nvPr/>
        </p:nvSpPr>
        <p:spPr>
          <a:xfrm>
            <a:off x="822960" y="1783080"/>
            <a:ext cx="6583680" cy="3657600"/>
          </a:xfrm>
          <a:prstGeom prst="roundRect">
            <a:avLst>
              <a:gd name="adj" fmla="val 3000"/>
            </a:avLst>
          </a:prstGeom>
          <a:solidFill>
            <a:srgbClr val="F5F5F7"/>
          </a:solidFill>
          <a:ln/>
        </p:spPr>
      </p:sp>
      <p:sp>
        <p:nvSpPr>
          <p:cNvPr id="6" name="Text 4"/>
          <p:cNvSpPr/>
          <p:nvPr/>
        </p:nvSpPr>
        <p:spPr>
          <a:xfrm>
            <a:off x="1234440" y="2103120"/>
            <a:ext cx="5852160" cy="3063240"/>
          </a:xfrm>
          <a:prstGeom prst="rect">
            <a:avLst/>
          </a:prstGeom>
          <a:noFill/>
          <a:ln/>
        </p:spPr>
        <p:txBody>
          <a:bodyPr wrap="square" lIns="0" tIns="0" rIns="0" bIns="0" rtlCol="0" anchor="t"/>
          <a:lstStyle/>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flutter run                    # DEBUG</a:t>
            </a:r>
            <a:endParaRPr lang="en-US" sz="1050" dirty="0"/>
          </a:p>
          <a:p>
            <a:pPr indent="0" marL="0">
              <a:lnSpc>
                <a:spcPts val="1900"/>
              </a:lnSpc>
              <a:buNone/>
            </a:pPr>
            <a:r>
              <a:rPr lang="en-US" sz="1050" dirty="0">
                <a:solidFill>
                  <a:srgbClr val="86868B"/>
                </a:solidFill>
                <a:latin typeface="Courier New" pitchFamily="34" charset="0"/>
                <a:ea typeface="Courier New" pitchFamily="34" charset="-122"/>
                <a:cs typeface="Courier New" pitchFamily="34" charset="-120"/>
              </a:rPr>
              <a:t>#   Dart VM, JIT-compiled. Hot reload works because the VM</a:t>
            </a:r>
            <a:endParaRPr lang="en-US" sz="1050" dirty="0"/>
          </a:p>
          <a:p>
            <a:pPr indent="0" marL="0">
              <a:lnSpc>
                <a:spcPts val="1900"/>
              </a:lnSpc>
              <a:buNone/>
            </a:pPr>
            <a:r>
              <a:rPr lang="en-US" sz="1050" dirty="0">
                <a:solidFill>
                  <a:srgbClr val="86868B"/>
                </a:solidFill>
                <a:latin typeface="Courier New" pitchFamily="34" charset="0"/>
                <a:ea typeface="Courier New" pitchFamily="34" charset="-122"/>
                <a:cs typeface="Courier New" pitchFamily="34" charset="-120"/>
              </a:rPr>
              <a:t>#   can swap in newly compiled functions while you run.</a:t>
            </a:r>
            <a:endParaRPr lang="en-US" sz="1050" dirty="0"/>
          </a:p>
          <a:p>
            <a:pPr indent="0" marL="0">
              <a:lnSpc>
                <a:spcPts val="1900"/>
              </a:lnSpc>
              <a:buNone/>
            </a:pPr>
            <a:r>
              <a:rPr lang="en-US" sz="1050" dirty="0">
                <a:solidFill>
                  <a:srgbClr val="86868B"/>
                </a:solidFill>
                <a:latin typeface="Courier New" pitchFamily="34" charset="0"/>
                <a:ea typeface="Courier New" pitchFamily="34" charset="-122"/>
                <a:cs typeface="Courier New" pitchFamily="34" charset="-120"/>
              </a:rPr>
              <a:t>#   Asserts on, service protocol open, no optimization.</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flutter run --profile          # PROFILE</a:t>
            </a:r>
            <a:endParaRPr lang="en-US" sz="1050" dirty="0"/>
          </a:p>
          <a:p>
            <a:pPr indent="0" marL="0">
              <a:lnSpc>
                <a:spcPts val="1900"/>
              </a:lnSpc>
              <a:buNone/>
            </a:pPr>
            <a:r>
              <a:rPr lang="en-US" sz="1050" dirty="0">
                <a:solidFill>
                  <a:srgbClr val="86868B"/>
                </a:solidFill>
                <a:latin typeface="Courier New" pitchFamily="34" charset="0"/>
                <a:ea typeface="Courier New" pitchFamily="34" charset="-122"/>
                <a:cs typeface="Courier New" pitchFamily="34" charset="-120"/>
              </a:rPr>
              <a:t>#   AOT machine code + tracing hooks. This is where you</a:t>
            </a:r>
            <a:endParaRPr lang="en-US" sz="1050" dirty="0"/>
          </a:p>
          <a:p>
            <a:pPr indent="0" marL="0">
              <a:lnSpc>
                <a:spcPts val="1900"/>
              </a:lnSpc>
              <a:buNone/>
            </a:pPr>
            <a:r>
              <a:rPr lang="en-US" sz="1050" dirty="0">
                <a:solidFill>
                  <a:srgbClr val="86868B"/>
                </a:solidFill>
                <a:latin typeface="Courier New" pitchFamily="34" charset="0"/>
                <a:ea typeface="Courier New" pitchFamily="34" charset="-122"/>
                <a:cs typeface="Courier New" pitchFamily="34" charset="-120"/>
              </a:rPr>
              <a:t>#   measure. Release numbers, plus DevTools.</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flutter build appbundle --release   # RELEASE</a:t>
            </a:r>
            <a:endParaRPr lang="en-US" sz="1050" dirty="0"/>
          </a:p>
          <a:p>
            <a:pPr indent="0" marL="0">
              <a:lnSpc>
                <a:spcPts val="1900"/>
              </a:lnSpc>
              <a:buNone/>
            </a:pPr>
            <a:r>
              <a:rPr lang="en-US" sz="1050" dirty="0">
                <a:solidFill>
                  <a:srgbClr val="86868B"/>
                </a:solidFill>
                <a:latin typeface="Courier New" pitchFamily="34" charset="0"/>
                <a:ea typeface="Courier New" pitchFamily="34" charset="-122"/>
                <a:cs typeface="Courier New" pitchFamily="34" charset="-120"/>
              </a:rPr>
              <a:t>#   AOT: Dart compiled straight to ARM machine code.</a:t>
            </a:r>
            <a:endParaRPr lang="en-US" sz="1050" dirty="0"/>
          </a:p>
          <a:p>
            <a:pPr indent="0" marL="0">
              <a:lnSpc>
                <a:spcPts val="1900"/>
              </a:lnSpc>
              <a:buNone/>
            </a:pPr>
            <a:r>
              <a:rPr lang="en-US" sz="1050" dirty="0">
                <a:solidFill>
                  <a:srgbClr val="86868B"/>
                </a:solidFill>
                <a:latin typeface="Courier New" pitchFamily="34" charset="0"/>
                <a:ea typeface="Courier New" pitchFamily="34" charset="-122"/>
                <a:cs typeface="Courier New" pitchFamily="34" charset="-120"/>
              </a:rPr>
              <a:t>#   No JIT, no interpreter, no service protocol.</a:t>
            </a:r>
            <a:endParaRPr lang="en-US" sz="1050" dirty="0"/>
          </a:p>
        </p:txBody>
      </p:sp>
      <p:sp>
        <p:nvSpPr>
          <p:cNvPr id="7" name="Text 5"/>
          <p:cNvSpPr/>
          <p:nvPr/>
        </p:nvSpPr>
        <p:spPr>
          <a:xfrm>
            <a:off x="7680960" y="1810512"/>
            <a:ext cx="3685032" cy="320040"/>
          </a:xfrm>
          <a:prstGeom prst="rect">
            <a:avLst/>
          </a:prstGeom>
          <a:noFill/>
          <a:ln/>
        </p:spPr>
        <p:txBody>
          <a:bodyPr wrap="square" lIns="0" tIns="0" rIns="0" bIns="0" rtlCol="0" anchor="ctr"/>
          <a:lstStyle/>
          <a:p>
            <a:pPr indent="0" marL="0">
              <a:buNone/>
            </a:pPr>
            <a:r>
              <a:rPr lang="en-US" sz="1400" b="1" dirty="0">
                <a:solidFill>
                  <a:srgbClr val="1D1D1F"/>
                </a:solidFill>
                <a:latin typeface="Arial" pitchFamily="34" charset="0"/>
                <a:ea typeface="Arial" pitchFamily="34" charset="-122"/>
                <a:cs typeface="Arial" pitchFamily="34" charset="-120"/>
              </a:rPr>
              <a:t>Read this carefully</a:t>
            </a:r>
            <a:endParaRPr lang="en-US" sz="1400" dirty="0"/>
          </a:p>
        </p:txBody>
      </p:sp>
      <p:sp>
        <p:nvSpPr>
          <p:cNvPr id="8" name="Text 6"/>
          <p:cNvSpPr/>
          <p:nvPr/>
        </p:nvSpPr>
        <p:spPr>
          <a:xfrm>
            <a:off x="7680960" y="2240280"/>
            <a:ext cx="3685032" cy="3474720"/>
          </a:xfrm>
          <a:prstGeom prst="rect">
            <a:avLst/>
          </a:prstGeom>
          <a:noFill/>
          <a:ln/>
        </p:spPr>
        <p:txBody>
          <a:bodyPr wrap="square" lIns="0" tIns="0" rIns="0" bIns="0" rtlCol="0" anchor="t"/>
          <a:lstStyle/>
          <a:p>
            <a:pPr indent="0" marL="0">
              <a:spcAft>
                <a:spcPts val="1200"/>
              </a:spcAft>
              <a:buNone/>
            </a:pPr>
            <a:r>
              <a:rPr lang="en-US" sz="1150" dirty="0">
                <a:solidFill>
                  <a:srgbClr val="86868B"/>
                </a:solidFill>
                <a:latin typeface="Arial" pitchFamily="34" charset="0"/>
                <a:ea typeface="Arial" pitchFamily="34" charset="-122"/>
                <a:cs typeface="Arial" pitchFamily="34" charset="-120"/>
              </a:rPr>
              <a:t>“Dart is JIT” and “Dart is AOT” are both half-true. It is one language with two compilers, and the build mode picks one.</a:t>
            </a:r>
            <a:endParaRPr lang="en-US" sz="1150" dirty="0"/>
          </a:p>
          <a:p>
            <a:pPr indent="0" marL="0">
              <a:spcAft>
                <a:spcPts val="1200"/>
              </a:spcAft>
              <a:buNone/>
            </a:pPr>
            <a:r>
              <a:rPr lang="en-US" sz="1150" dirty="0">
                <a:solidFill>
                  <a:srgbClr val="86868B"/>
                </a:solidFill>
                <a:latin typeface="Arial" pitchFamily="34" charset="0"/>
                <a:ea typeface="Arial" pitchFamily="34" charset="-122"/>
                <a:cs typeface="Arial" pitchFamily="34" charset="-120"/>
              </a:rPr>
              <a:t>That is the whole trick behind hot reload: development gets the flexibility of a JIT, and users get the startup and the battery of an AOT binary.</a:t>
            </a:r>
            <a:endParaRPr lang="en-US" sz="1150" dirty="0"/>
          </a:p>
          <a:p>
            <a:pPr indent="0" marL="0">
              <a:spcAft>
                <a:spcPts val="1200"/>
              </a:spcAft>
              <a:buNone/>
            </a:pPr>
            <a:r>
              <a:rPr lang="en-US" sz="1150" dirty="0">
                <a:solidFill>
                  <a:srgbClr val="1D1D1F"/>
                </a:solidFill>
                <a:latin typeface="Arial" pitchFamily="34" charset="0"/>
                <a:ea typeface="Arial" pitchFamily="34" charset="-122"/>
                <a:cs typeface="Arial" pitchFamily="34" charset="-120"/>
              </a:rPr>
              <a:t>Which is also why a stopwatch in debug mode measures nothing. Measure in profile mode.</a:t>
            </a:r>
            <a:endParaRPr lang="en-US" sz="1150" dirty="0"/>
          </a:p>
        </p:txBody>
      </p:sp>
      <p:sp>
        <p:nvSpPr>
          <p:cNvPr id="9" name="Shape 7"/>
          <p:cNvSpPr/>
          <p:nvPr/>
        </p:nvSpPr>
        <p:spPr>
          <a:xfrm>
            <a:off x="822960" y="5623560"/>
            <a:ext cx="6583680" cy="0"/>
          </a:xfrm>
          <a:prstGeom prst="line">
            <a:avLst/>
          </a:prstGeom>
          <a:noFill/>
          <a:ln w="9525">
            <a:solidFill>
              <a:srgbClr val="D2D2D7"/>
            </a:solidFill>
            <a:prstDash val="solid"/>
          </a:ln>
        </p:spPr>
      </p:sp>
      <p:sp>
        <p:nvSpPr>
          <p:cNvPr id="10" name="Text 8"/>
          <p:cNvSpPr/>
          <p:nvPr/>
        </p:nvSpPr>
        <p:spPr>
          <a:xfrm>
            <a:off x="822960" y="5852160"/>
            <a:ext cx="6583680" cy="640080"/>
          </a:xfrm>
          <a:prstGeom prst="rect">
            <a:avLst/>
          </a:prstGeom>
          <a:noFill/>
          <a:ln/>
        </p:spPr>
        <p:txBody>
          <a:bodyPr wrap="square" lIns="0" tIns="0" rIns="0" bIns="0" rtlCol="0" anchor="t"/>
          <a:lstStyle/>
          <a:p>
            <a:pPr indent="0" marL="0">
              <a:buNone/>
            </a:pPr>
            <a:r>
              <a:rPr lang="en-US" sz="1400" b="1" dirty="0">
                <a:solidFill>
                  <a:srgbClr val="1D1D1F"/>
                </a:solidFill>
                <a:latin typeface="Arial" pitchFamily="34" charset="0"/>
                <a:ea typeface="Arial" pitchFamily="34" charset="-122"/>
                <a:cs typeface="Arial" pitchFamily="34" charset="-120"/>
              </a:rPr>
              <a:t>JIT for the developer loop, AOT for the user.</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19</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COMPILATION</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Two platforms, two different answers</a:t>
            </a:r>
            <a:endParaRPr lang="en-US" sz="3000" dirty="0"/>
          </a:p>
        </p:txBody>
      </p:sp>
      <p:sp>
        <p:nvSpPr>
          <p:cNvPr id="5" name="Text 3"/>
          <p:cNvSpPr/>
          <p:nvPr/>
        </p:nvSpPr>
        <p:spPr>
          <a:xfrm>
            <a:off x="822960" y="1737360"/>
            <a:ext cx="5486400" cy="320040"/>
          </a:xfrm>
          <a:prstGeom prst="rect">
            <a:avLst/>
          </a:prstGeom>
          <a:noFill/>
          <a:ln/>
        </p:spPr>
        <p:txBody>
          <a:bodyPr wrap="square" lIns="0" tIns="0" rIns="0" bIns="0" rtlCol="0" anchor="ctr"/>
          <a:lstStyle/>
          <a:p>
            <a:pPr indent="0" marL="0">
              <a:buNone/>
            </a:pPr>
            <a:r>
              <a:rPr lang="en-US" sz="1400" b="1" dirty="0">
                <a:solidFill>
                  <a:srgbClr val="1D1D1F"/>
                </a:solidFill>
                <a:latin typeface="Arial" pitchFamily="34" charset="0"/>
                <a:ea typeface="Arial" pitchFamily="34" charset="-122"/>
                <a:cs typeface="Arial" pitchFamily="34" charset="-120"/>
              </a:rPr>
              <a:t>Android: a hybrid, arrived at slowly</a:t>
            </a:r>
            <a:endParaRPr lang="en-US" sz="1400" dirty="0"/>
          </a:p>
        </p:txBody>
      </p:sp>
      <p:sp>
        <p:nvSpPr>
          <p:cNvPr id="6" name="Text 4"/>
          <p:cNvSpPr/>
          <p:nvPr/>
        </p:nvSpPr>
        <p:spPr>
          <a:xfrm>
            <a:off x="822960" y="2148840"/>
            <a:ext cx="2011680" cy="292608"/>
          </a:xfrm>
          <a:prstGeom prst="rect">
            <a:avLst/>
          </a:prstGeom>
          <a:noFill/>
          <a:ln/>
        </p:spPr>
        <p:txBody>
          <a:bodyPr wrap="square" lIns="0" tIns="0" rIns="0" bIns="0" rtlCol="0" anchor="ctr"/>
          <a:lstStyle/>
          <a:p>
            <a:pPr indent="0" marL="0">
              <a:buNone/>
            </a:pPr>
            <a:r>
              <a:rPr lang="en-US" sz="1250" b="1" dirty="0">
                <a:solidFill>
                  <a:srgbClr val="1D1D1F"/>
                </a:solidFill>
                <a:latin typeface="Arial" pitchFamily="34" charset="0"/>
                <a:ea typeface="Arial" pitchFamily="34" charset="-122"/>
                <a:cs typeface="Arial" pitchFamily="34" charset="-120"/>
              </a:rPr>
              <a:t>Dalvik</a:t>
            </a:r>
            <a:endParaRPr lang="en-US" sz="1250" dirty="0"/>
          </a:p>
        </p:txBody>
      </p:sp>
      <p:sp>
        <p:nvSpPr>
          <p:cNvPr id="7" name="Text 5"/>
          <p:cNvSpPr/>
          <p:nvPr/>
        </p:nvSpPr>
        <p:spPr>
          <a:xfrm>
            <a:off x="2880360" y="2148840"/>
            <a:ext cx="2651760" cy="292608"/>
          </a:xfrm>
          <a:prstGeom prst="rect">
            <a:avLst/>
          </a:prstGeom>
          <a:noFill/>
          <a:ln/>
        </p:spPr>
        <p:txBody>
          <a:bodyPr wrap="square" lIns="0" tIns="0" rIns="0" bIns="0" rtlCol="0" anchor="ctr"/>
          <a:lstStyle/>
          <a:p>
            <a:pPr indent="0" marL="0">
              <a:buNone/>
            </a:pPr>
            <a:r>
              <a:rPr lang="en-US" sz="1000" dirty="0">
                <a:solidFill>
                  <a:srgbClr val="86868B"/>
                </a:solidFill>
                <a:latin typeface="Courier New" pitchFamily="34" charset="0"/>
                <a:ea typeface="Courier New" pitchFamily="34" charset="-122"/>
                <a:cs typeface="Courier New" pitchFamily="34" charset="-120"/>
              </a:rPr>
              <a:t>Android 2.2–4.4</a:t>
            </a:r>
            <a:endParaRPr lang="en-US" sz="1000" dirty="0"/>
          </a:p>
        </p:txBody>
      </p:sp>
      <p:sp>
        <p:nvSpPr>
          <p:cNvPr id="8" name="Text 6"/>
          <p:cNvSpPr/>
          <p:nvPr/>
        </p:nvSpPr>
        <p:spPr>
          <a:xfrm>
            <a:off x="822960" y="2441448"/>
            <a:ext cx="5120640" cy="566928"/>
          </a:xfrm>
          <a:prstGeom prst="rect">
            <a:avLst/>
          </a:prstGeom>
          <a:noFill/>
          <a:ln/>
        </p:spPr>
        <p:txBody>
          <a:bodyPr wrap="square" lIns="0" tIns="0" rIns="0" bIns="0" rtlCol="0" anchor="t"/>
          <a:lstStyle/>
          <a:p>
            <a:pPr indent="0" marL="0">
              <a:buNone/>
            </a:pPr>
            <a:r>
              <a:rPr lang="en-US" sz="1100" dirty="0">
                <a:solidFill>
                  <a:srgbClr val="86868B"/>
                </a:solidFill>
                <a:latin typeface="Arial" pitchFamily="34" charset="0"/>
                <a:ea typeface="Arial" pitchFamily="34" charset="-122"/>
                <a:cs typeface="Arial" pitchFamily="34" charset="-120"/>
              </a:rPr>
              <a:t>trace JIT: compiled while you scrolled, and janked while it did</a:t>
            </a:r>
            <a:endParaRPr lang="en-US" sz="1100" dirty="0"/>
          </a:p>
        </p:txBody>
      </p:sp>
      <p:sp>
        <p:nvSpPr>
          <p:cNvPr id="9" name="Shape 7"/>
          <p:cNvSpPr/>
          <p:nvPr/>
        </p:nvSpPr>
        <p:spPr>
          <a:xfrm>
            <a:off x="822960" y="2953512"/>
            <a:ext cx="5120640" cy="0"/>
          </a:xfrm>
          <a:prstGeom prst="line">
            <a:avLst/>
          </a:prstGeom>
          <a:noFill/>
          <a:ln w="9525">
            <a:solidFill>
              <a:srgbClr val="D2D2D7"/>
            </a:solidFill>
            <a:prstDash val="solid"/>
          </a:ln>
        </p:spPr>
      </p:sp>
      <p:sp>
        <p:nvSpPr>
          <p:cNvPr id="10" name="Text 8"/>
          <p:cNvSpPr/>
          <p:nvPr/>
        </p:nvSpPr>
        <p:spPr>
          <a:xfrm>
            <a:off x="822960" y="3081528"/>
            <a:ext cx="2011680" cy="292608"/>
          </a:xfrm>
          <a:prstGeom prst="rect">
            <a:avLst/>
          </a:prstGeom>
          <a:noFill/>
          <a:ln/>
        </p:spPr>
        <p:txBody>
          <a:bodyPr wrap="square" lIns="0" tIns="0" rIns="0" bIns="0" rtlCol="0" anchor="ctr"/>
          <a:lstStyle/>
          <a:p>
            <a:pPr indent="0" marL="0">
              <a:buNone/>
            </a:pPr>
            <a:r>
              <a:rPr lang="en-US" sz="1250" b="1" dirty="0">
                <a:solidFill>
                  <a:srgbClr val="1D1D1F"/>
                </a:solidFill>
                <a:latin typeface="Arial" pitchFamily="34" charset="0"/>
                <a:ea typeface="Arial" pitchFamily="34" charset="-122"/>
                <a:cs typeface="Arial" pitchFamily="34" charset="-120"/>
              </a:rPr>
              <a:t>Early ART</a:t>
            </a:r>
            <a:endParaRPr lang="en-US" sz="1250" dirty="0"/>
          </a:p>
        </p:txBody>
      </p:sp>
      <p:sp>
        <p:nvSpPr>
          <p:cNvPr id="11" name="Text 9"/>
          <p:cNvSpPr/>
          <p:nvPr/>
        </p:nvSpPr>
        <p:spPr>
          <a:xfrm>
            <a:off x="2880360" y="3081528"/>
            <a:ext cx="2651760" cy="292608"/>
          </a:xfrm>
          <a:prstGeom prst="rect">
            <a:avLst/>
          </a:prstGeom>
          <a:noFill/>
          <a:ln/>
        </p:spPr>
        <p:txBody>
          <a:bodyPr wrap="square" lIns="0" tIns="0" rIns="0" bIns="0" rtlCol="0" anchor="ctr"/>
          <a:lstStyle/>
          <a:p>
            <a:pPr indent="0" marL="0">
              <a:buNone/>
            </a:pPr>
            <a:r>
              <a:rPr lang="en-US" sz="1000" dirty="0">
                <a:solidFill>
                  <a:srgbClr val="86868B"/>
                </a:solidFill>
                <a:latin typeface="Courier New" pitchFamily="34" charset="0"/>
                <a:ea typeface="Courier New" pitchFamily="34" charset="-122"/>
                <a:cs typeface="Courier New" pitchFamily="34" charset="-120"/>
              </a:rPr>
              <a:t>Android 5.0–6.0</a:t>
            </a:r>
            <a:endParaRPr lang="en-US" sz="1000" dirty="0"/>
          </a:p>
        </p:txBody>
      </p:sp>
      <p:sp>
        <p:nvSpPr>
          <p:cNvPr id="12" name="Text 10"/>
          <p:cNvSpPr/>
          <p:nvPr/>
        </p:nvSpPr>
        <p:spPr>
          <a:xfrm>
            <a:off x="822960" y="3374136"/>
            <a:ext cx="5120640" cy="566928"/>
          </a:xfrm>
          <a:prstGeom prst="rect">
            <a:avLst/>
          </a:prstGeom>
          <a:noFill/>
          <a:ln/>
        </p:spPr>
        <p:txBody>
          <a:bodyPr wrap="square" lIns="0" tIns="0" rIns="0" bIns="0" rtlCol="0" anchor="t"/>
          <a:lstStyle/>
          <a:p>
            <a:pPr indent="0" marL="0">
              <a:buNone/>
            </a:pPr>
            <a:r>
              <a:rPr lang="en-US" sz="1100" dirty="0">
                <a:solidFill>
                  <a:srgbClr val="86868B"/>
                </a:solidFill>
                <a:latin typeface="Arial" pitchFamily="34" charset="0"/>
                <a:ea typeface="Arial" pitchFamily="34" charset="-122"/>
                <a:cs typeface="Arial" pitchFamily="34" charset="-120"/>
              </a:rPr>
              <a:t>pure AOT at install time: fast, but slow updates and huge binaries</a:t>
            </a:r>
            <a:endParaRPr lang="en-US" sz="1100" dirty="0"/>
          </a:p>
        </p:txBody>
      </p:sp>
      <p:sp>
        <p:nvSpPr>
          <p:cNvPr id="13" name="Shape 11"/>
          <p:cNvSpPr/>
          <p:nvPr/>
        </p:nvSpPr>
        <p:spPr>
          <a:xfrm>
            <a:off x="822960" y="3886200"/>
            <a:ext cx="5120640" cy="0"/>
          </a:xfrm>
          <a:prstGeom prst="line">
            <a:avLst/>
          </a:prstGeom>
          <a:noFill/>
          <a:ln w="9525">
            <a:solidFill>
              <a:srgbClr val="D2D2D7"/>
            </a:solidFill>
            <a:prstDash val="solid"/>
          </a:ln>
        </p:spPr>
      </p:sp>
      <p:sp>
        <p:nvSpPr>
          <p:cNvPr id="14" name="Text 12"/>
          <p:cNvSpPr/>
          <p:nvPr/>
        </p:nvSpPr>
        <p:spPr>
          <a:xfrm>
            <a:off x="822960" y="4014216"/>
            <a:ext cx="2011680" cy="292608"/>
          </a:xfrm>
          <a:prstGeom prst="rect">
            <a:avLst/>
          </a:prstGeom>
          <a:noFill/>
          <a:ln/>
        </p:spPr>
        <p:txBody>
          <a:bodyPr wrap="square" lIns="0" tIns="0" rIns="0" bIns="0" rtlCol="0" anchor="ctr"/>
          <a:lstStyle/>
          <a:p>
            <a:pPr indent="0" marL="0">
              <a:buNone/>
            </a:pPr>
            <a:r>
              <a:rPr lang="en-US" sz="1250" b="1" dirty="0">
                <a:solidFill>
                  <a:srgbClr val="1D1D1F"/>
                </a:solidFill>
                <a:latin typeface="Arial" pitchFamily="34" charset="0"/>
                <a:ea typeface="Arial" pitchFamily="34" charset="-122"/>
                <a:cs typeface="Arial" pitchFamily="34" charset="-120"/>
              </a:rPr>
              <a:t>Modern ART</a:t>
            </a:r>
            <a:endParaRPr lang="en-US" sz="1250" dirty="0"/>
          </a:p>
        </p:txBody>
      </p:sp>
      <p:sp>
        <p:nvSpPr>
          <p:cNvPr id="15" name="Text 13"/>
          <p:cNvSpPr/>
          <p:nvPr/>
        </p:nvSpPr>
        <p:spPr>
          <a:xfrm>
            <a:off x="2880360" y="4014216"/>
            <a:ext cx="2651760" cy="292608"/>
          </a:xfrm>
          <a:prstGeom prst="rect">
            <a:avLst/>
          </a:prstGeom>
          <a:noFill/>
          <a:ln/>
        </p:spPr>
        <p:txBody>
          <a:bodyPr wrap="square" lIns="0" tIns="0" rIns="0" bIns="0" rtlCol="0" anchor="ctr"/>
          <a:lstStyle/>
          <a:p>
            <a:pPr indent="0" marL="0">
              <a:buNone/>
            </a:pPr>
            <a:r>
              <a:rPr lang="en-US" sz="1000" dirty="0">
                <a:solidFill>
                  <a:srgbClr val="86868B"/>
                </a:solidFill>
                <a:latin typeface="Courier New" pitchFamily="34" charset="0"/>
                <a:ea typeface="Courier New" pitchFamily="34" charset="-122"/>
                <a:cs typeface="Courier New" pitchFamily="34" charset="-120"/>
              </a:rPr>
              <a:t>Android 7.0+</a:t>
            </a:r>
            <a:endParaRPr lang="en-US" sz="1000" dirty="0"/>
          </a:p>
        </p:txBody>
      </p:sp>
      <p:sp>
        <p:nvSpPr>
          <p:cNvPr id="16" name="Text 14"/>
          <p:cNvSpPr/>
          <p:nvPr/>
        </p:nvSpPr>
        <p:spPr>
          <a:xfrm>
            <a:off x="822960" y="4306824"/>
            <a:ext cx="5120640" cy="566928"/>
          </a:xfrm>
          <a:prstGeom prst="rect">
            <a:avLst/>
          </a:prstGeom>
          <a:noFill/>
          <a:ln/>
        </p:spPr>
        <p:txBody>
          <a:bodyPr wrap="square" lIns="0" tIns="0" rIns="0" bIns="0" rtlCol="0" anchor="t"/>
          <a:lstStyle/>
          <a:p>
            <a:pPr indent="0" marL="0">
              <a:buNone/>
            </a:pPr>
            <a:r>
              <a:rPr lang="en-US" sz="1100" dirty="0">
                <a:solidFill>
                  <a:srgbClr val="86868B"/>
                </a:solidFill>
                <a:latin typeface="Arial" pitchFamily="34" charset="0"/>
                <a:ea typeface="Arial" pitchFamily="34" charset="-122"/>
                <a:cs typeface="Arial" pitchFamily="34" charset="-120"/>
              </a:rPr>
              <a:t>interpreter + JIT + background AOT when idle and charging</a:t>
            </a:r>
            <a:endParaRPr lang="en-US" sz="1100" dirty="0"/>
          </a:p>
        </p:txBody>
      </p:sp>
      <p:sp>
        <p:nvSpPr>
          <p:cNvPr id="17" name="Shape 15"/>
          <p:cNvSpPr/>
          <p:nvPr/>
        </p:nvSpPr>
        <p:spPr>
          <a:xfrm>
            <a:off x="822960" y="4818888"/>
            <a:ext cx="5120640" cy="0"/>
          </a:xfrm>
          <a:prstGeom prst="line">
            <a:avLst/>
          </a:prstGeom>
          <a:noFill/>
          <a:ln w="9525">
            <a:solidFill>
              <a:srgbClr val="D2D2D7"/>
            </a:solidFill>
            <a:prstDash val="solid"/>
          </a:ln>
        </p:spPr>
      </p:sp>
      <p:sp>
        <p:nvSpPr>
          <p:cNvPr id="18" name="Text 16"/>
          <p:cNvSpPr/>
          <p:nvPr/>
        </p:nvSpPr>
        <p:spPr>
          <a:xfrm>
            <a:off x="822960" y="4946904"/>
            <a:ext cx="2011680" cy="292608"/>
          </a:xfrm>
          <a:prstGeom prst="rect">
            <a:avLst/>
          </a:prstGeom>
          <a:noFill/>
          <a:ln/>
        </p:spPr>
        <p:txBody>
          <a:bodyPr wrap="square" lIns="0" tIns="0" rIns="0" bIns="0" rtlCol="0" anchor="ctr"/>
          <a:lstStyle/>
          <a:p>
            <a:pPr indent="0" marL="0">
              <a:buNone/>
            </a:pPr>
            <a:r>
              <a:rPr lang="en-US" sz="1250" b="1" dirty="0">
                <a:solidFill>
                  <a:srgbClr val="1D1D1F"/>
                </a:solidFill>
                <a:latin typeface="Arial" pitchFamily="34" charset="0"/>
                <a:ea typeface="Arial" pitchFamily="34" charset="-122"/>
                <a:cs typeface="Arial" pitchFamily="34" charset="-120"/>
              </a:rPr>
              <a:t>Baseline profiles</a:t>
            </a:r>
            <a:endParaRPr lang="en-US" sz="1250" dirty="0"/>
          </a:p>
        </p:txBody>
      </p:sp>
      <p:sp>
        <p:nvSpPr>
          <p:cNvPr id="19" name="Text 17"/>
          <p:cNvSpPr/>
          <p:nvPr/>
        </p:nvSpPr>
        <p:spPr>
          <a:xfrm>
            <a:off x="2880360" y="4946904"/>
            <a:ext cx="2651760" cy="292608"/>
          </a:xfrm>
          <a:prstGeom prst="rect">
            <a:avLst/>
          </a:prstGeom>
          <a:noFill/>
          <a:ln/>
        </p:spPr>
        <p:txBody>
          <a:bodyPr wrap="square" lIns="0" tIns="0" rIns="0" bIns="0" rtlCol="0" anchor="ctr"/>
          <a:lstStyle/>
          <a:p>
            <a:pPr indent="0" marL="0">
              <a:buNone/>
            </a:pPr>
            <a:r>
              <a:rPr lang="en-US" sz="1000" dirty="0">
                <a:solidFill>
                  <a:srgbClr val="86868B"/>
                </a:solidFill>
                <a:latin typeface="Courier New" pitchFamily="34" charset="0"/>
                <a:ea typeface="Courier New" pitchFamily="34" charset="-122"/>
                <a:cs typeface="Courier New" pitchFamily="34" charset="-120"/>
              </a:rPr>
              <a:t>Android 9+</a:t>
            </a:r>
            <a:endParaRPr lang="en-US" sz="1000" dirty="0"/>
          </a:p>
        </p:txBody>
      </p:sp>
      <p:sp>
        <p:nvSpPr>
          <p:cNvPr id="20" name="Text 18"/>
          <p:cNvSpPr/>
          <p:nvPr/>
        </p:nvSpPr>
        <p:spPr>
          <a:xfrm>
            <a:off x="822960" y="5239512"/>
            <a:ext cx="5120640" cy="566928"/>
          </a:xfrm>
          <a:prstGeom prst="rect">
            <a:avLst/>
          </a:prstGeom>
          <a:noFill/>
          <a:ln/>
        </p:spPr>
        <p:txBody>
          <a:bodyPr wrap="square" lIns="0" tIns="0" rIns="0" bIns="0" rtlCol="0" anchor="t"/>
          <a:lstStyle/>
          <a:p>
            <a:pPr indent="0" marL="0">
              <a:buNone/>
            </a:pPr>
            <a:r>
              <a:rPr lang="en-US" sz="1100" dirty="0">
                <a:solidFill>
                  <a:srgbClr val="86868B"/>
                </a:solidFill>
                <a:latin typeface="Arial" pitchFamily="34" charset="0"/>
                <a:ea typeface="Arial" pitchFamily="34" charset="-122"/>
                <a:cs typeface="Arial" pitchFamily="34" charset="-120"/>
              </a:rPr>
              <a:t>profiles shipped with the app or aggregated from Play: AOT speed on the first launch</a:t>
            </a:r>
            <a:endParaRPr lang="en-US" sz="1100" dirty="0"/>
          </a:p>
        </p:txBody>
      </p:sp>
      <p:sp>
        <p:nvSpPr>
          <p:cNvPr id="21" name="Text 19"/>
          <p:cNvSpPr/>
          <p:nvPr/>
        </p:nvSpPr>
        <p:spPr>
          <a:xfrm>
            <a:off x="6400800" y="1737360"/>
            <a:ext cx="4965192" cy="320040"/>
          </a:xfrm>
          <a:prstGeom prst="rect">
            <a:avLst/>
          </a:prstGeom>
          <a:noFill/>
          <a:ln/>
        </p:spPr>
        <p:txBody>
          <a:bodyPr wrap="square" lIns="0" tIns="0" rIns="0" bIns="0" rtlCol="0" anchor="ctr"/>
          <a:lstStyle/>
          <a:p>
            <a:pPr indent="0" marL="0">
              <a:buNone/>
            </a:pPr>
            <a:r>
              <a:rPr lang="en-US" sz="1400" b="1" dirty="0">
                <a:solidFill>
                  <a:srgbClr val="1D1D1F"/>
                </a:solidFill>
                <a:latin typeface="Arial" pitchFamily="34" charset="0"/>
                <a:ea typeface="Arial" pitchFamily="34" charset="-122"/>
                <a:cs typeface="Arial" pitchFamily="34" charset="-120"/>
              </a:rPr>
              <a:t>iOS: no choice at all</a:t>
            </a:r>
            <a:endParaRPr lang="en-US" sz="1400" dirty="0"/>
          </a:p>
        </p:txBody>
      </p:sp>
      <p:sp>
        <p:nvSpPr>
          <p:cNvPr id="22" name="Text 20"/>
          <p:cNvSpPr/>
          <p:nvPr/>
        </p:nvSpPr>
        <p:spPr>
          <a:xfrm>
            <a:off x="6400800" y="2148840"/>
            <a:ext cx="4965192" cy="3840480"/>
          </a:xfrm>
          <a:prstGeom prst="rect">
            <a:avLst/>
          </a:prstGeom>
          <a:noFill/>
          <a:ln/>
        </p:spPr>
        <p:txBody>
          <a:bodyPr wrap="square" lIns="0" tIns="0" rIns="0" bIns="0" rtlCol="0" anchor="t"/>
          <a:lstStyle/>
          <a:p>
            <a:pPr indent="0" marL="0">
              <a:spcAft>
                <a:spcPts val="1000"/>
              </a:spcAft>
              <a:buNone/>
            </a:pPr>
            <a:r>
              <a:rPr lang="en-US" sz="1100" b="1" dirty="0">
                <a:solidFill>
                  <a:srgbClr val="1D1D1F"/>
                </a:solidFill>
                <a:latin typeface="Arial" pitchFamily="34" charset="0"/>
                <a:ea typeface="Arial" pitchFamily="34" charset="-122"/>
                <a:cs typeface="Arial" pitchFamily="34" charset="-120"/>
              </a:rPr>
              <a:t>Write XOR execute.</a:t>
            </a:r>
            <a:endParaRPr lang="en-US" sz="1100" dirty="0"/>
          </a:p>
          <a:p>
            <a:pPr indent="0" marL="0">
              <a:spcAft>
                <a:spcPts val="1000"/>
              </a:spcAft>
              <a:buNone/>
            </a:pPr>
            <a:r>
              <a:rPr lang="en-US" sz="1100" dirty="0">
                <a:solidFill>
                  <a:srgbClr val="86868B"/>
                </a:solidFill>
                <a:latin typeface="Arial" pitchFamily="34" charset="0"/>
                <a:ea typeface="Arial" pitchFamily="34" charset="-122"/>
                <a:cs typeface="Arial" pitchFamily="34" charset="-120"/>
              </a:rPr>
              <a:t>A memory page may be writable or executable, never both at once. It is the defense that stops an attacker who can write bytes from also running them.</a:t>
            </a:r>
            <a:endParaRPr lang="en-US" sz="1100" dirty="0"/>
          </a:p>
          <a:p>
            <a:pPr indent="0" marL="0">
              <a:spcAft>
                <a:spcPts val="1000"/>
              </a:spcAft>
              <a:buNone/>
            </a:pPr>
            <a:r>
              <a:rPr lang="en-US" sz="1100" dirty="0">
                <a:solidFill>
                  <a:srgbClr val="86868B"/>
                </a:solidFill>
                <a:latin typeface="Arial" pitchFamily="34" charset="0"/>
                <a:ea typeface="Arial" pitchFamily="34" charset="-122"/>
                <a:cs typeface="Arial" pitchFamily="34" charset="-120"/>
              </a:rPr>
              <a:t>A JIT needs exactly that forbidden combination: write machine code into a page, then jump into it. iOS does not grant third-party apps the entitlement, so every app you ship is AOT-compiled native code. WebKit's JavaScript engine is the privileged exception.</a:t>
            </a:r>
            <a:endParaRPr lang="en-US" sz="1100" dirty="0"/>
          </a:p>
          <a:p>
            <a:pPr indent="0" marL="0">
              <a:spcAft>
                <a:spcPts val="1000"/>
              </a:spcAft>
              <a:buNone/>
            </a:pPr>
            <a:r>
              <a:rPr lang="en-US" sz="1100" dirty="0">
                <a:solidFill>
                  <a:srgbClr val="1D1D1F"/>
                </a:solidFill>
                <a:latin typeface="Arial" pitchFamily="34" charset="0"/>
                <a:ea typeface="Arial" pitchFamily="34" charset="-122"/>
                <a:cs typeface="Arial" pitchFamily="34" charset="-120"/>
              </a:rPr>
              <a:t>Bitcode is gone. Apple deprecated it in Xcode 14 (2022) and no longer accepts bitcode submissions. A build guide that tells you to enable it is four years out of date.</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20</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COMPILATION</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Where cross-platform runtimes stand in 2026</a:t>
            </a:r>
            <a:endParaRPr lang="en-US" sz="3000" dirty="0"/>
          </a:p>
        </p:txBody>
      </p:sp>
      <p:sp>
        <p:nvSpPr>
          <p:cNvPr id="5" name="Text 3"/>
          <p:cNvSpPr/>
          <p:nvPr/>
        </p:nvSpPr>
        <p:spPr>
          <a:xfrm>
            <a:off x="822960" y="1828800"/>
            <a:ext cx="5120640" cy="365760"/>
          </a:xfrm>
          <a:prstGeom prst="rect">
            <a:avLst/>
          </a:prstGeom>
          <a:noFill/>
          <a:ln/>
        </p:spPr>
        <p:txBody>
          <a:bodyPr wrap="square" lIns="0" tIns="0" rIns="0" bIns="0" rtlCol="0" anchor="ctr"/>
          <a:lstStyle/>
          <a:p>
            <a:pPr indent="0" marL="0">
              <a:buNone/>
            </a:pPr>
            <a:r>
              <a:rPr lang="en-US" sz="1500" b="1" dirty="0">
                <a:solidFill>
                  <a:srgbClr val="1D1D1F"/>
                </a:solidFill>
                <a:latin typeface="Arial" pitchFamily="34" charset="0"/>
                <a:ea typeface="Arial" pitchFamily="34" charset="-122"/>
                <a:cs typeface="Arial" pitchFamily="34" charset="-120"/>
              </a:rPr>
              <a:t>Flutter</a:t>
            </a:r>
            <a:endParaRPr lang="en-US" sz="1500" dirty="0"/>
          </a:p>
        </p:txBody>
      </p:sp>
      <p:sp>
        <p:nvSpPr>
          <p:cNvPr id="6" name="Text 4"/>
          <p:cNvSpPr/>
          <p:nvPr/>
        </p:nvSpPr>
        <p:spPr>
          <a:xfrm>
            <a:off x="822960" y="2286000"/>
            <a:ext cx="5120640" cy="2560320"/>
          </a:xfrm>
          <a:prstGeom prst="rect">
            <a:avLst/>
          </a:prstGeom>
          <a:noFill/>
          <a:ln/>
        </p:spPr>
        <p:txBody>
          <a:bodyPr wrap="square" lIns="0" tIns="0" rIns="0" bIns="0" rtlCol="0" anchor="t"/>
          <a:lstStyle/>
          <a:p>
            <a:pPr indent="0" marL="0">
              <a:spcAft>
                <a:spcPts val="1200"/>
              </a:spcAft>
              <a:buNone/>
            </a:pPr>
            <a:r>
              <a:rPr lang="en-US" sz="1250" dirty="0">
                <a:solidFill>
                  <a:srgbClr val="86868B"/>
                </a:solidFill>
                <a:latin typeface="Arial" pitchFamily="34" charset="0"/>
                <a:ea typeface="Arial" pitchFamily="34" charset="-122"/>
                <a:cs typeface="Arial" pitchFamily="34" charset="-120"/>
              </a:rPr>
              <a:t>Dart AOT-compiles to native ARM for release, so there is no interpreter in production.</a:t>
            </a:r>
            <a:endParaRPr lang="en-US" sz="1250" dirty="0"/>
          </a:p>
          <a:p>
            <a:pPr indent="0" marL="0">
              <a:spcAft>
                <a:spcPts val="1200"/>
              </a:spcAft>
              <a:buNone/>
            </a:pPr>
            <a:r>
              <a:rPr lang="en-US" sz="1250" dirty="0">
                <a:solidFill>
                  <a:srgbClr val="86868B"/>
                </a:solidFill>
                <a:latin typeface="Arial" pitchFamily="34" charset="0"/>
                <a:ea typeface="Arial" pitchFamily="34" charset="-122"/>
                <a:cs typeface="Arial" pitchFamily="34" charset="-120"/>
              </a:rPr>
              <a:t>Impeller's shaders are compiled at build time too, so the GPU work is decided before you ship.</a:t>
            </a:r>
            <a:endParaRPr lang="en-US" sz="1250" dirty="0"/>
          </a:p>
          <a:p>
            <a:pPr indent="0" marL="0">
              <a:spcAft>
                <a:spcPts val="1200"/>
              </a:spcAft>
              <a:buNone/>
            </a:pPr>
            <a:r>
              <a:rPr lang="en-US" sz="1250" dirty="0">
                <a:solidFill>
                  <a:srgbClr val="86868B"/>
                </a:solidFill>
                <a:latin typeface="Arial" pitchFamily="34" charset="0"/>
                <a:ea typeface="Arial" pitchFamily="34" charset="-122"/>
                <a:cs typeface="Arial" pitchFamily="34" charset="-120"/>
              </a:rPr>
              <a:t>Debug keeps the JIT, which is what hot reload is.</a:t>
            </a:r>
            <a:endParaRPr lang="en-US" sz="1250" dirty="0"/>
          </a:p>
          <a:p>
            <a:pPr indent="0" marL="0">
              <a:spcAft>
                <a:spcPts val="1200"/>
              </a:spcAft>
              <a:buNone/>
            </a:pPr>
            <a:r>
              <a:rPr lang="en-US" sz="1250" dirty="0">
                <a:solidFill>
                  <a:srgbClr val="86868B"/>
                </a:solidFill>
                <a:latin typeface="Arial" pitchFamily="34" charset="0"/>
                <a:ea typeface="Arial" pitchFamily="34" charset="-122"/>
                <a:cs typeface="Arial" pitchFamily="34" charset="-120"/>
              </a:rPr>
              <a:t>One pipeline: what you measured in profile mode is what ships.</a:t>
            </a:r>
            <a:endParaRPr lang="en-US" sz="1250" dirty="0"/>
          </a:p>
        </p:txBody>
      </p:sp>
      <p:sp>
        <p:nvSpPr>
          <p:cNvPr id="7" name="Text 5"/>
          <p:cNvSpPr/>
          <p:nvPr/>
        </p:nvSpPr>
        <p:spPr>
          <a:xfrm>
            <a:off x="6400800" y="1828800"/>
            <a:ext cx="4965192" cy="365760"/>
          </a:xfrm>
          <a:prstGeom prst="rect">
            <a:avLst/>
          </a:prstGeom>
          <a:noFill/>
          <a:ln/>
        </p:spPr>
        <p:txBody>
          <a:bodyPr wrap="square" lIns="0" tIns="0" rIns="0" bIns="0" rtlCol="0" anchor="ctr"/>
          <a:lstStyle/>
          <a:p>
            <a:pPr indent="0" marL="0">
              <a:buNone/>
            </a:pPr>
            <a:r>
              <a:rPr lang="en-US" sz="1500" b="1" dirty="0">
                <a:solidFill>
                  <a:srgbClr val="1D1D1F"/>
                </a:solidFill>
                <a:latin typeface="Arial" pitchFamily="34" charset="0"/>
                <a:ea typeface="Arial" pitchFamily="34" charset="-122"/>
                <a:cs typeface="Arial" pitchFamily="34" charset="-120"/>
              </a:rPr>
              <a:t>React Native</a:t>
            </a:r>
            <a:endParaRPr lang="en-US" sz="1500" dirty="0"/>
          </a:p>
        </p:txBody>
      </p:sp>
      <p:sp>
        <p:nvSpPr>
          <p:cNvPr id="8" name="Text 6"/>
          <p:cNvSpPr/>
          <p:nvPr/>
        </p:nvSpPr>
        <p:spPr>
          <a:xfrm>
            <a:off x="6400800" y="2286000"/>
            <a:ext cx="4965192" cy="2560320"/>
          </a:xfrm>
          <a:prstGeom prst="rect">
            <a:avLst/>
          </a:prstGeom>
          <a:noFill/>
          <a:ln/>
        </p:spPr>
        <p:txBody>
          <a:bodyPr wrap="square" lIns="0" tIns="0" rIns="0" bIns="0" rtlCol="0" anchor="t"/>
          <a:lstStyle/>
          <a:p>
            <a:pPr indent="0" marL="0">
              <a:spcAft>
                <a:spcPts val="1200"/>
              </a:spcAft>
              <a:buNone/>
            </a:pPr>
            <a:r>
              <a:rPr lang="en-US" sz="1250" dirty="0">
                <a:solidFill>
                  <a:srgbClr val="86868B"/>
                </a:solidFill>
                <a:latin typeface="Arial" pitchFamily="34" charset="0"/>
                <a:ea typeface="Arial" pitchFamily="34" charset="-122"/>
                <a:cs typeface="Arial" pitchFamily="34" charset="-120"/>
              </a:rPr>
              <a:t>Hermes precompiles JavaScript to bytecode at build time, cutting the parse cost at launch.</a:t>
            </a:r>
            <a:endParaRPr lang="en-US" sz="1250" dirty="0"/>
          </a:p>
          <a:p>
            <a:pPr indent="0" marL="0">
              <a:spcAft>
                <a:spcPts val="1200"/>
              </a:spcAft>
              <a:buNone/>
            </a:pPr>
            <a:r>
              <a:rPr lang="en-US" sz="1250" dirty="0">
                <a:solidFill>
                  <a:srgbClr val="1D1D1F"/>
                </a:solidFill>
                <a:latin typeface="Arial" pitchFamily="34" charset="0"/>
                <a:ea typeface="Arial" pitchFamily="34" charset="-122"/>
                <a:cs typeface="Arial" pitchFamily="34" charset="-120"/>
              </a:rPr>
              <a:t>The new architecture (JSI + Fabric, bridgeless) has been the default since RN 0.76 (Oct 2024).</a:t>
            </a:r>
            <a:endParaRPr lang="en-US" sz="1250" dirty="0"/>
          </a:p>
          <a:p>
            <a:pPr indent="0" marL="0">
              <a:spcAft>
                <a:spcPts val="1200"/>
              </a:spcAft>
              <a:buNone/>
            </a:pPr>
            <a:r>
              <a:rPr lang="en-US" sz="1250" dirty="0">
                <a:solidFill>
                  <a:srgbClr val="86868B"/>
                </a:solidFill>
                <a:latin typeface="Arial" pitchFamily="34" charset="0"/>
                <a:ea typeface="Arial" pitchFamily="34" charset="-122"/>
                <a:cs typeface="Arial" pitchFamily="34" charset="-120"/>
              </a:rPr>
              <a:t>The old serialized-JSON bridge is gone; JavaScript calls C++ directly.</a:t>
            </a:r>
            <a:endParaRPr lang="en-US" sz="1250" dirty="0"/>
          </a:p>
          <a:p>
            <a:pPr indent="0" marL="0">
              <a:spcAft>
                <a:spcPts val="1200"/>
              </a:spcAft>
              <a:buNone/>
            </a:pPr>
            <a:r>
              <a:rPr lang="en-US" sz="1250" dirty="0">
                <a:solidFill>
                  <a:srgbClr val="86868B"/>
                </a:solidFill>
                <a:latin typeface="Arial" pitchFamily="34" charset="0"/>
                <a:ea typeface="Arial" pitchFamily="34" charset="-122"/>
                <a:cs typeface="Arial" pitchFamily="34" charset="-120"/>
              </a:rPr>
              <a:t>JS still runs on an engine, so the boundary is cheap now, but not free.</a:t>
            </a:r>
            <a:endParaRPr lang="en-US" sz="1250" dirty="0"/>
          </a:p>
        </p:txBody>
      </p:sp>
      <p:sp>
        <p:nvSpPr>
          <p:cNvPr id="9" name="Shape 7"/>
          <p:cNvSpPr/>
          <p:nvPr/>
        </p:nvSpPr>
        <p:spPr>
          <a:xfrm>
            <a:off x="822960" y="4892040"/>
            <a:ext cx="10543032" cy="0"/>
          </a:xfrm>
          <a:prstGeom prst="line">
            <a:avLst/>
          </a:prstGeom>
          <a:noFill/>
          <a:ln w="9525">
            <a:solidFill>
              <a:srgbClr val="D2D2D7"/>
            </a:solidFill>
            <a:prstDash val="solid"/>
          </a:ln>
        </p:spPr>
      </p:sp>
      <p:sp>
        <p:nvSpPr>
          <p:cNvPr id="10" name="Text 8"/>
          <p:cNvSpPr/>
          <p:nvPr/>
        </p:nvSpPr>
        <p:spPr>
          <a:xfrm>
            <a:off x="822960" y="5120640"/>
            <a:ext cx="10543032" cy="1097280"/>
          </a:xfrm>
          <a:prstGeom prst="rect">
            <a:avLst/>
          </a:prstGeom>
          <a:noFill/>
          <a:ln/>
        </p:spPr>
        <p:txBody>
          <a:bodyPr wrap="square" lIns="0" tIns="0" rIns="0" bIns="0" rtlCol="0" anchor="t"/>
          <a:lstStyle/>
          <a:p>
            <a:pPr indent="0" marL="0">
              <a:spcAft>
                <a:spcPts val="700"/>
              </a:spcAft>
              <a:buNone/>
            </a:pPr>
            <a:r>
              <a:rPr lang="en-US" sz="1250" b="1" dirty="0">
                <a:solidFill>
                  <a:srgbClr val="1D1D1F"/>
                </a:solidFill>
                <a:latin typeface="Arial" pitchFamily="34" charset="0"/>
                <a:ea typeface="Arial" pitchFamily="34" charset="-122"/>
                <a:cs typeface="Arial" pitchFamily="34" charset="-120"/>
              </a:rPr>
              <a:t>Both ecosystems moved the same work from runtime to build time.</a:t>
            </a:r>
            <a:endParaRPr lang="en-US" sz="1250" dirty="0"/>
          </a:p>
          <a:p>
            <a:pPr indent="0" marL="0">
              <a:spcAft>
                <a:spcPts val="700"/>
              </a:spcAft>
              <a:buNone/>
            </a:pPr>
            <a:r>
              <a:rPr lang="en-US" sz="1250" dirty="0">
                <a:solidFill>
                  <a:srgbClr val="1D1D1F"/>
                </a:solidFill>
                <a:latin typeface="Arial" pitchFamily="34" charset="0"/>
                <a:ea typeface="Arial" pitchFamily="34" charset="-122"/>
                <a:cs typeface="Arial" pitchFamily="34" charset="-120"/>
              </a:rPr>
              <a:t>That is the actual trend: not “JIT versus AOT”, but how much can be decided before the user's battery is involved. → Lecture 1 compared these two architectures; this is the compilation half of that story.</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731520" y="2514600"/>
            <a:ext cx="10725912" cy="320040"/>
          </a:xfrm>
          <a:prstGeom prst="rect">
            <a:avLst/>
          </a:prstGeom>
          <a:noFill/>
          <a:ln/>
        </p:spPr>
        <p:txBody>
          <a:bodyPr wrap="square" lIns="0" tIns="0" rIns="0" bIns="0" rtlCol="0" anchor="ctr"/>
          <a:lstStyle/>
          <a:p>
            <a:pPr algn="ctr" indent="0" marL="0">
              <a:buNone/>
            </a:pPr>
            <a:r>
              <a:rPr lang="en-US" sz="1200" spc="400" kern="0" dirty="0">
                <a:solidFill>
                  <a:srgbClr val="6E6E73"/>
                </a:solidFill>
                <a:latin typeface="Arial" pitchFamily="34" charset="0"/>
                <a:ea typeface="Arial" pitchFamily="34" charset="-122"/>
                <a:cs typeface="Arial" pitchFamily="34" charset="-120"/>
              </a:rPr>
              <a:t>PART 3 · ENERGY</a:t>
            </a:r>
            <a:endParaRPr lang="en-US" sz="1200" dirty="0"/>
          </a:p>
        </p:txBody>
      </p:sp>
      <p:sp>
        <p:nvSpPr>
          <p:cNvPr id="3" name="Text 1"/>
          <p:cNvSpPr/>
          <p:nvPr/>
        </p:nvSpPr>
        <p:spPr>
          <a:xfrm>
            <a:off x="731520" y="2926080"/>
            <a:ext cx="10725912" cy="777240"/>
          </a:xfrm>
          <a:prstGeom prst="rect">
            <a:avLst/>
          </a:prstGeom>
          <a:noFill/>
          <a:ln/>
        </p:spPr>
        <p:txBody>
          <a:bodyPr wrap="square" lIns="0" tIns="0" rIns="0" bIns="0" rtlCol="0" anchor="ctr"/>
          <a:lstStyle/>
          <a:p>
            <a:pPr algn="ctr" indent="0" marL="0">
              <a:buNone/>
            </a:pPr>
            <a:r>
              <a:rPr lang="en-US" sz="3600" b="1" dirty="0">
                <a:solidFill>
                  <a:srgbClr val="FFFFFF"/>
                </a:solidFill>
                <a:latin typeface="Arial" pitchFamily="34" charset="0"/>
                <a:ea typeface="Arial" pitchFamily="34" charset="-122"/>
                <a:cs typeface="Arial" pitchFamily="34" charset="-120"/>
              </a:rPr>
              <a:t>Battery as a design constraint</a:t>
            </a:r>
            <a:endParaRPr lang="en-US" sz="3600" dirty="0"/>
          </a:p>
        </p:txBody>
      </p:sp>
      <p:sp>
        <p:nvSpPr>
          <p:cNvPr id="4" name="Text 2"/>
          <p:cNvSpPr/>
          <p:nvPr/>
        </p:nvSpPr>
        <p:spPr>
          <a:xfrm>
            <a:off x="731520" y="3794760"/>
            <a:ext cx="10725912" cy="411480"/>
          </a:xfrm>
          <a:prstGeom prst="rect">
            <a:avLst/>
          </a:prstGeom>
          <a:noFill/>
          <a:ln/>
        </p:spPr>
        <p:txBody>
          <a:bodyPr wrap="square" lIns="0" tIns="0" rIns="0" bIns="0" rtlCol="0" anchor="ctr"/>
          <a:lstStyle/>
          <a:p>
            <a:pPr algn="ctr" indent="0" marL="0">
              <a:buNone/>
            </a:pPr>
            <a:r>
              <a:rPr lang="en-US" sz="1500" dirty="0">
                <a:solidFill>
                  <a:srgbClr val="A1A1A6"/>
                </a:solidFill>
                <a:latin typeface="Arial" pitchFamily="34" charset="0"/>
                <a:ea typeface="Arial" pitchFamily="34" charset="-122"/>
                <a:cs typeface="Arial" pitchFamily="34" charset="-120"/>
              </a:rPr>
              <a:t>Screen, silicon and radio, and which one dominates the drain</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22</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ENERGY</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Where the milliamp-hours actually go</a:t>
            </a:r>
            <a:endParaRPr lang="en-US" sz="3000" dirty="0"/>
          </a:p>
        </p:txBody>
      </p:sp>
      <p:pic>
        <p:nvPicPr>
          <p:cNvPr id="5" name="Image 0" descr="/Users/dinu/dev/upb/mobile-and-embedded-computing/slides/assets/icons2/monitor-ink.png">    </p:cNvPr>
          <p:cNvPicPr>
            <a:picLocks noChangeAspect="1"/>
          </p:cNvPicPr>
          <p:nvPr/>
        </p:nvPicPr>
        <p:blipFill>
          <a:blip r:embed="rId1"/>
          <a:stretch>
            <a:fillRect/>
          </a:stretch>
        </p:blipFill>
        <p:spPr>
          <a:xfrm>
            <a:off x="822960" y="1874520"/>
            <a:ext cx="384048" cy="384048"/>
          </a:xfrm>
          <a:prstGeom prst="rect">
            <a:avLst/>
          </a:prstGeom>
        </p:spPr>
      </p:pic>
      <p:sp>
        <p:nvSpPr>
          <p:cNvPr id="6" name="Text 3"/>
          <p:cNvSpPr/>
          <p:nvPr/>
        </p:nvSpPr>
        <p:spPr>
          <a:xfrm>
            <a:off x="822960" y="2404872"/>
            <a:ext cx="3383280" cy="457200"/>
          </a:xfrm>
          <a:prstGeom prst="rect">
            <a:avLst/>
          </a:prstGeom>
          <a:noFill/>
          <a:ln/>
        </p:spPr>
        <p:txBody>
          <a:bodyPr wrap="square" lIns="0" tIns="0" rIns="0" bIns="0" rtlCol="0" anchor="ctr"/>
          <a:lstStyle/>
          <a:p>
            <a:pPr indent="0" marL="0">
              <a:buNone/>
            </a:pPr>
            <a:r>
              <a:rPr lang="en-US" sz="1450" b="1" dirty="0">
                <a:solidFill>
                  <a:srgbClr val="1D1D1F"/>
                </a:solidFill>
                <a:latin typeface="Arial" pitchFamily="34" charset="0"/>
                <a:ea typeface="Arial" pitchFamily="34" charset="-122"/>
                <a:cs typeface="Arial" pitchFamily="34" charset="-120"/>
              </a:rPr>
              <a:t>The screen</a:t>
            </a:r>
            <a:endParaRPr lang="en-US" sz="1450" dirty="0"/>
          </a:p>
        </p:txBody>
      </p:sp>
      <p:sp>
        <p:nvSpPr>
          <p:cNvPr id="7" name="Text 4"/>
          <p:cNvSpPr/>
          <p:nvPr/>
        </p:nvSpPr>
        <p:spPr>
          <a:xfrm>
            <a:off x="822960" y="2862072"/>
            <a:ext cx="3383280" cy="822960"/>
          </a:xfrm>
          <a:prstGeom prst="rect">
            <a:avLst/>
          </a:prstGeom>
          <a:noFill/>
          <a:ln/>
        </p:spPr>
        <p:txBody>
          <a:bodyPr wrap="square" lIns="0" tIns="0" rIns="0" bIns="0" rtlCol="0" anchor="ctr"/>
          <a:lstStyle/>
          <a:p>
            <a:pPr indent="0" marL="0">
              <a:buNone/>
            </a:pPr>
            <a:r>
              <a:rPr lang="en-US" sz="1150" dirty="0">
                <a:solidFill>
                  <a:srgbClr val="86868B"/>
                </a:solidFill>
                <a:latin typeface="Arial" pitchFamily="34" charset="0"/>
                <a:ea typeface="Arial" pitchFamily="34" charset="-122"/>
                <a:cs typeface="Arial" pitchFamily="34" charset="-120"/>
              </a:rPr>
              <a:t>On OLED a black pixel is an unlit pixel, so dark mode is a genuine saving. On LCD the backlight is on regardless and dark mode saves you nothing, so know which panel you are drawing on.</a:t>
            </a:r>
            <a:endParaRPr lang="en-US" sz="1150" dirty="0"/>
          </a:p>
        </p:txBody>
      </p:sp>
      <p:pic>
        <p:nvPicPr>
          <p:cNvPr id="8" name="Image 1" descr="/Users/dinu/dev/upb/mobile-and-embedded-computing/slides/assets/icons2/cpu-ink.png">    </p:cNvPr>
          <p:cNvPicPr>
            <a:picLocks noChangeAspect="1"/>
          </p:cNvPicPr>
          <p:nvPr/>
        </p:nvPicPr>
        <p:blipFill>
          <a:blip r:embed="rId2"/>
          <a:stretch>
            <a:fillRect/>
          </a:stretch>
        </p:blipFill>
        <p:spPr>
          <a:xfrm>
            <a:off x="4663440" y="1874520"/>
            <a:ext cx="384048" cy="384048"/>
          </a:xfrm>
          <a:prstGeom prst="rect">
            <a:avLst/>
          </a:prstGeom>
        </p:spPr>
      </p:pic>
      <p:sp>
        <p:nvSpPr>
          <p:cNvPr id="9" name="Text 5"/>
          <p:cNvSpPr/>
          <p:nvPr/>
        </p:nvSpPr>
        <p:spPr>
          <a:xfrm>
            <a:off x="4663440" y="2404872"/>
            <a:ext cx="3383280" cy="457200"/>
          </a:xfrm>
          <a:prstGeom prst="rect">
            <a:avLst/>
          </a:prstGeom>
          <a:noFill/>
          <a:ln/>
        </p:spPr>
        <p:txBody>
          <a:bodyPr wrap="square" lIns="0" tIns="0" rIns="0" bIns="0" rtlCol="0" anchor="ctr"/>
          <a:lstStyle/>
          <a:p>
            <a:pPr indent="0" marL="0">
              <a:buNone/>
            </a:pPr>
            <a:r>
              <a:rPr lang="en-US" sz="1450" b="1" dirty="0">
                <a:solidFill>
                  <a:srgbClr val="1D1D1F"/>
                </a:solidFill>
                <a:latin typeface="Arial" pitchFamily="34" charset="0"/>
                <a:ea typeface="Arial" pitchFamily="34" charset="-122"/>
                <a:cs typeface="Arial" pitchFamily="34" charset="-120"/>
              </a:rPr>
              <a:t>CPU and GPU</a:t>
            </a:r>
            <a:endParaRPr lang="en-US" sz="1450" dirty="0"/>
          </a:p>
        </p:txBody>
      </p:sp>
      <p:sp>
        <p:nvSpPr>
          <p:cNvPr id="10" name="Text 6"/>
          <p:cNvSpPr/>
          <p:nvPr/>
        </p:nvSpPr>
        <p:spPr>
          <a:xfrm>
            <a:off x="4663440" y="2862072"/>
            <a:ext cx="3383280" cy="822960"/>
          </a:xfrm>
          <a:prstGeom prst="rect">
            <a:avLst/>
          </a:prstGeom>
          <a:noFill/>
          <a:ln/>
        </p:spPr>
        <p:txBody>
          <a:bodyPr wrap="square" lIns="0" tIns="0" rIns="0" bIns="0" rtlCol="0" anchor="ctr"/>
          <a:lstStyle/>
          <a:p>
            <a:pPr indent="0" marL="0">
              <a:buNone/>
            </a:pPr>
            <a:r>
              <a:rPr lang="en-US" sz="1150" dirty="0">
                <a:solidFill>
                  <a:srgbClr val="86868B"/>
                </a:solidFill>
                <a:latin typeface="Arial" pitchFamily="34" charset="0"/>
                <a:ea typeface="Arial" pitchFamily="34" charset="-122"/>
                <a:cs typeface="Arial" pitchFamily="34" charset="-120"/>
              </a:rPr>
              <a:t>Inefficient code raises load, load raises temperature, and the OS throttles the SoC to cool it. Your energy problem returns a few seconds later as a speed problem.</a:t>
            </a:r>
            <a:endParaRPr lang="en-US" sz="1150" dirty="0"/>
          </a:p>
        </p:txBody>
      </p:sp>
      <p:pic>
        <p:nvPicPr>
          <p:cNvPr id="11" name="Image 2" descr="/Users/dinu/dev/upb/mobile-and-embedded-computing/slides/assets/icons2/radiotower-ink.png">    </p:cNvPr>
          <p:cNvPicPr>
            <a:picLocks noChangeAspect="1"/>
          </p:cNvPicPr>
          <p:nvPr/>
        </p:nvPicPr>
        <p:blipFill>
          <a:blip r:embed="rId3"/>
          <a:stretch>
            <a:fillRect/>
          </a:stretch>
        </p:blipFill>
        <p:spPr>
          <a:xfrm>
            <a:off x="8503920" y="1874520"/>
            <a:ext cx="384048" cy="384048"/>
          </a:xfrm>
          <a:prstGeom prst="rect">
            <a:avLst/>
          </a:prstGeom>
        </p:spPr>
      </p:pic>
      <p:sp>
        <p:nvSpPr>
          <p:cNvPr id="12" name="Text 7"/>
          <p:cNvSpPr/>
          <p:nvPr/>
        </p:nvSpPr>
        <p:spPr>
          <a:xfrm>
            <a:off x="8503920" y="2404872"/>
            <a:ext cx="3383280" cy="457200"/>
          </a:xfrm>
          <a:prstGeom prst="rect">
            <a:avLst/>
          </a:prstGeom>
          <a:noFill/>
          <a:ln/>
        </p:spPr>
        <p:txBody>
          <a:bodyPr wrap="square" lIns="0" tIns="0" rIns="0" bIns="0" rtlCol="0" anchor="ctr"/>
          <a:lstStyle/>
          <a:p>
            <a:pPr indent="0" marL="0">
              <a:buNone/>
            </a:pPr>
            <a:r>
              <a:rPr lang="en-US" sz="1450" b="1" dirty="0">
                <a:solidFill>
                  <a:srgbClr val="1D1D1F"/>
                </a:solidFill>
                <a:latin typeface="Arial" pitchFamily="34" charset="0"/>
                <a:ea typeface="Arial" pitchFamily="34" charset="-122"/>
                <a:cs typeface="Arial" pitchFamily="34" charset="-120"/>
              </a:rPr>
              <a:t>The radio</a:t>
            </a:r>
            <a:endParaRPr lang="en-US" sz="1450" dirty="0"/>
          </a:p>
        </p:txBody>
      </p:sp>
      <p:sp>
        <p:nvSpPr>
          <p:cNvPr id="13" name="Text 8"/>
          <p:cNvSpPr/>
          <p:nvPr/>
        </p:nvSpPr>
        <p:spPr>
          <a:xfrm>
            <a:off x="8503920" y="2862072"/>
            <a:ext cx="3383280" cy="822960"/>
          </a:xfrm>
          <a:prstGeom prst="rect">
            <a:avLst/>
          </a:prstGeom>
          <a:noFill/>
          <a:ln/>
        </p:spPr>
        <p:txBody>
          <a:bodyPr wrap="square" lIns="0" tIns="0" rIns="0" bIns="0" rtlCol="0" anchor="ctr"/>
          <a:lstStyle/>
          <a:p>
            <a:pPr indent="0" marL="0">
              <a:buNone/>
            </a:pPr>
            <a:r>
              <a:rPr lang="en-US" sz="1150" dirty="0">
                <a:solidFill>
                  <a:srgbClr val="86868B"/>
                </a:solidFill>
                <a:latin typeface="Arial" pitchFamily="34" charset="0"/>
                <a:ea typeface="Arial" pitchFamily="34" charset="-122"/>
                <a:cs typeface="Arial" pitchFamily="34" charset="-120"/>
              </a:rPr>
              <a:t>The most expensive component per byte, and the one that keeps drawing power after your request has finished.</a:t>
            </a:r>
            <a:endParaRPr lang="en-US" sz="1150" dirty="0"/>
          </a:p>
        </p:txBody>
      </p:sp>
      <p:sp>
        <p:nvSpPr>
          <p:cNvPr id="14" name="Shape 9"/>
          <p:cNvSpPr/>
          <p:nvPr/>
        </p:nvSpPr>
        <p:spPr>
          <a:xfrm>
            <a:off x="822960" y="4389120"/>
            <a:ext cx="10543032" cy="0"/>
          </a:xfrm>
          <a:prstGeom prst="line">
            <a:avLst/>
          </a:prstGeom>
          <a:noFill/>
          <a:ln w="9525">
            <a:solidFill>
              <a:srgbClr val="D2D2D7"/>
            </a:solidFill>
            <a:prstDash val="solid"/>
          </a:ln>
        </p:spPr>
      </p:sp>
      <p:sp>
        <p:nvSpPr>
          <p:cNvPr id="15" name="Text 10"/>
          <p:cNvSpPr/>
          <p:nvPr/>
        </p:nvSpPr>
        <p:spPr>
          <a:xfrm>
            <a:off x="822960" y="4617720"/>
            <a:ext cx="10543032" cy="1280160"/>
          </a:xfrm>
          <a:prstGeom prst="rect">
            <a:avLst/>
          </a:prstGeom>
          <a:noFill/>
          <a:ln/>
        </p:spPr>
        <p:txBody>
          <a:bodyPr wrap="square" lIns="0" tIns="0" rIns="0" bIns="0" rtlCol="0" anchor="t"/>
          <a:lstStyle/>
          <a:p>
            <a:pPr indent="0" marL="0">
              <a:spcAft>
                <a:spcPts val="800"/>
              </a:spcAft>
              <a:buNone/>
            </a:pPr>
            <a:r>
              <a:rPr lang="en-US" sz="1300" b="1" dirty="0">
                <a:solidFill>
                  <a:srgbClr val="1D1D1F"/>
                </a:solidFill>
                <a:latin typeface="Arial" pitchFamily="34" charset="0"/>
                <a:ea typeface="Arial" pitchFamily="34" charset="-122"/>
                <a:cs typeface="Arial" pitchFamily="34" charset="-120"/>
              </a:rPr>
              <a:t>Race to idle.</a:t>
            </a:r>
            <a:endParaRPr lang="en-US" sz="1300" dirty="0"/>
          </a:p>
          <a:p>
            <a:pPr indent="0" marL="0">
              <a:spcAft>
                <a:spcPts val="800"/>
              </a:spcAft>
              <a:buNone/>
            </a:pPr>
            <a:r>
              <a:rPr lang="en-US" sz="1300" dirty="0">
                <a:solidFill>
                  <a:srgbClr val="1D1D1F"/>
                </a:solidFill>
                <a:latin typeface="Arial" pitchFamily="34" charset="0"/>
                <a:ea typeface="Arial" pitchFamily="34" charset="-122"/>
                <a:cs typeface="Arial" pitchFamily="34" charset="-120"/>
              </a:rPr>
              <a:t>Modern SoCs are most efficient when they finish a task quickly and go back to sleep. Anything that keeps a core awake, such as a busy animation, a poll loop or a runtime compiler warming up, costs more than the work it performs.</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23</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ENERGY</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The radio tail: why chatty apps drain batteries</a:t>
            </a:r>
            <a:endParaRPr lang="en-US" sz="3000" dirty="0"/>
          </a:p>
        </p:txBody>
      </p:sp>
      <p:sp>
        <p:nvSpPr>
          <p:cNvPr id="5" name="Text 3"/>
          <p:cNvSpPr/>
          <p:nvPr/>
        </p:nvSpPr>
        <p:spPr>
          <a:xfrm>
            <a:off x="822960" y="1737360"/>
            <a:ext cx="6126480" cy="2743200"/>
          </a:xfrm>
          <a:prstGeom prst="rect">
            <a:avLst/>
          </a:prstGeom>
          <a:noFill/>
          <a:ln/>
        </p:spPr>
        <p:txBody>
          <a:bodyPr wrap="square" lIns="0" tIns="0" rIns="0" bIns="0" rtlCol="0" anchor="t"/>
          <a:lstStyle/>
          <a:p>
            <a:pPr indent="0" marL="0">
              <a:spcAft>
                <a:spcPts val="1200"/>
              </a:spcAft>
              <a:buNone/>
            </a:pPr>
            <a:r>
              <a:rPr lang="en-US" sz="1300" dirty="0">
                <a:solidFill>
                  <a:srgbClr val="1D1D1F"/>
                </a:solidFill>
                <a:latin typeface="Arial" pitchFamily="34" charset="0"/>
                <a:ea typeface="Arial" pitchFamily="34" charset="-122"/>
                <a:cs typeface="Arial" pitchFamily="34" charset="-120"/>
              </a:rPr>
              <a:t>A cellular radio does not switch off when your response arrives. It stays in a high-power connected state for several seconds first, in case more data is coming. The network decides this, not you.</a:t>
            </a:r>
            <a:endParaRPr lang="en-US" sz="1300" dirty="0"/>
          </a:p>
          <a:p>
            <a:pPr indent="0" marL="0">
              <a:spcAft>
                <a:spcPts val="1200"/>
              </a:spcAft>
              <a:buNone/>
            </a:pPr>
            <a:r>
              <a:rPr lang="en-US" sz="1300" b="1" dirty="0">
                <a:solidFill>
                  <a:srgbClr val="1D1D1F"/>
                </a:solidFill>
                <a:latin typeface="Arial" pitchFamily="34" charset="0"/>
                <a:ea typeface="Arial" pitchFamily="34" charset="-122"/>
                <a:cs typeface="Arial" pitchFamily="34" charset="-120"/>
              </a:rPr>
              <a:t>So a request that transfers 200 bytes can keep the radio awake for seconds.</a:t>
            </a:r>
            <a:endParaRPr lang="en-US" sz="1300" dirty="0"/>
          </a:p>
          <a:p>
            <a:pPr indent="0" marL="0">
              <a:spcAft>
                <a:spcPts val="1200"/>
              </a:spcAft>
              <a:buNone/>
            </a:pPr>
            <a:r>
              <a:rPr lang="en-US" sz="1300" dirty="0">
                <a:solidFill>
                  <a:srgbClr val="1D1D1F"/>
                </a:solidFill>
                <a:latin typeface="Arial" pitchFamily="34" charset="0"/>
                <a:ea typeface="Arial" pitchFamily="34" charset="-122"/>
                <a:cs typeface="Arial" pitchFamily="34" charset="-120"/>
              </a:rPr>
              <a:t>An app that sends one small packet every few seconds never lets the radio step down at all. It pays the tail continuously and shows up in the battery screen next to apps doing a hundred times the work.</a:t>
            </a:r>
            <a:endParaRPr lang="en-US" sz="1300" dirty="0"/>
          </a:p>
        </p:txBody>
      </p:sp>
      <p:sp>
        <p:nvSpPr>
          <p:cNvPr id="6" name="Text 4"/>
          <p:cNvSpPr/>
          <p:nvPr/>
        </p:nvSpPr>
        <p:spPr>
          <a:xfrm>
            <a:off x="7406640" y="1755648"/>
            <a:ext cx="3959352" cy="320040"/>
          </a:xfrm>
          <a:prstGeom prst="rect">
            <a:avLst/>
          </a:prstGeom>
          <a:noFill/>
          <a:ln/>
        </p:spPr>
        <p:txBody>
          <a:bodyPr wrap="square" lIns="0" tIns="0" rIns="0" bIns="0" rtlCol="0" anchor="ctr"/>
          <a:lstStyle/>
          <a:p>
            <a:pPr indent="0" marL="0">
              <a:buNone/>
            </a:pPr>
            <a:r>
              <a:rPr lang="en-US" sz="1400" b="1" dirty="0">
                <a:solidFill>
                  <a:srgbClr val="1D1D1F"/>
                </a:solidFill>
                <a:latin typeface="Arial" pitchFamily="34" charset="0"/>
                <a:ea typeface="Arial" pitchFamily="34" charset="-122"/>
                <a:cs typeface="Arial" pitchFamily="34" charset="-120"/>
              </a:rPr>
              <a:t>What to do about it</a:t>
            </a:r>
            <a:endParaRPr lang="en-US" sz="1400" dirty="0"/>
          </a:p>
        </p:txBody>
      </p:sp>
      <p:sp>
        <p:nvSpPr>
          <p:cNvPr id="7" name="Text 5"/>
          <p:cNvSpPr/>
          <p:nvPr/>
        </p:nvSpPr>
        <p:spPr>
          <a:xfrm>
            <a:off x="7406640" y="2194560"/>
            <a:ext cx="3959352" cy="3840480"/>
          </a:xfrm>
          <a:prstGeom prst="rect">
            <a:avLst/>
          </a:prstGeom>
          <a:noFill/>
          <a:ln/>
        </p:spPr>
        <p:txBody>
          <a:bodyPr wrap="square" lIns="0" tIns="0" rIns="0" bIns="0" rtlCol="0" anchor="t"/>
          <a:lstStyle/>
          <a:p>
            <a:pPr indent="0" marL="0">
              <a:spcAft>
                <a:spcPts val="1000"/>
              </a:spcAft>
              <a:buNone/>
            </a:pPr>
            <a:r>
              <a:rPr lang="en-US" sz="1100" dirty="0">
                <a:solidFill>
                  <a:srgbClr val="86868B"/>
                </a:solidFill>
                <a:latin typeface="Arial" pitchFamily="34" charset="0"/>
                <a:ea typeface="Arial" pitchFamily="34" charset="-122"/>
                <a:cs typeface="Arial" pitchFamily="34" charset="-120"/>
              </a:rPr>
              <a:t>Batch. Collect analytics, logs and non-urgent writes and flush them together, not as they happen.</a:t>
            </a:r>
            <a:endParaRPr lang="en-US" sz="1100" dirty="0"/>
          </a:p>
          <a:p>
            <a:pPr indent="0" marL="0">
              <a:spcAft>
                <a:spcPts val="1000"/>
              </a:spcAft>
              <a:buNone/>
            </a:pPr>
            <a:r>
              <a:rPr lang="en-US" sz="1100" dirty="0">
                <a:solidFill>
                  <a:srgbClr val="86868B"/>
                </a:solidFill>
                <a:latin typeface="Arial" pitchFamily="34" charset="0"/>
                <a:ea typeface="Arial" pitchFamily="34" charset="-122"/>
                <a:cs typeface="Arial" pitchFamily="34" charset="-120"/>
              </a:rPr>
              <a:t>Defer. Hand background work to WorkManager or BGTaskScheduler and let the OS run it when the radio is already awake.</a:t>
            </a:r>
            <a:endParaRPr lang="en-US" sz="1100" dirty="0"/>
          </a:p>
          <a:p>
            <a:pPr indent="0" marL="0">
              <a:spcAft>
                <a:spcPts val="1000"/>
              </a:spcAft>
              <a:buNone/>
            </a:pPr>
            <a:r>
              <a:rPr lang="en-US" sz="1100" dirty="0">
                <a:solidFill>
                  <a:srgbClr val="86868B"/>
                </a:solidFill>
                <a:latin typeface="Arial" pitchFamily="34" charset="0"/>
                <a:ea typeface="Arial" pitchFamily="34" charset="-122"/>
                <a:cs typeface="Arial" pitchFamily="34" charset="-120"/>
              </a:rPr>
              <a:t>Prefetch on Wi-Fi and while charging, when bytes are cheapest.</a:t>
            </a:r>
            <a:endParaRPr lang="en-US" sz="1100" dirty="0"/>
          </a:p>
          <a:p>
            <a:pPr indent="0" marL="0">
              <a:spcAft>
                <a:spcPts val="1000"/>
              </a:spcAft>
              <a:buNone/>
            </a:pPr>
            <a:r>
              <a:rPr lang="en-US" sz="1100" dirty="0">
                <a:solidFill>
                  <a:srgbClr val="86868B"/>
                </a:solidFill>
                <a:latin typeface="Arial" pitchFamily="34" charset="0"/>
                <a:ea typeface="Arial" pitchFamily="34" charset="-122"/>
                <a:cs typeface="Arial" pitchFamily="34" charset="-120"/>
              </a:rPr>
              <a:t>Replace polling with push. One held connection or one FCM message beats a timer. → Lecture 8</a:t>
            </a:r>
            <a:endParaRPr lang="en-US" sz="1100" dirty="0"/>
          </a:p>
          <a:p>
            <a:pPr indent="0" marL="0">
              <a:spcAft>
                <a:spcPts val="1000"/>
              </a:spcAft>
              <a:buNone/>
            </a:pPr>
            <a:r>
              <a:rPr lang="en-US" sz="1100" dirty="0">
                <a:solidFill>
                  <a:srgbClr val="86868B"/>
                </a:solidFill>
                <a:latin typeface="Arial" pitchFamily="34" charset="0"/>
                <a:ea typeface="Arial" pitchFamily="34" charset="-122"/>
                <a:cs typeface="Arial" pitchFamily="34" charset="-120"/>
              </a:rPr>
              <a:t>Send less: compress, page, and do not re-download what you already cached. → Lecture 10</a:t>
            </a:r>
            <a:endParaRPr lang="en-US" sz="1100" dirty="0"/>
          </a:p>
        </p:txBody>
      </p:sp>
      <p:sp>
        <p:nvSpPr>
          <p:cNvPr id="8" name="Shape 6"/>
          <p:cNvSpPr/>
          <p:nvPr/>
        </p:nvSpPr>
        <p:spPr>
          <a:xfrm>
            <a:off x="822960" y="4709160"/>
            <a:ext cx="6126480" cy="0"/>
          </a:xfrm>
          <a:prstGeom prst="line">
            <a:avLst/>
          </a:prstGeom>
          <a:noFill/>
          <a:ln w="9525">
            <a:solidFill>
              <a:srgbClr val="D2D2D7"/>
            </a:solidFill>
            <a:prstDash val="solid"/>
          </a:ln>
        </p:spPr>
      </p:sp>
      <p:sp>
        <p:nvSpPr>
          <p:cNvPr id="9" name="Text 7"/>
          <p:cNvSpPr/>
          <p:nvPr/>
        </p:nvSpPr>
        <p:spPr>
          <a:xfrm>
            <a:off x="822960" y="4937760"/>
            <a:ext cx="6126480" cy="640080"/>
          </a:xfrm>
          <a:prstGeom prst="rect">
            <a:avLst/>
          </a:prstGeom>
          <a:noFill/>
          <a:ln/>
        </p:spPr>
        <p:txBody>
          <a:bodyPr wrap="square" lIns="0" tIns="0" rIns="0" bIns="0" rtlCol="0" anchor="t"/>
          <a:lstStyle/>
          <a:p>
            <a:pPr indent="0" marL="0">
              <a:buNone/>
            </a:pPr>
            <a:r>
              <a:rPr lang="en-US" sz="1400" b="1" dirty="0">
                <a:solidFill>
                  <a:srgbClr val="1D1D1F"/>
                </a:solidFill>
                <a:latin typeface="Arial" pitchFamily="34" charset="0"/>
                <a:ea typeface="Arial" pitchFamily="34" charset="-122"/>
                <a:cs typeface="Arial" pitchFamily="34" charset="-120"/>
              </a:rPr>
              <a:t>Group your network calls into bursts.</a:t>
            </a:r>
            <a:pPr indent="0" marL="0">
              <a:buNone/>
            </a:pPr>
            <a:r>
              <a:rPr lang="en-US" sz="1400" dirty="0">
                <a:solidFill>
                  <a:srgbClr val="86868B"/>
                </a:solidFill>
                <a:latin typeface="Arial" pitchFamily="34" charset="0"/>
                <a:ea typeface="Arial" pitchFamily="34" charset="-122"/>
                <a:cs typeface="Arial" pitchFamily="34" charset="-120"/>
              </a:rPr>
              <a:t> The fixed cost is the radio wake-up rather than the bytes, so ten small transfers cost far more than one batched transfer.</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731520" y="2514600"/>
            <a:ext cx="10725912" cy="320040"/>
          </a:xfrm>
          <a:prstGeom prst="rect">
            <a:avLst/>
          </a:prstGeom>
          <a:noFill/>
          <a:ln/>
        </p:spPr>
        <p:txBody>
          <a:bodyPr wrap="square" lIns="0" tIns="0" rIns="0" bIns="0" rtlCol="0" anchor="ctr"/>
          <a:lstStyle/>
          <a:p>
            <a:pPr algn="ctr" indent="0" marL="0">
              <a:buNone/>
            </a:pPr>
            <a:r>
              <a:rPr lang="en-US" sz="1200" spc="400" kern="0" dirty="0">
                <a:solidFill>
                  <a:srgbClr val="6E6E73"/>
                </a:solidFill>
                <a:latin typeface="Arial" pitchFamily="34" charset="0"/>
                <a:ea typeface="Arial" pitchFamily="34" charset="-122"/>
                <a:cs typeface="Arial" pitchFamily="34" charset="-120"/>
              </a:rPr>
              <a:t>PART 4 · EMBEDDED</a:t>
            </a:r>
            <a:endParaRPr lang="en-US" sz="1200" dirty="0"/>
          </a:p>
        </p:txBody>
      </p:sp>
      <p:sp>
        <p:nvSpPr>
          <p:cNvPr id="3" name="Text 1"/>
          <p:cNvSpPr/>
          <p:nvPr/>
        </p:nvSpPr>
        <p:spPr>
          <a:xfrm>
            <a:off x="731520" y="2926080"/>
            <a:ext cx="10725912" cy="777240"/>
          </a:xfrm>
          <a:prstGeom prst="rect">
            <a:avLst/>
          </a:prstGeom>
          <a:noFill/>
          <a:ln/>
        </p:spPr>
        <p:txBody>
          <a:bodyPr wrap="square" lIns="0" tIns="0" rIns="0" bIns="0" rtlCol="0" anchor="ctr"/>
          <a:lstStyle/>
          <a:p>
            <a:pPr algn="ctr" indent="0" marL="0">
              <a:buNone/>
            </a:pPr>
            <a:r>
              <a:rPr lang="en-US" sz="3600" b="1" dirty="0">
                <a:solidFill>
                  <a:srgbClr val="FFFFFF"/>
                </a:solidFill>
                <a:latin typeface="Arial" pitchFamily="34" charset="0"/>
                <a:ea typeface="Arial" pitchFamily="34" charset="-122"/>
                <a:cs typeface="Arial" pitchFamily="34" charset="-120"/>
              </a:rPr>
              <a:t>Four orders of magnitude down</a:t>
            </a:r>
            <a:endParaRPr lang="en-US" sz="3600" dirty="0"/>
          </a:p>
        </p:txBody>
      </p:sp>
      <p:sp>
        <p:nvSpPr>
          <p:cNvPr id="4" name="Text 2"/>
          <p:cNvSpPr/>
          <p:nvPr/>
        </p:nvSpPr>
        <p:spPr>
          <a:xfrm>
            <a:off x="731520" y="3794760"/>
            <a:ext cx="10725912" cy="411480"/>
          </a:xfrm>
          <a:prstGeom prst="rect">
            <a:avLst/>
          </a:prstGeom>
          <a:noFill/>
          <a:ln/>
        </p:spPr>
        <p:txBody>
          <a:bodyPr wrap="square" lIns="0" tIns="0" rIns="0" bIns="0" rtlCol="0" anchor="ctr"/>
          <a:lstStyle/>
          <a:p>
            <a:pPr algn="ctr" indent="0" marL="0">
              <a:buNone/>
            </a:pPr>
            <a:r>
              <a:rPr lang="en-US" sz="1500" dirty="0">
                <a:solidFill>
                  <a:srgbClr val="A1A1A6"/>
                </a:solidFill>
                <a:latin typeface="Arial" pitchFamily="34" charset="0"/>
                <a:ea typeface="Arial" pitchFamily="34" charset="-122"/>
                <a:cs typeface="Arial" pitchFamily="34" charset="-120"/>
              </a:rPr>
              <a:t>TinyGo on a microcontroller: sensor, radio, and your Flutter app at the other end</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25</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EMBEDDED</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The constraint jump: phone → microcontroller</a:t>
            </a:r>
            <a:endParaRPr lang="en-US" sz="3000" dirty="0"/>
          </a:p>
        </p:txBody>
      </p:sp>
      <p:pic>
        <p:nvPicPr>
          <p:cNvPr id="5" name="Image 0" descr="/Users/dinu/dev/upb/mobile-and-embedded-computing/slides/assets/icons2/smartphone-ink.png">    </p:cNvPr>
          <p:cNvPicPr>
            <a:picLocks noChangeAspect="1"/>
          </p:cNvPicPr>
          <p:nvPr/>
        </p:nvPicPr>
        <p:blipFill>
          <a:blip r:embed="rId1"/>
          <a:stretch>
            <a:fillRect/>
          </a:stretch>
        </p:blipFill>
        <p:spPr>
          <a:xfrm>
            <a:off x="3246120" y="1737360"/>
            <a:ext cx="329184" cy="329184"/>
          </a:xfrm>
          <a:prstGeom prst="rect">
            <a:avLst/>
          </a:prstGeom>
        </p:spPr>
      </p:pic>
      <p:pic>
        <p:nvPicPr>
          <p:cNvPr id="6" name="Image 1" descr="/Users/dinu/dev/upb/mobile-and-embedded-computing/slides/assets/icons2/cpu-orange.png">    </p:cNvPr>
          <p:cNvPicPr>
            <a:picLocks noChangeAspect="1"/>
          </p:cNvPicPr>
          <p:nvPr/>
        </p:nvPicPr>
        <p:blipFill>
          <a:blip r:embed="rId2"/>
          <a:stretch>
            <a:fillRect/>
          </a:stretch>
        </p:blipFill>
        <p:spPr>
          <a:xfrm>
            <a:off x="7315200" y="1737360"/>
            <a:ext cx="329184" cy="329184"/>
          </a:xfrm>
          <a:prstGeom prst="rect">
            <a:avLst/>
          </a:prstGeom>
        </p:spPr>
      </p:pic>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822960" y="2194560"/>
          <a:ext cx="10543032" cy="914400"/>
        </p:xfrm>
        <a:graphic>
          <a:graphicData uri="http://schemas.openxmlformats.org/drawingml/2006/table">
            <a:tbl>
              <a:tblPr/>
              <a:tblGrid>
                <a:gridCol w="1463040"/>
                <a:gridCol w="4539996"/>
                <a:gridCol w="4539996"/>
              </a:tblGrid>
              <a:tr h="438912">
                <a:tc>
                  <a:txBody>
                    <a:bodyPr/>
                    <a:lstStyle/>
                    <a:p>
                      <a:pPr indent="0" marL="0">
                        <a:buNone/>
                      </a:pP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50" b="1" dirty="0">
                          <a:solidFill>
                            <a:srgbClr val="1D1D1F"/>
                          </a:solidFill>
                          <a:latin typeface="Arial" pitchFamily="34" charset="0"/>
                          <a:ea typeface="Arial" pitchFamily="34" charset="-122"/>
                          <a:cs typeface="Arial" pitchFamily="34" charset="-120"/>
                        </a:rPr>
                        <a:t>Phone</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D1D1F"/>
                          </a:solidFill>
                          <a:latin typeface="Arial" pitchFamily="34" charset="0"/>
                          <a:ea typeface="Arial" pitchFamily="34" charset="-122"/>
                          <a:cs typeface="Arial" pitchFamily="34" charset="-120"/>
                        </a:rPr>
                        <a:t>Microcontroller</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5F5F7"/>
                    </a:solidFill>
                  </a:tcPr>
                </a:tc>
              </a:tr>
              <a:tr h="502920">
                <a:tc>
                  <a:txBody>
                    <a:bodyPr/>
                    <a:lstStyle/>
                    <a:p>
                      <a:pPr algn="l" indent="0" marL="0">
                        <a:buNone/>
                      </a:pPr>
                      <a:r>
                        <a:rPr lang="en-US" sz="1150" dirty="0">
                          <a:solidFill>
                            <a:srgbClr val="86868B"/>
                          </a:solidFill>
                          <a:latin typeface="Arial" pitchFamily="34" charset="0"/>
                          <a:ea typeface="Arial" pitchFamily="34" charset="-122"/>
                          <a:cs typeface="Arial" pitchFamily="34" charset="-120"/>
                        </a:rPr>
                        <a:t>RAM</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8–16 GB</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F56300"/>
                          </a:solidFill>
                          <a:latin typeface="Arial" pitchFamily="34" charset="0"/>
                          <a:ea typeface="Arial" pitchFamily="34" charset="-122"/>
                          <a:cs typeface="Arial" pitchFamily="34" charset="-120"/>
                        </a:rPr>
                        <a:t>~520 KB SRAM</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5F5F7"/>
                    </a:solidFill>
                  </a:tcPr>
                </a:tc>
              </a:tr>
              <a:tr h="502920">
                <a:tc>
                  <a:txBody>
                    <a:bodyPr/>
                    <a:lstStyle/>
                    <a:p>
                      <a:pPr algn="l" indent="0" marL="0">
                        <a:buNone/>
                      </a:pPr>
                      <a:r>
                        <a:rPr lang="en-US" sz="1150" dirty="0">
                          <a:solidFill>
                            <a:srgbClr val="86868B"/>
                          </a:solidFill>
                          <a:latin typeface="Arial" pitchFamily="34" charset="0"/>
                          <a:ea typeface="Arial" pitchFamily="34" charset="-122"/>
                          <a:cs typeface="Arial" pitchFamily="34" charset="-120"/>
                        </a:rPr>
                        <a:t>Storage</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128–512 GB</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F56300"/>
                          </a:solidFill>
                          <a:latin typeface="Arial" pitchFamily="34" charset="0"/>
                          <a:ea typeface="Arial" pitchFamily="34" charset="-122"/>
                          <a:cs typeface="Arial" pitchFamily="34" charset="-120"/>
                        </a:rPr>
                        <a:t>~4 MB flash</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5F5F7"/>
                    </a:solidFill>
                  </a:tcPr>
                </a:tc>
              </a:tr>
              <a:tr h="502920">
                <a:tc>
                  <a:txBody>
                    <a:bodyPr/>
                    <a:lstStyle/>
                    <a:p>
                      <a:pPr algn="l" indent="0" marL="0">
                        <a:buNone/>
                      </a:pPr>
                      <a:r>
                        <a:rPr lang="en-US" sz="1150" dirty="0">
                          <a:solidFill>
                            <a:srgbClr val="86868B"/>
                          </a:solidFill>
                          <a:latin typeface="Arial" pitchFamily="34" charset="0"/>
                          <a:ea typeface="Arial" pitchFamily="34" charset="-122"/>
                          <a:cs typeface="Arial" pitchFamily="34" charset="-120"/>
                        </a:rPr>
                        <a:t>Power</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~5 W peak, recharged nightly</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F56300"/>
                          </a:solidFill>
                          <a:latin typeface="Arial" pitchFamily="34" charset="0"/>
                          <a:ea typeface="Arial" pitchFamily="34" charset="-122"/>
                          <a:cs typeface="Arial" pitchFamily="34" charset="-120"/>
                        </a:rPr>
                        <a:t>milliwatts, sometimes a coin cell for a year</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5F5F7"/>
                    </a:solidFill>
                  </a:tcPr>
                </a:tc>
              </a:tr>
              <a:tr h="502920">
                <a:tc>
                  <a:txBody>
                    <a:bodyPr/>
                    <a:lstStyle/>
                    <a:p>
                      <a:pPr algn="l" indent="0" marL="0">
                        <a:buNone/>
                      </a:pPr>
                      <a:r>
                        <a:rPr lang="en-US" sz="1150" dirty="0">
                          <a:solidFill>
                            <a:srgbClr val="86868B"/>
                          </a:solidFill>
                          <a:latin typeface="Arial" pitchFamily="34" charset="0"/>
                          <a:ea typeface="Arial" pitchFamily="34" charset="-122"/>
                          <a:cs typeface="Arial" pitchFamily="34" charset="-120"/>
                        </a:rPr>
                        <a:t>OS</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Android / iOS</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F56300"/>
                          </a:solidFill>
                          <a:latin typeface="Arial" pitchFamily="34" charset="0"/>
                          <a:ea typeface="Arial" pitchFamily="34" charset="-122"/>
                          <a:cs typeface="Arial" pitchFamily="34" charset="-120"/>
                        </a:rPr>
                        <a:t>an RTOS, or nothing at all</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5F5F7"/>
                    </a:solidFill>
                  </a:tcPr>
                </a:tc>
              </a:tr>
              <a:tr h="502920">
                <a:tc>
                  <a:txBody>
                    <a:bodyPr/>
                    <a:lstStyle/>
                    <a:p>
                      <a:pPr algn="l" indent="0" marL="0">
                        <a:buNone/>
                      </a:pPr>
                      <a:r>
                        <a:rPr lang="en-US" sz="1150" dirty="0">
                          <a:solidFill>
                            <a:srgbClr val="86868B"/>
                          </a:solidFill>
                          <a:latin typeface="Arial" pitchFamily="34" charset="0"/>
                          <a:ea typeface="Arial" pitchFamily="34" charset="-122"/>
                          <a:cs typeface="Arial" pitchFamily="34" charset="-120"/>
                        </a:rPr>
                        <a:t>Your code</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Dart, AOT-compiled</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F56300"/>
                          </a:solidFill>
                          <a:latin typeface="Arial" pitchFamily="34" charset="0"/>
                          <a:ea typeface="Arial" pitchFamily="34" charset="-122"/>
                          <a:cs typeface="Arial" pitchFamily="34" charset="-120"/>
                        </a:rPr>
                        <a:t>Go, compiled by TinyGo through LLVM</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5F5F7"/>
                    </a:solidFill>
                  </a:tcPr>
                </a:tc>
              </a:tr>
            </a:tbl>
          </a:graphicData>
        </a:graphic>
      </p:graphicFrame>
      <p:sp>
        <p:nvSpPr>
          <p:cNvPr id="8" name="Shape 3"/>
          <p:cNvSpPr/>
          <p:nvPr/>
        </p:nvSpPr>
        <p:spPr>
          <a:xfrm>
            <a:off x="822960" y="5257800"/>
            <a:ext cx="10543032" cy="0"/>
          </a:xfrm>
          <a:prstGeom prst="line">
            <a:avLst/>
          </a:prstGeom>
          <a:noFill/>
          <a:ln w="9525">
            <a:solidFill>
              <a:srgbClr val="D2D2D7"/>
            </a:solidFill>
            <a:prstDash val="solid"/>
          </a:ln>
        </p:spPr>
      </p:sp>
      <p:sp>
        <p:nvSpPr>
          <p:cNvPr id="9" name="Text 4"/>
          <p:cNvSpPr/>
          <p:nvPr/>
        </p:nvSpPr>
        <p:spPr>
          <a:xfrm>
            <a:off x="822960" y="5486400"/>
            <a:ext cx="10543032" cy="640080"/>
          </a:xfrm>
          <a:prstGeom prst="rect">
            <a:avLst/>
          </a:prstGeom>
          <a:noFill/>
          <a:ln/>
        </p:spPr>
        <p:txBody>
          <a:bodyPr wrap="square" lIns="0" tIns="0" rIns="0" bIns="0" rtlCol="0" anchor="t"/>
          <a:lstStyle/>
          <a:p>
            <a:pPr indent="0" marL="0">
              <a:buNone/>
            </a:pPr>
            <a:r>
              <a:rPr lang="en-US" sz="1400" b="1" dirty="0">
                <a:solidFill>
                  <a:srgbClr val="1D1D1F"/>
                </a:solidFill>
                <a:latin typeface="Arial" pitchFamily="34" charset="0"/>
                <a:ea typeface="Arial" pitchFamily="34" charset="-122"/>
                <a:cs typeface="Arial" pitchFamily="34" charset="-120"/>
              </a:rPr>
              <a:t>This is the far right of the device spectrum from Lecture 1.</a:t>
            </a:r>
            <a:pPr indent="0" marL="0">
              <a:buNone/>
            </a:pPr>
            <a:r>
              <a:rPr lang="en-US" sz="1400" dirty="0">
                <a:solidFill>
                  <a:srgbClr val="86868B"/>
                </a:solidFill>
                <a:latin typeface="Arial" pitchFamily="34" charset="0"/>
                <a:ea typeface="Arial" pitchFamily="34" charset="-122"/>
                <a:cs typeface="Arial" pitchFamily="34" charset="-120"/>
              </a:rPr>
              <a:t> Every habit from the first three parts of this lecture still applies, and there is no headroom left to absorb a mistake.</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26</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EMBEDDED</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TinyGo: Go, compiled for bare metal</a:t>
            </a:r>
            <a:endParaRPr lang="en-US" sz="3000" dirty="0"/>
          </a:p>
        </p:txBody>
      </p:sp>
      <p:sp>
        <p:nvSpPr>
          <p:cNvPr id="5" name="Text 3"/>
          <p:cNvSpPr/>
          <p:nvPr/>
        </p:nvSpPr>
        <p:spPr>
          <a:xfrm>
            <a:off x="822960" y="1719072"/>
            <a:ext cx="10543032" cy="777240"/>
          </a:xfrm>
          <a:prstGeom prst="rect">
            <a:avLst/>
          </a:prstGeom>
          <a:noFill/>
          <a:ln/>
        </p:spPr>
        <p:txBody>
          <a:bodyPr wrap="square" lIns="0" tIns="0" rIns="0" bIns="0" rtlCol="0" anchor="t"/>
          <a:lstStyle/>
          <a:p>
            <a:pPr indent="0" marL="0">
              <a:spcAft>
                <a:spcPts val="1400"/>
              </a:spcAft>
              <a:buNone/>
            </a:pPr>
            <a:r>
              <a:rPr lang="en-US" sz="1300" dirty="0">
                <a:solidFill>
                  <a:srgbClr val="1D1D1F"/>
                </a:solidFill>
                <a:latin typeface="Arial" pitchFamily="34" charset="0"/>
                <a:ea typeface="Arial" pitchFamily="34" charset="-122"/>
                <a:cs typeface="Arial" pitchFamily="34" charset="-120"/>
              </a:rPr>
              <a:t>TinyGo reads ordinary Go with the standard frontend, emits LLVM IR, and lets LLVM produce machine code for Cortex-M, RISC-V, AVR and WebAssembly. It is a different compiler for the same language, not a different language.</a:t>
            </a:r>
            <a:endParaRPr lang="en-US" sz="1300" dirty="0"/>
          </a:p>
        </p:txBody>
      </p:sp>
      <p:sp>
        <p:nvSpPr>
          <p:cNvPr id="6" name="Text 4"/>
          <p:cNvSpPr/>
          <p:nvPr/>
        </p:nvSpPr>
        <p:spPr>
          <a:xfrm>
            <a:off x="822960" y="2606040"/>
            <a:ext cx="5120640" cy="365760"/>
          </a:xfrm>
          <a:prstGeom prst="rect">
            <a:avLst/>
          </a:prstGeom>
          <a:noFill/>
          <a:ln/>
        </p:spPr>
        <p:txBody>
          <a:bodyPr wrap="square" lIns="0" tIns="0" rIns="0" bIns="0" rtlCol="0" anchor="ctr"/>
          <a:lstStyle/>
          <a:p>
            <a:pPr indent="0" marL="0">
              <a:buNone/>
            </a:pPr>
            <a:r>
              <a:rPr lang="en-US" sz="1400" b="1" dirty="0">
                <a:solidFill>
                  <a:srgbClr val="1D1D1F"/>
                </a:solidFill>
                <a:latin typeface="Arial" pitchFamily="34" charset="0"/>
                <a:ea typeface="Arial" pitchFamily="34" charset="-122"/>
                <a:cs typeface="Arial" pitchFamily="34" charset="-120"/>
              </a:rPr>
              <a:t>What you get</a:t>
            </a:r>
            <a:endParaRPr lang="en-US" sz="1400" dirty="0"/>
          </a:p>
        </p:txBody>
      </p:sp>
      <p:sp>
        <p:nvSpPr>
          <p:cNvPr id="7" name="Text 5"/>
          <p:cNvSpPr/>
          <p:nvPr/>
        </p:nvSpPr>
        <p:spPr>
          <a:xfrm>
            <a:off x="6400800" y="2606040"/>
            <a:ext cx="5120640" cy="365760"/>
          </a:xfrm>
          <a:prstGeom prst="rect">
            <a:avLst/>
          </a:prstGeom>
          <a:noFill/>
          <a:ln/>
        </p:spPr>
        <p:txBody>
          <a:bodyPr wrap="square" lIns="0" tIns="0" rIns="0" bIns="0" rtlCol="0" anchor="ctr"/>
          <a:lstStyle/>
          <a:p>
            <a:pPr indent="0" marL="0">
              <a:buNone/>
            </a:pPr>
            <a:r>
              <a:rPr lang="en-US" sz="1400" b="1" dirty="0">
                <a:solidFill>
                  <a:srgbClr val="1D1D1F"/>
                </a:solidFill>
                <a:latin typeface="Arial" pitchFamily="34" charset="0"/>
                <a:ea typeface="Arial" pitchFamily="34" charset="-122"/>
                <a:cs typeface="Arial" pitchFamily="34" charset="-120"/>
              </a:rPr>
              <a:t>What you give up</a:t>
            </a:r>
            <a:endParaRPr lang="en-US" sz="1400" dirty="0"/>
          </a:p>
        </p:txBody>
      </p:sp>
      <p:sp>
        <p:nvSpPr>
          <p:cNvPr id="8" name="Text 6"/>
          <p:cNvSpPr/>
          <p:nvPr/>
        </p:nvSpPr>
        <p:spPr>
          <a:xfrm>
            <a:off x="822960" y="3063240"/>
            <a:ext cx="5120640" cy="2560320"/>
          </a:xfrm>
          <a:prstGeom prst="rect">
            <a:avLst/>
          </a:prstGeom>
          <a:noFill/>
          <a:ln/>
        </p:spPr>
        <p:txBody>
          <a:bodyPr wrap="square" lIns="0" tIns="0" rIns="0" bIns="0" rtlCol="0" anchor="t"/>
          <a:lstStyle/>
          <a:p>
            <a:pPr indent="0" marL="0">
              <a:spcAft>
                <a:spcPts val="1200"/>
              </a:spcAft>
              <a:buNone/>
            </a:pPr>
            <a:r>
              <a:rPr lang="en-US" sz="1350" b="1" dirty="0">
                <a:solidFill>
                  <a:srgbClr val="0071E3"/>
                </a:solidFill>
                <a:latin typeface="Arial" pitchFamily="34" charset="0"/>
                <a:ea typeface="Arial" pitchFamily="34" charset="-122"/>
                <a:cs typeface="Arial" pitchFamily="34" charset="-120"/>
              </a:rPr>
              <a:t>+  </a:t>
            </a:r>
            <a:pPr indent="0" marL="0">
              <a:spcAft>
                <a:spcPts val="1200"/>
              </a:spcAft>
              <a:buNone/>
            </a:pPr>
            <a:r>
              <a:rPr lang="en-US" sz="1350" dirty="0">
                <a:solidFill>
                  <a:srgbClr val="1D1D1F"/>
                </a:solidFill>
                <a:latin typeface="Arial" pitchFamily="34" charset="0"/>
                <a:ea typeface="Arial" pitchFamily="34" charset="-122"/>
                <a:cs typeface="Arial" pitchFamily="34" charset="-120"/>
              </a:rPr>
              <a:t>Goroutines and channels on a chip with no operating system</a:t>
            </a:r>
            <a:endParaRPr lang="en-US" sz="1350" dirty="0"/>
          </a:p>
          <a:p>
            <a:pPr indent="0" marL="0">
              <a:spcAft>
                <a:spcPts val="1200"/>
              </a:spcAft>
              <a:buNone/>
            </a:pPr>
            <a:r>
              <a:rPr lang="en-US" sz="1350" b="1" dirty="0">
                <a:solidFill>
                  <a:srgbClr val="0071E3"/>
                </a:solidFill>
                <a:latin typeface="Arial" pitchFamily="34" charset="0"/>
                <a:ea typeface="Arial" pitchFamily="34" charset="-122"/>
                <a:cs typeface="Arial" pitchFamily="34" charset="-120"/>
              </a:rPr>
              <a:t>+  </a:t>
            </a:r>
            <a:pPr indent="0" marL="0">
              <a:spcAft>
                <a:spcPts val="1200"/>
              </a:spcAft>
              <a:buNone/>
            </a:pPr>
            <a:r>
              <a:rPr lang="en-US" sz="1350" dirty="0">
                <a:solidFill>
                  <a:srgbClr val="1D1D1F"/>
                </a:solidFill>
                <a:latin typeface="Arial" pitchFamily="34" charset="0"/>
                <a:ea typeface="Arial" pitchFamily="34" charset="-122"/>
                <a:cs typeface="Arial" pitchFamily="34" charset="-120"/>
              </a:rPr>
              <a:t>Binaries measured in tens of kilobytes, not megabytes</a:t>
            </a:r>
            <a:endParaRPr lang="en-US" sz="1350" dirty="0"/>
          </a:p>
          <a:p>
            <a:pPr indent="0" marL="0">
              <a:spcAft>
                <a:spcPts val="1200"/>
              </a:spcAft>
              <a:buNone/>
            </a:pPr>
            <a:r>
              <a:rPr lang="en-US" sz="1350" b="1" dirty="0">
                <a:solidFill>
                  <a:srgbClr val="0071E3"/>
                </a:solidFill>
                <a:latin typeface="Arial" pitchFamily="34" charset="0"/>
                <a:ea typeface="Arial" pitchFamily="34" charset="-122"/>
                <a:cs typeface="Arial" pitchFamily="34" charset="-120"/>
              </a:rPr>
              <a:t>+  </a:t>
            </a:r>
            <a:pPr indent="0" marL="0">
              <a:spcAft>
                <a:spcPts val="1200"/>
              </a:spcAft>
              <a:buNone/>
            </a:pPr>
            <a:r>
              <a:rPr lang="en-US" sz="1350" dirty="0">
                <a:solidFill>
                  <a:srgbClr val="1D1D1F"/>
                </a:solidFill>
                <a:latin typeface="Arial" pitchFamily="34" charset="0"/>
                <a:ea typeface="Arial" pitchFamily="34" charset="-122"/>
                <a:cs typeface="Arial" pitchFamily="34" charset="-120"/>
              </a:rPr>
              <a:t>The machine package: GPIO, ADC, I²C, SPI, UART, PWM, one API per board</a:t>
            </a:r>
            <a:endParaRPr lang="en-US" sz="1350" dirty="0"/>
          </a:p>
          <a:p>
            <a:pPr indent="0" marL="0">
              <a:spcAft>
                <a:spcPts val="1200"/>
              </a:spcAft>
              <a:buNone/>
            </a:pPr>
            <a:r>
              <a:rPr lang="en-US" sz="1350" b="1" dirty="0">
                <a:solidFill>
                  <a:srgbClr val="0071E3"/>
                </a:solidFill>
                <a:latin typeface="Arial" pitchFamily="34" charset="0"/>
                <a:ea typeface="Arial" pitchFamily="34" charset="-122"/>
                <a:cs typeface="Arial" pitchFamily="34" charset="-120"/>
              </a:rPr>
              <a:t>+  </a:t>
            </a:r>
            <a:pPr indent="0" marL="0">
              <a:spcAft>
                <a:spcPts val="1200"/>
              </a:spcAft>
              <a:buNone/>
            </a:pPr>
            <a:r>
              <a:rPr lang="en-US" sz="1350" dirty="0">
                <a:solidFill>
                  <a:srgbClr val="1D1D1F"/>
                </a:solidFill>
                <a:latin typeface="Arial" pitchFamily="34" charset="0"/>
                <a:ea typeface="Arial" pitchFamily="34" charset="-122"/>
                <a:cs typeface="Arial" pitchFamily="34" charset="-120"/>
              </a:rPr>
              <a:t>One language shared with your Go backend → Lecture 5</a:t>
            </a:r>
            <a:endParaRPr lang="en-US" sz="1350" dirty="0"/>
          </a:p>
        </p:txBody>
      </p:sp>
      <p:sp>
        <p:nvSpPr>
          <p:cNvPr id="9" name="Text 7"/>
          <p:cNvSpPr/>
          <p:nvPr/>
        </p:nvSpPr>
        <p:spPr>
          <a:xfrm>
            <a:off x="6400800" y="3063240"/>
            <a:ext cx="5120640" cy="2560320"/>
          </a:xfrm>
          <a:prstGeom prst="rect">
            <a:avLst/>
          </a:prstGeom>
          <a:noFill/>
          <a:ln/>
        </p:spPr>
        <p:txBody>
          <a:bodyPr wrap="square" lIns="0" tIns="0" rIns="0" bIns="0" rtlCol="0" anchor="t"/>
          <a:lstStyle/>
          <a:p>
            <a:pPr indent="0" marL="0">
              <a:spcAft>
                <a:spcPts val="1200"/>
              </a:spcAft>
              <a:buNone/>
            </a:pPr>
            <a:r>
              <a:rPr lang="en-US" sz="1350" b="1" dirty="0">
                <a:solidFill>
                  <a:srgbClr val="86868B"/>
                </a:solidFill>
                <a:latin typeface="Arial" pitchFamily="34" charset="0"/>
                <a:ea typeface="Arial" pitchFamily="34" charset="-122"/>
                <a:cs typeface="Arial" pitchFamily="34" charset="-120"/>
              </a:rPr>
              <a:t>−  </a:t>
            </a:r>
            <a:pPr indent="0" marL="0">
              <a:spcAft>
                <a:spcPts val="1200"/>
              </a:spcAft>
              <a:buNone/>
            </a:pPr>
            <a:r>
              <a:rPr lang="en-US" sz="1350" dirty="0">
                <a:solidFill>
                  <a:srgbClr val="1D1D1F"/>
                </a:solidFill>
                <a:latin typeface="Arial" pitchFamily="34" charset="0"/>
                <a:ea typeface="Arial" pitchFamily="34" charset="-122"/>
                <a:cs typeface="Arial" pitchFamily="34" charset="-120"/>
              </a:rPr>
              <a:t>A reduced runtime: the scheduler is cooperative, the GC is simple</a:t>
            </a:r>
            <a:endParaRPr lang="en-US" sz="1350" dirty="0"/>
          </a:p>
          <a:p>
            <a:pPr indent="0" marL="0">
              <a:spcAft>
                <a:spcPts val="1200"/>
              </a:spcAft>
              <a:buNone/>
            </a:pPr>
            <a:r>
              <a:rPr lang="en-US" sz="1350" b="1" dirty="0">
                <a:solidFill>
                  <a:srgbClr val="86868B"/>
                </a:solidFill>
                <a:latin typeface="Arial" pitchFamily="34" charset="0"/>
                <a:ea typeface="Arial" pitchFamily="34" charset="-122"/>
                <a:cs typeface="Arial" pitchFamily="34" charset="-120"/>
              </a:rPr>
              <a:t>−  </a:t>
            </a:r>
            <a:pPr indent="0" marL="0">
              <a:spcAft>
                <a:spcPts val="1200"/>
              </a:spcAft>
              <a:buNone/>
            </a:pPr>
            <a:r>
              <a:rPr lang="en-US" sz="1350" dirty="0">
                <a:solidFill>
                  <a:srgbClr val="1D1D1F"/>
                </a:solidFill>
                <a:latin typeface="Arial" pitchFamily="34" charset="0"/>
                <a:ea typeface="Arial" pitchFamily="34" charset="-122"/>
                <a:cs typeface="Arial" pitchFamily="34" charset="-120"/>
              </a:rPr>
              <a:t>Limited reflection, so reflection-heavy packages (much of encoding/json) will not build</a:t>
            </a:r>
            <a:endParaRPr lang="en-US" sz="1350" dirty="0"/>
          </a:p>
          <a:p>
            <a:pPr indent="0" marL="0">
              <a:spcAft>
                <a:spcPts val="1200"/>
              </a:spcAft>
              <a:buNone/>
            </a:pPr>
            <a:r>
              <a:rPr lang="en-US" sz="1350" b="1" dirty="0">
                <a:solidFill>
                  <a:srgbClr val="86868B"/>
                </a:solidFill>
                <a:latin typeface="Arial" pitchFamily="34" charset="0"/>
                <a:ea typeface="Arial" pitchFamily="34" charset="-122"/>
                <a:cs typeface="Arial" pitchFamily="34" charset="-120"/>
              </a:rPr>
              <a:t>−  </a:t>
            </a:r>
            <a:pPr indent="0" marL="0">
              <a:spcAft>
                <a:spcPts val="1200"/>
              </a:spcAft>
              <a:buNone/>
            </a:pPr>
            <a:r>
              <a:rPr lang="en-US" sz="1350" dirty="0">
                <a:solidFill>
                  <a:srgbClr val="1D1D1F"/>
                </a:solidFill>
                <a:latin typeface="Arial" pitchFamily="34" charset="0"/>
                <a:ea typeface="Arial" pitchFamily="34" charset="-122"/>
                <a:cs typeface="Arial" pitchFamily="34" charset="-120"/>
              </a:rPr>
              <a:t>A subset of the standard library; no full net stack on most targets</a:t>
            </a:r>
            <a:endParaRPr lang="en-US" sz="1350" dirty="0"/>
          </a:p>
          <a:p>
            <a:pPr indent="0" marL="0">
              <a:spcAft>
                <a:spcPts val="1200"/>
              </a:spcAft>
              <a:buNone/>
            </a:pPr>
            <a:r>
              <a:rPr lang="en-US" sz="1350" b="1" dirty="0">
                <a:solidFill>
                  <a:srgbClr val="86868B"/>
                </a:solidFill>
                <a:latin typeface="Arial" pitchFamily="34" charset="0"/>
                <a:ea typeface="Arial" pitchFamily="34" charset="-122"/>
                <a:cs typeface="Arial" pitchFamily="34" charset="-120"/>
              </a:rPr>
              <a:t>−  </a:t>
            </a:r>
            <a:pPr indent="0" marL="0">
              <a:spcAft>
                <a:spcPts val="1200"/>
              </a:spcAft>
              <a:buNone/>
            </a:pPr>
            <a:r>
              <a:rPr lang="en-US" sz="1350" dirty="0">
                <a:solidFill>
                  <a:srgbClr val="1D1D1F"/>
                </a:solidFill>
                <a:latin typeface="Arial" pitchFamily="34" charset="0"/>
                <a:ea typeface="Arial" pitchFamily="34" charset="-122"/>
                <a:cs typeface="Arial" pitchFamily="34" charset="-120"/>
              </a:rPr>
              <a:t>Some Go packages do not compile, so check before you design around one</a:t>
            </a:r>
            <a:endParaRPr lang="en-US" sz="1350" dirty="0"/>
          </a:p>
        </p:txBody>
      </p:sp>
      <p:sp>
        <p:nvSpPr>
          <p:cNvPr id="10" name="Shape 8"/>
          <p:cNvSpPr/>
          <p:nvPr/>
        </p:nvSpPr>
        <p:spPr>
          <a:xfrm>
            <a:off x="822960" y="5394960"/>
            <a:ext cx="10543032" cy="0"/>
          </a:xfrm>
          <a:prstGeom prst="line">
            <a:avLst/>
          </a:prstGeom>
          <a:noFill/>
          <a:ln w="9525">
            <a:solidFill>
              <a:srgbClr val="D2D2D7"/>
            </a:solidFill>
            <a:prstDash val="solid"/>
          </a:ln>
        </p:spPr>
      </p:sp>
      <p:sp>
        <p:nvSpPr>
          <p:cNvPr id="11" name="Text 9"/>
          <p:cNvSpPr/>
          <p:nvPr/>
        </p:nvSpPr>
        <p:spPr>
          <a:xfrm>
            <a:off x="822960" y="5623560"/>
            <a:ext cx="10543032" cy="640080"/>
          </a:xfrm>
          <a:prstGeom prst="rect">
            <a:avLst/>
          </a:prstGeom>
          <a:noFill/>
          <a:ln/>
        </p:spPr>
        <p:txBody>
          <a:bodyPr wrap="square" lIns="0" tIns="0" rIns="0" bIns="0" rtlCol="0" anchor="t"/>
          <a:lstStyle/>
          <a:p>
            <a:pPr indent="0" marL="0">
              <a:buNone/>
            </a:pPr>
            <a:r>
              <a:rPr lang="en-US" sz="1400" b="1" dirty="0">
                <a:solidFill>
                  <a:srgbClr val="1D1D1F"/>
                </a:solidFill>
                <a:latin typeface="Arial" pitchFamily="34" charset="0"/>
                <a:ea typeface="Arial" pitchFamily="34" charset="-122"/>
                <a:cs typeface="Arial" pitchFamily="34" charset="-120"/>
              </a:rPr>
              <a:t>You keep the language and the concurrency model. You give up the library ecosystem.</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27</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EMBEDDED</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Which board to buy</a:t>
            </a:r>
            <a:endParaRPr lang="en-US" sz="3000" dirty="0"/>
          </a:p>
        </p:txBody>
      </p:sp>
      <p:sp>
        <p:nvSpPr>
          <p:cNvPr id="5" name="Text 3"/>
          <p:cNvSpPr/>
          <p:nvPr/>
        </p:nvSpPr>
        <p:spPr>
          <a:xfrm>
            <a:off x="822960" y="1737360"/>
            <a:ext cx="6126480" cy="320040"/>
          </a:xfrm>
          <a:prstGeom prst="rect">
            <a:avLst/>
          </a:prstGeom>
          <a:noFill/>
          <a:ln/>
        </p:spPr>
        <p:txBody>
          <a:bodyPr wrap="square" lIns="0" tIns="0" rIns="0" bIns="0" rtlCol="0" anchor="ctr"/>
          <a:lstStyle/>
          <a:p>
            <a:pPr indent="0" marL="0">
              <a:buNone/>
            </a:pPr>
            <a:r>
              <a:rPr lang="en-US" sz="1400" b="1" dirty="0">
                <a:solidFill>
                  <a:srgbClr val="F56300"/>
                </a:solidFill>
                <a:latin typeface="Arial" pitchFamily="34" charset="0"/>
                <a:ea typeface="Arial" pitchFamily="34" charset="-122"/>
                <a:cs typeface="Arial" pitchFamily="34" charset="-120"/>
              </a:rPr>
              <a:t>Do not start with the original ESP32</a:t>
            </a:r>
            <a:endParaRPr lang="en-US" sz="1400" dirty="0"/>
          </a:p>
        </p:txBody>
      </p:sp>
      <p:sp>
        <p:nvSpPr>
          <p:cNvPr id="6" name="Text 4"/>
          <p:cNvSpPr/>
          <p:nvPr/>
        </p:nvSpPr>
        <p:spPr>
          <a:xfrm>
            <a:off x="822960" y="2148840"/>
            <a:ext cx="6126480" cy="3017520"/>
          </a:xfrm>
          <a:prstGeom prst="rect">
            <a:avLst/>
          </a:prstGeom>
          <a:noFill/>
          <a:ln/>
        </p:spPr>
        <p:txBody>
          <a:bodyPr wrap="square" lIns="0" tIns="0" rIns="0" bIns="0" rtlCol="0" anchor="t"/>
          <a:lstStyle/>
          <a:p>
            <a:pPr indent="0" marL="0">
              <a:spcAft>
                <a:spcPts val="1100"/>
              </a:spcAft>
              <a:buNone/>
            </a:pPr>
            <a:r>
              <a:rPr lang="en-US" sz="1200" dirty="0">
                <a:solidFill>
                  <a:srgbClr val="1D1D1F"/>
                </a:solidFill>
                <a:latin typeface="Arial" pitchFamily="34" charset="0"/>
                <a:ea typeface="Arial" pitchFamily="34" charset="-122"/>
                <a:cs typeface="Arial" pitchFamily="34" charset="-120"/>
              </a:rPr>
              <a:t>The classic Xtensa ESP32, the one in most tutorials and cheap starter kits, has minimal TinyGo support and no Wi-Fi or Bluetooth from TinyGo. You can blink an LED and very little else.</a:t>
            </a:r>
            <a:endParaRPr lang="en-US" sz="1200" dirty="0"/>
          </a:p>
          <a:p>
            <a:pPr indent="0" marL="0">
              <a:spcAft>
                <a:spcPts val="1100"/>
              </a:spcAft>
              <a:buNone/>
            </a:pPr>
            <a:r>
              <a:rPr lang="en-US" sz="1200" b="1" dirty="0">
                <a:solidFill>
                  <a:srgbClr val="1D1D1F"/>
                </a:solidFill>
                <a:latin typeface="Arial" pitchFamily="34" charset="0"/>
                <a:ea typeface="Arial" pitchFamily="34" charset="-122"/>
                <a:cs typeface="Arial" pitchFamily="34" charset="-120"/>
              </a:rPr>
              <a:t>Buy one of these instead:</a:t>
            </a:r>
            <a:endParaRPr lang="en-US" sz="1200" dirty="0"/>
          </a:p>
          <a:p>
            <a:pPr indent="0" marL="0">
              <a:spcAft>
                <a:spcPts val="1100"/>
              </a:spcAft>
              <a:buNone/>
            </a:pPr>
            <a:r>
              <a:rPr lang="en-US" sz="1200" dirty="0">
                <a:solidFill>
                  <a:srgbClr val="1D1D1F"/>
                </a:solidFill>
                <a:latin typeface="Arial" pitchFamily="34" charset="0"/>
                <a:ea typeface="Arial" pitchFamily="34" charset="-122"/>
                <a:cs typeface="Arial" pitchFamily="34" charset="-120"/>
              </a:rPr>
              <a:t>ESP32-C3 or ESP32-S3: Wi-Fi from TinyGo via the espradio package, available since TinyGo 0.41 (April 2026). The C3 is a RISC-V part and the cheapest way into a networked project.</a:t>
            </a:r>
            <a:endParaRPr lang="en-US" sz="1200" dirty="0"/>
          </a:p>
          <a:p>
            <a:pPr indent="0" marL="0">
              <a:spcAft>
                <a:spcPts val="1100"/>
              </a:spcAft>
              <a:buNone/>
            </a:pPr>
            <a:r>
              <a:rPr lang="en-US" sz="1200" dirty="0">
                <a:solidFill>
                  <a:srgbClr val="1D1D1F"/>
                </a:solidFill>
                <a:latin typeface="Arial" pitchFamily="34" charset="0"/>
                <a:ea typeface="Arial" pitchFamily="34" charset="-122"/>
                <a:cs typeface="Arial" pitchFamily="34" charset="-120"/>
              </a:rPr>
              <a:t>Raspberry Pi Pico (RP2040) or Pico 2 (RP2350): first-tier TinyGo support and the best-documented machine package. Take the W variant if you need Wi-Fi.</a:t>
            </a:r>
            <a:endParaRPr lang="en-US" sz="1200" dirty="0"/>
          </a:p>
        </p:txBody>
      </p:sp>
      <p:sp>
        <p:nvSpPr>
          <p:cNvPr id="7" name="Shape 5"/>
          <p:cNvSpPr/>
          <p:nvPr/>
        </p:nvSpPr>
        <p:spPr>
          <a:xfrm>
            <a:off x="7406640" y="2148840"/>
            <a:ext cx="3959352" cy="3017520"/>
          </a:xfrm>
          <a:prstGeom prst="roundRect">
            <a:avLst>
              <a:gd name="adj" fmla="val 3636"/>
            </a:avLst>
          </a:prstGeom>
          <a:solidFill>
            <a:srgbClr val="F5F5F7"/>
          </a:solidFill>
          <a:ln/>
        </p:spPr>
      </p:sp>
      <p:sp>
        <p:nvSpPr>
          <p:cNvPr id="8" name="Text 6"/>
          <p:cNvSpPr/>
          <p:nvPr/>
        </p:nvSpPr>
        <p:spPr>
          <a:xfrm>
            <a:off x="7818120" y="2468880"/>
            <a:ext cx="3227832" cy="2423160"/>
          </a:xfrm>
          <a:prstGeom prst="rect">
            <a:avLst/>
          </a:prstGeom>
          <a:noFill/>
          <a:ln/>
        </p:spPr>
        <p:txBody>
          <a:bodyPr wrap="square" lIns="0" tIns="0" rIns="0" bIns="0" rtlCol="0" anchor="t"/>
          <a:lstStyle/>
          <a:p>
            <a:pPr indent="0" marL="0">
              <a:lnSpc>
                <a:spcPts val="1800"/>
              </a:lnSpc>
              <a:buNone/>
            </a:pPr>
            <a:r>
              <a:rPr lang="en-US" sz="950" dirty="0">
                <a:solidFill>
                  <a:srgbClr val="86868B"/>
                </a:solidFill>
                <a:latin typeface="Courier New" pitchFamily="34" charset="0"/>
                <a:ea typeface="Courier New" pitchFamily="34" charset="-122"/>
                <a:cs typeface="Courier New" pitchFamily="34" charset="-120"/>
              </a:rPr>
              <a:t># One target flag is the whole difference.</a:t>
            </a:r>
            <a:endParaRPr lang="en-US" sz="950" dirty="0"/>
          </a:p>
          <a:p>
            <a:pPr indent="0" marL="0">
              <a:lnSpc>
                <a:spcPts val="1800"/>
              </a:lnSpc>
              <a:buNone/>
            </a:pPr>
            <a:r>
              <a:rPr lang="en-US" sz="950" dirty="0">
                <a:solidFill>
                  <a:srgbClr val="1D1D1F"/>
                </a:solidFill>
                <a:latin typeface="Courier New" pitchFamily="34" charset="0"/>
                <a:ea typeface="Courier New" pitchFamily="34" charset="-122"/>
                <a:cs typeface="Courier New" pitchFamily="34" charset="-120"/>
              </a:rPr>
              <a:t>tinygo flash -target=pico       ./cmd/sensor</a:t>
            </a:r>
            <a:endParaRPr lang="en-US" sz="950" dirty="0"/>
          </a:p>
          <a:p>
            <a:pPr indent="0" marL="0">
              <a:lnSpc>
                <a:spcPts val="1800"/>
              </a:lnSpc>
              <a:buNone/>
            </a:pPr>
            <a:r>
              <a:rPr lang="en-US" sz="950" dirty="0">
                <a:solidFill>
                  <a:srgbClr val="1D1D1F"/>
                </a:solidFill>
                <a:latin typeface="Courier New" pitchFamily="34" charset="0"/>
                <a:ea typeface="Courier New" pitchFamily="34" charset="-122"/>
                <a:cs typeface="Courier New" pitchFamily="34" charset="-120"/>
              </a:rPr>
              <a:t>tinygo flash -target=esp32c3    ./cmd/sensor</a:t>
            </a:r>
            <a:endParaRPr lang="en-US" sz="950" dirty="0"/>
          </a:p>
          <a:p>
            <a:pPr indent="0" marL="0">
              <a:lnSpc>
                <a:spcPts val="1800"/>
              </a:lnSpc>
              <a:buNone/>
            </a:pPr>
            <a:r>
              <a:rPr lang="en-US" sz="950" dirty="0">
                <a:solidFill>
                  <a:srgbClr val="1D1D1F"/>
                </a:solidFill>
                <a:latin typeface="Courier New" pitchFamily="34" charset="0"/>
                <a:ea typeface="Courier New" pitchFamily="34" charset="-122"/>
                <a:cs typeface="Courier New" pitchFamily="34" charset="-120"/>
              </a:rPr>
              <a:t> </a:t>
            </a:r>
            <a:endParaRPr lang="en-US" sz="950" dirty="0"/>
          </a:p>
          <a:p>
            <a:pPr indent="0" marL="0">
              <a:lnSpc>
                <a:spcPts val="1800"/>
              </a:lnSpc>
              <a:buNone/>
            </a:pPr>
            <a:r>
              <a:rPr lang="en-US" sz="950" dirty="0">
                <a:solidFill>
                  <a:srgbClr val="86868B"/>
                </a:solidFill>
                <a:latin typeface="Courier New" pitchFamily="34" charset="0"/>
                <a:ea typeface="Courier New" pitchFamily="34" charset="-122"/>
                <a:cs typeface="Courier New" pitchFamily="34" charset="-120"/>
              </a:rPr>
              <a:t># See what your board actually supports:</a:t>
            </a:r>
            <a:endParaRPr lang="en-US" sz="950" dirty="0"/>
          </a:p>
          <a:p>
            <a:pPr indent="0" marL="0">
              <a:lnSpc>
                <a:spcPts val="1800"/>
              </a:lnSpc>
              <a:buNone/>
            </a:pPr>
            <a:r>
              <a:rPr lang="en-US" sz="950" dirty="0">
                <a:solidFill>
                  <a:srgbClr val="1D1D1F"/>
                </a:solidFill>
                <a:latin typeface="Courier New" pitchFamily="34" charset="0"/>
                <a:ea typeface="Courier New" pitchFamily="34" charset="-122"/>
                <a:cs typeface="Courier New" pitchFamily="34" charset="-120"/>
              </a:rPr>
              <a:t>tinygo targets</a:t>
            </a:r>
            <a:endParaRPr lang="en-US" sz="950" dirty="0"/>
          </a:p>
          <a:p>
            <a:pPr indent="0" marL="0">
              <a:lnSpc>
                <a:spcPts val="1800"/>
              </a:lnSpc>
              <a:buNone/>
            </a:pPr>
            <a:r>
              <a:rPr lang="en-US" sz="950" dirty="0">
                <a:solidFill>
                  <a:srgbClr val="1D1D1F"/>
                </a:solidFill>
                <a:latin typeface="Courier New" pitchFamily="34" charset="0"/>
                <a:ea typeface="Courier New" pitchFamily="34" charset="-122"/>
                <a:cs typeface="Courier New" pitchFamily="34" charset="-120"/>
              </a:rPr>
              <a:t>tinygo info pico</a:t>
            </a:r>
            <a:endParaRPr lang="en-US" sz="950" dirty="0"/>
          </a:p>
          <a:p>
            <a:pPr indent="0" marL="0">
              <a:lnSpc>
                <a:spcPts val="1800"/>
              </a:lnSpc>
              <a:buNone/>
            </a:pPr>
            <a:r>
              <a:rPr lang="en-US" sz="950" dirty="0">
                <a:solidFill>
                  <a:srgbClr val="1D1D1F"/>
                </a:solidFill>
                <a:latin typeface="Courier New" pitchFamily="34" charset="0"/>
                <a:ea typeface="Courier New" pitchFamily="34" charset="-122"/>
                <a:cs typeface="Courier New" pitchFamily="34" charset="-120"/>
              </a:rPr>
              <a:t> </a:t>
            </a:r>
            <a:endParaRPr lang="en-US" sz="950" dirty="0"/>
          </a:p>
          <a:p>
            <a:pPr indent="0" marL="0">
              <a:lnSpc>
                <a:spcPts val="1800"/>
              </a:lnSpc>
              <a:buNone/>
            </a:pPr>
            <a:r>
              <a:rPr lang="en-US" sz="950" dirty="0">
                <a:solidFill>
                  <a:srgbClr val="86868B"/>
                </a:solidFill>
                <a:latin typeface="Courier New" pitchFamily="34" charset="0"/>
                <a:ea typeface="Courier New" pitchFamily="34" charset="-122"/>
                <a:cs typeface="Courier New" pitchFamily="34" charset="-120"/>
              </a:rPr>
              <a:t># Serial output from the running board:</a:t>
            </a:r>
            <a:endParaRPr lang="en-US" sz="950" dirty="0"/>
          </a:p>
          <a:p>
            <a:pPr indent="0" marL="0">
              <a:lnSpc>
                <a:spcPts val="1800"/>
              </a:lnSpc>
              <a:buNone/>
            </a:pPr>
            <a:r>
              <a:rPr lang="en-US" sz="950" dirty="0">
                <a:solidFill>
                  <a:srgbClr val="1D1D1F"/>
                </a:solidFill>
                <a:latin typeface="Courier New" pitchFamily="34" charset="0"/>
                <a:ea typeface="Courier New" pitchFamily="34" charset="-122"/>
                <a:cs typeface="Courier New" pitchFamily="34" charset="-120"/>
              </a:rPr>
              <a:t>tinygo monitor</a:t>
            </a:r>
            <a:endParaRPr lang="en-US" sz="950" dirty="0"/>
          </a:p>
        </p:txBody>
      </p:sp>
      <p:sp>
        <p:nvSpPr>
          <p:cNvPr id="9" name="Shape 7"/>
          <p:cNvSpPr/>
          <p:nvPr/>
        </p:nvSpPr>
        <p:spPr>
          <a:xfrm>
            <a:off x="822960" y="5394960"/>
            <a:ext cx="10543032" cy="0"/>
          </a:xfrm>
          <a:prstGeom prst="line">
            <a:avLst/>
          </a:prstGeom>
          <a:noFill/>
          <a:ln w="9525">
            <a:solidFill>
              <a:srgbClr val="D2D2D7"/>
            </a:solidFill>
            <a:prstDash val="solid"/>
          </a:ln>
        </p:spPr>
      </p:sp>
      <p:sp>
        <p:nvSpPr>
          <p:cNvPr id="10" name="Text 8"/>
          <p:cNvSpPr/>
          <p:nvPr/>
        </p:nvSpPr>
        <p:spPr>
          <a:xfrm>
            <a:off x="822960" y="5623560"/>
            <a:ext cx="10543032" cy="640080"/>
          </a:xfrm>
          <a:prstGeom prst="rect">
            <a:avLst/>
          </a:prstGeom>
          <a:noFill/>
          <a:ln/>
        </p:spPr>
        <p:txBody>
          <a:bodyPr wrap="square" lIns="0" tIns="0" rIns="0" bIns="0" rtlCol="0" anchor="t"/>
          <a:lstStyle/>
          <a:p>
            <a:pPr indent="0" marL="0">
              <a:buNone/>
            </a:pPr>
            <a:r>
              <a:rPr lang="en-US" sz="1400" b="1" dirty="0">
                <a:solidFill>
                  <a:srgbClr val="1D1D1F"/>
                </a:solidFill>
                <a:latin typeface="Arial" pitchFamily="34" charset="0"/>
                <a:ea typeface="Arial" pitchFamily="34" charset="-122"/>
                <a:cs typeface="Arial" pitchFamily="34" charset="-120"/>
              </a:rPr>
              <a:t>Buy a board that TinyGo actually supports.</a:t>
            </a:r>
            <a:pPr indent="0" marL="0">
              <a:buNone/>
            </a:pPr>
            <a:r>
              <a:rPr lang="en-US" sz="1400" dirty="0">
                <a:solidFill>
                  <a:srgbClr val="86868B"/>
                </a:solidFill>
                <a:latin typeface="Arial" pitchFamily="34" charset="0"/>
                <a:ea typeface="Arial" pitchFamily="34" charset="-122"/>
                <a:cs typeface="Arial" pitchFamily="34" charset="-120"/>
              </a:rPr>
              <a:t> Check tinygo.org/docs/reference/microcontrollers before you order anything.</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28</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EMBEDDED</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The machine package: a pin, a sensor, a loop</a:t>
            </a:r>
            <a:endParaRPr lang="en-US" sz="3000" dirty="0"/>
          </a:p>
        </p:txBody>
      </p:sp>
      <p:sp>
        <p:nvSpPr>
          <p:cNvPr id="5" name="Shape 3"/>
          <p:cNvSpPr/>
          <p:nvPr/>
        </p:nvSpPr>
        <p:spPr>
          <a:xfrm>
            <a:off x="822960" y="1783080"/>
            <a:ext cx="6400800" cy="4434840"/>
          </a:xfrm>
          <a:prstGeom prst="roundRect">
            <a:avLst>
              <a:gd name="adj" fmla="val 2474"/>
            </a:avLst>
          </a:prstGeom>
          <a:solidFill>
            <a:srgbClr val="F5F5F7"/>
          </a:solidFill>
          <a:ln/>
        </p:spPr>
      </p:sp>
      <p:sp>
        <p:nvSpPr>
          <p:cNvPr id="6" name="Text 4"/>
          <p:cNvSpPr/>
          <p:nvPr/>
        </p:nvSpPr>
        <p:spPr>
          <a:xfrm>
            <a:off x="1234440" y="2103120"/>
            <a:ext cx="5669280" cy="3840480"/>
          </a:xfrm>
          <a:prstGeom prst="rect">
            <a:avLst/>
          </a:prstGeom>
          <a:noFill/>
          <a:ln/>
        </p:spPr>
        <p:txBody>
          <a:bodyPr wrap="square" lIns="0" tIns="0" rIns="0" bIns="0" rtlCol="0" anchor="t"/>
          <a:lstStyle/>
          <a:p>
            <a:pPr indent="0" marL="0">
              <a:lnSpc>
                <a:spcPts val="1700"/>
              </a:lnSpc>
              <a:buNone/>
            </a:pPr>
            <a:r>
              <a:rPr lang="en-US" sz="900" dirty="0">
                <a:solidFill>
                  <a:srgbClr val="86868B"/>
                </a:solidFill>
                <a:latin typeface="Courier New" pitchFamily="34" charset="0"/>
                <a:ea typeface="Courier New" pitchFamily="34" charset="-122"/>
                <a:cs typeface="Courier New" pitchFamily="34" charset="-120"/>
              </a:rPr>
              <a:t>// import "machine" and "time" : machine is TinyGo's HAL,</a:t>
            </a:r>
            <a:endParaRPr lang="en-US" sz="900" dirty="0"/>
          </a:p>
          <a:p>
            <a:pPr indent="0" marL="0">
              <a:lnSpc>
                <a:spcPts val="1700"/>
              </a:lnSpc>
              <a:buNone/>
            </a:pPr>
            <a:r>
              <a:rPr lang="en-US" sz="900" dirty="0">
                <a:solidFill>
                  <a:srgbClr val="86868B"/>
                </a:solidFill>
                <a:latin typeface="Courier New" pitchFamily="34" charset="0"/>
                <a:ea typeface="Courier New" pitchFamily="34" charset="-122"/>
                <a:cs typeface="Courier New" pitchFamily="34" charset="-120"/>
              </a:rPr>
              <a:t>// one API across every supported board.</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func main() {</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led := machine.LED</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led.Configure(machine.PinConfig{Mode: machine.PinOutput})</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machine.InitADC()</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sensor := machine.ADC{Pin: machine.ADC0}</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sensor.Configure(machine.ADCConfig{})</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on := false</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for {</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on = !on</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led.Set(on)                // blink: proof of life</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raw := sensor.Get()        // 0 .. 65535, scaled for you</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println("adc:", raw)       // → the serial port</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time.Sleep(2 * time.Second)</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a:t>
            </a:r>
            <a:endParaRPr lang="en-US" sz="900" dirty="0"/>
          </a:p>
        </p:txBody>
      </p:sp>
      <p:sp>
        <p:nvSpPr>
          <p:cNvPr id="7" name="Text 5"/>
          <p:cNvSpPr/>
          <p:nvPr/>
        </p:nvSpPr>
        <p:spPr>
          <a:xfrm>
            <a:off x="7498080" y="1810512"/>
            <a:ext cx="3867912" cy="320040"/>
          </a:xfrm>
          <a:prstGeom prst="rect">
            <a:avLst/>
          </a:prstGeom>
          <a:noFill/>
          <a:ln/>
        </p:spPr>
        <p:txBody>
          <a:bodyPr wrap="square" lIns="0" tIns="0" rIns="0" bIns="0" rtlCol="0" anchor="ctr"/>
          <a:lstStyle/>
          <a:p>
            <a:pPr indent="0" marL="0">
              <a:buNone/>
            </a:pPr>
            <a:r>
              <a:rPr lang="en-US" sz="1400" b="1" dirty="0">
                <a:solidFill>
                  <a:srgbClr val="1D1D1F"/>
                </a:solidFill>
                <a:latin typeface="Arial" pitchFamily="34" charset="0"/>
                <a:ea typeface="Arial" pitchFamily="34" charset="-122"/>
                <a:cs typeface="Arial" pitchFamily="34" charset="-120"/>
              </a:rPr>
              <a:t>What is different from server Go</a:t>
            </a:r>
            <a:endParaRPr lang="en-US" sz="1400" dirty="0"/>
          </a:p>
        </p:txBody>
      </p:sp>
      <p:sp>
        <p:nvSpPr>
          <p:cNvPr id="8" name="Text 6"/>
          <p:cNvSpPr/>
          <p:nvPr/>
        </p:nvSpPr>
        <p:spPr>
          <a:xfrm>
            <a:off x="7498080" y="2240280"/>
            <a:ext cx="3867912" cy="3931920"/>
          </a:xfrm>
          <a:prstGeom prst="rect">
            <a:avLst/>
          </a:prstGeom>
          <a:noFill/>
          <a:ln/>
        </p:spPr>
        <p:txBody>
          <a:bodyPr wrap="square" lIns="0" tIns="0" rIns="0" bIns="0" rtlCol="0" anchor="t"/>
          <a:lstStyle/>
          <a:p>
            <a:pPr indent="0" marL="0">
              <a:spcAft>
                <a:spcPts val="900"/>
              </a:spcAft>
              <a:buNone/>
            </a:pPr>
            <a:r>
              <a:rPr lang="en-US" sz="1050" dirty="0">
                <a:solidFill>
                  <a:srgbClr val="86868B"/>
                </a:solidFill>
                <a:latin typeface="Arial" pitchFamily="34" charset="0"/>
                <a:ea typeface="Arial" pitchFamily="34" charset="-122"/>
                <a:cs typeface="Arial" pitchFamily="34" charset="-120"/>
              </a:rPr>
              <a:t>There is no main loop provided for you and nothing to return to. If main() exits, the board stops.</a:t>
            </a:r>
            <a:endParaRPr lang="en-US" sz="1050" dirty="0"/>
          </a:p>
          <a:p>
            <a:pPr indent="0" marL="0">
              <a:spcAft>
                <a:spcPts val="900"/>
              </a:spcAft>
              <a:buNone/>
            </a:pPr>
            <a:r>
              <a:rPr lang="en-US" sz="1050" dirty="0">
                <a:solidFill>
                  <a:srgbClr val="86868B"/>
                </a:solidFill>
                <a:latin typeface="Arial" pitchFamily="34" charset="0"/>
                <a:ea typeface="Arial" pitchFamily="34" charset="-122"/>
                <a:cs typeface="Arial" pitchFamily="34" charset="-120"/>
              </a:rPr>
              <a:t>machine.LED and machine.ADC0 are aliases the compiler resolves per target, so the same source flashes to a Pico and to an ESP32-C3.</a:t>
            </a:r>
            <a:endParaRPr lang="en-US" sz="1050" dirty="0"/>
          </a:p>
          <a:p>
            <a:pPr indent="0" marL="0">
              <a:spcAft>
                <a:spcPts val="900"/>
              </a:spcAft>
              <a:buNone/>
            </a:pPr>
            <a:r>
              <a:rPr lang="en-US" sz="1050" dirty="0">
                <a:solidFill>
                  <a:srgbClr val="86868B"/>
                </a:solidFill>
                <a:latin typeface="Arial" pitchFamily="34" charset="0"/>
                <a:ea typeface="Arial" pitchFamily="34" charset="-122"/>
                <a:cs typeface="Arial" pitchFamily="34" charset="-120"/>
              </a:rPr>
              <a:t>println goes to the serial port, which is why tinygo monitor is your debugger.</a:t>
            </a:r>
            <a:endParaRPr lang="en-US" sz="1050" dirty="0"/>
          </a:p>
          <a:p>
            <a:pPr indent="0" marL="0">
              <a:spcAft>
                <a:spcPts val="900"/>
              </a:spcAft>
              <a:buNone/>
            </a:pPr>
            <a:r>
              <a:rPr lang="en-US" sz="1050" dirty="0">
                <a:solidFill>
                  <a:srgbClr val="1D1D1F"/>
                </a:solidFill>
                <a:latin typeface="Arial" pitchFamily="34" charset="0"/>
                <a:ea typeface="Arial" pitchFamily="34" charset="-122"/>
                <a:cs typeface="Arial" pitchFamily="34" charset="-120"/>
              </a:rPr>
              <a:t>For a digital sensor, swap the ADC for machine.I2C0 and a driver from tinygo.org/x/drivers, where there are a few hundred of them.</a:t>
            </a:r>
            <a:endParaRPr lang="en-US" sz="1050" dirty="0"/>
          </a:p>
          <a:p>
            <a:pPr indent="0" marL="0">
              <a:spcAft>
                <a:spcPts val="900"/>
              </a:spcAft>
              <a:buNone/>
            </a:pPr>
            <a:r>
              <a:rPr lang="en-US" sz="1050" dirty="0">
                <a:solidFill>
                  <a:srgbClr val="86868B"/>
                </a:solidFill>
                <a:latin typeface="Arial" pitchFamily="34" charset="0"/>
                <a:ea typeface="Arial" pitchFamily="34" charset="-122"/>
                <a:cs typeface="Arial" pitchFamily="34" charset="-120"/>
              </a:rPr>
              <a:t>Goroutines work here: a ticker goroutine sampling into a channel, and main publishing from it, is idiomatic and costs a few hundred bytes of stack.</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29</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EMBEDDED</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Publishing a reading over MQTT</a:t>
            </a:r>
            <a:endParaRPr lang="en-US" sz="3000" dirty="0"/>
          </a:p>
        </p:txBody>
      </p:sp>
      <p:sp>
        <p:nvSpPr>
          <p:cNvPr id="5" name="Shape 3"/>
          <p:cNvSpPr/>
          <p:nvPr/>
        </p:nvSpPr>
        <p:spPr>
          <a:xfrm>
            <a:off x="822960" y="1737360"/>
            <a:ext cx="6858000" cy="4572000"/>
          </a:xfrm>
          <a:prstGeom prst="roundRect">
            <a:avLst>
              <a:gd name="adj" fmla="val 2400"/>
            </a:avLst>
          </a:prstGeom>
          <a:solidFill>
            <a:srgbClr val="F5F5F7"/>
          </a:solidFill>
          <a:ln/>
        </p:spPr>
      </p:sp>
      <p:sp>
        <p:nvSpPr>
          <p:cNvPr id="6" name="Text 4"/>
          <p:cNvSpPr/>
          <p:nvPr/>
        </p:nvSpPr>
        <p:spPr>
          <a:xfrm>
            <a:off x="1234440" y="2057400"/>
            <a:ext cx="6126480" cy="3977640"/>
          </a:xfrm>
          <a:prstGeom prst="rect">
            <a:avLst/>
          </a:prstGeom>
          <a:noFill/>
          <a:ln/>
        </p:spPr>
        <p:txBody>
          <a:bodyPr wrap="square" lIns="0" tIns="0" rIns="0" bIns="0" rtlCol="0" anchor="t"/>
          <a:lstStyle/>
          <a:p>
            <a:pPr indent="0" marL="0">
              <a:lnSpc>
                <a:spcPts val="1700"/>
              </a:lnSpc>
              <a:buNone/>
            </a:pPr>
            <a:r>
              <a:rPr lang="en-US" sz="900" dirty="0">
                <a:solidFill>
                  <a:srgbClr val="86868B"/>
                </a:solidFill>
                <a:latin typeface="Courier New" pitchFamily="34" charset="0"/>
                <a:ea typeface="Courier New" pitchFamily="34" charset="-122"/>
                <a:cs typeface="Courier New" pitchFamily="34" charset="-120"/>
              </a:rPr>
              <a:t>// 1. join the network (espradio / cyw43439 underneath)</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link, _ := netlink.New()</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link.NetConnect(&amp;netlink.ConnectParams{</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Ssid: ssid, Passphrase: pass,</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a:t>
            </a:r>
            <a:endParaRPr lang="en-US" sz="900" dirty="0"/>
          </a:p>
          <a:p>
            <a:pPr indent="0" marL="0">
              <a:lnSpc>
                <a:spcPts val="1700"/>
              </a:lnSpc>
              <a:buNone/>
            </a:pPr>
            <a:r>
              <a:rPr lang="en-US" sz="900" dirty="0">
                <a:solidFill>
                  <a:srgbClr val="86868B"/>
                </a:solidFill>
                <a:latin typeface="Courier New" pitchFamily="34" charset="0"/>
                <a:ea typeface="Courier New" pitchFamily="34" charset="-122"/>
                <a:cs typeface="Courier New" pitchFamily="34" charset="-120"/>
              </a:rPr>
              <a:t>// 2. connect to the broker</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opts := mqtt.NewClientOptions().</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AddBroker("tcp://192.168.1.10:1883").</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SetClientID("mec-sensor-01")</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client := mqtt.NewClient(opts)</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if t := client.Connect(); t.Wait() &amp;&amp; t.Error() != nil {</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panic(t.Error())</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a:t>
            </a:r>
            <a:endParaRPr lang="en-US" sz="900" dirty="0"/>
          </a:p>
          <a:p>
            <a:pPr indent="0" marL="0">
              <a:lnSpc>
                <a:spcPts val="1700"/>
              </a:lnSpc>
              <a:buNone/>
            </a:pPr>
            <a:r>
              <a:rPr lang="en-US" sz="900" dirty="0">
                <a:solidFill>
                  <a:srgbClr val="86868B"/>
                </a:solidFill>
                <a:latin typeface="Courier New" pitchFamily="34" charset="0"/>
                <a:ea typeface="Courier New" pitchFamily="34" charset="-122"/>
                <a:cs typeface="Courier New" pitchFamily="34" charset="-120"/>
              </a:rPr>
              <a:t>// 3. publish: topic, QoS, retained, payload</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msg := fmt.Sprintf(`{"c":%.1f,"seq":%d}`, tempC, seq)</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client.Publish("mec/lab/room1/temp", 0, false, msg)</a:t>
            </a:r>
            <a:endParaRPr lang="en-US" sz="900" dirty="0"/>
          </a:p>
        </p:txBody>
      </p:sp>
      <p:sp>
        <p:nvSpPr>
          <p:cNvPr id="7" name="Text 5"/>
          <p:cNvSpPr/>
          <p:nvPr/>
        </p:nvSpPr>
        <p:spPr>
          <a:xfrm>
            <a:off x="7955280" y="1810512"/>
            <a:ext cx="3410712" cy="320040"/>
          </a:xfrm>
          <a:prstGeom prst="rect">
            <a:avLst/>
          </a:prstGeom>
          <a:noFill/>
          <a:ln/>
        </p:spPr>
        <p:txBody>
          <a:bodyPr wrap="square" lIns="0" tIns="0" rIns="0" bIns="0" rtlCol="0" anchor="ctr"/>
          <a:lstStyle/>
          <a:p>
            <a:pPr indent="0" marL="0">
              <a:buNone/>
            </a:pPr>
            <a:r>
              <a:rPr lang="en-US" sz="1400" b="1" dirty="0">
                <a:solidFill>
                  <a:srgbClr val="1D1D1F"/>
                </a:solidFill>
                <a:latin typeface="Arial" pitchFamily="34" charset="0"/>
                <a:ea typeface="Arial" pitchFamily="34" charset="-122"/>
                <a:cs typeface="Arial" pitchFamily="34" charset="-120"/>
              </a:rPr>
              <a:t>Why MQTT and not HTTP</a:t>
            </a:r>
            <a:endParaRPr lang="en-US" sz="1400" dirty="0"/>
          </a:p>
        </p:txBody>
      </p:sp>
      <p:sp>
        <p:nvSpPr>
          <p:cNvPr id="8" name="Text 6"/>
          <p:cNvSpPr/>
          <p:nvPr/>
        </p:nvSpPr>
        <p:spPr>
          <a:xfrm>
            <a:off x="7955280" y="2240280"/>
            <a:ext cx="3410712" cy="3931920"/>
          </a:xfrm>
          <a:prstGeom prst="rect">
            <a:avLst/>
          </a:prstGeom>
          <a:noFill/>
          <a:ln/>
        </p:spPr>
        <p:txBody>
          <a:bodyPr wrap="square" lIns="0" tIns="0" rIns="0" bIns="0" rtlCol="0" anchor="t"/>
          <a:lstStyle/>
          <a:p>
            <a:pPr indent="0" marL="0">
              <a:spcAft>
                <a:spcPts val="1000"/>
              </a:spcAft>
              <a:buNone/>
            </a:pPr>
            <a:r>
              <a:rPr lang="en-US" sz="1050" dirty="0">
                <a:solidFill>
                  <a:srgbClr val="1D1D1F"/>
                </a:solidFill>
                <a:latin typeface="Arial" pitchFamily="34" charset="0"/>
                <a:ea typeface="Arial" pitchFamily="34" charset="-122"/>
                <a:cs typeface="Arial" pitchFamily="34" charset="-120"/>
              </a:rPr>
              <a:t>Packages: tinygo.org/x/drivers/netlink and .../net/mqtt.</a:t>
            </a:r>
            <a:endParaRPr lang="en-US" sz="1050" dirty="0"/>
          </a:p>
          <a:p>
            <a:pPr indent="0" marL="0">
              <a:spcAft>
                <a:spcPts val="1000"/>
              </a:spcAft>
              <a:buNone/>
            </a:pPr>
            <a:r>
              <a:rPr lang="en-US" sz="1050" dirty="0">
                <a:solidFill>
                  <a:srgbClr val="86868B"/>
                </a:solidFill>
                <a:latin typeface="Arial" pitchFamily="34" charset="0"/>
                <a:ea typeface="Arial" pitchFamily="34" charset="-122"/>
                <a:cs typeface="Arial" pitchFamily="34" charset="-120"/>
              </a:rPr>
              <a:t>A fixed header of two bytes, against several hundred bytes of HTTP headers per request. On a battery, bytes are energy.</a:t>
            </a:r>
            <a:endParaRPr lang="en-US" sz="1050" dirty="0"/>
          </a:p>
          <a:p>
            <a:pPr indent="0" marL="0">
              <a:spcAft>
                <a:spcPts val="1000"/>
              </a:spcAft>
              <a:buNone/>
            </a:pPr>
            <a:r>
              <a:rPr lang="en-US" sz="1050" dirty="0">
                <a:solidFill>
                  <a:srgbClr val="86868B"/>
                </a:solidFill>
                <a:latin typeface="Arial" pitchFamily="34" charset="0"/>
                <a:ea typeface="Arial" pitchFamily="34" charset="-122"/>
                <a:cs typeface="Arial" pitchFamily="34" charset="-120"/>
              </a:rPr>
              <a:t>The broker fans one reading out to every subscriber, such as a phone, a dashboard or a database, without the device knowing any of them exist.</a:t>
            </a:r>
            <a:endParaRPr lang="en-US" sz="1050" dirty="0"/>
          </a:p>
          <a:p>
            <a:pPr indent="0" marL="0">
              <a:spcAft>
                <a:spcPts val="1000"/>
              </a:spcAft>
              <a:buNone/>
            </a:pPr>
            <a:r>
              <a:rPr lang="en-US" sz="1050" dirty="0">
                <a:solidFill>
                  <a:srgbClr val="86868B"/>
                </a:solidFill>
                <a:latin typeface="Arial" pitchFamily="34" charset="0"/>
                <a:ea typeface="Arial" pitchFamily="34" charset="-122"/>
                <a:cs typeface="Arial" pitchFamily="34" charset="-120"/>
              </a:rPr>
              <a:t>Retained messages give a late subscriber the last known value immediately, and a last-will message announces that the device has dropped off when it stops answering.</a:t>
            </a:r>
            <a:endParaRPr lang="en-US" sz="1050" dirty="0"/>
          </a:p>
          <a:p>
            <a:pPr indent="0" marL="0">
              <a:spcAft>
                <a:spcPts val="1000"/>
              </a:spcAft>
              <a:buNone/>
            </a:pPr>
            <a:r>
              <a:rPr lang="en-US" sz="1050" dirty="0">
                <a:solidFill>
                  <a:srgbClr val="1D1D1F"/>
                </a:solidFill>
                <a:latin typeface="Arial" pitchFamily="34" charset="0"/>
                <a:ea typeface="Arial" pitchFamily="34" charset="-122"/>
                <a:cs typeface="Arial" pitchFamily="34" charset="-120"/>
              </a:rPr>
              <a:t>→ Lecture 8 introduced MQTT as one of the four realtime transports. This is the device end of it.</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30</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EMBEDDED</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The other end: your Flutter app subscribes</a:t>
            </a:r>
            <a:endParaRPr lang="en-US" sz="3000" dirty="0"/>
          </a:p>
        </p:txBody>
      </p:sp>
      <p:sp>
        <p:nvSpPr>
          <p:cNvPr id="5" name="Shape 3"/>
          <p:cNvSpPr/>
          <p:nvPr/>
        </p:nvSpPr>
        <p:spPr>
          <a:xfrm>
            <a:off x="822960" y="1783080"/>
            <a:ext cx="6858000" cy="4297680"/>
          </a:xfrm>
          <a:prstGeom prst="roundRect">
            <a:avLst>
              <a:gd name="adj" fmla="val 2553"/>
            </a:avLst>
          </a:prstGeom>
          <a:solidFill>
            <a:srgbClr val="F5F5F7"/>
          </a:solidFill>
          <a:ln/>
        </p:spPr>
      </p:sp>
      <p:sp>
        <p:nvSpPr>
          <p:cNvPr id="6" name="Text 4"/>
          <p:cNvSpPr/>
          <p:nvPr/>
        </p:nvSpPr>
        <p:spPr>
          <a:xfrm>
            <a:off x="1234440" y="2103120"/>
            <a:ext cx="6126480" cy="3703320"/>
          </a:xfrm>
          <a:prstGeom prst="rect">
            <a:avLst/>
          </a:prstGeom>
          <a:noFill/>
          <a:ln/>
        </p:spPr>
        <p:txBody>
          <a:bodyPr wrap="square" lIns="0" tIns="0" rIns="0" bIns="0" rtlCol="0" anchor="t"/>
          <a:lstStyle/>
          <a:p>
            <a:pPr indent="0" marL="0">
              <a:lnSpc>
                <a:spcPts val="1700"/>
              </a:lnSpc>
              <a:buNone/>
            </a:pPr>
            <a:r>
              <a:rPr lang="en-US" sz="900" dirty="0">
                <a:solidFill>
                  <a:srgbClr val="86868B"/>
                </a:solidFill>
                <a:latin typeface="Courier New" pitchFamily="34" charset="0"/>
                <a:ea typeface="Courier New" pitchFamily="34" charset="-122"/>
                <a:cs typeface="Courier New" pitchFamily="34" charset="-120"/>
              </a:rPr>
              <a:t>// pubspec.yaml:  mqtt_client: ^10.0.0</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final client = MqttServerClient('192.168.1.10', 'flutter-hub')</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..port = 1883</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..keepAlivePeriod = 30</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..onDisconnected = _scheduleReconnect;</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await client.connect();</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a:t>
            </a:r>
            <a:endParaRPr lang="en-US" sz="900" dirty="0"/>
          </a:p>
          <a:p>
            <a:pPr indent="0" marL="0">
              <a:lnSpc>
                <a:spcPts val="1700"/>
              </a:lnSpc>
              <a:buNone/>
            </a:pPr>
            <a:r>
              <a:rPr lang="en-US" sz="900" dirty="0">
                <a:solidFill>
                  <a:srgbClr val="86868B"/>
                </a:solidFill>
                <a:latin typeface="Courier New" pitchFamily="34" charset="0"/>
                <a:ea typeface="Courier New" pitchFamily="34" charset="-122"/>
                <a:cs typeface="Courier New" pitchFamily="34" charset="-120"/>
              </a:rPr>
              <a:t>// '+' matches one level: every room's temperature.</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client.subscribe('mec/lab/+/temp', MqttQos.atLeastOnce);</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client.updates!.listen((events) {</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final msg = events.first.payload as MqttPublishMessage;</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final text = MqttPublishPayload.bytesToStringAsString(</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msg.payload.message);</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_controller.add(Reading.fromJson(jsonDecode(text)));</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 → straight into your BLoC, → Lecture 8</a:t>
            </a:r>
            <a:endParaRPr lang="en-US" sz="900" dirty="0"/>
          </a:p>
        </p:txBody>
      </p:sp>
      <p:sp>
        <p:nvSpPr>
          <p:cNvPr id="7" name="Text 5"/>
          <p:cNvSpPr/>
          <p:nvPr/>
        </p:nvSpPr>
        <p:spPr>
          <a:xfrm>
            <a:off x="7955280" y="1810512"/>
            <a:ext cx="3410712" cy="320040"/>
          </a:xfrm>
          <a:prstGeom prst="rect">
            <a:avLst/>
          </a:prstGeom>
          <a:noFill/>
          <a:ln/>
        </p:spPr>
        <p:txBody>
          <a:bodyPr wrap="square" lIns="0" tIns="0" rIns="0" bIns="0" rtlCol="0" anchor="ctr"/>
          <a:lstStyle/>
          <a:p>
            <a:pPr indent="0" marL="0">
              <a:buNone/>
            </a:pPr>
            <a:r>
              <a:rPr lang="en-US" sz="1400" b="1" dirty="0">
                <a:solidFill>
                  <a:srgbClr val="F56300"/>
                </a:solidFill>
                <a:latin typeface="Arial" pitchFamily="34" charset="0"/>
                <a:ea typeface="Arial" pitchFamily="34" charset="-122"/>
                <a:cs typeface="Arial" pitchFamily="34" charset="-120"/>
              </a:rPr>
              <a:t>The loop the course promised</a:t>
            </a:r>
            <a:endParaRPr lang="en-US" sz="1400" dirty="0"/>
          </a:p>
        </p:txBody>
      </p:sp>
      <p:sp>
        <p:nvSpPr>
          <p:cNvPr id="8" name="Text 6"/>
          <p:cNvSpPr/>
          <p:nvPr/>
        </p:nvSpPr>
        <p:spPr>
          <a:xfrm>
            <a:off x="7955280" y="2240280"/>
            <a:ext cx="3410712" cy="3657600"/>
          </a:xfrm>
          <a:prstGeom prst="rect">
            <a:avLst/>
          </a:prstGeom>
          <a:noFill/>
          <a:ln/>
        </p:spPr>
        <p:txBody>
          <a:bodyPr wrap="square" lIns="0" tIns="0" rIns="0" bIns="0" rtlCol="0" anchor="t"/>
          <a:lstStyle/>
          <a:p>
            <a:pPr indent="0" marL="0">
              <a:spcAft>
                <a:spcPts val="1000"/>
              </a:spcAft>
              <a:buNone/>
            </a:pPr>
            <a:r>
              <a:rPr lang="en-US" sz="1050" dirty="0">
                <a:solidFill>
                  <a:srgbClr val="86868B"/>
                </a:solidFill>
                <a:latin typeface="Arial" pitchFamily="34" charset="0"/>
                <a:ea typeface="Arial" pitchFamily="34" charset="-122"/>
                <a:cs typeface="Arial" pitchFamily="34" charset="-120"/>
              </a:rPr>
              <a:t>Sensor → TinyGo → broker → Flutter, with nothing proprietary anywhere in the chain and about forty lines of code at each end.</a:t>
            </a:r>
            <a:endParaRPr lang="en-US" sz="1050" dirty="0"/>
          </a:p>
          <a:p>
            <a:pPr indent="0" marL="0">
              <a:spcAft>
                <a:spcPts val="1000"/>
              </a:spcAft>
              <a:buNone/>
            </a:pPr>
            <a:r>
              <a:rPr lang="en-US" sz="1050" dirty="0">
                <a:solidFill>
                  <a:srgbClr val="86868B"/>
                </a:solidFill>
                <a:latin typeface="Arial" pitchFamily="34" charset="0"/>
                <a:ea typeface="Arial" pitchFamily="34" charset="-122"/>
                <a:cs typeface="Arial" pitchFamily="34" charset="-120"/>
              </a:rPr>
              <a:t>The phone is the hub: it renders, it stores, it forwards to the cloud. The device only samples and publishes.</a:t>
            </a:r>
            <a:endParaRPr lang="en-US" sz="1050" dirty="0"/>
          </a:p>
          <a:p>
            <a:pPr indent="0" marL="0">
              <a:spcAft>
                <a:spcPts val="1000"/>
              </a:spcAft>
              <a:buNone/>
            </a:pPr>
            <a:r>
              <a:rPr lang="en-US" sz="1050" dirty="0">
                <a:solidFill>
                  <a:srgbClr val="1D1D1F"/>
                </a:solidFill>
                <a:latin typeface="Arial" pitchFamily="34" charset="0"/>
                <a:ea typeface="Arial" pitchFamily="34" charset="-122"/>
                <a:cs typeface="Arial" pitchFamily="34" charset="-120"/>
              </a:rPr>
              <a:t>Everything you learned about sockets applies unchanged: reconnect with backoff, close in dispose(), and never trust a connection that has gone quiet.</a:t>
            </a:r>
            <a:endParaRPr lang="en-US" sz="1050" dirty="0"/>
          </a:p>
          <a:p>
            <a:pPr indent="0" marL="0">
              <a:spcAft>
                <a:spcPts val="1000"/>
              </a:spcAft>
              <a:buNone/>
            </a:pPr>
            <a:r>
              <a:rPr lang="en-US" sz="1050" dirty="0">
                <a:solidFill>
                  <a:srgbClr val="86868B"/>
                </a:solidFill>
                <a:latin typeface="Arial" pitchFamily="34" charset="0"/>
                <a:ea typeface="Arial" pitchFamily="34" charset="-122"/>
                <a:cs typeface="Arial" pitchFamily="34" charset="-120"/>
              </a:rPr>
              <a:t>Use wss:// or MQTT over TLS the moment this leaves the lab network. An unauthenticated broker accepts anyone.</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31</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EMBEDDED</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Wake, send, sleep: energy at the device level</a:t>
            </a:r>
            <a:endParaRPr lang="en-US" sz="3000" dirty="0"/>
          </a:p>
        </p:txBody>
      </p:sp>
      <p:sp>
        <p:nvSpPr>
          <p:cNvPr id="5" name="Text 3"/>
          <p:cNvSpPr/>
          <p:nvPr/>
        </p:nvSpPr>
        <p:spPr>
          <a:xfrm>
            <a:off x="822960" y="1719072"/>
            <a:ext cx="6309360" cy="2468880"/>
          </a:xfrm>
          <a:prstGeom prst="rect">
            <a:avLst/>
          </a:prstGeom>
          <a:noFill/>
          <a:ln/>
        </p:spPr>
        <p:txBody>
          <a:bodyPr wrap="square" lIns="0" tIns="0" rIns="0" bIns="0" rtlCol="0" anchor="t"/>
          <a:lstStyle/>
          <a:p>
            <a:pPr indent="0" marL="0">
              <a:spcAft>
                <a:spcPts val="1100"/>
              </a:spcAft>
              <a:buNone/>
            </a:pPr>
            <a:r>
              <a:rPr lang="en-US" sz="1250" dirty="0">
                <a:solidFill>
                  <a:srgbClr val="1D1D1F"/>
                </a:solidFill>
                <a:latin typeface="Arial" pitchFamily="34" charset="0"/>
                <a:ea typeface="Arial" pitchFamily="34" charset="-122"/>
                <a:cs typeface="Arial" pitchFamily="34" charset="-120"/>
              </a:rPr>
              <a:t>On an ESP32-class part the datasheet spread between deep sleep and Wi-Fi transmit is roughly four orders of magnitude: microamps against hundreds of milliamps. The radio, not the processor, is the power budget.</a:t>
            </a:r>
            <a:endParaRPr lang="en-US" sz="1250" dirty="0"/>
          </a:p>
          <a:p>
            <a:pPr indent="0" marL="0">
              <a:spcAft>
                <a:spcPts val="1100"/>
              </a:spcAft>
              <a:buNone/>
            </a:pPr>
            <a:r>
              <a:rPr lang="en-US" sz="1250" b="1" dirty="0">
                <a:solidFill>
                  <a:srgbClr val="1D1D1F"/>
                </a:solidFill>
                <a:latin typeface="Arial" pitchFamily="34" charset="0"/>
                <a:ea typeface="Arial" pitchFamily="34" charset="-122"/>
                <a:cs typeface="Arial" pitchFamily="34" charset="-120"/>
              </a:rPr>
              <a:t>So the design question is not “how fast is the code” but “what fraction of the time is the radio on”.</a:t>
            </a:r>
            <a:endParaRPr lang="en-US" sz="1250" dirty="0"/>
          </a:p>
          <a:p>
            <a:pPr indent="0" marL="0">
              <a:spcAft>
                <a:spcPts val="1100"/>
              </a:spcAft>
              <a:buNone/>
            </a:pPr>
            <a:r>
              <a:rPr lang="en-US" sz="1250" dirty="0">
                <a:solidFill>
                  <a:srgbClr val="1D1D1F"/>
                </a:solidFill>
                <a:latin typeface="Arial" pitchFamily="34" charset="0"/>
                <a:ea typeface="Arial" pitchFamily="34" charset="-122"/>
                <a:cs typeface="Arial" pitchFamily="34" charset="-120"/>
              </a:rPr>
              <a:t>Average current ≈ (active current × active time + sleep current × sleep time) ÷ period. Shorten the active window or lengthen the period, and everything else is noise.</a:t>
            </a:r>
            <a:endParaRPr lang="en-US" sz="1250" dirty="0"/>
          </a:p>
        </p:txBody>
      </p:sp>
      <p:sp>
        <p:nvSpPr>
          <p:cNvPr id="6" name="Shape 4"/>
          <p:cNvSpPr/>
          <p:nvPr/>
        </p:nvSpPr>
        <p:spPr>
          <a:xfrm>
            <a:off x="7406640" y="1783080"/>
            <a:ext cx="3959352" cy="786384"/>
          </a:xfrm>
          <a:prstGeom prst="roundRect">
            <a:avLst>
              <a:gd name="adj" fmla="val 10465"/>
            </a:avLst>
          </a:prstGeom>
          <a:solidFill>
            <a:srgbClr val="FFFFFF"/>
          </a:solidFill>
          <a:ln w="12700">
            <a:solidFill>
              <a:srgbClr val="D2D2D7"/>
            </a:solidFill>
            <a:prstDash val="solid"/>
          </a:ln>
        </p:spPr>
      </p:sp>
      <p:sp>
        <p:nvSpPr>
          <p:cNvPr id="7" name="Text 5"/>
          <p:cNvSpPr/>
          <p:nvPr/>
        </p:nvSpPr>
        <p:spPr>
          <a:xfrm>
            <a:off x="7406640" y="1783080"/>
            <a:ext cx="3959352" cy="786384"/>
          </a:xfrm>
          <a:prstGeom prst="rect">
            <a:avLst/>
          </a:prstGeom>
          <a:noFill/>
          <a:ln/>
        </p:spPr>
        <p:txBody>
          <a:bodyPr wrap="square" lIns="0" tIns="0" rIns="0" bIns="0" rtlCol="0" anchor="ctr"/>
          <a:lstStyle/>
          <a:p>
            <a:pPr algn="ctr" indent="0" marL="0">
              <a:buNone/>
            </a:pPr>
            <a:r>
              <a:rPr lang="en-US" sz="1350" b="1" dirty="0">
                <a:solidFill>
                  <a:srgbClr val="1D1D1F"/>
                </a:solidFill>
                <a:latin typeface="Arial" pitchFamily="34" charset="0"/>
                <a:ea typeface="Arial" pitchFamily="34" charset="-122"/>
                <a:cs typeface="Arial" pitchFamily="34" charset="-120"/>
              </a:rPr>
              <a:t>Wake</a:t>
            </a:r>
            <a:endParaRPr lang="en-US" sz="1350" dirty="0"/>
          </a:p>
          <a:p>
            <a:pPr algn="ctr" indent="0" marL="0">
              <a:buNone/>
            </a:pPr>
            <a:r>
              <a:rPr lang="en-US" sz="1100" dirty="0">
                <a:solidFill>
                  <a:srgbClr val="86868B"/>
                </a:solidFill>
                <a:latin typeface="Arial" pitchFamily="34" charset="0"/>
                <a:ea typeface="Arial" pitchFamily="34" charset="-122"/>
                <a:cs typeface="Arial" pitchFamily="34" charset="-120"/>
              </a:rPr>
              <a:t>on a timer, or on an interrupt from the sensor</a:t>
            </a:r>
            <a:endParaRPr lang="en-US" sz="1350" dirty="0"/>
          </a:p>
        </p:txBody>
      </p:sp>
      <p:sp>
        <p:nvSpPr>
          <p:cNvPr id="8" name="Shape 6"/>
          <p:cNvSpPr/>
          <p:nvPr/>
        </p:nvSpPr>
        <p:spPr>
          <a:xfrm>
            <a:off x="9386316" y="2569464"/>
            <a:ext cx="0" cy="237744"/>
          </a:xfrm>
          <a:prstGeom prst="line">
            <a:avLst/>
          </a:prstGeom>
          <a:noFill/>
          <a:ln w="15875">
            <a:solidFill>
              <a:srgbClr val="86868B"/>
            </a:solidFill>
            <a:prstDash val="solid"/>
            <a:tailEnd type="triangle"/>
          </a:ln>
        </p:spPr>
      </p:sp>
      <p:sp>
        <p:nvSpPr>
          <p:cNvPr id="9" name="Shape 7"/>
          <p:cNvSpPr/>
          <p:nvPr/>
        </p:nvSpPr>
        <p:spPr>
          <a:xfrm>
            <a:off x="7406640" y="2807208"/>
            <a:ext cx="3959352" cy="786384"/>
          </a:xfrm>
          <a:prstGeom prst="roundRect">
            <a:avLst>
              <a:gd name="adj" fmla="val 10465"/>
            </a:avLst>
          </a:prstGeom>
          <a:solidFill>
            <a:srgbClr val="FFFFFF"/>
          </a:solidFill>
          <a:ln w="12700">
            <a:solidFill>
              <a:srgbClr val="D2D2D7"/>
            </a:solidFill>
            <a:prstDash val="solid"/>
          </a:ln>
        </p:spPr>
      </p:sp>
      <p:sp>
        <p:nvSpPr>
          <p:cNvPr id="10" name="Text 8"/>
          <p:cNvSpPr/>
          <p:nvPr/>
        </p:nvSpPr>
        <p:spPr>
          <a:xfrm>
            <a:off x="7406640" y="2807208"/>
            <a:ext cx="3959352" cy="786384"/>
          </a:xfrm>
          <a:prstGeom prst="rect">
            <a:avLst/>
          </a:prstGeom>
          <a:noFill/>
          <a:ln/>
        </p:spPr>
        <p:txBody>
          <a:bodyPr wrap="square" lIns="0" tIns="0" rIns="0" bIns="0" rtlCol="0" anchor="ctr"/>
          <a:lstStyle/>
          <a:p>
            <a:pPr algn="ctr" indent="0" marL="0">
              <a:buNone/>
            </a:pPr>
            <a:r>
              <a:rPr lang="en-US" sz="1350" b="1" dirty="0">
                <a:solidFill>
                  <a:srgbClr val="1D1D1F"/>
                </a:solidFill>
                <a:latin typeface="Arial" pitchFamily="34" charset="0"/>
                <a:ea typeface="Arial" pitchFamily="34" charset="-122"/>
                <a:cs typeface="Arial" pitchFamily="34" charset="-120"/>
              </a:rPr>
              <a:t>Sample &amp; batch</a:t>
            </a:r>
            <a:endParaRPr lang="en-US" sz="1350" dirty="0"/>
          </a:p>
          <a:p>
            <a:pPr algn="ctr" indent="0" marL="0">
              <a:buNone/>
            </a:pPr>
            <a:r>
              <a:rPr lang="en-US" sz="1100" dirty="0">
                <a:solidFill>
                  <a:srgbClr val="86868B"/>
                </a:solidFill>
                <a:latin typeface="Arial" pitchFamily="34" charset="0"/>
                <a:ea typeface="Arial" pitchFamily="34" charset="-122"/>
                <a:cs typeface="Arial" pitchFamily="34" charset="-120"/>
              </a:rPr>
              <a:t>several readings before you spend a connection</a:t>
            </a:r>
            <a:endParaRPr lang="en-US" sz="1350" dirty="0"/>
          </a:p>
        </p:txBody>
      </p:sp>
      <p:sp>
        <p:nvSpPr>
          <p:cNvPr id="11" name="Shape 9"/>
          <p:cNvSpPr/>
          <p:nvPr/>
        </p:nvSpPr>
        <p:spPr>
          <a:xfrm>
            <a:off x="9386316" y="3593592"/>
            <a:ext cx="0" cy="237744"/>
          </a:xfrm>
          <a:prstGeom prst="line">
            <a:avLst/>
          </a:prstGeom>
          <a:noFill/>
          <a:ln w="15875">
            <a:solidFill>
              <a:srgbClr val="86868B"/>
            </a:solidFill>
            <a:prstDash val="solid"/>
            <a:tailEnd type="triangle"/>
          </a:ln>
        </p:spPr>
      </p:sp>
      <p:sp>
        <p:nvSpPr>
          <p:cNvPr id="12" name="Shape 10"/>
          <p:cNvSpPr/>
          <p:nvPr/>
        </p:nvSpPr>
        <p:spPr>
          <a:xfrm>
            <a:off x="7406640" y="3831336"/>
            <a:ext cx="3959352" cy="786384"/>
          </a:xfrm>
          <a:prstGeom prst="roundRect">
            <a:avLst>
              <a:gd name="adj" fmla="val 10465"/>
            </a:avLst>
          </a:prstGeom>
          <a:solidFill>
            <a:srgbClr val="000000"/>
          </a:solidFill>
          <a:ln/>
        </p:spPr>
      </p:sp>
      <p:sp>
        <p:nvSpPr>
          <p:cNvPr id="13" name="Text 11"/>
          <p:cNvSpPr/>
          <p:nvPr/>
        </p:nvSpPr>
        <p:spPr>
          <a:xfrm>
            <a:off x="7406640" y="3831336"/>
            <a:ext cx="3959352" cy="786384"/>
          </a:xfrm>
          <a:prstGeom prst="rect">
            <a:avLst/>
          </a:prstGeom>
          <a:noFill/>
          <a:ln/>
        </p:spPr>
        <p:txBody>
          <a:bodyPr wrap="square" lIns="0" tIns="0" rIns="0" bIns="0" rtlCol="0" anchor="ctr"/>
          <a:lstStyle/>
          <a:p>
            <a:pPr algn="ctr" indent="0" marL="0">
              <a:buNone/>
            </a:pPr>
            <a:r>
              <a:rPr lang="en-US" sz="1350" b="1" dirty="0">
                <a:solidFill>
                  <a:srgbClr val="FFFFFF"/>
                </a:solidFill>
                <a:latin typeface="Arial" pitchFamily="34" charset="0"/>
                <a:ea typeface="Arial" pitchFamily="34" charset="-122"/>
                <a:cs typeface="Arial" pitchFamily="34" charset="-120"/>
              </a:rPr>
              <a:t>Connect, publish, close</a:t>
            </a:r>
            <a:endParaRPr lang="en-US" sz="1350" dirty="0"/>
          </a:p>
          <a:p>
            <a:pPr algn="ctr" indent="0" marL="0">
              <a:buNone/>
            </a:pPr>
            <a:r>
              <a:rPr lang="en-US" sz="1100" dirty="0">
                <a:solidFill>
                  <a:srgbClr val="A1A1A6"/>
                </a:solidFill>
                <a:latin typeface="Arial" pitchFamily="34" charset="0"/>
                <a:ea typeface="Arial" pitchFamily="34" charset="-122"/>
                <a:cs typeface="Arial" pitchFamily="34" charset="-120"/>
              </a:rPr>
              <a:t>the only expensive step, so keep it short</a:t>
            </a:r>
            <a:endParaRPr lang="en-US" sz="1350" dirty="0"/>
          </a:p>
        </p:txBody>
      </p:sp>
      <p:sp>
        <p:nvSpPr>
          <p:cNvPr id="14" name="Shape 12"/>
          <p:cNvSpPr/>
          <p:nvPr/>
        </p:nvSpPr>
        <p:spPr>
          <a:xfrm>
            <a:off x="9386316" y="4617720"/>
            <a:ext cx="0" cy="237744"/>
          </a:xfrm>
          <a:prstGeom prst="line">
            <a:avLst/>
          </a:prstGeom>
          <a:noFill/>
          <a:ln w="15875">
            <a:solidFill>
              <a:srgbClr val="86868B"/>
            </a:solidFill>
            <a:prstDash val="solid"/>
            <a:tailEnd type="triangle"/>
          </a:ln>
        </p:spPr>
      </p:sp>
      <p:sp>
        <p:nvSpPr>
          <p:cNvPr id="15" name="Shape 13"/>
          <p:cNvSpPr/>
          <p:nvPr/>
        </p:nvSpPr>
        <p:spPr>
          <a:xfrm>
            <a:off x="7406640" y="4855464"/>
            <a:ext cx="3959352" cy="786384"/>
          </a:xfrm>
          <a:prstGeom prst="roundRect">
            <a:avLst>
              <a:gd name="adj" fmla="val 13953"/>
            </a:avLst>
          </a:prstGeom>
          <a:solidFill>
            <a:srgbClr val="F5F5F7"/>
          </a:solidFill>
          <a:ln/>
        </p:spPr>
      </p:sp>
      <p:sp>
        <p:nvSpPr>
          <p:cNvPr id="16" name="Text 14"/>
          <p:cNvSpPr/>
          <p:nvPr/>
        </p:nvSpPr>
        <p:spPr>
          <a:xfrm>
            <a:off x="7406640" y="4855464"/>
            <a:ext cx="3959352" cy="786384"/>
          </a:xfrm>
          <a:prstGeom prst="rect">
            <a:avLst/>
          </a:prstGeom>
          <a:noFill/>
          <a:ln/>
        </p:spPr>
        <p:txBody>
          <a:bodyPr wrap="square" lIns="0" tIns="0" rIns="0" bIns="0" rtlCol="0" anchor="ctr"/>
          <a:lstStyle/>
          <a:p>
            <a:pPr algn="ctr" indent="0" marL="0">
              <a:buNone/>
            </a:pPr>
            <a:r>
              <a:rPr lang="en-US" sz="1350" b="1" dirty="0">
                <a:solidFill>
                  <a:srgbClr val="1D1D1F"/>
                </a:solidFill>
                <a:latin typeface="Arial" pitchFamily="34" charset="0"/>
                <a:ea typeface="Arial" pitchFamily="34" charset="-122"/>
                <a:cs typeface="Arial" pitchFamily="34" charset="-120"/>
              </a:rPr>
              <a:t>Deep sleep</a:t>
            </a:r>
            <a:endParaRPr lang="en-US" sz="1350" dirty="0"/>
          </a:p>
          <a:p>
            <a:pPr algn="ctr" indent="0" marL="0">
              <a:buNone/>
            </a:pPr>
            <a:r>
              <a:rPr lang="en-US" sz="1100" dirty="0">
                <a:solidFill>
                  <a:srgbClr val="86868B"/>
                </a:solidFill>
                <a:latin typeface="Arial" pitchFamily="34" charset="0"/>
                <a:ea typeface="Arial" pitchFamily="34" charset="-122"/>
                <a:cs typeface="Arial" pitchFamily="34" charset="-120"/>
              </a:rPr>
              <a:t>radio off, RAM retained, microamps</a:t>
            </a:r>
            <a:endParaRPr lang="en-US" sz="1350" dirty="0"/>
          </a:p>
        </p:txBody>
      </p:sp>
      <p:sp>
        <p:nvSpPr>
          <p:cNvPr id="17" name="Shape 15"/>
          <p:cNvSpPr/>
          <p:nvPr/>
        </p:nvSpPr>
        <p:spPr>
          <a:xfrm>
            <a:off x="822960" y="4434840"/>
            <a:ext cx="6309360" cy="0"/>
          </a:xfrm>
          <a:prstGeom prst="line">
            <a:avLst/>
          </a:prstGeom>
          <a:noFill/>
          <a:ln w="9525">
            <a:solidFill>
              <a:srgbClr val="D2D2D7"/>
            </a:solidFill>
            <a:prstDash val="solid"/>
          </a:ln>
        </p:spPr>
      </p:sp>
      <p:sp>
        <p:nvSpPr>
          <p:cNvPr id="18" name="Text 16"/>
          <p:cNvSpPr/>
          <p:nvPr/>
        </p:nvSpPr>
        <p:spPr>
          <a:xfrm>
            <a:off x="822960" y="4617720"/>
            <a:ext cx="6309360" cy="1371600"/>
          </a:xfrm>
          <a:prstGeom prst="rect">
            <a:avLst/>
          </a:prstGeom>
          <a:noFill/>
          <a:ln/>
        </p:spPr>
        <p:txBody>
          <a:bodyPr wrap="square" lIns="0" tIns="0" rIns="0" bIns="0" rtlCol="0" anchor="t"/>
          <a:lstStyle/>
          <a:p>
            <a:pPr indent="0" marL="0">
              <a:spcAft>
                <a:spcPts val="800"/>
              </a:spcAft>
              <a:buNone/>
            </a:pPr>
            <a:r>
              <a:rPr lang="en-US" sz="1200" b="1" dirty="0">
                <a:solidFill>
                  <a:srgbClr val="1D1D1F"/>
                </a:solidFill>
                <a:latin typeface="Arial" pitchFamily="34" charset="0"/>
                <a:ea typeface="Arial" pitchFamily="34" charset="-122"/>
                <a:cs typeface="Arial" pitchFamily="34" charset="-120"/>
              </a:rPr>
              <a:t>“Stay connected” loses to “wake, send, sleep”.</a:t>
            </a:r>
            <a:endParaRPr lang="en-US" sz="1200" dirty="0"/>
          </a:p>
          <a:p>
            <a:pPr indent="0" marL="0">
              <a:spcAft>
                <a:spcPts val="800"/>
              </a:spcAft>
              <a:buNone/>
            </a:pPr>
            <a:r>
              <a:rPr lang="en-US" sz="1200" dirty="0">
                <a:solidFill>
                  <a:srgbClr val="1D1D1F"/>
                </a:solidFill>
                <a:latin typeface="Arial" pitchFamily="34" charset="0"/>
                <a:ea typeface="Arial" pitchFamily="34" charset="-122"/>
                <a:cs typeface="Arial" pitchFamily="34" charset="-120"/>
              </a:rPr>
              <a:t>An MQTT keepalive holds the radio in a powered state forever to save a handshake you only pay once. Unless you need commands pushed to the device within seconds, sleep between publishes and accept the reconnect.</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822960" y="640080"/>
            <a:ext cx="10515600" cy="64008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Before next week</a:t>
            </a:r>
            <a:endParaRPr lang="en-US" sz="3000" dirty="0"/>
          </a:p>
        </p:txBody>
      </p:sp>
      <p:pic>
        <p:nvPicPr>
          <p:cNvPr id="3" name="Image 0" descr="/Users/dinu/dev/upb/mobile-and-embedded-computing/slides/assets/icons2/checklist-white.png">    </p:cNvPr>
          <p:cNvPicPr>
            <a:picLocks noChangeAspect="1"/>
          </p:cNvPicPr>
          <p:nvPr/>
        </p:nvPicPr>
        <p:blipFill>
          <a:blip r:embed="rId1"/>
          <a:stretch>
            <a:fillRect/>
          </a:stretch>
        </p:blipFill>
        <p:spPr>
          <a:xfrm>
            <a:off x="822960" y="1783080"/>
            <a:ext cx="384048" cy="384048"/>
          </a:xfrm>
          <a:prstGeom prst="rect">
            <a:avLst/>
          </a:prstGeom>
        </p:spPr>
      </p:pic>
      <p:sp>
        <p:nvSpPr>
          <p:cNvPr id="4" name="Text 1"/>
          <p:cNvSpPr/>
          <p:nvPr/>
        </p:nvSpPr>
        <p:spPr>
          <a:xfrm>
            <a:off x="822960" y="2286000"/>
            <a:ext cx="3383280" cy="45720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Recap</a:t>
            </a:r>
            <a:endParaRPr lang="en-US" sz="1700" dirty="0"/>
          </a:p>
        </p:txBody>
      </p:sp>
      <p:sp>
        <p:nvSpPr>
          <p:cNvPr id="5" name="Text 2"/>
          <p:cNvSpPr/>
          <p:nvPr/>
        </p:nvSpPr>
        <p:spPr>
          <a:xfrm>
            <a:off x="822960" y="2880360"/>
            <a:ext cx="3383280" cy="2743200"/>
          </a:xfrm>
          <a:prstGeom prst="rect">
            <a:avLst/>
          </a:prstGeom>
          <a:noFill/>
          <a:ln/>
        </p:spPr>
        <p:txBody>
          <a:bodyPr wrap="square" lIns="0" tIns="0" rIns="0" bIns="0" rtlCol="0" anchor="t"/>
          <a:lstStyle/>
          <a:p>
            <a:pPr indent="0" marL="0">
              <a:spcAft>
                <a:spcPts val="1100"/>
              </a:spcAft>
              <a:buNone/>
            </a:pPr>
            <a:r>
              <a:rPr lang="en-US" sz="1250" dirty="0">
                <a:solidFill>
                  <a:srgbClr val="A1A1A6"/>
                </a:solidFill>
                <a:latin typeface="Arial" pitchFamily="34" charset="0"/>
                <a:ea typeface="Arial" pitchFamily="34" charset="-122"/>
                <a:cs typeface="Arial" pitchFamily="34" charset="-120"/>
              </a:rPr>
              <a:t>One frame budget = 1 ÷ refresh rate: 8.3 ms at 120 Hz, not 16</a:t>
            </a:r>
            <a:endParaRPr lang="en-US" sz="1250" dirty="0"/>
          </a:p>
          <a:p>
            <a:pPr indent="0" marL="0">
              <a:spcAft>
                <a:spcPts val="1100"/>
              </a:spcAft>
              <a:buNone/>
            </a:pPr>
            <a:r>
              <a:rPr lang="en-US" sz="1250" dirty="0">
                <a:solidFill>
                  <a:srgbClr val="A1A1A6"/>
                </a:solidFill>
                <a:latin typeface="Arial" pitchFamily="34" charset="0"/>
                <a:ea typeface="Arial" pitchFamily="34" charset="-122"/>
                <a:cs typeface="Arial" pitchFamily="34" charset="-120"/>
              </a:rPr>
              <a:t>Widget cheap, element persistent, render object expensive; canUpdate decides</a:t>
            </a:r>
            <a:endParaRPr lang="en-US" sz="1250" dirty="0"/>
          </a:p>
          <a:p>
            <a:pPr indent="0" marL="0">
              <a:spcAft>
                <a:spcPts val="1100"/>
              </a:spcAft>
              <a:buNone/>
            </a:pPr>
            <a:r>
              <a:rPr lang="en-US" sz="1250" dirty="0">
                <a:solidFill>
                  <a:srgbClr val="A1A1A6"/>
                </a:solidFill>
                <a:latin typeface="Arial" pitchFamily="34" charset="0"/>
                <a:ea typeface="Arial" pitchFamily="34" charset="-122"/>
                <a:cs typeface="Arial" pitchFamily="34" charset="-120"/>
              </a:rPr>
              <a:t>const, ListView.builder, keys, and no needless saveLayer</a:t>
            </a:r>
            <a:endParaRPr lang="en-US" sz="1250" dirty="0"/>
          </a:p>
          <a:p>
            <a:pPr indent="0" marL="0">
              <a:spcAft>
                <a:spcPts val="1100"/>
              </a:spcAft>
              <a:buNone/>
            </a:pPr>
            <a:r>
              <a:rPr lang="en-US" sz="1250" dirty="0">
                <a:solidFill>
                  <a:srgbClr val="A1A1A6"/>
                </a:solidFill>
                <a:latin typeface="Arial" pitchFamily="34" charset="0"/>
                <a:ea typeface="Arial" pitchFamily="34" charset="-122"/>
                <a:cs typeface="Arial" pitchFamily="34" charset="-120"/>
              </a:rPr>
              <a:t>JIT and AOT are build modes: debug for you, release for users</a:t>
            </a:r>
            <a:endParaRPr lang="en-US" sz="1250" dirty="0"/>
          </a:p>
          <a:p>
            <a:pPr indent="0" marL="0">
              <a:spcAft>
                <a:spcPts val="1100"/>
              </a:spcAft>
              <a:buNone/>
            </a:pPr>
            <a:r>
              <a:rPr lang="en-US" sz="1250" dirty="0">
                <a:solidFill>
                  <a:srgbClr val="A1A1A6"/>
                </a:solidFill>
                <a:latin typeface="Arial" pitchFamily="34" charset="0"/>
                <a:ea typeface="Arial" pitchFamily="34" charset="-122"/>
                <a:cs typeface="Arial" pitchFamily="34" charset="-120"/>
              </a:rPr>
              <a:t>Radio dominates energy, on a phone and on a microcontroller alike</a:t>
            </a:r>
            <a:endParaRPr lang="en-US" sz="1250" dirty="0"/>
          </a:p>
        </p:txBody>
      </p:sp>
      <p:pic>
        <p:nvPicPr>
          <p:cNvPr id="6" name="Image 1" descr="/Users/dinu/dev/upb/mobile-and-embedded-computing/slides/assets/icons2/calendar-white.png">    </p:cNvPr>
          <p:cNvPicPr>
            <a:picLocks noChangeAspect="1"/>
          </p:cNvPicPr>
          <p:nvPr/>
        </p:nvPicPr>
        <p:blipFill>
          <a:blip r:embed="rId2"/>
          <a:stretch>
            <a:fillRect/>
          </a:stretch>
        </p:blipFill>
        <p:spPr>
          <a:xfrm>
            <a:off x="4389120" y="1783080"/>
            <a:ext cx="384048" cy="384048"/>
          </a:xfrm>
          <a:prstGeom prst="rect">
            <a:avLst/>
          </a:prstGeom>
        </p:spPr>
      </p:pic>
      <p:sp>
        <p:nvSpPr>
          <p:cNvPr id="7" name="Text 3"/>
          <p:cNvSpPr/>
          <p:nvPr/>
        </p:nvSpPr>
        <p:spPr>
          <a:xfrm>
            <a:off x="4389120" y="2286000"/>
            <a:ext cx="3383280" cy="45720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This week</a:t>
            </a:r>
            <a:endParaRPr lang="en-US" sz="1700" dirty="0"/>
          </a:p>
        </p:txBody>
      </p:sp>
      <p:sp>
        <p:nvSpPr>
          <p:cNvPr id="8" name="Text 4"/>
          <p:cNvSpPr/>
          <p:nvPr/>
        </p:nvSpPr>
        <p:spPr>
          <a:xfrm>
            <a:off x="4389120" y="2880360"/>
            <a:ext cx="3383280" cy="2743200"/>
          </a:xfrm>
          <a:prstGeom prst="rect">
            <a:avLst/>
          </a:prstGeom>
          <a:noFill/>
          <a:ln/>
        </p:spPr>
        <p:txBody>
          <a:bodyPr wrap="square" lIns="0" tIns="0" rIns="0" bIns="0" rtlCol="0" anchor="t"/>
          <a:lstStyle/>
          <a:p>
            <a:pPr indent="0" marL="0">
              <a:spcAft>
                <a:spcPts val="1100"/>
              </a:spcAft>
              <a:buNone/>
            </a:pPr>
            <a:r>
              <a:rPr lang="en-US" sz="1250" dirty="0">
                <a:solidFill>
                  <a:srgbClr val="A1A1A6"/>
                </a:solidFill>
                <a:latin typeface="Arial" pitchFamily="34" charset="0"/>
                <a:ea typeface="Arial" pitchFamily="34" charset="-122"/>
                <a:cs typeface="Arial" pitchFamily="34" charset="-120"/>
              </a:rPr>
              <a:t>Profile your project in --profile mode on a real device; find one red frame and fix it</a:t>
            </a:r>
            <a:endParaRPr lang="en-US" sz="1250" dirty="0"/>
          </a:p>
          <a:p>
            <a:pPr indent="0" marL="0">
              <a:spcAft>
                <a:spcPts val="1100"/>
              </a:spcAft>
              <a:buNone/>
            </a:pPr>
            <a:r>
              <a:rPr lang="en-US" sz="1250" dirty="0">
                <a:solidFill>
                  <a:srgbClr val="A1A1A6"/>
                </a:solidFill>
                <a:latin typeface="Arial" pitchFamily="34" charset="0"/>
                <a:ea typeface="Arial" pitchFamily="34" charset="-122"/>
                <a:cs typeface="Arial" pitchFamily="34" charset="-120"/>
              </a:rPr>
              <a:t>Turn on prefer_const_constructors and let the IDE do the rest</a:t>
            </a:r>
            <a:endParaRPr lang="en-US" sz="1250" dirty="0"/>
          </a:p>
          <a:p>
            <a:pPr indent="0" marL="0">
              <a:spcAft>
                <a:spcPts val="1100"/>
              </a:spcAft>
              <a:buNone/>
            </a:pPr>
            <a:r>
              <a:rPr lang="en-US" sz="1250" dirty="0">
                <a:solidFill>
                  <a:srgbClr val="A1A1A6"/>
                </a:solidFill>
                <a:latin typeface="Arial" pitchFamily="34" charset="0"/>
                <a:ea typeface="Arial" pitchFamily="34" charset="-122"/>
                <a:cs typeface="Arial" pitchFamily="34" charset="-120"/>
              </a:rPr>
              <a:t>Order a Pico or an ESP32-C3, not an original ESP32</a:t>
            </a:r>
            <a:endParaRPr lang="en-US" sz="1250" dirty="0"/>
          </a:p>
          <a:p>
            <a:pPr indent="0" marL="0">
              <a:spcAft>
                <a:spcPts val="1100"/>
              </a:spcAft>
              <a:buNone/>
            </a:pPr>
            <a:r>
              <a:rPr lang="en-US" sz="1250" dirty="0">
                <a:solidFill>
                  <a:srgbClr val="A1A1A6"/>
                </a:solidFill>
                <a:latin typeface="Arial" pitchFamily="34" charset="0"/>
                <a:ea typeface="Arial" pitchFamily="34" charset="-122"/>
                <a:cs typeface="Arial" pitchFamily="34" charset="-120"/>
              </a:rPr>
              <a:t>Flash the blink example and get one reading onto a broker</a:t>
            </a:r>
            <a:endParaRPr lang="en-US" sz="1250" dirty="0"/>
          </a:p>
        </p:txBody>
      </p:sp>
      <p:pic>
        <p:nvPicPr>
          <p:cNvPr id="9" name="Image 2" descr="/Users/dinu/dev/upb/mobile-and-embedded-computing/slides/assets/icons2/bookopen-white.png">    </p:cNvPr>
          <p:cNvPicPr>
            <a:picLocks noChangeAspect="1"/>
          </p:cNvPicPr>
          <p:nvPr/>
        </p:nvPicPr>
        <p:blipFill>
          <a:blip r:embed="rId3"/>
          <a:stretch>
            <a:fillRect/>
          </a:stretch>
        </p:blipFill>
        <p:spPr>
          <a:xfrm>
            <a:off x="7955280" y="1783080"/>
            <a:ext cx="384048" cy="384048"/>
          </a:xfrm>
          <a:prstGeom prst="rect">
            <a:avLst/>
          </a:prstGeom>
        </p:spPr>
      </p:pic>
      <p:sp>
        <p:nvSpPr>
          <p:cNvPr id="10" name="Text 5"/>
          <p:cNvSpPr/>
          <p:nvPr/>
        </p:nvSpPr>
        <p:spPr>
          <a:xfrm>
            <a:off x="7955280" y="2286000"/>
            <a:ext cx="3383280" cy="45720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Read more</a:t>
            </a:r>
            <a:endParaRPr lang="en-US" sz="1700" dirty="0"/>
          </a:p>
        </p:txBody>
      </p:sp>
      <p:sp>
        <p:nvSpPr>
          <p:cNvPr id="11" name="Text 6"/>
          <p:cNvSpPr/>
          <p:nvPr/>
        </p:nvSpPr>
        <p:spPr>
          <a:xfrm>
            <a:off x="7955280" y="2880360"/>
            <a:ext cx="3383280" cy="2743200"/>
          </a:xfrm>
          <a:prstGeom prst="rect">
            <a:avLst/>
          </a:prstGeom>
          <a:noFill/>
          <a:ln/>
        </p:spPr>
        <p:txBody>
          <a:bodyPr wrap="square" lIns="0" tIns="0" rIns="0" bIns="0" rtlCol="0" anchor="t"/>
          <a:lstStyle/>
          <a:p>
            <a:pPr indent="0" marL="0">
              <a:spcAft>
                <a:spcPts val="1100"/>
              </a:spcAft>
              <a:buNone/>
            </a:pPr>
            <a:r>
              <a:rPr lang="en-US" sz="1250" dirty="0">
                <a:solidFill>
                  <a:srgbClr val="A1A1A6"/>
                </a:solidFill>
                <a:latin typeface="Arial" pitchFamily="34" charset="0"/>
                <a:ea typeface="Arial" pitchFamily="34" charset="-122"/>
                <a:cs typeface="Arial" pitchFamily="34" charset="-120"/>
              </a:rPr>
              <a:t>docs.flutter.dev/perf</a:t>
            </a:r>
            <a:endParaRPr lang="en-US" sz="1250" dirty="0"/>
          </a:p>
          <a:p>
            <a:pPr indent="0" marL="0">
              <a:spcAft>
                <a:spcPts val="1100"/>
              </a:spcAft>
              <a:buNone/>
            </a:pPr>
            <a:r>
              <a:rPr lang="en-US" sz="1250" dirty="0">
                <a:solidFill>
                  <a:srgbClr val="A1A1A6"/>
                </a:solidFill>
                <a:latin typeface="Arial" pitchFamily="34" charset="0"/>
                <a:ea typeface="Arial" pitchFamily="34" charset="-122"/>
                <a:cs typeface="Arial" pitchFamily="34" charset="-120"/>
              </a:rPr>
              <a:t>tinygo.org/docs/reference/microcontrollers</a:t>
            </a:r>
            <a:endParaRPr lang="en-US" sz="1250" dirty="0"/>
          </a:p>
          <a:p>
            <a:pPr indent="0" marL="0">
              <a:spcAft>
                <a:spcPts val="1100"/>
              </a:spcAft>
              <a:buNone/>
            </a:pPr>
            <a:r>
              <a:rPr lang="en-US" sz="1250" dirty="0">
                <a:solidFill>
                  <a:srgbClr val="A1A1A6"/>
                </a:solidFill>
                <a:latin typeface="Arial" pitchFamily="34" charset="0"/>
                <a:ea typeface="Arial" pitchFamily="34" charset="-122"/>
                <a:cs typeface="Arial" pitchFamily="34" charset="-120"/>
              </a:rPr>
              <a:t>pkg.go.dev/tinygo.org/x/drivers</a:t>
            </a:r>
            <a:endParaRPr lang="en-US" sz="1250" dirty="0"/>
          </a:p>
          <a:p>
            <a:pPr indent="0" marL="0">
              <a:spcAft>
                <a:spcPts val="1100"/>
              </a:spcAft>
              <a:buNone/>
            </a:pPr>
            <a:r>
              <a:rPr lang="en-US" sz="1250" dirty="0">
                <a:solidFill>
                  <a:srgbClr val="A1A1A6"/>
                </a:solidFill>
                <a:latin typeface="Arial" pitchFamily="34" charset="0"/>
                <a:ea typeface="Arial" pitchFamily="34" charset="-122"/>
                <a:cs typeface="Arial" pitchFamily="34" charset="-120"/>
              </a:rPr>
              <a:t>pub.dev/packages/mqtt_client</a:t>
            </a:r>
            <a:endParaRPr lang="en-US" sz="1250" dirty="0"/>
          </a:p>
          <a:p>
            <a:pPr indent="0" marL="0">
              <a:spcAft>
                <a:spcPts val="1100"/>
              </a:spcAft>
              <a:buNone/>
            </a:pPr>
            <a:r>
              <a:rPr lang="en-US" sz="1250" dirty="0">
                <a:solidFill>
                  <a:srgbClr val="A1A1A6"/>
                </a:solidFill>
                <a:latin typeface="Arial" pitchFamily="34" charset="0"/>
                <a:ea typeface="Arial" pitchFamily="34" charset="-122"/>
                <a:cs typeface="Arial" pitchFamily="34" charset="-120"/>
              </a:rPr>
              <a:t>developer.android.com/topic/performance/vitals</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Mobile and Embedded Computing, Lecture 11</dc:title>
  <dc:subject>PptxGenJS Presentation</dc:subject>
  <dc:creator>Dinu-Ștefan Rusu</dc:creator>
  <cp:lastModifiedBy>Dinu-Ștefan Rusu</cp:lastModifiedBy>
  <cp:revision>1</cp:revision>
  <dcterms:created xsi:type="dcterms:W3CDTF">2026-08-08T15:40:13Z</dcterms:created>
  <dcterms:modified xsi:type="dcterms:W3CDTF">2026-08-08T15:40:13Z</dcterms:modified>
</cp:coreProperties>
</file>