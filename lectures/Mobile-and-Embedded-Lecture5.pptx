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where they would put: password strength check (both), price calculation (server), dark-mode toggle (client), 'is this coupon still valid' (server, always). The point is that the client copy is a courtesy and the server copy is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orders of magnitude, not benchmarks. Tell students to measure their own p99 on the platform they picked. The interesting bit is that cold-start cost is a language choice, which is unusual: almost nothing else about a small CRUD backend depends on the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deck's version of this slide was a SmartArt graphic whose auto-labels read 'Move / Start / Prefer / Time', with ChatGPT citation chips pasted in as text. Everything here is the same advice written out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go run ., then curl -X POST localhost:8080/readings with a JSON body, then point the Flutter app at it. Total moving parts: one file and one binary. This is the whole backend a semester project usually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correction the old deck needed most: it listed PUT and DELETE as 'safe'. The practical consequence is the next slide: a retry wrapper may repeat GET/PUT/DELETE freely, but repeating a POST needs an idempotency key that the server remembers.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deck illustrated this with a chart of smooth staircases, which is the opposite of jitter: a staircase means every client waits the identical amount. Read the table aloud: the wait is a random draw from the interval, so a thousand clients spread across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deck's hedging diagram put a red X on the request that actually won, which says the opposite of the text next to it. The winner is whichever replies first; the loser is canceled.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flutterfire configure is the step the old deck never mentioned. Without it there is no firebase_options.dart, and initializeApp cannot find the project. Run it live; it takes about thirty seconds and rewrites the platform config files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nu/dev/upb/mobile-and-embedded-computing/slides/assets/icons2/clou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3572" y="1600200"/>
            <a:ext cx="384048" cy="384048"/>
          </a:xfrm>
          <a:prstGeom prst="rect">
            <a:avLst/>
          </a:prstGeom>
        </p:spPr>
      </p:pic>
      <p:pic>
        <p:nvPicPr>
          <p:cNvPr id="3" name="Image 1" descr="/Users/dinu/dev/upb/mobile-and-embedded-computing/slides/assets/icons2/lapto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1600200"/>
            <a:ext cx="384048" cy="384048"/>
          </a:xfrm>
          <a:prstGeom prst="rect">
            <a:avLst/>
          </a:prstGeom>
        </p:spPr>
      </p:pic>
      <p:pic>
        <p:nvPicPr>
          <p:cNvPr id="4" name="Image 2" descr="/Users/dinu/dev/upb/mobile-and-embedded-computing/slides/assets/icons2/smartpho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1600200"/>
            <a:ext cx="384048" cy="384048"/>
          </a:xfrm>
          <a:prstGeom prst="rect">
            <a:avLst/>
          </a:prstGeom>
        </p:spPr>
      </p:pic>
      <p:pic>
        <p:nvPicPr>
          <p:cNvPr id="5" name="Image 3" descr="/Users/dinu/dev/upb/mobile-and-embedded-computing/slides/assets/icons2/wat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1600200"/>
            <a:ext cx="384048" cy="384048"/>
          </a:xfrm>
          <a:prstGeom prst="rect">
            <a:avLst/>
          </a:prstGeom>
        </p:spPr>
      </p:pic>
      <p:pic>
        <p:nvPicPr>
          <p:cNvPr id="6" name="Image 4" descr="/Users/dinu/dev/upb/mobile-and-embedded-computing/slides/assets/icons2/boar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1600200"/>
            <a:ext cx="384048" cy="384048"/>
          </a:xfrm>
          <a:prstGeom prst="rect">
            <a:avLst/>
          </a:prstGeom>
        </p:spPr>
      </p:pic>
      <p:pic>
        <p:nvPicPr>
          <p:cNvPr id="7" name="Image 5" descr="/Users/dinu/dev/upb/mobile-and-embedded-computing/slides/assets/icons2/cpu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332" y="1600200"/>
            <a:ext cx="384048" cy="38404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31520" y="26060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and Embedded Computing</a:t>
            </a:r>
            <a:endParaRPr lang="en-US" sz="4600" dirty="0"/>
          </a:p>
        </p:txBody>
      </p:sp>
      <p:sp>
        <p:nvSpPr>
          <p:cNvPr id="9" name="Text 1"/>
          <p:cNvSpPr/>
          <p:nvPr/>
        </p:nvSpPr>
        <p:spPr>
          <a:xfrm>
            <a:off x="731520" y="36118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5: server vs client-side execution, serverless vs VPS, Go backends &amp; Firebase</a:t>
            </a:r>
            <a:endParaRPr lang="en-US" sz="1700" dirty="0"/>
          </a:p>
        </p:txBody>
      </p:sp>
      <p:sp>
        <p:nvSpPr>
          <p:cNvPr id="10" name="Text 2"/>
          <p:cNvSpPr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teaching this course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dinu_stefan.rusu@upb.ro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Teams course channel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rusudinu.com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67512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apps shipped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3268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across them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Appeared in, spoken at &amp; partnered with</a:t>
            </a:r>
            <a:endParaRPr lang="en-US" sz="1100" dirty="0"/>
          </a:p>
        </p:txBody>
      </p:sp>
      <p:pic>
        <p:nvPicPr>
          <p:cNvPr id="13" name="Image 0" descr="/Users/dinu/dev/upb/mobile-and-embedded-computing/slides/assets/logo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32477"/>
            <a:ext cx="1047902" cy="319126"/>
          </a:xfrm>
          <a:prstGeom prst="rect">
            <a:avLst/>
          </a:prstGeom>
        </p:spPr>
      </p:pic>
      <p:pic>
        <p:nvPicPr>
          <p:cNvPr id="14" name="Image 1" descr="/Users/dinu/dev/upb/mobile-and-embedded-computing/slides/assets/logo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63" y="4675327"/>
            <a:ext cx="770839" cy="433426"/>
          </a:xfrm>
          <a:prstGeom prst="rect">
            <a:avLst/>
          </a:prstGeom>
        </p:spPr>
      </p:pic>
      <p:pic>
        <p:nvPicPr>
          <p:cNvPr id="15" name="Image 2" descr="/Users/dinu/dev/upb/mobile-and-embedded-computing/slides/assets/logo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503" y="4715104"/>
            <a:ext cx="945490" cy="353873"/>
          </a:xfrm>
          <a:prstGeom prst="rect">
            <a:avLst/>
          </a:prstGeom>
        </p:spPr>
      </p:pic>
      <p:pic>
        <p:nvPicPr>
          <p:cNvPr id="16" name="Image 3" descr="/Users/dinu/dev/upb/mobile-and-embedded-computing/slides/assets/logos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94" y="4716932"/>
            <a:ext cx="1313078" cy="350215"/>
          </a:xfrm>
          <a:prstGeom prst="rect">
            <a:avLst/>
          </a:prstGeom>
        </p:spPr>
      </p:pic>
      <p:pic>
        <p:nvPicPr>
          <p:cNvPr id="17" name="Image 4" descr="/Users/dinu/dev/upb/mobile-and-embedded-computing/slides/assets/logos/imag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873" y="4626864"/>
            <a:ext cx="611734" cy="530352"/>
          </a:xfrm>
          <a:prstGeom prst="rect">
            <a:avLst/>
          </a:prstGeom>
        </p:spPr>
      </p:pic>
      <p:pic>
        <p:nvPicPr>
          <p:cNvPr id="18" name="Image 5" descr="/Users/dinu/dev/upb/mobile-and-embedded-computing/slides/assets/logos/image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508" y="4626864"/>
            <a:ext cx="846734" cy="530352"/>
          </a:xfrm>
          <a:prstGeom prst="rect">
            <a:avLst/>
          </a:prstGeom>
        </p:spPr>
      </p:pic>
      <p:pic>
        <p:nvPicPr>
          <p:cNvPr id="19" name="Image 6" descr="/Users/dinu/dev/upb/mobile-and-embedded-computing/slides/assets/logos/image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8143" y="4767682"/>
            <a:ext cx="1691640" cy="248717"/>
          </a:xfrm>
          <a:prstGeom prst="rect">
            <a:avLst/>
          </a:prstGeom>
        </p:spPr>
      </p:pic>
      <p:pic>
        <p:nvPicPr>
          <p:cNvPr id="20" name="Image 7" descr="/Users/dinu/dev/upb/mobile-and-embedded-computing/slides/assets/logos/image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4684" y="4717847"/>
            <a:ext cx="1321308" cy="348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leave with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scale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client and server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8288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to run on a machine you control, and why the client is untrusted input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43230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9" name="Image 1" descr="/Users/dinu/dev/upb/mobile-and-embedded-computing/slides/assets/icons2/cloud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877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or a VPS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254203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starts, scaling and cost shape, and the case where each one wins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145536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3" name="Image 2" descr="/Users/dinu/dev/upb/mobile-and-embedded-computing/slides/assets/icons2/code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009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552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HTTP properly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9160" y="325526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vs idempotent, timeouts and retries with jitter, in real dio code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85876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7" name="Image 3" descr="/Users/dinu/dev/upb/mobile-and-embedded-computing/slides/assets/icons2/braces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142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968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hand-writing JSON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9160" y="396849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@JsonSerializable and build_runner, then Firebase from a Flutter app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&amp;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code run?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feature costs different things on either side of the wire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&amp; CLIENT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and client-side execution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code runs on the user's device: rendering, local state, caching, optimistic updates, and the checks that make a form feel fast.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code runs on a machine you control: secrets, durable storage, authorization, billing, heavy compute, and anything that must be identical for every user.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them sits one request/response cycle, and on mobile it is expensive: 40–200 ms round trip on a good connection, seconds on a bad one, nothing at all in a tunnel.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split is a latency decision as much as a security 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593592" cy="731520"/>
          </a:xfrm>
          <a:prstGeom prst="roundRect">
            <a:avLst>
              <a:gd name="adj" fmla="val 11250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82880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request, holds the token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569196" y="256032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0" y="2834640"/>
            <a:ext cx="3593592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28346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handshake, then the round trip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569196" y="356616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3840480"/>
            <a:ext cx="3593592" cy="73152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84048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→ authorize → execute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569196" y="457200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4846320"/>
            <a:ext cx="3593592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484632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+ body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6492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864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work on the client for latency.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Put it on the server when the answer has to be correct for every user.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&amp; CLIENT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is untrusted input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arrives from a client is user input, including the fields your own app filled in.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APK can be unpacked, release Dart can be inspected, and any user can proxy their own device's traffic. There is no secret you can ship inside a client.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validation is a UX feature: an instant “that is not an email”, a disabled button, no wasted round trip.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repeats every check it cares about, because it is the only copy nobody can edit.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783080"/>
            <a:ext cx="3867912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011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only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24231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keys, and anything signed with one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may read or write which record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Prices, totals, discounts, balances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and quotas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would be unhappy to see edited in a debugger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64008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486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on the client for speed, on the server for correctness.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Any rule enforced only in the app can be bypassed.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SERVER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vs a VPS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cost shapes, two failure modes and two different sets of operational work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as a service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deploy a function, not a machine. The platform provisions, scales, patches and terminates TLS for you.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creates instances on demand and destroys them when traffic stops, scaling all the way down to zero.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is per invocation plus resource-time (GB-seconds), so no traffic means no bill.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Lambda, Google Cloud Run functions (the former Cloud Functions), Azure Functions, Cloudflare Workers, and Firebase Cloud Functions, which is the same model packaged for Firebase.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0" y="1874520"/>
            <a:ext cx="3593592" cy="914400"/>
          </a:xfrm>
          <a:prstGeom prst="roundRect">
            <a:avLst>
              <a:gd name="adj" fmla="val 9000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874520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handler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function, one job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569196" y="2788920"/>
            <a:ext cx="0" cy="329184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0" y="3118104"/>
            <a:ext cx="35935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118104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 · scale · patch · TLS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569196" y="4032504"/>
            <a:ext cx="0" cy="329184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4361688"/>
            <a:ext cx="3593592" cy="9144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4361688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… n instances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on demand, killed when idle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6492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321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stop operating servers.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exchange you work within the platform's limits.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starts: the latency of the first request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instance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is already up, which covers most requests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37304" y="192024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10–50 ms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37304" y="297180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or Rust binary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37304" y="347472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boot: one static executable and a syscall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51648" y="192024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0.3–2 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851648" y="297180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JVM, .NET, large Node graphs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51648" y="347472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start, plus every dependency your handler imports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9768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cold start is the platform building a new instance because no warm one was free: pull the image, start the runtime, run your top-level code, then finally your handler.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lands on the first user after a period of no traffic, and again on every traffic spike.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 all cost something.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instances, or provisioned concurrency, means paying for idle capacity, which is the cost serverless removes in the first place. Smaller packages and a fast-starting runtime cost nothing extra, which is one reason for the Go section later in this lecture.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Renting the whole machine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rent a virtual machine from Hetzner Cloud, DigitalOcean or OVH, and what you get is root, an IP address, and nothing else.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above the hypervisor is yours: OS updates, firewall rules, TLS certificates, process supervision, backups, monitoring.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Hetzner adds firewalls, snapshots and floating IPs. A floating IP is a movable address you can repoint at a fresh box during an upgrade.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is hourly or monthly for the machine, not for the requests it serves. An idle VPS costs what a busy one costs, which helps when traffic is steady and hurts when it is not.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0" y="1874520"/>
            <a:ext cx="3593592" cy="914400"/>
          </a:xfrm>
          <a:prstGeom prst="roundRect">
            <a:avLst>
              <a:gd name="adj" fmla="val 9000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874520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binary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or Docker restarts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569196" y="2788920"/>
            <a:ext cx="0" cy="329184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0" y="3118104"/>
            <a:ext cx="35935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3118104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OS you patch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LTS · firewall · TLS certs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569196" y="4032504"/>
            <a:ext cx="0" cy="329184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4361688"/>
            <a:ext cx="3593592" cy="9144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4361688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VM you rent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vCPU · RAM · disk · a public IP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6492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321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patches it for you.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exchange, no platform limits what you can run.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VS VPS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backend, two cost shapes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4303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379976"/>
                <a:gridCol w="437997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Serverless (FaaS)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automatic, zero to peak and back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resize the box by hand, in advance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when idle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full monthly price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under load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invocation + GB-second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flat, until you outgrow the machine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request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cold start, unless you pay to avoid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warm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operate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handler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OS, runtime, TLS, backups, monitoring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Long-running work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 by the platform timeout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as long as you let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Wins when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is spiky, small or unknown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is steady, or state lives on disk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53212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7607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by cost shape and operational load.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Spiky, small or brand new → serverless. Steady and predictable → one small VPS is cheaper and simpler.  → Lecture 12, gRPC on the same backend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code that survives a FaaS runtime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package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small package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megabyte and every import is cold-start time. Trim the dependency list before you tune anything else.</a:t>
            </a:r>
            <a:endParaRPr lang="en-US" sz="1150" dirty="0"/>
          </a:p>
        </p:txBody>
      </p:sp>
      <p:pic>
        <p:nvPicPr>
          <p:cNvPr id="8" name="Image 1" descr="/Users/dinu/dev/upb/mobile-and-embedded-computing/slides/assets/icons2/refresh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288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outside the handler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344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pools and HTTP clients go at module scope, so warm invocations reuse them instead of rebuilding them.</a:t>
            </a:r>
            <a:endParaRPr lang="en-US" sz="1150" dirty="0"/>
          </a:p>
        </p:txBody>
      </p:sp>
      <p:pic>
        <p:nvPicPr>
          <p:cNvPr id="11" name="Image 2" descr="/Users/dinu/dev/upb/mobile-and-embedded-computing/slides/assets/icons2/database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handler stateless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50392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disk and memory vanish between invocations. State belongs in a database, a cache or a bucket.</a:t>
            </a:r>
            <a:endParaRPr lang="en-US" sz="1150" dirty="0"/>
          </a:p>
        </p:txBody>
      </p:sp>
      <p:pic>
        <p:nvPicPr>
          <p:cNvPr id="14" name="Image 3" descr="/Users/dinu/dev/upb/mobile-and-embedded-computing/slides/assets/icons2/repeat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3192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idempotent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2296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retries on its own. A duplicate delivery must not charge the card a second time.</a:t>
            </a:r>
            <a:endParaRPr lang="en-US" sz="1150" dirty="0"/>
          </a:p>
        </p:txBody>
      </p:sp>
      <p:pic>
        <p:nvPicPr>
          <p:cNvPr id="17" name="Image 4" descr="/Users/dinu/dev/upb/mobile-and-embedded-computing/slides/assets/icons2/timer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93192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the timeout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66344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that can exceed it belongs on a queue with a job record, not in a function with a longer limit.</a:t>
            </a:r>
            <a:endParaRPr lang="en-US" sz="1150" dirty="0"/>
          </a:p>
        </p:txBody>
      </p:sp>
      <p:pic>
        <p:nvPicPr>
          <p:cNvPr id="20" name="Image 5" descr="/Users/dinu/dev/upb/mobile-and-embedded-computing/slides/assets/icons2/cog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931920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0392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concurrency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850392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serves one request per instance; Cloud Run serves many at once, which changes what is safe to share.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box you will not regret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terminal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it from a script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Dockerfile plus one provisioning script. The machine should be reproducible, never hand-tuned and remembered.</a:t>
            </a:r>
            <a:endParaRPr lang="en-US" sz="1150" dirty="0"/>
          </a:p>
        </p:txBody>
      </p:sp>
      <p:pic>
        <p:nvPicPr>
          <p:cNvPr id="8" name="Image 1" descr="/Users/dinu/dev/upb/mobile-and-embedded-computing/slides/assets/icons2/refresh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2880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as a service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344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or Docker with a restart policy. A crash at 03:00 has to recover without manual intervention.</a:t>
            </a:r>
            <a:endParaRPr lang="en-US" sz="1150" dirty="0"/>
          </a:p>
        </p:txBody>
      </p:sp>
      <p:pic>
        <p:nvPicPr>
          <p:cNvPr id="11" name="Image 2" descr="/Users/dinu/dev/upb/mobile-and-embedded-computing/slides/assets/icons2/lock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down access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503920" y="28163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Keys-only SSH, no root login, firewall down to 80/443, unattended security upgrades switched on.</a:t>
            </a:r>
            <a:endParaRPr lang="en-US" sz="1150" dirty="0"/>
          </a:p>
        </p:txBody>
      </p:sp>
      <p:pic>
        <p:nvPicPr>
          <p:cNvPr id="14" name="Image 3" descr="/Users/dinu/dev/upb/mobile-and-embedded-computing/slides/assets/icons2/shieldcheck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3192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Terminate TLS properly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2296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 or nginx in front, with automatic certificates. Never serve an API over plain HTTP, not even internally.</a:t>
            </a:r>
            <a:endParaRPr lang="en-US" sz="1150" dirty="0"/>
          </a:p>
        </p:txBody>
      </p:sp>
      <p:pic>
        <p:nvPicPr>
          <p:cNvPr id="17" name="Image 4" descr="/Users/dinu/dev/upb/mobile-and-embedded-computing/slides/assets/icons2/save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93192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restore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66344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plus an off-box copy of the database. A backup you have never restored is unverified.</a:t>
            </a:r>
            <a:endParaRPr lang="en-US" sz="1150" dirty="0"/>
          </a:p>
        </p:txBody>
      </p:sp>
      <p:pic>
        <p:nvPicPr>
          <p:cNvPr id="20" name="Image 5" descr="/Users/dinu/dev/upb/mobile-and-embedded-computing/slides/assets/icons2/bell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931920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03920" y="4462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page you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8503920" y="49194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check, log shipping, disk-full alert. Nothing on a bare VPS tells you it went down by default.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BACKENDS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backend that fits in one binary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static binary, milliseconds to start, deployable anywhere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BACKENDS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Go for a small mobile backend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static binary.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build produces a single executable with no runtime, no interpreter and no dependency folder. Copy it to the server, or put it in a 15 MB container.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starts in milliseconds.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boot means cold starts on a scale-to-zero platform stay short.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cross-compiles from your laptop.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environment variable retargets the build: a Linux/arm64 server, or a Raspberry Pi on the same desk.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library is already the server.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net/http, encoding/json and database/sql, plus the goroutines you already met in Lecture 3, one per request. → TinyGo on a microcontroller, Lecture 12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23760" y="1783080"/>
            <a:ext cx="4142232" cy="3108960"/>
          </a:xfrm>
          <a:prstGeom prst="roundRect">
            <a:avLst>
              <a:gd name="adj" fmla="val 3529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2103120"/>
            <a:ext cx="34107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static binary, nothing else on the box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CGO_ENABLED=0 GOOS=linux GOARCH=arm64 \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 build -o server ./cmd/server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VPS: copy it, let systemd own it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scp server root@vps:/usr/local/bin/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root@vps 'systemctl restart api'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serverless: the same binary, in a tiny image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run deploy api --source 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406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binary that starts fast.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Those are the properties that matter for the service a mobile app talks to.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BACKENDS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handler, and the Dart call that hits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Go: standard library only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6400800" cy="4297680"/>
          </a:xfrm>
          <a:prstGeom prst="roundRect">
            <a:avLst>
              <a:gd name="adj" fmla="val 2553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286000"/>
            <a:ext cx="56692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Reading struct {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DeviceID string  `json:"device_id"`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TempC    float64 `json:"temp_c"`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handleReading(w http.ResponseWriter, r *http.Request) {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in Reading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:= json.NewDecoder(r.Body).Decode(&amp;in); err != nil {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http.Error(w, "bad json", http.StatusBadRequest)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w.WriteHeader(http.StatusCreated)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json.NewEncoder(w).Encode(in)   // echo the stored value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main() {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http.HandleFunc("POST /readings", handleReading)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log.Fatal(http.ListenAndServe(":8080", nil))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169164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Dart: the client side of the same call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0" y="2011680"/>
            <a:ext cx="3867912" cy="2514600"/>
          </a:xfrm>
          <a:prstGeom prst="roundRect">
            <a:avLst>
              <a:gd name="adj" fmla="val 4364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7909560" y="2331720"/>
            <a:ext cx="3136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dio = Dio(BaseOptions(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baseUrl: 'https://api.example.com',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res = await dio.post(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'/readings',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{'device_id': id, 'temp_c': 21.5},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saved = Reading.fromJson(res.data);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0" y="4709160"/>
            <a:ext cx="3867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JSON tags on the Go struct and the @JsonKey names on the Dart model are the contract. Change one, break the other.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patterns like "POST /readings" are built into net/http since Go 1.22, so no framework is required.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 Created, not 200. The status code is part of the API.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FROM FLUTTER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Requests, failures and JSON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Methods, timeouts, retries, and generated JSON instead of a hand-written fromJson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is not the same as idempotent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request does not modify state.      </a:t>
            </a:r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</a:t>
            </a:r>
            <a:pPr indent="0" marL="0"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sending it twice has the same effect as sending it once.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40280"/>
          <a:ext cx="105430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57144"/>
                <a:gridCol w="3057144"/>
                <a:gridCol w="305714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Idempotent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use it for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a resource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headers only: size, caching, existence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 the resource at a URL you chose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it; the second call still leaves it gone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create, or anything that is none of the above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update, not idempotent in general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864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7150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safe method is idempotent; the reverse is false.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PUT and DELETE do modify state, but a repeat does not change it further. That is what makes them safe to retry, and POST not.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dio: a request, and its failure paths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04088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309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dio = Dio(BaseOptions(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baseUrl: 'https://api.example.com',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connectTimeout: const Duration(seconds: 5),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receiveTimeout: const Duration(seconds: 10),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Future&lt;Reading&gt; fetchReading(String id) async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res = await dio.get('/readings/$id');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Reading.fromJson(res.data as Map&lt;String, dynamic&gt;);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on DioException catch (e)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(e.type == DioExceptionType.connectionTimeout)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ApiFailure('server did not answer in time');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(e.response?.statusCode == 404) throw NotFound(id);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ApiFailure(e.message ?? 'network error');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92440" y="178308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or dio?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92440" y="2194560"/>
            <a:ext cx="32735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package:http is the minimal client: one function per request, and you assemble everything else yourself.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package:dio adds base URLs, timeouts, interceptors (auth headers, logging, refresh), cancellation and multipart uploads.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timeouts explicitly. The default on a mobile network is effectively no timeout at all, so a request can hang until the user closes the app.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DioException to your own error type at the edge. The UI layer should never see a package's exception class.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with exponential backoff and jitter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492240" cy="3749040"/>
          </a:xfrm>
          <a:prstGeom prst="roundRect">
            <a:avLst>
              <a:gd name="adj" fmla="val 2927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5760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Future&lt;T&gt; withRetry&lt;T&gt;(Future&lt;T&gt; Function() call) async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base = 200;                    // milliseconds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(var attempt = 0; ; attempt++)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await call();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on DioException catch (e)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(!_retryable(e) || attempt == 4) rethrow;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expo = base * (1 &lt;&lt; attempt);   // 200,400,800…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wait = Random().nextInt(expo);  // full jitter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Future.delayed(Duration(milliseconds: wait));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828800"/>
          <a:ext cx="37764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31036"/>
                <a:gridCol w="143103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Backoff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wait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– 200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– 400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– 800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– 1600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– 3200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589520" y="4343400"/>
            <a:ext cx="3776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Retry: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408, 429, 500, 502, 503, 504, timeouts, connection resets.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Never: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400, 401, 403, 404, 422: the answer will not change. And never repeat a POST without an idempotency key the server remembers.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5669280"/>
            <a:ext cx="6492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978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 matters as much as the doubling.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Doubling alone still lines every client up on the same millisecond.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Thundering herds and hedged requests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service fails briefly, ten thousand clients fail at once and every one of them retries after exactly one second. The retry wave is larger than the original load. That is a thundering herd, and it turns a brief outage into a long one.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jitter spreads those retries across the whole interval, so the recovering server sees load ramp up instead of arriving all at once.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 is the opposite problem.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fraction of requests are simply slow (p95, p99). Send a second copy after a short delay, take whichever answers first, cancel the other. gRPC has hedgingPolicy built 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23760" y="2331720"/>
            <a:ext cx="1143000" cy="640080"/>
          </a:xfrm>
          <a:prstGeom prst="roundRect">
            <a:avLst>
              <a:gd name="adj" fmla="val 12857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0" y="23317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0" y="2651760"/>
            <a:ext cx="548640" cy="-5029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12480" y="2651760"/>
            <a:ext cx="548640" cy="77724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06840" y="1828800"/>
            <a:ext cx="235915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182880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1, sent at t = 0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silent at 250 ms → canceled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06840" y="3063240"/>
            <a:ext cx="235915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3063240"/>
            <a:ext cx="2359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2, sent at 250 ms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at 310 ms → used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4114800"/>
            <a:ext cx="4142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one extra request on the slow tail. Cap it: one hedge, only past p95, and only for safe or idempotent calls.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612648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663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fix failures. Hedges fix slowness.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multiply load, so both need a cap.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@JsonSerializable and the generated half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675120" cy="3794760"/>
          </a:xfrm>
          <a:prstGeom prst="roundRect">
            <a:avLst>
              <a:gd name="adj" fmla="val 2892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lib/models/reading.dart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'reading.g.dart';        // the generated half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@JsonSerializable()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Reading {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Reading({required this.deviceId, required this.tempC});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@JsonKey(name: 'device_id') final String deviceId;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@JsonKey(name: 'temp_c')    final double tempC;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factory Reading.fromJson(Map&lt;String, dynamic&gt; json) =&gt;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_$ReadingFromJson(json);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Map&lt;String, dynamic&gt; toJson() =&gt; _$ReadingToJson(this);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772400" y="1783080"/>
            <a:ext cx="3593592" cy="18288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183880" y="2103120"/>
            <a:ext cx="2862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writes lib/models/reading.g.dart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build_runner build \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--delete-conflicting-outputs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regenerate on every save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build_runner watch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3794760"/>
            <a:ext cx="3593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round trip: Reading.fromJson(jsonDecode(body)) in, jsonEncode(reading.toJson()) out.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links your file to its generated twin; the _$ functions live there. Never edit a .g.dart.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 mapping is where a renamed field silently becomes null. The generator fails the build instead.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the .g.dart files or generate them in CI. Pick one and write it down.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669280"/>
            <a:ext cx="66751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8978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files, one model.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write the class; build_runner writes the mapping code.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generators you will actually add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30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19956"/>
                <a:gridCol w="421995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generates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you would add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json_serializable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fromJson / toJson for annotated classes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project with an API has this 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freezed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classes, copyWith, sealed unions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modeling loading / data / error states → Lecture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retrofit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typed dio client from an abstract class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place where the endpoints are declared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riverpod_generator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providers from annotated functions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 boilerplate, and typos become build errors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type-checked SQL, tables and migrations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storage that survives offline → Lecture 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mocks for your own interfaces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that do not touch the network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44068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6692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build_runner is an ordinary build step.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is slow on large projects, it fails when generated files go stale (--delete-conflicting-outputs), and it belongs in CI. It is still worth adding.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backend you configure instead of writing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flutterfire, Firestore, and the rules that are the only server you get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Firebase into a Flutter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766560" cy="219456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once per machine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pub global activate flutterfire_cli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registers iOS/Android/web apps and writes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lib/firebase_options.dart for you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flutterfire configure --project=my-app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firebase_core cloud_firestore firebase_auth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6766560" cy="1965960"/>
          </a:xfrm>
          <a:prstGeom prst="roundRect">
            <a:avLst>
              <a:gd name="adj" fmla="val 5581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44805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main.dart: before runApp, always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WidgetsFlutterBinding.ensureInitialized();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Firebase.initializeApp(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options: DefaultFirebaseOptions.currentPlatform,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runApp(const MyApp());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0" y="1783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packages, by 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0" y="2194560"/>
            <a:ext cx="35021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firebase_core: required by every other one; it is what initializeApp comes from</a:t>
            </a:r>
            <a:endParaRPr lang="en-US" sz="10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cloud_firestore: the document database and its snapshot streams</a:t>
            </a:r>
            <a:endParaRPr lang="en-US" sz="10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firebase_auth: sign-in, tokens, and the uid your rules compare against → Lecture 7</a:t>
            </a:r>
            <a:endParaRPr lang="en-US" sz="10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firebase_analytics · firebase_crashlytics: Dart APIs, not Android Bundle code</a:t>
            </a:r>
            <a:endParaRPr lang="en-US" sz="10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firebase_ai: Gemini from Flutter; it replaces the deprecated google_generative_ai → Lecture 9</a:t>
            </a:r>
            <a:endParaRPr lang="en-US" sz="10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firebase_messaging: FCM push, plus a background handler you must register at top level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Firestore: read, write, and the rule that guards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492240" cy="36576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5760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db = FirebaseFirestore.instance;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write: merge, so other fields survive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db.collection('readings').doc(uid).set(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{'temp_c': 21.5, 'at': FieldValue.serverTimestamp()},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SetOptions(merge: true),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once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snap = await db.collection('readings').doc(uid).get();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data = snap.data();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live: a Stream, so StreamBuilder can own it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db.collection('readings').doc(uid).snapshots().listen(...);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0" y="1783080"/>
            <a:ext cx="3776472" cy="2423160"/>
          </a:xfrm>
          <a:prstGeom prst="roundRect">
            <a:avLst>
              <a:gd name="adj" fmla="val 4528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210312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/readings/{userId} {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NOT: if request.auth != null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that is every signed-in user,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writing to everybody's document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allow read, write: if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request.auth != null &amp;&amp;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request.auth.uid == userId;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0" y="4389120"/>
            <a:ext cx="3776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rules run on Google's side, so they are the only server-side check you have here.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are billed per document: a query that returns 500 docs costs 500 reads, on every rebuild.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store a password or an API key in a document. → Lecture 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577840"/>
            <a:ext cx="6492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8064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file is your backend.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from slide five applies to it.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Functions, and where Firebase stops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Functions for Firebase are the FaaS from section two, wired to Firebase triggers: a Firestore write, a new Auth user, a scheduled job, or an HTTPS callable your app invokes directly.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written in TypeScript, JavaScript or Python, not Dart. That is a second language in your repository, and a real cost.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them for exactly what the client must not do: verifying a purchase receipt, sending FCM to someone else's device, calling a paid API with your secret key.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Firebase stops: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joins, aggregate reporting, anything you want to query in three ways next month, and any bill you need to predict. That is where the Go backend from section three fits.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863840" y="1783080"/>
            <a:ext cx="3502152" cy="2103120"/>
          </a:xfrm>
          <a:prstGeom prst="roundRect">
            <a:avLst>
              <a:gd name="adj" fmla="val 5217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275320" y="2103120"/>
            <a:ext cx="2770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calling one from Flutter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fn = FirebaseFunctions.instance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.httpsCallable('verifyPurchase');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res = await fn.call({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'token': purchaseToken,</a:t>
            </a:r>
            <a:endParaRPr lang="en-US" sz="9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069080"/>
            <a:ext cx="3502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 token travels with the call, so the function knows who is asking without you passing a uid, and without trusting one the client sent.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6235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is a backend you configure; Go is one you write.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projects start with the first and move the parts it cannot cover to the second.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week</a:t>
            </a:r>
            <a:endParaRPr lang="en-US" sz="3000" dirty="0"/>
          </a:p>
        </p:txBody>
      </p:sp>
      <p:pic>
        <p:nvPicPr>
          <p:cNvPr id="3" name="Image 0" descr="/Users/dinu/dev/upb/mobile-and-embedded-computing/slides/assets/icons2/check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is untrusted input; the server is the only place a rule actually holds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bills per request and cold-starts; a VPS bills per month and never does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≠ idempotent: GET and HEAD are safe, PUT and DELETE are only idempotent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Backoff without jitter is still a thundering herd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JSON; never hand-write a fromJson again</a:t>
            </a:r>
            <a:endParaRPr lang="en-US" sz="1250" dirty="0"/>
          </a:p>
        </p:txBody>
      </p:sp>
      <p:pic>
        <p:nvPicPr>
          <p:cNvPr id="6" name="Image 1" descr="/Users/dinu/dev/upb/mobile-and-embedded-computing/slides/assets/icons2/calenda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38912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Go handler locally and call it from your app with dio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explicit timeouts and one retry wrapper to every request in your project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one hand-written model to @JsonSerializable and run build_runner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Firestore rules and check every one compares request.auth.uid</a:t>
            </a:r>
            <a:endParaRPr lang="en-US" sz="1250" dirty="0"/>
          </a:p>
        </p:txBody>
      </p:sp>
      <p:pic>
        <p:nvPicPr>
          <p:cNvPr id="9" name="Image 2" descr="/Users/dinu/dev/upb/mobile-and-embedded-computing/slides/assets/icons2/bookope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7830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95528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go.dev/doc/tutorial/web-service-gin · pkg.go.dev/net/http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pub.dev/packages/dio · pub.dev/packages/json_serializable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firebase.google.com/docs/flutter/setup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developer.mozilla.org · HTTP request methods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aws.amazon.com/builders-library · timeouts, retries and backoff with jitter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and Embedded Computing, Lecture 5</dc:title>
  <dc:subject>PptxGenJS Presentation</dc:subject>
  <dc:creator>Dinu-Ștefan Rusu</dc:creator>
  <cp:lastModifiedBy>Dinu-Ștefan Rusu</cp:lastModifiedBy>
  <cp:revision>1</cp:revision>
  <dcterms:created xsi:type="dcterms:W3CDTF">2026-08-08T15:40:13Z</dcterms:created>
  <dcterms:modified xsi:type="dcterms:W3CDTF">2026-08-08T15:40:13Z</dcterms:modified>
</cp:coreProperties>
</file>