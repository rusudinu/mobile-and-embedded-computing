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1"/>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Lst>
  <p:sldSz cx="12192000" cy="6858000"/>
  <p:notesSz cx="6858000" cy="9144000"/>
  <p:embeddedFontLst>
    <p:embeddedFont>
      <p:font typeface="Inter" panose="020F0702030404030204" pitchFamily="34" charset="0"/>
      <p:regular r:id="rId32"/>
      <p:bold r:id="rId33"/>
      <p:italic r:id="rId34"/>
      <p:boldItalic r:id="rId35"/>
    </p:embeddedFont>
    <p:embeddedFont>
      <p:font typeface="Inter SemiBold" panose="020F0502020204030204" pitchFamily="34" charset="0"/>
      <p:regular r:id="rId36"/>
      <p:bold r:id="rId37"/>
      <p:italic r:id="rId38"/>
      <p:boldItalic r:id="rId39"/>
    </p:embeddedFont>
    <p:embeddedFont>
      <p:font typeface="Urbanist" panose="020F0502020204030204" pitchFamily="34" charset="0"/>
      <p:regular r:id="rId40"/>
      <p:bold r:id="rId41"/>
      <p:italic r:id="rId42"/>
      <p:boldItalic r:id="rId43"/>
    </p:embeddedFont>
    <p:embeddedFont>
      <p:font typeface="Urbanist Light" panose="020F050202020403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E8B36A-3B13-4662-8145-97AE537BE04F}">
  <a:tblStyle styleId="{20E8B36A-3B13-4662-8145-97AE537BE04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26"/>
  </p:normalViewPr>
  <p:slideViewPr>
    <p:cSldViewPr snapToGrid="0">
      <p:cViewPr varScale="1">
        <p:scale>
          <a:sx n="121" d="100"/>
          <a:sy n="121" d="100"/>
        </p:scale>
        <p:origin x="744" y="1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53544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1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1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1.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1.xml"/><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1.xml"/><Relationship Id="rId5"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1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1.xml"/><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1.xml"/><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95275" y="2206079"/>
            <a:ext cx="11601450" cy="1508521"/>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5400" b="1" i="0" u="none" strike="noStrike" cap="none">
                <a:solidFill>
                  <a:srgbClr val="F8FAFC"/>
                </a:solidFill>
                <a:latin typeface="Urbanist"/>
                <a:ea typeface="Urbanist"/>
                <a:cs typeface="Urbanist"/>
                <a:sym typeface="Urbanist"/>
              </a:rPr>
              <a:t>Advanced Distributed</a:t>
            </a:r>
            <a:br>
              <a:rPr lang="en-US" sz="1800" b="0" i="0" u="none" strike="noStrike" cap="none">
                <a:solidFill>
                  <a:schemeClr val="dk1"/>
                </a:solidFill>
                <a:latin typeface="Calibri"/>
                <a:ea typeface="Calibri"/>
                <a:cs typeface="Calibri"/>
                <a:sym typeface="Calibri"/>
              </a:rPr>
            </a:br>
            <a:r>
              <a:rPr lang="en-US" sz="5400" b="1" i="0" u="none" strike="noStrike" cap="none">
                <a:solidFill>
                  <a:srgbClr val="F8FAFC"/>
                </a:solidFill>
                <a:latin typeface="Urbanist"/>
                <a:ea typeface="Urbanist"/>
                <a:cs typeface="Urbanist"/>
                <a:sym typeface="Urbanist"/>
              </a:rPr>
              <a:t> Architectures for </a:t>
            </a:r>
            <a:r>
              <a:rPr lang="en-US" sz="5400" b="1" i="0" u="none" strike="noStrike" cap="none">
                <a:solidFill>
                  <a:srgbClr val="38BDF8"/>
                </a:solidFill>
                <a:latin typeface="Urbanist"/>
                <a:ea typeface="Urbanist"/>
                <a:cs typeface="Urbanist"/>
                <a:sym typeface="Urbanist"/>
              </a:rPr>
              <a:t>Mobile</a:t>
            </a:r>
            <a:endParaRPr/>
          </a:p>
        </p:txBody>
      </p:sp>
      <p:sp>
        <p:nvSpPr>
          <p:cNvPr id="86" name="Google Shape;86;p13"/>
          <p:cNvSpPr txBox="1"/>
          <p:nvPr/>
        </p:nvSpPr>
        <p:spPr>
          <a:xfrm>
            <a:off x="571500" y="4057501"/>
            <a:ext cx="11049000" cy="443198"/>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err="1">
                <a:solidFill>
                  <a:srgbClr val="94A3B8"/>
                </a:solidFill>
                <a:latin typeface="Urbanist Light"/>
                <a:ea typeface="Urbanist Light"/>
                <a:cs typeface="Urbanist Light"/>
                <a:sym typeface="Urbanist Light"/>
              </a:rPr>
              <a:t>gRPC</a:t>
            </a:r>
            <a:r>
              <a:rPr lang="en-US" sz="1800" b="0" i="0" u="none" strike="noStrike" cap="none" dirty="0">
                <a:solidFill>
                  <a:srgbClr val="94A3B8"/>
                </a:solidFill>
                <a:latin typeface="Urbanist Light"/>
                <a:ea typeface="Urbanist Light"/>
                <a:cs typeface="Urbanist Light"/>
                <a:sym typeface="Urbanist Light"/>
              </a:rPr>
              <a:t>, Protocol Buffers, and Transport Efficiency</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0" name="Google Shape;100;p15" descr="image.png"/>
          <p:cNvPicPr preferRelativeResize="0"/>
          <p:nvPr/>
        </p:nvPicPr>
        <p:blipFill rotWithShape="1">
          <a:blip r:embed="rId4">
            <a:alphaModFix/>
          </a:blip>
          <a:srcRect/>
          <a:stretch/>
        </p:blipFill>
        <p:spPr>
          <a:xfrm>
            <a:off x="571500" y="1645890"/>
            <a:ext cx="5238750" cy="4640609"/>
          </a:xfrm>
          <a:prstGeom prst="rect">
            <a:avLst/>
          </a:prstGeom>
          <a:noFill/>
          <a:ln>
            <a:noFill/>
          </a:ln>
        </p:spPr>
      </p:pic>
      <p:pic>
        <p:nvPicPr>
          <p:cNvPr id="101" name="Google Shape;101;p15" descr="image.png"/>
          <p:cNvPicPr preferRelativeResize="0"/>
          <p:nvPr/>
        </p:nvPicPr>
        <p:blipFill rotWithShape="1">
          <a:blip r:embed="rId4">
            <a:alphaModFix/>
          </a:blip>
          <a:srcRect/>
          <a:stretch/>
        </p:blipFill>
        <p:spPr>
          <a:xfrm>
            <a:off x="6381750" y="1645890"/>
            <a:ext cx="5238750" cy="4640609"/>
          </a:xfrm>
          <a:prstGeom prst="rect">
            <a:avLst/>
          </a:prstGeom>
          <a:noFill/>
          <a:ln>
            <a:noFill/>
          </a:ln>
        </p:spPr>
      </p:pic>
      <p:sp>
        <p:nvSpPr>
          <p:cNvPr id="102" name="Google Shape;102;p15"/>
          <p:cNvSpPr txBox="1"/>
          <p:nvPr/>
        </p:nvSpPr>
        <p:spPr>
          <a:xfrm>
            <a:off x="962025" y="2036415"/>
            <a:ext cx="4680585" cy="29334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a:solidFill>
                  <a:srgbClr val="38BDF8"/>
                </a:solidFill>
                <a:latin typeface="Urbanist"/>
                <a:ea typeface="Urbanist"/>
                <a:cs typeface="Urbanist"/>
                <a:sym typeface="Urbanist"/>
              </a:rPr>
              <a:t>The "Mobile Tax"</a:t>
            </a:r>
            <a:endParaRPr/>
          </a:p>
        </p:txBody>
      </p:sp>
      <p:sp>
        <p:nvSpPr>
          <p:cNvPr id="103" name="Google Shape;103;p15"/>
          <p:cNvSpPr txBox="1"/>
          <p:nvPr/>
        </p:nvSpPr>
        <p:spPr>
          <a:xfrm>
            <a:off x="962025" y="2672655"/>
            <a:ext cx="4457700"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Traditional HTTP/1.1 and JSON impose significant overhead on constrained mobile devices. Verbose text serialization and frequent connection management lead to sluggish UIs, excessive data usage, and rapid battery depletion.</a:t>
            </a:r>
            <a:endParaRPr/>
          </a:p>
        </p:txBody>
      </p:sp>
      <p:sp>
        <p:nvSpPr>
          <p:cNvPr id="104" name="Google Shape;104;p15"/>
          <p:cNvSpPr txBox="1"/>
          <p:nvPr/>
        </p:nvSpPr>
        <p:spPr>
          <a:xfrm>
            <a:off x="6772275" y="2036415"/>
            <a:ext cx="4680585" cy="29334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a:solidFill>
                  <a:srgbClr val="38BDF8"/>
                </a:solidFill>
                <a:latin typeface="Urbanist"/>
                <a:ea typeface="Urbanist"/>
                <a:cs typeface="Urbanist"/>
                <a:sym typeface="Urbanist"/>
              </a:rPr>
              <a:t>The gRPC Solution</a:t>
            </a:r>
            <a:endParaRPr/>
          </a:p>
        </p:txBody>
      </p:sp>
      <p:sp>
        <p:nvSpPr>
          <p:cNvPr id="105" name="Google Shape;105;p15"/>
          <p:cNvSpPr txBox="1"/>
          <p:nvPr/>
        </p:nvSpPr>
        <p:spPr>
          <a:xfrm>
            <a:off x="6772275" y="2672655"/>
            <a:ext cx="4457700"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Born from Google's "Stubby," gRPC redefines mobile-backend interaction. It leverages Protocol Buffers for dense binary serialization and HTTP/2 for multiplexed transport, directly addressing the bottlenecks of latency and bandwidth.</a:t>
            </a:r>
            <a:endParaRPr/>
          </a:p>
        </p:txBody>
      </p:sp>
      <p:sp>
        <p:nvSpPr>
          <p:cNvPr id="106" name="Google Shape;106;p15"/>
          <p:cNvSpPr txBox="1"/>
          <p:nvPr/>
        </p:nvSpPr>
        <p:spPr>
          <a:xfrm>
            <a:off x="571500" y="571500"/>
            <a:ext cx="11601450" cy="50289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F8FAFC"/>
                </a:solidFill>
                <a:latin typeface="Urbanist"/>
                <a:ea typeface="Urbanist"/>
                <a:cs typeface="Urbanist"/>
                <a:sym typeface="Urbanist"/>
              </a:rPr>
              <a:t>The Mobile-Distributed Paradigm Shift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2" name="Google Shape;112;p16" descr="image.png"/>
          <p:cNvPicPr preferRelativeResize="0"/>
          <p:nvPr/>
        </p:nvPicPr>
        <p:blipFill rotWithShape="1">
          <a:blip r:embed="rId4">
            <a:alphaModFix/>
          </a:blip>
          <a:srcRect/>
          <a:stretch/>
        </p:blipFill>
        <p:spPr>
          <a:xfrm>
            <a:off x="6381750" y="1822995"/>
            <a:ext cx="5238750" cy="4286250"/>
          </a:xfrm>
          <a:prstGeom prst="rect">
            <a:avLst/>
          </a:prstGeom>
          <a:noFill/>
          <a:ln>
            <a:noFill/>
          </a:ln>
        </p:spPr>
      </p:pic>
      <p:pic>
        <p:nvPicPr>
          <p:cNvPr id="113" name="Google Shape;113;p16" descr="image.png"/>
          <p:cNvPicPr preferRelativeResize="0"/>
          <p:nvPr/>
        </p:nvPicPr>
        <p:blipFill rotWithShape="1">
          <a:blip r:embed="rId5">
            <a:alphaModFix/>
          </a:blip>
          <a:srcRect/>
          <a:stretch/>
        </p:blipFill>
        <p:spPr>
          <a:xfrm>
            <a:off x="6391275" y="1832520"/>
            <a:ext cx="5219700" cy="4267200"/>
          </a:xfrm>
          <a:prstGeom prst="rect">
            <a:avLst/>
          </a:prstGeom>
          <a:noFill/>
          <a:ln>
            <a:noFill/>
          </a:ln>
        </p:spPr>
      </p:pic>
      <p:sp>
        <p:nvSpPr>
          <p:cNvPr id="115" name="Google Shape;115;p16"/>
          <p:cNvSpPr txBox="1"/>
          <p:nvPr/>
        </p:nvSpPr>
        <p:spPr>
          <a:xfrm>
            <a:off x="762000" y="2137395"/>
            <a:ext cx="4857750" cy="1219200"/>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CBD5E1"/>
                </a:solidFill>
                <a:latin typeface="Urbanist"/>
                <a:ea typeface="Urbanist"/>
                <a:cs typeface="Urbanist"/>
                <a:sym typeface="Urbanist"/>
              </a:rPr>
              <a:t>REST (Resource-Oriented):</a:t>
            </a:r>
            <a:r>
              <a:rPr lang="en-US" sz="1500" b="0" i="0" u="none" strike="noStrike" cap="none" dirty="0">
                <a:solidFill>
                  <a:srgbClr val="CBD5E1"/>
                </a:solidFill>
                <a:latin typeface="Urbanist"/>
                <a:ea typeface="Urbanist"/>
                <a:cs typeface="Urbanist"/>
                <a:sym typeface="Urbanist"/>
              </a:rPr>
              <a:t> Focuses on "Nouns" (Resources). Often suffers from the "N+1 problem" or chattiness, requiring multiple round-trips to fetch related data (e.g., User, Posts, Subscriptions).</a:t>
            </a:r>
            <a:endParaRPr dirty="0"/>
          </a:p>
        </p:txBody>
      </p:sp>
      <p:sp>
        <p:nvSpPr>
          <p:cNvPr id="117" name="Google Shape;117;p16"/>
          <p:cNvSpPr txBox="1"/>
          <p:nvPr/>
        </p:nvSpPr>
        <p:spPr>
          <a:xfrm>
            <a:off x="762000" y="3721410"/>
            <a:ext cx="4857750" cy="923925"/>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CBD5E1"/>
                </a:solidFill>
                <a:latin typeface="Urbanist"/>
                <a:ea typeface="Urbanist"/>
                <a:cs typeface="Urbanist"/>
                <a:sym typeface="Urbanist"/>
              </a:rPr>
              <a:t>RPC (Action-Oriented):</a:t>
            </a:r>
            <a:r>
              <a:rPr lang="en-US" sz="1500" b="0" i="0" u="none" strike="noStrike" cap="none" dirty="0">
                <a:solidFill>
                  <a:srgbClr val="CBD5E1"/>
                </a:solidFill>
                <a:latin typeface="Urbanist"/>
                <a:ea typeface="Urbanist"/>
                <a:cs typeface="Urbanist"/>
                <a:sym typeface="Urbanist"/>
              </a:rPr>
              <a:t> Focuses on "Verbs" (Functions). Creates the illusion of local execution (e.g., </a:t>
            </a:r>
            <a:r>
              <a:rPr lang="en-US" sz="1500" b="0" i="0" u="none" strike="noStrike" cap="none" dirty="0" err="1">
                <a:solidFill>
                  <a:srgbClr val="CBD5E1"/>
                </a:solidFill>
                <a:latin typeface="Urbanist"/>
                <a:ea typeface="Urbanist"/>
                <a:cs typeface="Urbanist"/>
                <a:sym typeface="Urbanist"/>
              </a:rPr>
              <a:t>getUserProfile</a:t>
            </a:r>
            <a:r>
              <a:rPr lang="en-US" sz="1500" b="0" i="0" u="none" strike="noStrike" cap="none" dirty="0">
                <a:solidFill>
                  <a:srgbClr val="CBD5E1"/>
                </a:solidFill>
                <a:latin typeface="Urbanist"/>
                <a:ea typeface="Urbanist"/>
                <a:cs typeface="Urbanist"/>
                <a:sym typeface="Urbanist"/>
              </a:rPr>
              <a:t>(id)).</a:t>
            </a:r>
            <a:endParaRPr dirty="0"/>
          </a:p>
        </p:txBody>
      </p:sp>
      <p:sp>
        <p:nvSpPr>
          <p:cNvPr id="119" name="Google Shape;119;p16"/>
          <p:cNvSpPr txBox="1"/>
          <p:nvPr/>
        </p:nvSpPr>
        <p:spPr>
          <a:xfrm>
            <a:off x="762000" y="4885283"/>
            <a:ext cx="4857750" cy="914400"/>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CBD5E1"/>
                </a:solidFill>
                <a:latin typeface="Urbanist"/>
                <a:ea typeface="Urbanist"/>
                <a:cs typeface="Urbanist"/>
                <a:sym typeface="Urbanist"/>
              </a:rPr>
              <a:t>Mobile Impact:</a:t>
            </a:r>
            <a:r>
              <a:rPr lang="en-US" sz="1500" b="0" i="0" u="none" strike="noStrike" cap="none" dirty="0">
                <a:solidFill>
                  <a:srgbClr val="CBD5E1"/>
                </a:solidFill>
                <a:latin typeface="Urbanist"/>
                <a:ea typeface="Urbanist"/>
                <a:cs typeface="Urbanist"/>
                <a:sym typeface="Urbanist"/>
              </a:rPr>
              <a:t> RPC allows for fine-grained control, aggregating data in a single call to minimize high-latency cellular round-trips.</a:t>
            </a:r>
            <a:endParaRPr dirty="0"/>
          </a:p>
        </p:txBody>
      </p:sp>
      <p:sp>
        <p:nvSpPr>
          <p:cNvPr id="120" name="Google Shape;120;p16"/>
          <p:cNvSpPr txBox="1"/>
          <p:nvPr/>
        </p:nvSpPr>
        <p:spPr>
          <a:xfrm>
            <a:off x="571500" y="571500"/>
            <a:ext cx="11601450" cy="50289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F8FAFC"/>
                </a:solidFill>
                <a:latin typeface="Urbanist"/>
                <a:ea typeface="Urbanist"/>
                <a:cs typeface="Urbanist"/>
                <a:sym typeface="Urbanist"/>
              </a:rPr>
              <a:t>RPC vs. REST: Architectural Philosophy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6" name="Google Shape;126;p17" descr="image.png"/>
          <p:cNvPicPr preferRelativeResize="0"/>
          <p:nvPr/>
        </p:nvPicPr>
        <p:blipFill rotWithShape="1">
          <a:blip r:embed="rId4">
            <a:alphaModFix/>
          </a:blip>
          <a:srcRect/>
          <a:stretch/>
        </p:blipFill>
        <p:spPr>
          <a:xfrm>
            <a:off x="571500" y="1645890"/>
            <a:ext cx="3492549" cy="4640609"/>
          </a:xfrm>
          <a:prstGeom prst="rect">
            <a:avLst/>
          </a:prstGeom>
          <a:noFill/>
          <a:ln>
            <a:noFill/>
          </a:ln>
        </p:spPr>
      </p:pic>
      <p:pic>
        <p:nvPicPr>
          <p:cNvPr id="127" name="Google Shape;127;p17" descr="image.png"/>
          <p:cNvPicPr preferRelativeResize="0"/>
          <p:nvPr/>
        </p:nvPicPr>
        <p:blipFill rotWithShape="1">
          <a:blip r:embed="rId5">
            <a:alphaModFix/>
          </a:blip>
          <a:srcRect/>
          <a:stretch/>
        </p:blipFill>
        <p:spPr>
          <a:xfrm>
            <a:off x="4349799" y="1645890"/>
            <a:ext cx="3492549" cy="4640609"/>
          </a:xfrm>
          <a:prstGeom prst="rect">
            <a:avLst/>
          </a:prstGeom>
          <a:noFill/>
          <a:ln>
            <a:noFill/>
          </a:ln>
        </p:spPr>
      </p:pic>
      <p:pic>
        <p:nvPicPr>
          <p:cNvPr id="128" name="Google Shape;128;p17" descr="image.png"/>
          <p:cNvPicPr preferRelativeResize="0"/>
          <p:nvPr/>
        </p:nvPicPr>
        <p:blipFill rotWithShape="1">
          <a:blip r:embed="rId6">
            <a:alphaModFix/>
          </a:blip>
          <a:srcRect/>
          <a:stretch/>
        </p:blipFill>
        <p:spPr>
          <a:xfrm>
            <a:off x="8128099" y="1645890"/>
            <a:ext cx="3492549" cy="4640609"/>
          </a:xfrm>
          <a:prstGeom prst="rect">
            <a:avLst/>
          </a:prstGeom>
          <a:noFill/>
          <a:ln>
            <a:noFill/>
          </a:ln>
        </p:spPr>
      </p:pic>
      <p:pic>
        <p:nvPicPr>
          <p:cNvPr id="129" name="Google Shape;129;p17" descr="image.png"/>
          <p:cNvPicPr preferRelativeResize="0"/>
          <p:nvPr/>
        </p:nvPicPr>
        <p:blipFill rotWithShape="1">
          <a:blip r:embed="rId7">
            <a:alphaModFix/>
          </a:blip>
          <a:srcRect/>
          <a:stretch/>
        </p:blipFill>
        <p:spPr>
          <a:xfrm>
            <a:off x="1936700" y="1941165"/>
            <a:ext cx="762000" cy="762000"/>
          </a:xfrm>
          <a:prstGeom prst="rect">
            <a:avLst/>
          </a:prstGeom>
          <a:noFill/>
          <a:ln>
            <a:noFill/>
          </a:ln>
        </p:spPr>
      </p:pic>
      <p:sp>
        <p:nvSpPr>
          <p:cNvPr id="130" name="Google Shape;130;p17"/>
          <p:cNvSpPr txBox="1"/>
          <p:nvPr/>
        </p:nvSpPr>
        <p:spPr>
          <a:xfrm>
            <a:off x="1612612" y="2931765"/>
            <a:ext cx="1410176" cy="196006"/>
          </a:xfrm>
          <a:prstGeom prst="rect">
            <a:avLst/>
          </a:prstGeom>
          <a:noFill/>
          <a:ln>
            <a:noFill/>
          </a:ln>
        </p:spPr>
        <p:txBody>
          <a:bodyPr spcFirstLastPara="1" wrap="square" lIns="0" tIns="0" rIns="0" bIns="0" anchor="t" anchorCtr="0">
            <a:spAutoFit/>
          </a:bodyPr>
          <a:lstStyle/>
          <a:p>
            <a:pPr marL="0" marR="0" lvl="0" indent="0" algn="ctr" rtl="0">
              <a:lnSpc>
                <a:spcPct val="109971"/>
              </a:lnSpc>
              <a:spcBef>
                <a:spcPts val="0"/>
              </a:spcBef>
              <a:spcAft>
                <a:spcPts val="0"/>
              </a:spcAft>
              <a:buNone/>
            </a:pPr>
            <a:r>
              <a:rPr lang="en-US" sz="1404" b="1" i="0" u="none" strike="noStrike" cap="none">
                <a:solidFill>
                  <a:srgbClr val="F8FAFC"/>
                </a:solidFill>
                <a:latin typeface="Urbanist"/>
                <a:ea typeface="Urbanist"/>
                <a:cs typeface="Urbanist"/>
                <a:sym typeface="Urbanist"/>
              </a:rPr>
              <a:t>Code Generation</a:t>
            </a:r>
            <a:endParaRPr/>
          </a:p>
        </p:txBody>
      </p:sp>
      <p:sp>
        <p:nvSpPr>
          <p:cNvPr id="131" name="Google Shape;131;p17"/>
          <p:cNvSpPr txBox="1"/>
          <p:nvPr/>
        </p:nvSpPr>
        <p:spPr>
          <a:xfrm>
            <a:off x="866775" y="3318271"/>
            <a:ext cx="2901999" cy="153352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The protoc compiler automatically generates client stubs and server skeletons, eliminating manual parsing code and reducing bugs.</a:t>
            </a:r>
            <a:endParaRPr/>
          </a:p>
        </p:txBody>
      </p:sp>
      <p:pic>
        <p:nvPicPr>
          <p:cNvPr id="132" name="Google Shape;132;p17" descr="image.png"/>
          <p:cNvPicPr preferRelativeResize="0"/>
          <p:nvPr/>
        </p:nvPicPr>
        <p:blipFill rotWithShape="1">
          <a:blip r:embed="rId8">
            <a:alphaModFix/>
          </a:blip>
          <a:srcRect/>
          <a:stretch/>
        </p:blipFill>
        <p:spPr>
          <a:xfrm>
            <a:off x="5715000" y="1941165"/>
            <a:ext cx="762000" cy="762000"/>
          </a:xfrm>
          <a:prstGeom prst="rect">
            <a:avLst/>
          </a:prstGeom>
          <a:noFill/>
          <a:ln>
            <a:noFill/>
          </a:ln>
        </p:spPr>
      </p:pic>
      <p:sp>
        <p:nvSpPr>
          <p:cNvPr id="133" name="Google Shape;133;p17"/>
          <p:cNvSpPr txBox="1"/>
          <p:nvPr/>
        </p:nvSpPr>
        <p:spPr>
          <a:xfrm>
            <a:off x="5575935" y="2931765"/>
            <a:ext cx="1040130" cy="196006"/>
          </a:xfrm>
          <a:prstGeom prst="rect">
            <a:avLst/>
          </a:prstGeom>
          <a:noFill/>
          <a:ln>
            <a:noFill/>
          </a:ln>
        </p:spPr>
        <p:txBody>
          <a:bodyPr spcFirstLastPara="1" wrap="square" lIns="0" tIns="0" rIns="0" bIns="0" anchor="t" anchorCtr="0">
            <a:spAutoFit/>
          </a:bodyPr>
          <a:lstStyle/>
          <a:p>
            <a:pPr marL="0" marR="0" lvl="0" indent="0" algn="ctr" rtl="0">
              <a:lnSpc>
                <a:spcPct val="109971"/>
              </a:lnSpc>
              <a:spcBef>
                <a:spcPts val="0"/>
              </a:spcBef>
              <a:spcAft>
                <a:spcPts val="0"/>
              </a:spcAft>
              <a:buNone/>
            </a:pPr>
            <a:r>
              <a:rPr lang="en-US" sz="1404" b="1" i="0" u="none" strike="noStrike" cap="none">
                <a:solidFill>
                  <a:srgbClr val="F8FAFC"/>
                </a:solidFill>
                <a:latin typeface="Urbanist"/>
                <a:ea typeface="Urbanist"/>
                <a:cs typeface="Urbanist"/>
                <a:sym typeface="Urbanist"/>
              </a:rPr>
              <a:t>Type Safety</a:t>
            </a:r>
            <a:endParaRPr/>
          </a:p>
        </p:txBody>
      </p:sp>
      <p:sp>
        <p:nvSpPr>
          <p:cNvPr id="134" name="Google Shape;134;p17"/>
          <p:cNvSpPr txBox="1"/>
          <p:nvPr/>
        </p:nvSpPr>
        <p:spPr>
          <a:xfrm>
            <a:off x="4645074" y="3318271"/>
            <a:ext cx="2901999" cy="122872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Strictly typed contracts prevent runtime errors. An int32 in the contract is enforced as an integer in Swift or Kotlin, not a string.</a:t>
            </a:r>
            <a:endParaRPr/>
          </a:p>
        </p:txBody>
      </p:sp>
      <p:pic>
        <p:nvPicPr>
          <p:cNvPr id="135" name="Google Shape;135;p17" descr="image.png"/>
          <p:cNvPicPr preferRelativeResize="0"/>
          <p:nvPr/>
        </p:nvPicPr>
        <p:blipFill rotWithShape="1">
          <a:blip r:embed="rId9">
            <a:alphaModFix/>
          </a:blip>
          <a:srcRect/>
          <a:stretch/>
        </p:blipFill>
        <p:spPr>
          <a:xfrm>
            <a:off x="9493299" y="1941165"/>
            <a:ext cx="762000" cy="762000"/>
          </a:xfrm>
          <a:prstGeom prst="rect">
            <a:avLst/>
          </a:prstGeom>
          <a:noFill/>
          <a:ln>
            <a:noFill/>
          </a:ln>
        </p:spPr>
      </p:pic>
      <p:sp>
        <p:nvSpPr>
          <p:cNvPr id="136" name="Google Shape;136;p17"/>
          <p:cNvSpPr txBox="1"/>
          <p:nvPr/>
        </p:nvSpPr>
        <p:spPr>
          <a:xfrm>
            <a:off x="8979187" y="2931765"/>
            <a:ext cx="1790223" cy="196006"/>
          </a:xfrm>
          <a:prstGeom prst="rect">
            <a:avLst/>
          </a:prstGeom>
          <a:noFill/>
          <a:ln>
            <a:noFill/>
          </a:ln>
        </p:spPr>
        <p:txBody>
          <a:bodyPr spcFirstLastPara="1" wrap="square" lIns="0" tIns="0" rIns="0" bIns="0" anchor="t" anchorCtr="0">
            <a:spAutoFit/>
          </a:bodyPr>
          <a:lstStyle/>
          <a:p>
            <a:pPr marL="0" marR="0" lvl="0" indent="0" algn="ctr" rtl="0">
              <a:lnSpc>
                <a:spcPct val="109971"/>
              </a:lnSpc>
              <a:spcBef>
                <a:spcPts val="0"/>
              </a:spcBef>
              <a:spcAft>
                <a:spcPts val="0"/>
              </a:spcAft>
              <a:buNone/>
            </a:pPr>
            <a:r>
              <a:rPr lang="en-US" sz="1404" b="1" i="0" u="none" strike="noStrike" cap="none">
                <a:solidFill>
                  <a:srgbClr val="F8FAFC"/>
                </a:solidFill>
                <a:latin typeface="Urbanist"/>
                <a:ea typeface="Urbanist"/>
                <a:cs typeface="Urbanist"/>
                <a:sym typeface="Urbanist"/>
              </a:rPr>
              <a:t>Parallel Development</a:t>
            </a:r>
            <a:endParaRPr/>
          </a:p>
        </p:txBody>
      </p:sp>
      <p:sp>
        <p:nvSpPr>
          <p:cNvPr id="137" name="Google Shape;137;p17"/>
          <p:cNvSpPr txBox="1"/>
          <p:nvPr/>
        </p:nvSpPr>
        <p:spPr>
          <a:xfrm>
            <a:off x="8423374" y="3318271"/>
            <a:ext cx="2901999" cy="153352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The .proto file serves as the single source of truth, allowing iOS, Android, and Backend teams to build in parallel against a defined interface.</a:t>
            </a:r>
            <a:endParaRPr/>
          </a:p>
        </p:txBody>
      </p:sp>
      <p:pic>
        <p:nvPicPr>
          <p:cNvPr id="138" name="Google Shape;138;p17" descr="image.png"/>
          <p:cNvPicPr preferRelativeResize="0"/>
          <p:nvPr/>
        </p:nvPicPr>
        <p:blipFill rotWithShape="1">
          <a:blip r:embed="rId10">
            <a:alphaModFix/>
          </a:blip>
          <a:srcRect/>
          <a:stretch/>
        </p:blipFill>
        <p:spPr>
          <a:xfrm>
            <a:off x="2031950" y="2093565"/>
            <a:ext cx="571500" cy="457200"/>
          </a:xfrm>
          <a:prstGeom prst="rect">
            <a:avLst/>
          </a:prstGeom>
          <a:noFill/>
          <a:ln>
            <a:noFill/>
          </a:ln>
        </p:spPr>
      </p:pic>
      <p:pic>
        <p:nvPicPr>
          <p:cNvPr id="139" name="Google Shape;139;p17" descr="image.png"/>
          <p:cNvPicPr preferRelativeResize="0"/>
          <p:nvPr/>
        </p:nvPicPr>
        <p:blipFill rotWithShape="1">
          <a:blip r:embed="rId11">
            <a:alphaModFix/>
          </a:blip>
          <a:srcRect/>
          <a:stretch/>
        </p:blipFill>
        <p:spPr>
          <a:xfrm>
            <a:off x="5867400" y="2093565"/>
            <a:ext cx="457200" cy="457200"/>
          </a:xfrm>
          <a:prstGeom prst="rect">
            <a:avLst/>
          </a:prstGeom>
          <a:noFill/>
          <a:ln>
            <a:noFill/>
          </a:ln>
        </p:spPr>
      </p:pic>
      <p:pic>
        <p:nvPicPr>
          <p:cNvPr id="140" name="Google Shape;140;p17" descr="image.png"/>
          <p:cNvPicPr preferRelativeResize="0"/>
          <p:nvPr/>
        </p:nvPicPr>
        <p:blipFill rotWithShape="1">
          <a:blip r:embed="rId12">
            <a:alphaModFix/>
          </a:blip>
          <a:srcRect/>
          <a:stretch/>
        </p:blipFill>
        <p:spPr>
          <a:xfrm>
            <a:off x="9588549" y="2093565"/>
            <a:ext cx="571500" cy="457200"/>
          </a:xfrm>
          <a:prstGeom prst="rect">
            <a:avLst/>
          </a:prstGeom>
          <a:noFill/>
          <a:ln>
            <a:noFill/>
          </a:ln>
        </p:spPr>
      </p:pic>
      <p:sp>
        <p:nvSpPr>
          <p:cNvPr id="141" name="Google Shape;141;p17"/>
          <p:cNvSpPr txBox="1"/>
          <p:nvPr/>
        </p:nvSpPr>
        <p:spPr>
          <a:xfrm>
            <a:off x="571500" y="571500"/>
            <a:ext cx="11601450" cy="50289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F8FAFC"/>
                </a:solidFill>
                <a:latin typeface="Urbanist"/>
                <a:ea typeface="Urbanist"/>
                <a:cs typeface="Urbanist"/>
                <a:sym typeface="Urbanist"/>
              </a:rPr>
              <a:t>Contract-First Development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7" name="Google Shape;147;p18" descr="image.png"/>
          <p:cNvPicPr preferRelativeResize="0"/>
          <p:nvPr/>
        </p:nvPicPr>
        <p:blipFill rotWithShape="1">
          <a:blip r:embed="rId4">
            <a:alphaModFix/>
          </a:blip>
          <a:srcRect/>
          <a:stretch/>
        </p:blipFill>
        <p:spPr>
          <a:xfrm>
            <a:off x="6381750" y="1822995"/>
            <a:ext cx="5238750" cy="4286250"/>
          </a:xfrm>
          <a:prstGeom prst="rect">
            <a:avLst/>
          </a:prstGeom>
          <a:noFill/>
          <a:ln>
            <a:noFill/>
          </a:ln>
        </p:spPr>
      </p:pic>
      <p:sp>
        <p:nvSpPr>
          <p:cNvPr id="148" name="Google Shape;148;p18"/>
          <p:cNvSpPr txBox="1"/>
          <p:nvPr/>
        </p:nvSpPr>
        <p:spPr>
          <a:xfrm>
            <a:off x="571500" y="2818358"/>
            <a:ext cx="52387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Unlike verbose text formats like JSON or XML, Protocol Buffers (protobuf) is a dense binary stream optimized for machine processing.</a:t>
            </a:r>
            <a:endParaRPr/>
          </a:p>
        </p:txBody>
      </p:sp>
      <p:pic>
        <p:nvPicPr>
          <p:cNvPr id="149" name="Google Shape;149;p18" descr="image.png"/>
          <p:cNvPicPr preferRelativeResize="0"/>
          <p:nvPr/>
        </p:nvPicPr>
        <p:blipFill rotWithShape="1">
          <a:blip r:embed="rId5">
            <a:alphaModFix/>
          </a:blip>
          <a:srcRect/>
          <a:stretch/>
        </p:blipFill>
        <p:spPr>
          <a:xfrm>
            <a:off x="6391275" y="1832520"/>
            <a:ext cx="5219700" cy="4267200"/>
          </a:xfrm>
          <a:prstGeom prst="rect">
            <a:avLst/>
          </a:prstGeom>
          <a:noFill/>
          <a:ln>
            <a:noFill/>
          </a:ln>
        </p:spPr>
      </p:pic>
      <p:sp>
        <p:nvSpPr>
          <p:cNvPr id="150" name="Google Shape;150;p18"/>
          <p:cNvSpPr txBox="1"/>
          <p:nvPr/>
        </p:nvSpPr>
        <p:spPr>
          <a:xfrm>
            <a:off x="914400" y="3923258"/>
            <a:ext cx="381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a:t>
            </a:r>
            <a:endParaRPr/>
          </a:p>
        </p:txBody>
      </p:sp>
      <p:sp>
        <p:nvSpPr>
          <p:cNvPr id="151" name="Google Shape;151;p18"/>
          <p:cNvSpPr txBox="1"/>
          <p:nvPr/>
        </p:nvSpPr>
        <p:spPr>
          <a:xfrm>
            <a:off x="1047093" y="3818156"/>
            <a:ext cx="4857750" cy="304800"/>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CBD5E1"/>
                </a:solidFill>
                <a:latin typeface="Urbanist"/>
                <a:ea typeface="Urbanist"/>
                <a:cs typeface="Urbanist"/>
                <a:sym typeface="Urbanist"/>
              </a:rPr>
              <a:t>Size:</a:t>
            </a:r>
            <a:r>
              <a:rPr lang="en-US" sz="1500" b="0" i="0" u="none" strike="noStrike" cap="none" dirty="0">
                <a:solidFill>
                  <a:srgbClr val="CBD5E1"/>
                </a:solidFill>
                <a:latin typeface="Urbanist"/>
                <a:ea typeface="Urbanist"/>
                <a:cs typeface="Urbanist"/>
                <a:sym typeface="Urbanist"/>
              </a:rPr>
              <a:t> 3x to 10x smaller than JSON.</a:t>
            </a:r>
            <a:endParaRPr dirty="0"/>
          </a:p>
        </p:txBody>
      </p:sp>
      <p:sp>
        <p:nvSpPr>
          <p:cNvPr id="152" name="Google Shape;152;p18"/>
          <p:cNvSpPr txBox="1"/>
          <p:nvPr/>
        </p:nvSpPr>
        <p:spPr>
          <a:xfrm>
            <a:off x="914400" y="4228058"/>
            <a:ext cx="381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a:t>
            </a:r>
            <a:endParaRPr/>
          </a:p>
        </p:txBody>
      </p:sp>
      <p:sp>
        <p:nvSpPr>
          <p:cNvPr id="153" name="Google Shape;153;p18"/>
          <p:cNvSpPr txBox="1"/>
          <p:nvPr/>
        </p:nvSpPr>
        <p:spPr>
          <a:xfrm>
            <a:off x="1047093" y="4122956"/>
            <a:ext cx="4857750" cy="304800"/>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Urbanist"/>
                <a:ea typeface="Urbanist"/>
                <a:cs typeface="Urbanist"/>
                <a:sym typeface="Urbanist"/>
              </a:rPr>
              <a:t>Speed:</a:t>
            </a:r>
            <a:r>
              <a:rPr lang="en-US" sz="1500" b="0" i="0" u="none" strike="noStrike" cap="none">
                <a:solidFill>
                  <a:srgbClr val="CBD5E1"/>
                </a:solidFill>
                <a:latin typeface="Urbanist"/>
                <a:ea typeface="Urbanist"/>
                <a:cs typeface="Urbanist"/>
                <a:sym typeface="Urbanist"/>
              </a:rPr>
              <a:t> Significantly faster parsing on mobile CPUs.</a:t>
            </a:r>
            <a:endParaRPr/>
          </a:p>
        </p:txBody>
      </p:sp>
      <p:sp>
        <p:nvSpPr>
          <p:cNvPr id="154" name="Google Shape;154;p18"/>
          <p:cNvSpPr txBox="1"/>
          <p:nvPr/>
        </p:nvSpPr>
        <p:spPr>
          <a:xfrm>
            <a:off x="914400" y="4532858"/>
            <a:ext cx="381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a:t>
            </a:r>
            <a:endParaRPr/>
          </a:p>
        </p:txBody>
      </p:sp>
      <p:sp>
        <p:nvSpPr>
          <p:cNvPr id="155" name="Google Shape;155;p18"/>
          <p:cNvSpPr txBox="1"/>
          <p:nvPr/>
        </p:nvSpPr>
        <p:spPr>
          <a:xfrm>
            <a:off x="1047093" y="4427756"/>
            <a:ext cx="4857750" cy="619125"/>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Urbanist"/>
                <a:ea typeface="Urbanist"/>
                <a:cs typeface="Urbanist"/>
                <a:sym typeface="Urbanist"/>
              </a:rPr>
              <a:t>Precision:</a:t>
            </a:r>
            <a:r>
              <a:rPr lang="en-US" sz="1500" b="0" i="0" u="none" strike="noStrike" cap="none">
                <a:solidFill>
                  <a:srgbClr val="CBD5E1"/>
                </a:solidFill>
                <a:latin typeface="Urbanist"/>
                <a:ea typeface="Urbanist"/>
                <a:cs typeface="Urbanist"/>
                <a:sym typeface="Urbanist"/>
              </a:rPr>
              <a:t> Distinct types for int64, float, and double prevent numeric precision loss common in JSON.</a:t>
            </a:r>
            <a:endParaRPr/>
          </a:p>
        </p:txBody>
      </p:sp>
      <p:sp>
        <p:nvSpPr>
          <p:cNvPr id="156" name="Google Shape;156;p18"/>
          <p:cNvSpPr txBox="1"/>
          <p:nvPr/>
        </p:nvSpPr>
        <p:spPr>
          <a:xfrm>
            <a:off x="571500" y="571500"/>
            <a:ext cx="11601450" cy="50289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F8FAFC"/>
                </a:solidFill>
                <a:latin typeface="Urbanist"/>
                <a:ea typeface="Urbanist"/>
                <a:cs typeface="Urbanist"/>
                <a:sym typeface="Urbanist"/>
              </a:rPr>
              <a:t>Protocol Buffers: The Wire Format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2" name="Google Shape;162;p19" descr="image.png"/>
          <p:cNvPicPr preferRelativeResize="0"/>
          <p:nvPr/>
        </p:nvPicPr>
        <p:blipFill rotWithShape="1">
          <a:blip r:embed="rId4">
            <a:alphaModFix/>
          </a:blip>
          <a:srcRect/>
          <a:stretch/>
        </p:blipFill>
        <p:spPr>
          <a:xfrm>
            <a:off x="6381750" y="3155305"/>
            <a:ext cx="5238750" cy="1469231"/>
          </a:xfrm>
          <a:prstGeom prst="rect">
            <a:avLst/>
          </a:prstGeom>
          <a:noFill/>
          <a:ln>
            <a:noFill/>
          </a:ln>
        </p:spPr>
      </p:pic>
      <p:sp>
        <p:nvSpPr>
          <p:cNvPr id="163" name="Google Shape;163;p19"/>
          <p:cNvSpPr txBox="1"/>
          <p:nvPr/>
        </p:nvSpPr>
        <p:spPr>
          <a:xfrm>
            <a:off x="571500" y="2668041"/>
            <a:ext cx="5500687" cy="196006"/>
          </a:xfrm>
          <a:prstGeom prst="rect">
            <a:avLst/>
          </a:prstGeom>
          <a:noFill/>
          <a:ln>
            <a:noFill/>
          </a:ln>
        </p:spPr>
        <p:txBody>
          <a:bodyPr spcFirstLastPara="1" wrap="square" lIns="0" tIns="0" rIns="0" bIns="0" anchor="t" anchorCtr="0">
            <a:spAutoFit/>
          </a:bodyPr>
          <a:lstStyle/>
          <a:p>
            <a:pPr marL="0" marR="0" lvl="0" indent="0" algn="l" rtl="0">
              <a:lnSpc>
                <a:spcPct val="109971"/>
              </a:lnSpc>
              <a:spcBef>
                <a:spcPts val="0"/>
              </a:spcBef>
              <a:spcAft>
                <a:spcPts val="0"/>
              </a:spcAft>
              <a:buNone/>
            </a:pPr>
            <a:r>
              <a:rPr lang="en-US" sz="1404" b="1" i="0" u="none" strike="noStrike" cap="none">
                <a:solidFill>
                  <a:srgbClr val="F8FAFC"/>
                </a:solidFill>
                <a:latin typeface="Urbanist"/>
                <a:ea typeface="Urbanist"/>
                <a:cs typeface="Urbanist"/>
                <a:sym typeface="Urbanist"/>
              </a:rPr>
              <a:t>Variable-Length Integers</a:t>
            </a:r>
            <a:endParaRPr/>
          </a:p>
        </p:txBody>
      </p:sp>
      <p:sp>
        <p:nvSpPr>
          <p:cNvPr id="164" name="Google Shape;164;p19"/>
          <p:cNvSpPr txBox="1"/>
          <p:nvPr/>
        </p:nvSpPr>
        <p:spPr>
          <a:xfrm>
            <a:off x="571500" y="3054548"/>
            <a:ext cx="52387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Standard integers use fixed 32-bit space (4 bytes) regardless of value size. Protobuf uses </a:t>
            </a:r>
            <a:r>
              <a:rPr lang="en-US" sz="1500" b="1" i="0" u="none" strike="noStrike" cap="none">
                <a:solidFill>
                  <a:srgbClr val="CBD5E1"/>
                </a:solidFill>
                <a:latin typeface="Urbanist"/>
                <a:ea typeface="Urbanist"/>
                <a:cs typeface="Urbanist"/>
                <a:sym typeface="Urbanist"/>
              </a:rPr>
              <a:t>Varints</a:t>
            </a:r>
            <a:r>
              <a:rPr lang="en-US" sz="1500" b="0" i="0" u="none" strike="noStrike" cap="none">
                <a:solidFill>
                  <a:srgbClr val="CBD5E1"/>
                </a:solidFill>
                <a:latin typeface="Urbanist"/>
                <a:ea typeface="Urbanist"/>
                <a:cs typeface="Urbanist"/>
                <a:sym typeface="Urbanist"/>
              </a:rPr>
              <a:t> to use only as many bytes as needed.</a:t>
            </a:r>
            <a:endParaRPr/>
          </a:p>
        </p:txBody>
      </p:sp>
      <p:sp>
        <p:nvSpPr>
          <p:cNvPr id="165" name="Google Shape;165;p19"/>
          <p:cNvSpPr txBox="1"/>
          <p:nvPr/>
        </p:nvSpPr>
        <p:spPr>
          <a:xfrm>
            <a:off x="571500" y="4159448"/>
            <a:ext cx="52387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Each byte uses the MSB as a "Continuation Bit". If set to 1, the next byte is part of the integer. Small numbers (under 128) use just 1 byte.</a:t>
            </a:r>
            <a:endParaRPr/>
          </a:p>
        </p:txBody>
      </p:sp>
      <p:sp>
        <p:nvSpPr>
          <p:cNvPr id="166" name="Google Shape;166;p19"/>
          <p:cNvSpPr txBox="1"/>
          <p:nvPr/>
        </p:nvSpPr>
        <p:spPr>
          <a:xfrm>
            <a:off x="6381750" y="2768798"/>
            <a:ext cx="5500687" cy="196006"/>
          </a:xfrm>
          <a:prstGeom prst="rect">
            <a:avLst/>
          </a:prstGeom>
          <a:noFill/>
          <a:ln>
            <a:noFill/>
          </a:ln>
        </p:spPr>
        <p:txBody>
          <a:bodyPr spcFirstLastPara="1" wrap="square" lIns="0" tIns="0" rIns="0" bIns="0" anchor="t" anchorCtr="0">
            <a:spAutoFit/>
          </a:bodyPr>
          <a:lstStyle/>
          <a:p>
            <a:pPr marL="0" marR="0" lvl="0" indent="0" algn="l" rtl="0">
              <a:lnSpc>
                <a:spcPct val="109971"/>
              </a:lnSpc>
              <a:spcBef>
                <a:spcPts val="0"/>
              </a:spcBef>
              <a:spcAft>
                <a:spcPts val="0"/>
              </a:spcAft>
              <a:buNone/>
            </a:pPr>
            <a:r>
              <a:rPr lang="en-US" sz="1404" b="1" i="0" u="none" strike="noStrike" cap="none">
                <a:solidFill>
                  <a:srgbClr val="F8FAFC"/>
                </a:solidFill>
                <a:latin typeface="Urbanist"/>
                <a:ea typeface="Urbanist"/>
                <a:cs typeface="Urbanist"/>
                <a:sym typeface="Urbanist"/>
              </a:rPr>
              <a:t>Decoding Logic (Example: 300)</a:t>
            </a:r>
            <a:endParaRPr/>
          </a:p>
        </p:txBody>
      </p:sp>
      <p:sp>
        <p:nvSpPr>
          <p:cNvPr id="167" name="Google Shape;167;p19"/>
          <p:cNvSpPr txBox="1"/>
          <p:nvPr/>
        </p:nvSpPr>
        <p:spPr>
          <a:xfrm>
            <a:off x="6381750" y="4767411"/>
            <a:ext cx="523875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Urbanist"/>
                <a:ea typeface="Urbanist"/>
                <a:cs typeface="Urbanist"/>
                <a:sym typeface="Urbanist"/>
              </a:rPr>
              <a:t>(Reduced from 4 bytes to 2 bytes)</a:t>
            </a:r>
            <a:endParaRPr/>
          </a:p>
        </p:txBody>
      </p:sp>
      <p:pic>
        <p:nvPicPr>
          <p:cNvPr id="168" name="Google Shape;168;p19" descr="image.png"/>
          <p:cNvPicPr preferRelativeResize="0"/>
          <p:nvPr/>
        </p:nvPicPr>
        <p:blipFill rotWithShape="1">
          <a:blip r:embed="rId5">
            <a:alphaModFix/>
          </a:blip>
          <a:srcRect/>
          <a:stretch/>
        </p:blipFill>
        <p:spPr>
          <a:xfrm>
            <a:off x="6572250" y="3345805"/>
            <a:ext cx="4857750" cy="1088231"/>
          </a:xfrm>
          <a:prstGeom prst="rect">
            <a:avLst/>
          </a:prstGeom>
          <a:noFill/>
          <a:ln>
            <a:noFill/>
          </a:ln>
        </p:spPr>
      </p:pic>
      <p:sp>
        <p:nvSpPr>
          <p:cNvPr id="169" name="Google Shape;169;p19"/>
          <p:cNvSpPr txBox="1"/>
          <p:nvPr/>
        </p:nvSpPr>
        <p:spPr>
          <a:xfrm>
            <a:off x="571500" y="571500"/>
            <a:ext cx="11601450" cy="50289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F8FAFC"/>
                </a:solidFill>
                <a:latin typeface="Urbanist"/>
                <a:ea typeface="Urbanist"/>
                <a:cs typeface="Urbanist"/>
                <a:sym typeface="Urbanist"/>
              </a:rPr>
              <a:t>Binary Theory: Varints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5" name="Google Shape;175;p20"/>
          <p:cNvSpPr txBox="1"/>
          <p:nvPr/>
        </p:nvSpPr>
        <p:spPr>
          <a:xfrm>
            <a:off x="571500" y="2027783"/>
            <a:ext cx="11049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Field names (e.g., "userId") are never sent over the wire. Instead, fields are identified by Integer Tags, drastically reducing payload size.</a:t>
            </a:r>
            <a:endParaRPr/>
          </a:p>
        </p:txBody>
      </p:sp>
      <p:graphicFrame>
        <p:nvGraphicFramePr>
          <p:cNvPr id="176" name="Google Shape;176;p20"/>
          <p:cNvGraphicFramePr/>
          <p:nvPr/>
        </p:nvGraphicFramePr>
        <p:xfrm>
          <a:off x="571500" y="3018383"/>
          <a:ext cx="11049000" cy="3076625"/>
        </p:xfrm>
        <a:graphic>
          <a:graphicData uri="http://schemas.openxmlformats.org/drawingml/2006/table">
            <a:tbl>
              <a:tblPr firstRow="1" bandRow="1">
                <a:noFill/>
              </a:tblPr>
              <a:tblGrid>
                <a:gridCol w="2093125">
                  <a:extLst>
                    <a:ext uri="{9D8B030D-6E8A-4147-A177-3AD203B41FA5}">
                      <a16:colId xmlns:a16="http://schemas.microsoft.com/office/drawing/2014/main" val="20000"/>
                    </a:ext>
                  </a:extLst>
                </a:gridCol>
                <a:gridCol w="1681300">
                  <a:extLst>
                    <a:ext uri="{9D8B030D-6E8A-4147-A177-3AD203B41FA5}">
                      <a16:colId xmlns:a16="http://schemas.microsoft.com/office/drawing/2014/main" val="20001"/>
                    </a:ext>
                  </a:extLst>
                </a:gridCol>
                <a:gridCol w="4100375">
                  <a:extLst>
                    <a:ext uri="{9D8B030D-6E8A-4147-A177-3AD203B41FA5}">
                      <a16:colId xmlns:a16="http://schemas.microsoft.com/office/drawing/2014/main" val="20002"/>
                    </a:ext>
                  </a:extLst>
                </a:gridCol>
                <a:gridCol w="3174200">
                  <a:extLst>
                    <a:ext uri="{9D8B030D-6E8A-4147-A177-3AD203B41FA5}">
                      <a16:colId xmlns:a16="http://schemas.microsoft.com/office/drawing/2014/main" val="20003"/>
                    </a:ext>
                  </a:extLst>
                </a:gridCol>
              </a:tblGrid>
              <a:tr h="615325">
                <a:tc>
                  <a:txBody>
                    <a:bodyPr/>
                    <a:lstStyle/>
                    <a:p>
                      <a:pPr marL="0" marR="0" lvl="0" indent="0" algn="l" rtl="0">
                        <a:spcBef>
                          <a:spcPts val="0"/>
                        </a:spcBef>
                        <a:spcAft>
                          <a:spcPts val="0"/>
                        </a:spcAft>
                        <a:buNone/>
                      </a:pPr>
                      <a:r>
                        <a:rPr lang="en-US" sz="1500" b="1" i="0" u="none" strike="noStrike" cap="none">
                          <a:solidFill>
                            <a:srgbClr val="F8FAFC"/>
                          </a:solidFill>
                          <a:latin typeface="Urbanist"/>
                          <a:ea typeface="Urbanist"/>
                          <a:cs typeface="Urbanist"/>
                          <a:sym typeface="Urbanist"/>
                        </a:rPr>
                        <a:t>Wire Type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8BDF8"/>
                    </a:solidFill>
                  </a:tcPr>
                </a:tc>
                <a:tc>
                  <a:txBody>
                    <a:bodyPr/>
                    <a:lstStyle/>
                    <a:p>
                      <a:pPr marL="0" marR="0" lvl="0" indent="0" algn="l" rtl="0">
                        <a:spcBef>
                          <a:spcPts val="0"/>
                        </a:spcBef>
                        <a:spcAft>
                          <a:spcPts val="0"/>
                        </a:spcAft>
                        <a:buNone/>
                      </a:pPr>
                      <a:r>
                        <a:rPr lang="en-US" sz="1500" b="1" i="0" u="none" strike="noStrike" cap="none">
                          <a:solidFill>
                            <a:srgbClr val="F8FAFC"/>
                          </a:solidFill>
                          <a:latin typeface="Urbanist"/>
                          <a:ea typeface="Urbanist"/>
                          <a:cs typeface="Urbanist"/>
                          <a:sym typeface="Urbanist"/>
                        </a:rPr>
                        <a:t>Name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8BDF8"/>
                    </a:solidFill>
                  </a:tcPr>
                </a:tc>
                <a:tc>
                  <a:txBody>
                    <a:bodyPr/>
                    <a:lstStyle/>
                    <a:p>
                      <a:pPr marL="0" marR="0" lvl="0" indent="0" algn="l" rtl="0">
                        <a:spcBef>
                          <a:spcPts val="0"/>
                        </a:spcBef>
                        <a:spcAft>
                          <a:spcPts val="0"/>
                        </a:spcAft>
                        <a:buNone/>
                      </a:pPr>
                      <a:r>
                        <a:rPr lang="en-US" sz="1500" b="1" i="0" u="none" strike="noStrike" cap="none">
                          <a:solidFill>
                            <a:srgbClr val="F8FAFC"/>
                          </a:solidFill>
                          <a:latin typeface="Urbanist"/>
                          <a:ea typeface="Urbanist"/>
                          <a:cs typeface="Urbanist"/>
                          <a:sym typeface="Urbanist"/>
                        </a:rPr>
                        <a:t>Used For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8BDF8"/>
                    </a:solidFill>
                  </a:tcPr>
                </a:tc>
                <a:tc>
                  <a:txBody>
                    <a:bodyPr/>
                    <a:lstStyle/>
                    <a:p>
                      <a:pPr marL="0" marR="0" lvl="0" indent="0" algn="l" rtl="0">
                        <a:spcBef>
                          <a:spcPts val="0"/>
                        </a:spcBef>
                        <a:spcAft>
                          <a:spcPts val="0"/>
                        </a:spcAft>
                        <a:buNone/>
                      </a:pPr>
                      <a:r>
                        <a:rPr lang="en-US" sz="1500" b="1" i="0" u="none" strike="noStrike" cap="none">
                          <a:solidFill>
                            <a:srgbClr val="F8FAFC"/>
                          </a:solidFill>
                          <a:latin typeface="Urbanist"/>
                          <a:ea typeface="Urbanist"/>
                          <a:cs typeface="Urbanist"/>
                          <a:sym typeface="Urbanist"/>
                        </a:rPr>
                        <a:t>Definition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8BDF8"/>
                    </a:solidFill>
                  </a:tcPr>
                </a:tc>
                <a:extLst>
                  <a:ext uri="{0D108BD9-81ED-4DB2-BD59-A6C34878D82A}">
                    <a16:rowId xmlns:a16="http://schemas.microsoft.com/office/drawing/2014/main" val="10000"/>
                  </a:ext>
                </a:extLst>
              </a:tr>
              <a:tr h="615325">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VARINT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int32, int64, bool, enum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Variable length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15325">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I64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fixed64, double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Fixed 64-bit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15325">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LEN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string, bytes, messages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Length-delimited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15325">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I32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fixed32, float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Fixed 32-bit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77" name="Google Shape;177;p20"/>
          <p:cNvSpPr/>
          <p:nvPr/>
        </p:nvSpPr>
        <p:spPr>
          <a:xfrm>
            <a:off x="571500" y="4232820"/>
            <a:ext cx="209311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8" name="Google Shape;178;p20"/>
          <p:cNvSpPr/>
          <p:nvPr/>
        </p:nvSpPr>
        <p:spPr>
          <a:xfrm>
            <a:off x="2664618" y="4232820"/>
            <a:ext cx="168131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9" name="Google Shape;179;p20"/>
          <p:cNvSpPr/>
          <p:nvPr/>
        </p:nvSpPr>
        <p:spPr>
          <a:xfrm>
            <a:off x="4345930" y="4232820"/>
            <a:ext cx="410036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0" name="Google Shape;180;p20"/>
          <p:cNvSpPr/>
          <p:nvPr/>
        </p:nvSpPr>
        <p:spPr>
          <a:xfrm>
            <a:off x="8446293" y="4232820"/>
            <a:ext cx="31742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20"/>
          <p:cNvSpPr/>
          <p:nvPr/>
        </p:nvSpPr>
        <p:spPr>
          <a:xfrm>
            <a:off x="571500" y="4851945"/>
            <a:ext cx="209311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20"/>
          <p:cNvSpPr/>
          <p:nvPr/>
        </p:nvSpPr>
        <p:spPr>
          <a:xfrm>
            <a:off x="2664618" y="4851945"/>
            <a:ext cx="168131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20"/>
          <p:cNvSpPr/>
          <p:nvPr/>
        </p:nvSpPr>
        <p:spPr>
          <a:xfrm>
            <a:off x="4345930" y="4851945"/>
            <a:ext cx="410036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20"/>
          <p:cNvSpPr/>
          <p:nvPr/>
        </p:nvSpPr>
        <p:spPr>
          <a:xfrm>
            <a:off x="8446293" y="4851945"/>
            <a:ext cx="31742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20"/>
          <p:cNvSpPr/>
          <p:nvPr/>
        </p:nvSpPr>
        <p:spPr>
          <a:xfrm>
            <a:off x="571500" y="5471070"/>
            <a:ext cx="209311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20"/>
          <p:cNvSpPr/>
          <p:nvPr/>
        </p:nvSpPr>
        <p:spPr>
          <a:xfrm>
            <a:off x="2664618" y="5471070"/>
            <a:ext cx="168131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20"/>
          <p:cNvSpPr/>
          <p:nvPr/>
        </p:nvSpPr>
        <p:spPr>
          <a:xfrm>
            <a:off x="4345930" y="5471070"/>
            <a:ext cx="410036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8" name="Google Shape;188;p20"/>
          <p:cNvSpPr/>
          <p:nvPr/>
        </p:nvSpPr>
        <p:spPr>
          <a:xfrm>
            <a:off x="8446293" y="5471070"/>
            <a:ext cx="31742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20"/>
          <p:cNvSpPr txBox="1"/>
          <p:nvPr/>
        </p:nvSpPr>
        <p:spPr>
          <a:xfrm>
            <a:off x="571500" y="571500"/>
            <a:ext cx="11601450" cy="50289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F8FAFC"/>
                </a:solidFill>
                <a:latin typeface="Urbanist"/>
                <a:ea typeface="Urbanist"/>
                <a:cs typeface="Urbanist"/>
                <a:sym typeface="Urbanist"/>
              </a:rPr>
              <a:t>Field Tagging &amp; Wire Types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pic>
        <p:nvPicPr>
          <p:cNvPr id="194" name="Google Shape;194;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5" name="Google Shape;195;p21" descr="image.png"/>
          <p:cNvPicPr preferRelativeResize="0"/>
          <p:nvPr/>
        </p:nvPicPr>
        <p:blipFill rotWithShape="1">
          <a:blip r:embed="rId4">
            <a:alphaModFix/>
          </a:blip>
          <a:srcRect/>
          <a:stretch/>
        </p:blipFill>
        <p:spPr>
          <a:xfrm>
            <a:off x="571500" y="1645890"/>
            <a:ext cx="5238750" cy="4640609"/>
          </a:xfrm>
          <a:prstGeom prst="rect">
            <a:avLst/>
          </a:prstGeom>
          <a:noFill/>
          <a:ln>
            <a:noFill/>
          </a:ln>
        </p:spPr>
      </p:pic>
      <p:pic>
        <p:nvPicPr>
          <p:cNvPr id="196" name="Google Shape;196;p21" descr="image.png"/>
          <p:cNvPicPr preferRelativeResize="0"/>
          <p:nvPr/>
        </p:nvPicPr>
        <p:blipFill rotWithShape="1">
          <a:blip r:embed="rId4">
            <a:alphaModFix/>
          </a:blip>
          <a:srcRect/>
          <a:stretch/>
        </p:blipFill>
        <p:spPr>
          <a:xfrm>
            <a:off x="6381750" y="1645890"/>
            <a:ext cx="5238750" cy="4640609"/>
          </a:xfrm>
          <a:prstGeom prst="rect">
            <a:avLst/>
          </a:prstGeom>
          <a:noFill/>
          <a:ln>
            <a:noFill/>
          </a:ln>
        </p:spPr>
      </p:pic>
      <p:sp>
        <p:nvSpPr>
          <p:cNvPr id="197" name="Google Shape;197;p21"/>
          <p:cNvSpPr txBox="1"/>
          <p:nvPr/>
        </p:nvSpPr>
        <p:spPr>
          <a:xfrm>
            <a:off x="962025" y="2036415"/>
            <a:ext cx="4680585" cy="29334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a:solidFill>
                  <a:srgbClr val="38BDF8"/>
                </a:solidFill>
                <a:latin typeface="Urbanist"/>
                <a:ea typeface="Urbanist"/>
                <a:cs typeface="Urbanist"/>
                <a:sym typeface="Urbanist"/>
              </a:rPr>
              <a:t>Forward Compatibility</a:t>
            </a:r>
            <a:endParaRPr/>
          </a:p>
        </p:txBody>
      </p:sp>
      <p:sp>
        <p:nvSpPr>
          <p:cNvPr id="198" name="Google Shape;198;p21"/>
          <p:cNvSpPr txBox="1"/>
          <p:nvPr/>
        </p:nvSpPr>
        <p:spPr>
          <a:xfrm>
            <a:off x="962025" y="2672655"/>
            <a:ext cx="4457700" cy="213360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1" i="0" u="none" strike="noStrike" cap="none">
                <a:solidFill>
                  <a:srgbClr val="CBD5E1"/>
                </a:solidFill>
                <a:latin typeface="Urbanist"/>
                <a:ea typeface="Urbanist"/>
                <a:cs typeface="Urbanist"/>
                <a:sym typeface="Urbanist"/>
              </a:rPr>
              <a:t>Scenario:</a:t>
            </a:r>
            <a:r>
              <a:rPr lang="en-US" sz="1500" b="0" i="0" u="none" strike="noStrike" cap="none">
                <a:solidFill>
                  <a:srgbClr val="CBD5E1"/>
                </a:solidFill>
                <a:latin typeface="Urbanist"/>
                <a:ea typeface="Urbanist"/>
                <a:cs typeface="Urbanist"/>
                <a:sym typeface="Urbanist"/>
              </a:rPr>
              <a:t> Old App (v1.0) receives data from New Server (v2.0).</a:t>
            </a:r>
            <a:br>
              <a:rPr lang="en-US" sz="1800" b="0" i="0" u="none" strike="noStrike" cap="none">
                <a:solidFill>
                  <a:schemeClr val="dk1"/>
                </a:solidFill>
                <a:latin typeface="Calibri"/>
                <a:ea typeface="Calibri"/>
                <a:cs typeface="Calibri"/>
                <a:sym typeface="Calibri"/>
              </a:rPr>
            </a:br>
            <a:br>
              <a:rPr lang="en-US" sz="1800" b="0" i="0" u="none" strike="noStrike" cap="none">
                <a:solidFill>
                  <a:schemeClr val="dk1"/>
                </a:solidFill>
                <a:latin typeface="Calibri"/>
                <a:ea typeface="Calibri"/>
                <a:cs typeface="Calibri"/>
                <a:sym typeface="Calibri"/>
              </a:rPr>
            </a:br>
            <a:r>
              <a:rPr lang="en-US" sz="1500" b="1" i="0" u="none" strike="noStrike" cap="none">
                <a:solidFill>
                  <a:srgbClr val="CBD5E1"/>
                </a:solidFill>
                <a:latin typeface="Urbanist"/>
                <a:ea typeface="Urbanist"/>
                <a:cs typeface="Urbanist"/>
                <a:sym typeface="Urbanist"/>
              </a:rPr>
              <a:t>Mechanism:</a:t>
            </a:r>
            <a:r>
              <a:rPr lang="en-US" sz="1500" b="0" i="0" u="none" strike="noStrike" cap="none">
                <a:solidFill>
                  <a:srgbClr val="CBD5E1"/>
                </a:solidFill>
                <a:latin typeface="Urbanist"/>
                <a:ea typeface="Urbanist"/>
                <a:cs typeface="Urbanist"/>
                <a:sym typeface="Urbanist"/>
              </a:rPr>
              <a:t> The parser encounters an unknown tag (e.g., Tag 3). Using the Wire Type, it knows exactly how many bytes to skip. The app does not crash; it simply ignores the new data.</a:t>
            </a:r>
            <a:endParaRPr/>
          </a:p>
        </p:txBody>
      </p:sp>
      <p:sp>
        <p:nvSpPr>
          <p:cNvPr id="199" name="Google Shape;199;p21"/>
          <p:cNvSpPr txBox="1"/>
          <p:nvPr/>
        </p:nvSpPr>
        <p:spPr>
          <a:xfrm>
            <a:off x="6772275" y="2036415"/>
            <a:ext cx="4680585" cy="29334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100" b="1" i="0" u="none" strike="noStrike" cap="none">
                <a:solidFill>
                  <a:srgbClr val="38BDF8"/>
                </a:solidFill>
                <a:latin typeface="Urbanist"/>
                <a:ea typeface="Urbanist"/>
                <a:cs typeface="Urbanist"/>
                <a:sym typeface="Urbanist"/>
              </a:rPr>
              <a:t>Backward Compatibility</a:t>
            </a:r>
            <a:endParaRPr/>
          </a:p>
        </p:txBody>
      </p:sp>
      <p:sp>
        <p:nvSpPr>
          <p:cNvPr id="200" name="Google Shape;200;p21"/>
          <p:cNvSpPr txBox="1"/>
          <p:nvPr/>
        </p:nvSpPr>
        <p:spPr>
          <a:xfrm>
            <a:off x="6772275" y="2672655"/>
            <a:ext cx="4457700" cy="213360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1" i="0" u="none" strike="noStrike" cap="none">
                <a:solidFill>
                  <a:srgbClr val="CBD5E1"/>
                </a:solidFill>
                <a:latin typeface="Urbanist"/>
                <a:ea typeface="Urbanist"/>
                <a:cs typeface="Urbanist"/>
                <a:sym typeface="Urbanist"/>
              </a:rPr>
              <a:t>Scenario:</a:t>
            </a:r>
            <a:r>
              <a:rPr lang="en-US" sz="1500" b="0" i="0" u="none" strike="noStrike" cap="none">
                <a:solidFill>
                  <a:srgbClr val="CBD5E1"/>
                </a:solidFill>
                <a:latin typeface="Urbanist"/>
                <a:ea typeface="Urbanist"/>
                <a:cs typeface="Urbanist"/>
                <a:sym typeface="Urbanist"/>
              </a:rPr>
              <a:t> New Server (v2.0) receives data from Old App (v1.0).</a:t>
            </a:r>
            <a:br>
              <a:rPr lang="en-US" sz="1800" b="0" i="0" u="none" strike="noStrike" cap="none">
                <a:solidFill>
                  <a:schemeClr val="dk1"/>
                </a:solidFill>
                <a:latin typeface="Calibri"/>
                <a:ea typeface="Calibri"/>
                <a:cs typeface="Calibri"/>
                <a:sym typeface="Calibri"/>
              </a:rPr>
            </a:br>
            <a:br>
              <a:rPr lang="en-US" sz="1800" b="0" i="0" u="none" strike="noStrike" cap="none">
                <a:solidFill>
                  <a:schemeClr val="dk1"/>
                </a:solidFill>
                <a:latin typeface="Calibri"/>
                <a:ea typeface="Calibri"/>
                <a:cs typeface="Calibri"/>
                <a:sym typeface="Calibri"/>
              </a:rPr>
            </a:br>
            <a:r>
              <a:rPr lang="en-US" sz="1500" b="1" i="0" u="none" strike="noStrike" cap="none">
                <a:solidFill>
                  <a:srgbClr val="CBD5E1"/>
                </a:solidFill>
                <a:latin typeface="Urbanist"/>
                <a:ea typeface="Urbanist"/>
                <a:cs typeface="Urbanist"/>
                <a:sym typeface="Urbanist"/>
              </a:rPr>
              <a:t>Mechanism:</a:t>
            </a:r>
            <a:r>
              <a:rPr lang="en-US" sz="1500" b="0" i="0" u="none" strike="noStrike" cap="none">
                <a:solidFill>
                  <a:srgbClr val="CBD5E1"/>
                </a:solidFill>
                <a:latin typeface="Urbanist"/>
                <a:ea typeface="Urbanist"/>
                <a:cs typeface="Urbanist"/>
                <a:sym typeface="Urbanist"/>
              </a:rPr>
              <a:t> The server expects Tag 3 (e.g., email) but doesn't receive it. Protobuf assigns a default value (empty string/zero), allowing the server logic to proceed gracefully.</a:t>
            </a:r>
            <a:endParaRPr/>
          </a:p>
        </p:txBody>
      </p:sp>
      <p:sp>
        <p:nvSpPr>
          <p:cNvPr id="201" name="Google Shape;201;p21"/>
          <p:cNvSpPr txBox="1"/>
          <p:nvPr/>
        </p:nvSpPr>
        <p:spPr>
          <a:xfrm>
            <a:off x="571500" y="571500"/>
            <a:ext cx="11601450" cy="50289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F8FAFC"/>
                </a:solidFill>
                <a:latin typeface="Urbanist"/>
                <a:ea typeface="Urbanist"/>
                <a:cs typeface="Urbanist"/>
                <a:sym typeface="Urbanist"/>
              </a:rPr>
              <a:t>Mobile Schema Evolution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pic>
        <p:nvPicPr>
          <p:cNvPr id="206" name="Google Shape;206;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7" name="Google Shape;207;p22"/>
          <p:cNvSpPr txBox="1"/>
          <p:nvPr/>
        </p:nvSpPr>
        <p:spPr>
          <a:xfrm>
            <a:off x="571500" y="3063329"/>
            <a:ext cx="5500687" cy="196006"/>
          </a:xfrm>
          <a:prstGeom prst="rect">
            <a:avLst/>
          </a:prstGeom>
          <a:noFill/>
          <a:ln>
            <a:noFill/>
          </a:ln>
        </p:spPr>
        <p:txBody>
          <a:bodyPr spcFirstLastPara="1" wrap="square" lIns="0" tIns="0" rIns="0" bIns="0" anchor="t" anchorCtr="0">
            <a:spAutoFit/>
          </a:bodyPr>
          <a:lstStyle/>
          <a:p>
            <a:pPr marL="0" marR="0" lvl="0" indent="0" algn="l" rtl="0">
              <a:lnSpc>
                <a:spcPct val="109971"/>
              </a:lnSpc>
              <a:spcBef>
                <a:spcPts val="0"/>
              </a:spcBef>
              <a:spcAft>
                <a:spcPts val="0"/>
              </a:spcAft>
              <a:buNone/>
            </a:pPr>
            <a:r>
              <a:rPr lang="en-US" sz="1404" b="1" i="0" u="none" strike="noStrike" cap="none">
                <a:solidFill>
                  <a:srgbClr val="EF4444"/>
                </a:solidFill>
                <a:latin typeface="Urbanist"/>
                <a:ea typeface="Urbanist"/>
                <a:cs typeface="Urbanist"/>
                <a:sym typeface="Urbanist"/>
              </a:rPr>
              <a:t>Blocking Stubs (Synchronous)</a:t>
            </a:r>
            <a:endParaRPr/>
          </a:p>
        </p:txBody>
      </p:sp>
      <p:sp>
        <p:nvSpPr>
          <p:cNvPr id="208" name="Google Shape;208;p22"/>
          <p:cNvSpPr txBox="1"/>
          <p:nvPr/>
        </p:nvSpPr>
        <p:spPr>
          <a:xfrm>
            <a:off x="571500" y="3449835"/>
            <a:ext cx="5238750" cy="12287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Calling stub.getUser() halts the thread until a response returns. On the mobile Main Thread, this causes UI freezes (Jank) and "Application Not Responding" (ANR) errors. Dangerous for mobile.</a:t>
            </a:r>
            <a:endParaRPr/>
          </a:p>
        </p:txBody>
      </p:sp>
      <p:sp>
        <p:nvSpPr>
          <p:cNvPr id="209" name="Google Shape;209;p22"/>
          <p:cNvSpPr txBox="1"/>
          <p:nvPr/>
        </p:nvSpPr>
        <p:spPr>
          <a:xfrm>
            <a:off x="6381750" y="3068091"/>
            <a:ext cx="5500687" cy="196006"/>
          </a:xfrm>
          <a:prstGeom prst="rect">
            <a:avLst/>
          </a:prstGeom>
          <a:noFill/>
          <a:ln>
            <a:noFill/>
          </a:ln>
        </p:spPr>
        <p:txBody>
          <a:bodyPr spcFirstLastPara="1" wrap="square" lIns="0" tIns="0" rIns="0" bIns="0" anchor="t" anchorCtr="0">
            <a:spAutoFit/>
          </a:bodyPr>
          <a:lstStyle/>
          <a:p>
            <a:pPr marL="0" marR="0" lvl="0" indent="0" algn="l" rtl="0">
              <a:lnSpc>
                <a:spcPct val="109971"/>
              </a:lnSpc>
              <a:spcBef>
                <a:spcPts val="0"/>
              </a:spcBef>
              <a:spcAft>
                <a:spcPts val="0"/>
              </a:spcAft>
              <a:buNone/>
            </a:pPr>
            <a:r>
              <a:rPr lang="en-US" sz="1404" b="1" i="0" u="none" strike="noStrike" cap="none">
                <a:solidFill>
                  <a:srgbClr val="22C55E"/>
                </a:solidFill>
                <a:latin typeface="Urbanist"/>
                <a:ea typeface="Urbanist"/>
                <a:cs typeface="Urbanist"/>
                <a:sym typeface="Urbanist"/>
              </a:rPr>
              <a:t>Async Stubs (Non-Blocking)</a:t>
            </a:r>
            <a:endParaRPr/>
          </a:p>
        </p:txBody>
      </p:sp>
      <p:sp>
        <p:nvSpPr>
          <p:cNvPr id="210" name="Google Shape;210;p22"/>
          <p:cNvSpPr txBox="1"/>
          <p:nvPr/>
        </p:nvSpPr>
        <p:spPr>
          <a:xfrm>
            <a:off x="6381750" y="3454598"/>
            <a:ext cx="523875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Returns immediately. Integrates with reactive frameworks (RxJava, Kotlin Coroutines, Swift Combine). The thread remains free to render UI frames at 60fps while the network operation is suspended.</a:t>
            </a:r>
            <a:endParaRPr/>
          </a:p>
        </p:txBody>
      </p:sp>
      <p:sp>
        <p:nvSpPr>
          <p:cNvPr id="211" name="Google Shape;211;p22"/>
          <p:cNvSpPr txBox="1"/>
          <p:nvPr/>
        </p:nvSpPr>
        <p:spPr>
          <a:xfrm>
            <a:off x="571500" y="571500"/>
            <a:ext cx="11601450" cy="50289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F8FAFC"/>
                </a:solidFill>
                <a:latin typeface="Urbanist"/>
                <a:ea typeface="Urbanist"/>
                <a:cs typeface="Urbanist"/>
                <a:sym typeface="Urbanist"/>
              </a:rPr>
              <a:t>Architecture of Stubs: Concurrency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pic>
        <p:nvPicPr>
          <p:cNvPr id="216" name="Google Shape;216;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7" name="Google Shape;217;p23" descr="image.png"/>
          <p:cNvPicPr preferRelativeResize="0"/>
          <p:nvPr/>
        </p:nvPicPr>
        <p:blipFill rotWithShape="1">
          <a:blip r:embed="rId4">
            <a:alphaModFix/>
          </a:blip>
          <a:srcRect/>
          <a:stretch/>
        </p:blipFill>
        <p:spPr>
          <a:xfrm>
            <a:off x="6381750" y="1822995"/>
            <a:ext cx="5238750" cy="4286250"/>
          </a:xfrm>
          <a:prstGeom prst="rect">
            <a:avLst/>
          </a:prstGeom>
          <a:noFill/>
          <a:ln>
            <a:noFill/>
          </a:ln>
        </p:spPr>
      </p:pic>
      <p:sp>
        <p:nvSpPr>
          <p:cNvPr id="218" name="Google Shape;218;p23"/>
          <p:cNvSpPr txBox="1"/>
          <p:nvPr/>
        </p:nvSpPr>
        <p:spPr>
          <a:xfrm>
            <a:off x="571500" y="2668041"/>
            <a:ext cx="5500687" cy="196006"/>
          </a:xfrm>
          <a:prstGeom prst="rect">
            <a:avLst/>
          </a:prstGeom>
          <a:noFill/>
          <a:ln>
            <a:noFill/>
          </a:ln>
        </p:spPr>
        <p:txBody>
          <a:bodyPr spcFirstLastPara="1" wrap="square" lIns="0" tIns="0" rIns="0" bIns="0" anchor="t" anchorCtr="0">
            <a:spAutoFit/>
          </a:bodyPr>
          <a:lstStyle/>
          <a:p>
            <a:pPr marL="0" marR="0" lvl="0" indent="0" algn="l" rtl="0">
              <a:lnSpc>
                <a:spcPct val="109971"/>
              </a:lnSpc>
              <a:spcBef>
                <a:spcPts val="0"/>
              </a:spcBef>
              <a:spcAft>
                <a:spcPts val="0"/>
              </a:spcAft>
              <a:buNone/>
            </a:pPr>
            <a:r>
              <a:rPr lang="en-US" sz="1404" b="1" i="0" u="none" strike="noStrike" cap="none">
                <a:solidFill>
                  <a:srgbClr val="F8FAFC"/>
                </a:solidFill>
                <a:latin typeface="Urbanist"/>
                <a:ea typeface="Urbanist"/>
                <a:cs typeface="Urbanist"/>
                <a:sym typeface="Urbanist"/>
              </a:rPr>
              <a:t>Solving Head-of-Line Blocking</a:t>
            </a:r>
            <a:endParaRPr/>
          </a:p>
        </p:txBody>
      </p:sp>
      <p:sp>
        <p:nvSpPr>
          <p:cNvPr id="219" name="Google Shape;219;p23"/>
          <p:cNvSpPr txBox="1"/>
          <p:nvPr/>
        </p:nvSpPr>
        <p:spPr>
          <a:xfrm>
            <a:off x="571500" y="3054548"/>
            <a:ext cx="52387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In HTTP/1.1, requests are serial. One slow request blocks everything behind it. HTTP/2 introduces </a:t>
            </a:r>
            <a:r>
              <a:rPr lang="en-US" sz="1500" b="1" i="0" u="none" strike="noStrike" cap="none">
                <a:solidFill>
                  <a:srgbClr val="CBD5E1"/>
                </a:solidFill>
                <a:latin typeface="Urbanist"/>
                <a:ea typeface="Urbanist"/>
                <a:cs typeface="Urbanist"/>
                <a:sym typeface="Urbanist"/>
              </a:rPr>
              <a:t>Binary Framing</a:t>
            </a:r>
            <a:r>
              <a:rPr lang="en-US" sz="1500" b="0" i="0" u="none" strike="noStrike" cap="none">
                <a:solidFill>
                  <a:srgbClr val="CBD5E1"/>
                </a:solidFill>
                <a:latin typeface="Urbanist"/>
                <a:ea typeface="Urbanist"/>
                <a:cs typeface="Urbanist"/>
                <a:sym typeface="Urbanist"/>
              </a:rPr>
              <a:t> and </a:t>
            </a:r>
            <a:r>
              <a:rPr lang="en-US" sz="1500" b="1" i="0" u="none" strike="noStrike" cap="none">
                <a:solidFill>
                  <a:srgbClr val="CBD5E1"/>
                </a:solidFill>
                <a:latin typeface="Urbanist"/>
                <a:ea typeface="Urbanist"/>
                <a:cs typeface="Urbanist"/>
                <a:sym typeface="Urbanist"/>
              </a:rPr>
              <a:t>Streams</a:t>
            </a:r>
            <a:r>
              <a:rPr lang="en-US" sz="1500" b="0" i="0" u="none" strike="noStrike" cap="none">
                <a:solidFill>
                  <a:srgbClr val="CBD5E1"/>
                </a:solidFill>
                <a:latin typeface="Urbanist"/>
                <a:ea typeface="Urbanist"/>
                <a:cs typeface="Urbanist"/>
                <a:sym typeface="Urbanist"/>
              </a:rPr>
              <a:t>.</a:t>
            </a:r>
            <a:endParaRPr/>
          </a:p>
        </p:txBody>
      </p:sp>
      <p:sp>
        <p:nvSpPr>
          <p:cNvPr id="220" name="Google Shape;220;p23"/>
          <p:cNvSpPr txBox="1"/>
          <p:nvPr/>
        </p:nvSpPr>
        <p:spPr>
          <a:xfrm>
            <a:off x="571500" y="4159448"/>
            <a:ext cx="52387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Multiple requests (GetProfile, GetPhotos) are split into frames and interleaved over a single TCP connection. This eliminates the expensive overhead of multiple TCP/TLS handshakes.</a:t>
            </a:r>
            <a:endParaRPr/>
          </a:p>
        </p:txBody>
      </p:sp>
      <p:pic>
        <p:nvPicPr>
          <p:cNvPr id="221" name="Google Shape;221;p23" descr="image.png"/>
          <p:cNvPicPr preferRelativeResize="0"/>
          <p:nvPr/>
        </p:nvPicPr>
        <p:blipFill rotWithShape="1">
          <a:blip r:embed="rId5">
            <a:alphaModFix/>
          </a:blip>
          <a:srcRect/>
          <a:stretch/>
        </p:blipFill>
        <p:spPr>
          <a:xfrm>
            <a:off x="6391275" y="1832520"/>
            <a:ext cx="5219700" cy="4267200"/>
          </a:xfrm>
          <a:prstGeom prst="rect">
            <a:avLst/>
          </a:prstGeom>
          <a:noFill/>
          <a:ln>
            <a:noFill/>
          </a:ln>
        </p:spPr>
      </p:pic>
      <p:sp>
        <p:nvSpPr>
          <p:cNvPr id="222" name="Google Shape;222;p23"/>
          <p:cNvSpPr txBox="1"/>
          <p:nvPr/>
        </p:nvSpPr>
        <p:spPr>
          <a:xfrm>
            <a:off x="571500" y="571500"/>
            <a:ext cx="11601450" cy="50289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F8FAFC"/>
                </a:solidFill>
                <a:latin typeface="Urbanist"/>
                <a:ea typeface="Urbanist"/>
                <a:cs typeface="Urbanist"/>
                <a:sym typeface="Urbanist"/>
              </a:rPr>
              <a:t>HTTP/2 Transport: Multiplexing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227" name="Google Shape;227;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8" name="Google Shape;228;p24"/>
          <p:cNvSpPr txBox="1"/>
          <p:nvPr/>
        </p:nvSpPr>
        <p:spPr>
          <a:xfrm>
            <a:off x="571500" y="3161258"/>
            <a:ext cx="2476500" cy="1333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500" b="1" i="0" u="none" strike="noStrike" cap="none">
                <a:solidFill>
                  <a:srgbClr val="38BDF8"/>
                </a:solidFill>
                <a:latin typeface="Urbanist"/>
                <a:ea typeface="Urbanist"/>
                <a:cs typeface="Urbanist"/>
                <a:sym typeface="Urbanist"/>
              </a:rPr>
              <a:t>99%</a:t>
            </a:r>
            <a:endParaRPr/>
          </a:p>
        </p:txBody>
      </p:sp>
      <p:sp>
        <p:nvSpPr>
          <p:cNvPr id="229" name="Google Shape;229;p24"/>
          <p:cNvSpPr txBox="1"/>
          <p:nvPr/>
        </p:nvSpPr>
        <p:spPr>
          <a:xfrm>
            <a:off x="571500" y="4494758"/>
            <a:ext cx="247650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94A3B8"/>
                </a:solidFill>
                <a:latin typeface="Urbanist"/>
                <a:ea typeface="Urbanist"/>
                <a:cs typeface="Urbanist"/>
                <a:sym typeface="Urbanist"/>
              </a:rPr>
              <a:t>HEADER REDUCTION</a:t>
            </a:r>
            <a:endParaRPr/>
          </a:p>
        </p:txBody>
      </p:sp>
      <p:sp>
        <p:nvSpPr>
          <p:cNvPr id="230" name="Google Shape;230;p24"/>
          <p:cNvSpPr txBox="1"/>
          <p:nvPr/>
        </p:nvSpPr>
        <p:spPr>
          <a:xfrm>
            <a:off x="3619500" y="2972841"/>
            <a:ext cx="8401050" cy="196006"/>
          </a:xfrm>
          <a:prstGeom prst="rect">
            <a:avLst/>
          </a:prstGeom>
          <a:noFill/>
          <a:ln>
            <a:noFill/>
          </a:ln>
        </p:spPr>
        <p:txBody>
          <a:bodyPr spcFirstLastPara="1" wrap="square" lIns="0" tIns="0" rIns="0" bIns="0" anchor="t" anchorCtr="0">
            <a:spAutoFit/>
          </a:bodyPr>
          <a:lstStyle/>
          <a:p>
            <a:pPr marL="0" marR="0" lvl="0" indent="0" algn="l" rtl="0">
              <a:lnSpc>
                <a:spcPct val="109971"/>
              </a:lnSpc>
              <a:spcBef>
                <a:spcPts val="0"/>
              </a:spcBef>
              <a:spcAft>
                <a:spcPts val="0"/>
              </a:spcAft>
              <a:buNone/>
            </a:pPr>
            <a:r>
              <a:rPr lang="en-US" sz="1404" b="1" i="0" u="none" strike="noStrike" cap="none">
                <a:solidFill>
                  <a:srgbClr val="F8FAFC"/>
                </a:solidFill>
                <a:latin typeface="Urbanist"/>
                <a:ea typeface="Urbanist"/>
                <a:cs typeface="Urbanist"/>
                <a:sym typeface="Urbanist"/>
              </a:rPr>
              <a:t>Efficiency for Metered Networks</a:t>
            </a:r>
            <a:endParaRPr/>
          </a:p>
        </p:txBody>
      </p:sp>
      <p:sp>
        <p:nvSpPr>
          <p:cNvPr id="231" name="Google Shape;231;p24"/>
          <p:cNvSpPr txBox="1"/>
          <p:nvPr/>
        </p:nvSpPr>
        <p:spPr>
          <a:xfrm>
            <a:off x="3619500" y="3359348"/>
            <a:ext cx="8001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HTTP/1.1 sends verbose headers (User-Agent, Auth Tokens) as plain text with every request. HPACK uses </a:t>
            </a:r>
            <a:r>
              <a:rPr lang="en-US" sz="1500" b="1" i="0" u="none" strike="noStrike" cap="none">
                <a:solidFill>
                  <a:srgbClr val="CBD5E1"/>
                </a:solidFill>
                <a:latin typeface="Urbanist"/>
                <a:ea typeface="Urbanist"/>
                <a:cs typeface="Urbanist"/>
                <a:sym typeface="Urbanist"/>
              </a:rPr>
              <a:t>Static</a:t>
            </a:r>
            <a:r>
              <a:rPr lang="en-US" sz="1500" b="0" i="0" u="none" strike="noStrike" cap="none">
                <a:solidFill>
                  <a:srgbClr val="CBD5E1"/>
                </a:solidFill>
                <a:latin typeface="Urbanist"/>
                <a:ea typeface="Urbanist"/>
                <a:cs typeface="Urbanist"/>
                <a:sym typeface="Urbanist"/>
              </a:rPr>
              <a:t> and </a:t>
            </a:r>
            <a:r>
              <a:rPr lang="en-US" sz="1500" b="1" i="0" u="none" strike="noStrike" cap="none">
                <a:solidFill>
                  <a:srgbClr val="CBD5E1"/>
                </a:solidFill>
                <a:latin typeface="Urbanist"/>
                <a:ea typeface="Urbanist"/>
                <a:cs typeface="Urbanist"/>
                <a:sym typeface="Urbanist"/>
              </a:rPr>
              <a:t>Dynamic</a:t>
            </a:r>
            <a:r>
              <a:rPr lang="en-US" sz="1500" b="0" i="0" u="none" strike="noStrike" cap="none">
                <a:solidFill>
                  <a:srgbClr val="CBD5E1"/>
                </a:solidFill>
                <a:latin typeface="Urbanist"/>
                <a:ea typeface="Urbanist"/>
                <a:cs typeface="Urbanist"/>
                <a:sym typeface="Urbanist"/>
              </a:rPr>
              <a:t> tables to de-duplicate headers.</a:t>
            </a:r>
            <a:endParaRPr/>
          </a:p>
        </p:txBody>
      </p:sp>
      <p:sp>
        <p:nvSpPr>
          <p:cNvPr id="232" name="Google Shape;232;p24"/>
          <p:cNvSpPr txBox="1"/>
          <p:nvPr/>
        </p:nvSpPr>
        <p:spPr>
          <a:xfrm>
            <a:off x="3619500" y="4159448"/>
            <a:ext cx="8001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After the first request, repeated headers like 'Authorization' consume near-zero bandwidth, critical for users on slow or expensive data plans.</a:t>
            </a:r>
            <a:endParaRPr/>
          </a:p>
        </p:txBody>
      </p:sp>
      <p:sp>
        <p:nvSpPr>
          <p:cNvPr id="233" name="Google Shape;233;p24"/>
          <p:cNvSpPr txBox="1"/>
          <p:nvPr/>
        </p:nvSpPr>
        <p:spPr>
          <a:xfrm>
            <a:off x="571500" y="571500"/>
            <a:ext cx="11601450" cy="50289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F8FAFC"/>
                </a:solidFill>
                <a:latin typeface="Urbanist"/>
                <a:ea typeface="Urbanist"/>
                <a:cs typeface="Urbanist"/>
                <a:sym typeface="Urbanist"/>
              </a:rPr>
              <a:t>HPACK Header Compression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pic>
        <p:nvPicPr>
          <p:cNvPr id="238" name="Google Shape;238;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9" name="Google Shape;239;p25"/>
          <p:cNvSpPr txBox="1"/>
          <p:nvPr/>
        </p:nvSpPr>
        <p:spPr>
          <a:xfrm>
            <a:off x="571500" y="571500"/>
            <a:ext cx="5000625" cy="100578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F8FAFC"/>
                </a:solidFill>
                <a:latin typeface="Urbanist"/>
                <a:ea typeface="Urbanist"/>
                <a:cs typeface="Urbanist"/>
                <a:sym typeface="Urbanist"/>
              </a:rPr>
              <a:t>Streaming Capabilities</a:t>
            </a:r>
            <a:endParaRPr/>
          </a:p>
        </p:txBody>
      </p:sp>
      <p:pic>
        <p:nvPicPr>
          <p:cNvPr id="240" name="Google Shape;240;p25" descr="image.png"/>
          <p:cNvPicPr preferRelativeResize="0"/>
          <p:nvPr/>
        </p:nvPicPr>
        <p:blipFill rotWithShape="1">
          <a:blip r:embed="rId4">
            <a:alphaModFix/>
          </a:blip>
          <a:srcRect/>
          <a:stretch/>
        </p:blipFill>
        <p:spPr>
          <a:xfrm>
            <a:off x="6286500" y="0"/>
            <a:ext cx="5905500" cy="6858000"/>
          </a:xfrm>
          <a:prstGeom prst="rect">
            <a:avLst/>
          </a:prstGeom>
          <a:noFill/>
          <a:ln>
            <a:noFill/>
          </a:ln>
        </p:spPr>
      </p:pic>
      <p:sp>
        <p:nvSpPr>
          <p:cNvPr id="241" name="Google Shape;241;p25"/>
          <p:cNvSpPr txBox="1"/>
          <p:nvPr/>
        </p:nvSpPr>
        <p:spPr>
          <a:xfrm>
            <a:off x="571500" y="2128837"/>
            <a:ext cx="5000625" cy="196006"/>
          </a:xfrm>
          <a:prstGeom prst="rect">
            <a:avLst/>
          </a:prstGeom>
          <a:noFill/>
          <a:ln>
            <a:noFill/>
          </a:ln>
        </p:spPr>
        <p:txBody>
          <a:bodyPr spcFirstLastPara="1" wrap="square" lIns="0" tIns="0" rIns="0" bIns="0" anchor="t" anchorCtr="0">
            <a:spAutoFit/>
          </a:bodyPr>
          <a:lstStyle/>
          <a:p>
            <a:pPr marL="0" marR="0" lvl="0" indent="0" algn="l" rtl="0">
              <a:lnSpc>
                <a:spcPct val="109971"/>
              </a:lnSpc>
              <a:spcBef>
                <a:spcPts val="0"/>
              </a:spcBef>
              <a:spcAft>
                <a:spcPts val="0"/>
              </a:spcAft>
              <a:buNone/>
            </a:pPr>
            <a:r>
              <a:rPr lang="en-US" sz="1404" b="1" i="0" u="none" strike="noStrike" cap="none">
                <a:solidFill>
                  <a:srgbClr val="38BDF8"/>
                </a:solidFill>
                <a:latin typeface="Urbanist"/>
                <a:ea typeface="Urbanist"/>
                <a:cs typeface="Urbanist"/>
                <a:sym typeface="Urbanist"/>
              </a:rPr>
              <a:t>Real-Time Updates</a:t>
            </a:r>
            <a:endParaRPr/>
          </a:p>
        </p:txBody>
      </p:sp>
      <p:sp>
        <p:nvSpPr>
          <p:cNvPr id="242" name="Google Shape;242;p25"/>
          <p:cNvSpPr txBox="1"/>
          <p:nvPr/>
        </p:nvSpPr>
        <p:spPr>
          <a:xfrm>
            <a:off x="571500" y="2610594"/>
            <a:ext cx="47625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gRPC treats streaming as a first-class citizen, replacing inefficient polling.</a:t>
            </a:r>
            <a:endParaRPr/>
          </a:p>
        </p:txBody>
      </p:sp>
      <p:sp>
        <p:nvSpPr>
          <p:cNvPr id="243" name="Google Shape;243;p25"/>
          <p:cNvSpPr txBox="1"/>
          <p:nvPr/>
        </p:nvSpPr>
        <p:spPr>
          <a:xfrm>
            <a:off x="571500" y="4858494"/>
            <a:ext cx="47625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Urbanist"/>
                <a:ea typeface="Urbanist"/>
                <a:cs typeface="Urbanist"/>
                <a:sym typeface="Urbanist"/>
              </a:rPr>
              <a:t>Uber Case Study:</a:t>
            </a:r>
            <a:r>
              <a:rPr lang="en-US" sz="1500" b="0" i="0" u="none" strike="noStrike" cap="none">
                <a:solidFill>
                  <a:srgbClr val="CBD5E1"/>
                </a:solidFill>
                <a:latin typeface="Urbanist"/>
                <a:ea typeface="Urbanist"/>
                <a:cs typeface="Urbanist"/>
                <a:sym typeface="Urbanist"/>
              </a:rPr>
              <a:t> Migrated to gRPC bi-directional streaming for driver apps, eliminating polling latency and improving reliability in poor network conditions.</a:t>
            </a:r>
            <a:endParaRPr/>
          </a:p>
        </p:txBody>
      </p:sp>
      <p:sp>
        <p:nvSpPr>
          <p:cNvPr id="244" name="Google Shape;244;p25"/>
          <p:cNvSpPr txBox="1"/>
          <p:nvPr/>
        </p:nvSpPr>
        <p:spPr>
          <a:xfrm>
            <a:off x="914400" y="3601194"/>
            <a:ext cx="381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a:t>
            </a:r>
            <a:endParaRPr/>
          </a:p>
        </p:txBody>
      </p:sp>
      <p:sp>
        <p:nvSpPr>
          <p:cNvPr id="245" name="Google Shape;245;p25"/>
          <p:cNvSpPr txBox="1"/>
          <p:nvPr/>
        </p:nvSpPr>
        <p:spPr>
          <a:xfrm>
            <a:off x="1057603" y="3505945"/>
            <a:ext cx="4381500" cy="304800"/>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CBD5E1"/>
                </a:solidFill>
                <a:latin typeface="Urbanist"/>
                <a:ea typeface="Urbanist"/>
                <a:cs typeface="Urbanist"/>
                <a:sym typeface="Urbanist"/>
              </a:rPr>
              <a:t>Server-Side:</a:t>
            </a:r>
            <a:r>
              <a:rPr lang="en-US" sz="1500" b="0" i="0" u="none" strike="noStrike" cap="none" dirty="0">
                <a:solidFill>
                  <a:srgbClr val="CBD5E1"/>
                </a:solidFill>
                <a:latin typeface="Urbanist"/>
                <a:ea typeface="Urbanist"/>
                <a:cs typeface="Urbanist"/>
                <a:sym typeface="Urbanist"/>
              </a:rPr>
              <a:t> Subscribe to feeds (e.g., Stock Ticker).</a:t>
            </a:r>
            <a:endParaRPr dirty="0"/>
          </a:p>
        </p:txBody>
      </p:sp>
      <p:sp>
        <p:nvSpPr>
          <p:cNvPr id="246" name="Google Shape;246;p25"/>
          <p:cNvSpPr txBox="1"/>
          <p:nvPr/>
        </p:nvSpPr>
        <p:spPr>
          <a:xfrm>
            <a:off x="914400" y="3905994"/>
            <a:ext cx="381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CBD5E1"/>
                </a:solidFill>
                <a:latin typeface="Urbanist"/>
                <a:ea typeface="Urbanist"/>
                <a:cs typeface="Urbanist"/>
                <a:sym typeface="Urbanist"/>
              </a:rPr>
              <a:t>•</a:t>
            </a:r>
            <a:endParaRPr/>
          </a:p>
        </p:txBody>
      </p:sp>
      <p:sp>
        <p:nvSpPr>
          <p:cNvPr id="247" name="Google Shape;247;p25"/>
          <p:cNvSpPr txBox="1"/>
          <p:nvPr/>
        </p:nvSpPr>
        <p:spPr>
          <a:xfrm>
            <a:off x="1057603" y="3810745"/>
            <a:ext cx="4381500" cy="609600"/>
          </a:xfrm>
          <a:prstGeom prst="rect">
            <a:avLst/>
          </a:prstGeom>
          <a:noFill/>
          <a:ln>
            <a:noFill/>
          </a:ln>
        </p:spPr>
        <p:txBody>
          <a:bodyPr spcFirstLastPara="1" wrap="square" lIns="3810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Urbanist"/>
                <a:ea typeface="Urbanist"/>
                <a:cs typeface="Urbanist"/>
                <a:sym typeface="Urbanist"/>
              </a:rPr>
              <a:t>Bi-directional:</a:t>
            </a:r>
            <a:r>
              <a:rPr lang="en-US" sz="1500" b="0" i="0" u="none" strike="noStrike" cap="none">
                <a:solidFill>
                  <a:srgbClr val="CBD5E1"/>
                </a:solidFill>
                <a:latin typeface="Urbanist"/>
                <a:ea typeface="Urbanist"/>
                <a:cs typeface="Urbanist"/>
                <a:sym typeface="Urbanist"/>
              </a:rPr>
              <a:t> Full-duplex communication (e.g., Chat, Voice).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pic>
        <p:nvPicPr>
          <p:cNvPr id="252" name="Google Shape;252;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5" name="Google Shape;255;p26"/>
          <p:cNvSpPr txBox="1"/>
          <p:nvPr/>
        </p:nvSpPr>
        <p:spPr>
          <a:xfrm>
            <a:off x="571500" y="3315141"/>
            <a:ext cx="10821714" cy="812530"/>
          </a:xfrm>
          <a:prstGeom prst="rect">
            <a:avLst/>
          </a:prstGeom>
          <a:noFill/>
          <a:ln>
            <a:noFill/>
          </a:ln>
        </p:spPr>
        <p:txBody>
          <a:bodyPr spcFirstLastPara="1" wrap="square" lIns="0" tIns="0" rIns="0" bIns="0" anchor="t" anchorCtr="0">
            <a:spAutoFit/>
          </a:bodyPr>
          <a:lstStyle/>
          <a:p>
            <a:pPr marL="0" marR="0" lvl="0" indent="0" rtl="0">
              <a:lnSpc>
                <a:spcPct val="160000"/>
              </a:lnSpc>
              <a:spcBef>
                <a:spcPts val="0"/>
              </a:spcBef>
              <a:spcAft>
                <a:spcPts val="0"/>
              </a:spcAft>
              <a:buNone/>
            </a:pPr>
            <a:r>
              <a:rPr lang="en-US" sz="1650" b="0" i="0" u="none" strike="noStrike" cap="none" dirty="0" err="1">
                <a:solidFill>
                  <a:srgbClr val="CBD5E1"/>
                </a:solidFill>
                <a:latin typeface="Urbanist"/>
                <a:ea typeface="Urbanist"/>
                <a:cs typeface="Urbanist"/>
                <a:sym typeface="Urbanist"/>
              </a:rPr>
              <a:t>gRPC</a:t>
            </a:r>
            <a:r>
              <a:rPr lang="en-US" sz="1650" b="0" i="0" u="none" strike="noStrike" cap="none" dirty="0">
                <a:solidFill>
                  <a:srgbClr val="CBD5E1"/>
                </a:solidFill>
                <a:latin typeface="Urbanist"/>
                <a:ea typeface="Urbanist"/>
                <a:cs typeface="Urbanist"/>
                <a:sym typeface="Urbanist"/>
              </a:rPr>
              <a:t> propagates deadlines across microservices. If a mobile client sets a 2s timeout, the server cancels processing immediately when time expires, preventing "zombie" computations and saving mobile radio battery.</a:t>
            </a:r>
            <a:endParaRPr dirty="0"/>
          </a:p>
        </p:txBody>
      </p:sp>
      <p:sp>
        <p:nvSpPr>
          <p:cNvPr id="256" name="Google Shape;256;p26"/>
          <p:cNvSpPr txBox="1"/>
          <p:nvPr/>
        </p:nvSpPr>
        <p:spPr>
          <a:xfrm>
            <a:off x="571500" y="571500"/>
            <a:ext cx="11601450" cy="50289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F8FAFC"/>
                </a:solidFill>
                <a:latin typeface="Urbanist"/>
                <a:ea typeface="Urbanist"/>
                <a:cs typeface="Urbanist"/>
                <a:sym typeface="Urbanist"/>
              </a:rPr>
              <a:t>Deadlines &amp; Cancellation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pic>
        <p:nvPicPr>
          <p:cNvPr id="261" name="Google Shape;261;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62" name="Google Shape;262;p27" descr="image.png"/>
          <p:cNvPicPr preferRelativeResize="0"/>
          <p:nvPr/>
        </p:nvPicPr>
        <p:blipFill rotWithShape="1">
          <a:blip r:embed="rId4">
            <a:alphaModFix/>
          </a:blip>
          <a:srcRect/>
          <a:stretch/>
        </p:blipFill>
        <p:spPr>
          <a:xfrm>
            <a:off x="571500" y="1645890"/>
            <a:ext cx="11049000" cy="4640609"/>
          </a:xfrm>
          <a:prstGeom prst="rect">
            <a:avLst/>
          </a:prstGeom>
          <a:noFill/>
          <a:ln>
            <a:noFill/>
          </a:ln>
        </p:spPr>
      </p:pic>
      <p:sp>
        <p:nvSpPr>
          <p:cNvPr id="263" name="Google Shape;263;p27"/>
          <p:cNvSpPr txBox="1"/>
          <p:nvPr/>
        </p:nvSpPr>
        <p:spPr>
          <a:xfrm>
            <a:off x="571500" y="4470945"/>
            <a:ext cx="11049000"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Protobuf parsing involves simple bitwise shifts and memory copying, whereas JSON requires complex string scanning. Payload sizes are also consistently 30-50% smaller.</a:t>
            </a:r>
            <a:endParaRPr/>
          </a:p>
        </p:txBody>
      </p:sp>
      <p:sp>
        <p:nvSpPr>
          <p:cNvPr id="264" name="Google Shape;264;p27"/>
          <p:cNvSpPr txBox="1"/>
          <p:nvPr/>
        </p:nvSpPr>
        <p:spPr>
          <a:xfrm>
            <a:off x="571500" y="571500"/>
            <a:ext cx="11601450" cy="50289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F8FAFC"/>
                </a:solidFill>
                <a:latin typeface="Urbanist"/>
                <a:ea typeface="Urbanist"/>
                <a:cs typeface="Urbanist"/>
                <a:sym typeface="Urbanist"/>
              </a:rPr>
              <a:t>Performance: JSON vs. Protobuf</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269" name="Google Shape;269;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70" name="Google Shape;270;p28"/>
          <p:cNvSpPr txBox="1"/>
          <p:nvPr/>
        </p:nvSpPr>
        <p:spPr>
          <a:xfrm>
            <a:off x="571500" y="571500"/>
            <a:ext cx="5000625" cy="1005780"/>
          </a:xfrm>
          <a:prstGeom prst="rect">
            <a:avLst/>
          </a:prstGeom>
          <a:noFill/>
          <a:ln>
            <a:noFill/>
          </a:ln>
        </p:spPr>
        <p:txBody>
          <a:bodyPr spcFirstLastPara="1" wrap="square" lIns="0" tIns="0" rIns="0" bIns="0" anchor="t" anchorCtr="0">
            <a:spAutoFit/>
          </a:bodyPr>
          <a:lstStyle/>
          <a:p>
            <a:pPr marL="0" marR="0" lvl="0" indent="0" algn="l" rtl="0">
              <a:lnSpc>
                <a:spcPct val="109972"/>
              </a:lnSpc>
              <a:spcBef>
                <a:spcPts val="0"/>
              </a:spcBef>
              <a:spcAft>
                <a:spcPts val="0"/>
              </a:spcAft>
              <a:buNone/>
            </a:pPr>
            <a:r>
              <a:rPr lang="en-US" sz="3600" b="1" i="0" u="none" strike="noStrike" cap="none">
                <a:solidFill>
                  <a:srgbClr val="F8FAFC"/>
                </a:solidFill>
                <a:latin typeface="Urbanist"/>
                <a:ea typeface="Urbanist"/>
                <a:cs typeface="Urbanist"/>
                <a:sym typeface="Urbanist"/>
              </a:rPr>
              <a:t>Battery &amp; The Radio Tail</a:t>
            </a:r>
            <a:endParaRPr/>
          </a:p>
        </p:txBody>
      </p:sp>
      <p:pic>
        <p:nvPicPr>
          <p:cNvPr id="271" name="Google Shape;271;p28" descr="image.png"/>
          <p:cNvPicPr preferRelativeResize="0"/>
          <p:nvPr/>
        </p:nvPicPr>
        <p:blipFill rotWithShape="1">
          <a:blip r:embed="rId4">
            <a:alphaModFix/>
          </a:blip>
          <a:srcRect/>
          <a:stretch/>
        </p:blipFill>
        <p:spPr>
          <a:xfrm>
            <a:off x="6286500" y="0"/>
            <a:ext cx="5905500" cy="6858000"/>
          </a:xfrm>
          <a:prstGeom prst="rect">
            <a:avLst/>
          </a:prstGeom>
          <a:noFill/>
          <a:ln>
            <a:noFill/>
          </a:ln>
        </p:spPr>
      </p:pic>
      <p:sp>
        <p:nvSpPr>
          <p:cNvPr id="272" name="Google Shape;272;p28"/>
          <p:cNvSpPr txBox="1"/>
          <p:nvPr/>
        </p:nvSpPr>
        <p:spPr>
          <a:xfrm>
            <a:off x="571500" y="2445990"/>
            <a:ext cx="47625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BD5E1"/>
                </a:solidFill>
                <a:latin typeface="Urbanist"/>
                <a:ea typeface="Urbanist"/>
                <a:cs typeface="Urbanist"/>
                <a:sym typeface="Urbanist"/>
              </a:rPr>
              <a:t>The "Radio Tail" is the high-power state (DCH) the cellular radio remains in after data transmission (typically 5-10s).</a:t>
            </a:r>
            <a:endParaRPr/>
          </a:p>
        </p:txBody>
      </p:sp>
      <p:sp>
        <p:nvSpPr>
          <p:cNvPr id="273" name="Google Shape;273;p28"/>
          <p:cNvSpPr txBox="1"/>
          <p:nvPr/>
        </p:nvSpPr>
        <p:spPr>
          <a:xfrm>
            <a:off x="571500" y="3741390"/>
            <a:ext cx="47625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Urbanist"/>
                <a:ea typeface="Urbanist"/>
                <a:cs typeface="Urbanist"/>
                <a:sym typeface="Urbanist"/>
              </a:rPr>
              <a:t>REST Impact:</a:t>
            </a:r>
            <a:r>
              <a:rPr lang="en-US" sz="1500" b="0" i="0" u="none" strike="noStrike" cap="none">
                <a:solidFill>
                  <a:srgbClr val="CBD5E1"/>
                </a:solidFill>
                <a:latin typeface="Urbanist"/>
                <a:ea typeface="Urbanist"/>
                <a:cs typeface="Urbanist"/>
                <a:sym typeface="Urbanist"/>
              </a:rPr>
              <a:t> "Chatty" sequential requests keep the radio active longer, draining battery.</a:t>
            </a:r>
            <a:endParaRPr/>
          </a:p>
        </p:txBody>
      </p:sp>
      <p:sp>
        <p:nvSpPr>
          <p:cNvPr id="274" name="Google Shape;274;p28"/>
          <p:cNvSpPr txBox="1"/>
          <p:nvPr/>
        </p:nvSpPr>
        <p:spPr>
          <a:xfrm>
            <a:off x="571500" y="4731990"/>
            <a:ext cx="47625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CBD5E1"/>
                </a:solidFill>
                <a:latin typeface="Urbanist"/>
                <a:ea typeface="Urbanist"/>
                <a:cs typeface="Urbanist"/>
                <a:sym typeface="Urbanist"/>
              </a:rPr>
              <a:t>gRPC Impact:</a:t>
            </a:r>
            <a:r>
              <a:rPr lang="en-US" sz="1500" b="0" i="0" u="none" strike="noStrike" cap="none">
                <a:solidFill>
                  <a:srgbClr val="CBD5E1"/>
                </a:solidFill>
                <a:latin typeface="Urbanist"/>
                <a:ea typeface="Urbanist"/>
                <a:cs typeface="Urbanist"/>
                <a:sym typeface="Urbanist"/>
              </a:rPr>
              <a:t> Multiplexing allows bursting all data in a single window, allowing the radio to drop to Low Power (IDLE) sooner.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6" name="Google Shape;86;p13"/>
          <p:cNvSpPr txBox="1"/>
          <p:nvPr/>
        </p:nvSpPr>
        <p:spPr>
          <a:xfrm>
            <a:off x="581025" y="2969460"/>
            <a:ext cx="11222092" cy="81253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4800" b="1" i="0" u="none" strike="noStrike" cap="none" dirty="0">
                <a:solidFill>
                  <a:srgbClr val="F8FAFC"/>
                </a:solidFill>
                <a:latin typeface="Inter"/>
                <a:ea typeface="Inter"/>
                <a:cs typeface="Inter"/>
                <a:sym typeface="Inter"/>
              </a:rPr>
              <a:t>IPC &amp; Memory </a:t>
            </a:r>
            <a:r>
              <a:rPr lang="en-US" sz="4800" b="1" i="0" u="none" strike="noStrike" cap="none" dirty="0" err="1">
                <a:solidFill>
                  <a:srgbClr val="F8FAFC"/>
                </a:solidFill>
                <a:latin typeface="Inter"/>
                <a:ea typeface="Inter"/>
                <a:cs typeface="Inter"/>
                <a:sym typeface="Inter"/>
              </a:rPr>
              <a:t>Architecturesin</a:t>
            </a:r>
            <a:r>
              <a:rPr lang="en-US" sz="4800" b="1" i="0" u="none" strike="noStrike" cap="none" dirty="0">
                <a:solidFill>
                  <a:srgbClr val="F8FAFC"/>
                </a:solidFill>
                <a:latin typeface="Inter"/>
                <a:ea typeface="Inter"/>
                <a:cs typeface="Inter"/>
                <a:sym typeface="Inter"/>
              </a:rPr>
              <a:t> Flutter</a:t>
            </a:r>
            <a:endParaRPr dirty="0"/>
          </a:p>
        </p:txBody>
      </p:sp>
      <p:sp>
        <p:nvSpPr>
          <p:cNvPr id="87" name="Google Shape;87;p13"/>
          <p:cNvSpPr txBox="1"/>
          <p:nvPr/>
        </p:nvSpPr>
        <p:spPr>
          <a:xfrm>
            <a:off x="581025" y="3560391"/>
            <a:ext cx="7620000"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solidFill>
                  <a:srgbClr val="64748B"/>
                </a:solidFill>
                <a:latin typeface="Inter"/>
                <a:ea typeface="Inter"/>
                <a:cs typeface="Inter"/>
                <a:sym typeface="Inter"/>
              </a:rPr>
              <a:t>Platform Channels and Foreign Function Interfaces (FFI)</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3" name="Google Shape;93;p14"/>
          <p:cNvSpPr/>
          <p:nvPr/>
        </p:nvSpPr>
        <p:spPr>
          <a:xfrm>
            <a:off x="5524500" y="2277367"/>
            <a:ext cx="1143000" cy="57150"/>
          </a:xfrm>
          <a:prstGeom prst="rect">
            <a:avLst/>
          </a:prstGeom>
          <a:solidFill>
            <a:srgbClr val="4ADE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 name="Google Shape;94;p14"/>
          <p:cNvSpPr txBox="1"/>
          <p:nvPr/>
        </p:nvSpPr>
        <p:spPr>
          <a:xfrm>
            <a:off x="1715299" y="2715517"/>
            <a:ext cx="8761251" cy="8286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dirty="0">
                <a:solidFill>
                  <a:srgbClr val="38BDF8"/>
                </a:solidFill>
                <a:latin typeface="Inter"/>
                <a:ea typeface="Inter"/>
                <a:cs typeface="Inter"/>
                <a:sym typeface="Inter"/>
              </a:rPr>
              <a:t>Architectural Foundations</a:t>
            </a:r>
            <a:endParaRPr dirty="0"/>
          </a:p>
        </p:txBody>
      </p:sp>
      <p:sp>
        <p:nvSpPr>
          <p:cNvPr id="95" name="Google Shape;95;p14"/>
          <p:cNvSpPr txBox="1"/>
          <p:nvPr/>
        </p:nvSpPr>
        <p:spPr>
          <a:xfrm>
            <a:off x="3152699" y="3429000"/>
            <a:ext cx="5886450"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dirty="0">
                <a:solidFill>
                  <a:srgbClr val="CBD5E1"/>
                </a:solidFill>
                <a:latin typeface="Inter"/>
                <a:ea typeface="Inter"/>
                <a:cs typeface="Inter"/>
                <a:sym typeface="Inter"/>
              </a:rPr>
              <a:t>The Flutter Runtime Environment &amp; The Bridge</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1" name="Google Shape;101;p15" descr="image.png"/>
          <p:cNvPicPr preferRelativeResize="0"/>
          <p:nvPr/>
        </p:nvPicPr>
        <p:blipFill rotWithShape="1">
          <a:blip r:embed="rId4">
            <a:alphaModFix/>
          </a:blip>
          <a:srcRect/>
          <a:stretch/>
        </p:blipFill>
        <p:spPr>
          <a:xfrm>
            <a:off x="581025" y="2343150"/>
            <a:ext cx="5229225" cy="3314700"/>
          </a:xfrm>
          <a:prstGeom prst="rect">
            <a:avLst/>
          </a:prstGeom>
          <a:noFill/>
          <a:ln>
            <a:noFill/>
          </a:ln>
        </p:spPr>
      </p:pic>
      <p:pic>
        <p:nvPicPr>
          <p:cNvPr id="102" name="Google Shape;102;p15" descr="image.png"/>
          <p:cNvPicPr preferRelativeResize="0"/>
          <p:nvPr/>
        </p:nvPicPr>
        <p:blipFill rotWithShape="1">
          <a:blip r:embed="rId5">
            <a:alphaModFix/>
          </a:blip>
          <a:srcRect/>
          <a:stretch/>
        </p:blipFill>
        <p:spPr>
          <a:xfrm>
            <a:off x="6381750" y="2343150"/>
            <a:ext cx="5229225" cy="3314700"/>
          </a:xfrm>
          <a:prstGeom prst="rect">
            <a:avLst/>
          </a:prstGeom>
          <a:noFill/>
          <a:ln>
            <a:noFill/>
          </a:ln>
        </p:spPr>
      </p:pic>
      <p:sp>
        <p:nvSpPr>
          <p:cNvPr id="103" name="Google Shape;103;p15"/>
          <p:cNvSpPr txBox="1"/>
          <p:nvPr/>
        </p:nvSpPr>
        <p:spPr>
          <a:xfrm>
            <a:off x="971550" y="2733675"/>
            <a:ext cx="467058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8BDF8"/>
                </a:solidFill>
                <a:latin typeface="Inter SemiBold"/>
                <a:ea typeface="Inter SemiBold"/>
                <a:cs typeface="Inter SemiBold"/>
                <a:sym typeface="Inter SemiBold"/>
              </a:rPr>
              <a:t>The Embedder</a:t>
            </a:r>
            <a:endParaRPr/>
          </a:p>
        </p:txBody>
      </p:sp>
      <p:sp>
        <p:nvSpPr>
          <p:cNvPr id="104" name="Google Shape;104;p15"/>
          <p:cNvSpPr txBox="1"/>
          <p:nvPr/>
        </p:nvSpPr>
        <p:spPr>
          <a:xfrm>
            <a:off x="971550" y="3248025"/>
            <a:ext cx="4448175" cy="1828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The Flutter Engine does not exist in a vacuum. It is hosted within a native application shell (Activity on Android, ViewController on iOS) that loads the library. This "Embedder" initializes the engine and bridges system events.</a:t>
            </a:r>
            <a:endParaRPr/>
          </a:p>
        </p:txBody>
      </p:sp>
      <p:sp>
        <p:nvSpPr>
          <p:cNvPr id="105" name="Google Shape;105;p15"/>
          <p:cNvSpPr txBox="1"/>
          <p:nvPr/>
        </p:nvSpPr>
        <p:spPr>
          <a:xfrm>
            <a:off x="6772275" y="2733675"/>
            <a:ext cx="467058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8BDF8"/>
                </a:solidFill>
                <a:latin typeface="Inter SemiBold"/>
                <a:ea typeface="Inter SemiBold"/>
                <a:cs typeface="Inter SemiBold"/>
                <a:sym typeface="Inter SemiBold"/>
              </a:rPr>
              <a:t>The Strict Boundary</a:t>
            </a:r>
            <a:endParaRPr/>
          </a:p>
        </p:txBody>
      </p:sp>
      <p:sp>
        <p:nvSpPr>
          <p:cNvPr id="106" name="Google Shape;106;p15"/>
          <p:cNvSpPr txBox="1"/>
          <p:nvPr/>
        </p:nvSpPr>
        <p:spPr>
          <a:xfrm>
            <a:off x="6772275" y="3248025"/>
            <a:ext cx="4448175" cy="1828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A hard separation exists between the managed Dart VM and the Host Platform. Unlike native apps, they do not share memory or threading models by default. Bridging this gap requires complex data marshaling and inter-process communication concepts.</a:t>
            </a:r>
            <a:endParaRPr/>
          </a:p>
        </p:txBody>
      </p:sp>
      <p:pic>
        <p:nvPicPr>
          <p:cNvPr id="107" name="Google Shape;107;p15" descr="image.png"/>
          <p:cNvPicPr preferRelativeResize="0"/>
          <p:nvPr/>
        </p:nvPicPr>
        <p:blipFill rotWithShape="1">
          <a:blip r:embed="rId6">
            <a:alphaModFix/>
          </a:blip>
          <a:srcRect/>
          <a:stretch/>
        </p:blipFill>
        <p:spPr>
          <a:xfrm>
            <a:off x="889438" y="5138737"/>
            <a:ext cx="1476375" cy="257175"/>
          </a:xfrm>
          <a:prstGeom prst="rect">
            <a:avLst/>
          </a:prstGeom>
          <a:noFill/>
          <a:ln>
            <a:noFill/>
          </a:ln>
        </p:spPr>
      </p:pic>
      <p:sp>
        <p:nvSpPr>
          <p:cNvPr id="108" name="Google Shape;108;p15"/>
          <p:cNvSpPr txBox="1"/>
          <p:nvPr/>
        </p:nvSpPr>
        <p:spPr>
          <a:xfrm>
            <a:off x="581025" y="581025"/>
            <a:ext cx="11581447"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Inter"/>
                <a:ea typeface="Inter"/>
                <a:cs typeface="Inter"/>
                <a:sym typeface="Inter"/>
              </a:rPr>
              <a:t>The Flutter Runtime Environment</a:t>
            </a:r>
            <a:endParaRPr/>
          </a:p>
        </p:txBody>
      </p:sp>
      <p:sp>
        <p:nvSpPr>
          <p:cNvPr id="109" name="Google Shape;109;p15"/>
          <p:cNvSpPr/>
          <p:nvPr/>
        </p:nvSpPr>
        <p:spPr>
          <a:xfrm>
            <a:off x="581025" y="13335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5" name="Google Shape;115;p16" descr="image.png"/>
          <p:cNvPicPr preferRelativeResize="0"/>
          <p:nvPr/>
        </p:nvPicPr>
        <p:blipFill rotWithShape="1">
          <a:blip r:embed="rId4">
            <a:alphaModFix/>
          </a:blip>
          <a:srcRect/>
          <a:stretch/>
        </p:blipFill>
        <p:spPr>
          <a:xfrm>
            <a:off x="581025" y="2052637"/>
            <a:ext cx="3486150" cy="3895725"/>
          </a:xfrm>
          <a:prstGeom prst="rect">
            <a:avLst/>
          </a:prstGeom>
          <a:noFill/>
          <a:ln>
            <a:noFill/>
          </a:ln>
        </p:spPr>
      </p:pic>
      <p:pic>
        <p:nvPicPr>
          <p:cNvPr id="116" name="Google Shape;116;p16" descr="image.png"/>
          <p:cNvPicPr preferRelativeResize="0"/>
          <p:nvPr/>
        </p:nvPicPr>
        <p:blipFill rotWithShape="1">
          <a:blip r:embed="rId5">
            <a:alphaModFix/>
          </a:blip>
          <a:srcRect/>
          <a:stretch/>
        </p:blipFill>
        <p:spPr>
          <a:xfrm>
            <a:off x="4352925" y="2052637"/>
            <a:ext cx="3486150" cy="3895725"/>
          </a:xfrm>
          <a:prstGeom prst="rect">
            <a:avLst/>
          </a:prstGeom>
          <a:noFill/>
          <a:ln>
            <a:noFill/>
          </a:ln>
        </p:spPr>
      </p:pic>
      <p:pic>
        <p:nvPicPr>
          <p:cNvPr id="117" name="Google Shape;117;p16" descr="image.png"/>
          <p:cNvPicPr preferRelativeResize="0"/>
          <p:nvPr/>
        </p:nvPicPr>
        <p:blipFill rotWithShape="1">
          <a:blip r:embed="rId6">
            <a:alphaModFix/>
          </a:blip>
          <a:srcRect/>
          <a:stretch/>
        </p:blipFill>
        <p:spPr>
          <a:xfrm>
            <a:off x="8124825" y="2052637"/>
            <a:ext cx="3486150" cy="3895725"/>
          </a:xfrm>
          <a:prstGeom prst="rect">
            <a:avLst/>
          </a:prstGeom>
          <a:noFill/>
          <a:ln>
            <a:noFill/>
          </a:ln>
        </p:spPr>
      </p:pic>
      <p:pic>
        <p:nvPicPr>
          <p:cNvPr id="118" name="Google Shape;118;p16" descr="image.png"/>
          <p:cNvPicPr preferRelativeResize="0"/>
          <p:nvPr/>
        </p:nvPicPr>
        <p:blipFill rotWithShape="1">
          <a:blip r:embed="rId7">
            <a:alphaModFix/>
          </a:blip>
          <a:srcRect/>
          <a:stretch/>
        </p:blipFill>
        <p:spPr>
          <a:xfrm>
            <a:off x="1943100" y="2347912"/>
            <a:ext cx="762000" cy="762000"/>
          </a:xfrm>
          <a:prstGeom prst="rect">
            <a:avLst/>
          </a:prstGeom>
          <a:noFill/>
          <a:ln>
            <a:noFill/>
          </a:ln>
        </p:spPr>
      </p:pic>
      <p:sp>
        <p:nvSpPr>
          <p:cNvPr id="119" name="Google Shape;119;p16"/>
          <p:cNvSpPr txBox="1"/>
          <p:nvPr/>
        </p:nvSpPr>
        <p:spPr>
          <a:xfrm>
            <a:off x="1280223" y="3300412"/>
            <a:ext cx="2087604"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38BDF8"/>
                </a:solidFill>
                <a:latin typeface="Inter SemiBold"/>
                <a:ea typeface="Inter SemiBold"/>
                <a:cs typeface="Inter SemiBold"/>
                <a:sym typeface="Inter SemiBold"/>
              </a:rPr>
              <a:t>MethodChannel</a:t>
            </a:r>
            <a:endParaRPr/>
          </a:p>
        </p:txBody>
      </p:sp>
      <p:sp>
        <p:nvSpPr>
          <p:cNvPr id="120" name="Google Shape;120;p16"/>
          <p:cNvSpPr txBox="1"/>
          <p:nvPr/>
        </p:nvSpPr>
        <p:spPr>
          <a:xfrm>
            <a:off x="876300" y="3929062"/>
            <a:ext cx="2895600"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High-level API for named method invocations. Operates like an RPC mechanism using string-based dynamic dispatch.</a:t>
            </a:r>
            <a:endParaRPr/>
          </a:p>
        </p:txBody>
      </p:sp>
      <p:pic>
        <p:nvPicPr>
          <p:cNvPr id="121" name="Google Shape;121;p16" descr="image.png"/>
          <p:cNvPicPr preferRelativeResize="0"/>
          <p:nvPr/>
        </p:nvPicPr>
        <p:blipFill rotWithShape="1">
          <a:blip r:embed="rId8">
            <a:alphaModFix/>
          </a:blip>
          <a:srcRect/>
          <a:stretch/>
        </p:blipFill>
        <p:spPr>
          <a:xfrm>
            <a:off x="5715000" y="2347912"/>
            <a:ext cx="762000" cy="762000"/>
          </a:xfrm>
          <a:prstGeom prst="rect">
            <a:avLst/>
          </a:prstGeom>
          <a:noFill/>
          <a:ln>
            <a:noFill/>
          </a:ln>
        </p:spPr>
      </p:pic>
      <p:sp>
        <p:nvSpPr>
          <p:cNvPr id="122" name="Google Shape;122;p16"/>
          <p:cNvSpPr txBox="1"/>
          <p:nvPr/>
        </p:nvSpPr>
        <p:spPr>
          <a:xfrm>
            <a:off x="5069465" y="3300412"/>
            <a:ext cx="2053069"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38BDF8"/>
                </a:solidFill>
                <a:latin typeface="Inter SemiBold"/>
                <a:ea typeface="Inter SemiBold"/>
                <a:cs typeface="Inter SemiBold"/>
                <a:sym typeface="Inter SemiBold"/>
              </a:rPr>
              <a:t>MessageCodec</a:t>
            </a:r>
            <a:endParaRPr/>
          </a:p>
        </p:txBody>
      </p:sp>
      <p:sp>
        <p:nvSpPr>
          <p:cNvPr id="123" name="Google Shape;123;p16"/>
          <p:cNvSpPr txBox="1"/>
          <p:nvPr/>
        </p:nvSpPr>
        <p:spPr>
          <a:xfrm>
            <a:off x="4648200" y="3929062"/>
            <a:ext cx="2895600" cy="153352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Handles serialization (marshaling). The default StandardMessageCodec handles heterogeneous data but at a cost.</a:t>
            </a:r>
            <a:endParaRPr/>
          </a:p>
        </p:txBody>
      </p:sp>
      <p:pic>
        <p:nvPicPr>
          <p:cNvPr id="124" name="Google Shape;124;p16" descr="image.png"/>
          <p:cNvPicPr preferRelativeResize="0"/>
          <p:nvPr/>
        </p:nvPicPr>
        <p:blipFill rotWithShape="1">
          <a:blip r:embed="rId9">
            <a:alphaModFix/>
          </a:blip>
          <a:srcRect/>
          <a:stretch/>
        </p:blipFill>
        <p:spPr>
          <a:xfrm>
            <a:off x="9486900" y="2347912"/>
            <a:ext cx="762000" cy="762000"/>
          </a:xfrm>
          <a:prstGeom prst="rect">
            <a:avLst/>
          </a:prstGeom>
          <a:noFill/>
          <a:ln>
            <a:noFill/>
          </a:ln>
        </p:spPr>
      </p:pic>
      <p:sp>
        <p:nvSpPr>
          <p:cNvPr id="125" name="Google Shape;125;p16"/>
          <p:cNvSpPr txBox="1"/>
          <p:nvPr/>
        </p:nvSpPr>
        <p:spPr>
          <a:xfrm>
            <a:off x="8719635" y="3300412"/>
            <a:ext cx="2296380"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38BDF8"/>
                </a:solidFill>
                <a:latin typeface="Inter SemiBold"/>
                <a:ea typeface="Inter SemiBold"/>
                <a:cs typeface="Inter SemiBold"/>
                <a:sym typeface="Inter SemiBold"/>
              </a:rPr>
              <a:t>BinaryMessenger</a:t>
            </a:r>
            <a:endParaRPr/>
          </a:p>
        </p:txBody>
      </p:sp>
      <p:sp>
        <p:nvSpPr>
          <p:cNvPr id="126" name="Google Shape;126;p16"/>
          <p:cNvSpPr txBox="1"/>
          <p:nvPr/>
        </p:nvSpPr>
        <p:spPr>
          <a:xfrm>
            <a:off x="8420100" y="3929062"/>
            <a:ext cx="2895600" cy="122872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The transport layer moving raw ByteData between the Dart isolate and the platform-specific native components.</a:t>
            </a:r>
            <a:endParaRPr/>
          </a:p>
        </p:txBody>
      </p:sp>
      <p:pic>
        <p:nvPicPr>
          <p:cNvPr id="127" name="Google Shape;127;p16" descr="image.png"/>
          <p:cNvPicPr preferRelativeResize="0"/>
          <p:nvPr/>
        </p:nvPicPr>
        <p:blipFill rotWithShape="1">
          <a:blip r:embed="rId10">
            <a:alphaModFix/>
          </a:blip>
          <a:srcRect/>
          <a:stretch/>
        </p:blipFill>
        <p:spPr>
          <a:xfrm>
            <a:off x="2133600" y="2538412"/>
            <a:ext cx="381000" cy="381000"/>
          </a:xfrm>
          <a:prstGeom prst="rect">
            <a:avLst/>
          </a:prstGeom>
          <a:noFill/>
          <a:ln>
            <a:noFill/>
          </a:ln>
        </p:spPr>
      </p:pic>
      <p:pic>
        <p:nvPicPr>
          <p:cNvPr id="128" name="Google Shape;128;p16" descr="image.png"/>
          <p:cNvPicPr preferRelativeResize="0"/>
          <p:nvPr/>
        </p:nvPicPr>
        <p:blipFill rotWithShape="1">
          <a:blip r:embed="rId11">
            <a:alphaModFix/>
          </a:blip>
          <a:srcRect/>
          <a:stretch/>
        </p:blipFill>
        <p:spPr>
          <a:xfrm>
            <a:off x="5929312" y="2538412"/>
            <a:ext cx="333375" cy="381000"/>
          </a:xfrm>
          <a:prstGeom prst="rect">
            <a:avLst/>
          </a:prstGeom>
          <a:noFill/>
          <a:ln>
            <a:noFill/>
          </a:ln>
        </p:spPr>
      </p:pic>
      <p:pic>
        <p:nvPicPr>
          <p:cNvPr id="129" name="Google Shape;129;p16" descr="image.png"/>
          <p:cNvPicPr preferRelativeResize="0"/>
          <p:nvPr/>
        </p:nvPicPr>
        <p:blipFill rotWithShape="1">
          <a:blip r:embed="rId12">
            <a:alphaModFix/>
          </a:blip>
          <a:srcRect/>
          <a:stretch/>
        </p:blipFill>
        <p:spPr>
          <a:xfrm>
            <a:off x="9701212" y="2538412"/>
            <a:ext cx="333375" cy="381000"/>
          </a:xfrm>
          <a:prstGeom prst="rect">
            <a:avLst/>
          </a:prstGeom>
          <a:noFill/>
          <a:ln>
            <a:noFill/>
          </a:ln>
        </p:spPr>
      </p:pic>
      <p:sp>
        <p:nvSpPr>
          <p:cNvPr id="130" name="Google Shape;130;p16"/>
          <p:cNvSpPr txBox="1"/>
          <p:nvPr/>
        </p:nvSpPr>
        <p:spPr>
          <a:xfrm>
            <a:off x="581025" y="581025"/>
            <a:ext cx="11581447"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Inter"/>
                <a:ea typeface="Inter"/>
                <a:cs typeface="Inter"/>
                <a:sym typeface="Inter"/>
              </a:rPr>
              <a:t>Platform Channels: The "Easy" Path</a:t>
            </a:r>
            <a:endParaRPr/>
          </a:p>
        </p:txBody>
      </p:sp>
      <p:sp>
        <p:nvSpPr>
          <p:cNvPr id="131" name="Google Shape;131;p16"/>
          <p:cNvSpPr/>
          <p:nvPr/>
        </p:nvSpPr>
        <p:spPr>
          <a:xfrm>
            <a:off x="581025" y="13335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7" name="Google Shape;137;p17"/>
          <p:cNvSpPr txBox="1"/>
          <p:nvPr/>
        </p:nvSpPr>
        <p:spPr>
          <a:xfrm>
            <a:off x="581025" y="581025"/>
            <a:ext cx="5190648" cy="1133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Inter"/>
                <a:ea typeface="Inter"/>
                <a:cs typeface="Inter"/>
                <a:sym typeface="Inter"/>
              </a:rPr>
              <a:t>Serialization Economics</a:t>
            </a:r>
            <a:endParaRPr/>
          </a:p>
        </p:txBody>
      </p:sp>
      <p:sp>
        <p:nvSpPr>
          <p:cNvPr id="138" name="Google Shape;138;p17"/>
          <p:cNvSpPr/>
          <p:nvPr/>
        </p:nvSpPr>
        <p:spPr>
          <a:xfrm>
            <a:off x="581025" y="1895475"/>
            <a:ext cx="494347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9" name="Google Shape;139;p17" descr="image.png"/>
          <p:cNvPicPr preferRelativeResize="0"/>
          <p:nvPr/>
        </p:nvPicPr>
        <p:blipFill rotWithShape="1">
          <a:blip r:embed="rId4">
            <a:alphaModFix/>
          </a:blip>
          <a:srcRect/>
          <a:stretch/>
        </p:blipFill>
        <p:spPr>
          <a:xfrm>
            <a:off x="6096000" y="9525"/>
            <a:ext cx="6086475" cy="6838950"/>
          </a:xfrm>
          <a:prstGeom prst="rect">
            <a:avLst/>
          </a:prstGeom>
          <a:noFill/>
          <a:ln>
            <a:noFill/>
          </a:ln>
        </p:spPr>
      </p:pic>
      <p:sp>
        <p:nvSpPr>
          <p:cNvPr id="140" name="Google Shape;140;p17"/>
          <p:cNvSpPr txBox="1"/>
          <p:nvPr/>
        </p:nvSpPr>
        <p:spPr>
          <a:xfrm>
            <a:off x="581025" y="2333625"/>
            <a:ext cx="5190648"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8BDF8"/>
                </a:solidFill>
                <a:latin typeface="Inter SemiBold"/>
                <a:ea typeface="Inter SemiBold"/>
                <a:cs typeface="Inter SemiBold"/>
                <a:sym typeface="Inter SemiBold"/>
              </a:rPr>
              <a:t>The Cost of Marshalling</a:t>
            </a:r>
            <a:endParaRPr/>
          </a:p>
        </p:txBody>
      </p:sp>
      <p:sp>
        <p:nvSpPr>
          <p:cNvPr id="141" name="Google Shape;141;p17"/>
          <p:cNvSpPr txBox="1"/>
          <p:nvPr/>
        </p:nvSpPr>
        <p:spPr>
          <a:xfrm>
            <a:off x="581025" y="2962275"/>
            <a:ext cx="4943475" cy="9239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The StandardMessageCodec employs recursive traversal for collection types. Encoding a deep Map or List implies an algorithmic complexity of:</a:t>
            </a:r>
            <a:endParaRPr/>
          </a:p>
        </p:txBody>
      </p:sp>
      <p:sp>
        <p:nvSpPr>
          <p:cNvPr id="142" name="Google Shape;142;p17"/>
          <p:cNvSpPr txBox="1"/>
          <p:nvPr/>
        </p:nvSpPr>
        <p:spPr>
          <a:xfrm>
            <a:off x="581025" y="4819650"/>
            <a:ext cx="4943475"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On Android, sending a Dart results in the allocation of thousands of objects (Boxing), causing immense pressure on the Garbage Collector.</a:t>
            </a:r>
            <a:endParaRPr/>
          </a:p>
        </p:txBody>
      </p:sp>
      <p:pic>
        <p:nvPicPr>
          <p:cNvPr id="143" name="Google Shape;143;p17" descr="image.png"/>
          <p:cNvPicPr preferRelativeResize="0"/>
          <p:nvPr/>
        </p:nvPicPr>
        <p:blipFill rotWithShape="1">
          <a:blip r:embed="rId5">
            <a:alphaModFix/>
          </a:blip>
          <a:srcRect/>
          <a:stretch/>
        </p:blipFill>
        <p:spPr>
          <a:xfrm>
            <a:off x="581025" y="4267200"/>
            <a:ext cx="4943475" cy="171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1" name="Google Shape;151;p18" descr="image.png"/>
          <p:cNvPicPr preferRelativeResize="0"/>
          <p:nvPr/>
        </p:nvPicPr>
        <p:blipFill rotWithShape="1">
          <a:blip r:embed="rId4">
            <a:alphaModFix/>
          </a:blip>
          <a:srcRect/>
          <a:stretch/>
        </p:blipFill>
        <p:spPr>
          <a:xfrm>
            <a:off x="1584721" y="2924175"/>
            <a:ext cx="419100" cy="419100"/>
          </a:xfrm>
          <a:prstGeom prst="rect">
            <a:avLst/>
          </a:prstGeom>
          <a:noFill/>
          <a:ln>
            <a:noFill/>
          </a:ln>
        </p:spPr>
      </p:pic>
      <p:pic>
        <p:nvPicPr>
          <p:cNvPr id="152" name="Google Shape;152;p18" descr="image.png"/>
          <p:cNvPicPr preferRelativeResize="0"/>
          <p:nvPr/>
        </p:nvPicPr>
        <p:blipFill rotWithShape="1">
          <a:blip r:embed="rId5">
            <a:alphaModFix/>
          </a:blip>
          <a:srcRect/>
          <a:stretch/>
        </p:blipFill>
        <p:spPr>
          <a:xfrm>
            <a:off x="4452491" y="2924175"/>
            <a:ext cx="419100" cy="419100"/>
          </a:xfrm>
          <a:prstGeom prst="rect">
            <a:avLst/>
          </a:prstGeom>
          <a:noFill/>
          <a:ln>
            <a:noFill/>
          </a:ln>
        </p:spPr>
      </p:pic>
      <p:pic>
        <p:nvPicPr>
          <p:cNvPr id="153" name="Google Shape;153;p18" descr="image.png"/>
          <p:cNvPicPr preferRelativeResize="0"/>
          <p:nvPr/>
        </p:nvPicPr>
        <p:blipFill rotWithShape="1">
          <a:blip r:embed="rId6">
            <a:alphaModFix/>
          </a:blip>
          <a:srcRect/>
          <a:stretch/>
        </p:blipFill>
        <p:spPr>
          <a:xfrm>
            <a:off x="7320260" y="2924175"/>
            <a:ext cx="419100" cy="419100"/>
          </a:xfrm>
          <a:prstGeom prst="rect">
            <a:avLst/>
          </a:prstGeom>
          <a:noFill/>
          <a:ln>
            <a:noFill/>
          </a:ln>
        </p:spPr>
      </p:pic>
      <p:pic>
        <p:nvPicPr>
          <p:cNvPr id="154" name="Google Shape;154;p18" descr="image.png"/>
          <p:cNvPicPr preferRelativeResize="0"/>
          <p:nvPr/>
        </p:nvPicPr>
        <p:blipFill rotWithShape="1">
          <a:blip r:embed="rId7">
            <a:alphaModFix/>
          </a:blip>
          <a:srcRect/>
          <a:stretch/>
        </p:blipFill>
        <p:spPr>
          <a:xfrm>
            <a:off x="10188029" y="2924175"/>
            <a:ext cx="419100" cy="419100"/>
          </a:xfrm>
          <a:prstGeom prst="rect">
            <a:avLst/>
          </a:prstGeom>
          <a:noFill/>
          <a:ln>
            <a:noFill/>
          </a:ln>
        </p:spPr>
      </p:pic>
      <p:sp>
        <p:nvSpPr>
          <p:cNvPr id="155" name="Google Shape;155;p18"/>
          <p:cNvSpPr/>
          <p:nvPr/>
        </p:nvSpPr>
        <p:spPr>
          <a:xfrm>
            <a:off x="581025" y="3114675"/>
            <a:ext cx="11029950" cy="3810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6" name="Google Shape;156;p18"/>
          <p:cNvSpPr txBox="1"/>
          <p:nvPr/>
        </p:nvSpPr>
        <p:spPr>
          <a:xfrm>
            <a:off x="520362" y="3533775"/>
            <a:ext cx="2547818"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38BDF8"/>
                </a:solidFill>
                <a:latin typeface="Inter SemiBold"/>
                <a:ea typeface="Inter SemiBold"/>
                <a:cs typeface="Inter SemiBold"/>
                <a:sym typeface="Inter SemiBold"/>
              </a:rPr>
              <a:t>Invocation</a:t>
            </a:r>
            <a:endParaRPr/>
          </a:p>
        </p:txBody>
      </p:sp>
      <p:sp>
        <p:nvSpPr>
          <p:cNvPr id="157" name="Google Shape;157;p18"/>
          <p:cNvSpPr txBox="1"/>
          <p:nvPr/>
        </p:nvSpPr>
        <p:spPr>
          <a:xfrm>
            <a:off x="581025" y="4048125"/>
            <a:ext cx="2426493" cy="61912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Dart calls invokeMethod. Arguments are prepared.</a:t>
            </a:r>
            <a:endParaRPr/>
          </a:p>
        </p:txBody>
      </p:sp>
      <p:sp>
        <p:nvSpPr>
          <p:cNvPr id="158" name="Google Shape;158;p18"/>
          <p:cNvSpPr txBox="1"/>
          <p:nvPr/>
        </p:nvSpPr>
        <p:spPr>
          <a:xfrm>
            <a:off x="3388131" y="3533775"/>
            <a:ext cx="2547818"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38BDF8"/>
                </a:solidFill>
                <a:latin typeface="Inter SemiBold"/>
                <a:ea typeface="Inter SemiBold"/>
                <a:cs typeface="Inter SemiBold"/>
                <a:sym typeface="Inter SemiBold"/>
              </a:rPr>
              <a:t>Serialization</a:t>
            </a:r>
            <a:endParaRPr/>
          </a:p>
        </p:txBody>
      </p:sp>
      <p:sp>
        <p:nvSpPr>
          <p:cNvPr id="159" name="Google Shape;159;p18"/>
          <p:cNvSpPr txBox="1"/>
          <p:nvPr/>
        </p:nvSpPr>
        <p:spPr>
          <a:xfrm>
            <a:off x="3448794" y="4048125"/>
            <a:ext cx="2426493"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MessageCodec traverses the object graph, writing to a buffer.</a:t>
            </a:r>
            <a:endParaRPr/>
          </a:p>
        </p:txBody>
      </p:sp>
      <p:sp>
        <p:nvSpPr>
          <p:cNvPr id="160" name="Google Shape;160;p18"/>
          <p:cNvSpPr txBox="1"/>
          <p:nvPr/>
        </p:nvSpPr>
        <p:spPr>
          <a:xfrm>
            <a:off x="6255900" y="3533775"/>
            <a:ext cx="2547818"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38BDF8"/>
                </a:solidFill>
                <a:latin typeface="Inter SemiBold"/>
                <a:ea typeface="Inter SemiBold"/>
                <a:cs typeface="Inter SemiBold"/>
                <a:sym typeface="Inter SemiBold"/>
              </a:rPr>
              <a:t>Context Switch</a:t>
            </a:r>
            <a:endParaRPr/>
          </a:p>
        </p:txBody>
      </p:sp>
      <p:sp>
        <p:nvSpPr>
          <p:cNvPr id="161" name="Google Shape;161;p18"/>
          <p:cNvSpPr txBox="1"/>
          <p:nvPr/>
        </p:nvSpPr>
        <p:spPr>
          <a:xfrm>
            <a:off x="6316563" y="4048125"/>
            <a:ext cx="2426493"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Message posted to Platform Thread (Looper/GCD), causing thread hop.</a:t>
            </a:r>
            <a:endParaRPr/>
          </a:p>
        </p:txBody>
      </p:sp>
      <p:sp>
        <p:nvSpPr>
          <p:cNvPr id="162" name="Google Shape;162;p18"/>
          <p:cNvSpPr txBox="1"/>
          <p:nvPr/>
        </p:nvSpPr>
        <p:spPr>
          <a:xfrm>
            <a:off x="9123670" y="3533775"/>
            <a:ext cx="2547818"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38BDF8"/>
                </a:solidFill>
                <a:latin typeface="Inter SemiBold"/>
                <a:ea typeface="Inter SemiBold"/>
                <a:cs typeface="Inter SemiBold"/>
                <a:sym typeface="Inter SemiBold"/>
              </a:rPr>
              <a:t>Execution</a:t>
            </a:r>
            <a:endParaRPr/>
          </a:p>
        </p:txBody>
      </p:sp>
      <p:sp>
        <p:nvSpPr>
          <p:cNvPr id="163" name="Google Shape;163;p18"/>
          <p:cNvSpPr txBox="1"/>
          <p:nvPr/>
        </p:nvSpPr>
        <p:spPr>
          <a:xfrm>
            <a:off x="9184332" y="4048125"/>
            <a:ext cx="2426493"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Native handler processes the message and returns result.</a:t>
            </a:r>
            <a:endParaRPr/>
          </a:p>
        </p:txBody>
      </p:sp>
      <p:sp>
        <p:nvSpPr>
          <p:cNvPr id="164" name="Google Shape;164;p18"/>
          <p:cNvSpPr txBox="1"/>
          <p:nvPr/>
        </p:nvSpPr>
        <p:spPr>
          <a:xfrm>
            <a:off x="581025" y="581025"/>
            <a:ext cx="11581447"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Inter"/>
                <a:ea typeface="Inter"/>
                <a:cs typeface="Inter"/>
                <a:sym typeface="Inter"/>
              </a:rPr>
              <a:t>The Message Transmission Lifecycle</a:t>
            </a:r>
            <a:endParaRPr/>
          </a:p>
        </p:txBody>
      </p:sp>
      <p:sp>
        <p:nvSpPr>
          <p:cNvPr id="165" name="Google Shape;165;p18"/>
          <p:cNvSpPr/>
          <p:nvPr/>
        </p:nvSpPr>
        <p:spPr>
          <a:xfrm>
            <a:off x="581025" y="13335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pic>
        <p:nvPicPr>
          <p:cNvPr id="170" name="Google Shape;170;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1" name="Google Shape;171;p19"/>
          <p:cNvSpPr/>
          <p:nvPr/>
        </p:nvSpPr>
        <p:spPr>
          <a:xfrm>
            <a:off x="5524500" y="2277367"/>
            <a:ext cx="1143000" cy="57150"/>
          </a:xfrm>
          <a:prstGeom prst="rect">
            <a:avLst/>
          </a:prstGeom>
          <a:solidFill>
            <a:srgbClr val="4ADE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2" name="Google Shape;172;p19"/>
          <p:cNvSpPr txBox="1"/>
          <p:nvPr/>
        </p:nvSpPr>
        <p:spPr>
          <a:xfrm>
            <a:off x="2985142" y="2715517"/>
            <a:ext cx="6221715" cy="8286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400" b="1" i="0" u="none" strike="noStrike" cap="none">
                <a:solidFill>
                  <a:srgbClr val="38BDF8"/>
                </a:solidFill>
                <a:latin typeface="Inter"/>
                <a:ea typeface="Inter"/>
                <a:cs typeface="Inter"/>
                <a:sym typeface="Inter"/>
              </a:rPr>
              <a:t>The FFI Revolution</a:t>
            </a:r>
            <a:endParaRPr/>
          </a:p>
        </p:txBody>
      </p:sp>
      <p:sp>
        <p:nvSpPr>
          <p:cNvPr id="173" name="Google Shape;173;p19"/>
          <p:cNvSpPr txBox="1"/>
          <p:nvPr/>
        </p:nvSpPr>
        <p:spPr>
          <a:xfrm>
            <a:off x="2990850" y="3963292"/>
            <a:ext cx="6210300"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CBD5E1"/>
                </a:solidFill>
                <a:latin typeface="Inter"/>
                <a:ea typeface="Inter"/>
                <a:cs typeface="Inter"/>
                <a:sym typeface="Inter"/>
              </a:rPr>
              <a:t>Synchronous Execution &amp; Direct Memory Access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9" name="Google Shape;179;p20" descr="image.png"/>
          <p:cNvPicPr preferRelativeResize="0"/>
          <p:nvPr/>
        </p:nvPicPr>
        <p:blipFill rotWithShape="1">
          <a:blip r:embed="rId4">
            <a:alphaModFix/>
          </a:blip>
          <a:srcRect/>
          <a:stretch/>
        </p:blipFill>
        <p:spPr>
          <a:xfrm>
            <a:off x="581025" y="2495550"/>
            <a:ext cx="5229225" cy="3009900"/>
          </a:xfrm>
          <a:prstGeom prst="rect">
            <a:avLst/>
          </a:prstGeom>
          <a:noFill/>
          <a:ln>
            <a:noFill/>
          </a:ln>
        </p:spPr>
      </p:pic>
      <p:pic>
        <p:nvPicPr>
          <p:cNvPr id="180" name="Google Shape;180;p20" descr="image.png"/>
          <p:cNvPicPr preferRelativeResize="0"/>
          <p:nvPr/>
        </p:nvPicPr>
        <p:blipFill rotWithShape="1">
          <a:blip r:embed="rId5">
            <a:alphaModFix/>
          </a:blip>
          <a:srcRect/>
          <a:stretch/>
        </p:blipFill>
        <p:spPr>
          <a:xfrm>
            <a:off x="6381750" y="2495550"/>
            <a:ext cx="5229225" cy="3009900"/>
          </a:xfrm>
          <a:prstGeom prst="rect">
            <a:avLst/>
          </a:prstGeom>
          <a:noFill/>
          <a:ln>
            <a:noFill/>
          </a:ln>
        </p:spPr>
      </p:pic>
      <p:sp>
        <p:nvSpPr>
          <p:cNvPr id="181" name="Google Shape;181;p20"/>
          <p:cNvSpPr txBox="1"/>
          <p:nvPr/>
        </p:nvSpPr>
        <p:spPr>
          <a:xfrm>
            <a:off x="971550" y="2886075"/>
            <a:ext cx="467058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8BDF8"/>
                </a:solidFill>
                <a:latin typeface="Inter SemiBold"/>
                <a:ea typeface="Inter SemiBold"/>
                <a:cs typeface="Inter SemiBold"/>
                <a:sym typeface="Inter SemiBold"/>
              </a:rPr>
              <a:t>Direct Symbol Binding</a:t>
            </a:r>
            <a:endParaRPr/>
          </a:p>
        </p:txBody>
      </p:sp>
      <p:sp>
        <p:nvSpPr>
          <p:cNvPr id="182" name="Google Shape;182;p20"/>
          <p:cNvSpPr txBox="1"/>
          <p:nvPr/>
        </p:nvSpPr>
        <p:spPr>
          <a:xfrm>
            <a:off x="971550" y="3400425"/>
            <a:ext cx="4448175" cy="1524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94A3B8"/>
                </a:solidFill>
                <a:latin typeface="Inter"/>
                <a:ea typeface="Inter"/>
                <a:cs typeface="Inter"/>
                <a:sym typeface="Inter"/>
              </a:rPr>
              <a:t>Dart uses </a:t>
            </a:r>
            <a:r>
              <a:rPr lang="en-US" sz="1500" b="0" i="0" u="none" strike="noStrike" cap="none" dirty="0" err="1">
                <a:solidFill>
                  <a:srgbClr val="94A3B8"/>
                </a:solidFill>
                <a:latin typeface="Inter"/>
                <a:ea typeface="Inter"/>
                <a:cs typeface="Inter"/>
                <a:sym typeface="Inter"/>
              </a:rPr>
              <a:t>dlopen</a:t>
            </a:r>
            <a:r>
              <a:rPr lang="en-US" sz="1500" b="0" i="0" u="none" strike="noStrike" cap="none" dirty="0">
                <a:solidFill>
                  <a:srgbClr val="94A3B8"/>
                </a:solidFill>
                <a:latin typeface="Inter"/>
                <a:ea typeface="Inter"/>
                <a:cs typeface="Inter"/>
                <a:sym typeface="Inter"/>
              </a:rPr>
              <a:t> and </a:t>
            </a:r>
            <a:r>
              <a:rPr lang="en-US" sz="1500" b="0" i="0" u="none" strike="noStrike" cap="none" dirty="0" err="1">
                <a:solidFill>
                  <a:srgbClr val="94A3B8"/>
                </a:solidFill>
                <a:latin typeface="Inter"/>
                <a:ea typeface="Inter"/>
                <a:cs typeface="Inter"/>
                <a:sym typeface="Inter"/>
              </a:rPr>
              <a:t>dlsym</a:t>
            </a:r>
            <a:r>
              <a:rPr lang="en-US" sz="1500" b="0" i="0" u="none" strike="noStrike" cap="none" dirty="0">
                <a:solidFill>
                  <a:srgbClr val="94A3B8"/>
                </a:solidFill>
                <a:latin typeface="Inter"/>
                <a:ea typeface="Inter"/>
                <a:cs typeface="Inter"/>
                <a:sym typeface="Inter"/>
              </a:rPr>
              <a:t> to bind directly to native C/C++ symbols. The Dart thread becomes the native thread, executing foreign machine code synchronously within the same process address space.</a:t>
            </a:r>
            <a:endParaRPr dirty="0"/>
          </a:p>
        </p:txBody>
      </p:sp>
      <p:sp>
        <p:nvSpPr>
          <p:cNvPr id="183" name="Google Shape;183;p20"/>
          <p:cNvSpPr txBox="1"/>
          <p:nvPr/>
        </p:nvSpPr>
        <p:spPr>
          <a:xfrm>
            <a:off x="6772275" y="2886075"/>
            <a:ext cx="467058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8BDF8"/>
                </a:solidFill>
                <a:latin typeface="Inter SemiBold"/>
                <a:ea typeface="Inter SemiBold"/>
                <a:cs typeface="Inter SemiBold"/>
                <a:sym typeface="Inter SemiBold"/>
              </a:rPr>
              <a:t>Memory View, Not Copy</a:t>
            </a:r>
            <a:endParaRPr/>
          </a:p>
        </p:txBody>
      </p:sp>
      <p:sp>
        <p:nvSpPr>
          <p:cNvPr id="184" name="Google Shape;184;p20"/>
          <p:cNvSpPr txBox="1"/>
          <p:nvPr/>
        </p:nvSpPr>
        <p:spPr>
          <a:xfrm>
            <a:off x="6772275" y="3400425"/>
            <a:ext cx="4448175"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94A3B8"/>
                </a:solidFill>
                <a:latin typeface="Inter"/>
                <a:ea typeface="Inter"/>
                <a:cs typeface="Inter"/>
                <a:sym typeface="Inter"/>
              </a:rPr>
              <a:t>Unlike channels, FFI utilizes the class Pointer to view and manipulate native memory directly. This allows Dart to access native structs without the overhead of serialization or copying.</a:t>
            </a:r>
            <a:endParaRPr dirty="0"/>
          </a:p>
        </p:txBody>
      </p:sp>
      <p:sp>
        <p:nvSpPr>
          <p:cNvPr id="188" name="Google Shape;188;p20"/>
          <p:cNvSpPr txBox="1"/>
          <p:nvPr/>
        </p:nvSpPr>
        <p:spPr>
          <a:xfrm>
            <a:off x="581025" y="581025"/>
            <a:ext cx="11581447"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Inter"/>
                <a:ea typeface="Inter"/>
                <a:cs typeface="Inter"/>
                <a:sym typeface="Inter"/>
              </a:rPr>
              <a:t>Dart FFI: The Synchronous Bridge</a:t>
            </a:r>
            <a:endParaRPr/>
          </a:p>
        </p:txBody>
      </p:sp>
      <p:sp>
        <p:nvSpPr>
          <p:cNvPr id="189" name="Google Shape;189;p20"/>
          <p:cNvSpPr/>
          <p:nvPr/>
        </p:nvSpPr>
        <p:spPr>
          <a:xfrm>
            <a:off x="581025" y="13335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pic>
        <p:nvPicPr>
          <p:cNvPr id="194" name="Google Shape;194;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5" name="Google Shape;195;p21" descr="image.png"/>
          <p:cNvPicPr preferRelativeResize="0"/>
          <p:nvPr/>
        </p:nvPicPr>
        <p:blipFill rotWithShape="1">
          <a:blip r:embed="rId4">
            <a:alphaModFix/>
          </a:blip>
          <a:srcRect/>
          <a:stretch/>
        </p:blipFill>
        <p:spPr>
          <a:xfrm>
            <a:off x="581025" y="1733550"/>
            <a:ext cx="5229225" cy="4533900"/>
          </a:xfrm>
          <a:prstGeom prst="rect">
            <a:avLst/>
          </a:prstGeom>
          <a:noFill/>
          <a:ln>
            <a:noFill/>
          </a:ln>
        </p:spPr>
      </p:pic>
      <p:pic>
        <p:nvPicPr>
          <p:cNvPr id="196" name="Google Shape;196;p21" descr="image.png"/>
          <p:cNvPicPr preferRelativeResize="0"/>
          <p:nvPr/>
        </p:nvPicPr>
        <p:blipFill rotWithShape="1">
          <a:blip r:embed="rId5">
            <a:alphaModFix/>
          </a:blip>
          <a:srcRect/>
          <a:stretch/>
        </p:blipFill>
        <p:spPr>
          <a:xfrm>
            <a:off x="6381750" y="1733550"/>
            <a:ext cx="5229225" cy="4533900"/>
          </a:xfrm>
          <a:prstGeom prst="rect">
            <a:avLst/>
          </a:prstGeom>
          <a:noFill/>
          <a:ln>
            <a:noFill/>
          </a:ln>
        </p:spPr>
      </p:pic>
      <p:pic>
        <p:nvPicPr>
          <p:cNvPr id="197" name="Google Shape;197;p21" descr="image.png"/>
          <p:cNvPicPr preferRelativeResize="0"/>
          <p:nvPr/>
        </p:nvPicPr>
        <p:blipFill rotWithShape="1">
          <a:blip r:embed="rId6">
            <a:alphaModFix/>
          </a:blip>
          <a:srcRect/>
          <a:stretch/>
        </p:blipFill>
        <p:spPr>
          <a:xfrm>
            <a:off x="781050" y="1933575"/>
            <a:ext cx="4829175" cy="1905000"/>
          </a:xfrm>
          <a:prstGeom prst="rect">
            <a:avLst/>
          </a:prstGeom>
          <a:noFill/>
          <a:ln>
            <a:noFill/>
          </a:ln>
        </p:spPr>
      </p:pic>
      <p:sp>
        <p:nvSpPr>
          <p:cNvPr id="198" name="Google Shape;198;p21"/>
          <p:cNvSpPr txBox="1"/>
          <p:nvPr/>
        </p:nvSpPr>
        <p:spPr>
          <a:xfrm>
            <a:off x="781050" y="4029075"/>
            <a:ext cx="507063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8BDF8"/>
                </a:solidFill>
                <a:latin typeface="Inter SemiBold"/>
                <a:ea typeface="Inter SemiBold"/>
                <a:cs typeface="Inter SemiBold"/>
                <a:sym typeface="Inter SemiBold"/>
              </a:rPr>
              <a:t>Android (JNI)</a:t>
            </a:r>
            <a:endParaRPr/>
          </a:p>
        </p:txBody>
      </p:sp>
      <p:sp>
        <p:nvSpPr>
          <p:cNvPr id="199" name="Google Shape;199;p21"/>
          <p:cNvSpPr txBox="1"/>
          <p:nvPr/>
        </p:nvSpPr>
        <p:spPr>
          <a:xfrm>
            <a:off x="781050" y="4657725"/>
            <a:ext cx="4829175"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FFI to Java requires a "Double Thunk": Dart → C → Java. The JNI overhead (approx 150ns) and reference management can outweigh benefits for simple API calls.</a:t>
            </a:r>
            <a:endParaRPr/>
          </a:p>
        </p:txBody>
      </p:sp>
      <p:pic>
        <p:nvPicPr>
          <p:cNvPr id="200" name="Google Shape;200;p21" descr="image.png"/>
          <p:cNvPicPr preferRelativeResize="0"/>
          <p:nvPr/>
        </p:nvPicPr>
        <p:blipFill rotWithShape="1">
          <a:blip r:embed="rId7">
            <a:alphaModFix/>
          </a:blip>
          <a:srcRect/>
          <a:stretch/>
        </p:blipFill>
        <p:spPr>
          <a:xfrm>
            <a:off x="6581775" y="1933575"/>
            <a:ext cx="4829175" cy="1905000"/>
          </a:xfrm>
          <a:prstGeom prst="rect">
            <a:avLst/>
          </a:prstGeom>
          <a:noFill/>
          <a:ln>
            <a:noFill/>
          </a:ln>
        </p:spPr>
      </p:pic>
      <p:sp>
        <p:nvSpPr>
          <p:cNvPr id="201" name="Google Shape;201;p21"/>
          <p:cNvSpPr txBox="1"/>
          <p:nvPr/>
        </p:nvSpPr>
        <p:spPr>
          <a:xfrm>
            <a:off x="6581775" y="4029075"/>
            <a:ext cx="507063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8BDF8"/>
                </a:solidFill>
                <a:latin typeface="Inter SemiBold"/>
                <a:ea typeface="Inter SemiBold"/>
                <a:cs typeface="Inter SemiBold"/>
                <a:sym typeface="Inter SemiBold"/>
              </a:rPr>
              <a:t>iOS (Objective-C)</a:t>
            </a:r>
            <a:endParaRPr/>
          </a:p>
        </p:txBody>
      </p:sp>
      <p:sp>
        <p:nvSpPr>
          <p:cNvPr id="202" name="Google Shape;202;p21"/>
          <p:cNvSpPr txBox="1"/>
          <p:nvPr/>
        </p:nvSpPr>
        <p:spPr>
          <a:xfrm>
            <a:off x="6581775" y="4657725"/>
            <a:ext cx="48291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94A3B8"/>
                </a:solidFill>
                <a:latin typeface="Inter"/>
                <a:ea typeface="Inter"/>
                <a:cs typeface="Inter"/>
                <a:sym typeface="Inter"/>
              </a:rPr>
              <a:t>Apple's is highly optimized. Static linking supports Link Time Optimization (LTO), making FFI a natural fit for the Apple ecosystem.</a:t>
            </a:r>
            <a:endParaRPr dirty="0"/>
          </a:p>
        </p:txBody>
      </p:sp>
      <p:sp>
        <p:nvSpPr>
          <p:cNvPr id="204" name="Google Shape;204;p21"/>
          <p:cNvSpPr txBox="1"/>
          <p:nvPr/>
        </p:nvSpPr>
        <p:spPr>
          <a:xfrm>
            <a:off x="581025" y="581025"/>
            <a:ext cx="11581447"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Inter"/>
                <a:ea typeface="Inter"/>
                <a:cs typeface="Inter"/>
                <a:sym typeface="Inter"/>
              </a:rPr>
              <a:t>Platform Interoperability Details</a:t>
            </a:r>
            <a:endParaRPr/>
          </a:p>
        </p:txBody>
      </p:sp>
      <p:sp>
        <p:nvSpPr>
          <p:cNvPr id="205" name="Google Shape;205;p21"/>
          <p:cNvSpPr/>
          <p:nvPr/>
        </p:nvSpPr>
        <p:spPr>
          <a:xfrm>
            <a:off x="581025" y="13335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1" name="Google Shape;211;p22"/>
          <p:cNvSpPr txBox="1"/>
          <p:nvPr/>
        </p:nvSpPr>
        <p:spPr>
          <a:xfrm>
            <a:off x="581025" y="581025"/>
            <a:ext cx="5190648" cy="1133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Inter"/>
                <a:ea typeface="Inter"/>
                <a:cs typeface="Inter"/>
                <a:sym typeface="Inter"/>
              </a:rPr>
              <a:t>The Memory Copy Problem</a:t>
            </a:r>
            <a:endParaRPr/>
          </a:p>
        </p:txBody>
      </p:sp>
      <p:sp>
        <p:nvSpPr>
          <p:cNvPr id="212" name="Google Shape;212;p22"/>
          <p:cNvSpPr/>
          <p:nvPr/>
        </p:nvSpPr>
        <p:spPr>
          <a:xfrm>
            <a:off x="581025" y="1895475"/>
            <a:ext cx="4943475"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3" name="Google Shape;213;p22" descr="image.png"/>
          <p:cNvPicPr preferRelativeResize="0"/>
          <p:nvPr/>
        </p:nvPicPr>
        <p:blipFill rotWithShape="1">
          <a:blip r:embed="rId4">
            <a:alphaModFix/>
          </a:blip>
          <a:srcRect/>
          <a:stretch/>
        </p:blipFill>
        <p:spPr>
          <a:xfrm>
            <a:off x="6096000" y="9525"/>
            <a:ext cx="6086475" cy="6838950"/>
          </a:xfrm>
          <a:prstGeom prst="rect">
            <a:avLst/>
          </a:prstGeom>
          <a:noFill/>
          <a:ln>
            <a:noFill/>
          </a:ln>
        </p:spPr>
      </p:pic>
      <p:sp>
        <p:nvSpPr>
          <p:cNvPr id="214" name="Google Shape;214;p22"/>
          <p:cNvSpPr txBox="1"/>
          <p:nvPr/>
        </p:nvSpPr>
        <p:spPr>
          <a:xfrm>
            <a:off x="581025" y="2462212"/>
            <a:ext cx="5190648"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38BDF8"/>
                </a:solidFill>
                <a:latin typeface="Inter SemiBold"/>
                <a:ea typeface="Inter SemiBold"/>
                <a:cs typeface="Inter SemiBold"/>
                <a:sym typeface="Inter SemiBold"/>
              </a:rPr>
              <a:t>Bandwidth Saturation</a:t>
            </a:r>
            <a:endParaRPr/>
          </a:p>
        </p:txBody>
      </p:sp>
      <p:sp>
        <p:nvSpPr>
          <p:cNvPr id="215" name="Google Shape;215;p22"/>
          <p:cNvSpPr txBox="1"/>
          <p:nvPr/>
        </p:nvSpPr>
        <p:spPr>
          <a:xfrm>
            <a:off x="581025" y="3090862"/>
            <a:ext cx="4943475"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Moving large buffers (e.g., 4K camera frames) via Platform Channels is disastrous. It typically involves three copies: Native Source → Codec Buffer → Dart Heap.</a:t>
            </a:r>
            <a:endParaRPr/>
          </a:p>
        </p:txBody>
      </p:sp>
      <p:sp>
        <p:nvSpPr>
          <p:cNvPr id="216" name="Google Shape;216;p22"/>
          <p:cNvSpPr txBox="1"/>
          <p:nvPr/>
        </p:nvSpPr>
        <p:spPr>
          <a:xfrm>
            <a:off x="581025" y="4691062"/>
            <a:ext cx="4943475"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94A3B8"/>
                </a:solidFill>
                <a:latin typeface="Inter"/>
                <a:ea typeface="Inter"/>
                <a:cs typeface="Inter"/>
                <a:sym typeface="Inter"/>
              </a:rPr>
              <a:t>This movement of 100MB+ of data saturates the memory bus and flushes CPU caches (L1/L2), causing "Cache Pollution" that slows down the entire UI rendering pipeline.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pic>
        <p:nvPicPr>
          <p:cNvPr id="221" name="Google Shape;221;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2" name="Google Shape;222;p23"/>
          <p:cNvSpPr txBox="1"/>
          <p:nvPr/>
        </p:nvSpPr>
        <p:spPr>
          <a:xfrm>
            <a:off x="1057275" y="2814637"/>
            <a:ext cx="10553700" cy="6191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E2E8F0"/>
                </a:solidFill>
                <a:latin typeface="Inter SemiBold"/>
                <a:ea typeface="Inter SemiBold"/>
                <a:cs typeface="Inter SemiBold"/>
                <a:sym typeface="Inter SemiBold"/>
              </a:rPr>
              <a:t>External TypedData:</a:t>
            </a:r>
            <a:r>
              <a:rPr lang="en-US" sz="1500" b="0" i="0" u="none" strike="noStrike" cap="none">
                <a:solidFill>
                  <a:srgbClr val="94A3B8"/>
                </a:solidFill>
                <a:latin typeface="Inter"/>
                <a:ea typeface="Inter"/>
                <a:cs typeface="Inter"/>
                <a:sym typeface="Inter"/>
              </a:rPr>
              <a:t> Allows Dart to create a Uint8List that views native memory directly via a C pointer, enabling zero-copy reads.</a:t>
            </a:r>
            <a:endParaRPr/>
          </a:p>
        </p:txBody>
      </p:sp>
      <p:sp>
        <p:nvSpPr>
          <p:cNvPr id="223" name="Google Shape;223;p23"/>
          <p:cNvSpPr txBox="1"/>
          <p:nvPr/>
        </p:nvSpPr>
        <p:spPr>
          <a:xfrm>
            <a:off x="1057275" y="3662362"/>
            <a:ext cx="10553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E2E8F0"/>
                </a:solidFill>
                <a:latin typeface="Inter SemiBold"/>
                <a:ea typeface="Inter SemiBold"/>
                <a:cs typeface="Inter SemiBold"/>
                <a:sym typeface="Inter SemiBold"/>
              </a:rPr>
              <a:t>Isolate.exit:</a:t>
            </a:r>
            <a:r>
              <a:rPr lang="en-US" sz="1500" b="0" i="0" u="none" strike="noStrike" cap="none">
                <a:solidFill>
                  <a:srgbClr val="94A3B8"/>
                </a:solidFill>
                <a:latin typeface="Inter"/>
                <a:ea typeface="Inter"/>
                <a:cs typeface="Inter"/>
                <a:sym typeface="Inter"/>
              </a:rPr>
              <a:t> Performs an O(1) ownership transfer of heap memory between isolates, re-mapping memory pages instead of deep copying data.</a:t>
            </a:r>
            <a:endParaRPr/>
          </a:p>
        </p:txBody>
      </p:sp>
      <p:sp>
        <p:nvSpPr>
          <p:cNvPr id="224" name="Google Shape;224;p23"/>
          <p:cNvSpPr txBox="1"/>
          <p:nvPr/>
        </p:nvSpPr>
        <p:spPr>
          <a:xfrm>
            <a:off x="1057275" y="4500562"/>
            <a:ext cx="10553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E2E8F0"/>
                </a:solidFill>
                <a:latin typeface="Inter SemiBold"/>
                <a:ea typeface="Inter SemiBold"/>
                <a:cs typeface="Inter SemiBold"/>
                <a:sym typeface="Inter SemiBold"/>
              </a:rPr>
              <a:t>Texture Registry:</a:t>
            </a:r>
            <a:r>
              <a:rPr lang="en-US" sz="1500" b="0" i="0" u="none" strike="noStrike" cap="none">
                <a:solidFill>
                  <a:srgbClr val="94A3B8"/>
                </a:solidFill>
                <a:latin typeface="Inter"/>
                <a:ea typeface="Inter"/>
                <a:cs typeface="Inter"/>
                <a:sym typeface="Inter"/>
              </a:rPr>
              <a:t> Renders native GPU textures (OpenGL/Vulkan) directly into the Flutter scene composite, completely bypassing the CPU and Dart heap.</a:t>
            </a:r>
            <a:endParaRPr/>
          </a:p>
        </p:txBody>
      </p:sp>
      <p:pic>
        <p:nvPicPr>
          <p:cNvPr id="225" name="Google Shape;225;p23" descr="image.png"/>
          <p:cNvPicPr preferRelativeResize="0"/>
          <p:nvPr/>
        </p:nvPicPr>
        <p:blipFill rotWithShape="1">
          <a:blip r:embed="rId4">
            <a:alphaModFix/>
          </a:blip>
          <a:srcRect/>
          <a:stretch/>
        </p:blipFill>
        <p:spPr>
          <a:xfrm>
            <a:off x="581025" y="2843212"/>
            <a:ext cx="228600" cy="247650"/>
          </a:xfrm>
          <a:prstGeom prst="rect">
            <a:avLst/>
          </a:prstGeom>
          <a:noFill/>
          <a:ln>
            <a:noFill/>
          </a:ln>
        </p:spPr>
      </p:pic>
      <p:pic>
        <p:nvPicPr>
          <p:cNvPr id="226" name="Google Shape;226;p23" descr="image.png"/>
          <p:cNvPicPr preferRelativeResize="0"/>
          <p:nvPr/>
        </p:nvPicPr>
        <p:blipFill rotWithShape="1">
          <a:blip r:embed="rId5">
            <a:alphaModFix/>
          </a:blip>
          <a:srcRect/>
          <a:stretch/>
        </p:blipFill>
        <p:spPr>
          <a:xfrm>
            <a:off x="581025" y="3690937"/>
            <a:ext cx="200025" cy="247650"/>
          </a:xfrm>
          <a:prstGeom prst="rect">
            <a:avLst/>
          </a:prstGeom>
          <a:noFill/>
          <a:ln>
            <a:noFill/>
          </a:ln>
        </p:spPr>
      </p:pic>
      <p:pic>
        <p:nvPicPr>
          <p:cNvPr id="227" name="Google Shape;227;p23" descr="image.png"/>
          <p:cNvPicPr preferRelativeResize="0"/>
          <p:nvPr/>
        </p:nvPicPr>
        <p:blipFill rotWithShape="1">
          <a:blip r:embed="rId6">
            <a:alphaModFix/>
          </a:blip>
          <a:srcRect/>
          <a:stretch/>
        </p:blipFill>
        <p:spPr>
          <a:xfrm>
            <a:off x="581025" y="4529137"/>
            <a:ext cx="257175" cy="247650"/>
          </a:xfrm>
          <a:prstGeom prst="rect">
            <a:avLst/>
          </a:prstGeom>
          <a:noFill/>
          <a:ln>
            <a:noFill/>
          </a:ln>
        </p:spPr>
      </p:pic>
      <p:sp>
        <p:nvSpPr>
          <p:cNvPr id="228" name="Google Shape;228;p23"/>
          <p:cNvSpPr txBox="1"/>
          <p:nvPr/>
        </p:nvSpPr>
        <p:spPr>
          <a:xfrm>
            <a:off x="581025" y="581025"/>
            <a:ext cx="11581447"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Inter"/>
                <a:ea typeface="Inter"/>
                <a:cs typeface="Inter"/>
                <a:sym typeface="Inter"/>
              </a:rPr>
              <a:t>Zero-Copy Optimization Patterns</a:t>
            </a:r>
            <a:endParaRPr/>
          </a:p>
        </p:txBody>
      </p:sp>
      <p:sp>
        <p:nvSpPr>
          <p:cNvPr id="229" name="Google Shape;229;p23"/>
          <p:cNvSpPr/>
          <p:nvPr/>
        </p:nvSpPr>
        <p:spPr>
          <a:xfrm>
            <a:off x="581025" y="13335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pic>
        <p:nvPicPr>
          <p:cNvPr id="234" name="Google Shape;234;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235" name="Google Shape;235;p24"/>
          <p:cNvGraphicFramePr/>
          <p:nvPr/>
        </p:nvGraphicFramePr>
        <p:xfrm>
          <a:off x="581025" y="2247007"/>
          <a:ext cx="11029950" cy="3507000"/>
        </p:xfrm>
        <a:graphic>
          <a:graphicData uri="http://schemas.openxmlformats.org/drawingml/2006/table">
            <a:tbl>
              <a:tblPr firstRow="1" bandRow="1">
                <a:noFill/>
              </a:tblPr>
              <a:tblGrid>
                <a:gridCol w="2847825">
                  <a:extLst>
                    <a:ext uri="{9D8B030D-6E8A-4147-A177-3AD203B41FA5}">
                      <a16:colId xmlns:a16="http://schemas.microsoft.com/office/drawing/2014/main" val="20000"/>
                    </a:ext>
                  </a:extLst>
                </a:gridCol>
                <a:gridCol w="4271825">
                  <a:extLst>
                    <a:ext uri="{9D8B030D-6E8A-4147-A177-3AD203B41FA5}">
                      <a16:colId xmlns:a16="http://schemas.microsoft.com/office/drawing/2014/main" val="20001"/>
                    </a:ext>
                  </a:extLst>
                </a:gridCol>
                <a:gridCol w="3910300">
                  <a:extLst>
                    <a:ext uri="{9D8B030D-6E8A-4147-A177-3AD203B41FA5}">
                      <a16:colId xmlns:a16="http://schemas.microsoft.com/office/drawing/2014/main" val="20002"/>
                    </a:ext>
                  </a:extLst>
                </a:gridCol>
              </a:tblGrid>
              <a:tr h="701400">
                <a:tc>
                  <a:txBody>
                    <a:bodyPr/>
                    <a:lstStyle/>
                    <a:p>
                      <a:pPr marL="0" marR="0" lvl="0" indent="0" algn="l" rtl="0">
                        <a:spcBef>
                          <a:spcPts val="0"/>
                        </a:spcBef>
                        <a:spcAft>
                          <a:spcPts val="0"/>
                        </a:spcAft>
                        <a:buNone/>
                      </a:pPr>
                      <a:r>
                        <a:rPr lang="en-US" sz="1650" b="1" i="0" u="none" strike="noStrike" cap="none">
                          <a:solidFill>
                            <a:srgbClr val="F8FAFC"/>
                          </a:solidFill>
                          <a:latin typeface="Inter"/>
                          <a:ea typeface="Inter"/>
                          <a:cs typeface="Inter"/>
                          <a:sym typeface="Inter"/>
                        </a:rPr>
                        <a:t>Feature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1" i="0" u="none" strike="noStrike" cap="none">
                          <a:solidFill>
                            <a:srgbClr val="F8FAFC"/>
                          </a:solidFill>
                          <a:latin typeface="Inter"/>
                          <a:ea typeface="Inter"/>
                          <a:cs typeface="Inter"/>
                          <a:sym typeface="Inter"/>
                        </a:rPr>
                        <a:t>Platform Channels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50" b="1" i="0" u="none" strike="noStrike" cap="none">
                          <a:solidFill>
                            <a:srgbClr val="F8FAFC"/>
                          </a:solidFill>
                          <a:latin typeface="Inter"/>
                          <a:ea typeface="Inter"/>
                          <a:cs typeface="Inter"/>
                          <a:sym typeface="Inter"/>
                        </a:rPr>
                        <a:t>Dart FFI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701400">
                <a:tc>
                  <a:txBody>
                    <a:bodyPr/>
                    <a:lstStyle/>
                    <a:p>
                      <a:pPr marL="0" marR="0" lvl="0" indent="0" algn="l" rtl="0">
                        <a:spcBef>
                          <a:spcPts val="0"/>
                        </a:spcBef>
                        <a:spcAft>
                          <a:spcPts val="0"/>
                        </a:spcAft>
                        <a:buNone/>
                      </a:pPr>
                      <a:r>
                        <a:rPr lang="en-US" sz="1500" b="0" i="0" u="none" strike="noStrike" cap="none">
                          <a:solidFill>
                            <a:srgbClr val="94A3B8"/>
                          </a:solidFill>
                          <a:latin typeface="Inter"/>
                          <a:ea typeface="Inter"/>
                          <a:cs typeface="Inter"/>
                          <a:sym typeface="Inter"/>
                        </a:rPr>
                        <a:t>Communication Style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Inter"/>
                          <a:ea typeface="Inter"/>
                          <a:cs typeface="Inter"/>
                          <a:sym typeface="Inter"/>
                        </a:rPr>
                        <a:t>Asynchronous (Message Passing)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ADE80"/>
                          </a:solidFill>
                          <a:latin typeface="Inter SemiBold"/>
                          <a:ea typeface="Inter SemiBold"/>
                          <a:cs typeface="Inter SemiBold"/>
                          <a:sym typeface="Inter SemiBold"/>
                        </a:rPr>
                        <a:t>Synchronous (Direct 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701400">
                <a:tc>
                  <a:txBody>
                    <a:bodyPr/>
                    <a:lstStyle/>
                    <a:p>
                      <a:pPr marL="0" marR="0" lvl="0" indent="0" algn="l" rtl="0">
                        <a:spcBef>
                          <a:spcPts val="0"/>
                        </a:spcBef>
                        <a:spcAft>
                          <a:spcPts val="0"/>
                        </a:spcAft>
                        <a:buNone/>
                      </a:pPr>
                      <a:r>
                        <a:rPr lang="en-US" sz="1500" b="0" i="0" u="none" strike="noStrike" cap="none">
                          <a:solidFill>
                            <a:srgbClr val="94A3B8"/>
                          </a:solidFill>
                          <a:latin typeface="Inter"/>
                          <a:ea typeface="Inter"/>
                          <a:cs typeface="Inter"/>
                          <a:sym typeface="Inter"/>
                        </a:rPr>
                        <a:t>Latency (Per 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Inter"/>
                          <a:ea typeface="Inter"/>
                          <a:cs typeface="Inter"/>
                          <a:sym typeface="Inter"/>
                        </a:rPr>
                        <a:t>High (~0.5ms - 2.0ms)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ADE80"/>
                          </a:solidFill>
                          <a:latin typeface="Inter SemiBold"/>
                          <a:ea typeface="Inter SemiBold"/>
                          <a:cs typeface="Inter SemiBold"/>
                          <a:sym typeface="Inter SemiBold"/>
                        </a:rPr>
                        <a:t>Negligible (~10ns - 100ns)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701400">
                <a:tc>
                  <a:txBody>
                    <a:bodyPr/>
                    <a:lstStyle/>
                    <a:p>
                      <a:pPr marL="0" marR="0" lvl="0" indent="0" algn="l" rtl="0">
                        <a:spcBef>
                          <a:spcPts val="0"/>
                        </a:spcBef>
                        <a:spcAft>
                          <a:spcPts val="0"/>
                        </a:spcAft>
                        <a:buNone/>
                      </a:pPr>
                      <a:r>
                        <a:rPr lang="en-US" sz="1500" b="0" i="0" u="none" strike="noStrike" cap="none">
                          <a:solidFill>
                            <a:srgbClr val="94A3B8"/>
                          </a:solidFill>
                          <a:latin typeface="Inter"/>
                          <a:ea typeface="Inter"/>
                          <a:cs typeface="Inter"/>
                          <a:sym typeface="Inter"/>
                        </a:rPr>
                        <a:t>Data Transfer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Inter"/>
                          <a:ea typeface="Inter"/>
                          <a:cs typeface="Inter"/>
                          <a:sym typeface="Inter"/>
                        </a:rPr>
                        <a:t>Copy-by-Value (Serialized)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ADE80"/>
                          </a:solidFill>
                          <a:latin typeface="Inter SemiBold"/>
                          <a:ea typeface="Inter SemiBold"/>
                          <a:cs typeface="Inter SemiBold"/>
                          <a:sym typeface="Inter SemiBold"/>
                        </a:rPr>
                        <a:t>Shared Memory (Pointer View)</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701400">
                <a:tc>
                  <a:txBody>
                    <a:bodyPr/>
                    <a:lstStyle/>
                    <a:p>
                      <a:pPr marL="0" marR="0" lvl="0" indent="0" algn="l" rtl="0">
                        <a:spcBef>
                          <a:spcPts val="0"/>
                        </a:spcBef>
                        <a:spcAft>
                          <a:spcPts val="0"/>
                        </a:spcAft>
                        <a:buNone/>
                      </a:pPr>
                      <a:r>
                        <a:rPr lang="en-US" sz="1500" b="0" i="0" u="none" strike="noStrike" cap="none">
                          <a:solidFill>
                            <a:srgbClr val="94A3B8"/>
                          </a:solidFill>
                          <a:latin typeface="Inter"/>
                          <a:ea typeface="Inter"/>
                          <a:cs typeface="Inter"/>
                          <a:sym typeface="Inter"/>
                        </a:rPr>
                        <a:t>Threading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Inter"/>
                          <a:ea typeface="Inter"/>
                          <a:cs typeface="Inter"/>
                          <a:sym typeface="Inter"/>
                        </a:rPr>
                        <a:t>Context Switch (UI ↔ Platform)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ADE80"/>
                          </a:solidFill>
                          <a:latin typeface="Inter SemiBold"/>
                          <a:ea typeface="Inter SemiBold"/>
                          <a:cs typeface="Inter SemiBold"/>
                          <a:sym typeface="Inter SemiBold"/>
                        </a:rPr>
                        <a:t>Same Thread (Runs on Caller)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36" name="Google Shape;236;p24"/>
          <p:cNvSpPr/>
          <p:nvPr/>
        </p:nvSpPr>
        <p:spPr>
          <a:xfrm>
            <a:off x="581025" y="2963167"/>
            <a:ext cx="2847826"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7" name="Google Shape;237;p24"/>
          <p:cNvSpPr/>
          <p:nvPr/>
        </p:nvSpPr>
        <p:spPr>
          <a:xfrm>
            <a:off x="3428851" y="2963167"/>
            <a:ext cx="4271813"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8" name="Google Shape;238;p24"/>
          <p:cNvSpPr/>
          <p:nvPr/>
        </p:nvSpPr>
        <p:spPr>
          <a:xfrm>
            <a:off x="7700664" y="2963167"/>
            <a:ext cx="3910310" cy="1905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9" name="Google Shape;239;p24"/>
          <p:cNvSpPr/>
          <p:nvPr/>
        </p:nvSpPr>
        <p:spPr>
          <a:xfrm>
            <a:off x="581025" y="3668017"/>
            <a:ext cx="2847826"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0" name="Google Shape;240;p24"/>
          <p:cNvSpPr/>
          <p:nvPr/>
        </p:nvSpPr>
        <p:spPr>
          <a:xfrm>
            <a:off x="3428851" y="3668017"/>
            <a:ext cx="4271813"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1" name="Google Shape;241;p24"/>
          <p:cNvSpPr/>
          <p:nvPr/>
        </p:nvSpPr>
        <p:spPr>
          <a:xfrm>
            <a:off x="7700664" y="3668017"/>
            <a:ext cx="391031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2" name="Google Shape;242;p24"/>
          <p:cNvSpPr/>
          <p:nvPr/>
        </p:nvSpPr>
        <p:spPr>
          <a:xfrm>
            <a:off x="581025" y="4363342"/>
            <a:ext cx="2847826"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3" name="Google Shape;243;p24"/>
          <p:cNvSpPr/>
          <p:nvPr/>
        </p:nvSpPr>
        <p:spPr>
          <a:xfrm>
            <a:off x="3428851" y="4363342"/>
            <a:ext cx="4271813"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4" name="Google Shape;244;p24"/>
          <p:cNvSpPr/>
          <p:nvPr/>
        </p:nvSpPr>
        <p:spPr>
          <a:xfrm>
            <a:off x="7700664" y="4363342"/>
            <a:ext cx="391031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5" name="Google Shape;245;p24"/>
          <p:cNvSpPr/>
          <p:nvPr/>
        </p:nvSpPr>
        <p:spPr>
          <a:xfrm>
            <a:off x="581025" y="5058667"/>
            <a:ext cx="2847826"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6" name="Google Shape;246;p24"/>
          <p:cNvSpPr/>
          <p:nvPr/>
        </p:nvSpPr>
        <p:spPr>
          <a:xfrm>
            <a:off x="3428851" y="5058667"/>
            <a:ext cx="4271813"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7" name="Google Shape;247;p24"/>
          <p:cNvSpPr/>
          <p:nvPr/>
        </p:nvSpPr>
        <p:spPr>
          <a:xfrm>
            <a:off x="7700664" y="5058667"/>
            <a:ext cx="391031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8" name="Google Shape;248;p24"/>
          <p:cNvSpPr txBox="1"/>
          <p:nvPr/>
        </p:nvSpPr>
        <p:spPr>
          <a:xfrm>
            <a:off x="581025" y="581025"/>
            <a:ext cx="11581447"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Inter"/>
                <a:ea typeface="Inter"/>
                <a:cs typeface="Inter"/>
                <a:sym typeface="Inter"/>
              </a:rPr>
              <a:t>Comparative Analysis</a:t>
            </a:r>
            <a:endParaRPr/>
          </a:p>
        </p:txBody>
      </p:sp>
      <p:sp>
        <p:nvSpPr>
          <p:cNvPr id="249" name="Google Shape;249;p24"/>
          <p:cNvSpPr/>
          <p:nvPr/>
        </p:nvSpPr>
        <p:spPr>
          <a:xfrm>
            <a:off x="581025" y="13335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254" name="Google Shape;254;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5" name="Google Shape;255;p25" descr="image.png"/>
          <p:cNvPicPr preferRelativeResize="0"/>
          <p:nvPr/>
        </p:nvPicPr>
        <p:blipFill rotWithShape="1">
          <a:blip r:embed="rId4">
            <a:alphaModFix/>
          </a:blip>
          <a:srcRect/>
          <a:stretch/>
        </p:blipFill>
        <p:spPr>
          <a:xfrm>
            <a:off x="581025" y="1724025"/>
            <a:ext cx="11029950" cy="4552950"/>
          </a:xfrm>
          <a:prstGeom prst="rect">
            <a:avLst/>
          </a:prstGeom>
          <a:noFill/>
          <a:ln>
            <a:noFill/>
          </a:ln>
        </p:spPr>
      </p:pic>
      <p:sp>
        <p:nvSpPr>
          <p:cNvPr id="256" name="Google Shape;256;p25"/>
          <p:cNvSpPr txBox="1"/>
          <p:nvPr/>
        </p:nvSpPr>
        <p:spPr>
          <a:xfrm>
            <a:off x="581025" y="4791075"/>
            <a:ext cx="1102995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1" u="none" strike="noStrike" cap="none">
                <a:solidFill>
                  <a:srgbClr val="64748B"/>
                </a:solidFill>
                <a:latin typeface="Inter"/>
                <a:ea typeface="Inter"/>
                <a:cs typeface="Inter"/>
                <a:sym typeface="Inter"/>
              </a:rPr>
              <a:t>FFI calls are orders of magnitude faster. Channels suffer from tail latency due to main thread blocking.</a:t>
            </a:r>
            <a:endParaRPr/>
          </a:p>
        </p:txBody>
      </p:sp>
      <p:sp>
        <p:nvSpPr>
          <p:cNvPr id="257" name="Google Shape;257;p25"/>
          <p:cNvSpPr txBox="1"/>
          <p:nvPr/>
        </p:nvSpPr>
        <p:spPr>
          <a:xfrm>
            <a:off x="581025" y="581025"/>
            <a:ext cx="11581447"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F8FAFC"/>
                </a:solidFill>
                <a:latin typeface="Inter"/>
                <a:ea typeface="Inter"/>
                <a:cs typeface="Inter"/>
                <a:sym typeface="Inter"/>
              </a:rPr>
              <a:t>Latency Comparison (Approximate)</a:t>
            </a:r>
            <a:endParaRPr/>
          </a:p>
        </p:txBody>
      </p:sp>
      <p:sp>
        <p:nvSpPr>
          <p:cNvPr id="258" name="Google Shape;258;p25"/>
          <p:cNvSpPr/>
          <p:nvPr/>
        </p:nvSpPr>
        <p:spPr>
          <a:xfrm>
            <a:off x="581025" y="13335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pic>
        <p:nvPicPr>
          <p:cNvPr id="263" name="Google Shape;263;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64" name="Google Shape;264;p26" descr="image.png"/>
          <p:cNvPicPr preferRelativeResize="0"/>
          <p:nvPr/>
        </p:nvPicPr>
        <p:blipFill rotWithShape="1">
          <a:blip r:embed="rId4">
            <a:alphaModFix/>
          </a:blip>
          <a:srcRect/>
          <a:stretch/>
        </p:blipFill>
        <p:spPr>
          <a:xfrm>
            <a:off x="581025" y="2371725"/>
            <a:ext cx="3422600" cy="3257550"/>
          </a:xfrm>
          <a:prstGeom prst="rect">
            <a:avLst/>
          </a:prstGeom>
          <a:noFill/>
          <a:ln>
            <a:noFill/>
          </a:ln>
        </p:spPr>
      </p:pic>
      <p:pic>
        <p:nvPicPr>
          <p:cNvPr id="265" name="Google Shape;265;p26" descr="image.png"/>
          <p:cNvPicPr preferRelativeResize="0"/>
          <p:nvPr/>
        </p:nvPicPr>
        <p:blipFill rotWithShape="1">
          <a:blip r:embed="rId5">
            <a:alphaModFix/>
          </a:blip>
          <a:srcRect/>
          <a:stretch/>
        </p:blipFill>
        <p:spPr>
          <a:xfrm>
            <a:off x="4384625" y="2371725"/>
            <a:ext cx="3422600" cy="3257550"/>
          </a:xfrm>
          <a:prstGeom prst="rect">
            <a:avLst/>
          </a:prstGeom>
          <a:noFill/>
          <a:ln>
            <a:noFill/>
          </a:ln>
        </p:spPr>
      </p:pic>
      <p:pic>
        <p:nvPicPr>
          <p:cNvPr id="266" name="Google Shape;266;p26" descr="image.png"/>
          <p:cNvPicPr preferRelativeResize="0"/>
          <p:nvPr/>
        </p:nvPicPr>
        <p:blipFill rotWithShape="1">
          <a:blip r:embed="rId6">
            <a:alphaModFix/>
          </a:blip>
          <a:srcRect/>
          <a:stretch/>
        </p:blipFill>
        <p:spPr>
          <a:xfrm>
            <a:off x="8188225" y="2371725"/>
            <a:ext cx="3422600" cy="3257550"/>
          </a:xfrm>
          <a:prstGeom prst="rect">
            <a:avLst/>
          </a:prstGeom>
          <a:noFill/>
          <a:ln>
            <a:noFill/>
          </a:ln>
        </p:spPr>
      </p:pic>
      <p:sp>
        <p:nvSpPr>
          <p:cNvPr id="267" name="Google Shape;267;p26"/>
          <p:cNvSpPr txBox="1"/>
          <p:nvPr/>
        </p:nvSpPr>
        <p:spPr>
          <a:xfrm>
            <a:off x="876300" y="2667000"/>
            <a:ext cx="2832050" cy="762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6000" b="1" i="0" u="none" strike="noStrike" cap="none">
                <a:solidFill>
                  <a:srgbClr val="38BDF8"/>
                </a:solidFill>
                <a:latin typeface="Inter"/>
                <a:ea typeface="Inter"/>
                <a:cs typeface="Inter"/>
                <a:sym typeface="Inter"/>
              </a:rPr>
              <a:t>1</a:t>
            </a:r>
            <a:endParaRPr/>
          </a:p>
        </p:txBody>
      </p:sp>
      <p:sp>
        <p:nvSpPr>
          <p:cNvPr id="268" name="Google Shape;268;p26"/>
          <p:cNvSpPr txBox="1"/>
          <p:nvPr/>
        </p:nvSpPr>
        <p:spPr>
          <a:xfrm>
            <a:off x="876300" y="3619500"/>
            <a:ext cx="2832050" cy="1219200"/>
          </a:xfrm>
          <a:prstGeom prst="rect">
            <a:avLst/>
          </a:prstGeom>
          <a:noFill/>
          <a:ln>
            <a:noFill/>
          </a:ln>
        </p:spPr>
        <p:txBody>
          <a:bodyPr spcFirstLastPara="1" wrap="square" lIns="0" tIns="0" rIns="0" bIns="0" anchor="t" anchorCtr="0">
            <a:spAutoFit/>
          </a:bodyPr>
          <a:lstStyle/>
          <a:p>
            <a:pPr marL="0" marR="0" lvl="0" indent="0" algn="ctr" rtl="0">
              <a:lnSpc>
                <a:spcPct val="133333"/>
              </a:lnSpc>
              <a:spcBef>
                <a:spcPts val="0"/>
              </a:spcBef>
              <a:spcAft>
                <a:spcPts val="0"/>
              </a:spcAft>
              <a:buNone/>
            </a:pPr>
            <a:r>
              <a:rPr lang="en-US" sz="1500" b="0" i="0" u="none" strike="noStrike" cap="none">
                <a:solidFill>
                  <a:srgbClr val="E2E8F0"/>
                </a:solidFill>
                <a:latin typeface="Inter SemiBold"/>
                <a:ea typeface="Inter SemiBold"/>
                <a:cs typeface="Inter SemiBold"/>
                <a:sym typeface="Inter SemiBold"/>
              </a:rPr>
              <a:t>Channels for Control</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94A3B8"/>
                </a:solidFill>
                <a:latin typeface="Inter"/>
                <a:ea typeface="Inter"/>
                <a:cs typeface="Inter"/>
                <a:sym typeface="Inter"/>
              </a:rPr>
              <a:t> Use for low-frequency, non-blocking intents where ease of use outweighs speed.</a:t>
            </a:r>
            <a:endParaRPr/>
          </a:p>
        </p:txBody>
      </p:sp>
      <p:sp>
        <p:nvSpPr>
          <p:cNvPr id="269" name="Google Shape;269;p26"/>
          <p:cNvSpPr txBox="1"/>
          <p:nvPr/>
        </p:nvSpPr>
        <p:spPr>
          <a:xfrm>
            <a:off x="4679900" y="2667000"/>
            <a:ext cx="2832050" cy="762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6000" b="1" i="0" u="none" strike="noStrike" cap="none">
                <a:solidFill>
                  <a:srgbClr val="38BDF8"/>
                </a:solidFill>
                <a:latin typeface="Inter"/>
                <a:ea typeface="Inter"/>
                <a:cs typeface="Inter"/>
                <a:sym typeface="Inter"/>
              </a:rPr>
              <a:t>2</a:t>
            </a:r>
            <a:endParaRPr/>
          </a:p>
        </p:txBody>
      </p:sp>
      <p:sp>
        <p:nvSpPr>
          <p:cNvPr id="270" name="Google Shape;270;p26"/>
          <p:cNvSpPr txBox="1"/>
          <p:nvPr/>
        </p:nvSpPr>
        <p:spPr>
          <a:xfrm>
            <a:off x="4679900" y="3619500"/>
            <a:ext cx="2832050" cy="1219200"/>
          </a:xfrm>
          <a:prstGeom prst="rect">
            <a:avLst/>
          </a:prstGeom>
          <a:noFill/>
          <a:ln>
            <a:noFill/>
          </a:ln>
        </p:spPr>
        <p:txBody>
          <a:bodyPr spcFirstLastPara="1" wrap="square" lIns="0" tIns="0" rIns="0" bIns="0" anchor="t" anchorCtr="0">
            <a:spAutoFit/>
          </a:bodyPr>
          <a:lstStyle/>
          <a:p>
            <a:pPr marL="0" marR="0" lvl="0" indent="0" algn="ctr" rtl="0">
              <a:lnSpc>
                <a:spcPct val="133333"/>
              </a:lnSpc>
              <a:spcBef>
                <a:spcPts val="0"/>
              </a:spcBef>
              <a:spcAft>
                <a:spcPts val="0"/>
              </a:spcAft>
              <a:buNone/>
            </a:pPr>
            <a:r>
              <a:rPr lang="en-US" sz="1500" b="0" i="0" u="none" strike="noStrike" cap="none">
                <a:solidFill>
                  <a:srgbClr val="E2E8F0"/>
                </a:solidFill>
                <a:latin typeface="Inter SemiBold"/>
                <a:ea typeface="Inter SemiBold"/>
                <a:cs typeface="Inter SemiBold"/>
                <a:sym typeface="Inter SemiBold"/>
              </a:rPr>
              <a:t>FFI for Compute</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94A3B8"/>
                </a:solidFill>
                <a:latin typeface="Inter"/>
                <a:ea typeface="Inter"/>
                <a:cs typeface="Inter"/>
                <a:sym typeface="Inter"/>
              </a:rPr>
              <a:t> Mandatory for high-frequency data paths (Audio, ML) to avoid frame drops.</a:t>
            </a:r>
            <a:endParaRPr/>
          </a:p>
        </p:txBody>
      </p:sp>
      <p:sp>
        <p:nvSpPr>
          <p:cNvPr id="271" name="Google Shape;271;p26"/>
          <p:cNvSpPr txBox="1"/>
          <p:nvPr/>
        </p:nvSpPr>
        <p:spPr>
          <a:xfrm>
            <a:off x="8483500" y="2667000"/>
            <a:ext cx="2832050" cy="7620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6000" b="1" i="0" u="none" strike="noStrike" cap="none">
                <a:solidFill>
                  <a:srgbClr val="38BDF8"/>
                </a:solidFill>
                <a:latin typeface="Inter"/>
                <a:ea typeface="Inter"/>
                <a:cs typeface="Inter"/>
                <a:sym typeface="Inter"/>
              </a:rPr>
              <a:t>3</a:t>
            </a:r>
            <a:endParaRPr/>
          </a:p>
        </p:txBody>
      </p:sp>
      <p:sp>
        <p:nvSpPr>
          <p:cNvPr id="272" name="Google Shape;272;p26"/>
          <p:cNvSpPr txBox="1"/>
          <p:nvPr/>
        </p:nvSpPr>
        <p:spPr>
          <a:xfrm>
            <a:off x="8483500" y="3619500"/>
            <a:ext cx="2832050" cy="1524000"/>
          </a:xfrm>
          <a:prstGeom prst="rect">
            <a:avLst/>
          </a:prstGeom>
          <a:noFill/>
          <a:ln>
            <a:noFill/>
          </a:ln>
        </p:spPr>
        <p:txBody>
          <a:bodyPr spcFirstLastPara="1" wrap="square" lIns="0" tIns="0" rIns="0" bIns="0" anchor="t" anchorCtr="0">
            <a:spAutoFit/>
          </a:bodyPr>
          <a:lstStyle/>
          <a:p>
            <a:pPr marL="0" marR="0" lvl="0" indent="0" algn="ctr" rtl="0">
              <a:lnSpc>
                <a:spcPct val="133333"/>
              </a:lnSpc>
              <a:spcBef>
                <a:spcPts val="0"/>
              </a:spcBef>
              <a:spcAft>
                <a:spcPts val="0"/>
              </a:spcAft>
              <a:buNone/>
            </a:pPr>
            <a:r>
              <a:rPr lang="en-US" sz="1500" b="0" i="0" u="none" strike="noStrike" cap="none">
                <a:solidFill>
                  <a:srgbClr val="E2E8F0"/>
                </a:solidFill>
                <a:latin typeface="Inter SemiBold"/>
                <a:ea typeface="Inter SemiBold"/>
                <a:cs typeface="Inter SemiBold"/>
                <a:sym typeface="Inter SemiBold"/>
              </a:rPr>
              <a:t>Zero-Copy</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94A3B8"/>
                </a:solidFill>
                <a:latin typeface="Inter"/>
                <a:ea typeface="Inter"/>
                <a:cs typeface="Inter"/>
                <a:sym typeface="Inter"/>
              </a:rPr>
              <a:t> Essential for large buffers. Use pointers and ownership transfer to avoid bus saturation.</a:t>
            </a:r>
            <a:endParaRPr/>
          </a:p>
        </p:txBody>
      </p:sp>
      <p:sp>
        <p:nvSpPr>
          <p:cNvPr id="273" name="Google Shape;273;p26"/>
          <p:cNvSpPr txBox="1"/>
          <p:nvPr/>
        </p:nvSpPr>
        <p:spPr>
          <a:xfrm>
            <a:off x="581025" y="581025"/>
            <a:ext cx="11581447"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F8FAFC"/>
                </a:solidFill>
                <a:latin typeface="Inter"/>
                <a:ea typeface="Inter"/>
                <a:cs typeface="Inter"/>
                <a:sym typeface="Inter"/>
              </a:rPr>
              <a:t>Summary</a:t>
            </a:r>
            <a:endParaRPr dirty="0"/>
          </a:p>
        </p:txBody>
      </p:sp>
      <p:sp>
        <p:nvSpPr>
          <p:cNvPr id="274" name="Google Shape;274;p26"/>
          <p:cNvSpPr/>
          <p:nvPr/>
        </p:nvSpPr>
        <p:spPr>
          <a:xfrm>
            <a:off x="581025" y="1333500"/>
            <a:ext cx="11029950" cy="9525"/>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1797</Words>
  <Application>Microsoft Macintosh PowerPoint</Application>
  <PresentationFormat>Widescreen</PresentationFormat>
  <Paragraphs>164</Paragraphs>
  <Slides>29</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Urbanist</vt:lpstr>
      <vt:lpstr>Calibri</vt:lpstr>
      <vt:lpstr>Inter</vt:lpstr>
      <vt:lpstr>Urbanist Light</vt:lpstr>
      <vt:lpstr>Inter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Stefan Dinu Rusu | Tazz, IT</cp:lastModifiedBy>
  <cp:revision>8</cp:revision>
  <dcterms:modified xsi:type="dcterms:W3CDTF">2025-12-12T06:24:04Z</dcterms:modified>
</cp:coreProperties>
</file>