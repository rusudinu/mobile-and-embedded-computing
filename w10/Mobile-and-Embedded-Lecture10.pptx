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embeddedFontLst>
    <p:embeddedFont>
      <p:font typeface="Inter" panose="02000503000000020004" pitchFamily="2" charset="0"/>
      <p:regular r:id="rId19"/>
      <p:bold r:id="rId20"/>
      <p:italic r:id="rId21"/>
      <p:boldItalic r:id="rId22"/>
    </p:embeddedFont>
    <p:embeddedFont>
      <p:font typeface="JetBrains Mono" panose="02000009000000000000" pitchFamily="49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9EC1418-80E4-4D0E-8E05-970B81C7DF05}">
  <a:tblStyle styleId="{79EC1418-80E4-4D0E-8E05-970B81C7DF0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293304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1295697"/>
            <a:ext cx="6588792" cy="2681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 Architect’s Definitive Guide to Offline-First Flutter Applications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458592"/>
            <a:ext cx="627504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Architectural Patterns, Synchronization Strategies, and Technical Trade-offs</a:t>
            </a:r>
            <a:endParaRPr dirty="0"/>
          </a:p>
        </p:txBody>
      </p:sp>
      <p:pic>
        <p:nvPicPr>
          <p:cNvPr id="89" name="Google Shape;89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7565" y="2242839"/>
            <a:ext cx="4183409" cy="237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919287"/>
            <a:ext cx="5229225" cy="416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Executive Summary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24526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Paradigm Shift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81025" y="2919412"/>
            <a:ext cx="52292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 mobile development has shifted from an "online-first" assumption to an </a:t>
            </a:r>
            <a:r>
              <a:rPr lang="en-US" sz="15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"offline-first" requirement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An offline-first architecture is not a feature; it is a fundamental structural commitment that inverts the traditional client-server relationship.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81025" y="46339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local device becomes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primary authority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the UI, while the network serves merely as a background synchronization utility.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772275" y="2309812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Core Dichotomy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058025" y="2824162"/>
            <a:ext cx="41624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Firebase Ecosystem: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Offers rapid development with a cohesive but opaque synchronization engine. Best for prototyping and simple data models.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058025" y="4329112"/>
            <a:ext cx="41624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 SQLite (Enterprise):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Provides granular control over data consistency, query performance, and schema evolution. Best for complex, mission-critical applications.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284321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72275" y="434816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24025"/>
            <a:ext cx="522922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1724025"/>
            <a:ext cx="5229225" cy="460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Theoretical Framework: The Inversion of Truth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2105025"/>
            <a:ext cx="446722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Traditional Model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2667000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Request-Response Cycle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133725"/>
            <a:ext cx="4467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 traditional apps, the UI waits for the server. A user action triggers a network request, and the UI updates only upon a successful response.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962025" y="4238625"/>
            <a:ext cx="4467225" cy="581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1152525" y="4429125"/>
            <a:ext cx="4086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UI = f(Network_Response)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962025" y="4238625"/>
            <a:ext cx="38100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62025" y="5010150"/>
            <a:ext cx="44672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524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 Fragile: Latency breaks UX.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6772275" y="2114550"/>
            <a:ext cx="44481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Offline-First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72275" y="2676525"/>
            <a:ext cx="467058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Inversion of Truth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772275" y="31432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Read Authority: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UI reads exclusively from local persistence, guaranteeing consistent 60fps rendering.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72275" y="4057650"/>
            <a:ext cx="44481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Optimistic Write Authority: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 actions mutate local state immediately. Network requests are background side-effects.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6772275" y="5162550"/>
            <a:ext cx="4448175" cy="581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962775" y="5353050"/>
            <a:ext cx="40671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UI = f(Local_Database)</a:t>
            </a: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6772275" y="5162550"/>
            <a:ext cx="38100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133600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5048250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2143125"/>
            <a:ext cx="2667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828925"/>
            <a:ext cx="34861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2828925"/>
            <a:ext cx="34861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2828925"/>
            <a:ext cx="34861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CAP Theorem in Mobile Context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581025" y="1838325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Mobile devices operate in a perpetually partitioned state. Therefore, offline-first apps must prioritize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Partition Tolerance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over immediate Consistency.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03910" y="38766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Partition Tolerance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876300" y="43434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system continues to operate despite an arbitrary number of messages being dropped or delayed by the network.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4575810" y="38766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Availability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4648200" y="4343400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request receives a (non-error) response, without the guarantee that it contains the most recent write.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8347710" y="3876675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Consistency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8420100" y="4343400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Sacrificed. We accept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Eventual Consistency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creating the architectural challenge of synchronization and conflict resolution.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38350" y="3171825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24550" y="3171825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2150" y="3171825"/>
            <a:ext cx="5715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Synchronization Topologies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58" name="Google Shape;158;p17"/>
          <p:cNvGraphicFramePr/>
          <p:nvPr>
            <p:extLst>
              <p:ext uri="{D42A27DB-BD31-4B8C-83A1-F6EECF244321}">
                <p14:modId xmlns:p14="http://schemas.microsoft.com/office/powerpoint/2010/main" val="592908017"/>
              </p:ext>
            </p:extLst>
          </p:nvPr>
        </p:nvGraphicFramePr>
        <p:xfrm>
          <a:off x="581025" y="1895475"/>
          <a:ext cx="11029950" cy="3314700"/>
        </p:xfrm>
        <a:graphic>
          <a:graphicData uri="http://schemas.openxmlformats.org/drawingml/2006/table">
            <a:tbl>
              <a:tblPr firstRow="1" bandRow="1">
                <a:noFill/>
                <a:tableStyleId>{79EC1418-80E4-4D0E-8E05-970B81C7DF05}</a:tableStyleId>
              </a:tblPr>
              <a:tblGrid>
                <a:gridCol w="167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5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2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Topology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Mechanism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Latency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Battery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Ideal Use Case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Push-Based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WebSockets (e.g., Firebase, GraphQL Subscriptions)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(Keep-alive)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Chat, Live Tracking, Collaborative Editing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Pull-Based (Polling)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Fixed Interval Requests (REST GET)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(Radio wake-ups)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Non-critical updates, Legacy backends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Hybrid (Delta Sync)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Request "changes since X" on trigger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Moderate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Enterprise Data, Inventory, Social Feeds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9" name="Google Shape;159;p17"/>
          <p:cNvSpPr txBox="1"/>
          <p:nvPr/>
        </p:nvSpPr>
        <p:spPr>
          <a:xfrm>
            <a:off x="581025" y="549592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choice between Firebase and SQLite is largely a choice between a managed </a:t>
            </a:r>
            <a:r>
              <a:rPr lang="en-US" sz="1500" b="1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Push-Based</a:t>
            </a: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topology and a developer-constructed </a:t>
            </a:r>
            <a:r>
              <a:rPr lang="en-US" sz="1500" b="1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Hybrid</a:t>
            </a:r>
            <a:r>
              <a:rPr lang="en-US" sz="1500" b="0" i="1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topology.</a:t>
            </a:r>
            <a:endParaRPr/>
          </a:p>
        </p:txBody>
      </p:sp>
      <p:sp>
        <p:nvSpPr>
          <p:cNvPr id="160" name="Google Shape;160;p17"/>
          <p:cNvSpPr/>
          <p:nvPr/>
        </p:nvSpPr>
        <p:spPr>
          <a:xfrm>
            <a:off x="581025" y="2476500"/>
            <a:ext cx="1679674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2260699" y="2476500"/>
            <a:ext cx="3545234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5805933" y="2476500"/>
            <a:ext cx="1162050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6967983" y="2476500"/>
            <a:ext cx="1737866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8705850" y="2476500"/>
            <a:ext cx="2905125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81025" y="3395662"/>
            <a:ext cx="16796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7"/>
          <p:cNvSpPr/>
          <p:nvPr/>
        </p:nvSpPr>
        <p:spPr>
          <a:xfrm>
            <a:off x="2260699" y="3395662"/>
            <a:ext cx="35452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5805933" y="3395662"/>
            <a:ext cx="1162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6967983" y="3395662"/>
            <a:ext cx="1737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8705850" y="3395662"/>
            <a:ext cx="29051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581025" y="4300537"/>
            <a:ext cx="167967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2260699" y="4300537"/>
            <a:ext cx="354523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5805933" y="4300537"/>
            <a:ext cx="1162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6967983" y="4300537"/>
            <a:ext cx="173786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8705850" y="4300537"/>
            <a:ext cx="29051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8"/>
          <p:cNvSpPr txBox="1"/>
          <p:nvPr/>
        </p:nvSpPr>
        <p:spPr>
          <a:xfrm>
            <a:off x="581025" y="609600"/>
            <a:ext cx="519064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Approach A: The Firebase Ecosystem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81025" y="211455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Google's Firebase offers an "out-of-the-box" solution by abstracting local storage and synchronization.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81025" y="2914650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Local Cache Mechanism</a:t>
            </a:r>
            <a:endParaRPr/>
          </a:p>
        </p:txBody>
      </p:sp>
      <p:pic>
        <p:nvPicPr>
          <p:cNvPr id="182" name="Google Shape;18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8"/>
          <p:cNvSpPr txBox="1"/>
          <p:nvPr/>
        </p:nvSpPr>
        <p:spPr>
          <a:xfrm>
            <a:off x="866775" y="3381375"/>
            <a:ext cx="46577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Interceptor Pattern: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SDK intercepts queries and inspects the local persistence layer first.</a:t>
            </a:r>
            <a:endParaRPr/>
          </a:p>
        </p:txBody>
      </p:sp>
      <p:sp>
        <p:nvSpPr>
          <p:cNvPr id="184" name="Google Shape;184;p18"/>
          <p:cNvSpPr txBox="1"/>
          <p:nvPr/>
        </p:nvSpPr>
        <p:spPr>
          <a:xfrm>
            <a:off x="866775" y="4133850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Pending Write Queue: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Writes are applied atomically to the local cache and appended to a persistent queue for background syncing.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866775" y="5191125"/>
            <a:ext cx="46577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Latency Compensation: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UI reflects changes instantly via snapshots, bypassing the network stack entirely.</a:t>
            </a:r>
            <a:endParaRPr/>
          </a:p>
        </p:txBody>
      </p:sp>
      <p:pic>
        <p:nvPicPr>
          <p:cNvPr id="186" name="Google Shape;186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40042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1529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21017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Firebase Implementation Details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581025" y="2643187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Handling Data Availability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81025" y="3109912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robust implementation must explicitly handle scenarios where the network is unavailable and fallback to the cache. Standard error handling often misses this nuance.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581025" y="4214812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Configuration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81025" y="4681537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While persistence is enabled by default, cache size management is critical for enterprise apps to prevent the eviction of vital operational data.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724025"/>
            <a:ext cx="53244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24025"/>
            <a:ext cx="5324475" cy="258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4686300"/>
            <a:ext cx="53244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6500" y="4686300"/>
            <a:ext cx="53244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0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Critical Limitations &amp; Risks</a:t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 txBox="1"/>
          <p:nvPr/>
        </p:nvSpPr>
        <p:spPr>
          <a:xfrm>
            <a:off x="876300" y="2019300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Indexing Bottleneck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876300" y="2486025"/>
            <a:ext cx="4733925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Firestore guarantees performance via server-side indexing. However,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local cache lacks these indexes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Offline queries often result in full table scans, causing significant UI jank with large datasets.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581775" y="2019300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48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Billing Anomalies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581775" y="2486025"/>
            <a:ext cx="473392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Syncing after a long offline period can trigger thousands of read operations instantly (one per updated document), leading to unexpected "bill shock."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876300" y="4981575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81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Transactional Integrity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876300" y="5448300"/>
            <a:ext cx="47339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Transactions strictly require online connectivity. Complex business logic involving prerequisite checks cannot be executed atomically while offline.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6581775" y="4981575"/>
            <a:ext cx="497062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14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Opaque Cache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6581775" y="5448300"/>
            <a:ext cx="47339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cache is a "Black Box" managed by LRU (Least Recently Used). Developers cannot "pin" critical documents, risking data eviction before use.</a:t>
            </a:r>
            <a:endParaRPr/>
          </a:p>
        </p:txBody>
      </p:sp>
      <p:pic>
        <p:nvPicPr>
          <p:cNvPr id="236" name="Google Shape;236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76300" y="2047875"/>
            <a:ext cx="261491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2047875"/>
            <a:ext cx="19481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76300" y="5010150"/>
            <a:ext cx="328166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581775" y="5010150"/>
            <a:ext cx="261491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Approach B: Custom SQLite (Enterprise Standard)</a:t>
            </a:r>
            <a:endParaRPr/>
          </a:p>
        </p:txBody>
      </p:sp>
      <p:sp>
        <p:nvSpPr>
          <p:cNvPr id="245" name="Google Shape;245;p21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81025" y="2052637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applications requiring strict data sovereignty or high-performance offline querying, a custom architecture using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Drift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(formerly Moor) is the superior choice.</a:t>
            </a:r>
            <a:endParaRPr/>
          </a:p>
        </p:txBody>
      </p:sp>
      <p:graphicFrame>
        <p:nvGraphicFramePr>
          <p:cNvPr id="247" name="Google Shape;247;p21"/>
          <p:cNvGraphicFramePr/>
          <p:nvPr>
            <p:extLst>
              <p:ext uri="{D42A27DB-BD31-4B8C-83A1-F6EECF244321}">
                <p14:modId xmlns:p14="http://schemas.microsoft.com/office/powerpoint/2010/main" val="755651125"/>
              </p:ext>
            </p:extLst>
          </p:nvPr>
        </p:nvGraphicFramePr>
        <p:xfrm>
          <a:off x="581025" y="2947987"/>
          <a:ext cx="11029950" cy="3000375"/>
        </p:xfrm>
        <a:graphic>
          <a:graphicData uri="http://schemas.openxmlformats.org/drawingml/2006/table">
            <a:tbl>
              <a:tblPr firstRow="1" bandRow="1">
                <a:noFill/>
                <a:tableStyleId>{79EC1418-80E4-4D0E-8E05-970B81C7DF05}</a:tableStyleId>
              </a:tblPr>
              <a:tblGrid>
                <a:gridCol w="2223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Sqflite (Raw)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Drift (Recommended)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Type Safety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 (Dynamic Maps)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Full Compile-time Safety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Reactivity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StreamController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Built-in Streams (watch())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Boilerplate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 (Manual Mapping)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Low (Code Generation)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Migrations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SQL Scripts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Managed Schema Versioning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48" name="Google Shape;248;p21"/>
          <p:cNvSpPr/>
          <p:nvPr/>
        </p:nvSpPr>
        <p:spPr>
          <a:xfrm>
            <a:off x="581025" y="3529012"/>
            <a:ext cx="2223938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1"/>
          <p:cNvSpPr/>
          <p:nvPr/>
        </p:nvSpPr>
        <p:spPr>
          <a:xfrm>
            <a:off x="2804963" y="3529012"/>
            <a:ext cx="4057203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6862167" y="3529012"/>
            <a:ext cx="4748807" cy="190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1"/>
          <p:cNvSpPr/>
          <p:nvPr/>
        </p:nvSpPr>
        <p:spPr>
          <a:xfrm>
            <a:off x="581025" y="4143375"/>
            <a:ext cx="222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2804963" y="4143375"/>
            <a:ext cx="40572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1"/>
          <p:cNvSpPr/>
          <p:nvPr/>
        </p:nvSpPr>
        <p:spPr>
          <a:xfrm>
            <a:off x="6862167" y="4143375"/>
            <a:ext cx="4748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1"/>
          <p:cNvSpPr/>
          <p:nvPr/>
        </p:nvSpPr>
        <p:spPr>
          <a:xfrm>
            <a:off x="581025" y="4743450"/>
            <a:ext cx="222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/>
          <p:nvPr/>
        </p:nvSpPr>
        <p:spPr>
          <a:xfrm>
            <a:off x="2804963" y="4743450"/>
            <a:ext cx="40572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"/>
          <p:cNvSpPr/>
          <p:nvPr/>
        </p:nvSpPr>
        <p:spPr>
          <a:xfrm>
            <a:off x="6862167" y="4743450"/>
            <a:ext cx="4748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1"/>
          <p:cNvSpPr/>
          <p:nvPr/>
        </p:nvSpPr>
        <p:spPr>
          <a:xfrm>
            <a:off x="581025" y="5343525"/>
            <a:ext cx="2223938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1"/>
          <p:cNvSpPr/>
          <p:nvPr/>
        </p:nvSpPr>
        <p:spPr>
          <a:xfrm>
            <a:off x="2804963" y="5343525"/>
            <a:ext cx="405720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6862167" y="5343525"/>
            <a:ext cx="47488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2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Schema Design: The "Tombstone" Pattern</a:t>
            </a:r>
            <a:endParaRPr/>
          </a:p>
        </p:txBody>
      </p:sp>
      <p:sp>
        <p:nvSpPr>
          <p:cNvPr id="265" name="Google Shape;265;p22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581025" y="1971675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Identification Strategy</a:t>
            </a:r>
            <a:endParaRPr/>
          </a:p>
        </p:txBody>
      </p:sp>
      <p:sp>
        <p:nvSpPr>
          <p:cNvPr id="267" name="Google Shape;267;p22"/>
          <p:cNvSpPr txBox="1"/>
          <p:nvPr/>
        </p:nvSpPr>
        <p:spPr>
          <a:xfrm>
            <a:off x="581025" y="2438400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Auto-increment IDs cause collisions in distributed systems.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UUIDs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generated on the client are mandatory.</a:t>
            </a:r>
            <a:endParaRPr/>
          </a:p>
        </p:txBody>
      </p:sp>
      <p:sp>
        <p:nvSpPr>
          <p:cNvPr id="268" name="Google Shape;268;p22"/>
          <p:cNvSpPr txBox="1"/>
          <p:nvPr/>
        </p:nvSpPr>
        <p:spPr>
          <a:xfrm>
            <a:off x="581025" y="3238500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Sync Metadata</a:t>
            </a:r>
            <a:endParaRPr/>
          </a:p>
        </p:txBody>
      </p:sp>
      <p:sp>
        <p:nvSpPr>
          <p:cNvPr id="269" name="Google Shape;269;p22"/>
          <p:cNvSpPr txBox="1"/>
          <p:nvPr/>
        </p:nvSpPr>
        <p:spPr>
          <a:xfrm>
            <a:off x="581025" y="370522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Every table requires tracking columns to manage the sync state:</a:t>
            </a:r>
            <a:endParaRPr/>
          </a:p>
        </p:txBody>
      </p:sp>
      <p:sp>
        <p:nvSpPr>
          <p:cNvPr id="270" name="Google Shape;270;p22"/>
          <p:cNvSpPr txBox="1"/>
          <p:nvPr/>
        </p:nvSpPr>
        <p:spPr>
          <a:xfrm>
            <a:off x="866775" y="431482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updatedAt: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For Last-Write-Wins resolution.</a:t>
            </a:r>
            <a:endParaRPr/>
          </a:p>
        </p:txBody>
      </p:sp>
      <p:sp>
        <p:nvSpPr>
          <p:cNvPr id="271" name="Google Shape;271;p22"/>
          <p:cNvSpPr txBox="1"/>
          <p:nvPr/>
        </p:nvSpPr>
        <p:spPr>
          <a:xfrm>
            <a:off x="866775" y="476250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isDirty: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Flags records needing sync.</a:t>
            </a:r>
            <a:endParaRPr/>
          </a:p>
        </p:txBody>
      </p:sp>
      <p:sp>
        <p:nvSpPr>
          <p:cNvPr id="272" name="Google Shape;272;p22"/>
          <p:cNvSpPr txBox="1"/>
          <p:nvPr/>
        </p:nvSpPr>
        <p:spPr>
          <a:xfrm>
            <a:off x="866775" y="521017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deletedAt: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The "Tombstone". We never physically delete rows; we mark them to ensure the deletion propagates to the server.</a:t>
            </a:r>
            <a:endParaRPr/>
          </a:p>
        </p:txBody>
      </p:sp>
      <p:pic>
        <p:nvPicPr>
          <p:cNvPr id="292" name="Google Shape;29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333875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478155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522922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3657600"/>
            <a:ext cx="4943475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581025" y="581025"/>
            <a:ext cx="5190648" cy="112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Sync Engine: Push Loop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581025" y="2085975"/>
            <a:ext cx="5190648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Outbox Pattern</a:t>
            </a:r>
            <a:endParaRPr/>
          </a:p>
        </p:txBody>
      </p:sp>
      <p:sp>
        <p:nvSpPr>
          <p:cNvPr id="302" name="Google Shape;302;p23"/>
          <p:cNvSpPr txBox="1"/>
          <p:nvPr/>
        </p:nvSpPr>
        <p:spPr>
          <a:xfrm>
            <a:off x="581025" y="2552700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do not call the API immediately upon user action. Instead, we insert a record into a local SyncQueue table.</a:t>
            </a:r>
            <a:endParaRPr/>
          </a:p>
        </p:txBody>
      </p:sp>
      <p:pic>
        <p:nvPicPr>
          <p:cNvPr id="303" name="Google Shape;303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771525" y="384810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Capture Intent: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 saves data -&gt; Insert into DB + Insert into SyncQueue (Atomic Transaction).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771525" y="45529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Process Queue: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Background worker reads FIFO queue.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771525" y="5257800"/>
            <a:ext cx="45624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Execute: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Attempt API call.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771525" y="5657850"/>
            <a:ext cx="45624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Finalize: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200 OK -&gt; Delete Queue Item + Clear isDirty. If Fail -&gt; Retry later.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724025"/>
            <a:ext cx="5229225" cy="463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1724025"/>
            <a:ext cx="5229225" cy="4638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The Sync Engine: Pull Loop (Delta Sync)</a:t>
            </a: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4"/>
          <p:cNvSpPr txBox="1"/>
          <p:nvPr/>
        </p:nvSpPr>
        <p:spPr>
          <a:xfrm>
            <a:off x="962025" y="2105025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317" name="Google Shape;317;p24"/>
          <p:cNvSpPr txBox="1"/>
          <p:nvPr/>
        </p:nvSpPr>
        <p:spPr>
          <a:xfrm>
            <a:off x="962025" y="2571750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Downloading the entire database on every sync is bandwidth-prohibitive and slow.</a:t>
            </a:r>
            <a:endParaRPr/>
          </a:p>
        </p:txBody>
      </p:sp>
      <p:sp>
        <p:nvSpPr>
          <p:cNvPr id="318" name="Google Shape;318;p24"/>
          <p:cNvSpPr txBox="1"/>
          <p:nvPr/>
        </p:nvSpPr>
        <p:spPr>
          <a:xfrm>
            <a:off x="962025" y="3562350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The Solution: Delta Sync</a:t>
            </a:r>
            <a:endParaRPr/>
          </a:p>
        </p:txBody>
      </p:sp>
      <p:sp>
        <p:nvSpPr>
          <p:cNvPr id="319" name="Google Shape;319;p24"/>
          <p:cNvSpPr txBox="1"/>
          <p:nvPr/>
        </p:nvSpPr>
        <p:spPr>
          <a:xfrm>
            <a:off x="962025" y="4029075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client requests only what has changed since the last successful synchronization checkpoint.</a:t>
            </a: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962025" y="4829175"/>
            <a:ext cx="4467225" cy="5810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 txBox="1"/>
          <p:nvPr/>
        </p:nvSpPr>
        <p:spPr>
          <a:xfrm>
            <a:off x="1152525" y="5019675"/>
            <a:ext cx="40862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1F5F9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GET /api/sync?since=2023-10-27T10:00:00Z</a:t>
            </a:r>
            <a:endParaRPr/>
          </a:p>
        </p:txBody>
      </p:sp>
      <p:sp>
        <p:nvSpPr>
          <p:cNvPr id="322" name="Google Shape;322;p24"/>
          <p:cNvSpPr/>
          <p:nvPr/>
        </p:nvSpPr>
        <p:spPr>
          <a:xfrm>
            <a:off x="962025" y="4829175"/>
            <a:ext cx="38100" cy="5810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 txBox="1"/>
          <p:nvPr/>
        </p:nvSpPr>
        <p:spPr>
          <a:xfrm>
            <a:off x="6762750" y="2105025"/>
            <a:ext cx="4690586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Logic Flow</a:t>
            </a:r>
            <a:endParaRPr/>
          </a:p>
        </p:txBody>
      </p:sp>
      <p:sp>
        <p:nvSpPr>
          <p:cNvPr id="324" name="Google Shape;324;p24"/>
          <p:cNvSpPr txBox="1"/>
          <p:nvPr/>
        </p:nvSpPr>
        <p:spPr>
          <a:xfrm>
            <a:off x="6762750" y="2571750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1.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Request: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Client sends last_synced_at timestamp.</a:t>
            </a:r>
            <a:endParaRPr/>
          </a:p>
        </p:txBody>
      </p:sp>
      <p:sp>
        <p:nvSpPr>
          <p:cNvPr id="325" name="Google Shape;325;p24"/>
          <p:cNvSpPr txBox="1"/>
          <p:nvPr/>
        </p:nvSpPr>
        <p:spPr>
          <a:xfrm>
            <a:off x="6762750" y="3324225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2.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Query: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Server finds records where updated_at &gt; timestamp.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6762750" y="4114800"/>
            <a:ext cx="44672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3.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Upsert: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Client iterates response:</a:t>
            </a:r>
            <a:endParaRPr/>
          </a:p>
        </p:txBody>
      </p:sp>
      <p:sp>
        <p:nvSpPr>
          <p:cNvPr id="327" name="Google Shape;327;p24"/>
          <p:cNvSpPr txBox="1"/>
          <p:nvPr/>
        </p:nvSpPr>
        <p:spPr>
          <a:xfrm>
            <a:off x="6762750" y="5372100"/>
            <a:ext cx="44672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4.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Checkpoint: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Update local last_synced_at to server time.</a:t>
            </a:r>
            <a:endParaRPr/>
          </a:p>
        </p:txBody>
      </p:sp>
      <p:sp>
        <p:nvSpPr>
          <p:cNvPr id="328" name="Google Shape;328;p24"/>
          <p:cNvSpPr txBox="1"/>
          <p:nvPr/>
        </p:nvSpPr>
        <p:spPr>
          <a:xfrm>
            <a:off x="7239000" y="4476750"/>
            <a:ext cx="399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If deleted_at is set -&gt; Local Delete.</a:t>
            </a:r>
            <a:endParaRPr/>
          </a:p>
        </p:txBody>
      </p:sp>
      <p:sp>
        <p:nvSpPr>
          <p:cNvPr id="329" name="Google Shape;329;p24"/>
          <p:cNvSpPr txBox="1"/>
          <p:nvPr/>
        </p:nvSpPr>
        <p:spPr>
          <a:xfrm>
            <a:off x="7239000" y="4924425"/>
            <a:ext cx="399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Else -&gt; Insert or Update.</a:t>
            </a:r>
            <a:endParaRPr/>
          </a:p>
        </p:txBody>
      </p:sp>
      <p:pic>
        <p:nvPicPr>
          <p:cNvPr id="330" name="Google Shape;330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4495800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53250" y="4943475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2619375"/>
            <a:ext cx="5372100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619375"/>
            <a:ext cx="5372100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Background Execution with Workmanager</a:t>
            </a:r>
            <a:endParaRPr/>
          </a:p>
        </p:txBody>
      </p:sp>
      <p:sp>
        <p:nvSpPr>
          <p:cNvPr id="339" name="Google Shape;339;p25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5"/>
          <p:cNvSpPr txBox="1"/>
          <p:nvPr/>
        </p:nvSpPr>
        <p:spPr>
          <a:xfrm>
            <a:off x="581025" y="172402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 ensure eventual consistency, synchronization must occur even when the app is closed. The workmanager package bridges the gap to Android WorkManager and iOS BGTaskScheduler.</a:t>
            </a:r>
            <a:endParaRPr/>
          </a:p>
        </p:txBody>
      </p:sp>
      <p:sp>
        <p:nvSpPr>
          <p:cNvPr id="341" name="Google Shape;341;p25"/>
          <p:cNvSpPr txBox="1"/>
          <p:nvPr/>
        </p:nvSpPr>
        <p:spPr>
          <a:xfrm>
            <a:off x="581025" y="5819775"/>
            <a:ext cx="110299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Best Practice: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Workmanager for "best effort" background sync, but </a:t>
            </a:r>
            <a:r>
              <a:rPr lang="en-US" sz="1500" b="0" i="1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always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trigger an immediate sync when the app enters the foreground (didChangeAppLifecycleState).</a:t>
            </a:r>
            <a:endParaRPr/>
          </a:p>
        </p:txBody>
      </p:sp>
      <p:sp>
        <p:nvSpPr>
          <p:cNvPr id="342" name="Google Shape;342;p25"/>
          <p:cNvSpPr/>
          <p:nvPr/>
        </p:nvSpPr>
        <p:spPr>
          <a:xfrm>
            <a:off x="581025" y="5629275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756761" y="3667125"/>
            <a:ext cx="50206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Android</a:t>
            </a:r>
            <a:endParaRPr/>
          </a:p>
        </p:txBody>
      </p:sp>
      <p:sp>
        <p:nvSpPr>
          <p:cNvPr id="344" name="Google Shape;344;p25"/>
          <p:cNvSpPr txBox="1"/>
          <p:nvPr/>
        </p:nvSpPr>
        <p:spPr>
          <a:xfrm>
            <a:off x="876300" y="4133850"/>
            <a:ext cx="47815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Reliable. Periodic tasks can be scheduled with a minimum interval of 15 minutes.</a:t>
            </a:r>
            <a:endParaRPr/>
          </a:p>
        </p:txBody>
      </p:sp>
      <p:sp>
        <p:nvSpPr>
          <p:cNvPr id="345" name="Google Shape;345;p25"/>
          <p:cNvSpPr txBox="1"/>
          <p:nvPr/>
        </p:nvSpPr>
        <p:spPr>
          <a:xfrm>
            <a:off x="6414611" y="3667125"/>
            <a:ext cx="502062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iOS Constraints</a:t>
            </a:r>
            <a:endParaRPr/>
          </a:p>
        </p:txBody>
      </p:sp>
      <p:sp>
        <p:nvSpPr>
          <p:cNvPr id="346" name="Google Shape;346;p25"/>
          <p:cNvSpPr txBox="1"/>
          <p:nvPr/>
        </p:nvSpPr>
        <p:spPr>
          <a:xfrm>
            <a:off x="6534150" y="4133850"/>
            <a:ext cx="47815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Highly restrictive. The OS decides when to run tasks based on user behavior (heuristics). Execution is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not guaranteed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347" name="Google Shape;34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09900" y="29622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753475" y="2962275"/>
            <a:ext cx="3429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866900"/>
            <a:ext cx="3486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2925" y="1866900"/>
            <a:ext cx="348615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4825" y="1866900"/>
            <a:ext cx="348615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6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Conflict Resolution Strategies</a:t>
            </a:r>
            <a:endParaRPr/>
          </a:p>
        </p:txBody>
      </p:sp>
      <p:sp>
        <p:nvSpPr>
          <p:cNvPr id="357" name="Google Shape;357;p26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6"/>
          <p:cNvSpPr txBox="1"/>
          <p:nvPr/>
        </p:nvSpPr>
        <p:spPr>
          <a:xfrm>
            <a:off x="803910" y="2914650"/>
            <a:ext cx="304038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Last Write Wins (LWW)</a:t>
            </a:r>
            <a:endParaRPr/>
          </a:p>
        </p:txBody>
      </p:sp>
      <p:sp>
        <p:nvSpPr>
          <p:cNvPr id="359" name="Google Shape;359;p26"/>
          <p:cNvSpPr txBox="1"/>
          <p:nvPr/>
        </p:nvSpPr>
        <p:spPr>
          <a:xfrm>
            <a:off x="876300" y="370522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if (remote.time &gt; local.time) overwrite.</a:t>
            </a:r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876300" y="4314825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Simple to implement.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876300" y="46196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loss. If User A changes Title and User B changes Body, one entire record is lost.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4575810" y="291465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Semantic Merge</a:t>
            </a:r>
            <a:endParaRPr/>
          </a:p>
        </p:txBody>
      </p:sp>
      <p:sp>
        <p:nvSpPr>
          <p:cNvPr id="363" name="Google Shape;363;p26"/>
          <p:cNvSpPr txBox="1"/>
          <p:nvPr/>
        </p:nvSpPr>
        <p:spPr>
          <a:xfrm>
            <a:off x="4648200" y="33813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Field-level inspection. Apply changes only to modified fields.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4648200" y="4295775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Preserves data integrity.</a:t>
            </a:r>
            <a:endParaRPr/>
          </a:p>
        </p:txBody>
      </p:sp>
      <p:sp>
        <p:nvSpPr>
          <p:cNvPr id="365" name="Google Shape;365;p26"/>
          <p:cNvSpPr txBox="1"/>
          <p:nvPr/>
        </p:nvSpPr>
        <p:spPr>
          <a:xfrm>
            <a:off x="4648200" y="46005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Requires custom business logic per entity.</a:t>
            </a:r>
            <a:endParaRPr/>
          </a:p>
        </p:txBody>
      </p:sp>
      <p:sp>
        <p:nvSpPr>
          <p:cNvPr id="366" name="Google Shape;366;p26"/>
          <p:cNvSpPr txBox="1"/>
          <p:nvPr/>
        </p:nvSpPr>
        <p:spPr>
          <a:xfrm>
            <a:off x="8347710" y="2914650"/>
            <a:ext cx="304038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CRDTs</a:t>
            </a:r>
            <a:endParaRPr/>
          </a:p>
        </p:txBody>
      </p:sp>
      <p:sp>
        <p:nvSpPr>
          <p:cNvPr id="367" name="Google Shape;367;p26"/>
          <p:cNvSpPr txBox="1"/>
          <p:nvPr/>
        </p:nvSpPr>
        <p:spPr>
          <a:xfrm>
            <a:off x="8420100" y="33813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Logic: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Mathematical convergence (Conflict-free Replicated Data Types).</a:t>
            </a:r>
            <a:endParaRPr/>
          </a:p>
        </p:txBody>
      </p:sp>
      <p:sp>
        <p:nvSpPr>
          <p:cNvPr id="368" name="Google Shape;368;p26"/>
          <p:cNvSpPr txBox="1"/>
          <p:nvPr/>
        </p:nvSpPr>
        <p:spPr>
          <a:xfrm>
            <a:off x="8420100" y="4295775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Mathematically guaranteed consistency.</a:t>
            </a:r>
            <a:endParaRPr/>
          </a:p>
        </p:txBody>
      </p:sp>
      <p:sp>
        <p:nvSpPr>
          <p:cNvPr id="369" name="Google Shape;369;p26"/>
          <p:cNvSpPr txBox="1"/>
          <p:nvPr/>
        </p:nvSpPr>
        <p:spPr>
          <a:xfrm>
            <a:off x="8420100" y="49053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storage overhead (operation history) and complexity.</a:t>
            </a:r>
            <a:endParaRPr/>
          </a:p>
        </p:txBody>
      </p:sp>
      <p:pic>
        <p:nvPicPr>
          <p:cNvPr id="370" name="Google Shape;37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95500" y="22098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95975" y="2209800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67875" y="2209800"/>
            <a:ext cx="40005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Architecture Comparison</a:t>
            </a:r>
            <a:endParaRPr/>
          </a:p>
        </p:txBody>
      </p:sp>
      <p:sp>
        <p:nvSpPr>
          <p:cNvPr id="378" name="Google Shape;378;p27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79" name="Google Shape;379;p27"/>
          <p:cNvGraphicFramePr/>
          <p:nvPr>
            <p:extLst>
              <p:ext uri="{D42A27DB-BD31-4B8C-83A1-F6EECF244321}">
                <p14:modId xmlns:p14="http://schemas.microsoft.com/office/powerpoint/2010/main" val="3555137071"/>
              </p:ext>
            </p:extLst>
          </p:nvPr>
        </p:nvGraphicFramePr>
        <p:xfrm>
          <a:off x="581025" y="1762125"/>
          <a:ext cx="11029925" cy="4514850"/>
        </p:xfrm>
        <a:graphic>
          <a:graphicData uri="http://schemas.openxmlformats.org/drawingml/2006/table">
            <a:tbl>
              <a:tblPr firstRow="1" bandRow="1">
                <a:noFill/>
                <a:tableStyleId>{79EC1418-80E4-4D0E-8E05-970B81C7DF05}</a:tableStyleId>
              </a:tblPr>
              <a:tblGrid>
                <a:gridCol w="165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6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Feature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Firebase (Firestore)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 SQLite (Drift)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bg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Implication</a:t>
                      </a:r>
                      <a:endParaRPr dirty="0">
                        <a:solidFill>
                          <a:schemeClr val="bg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Data Topology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NoSQL (Graph)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Relational (SQL)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Drift allows rigorous normalization.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Offline Queries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Restricted (Full Scans)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Unrestricted (Indexed)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Firestore is unsuitable for complex offline reporting.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Transactions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Online Only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Offline Supported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Critical for financial/inventory integrity.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Search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 Offline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FTS5 (Full Text Search)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SQLite allows "Search as you type" offline.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2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 Model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Usage (Reads/Writes)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Fixed (Infrastructure)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Firebase costs can explode with inefficient sync.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1025" y="1985962"/>
            <a:ext cx="5229225" cy="303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33562"/>
            <a:ext cx="5229225" cy="3343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28"/>
          <p:cNvSpPr txBox="1"/>
          <p:nvPr/>
        </p:nvSpPr>
        <p:spPr>
          <a:xfrm>
            <a:off x="581025" y="581025"/>
            <a:ext cx="1158144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Recommendations</a:t>
            </a:r>
            <a:endParaRPr/>
          </a:p>
        </p:txBody>
      </p:sp>
      <p:sp>
        <p:nvSpPr>
          <p:cNvPr id="407" name="Google Shape;407;p28"/>
          <p:cNvSpPr/>
          <p:nvPr/>
        </p:nvSpPr>
        <p:spPr>
          <a:xfrm>
            <a:off x="581025" y="1333500"/>
            <a:ext cx="110299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8"/>
          <p:cNvSpPr txBox="1"/>
          <p:nvPr/>
        </p:nvSpPr>
        <p:spPr>
          <a:xfrm>
            <a:off x="581025" y="5667375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"Third Way":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Middleware solutions like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PowerSync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offer a middle ground, providing SQLite performance with managed sync infrastructure.</a:t>
            </a:r>
            <a:endParaRPr/>
          </a:p>
        </p:txBody>
      </p:sp>
      <p:sp>
        <p:nvSpPr>
          <p:cNvPr id="409" name="Google Shape;409;p28"/>
          <p:cNvSpPr txBox="1"/>
          <p:nvPr/>
        </p:nvSpPr>
        <p:spPr>
          <a:xfrm>
            <a:off x="914400" y="2271712"/>
            <a:ext cx="48406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 Choose Firebase When:</a:t>
            </a:r>
            <a:endParaRPr/>
          </a:p>
        </p:txBody>
      </p:sp>
      <p:sp>
        <p:nvSpPr>
          <p:cNvPr id="410" name="Google Shape;410;p28"/>
          <p:cNvSpPr txBox="1"/>
          <p:nvPr/>
        </p:nvSpPr>
        <p:spPr>
          <a:xfrm>
            <a:off x="6715125" y="2119312"/>
            <a:ext cx="48406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329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Choose Custom SQLite When:</a:t>
            </a:r>
            <a:endParaRPr/>
          </a:p>
        </p:txBody>
      </p:sp>
      <p:pic>
        <p:nvPicPr>
          <p:cNvPr id="411" name="Google Shape;411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300287"/>
            <a:ext cx="25196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8"/>
          <p:cNvSpPr txBox="1"/>
          <p:nvPr/>
        </p:nvSpPr>
        <p:spPr>
          <a:xfrm>
            <a:off x="1200150" y="2786062"/>
            <a:ext cx="4324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Prototyping: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Speed is the primary metric.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1200150" y="3233737"/>
            <a:ext cx="4324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Social Apps: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Simple data relationships; LWW is acceptable.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1200150" y="3986212"/>
            <a:ext cx="4324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Live Collaboration: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Real-time push is a core feature.</a:t>
            </a:r>
            <a:endParaRPr/>
          </a:p>
        </p:txBody>
      </p:sp>
      <p:pic>
        <p:nvPicPr>
          <p:cNvPr id="415" name="Google Shape;415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15125" y="2147887"/>
            <a:ext cx="232916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28"/>
          <p:cNvSpPr txBox="1"/>
          <p:nvPr/>
        </p:nvSpPr>
        <p:spPr>
          <a:xfrm>
            <a:off x="7000875" y="2633662"/>
            <a:ext cx="4324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Enterprise Field Apps: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Offline for days; complex filtering needed.</a:t>
            </a:r>
            <a:endParaRPr/>
          </a:p>
        </p:txBody>
      </p:sp>
      <p:sp>
        <p:nvSpPr>
          <p:cNvPr id="417" name="Google Shape;417;p28"/>
          <p:cNvSpPr txBox="1"/>
          <p:nvPr/>
        </p:nvSpPr>
        <p:spPr>
          <a:xfrm>
            <a:off x="7000875" y="3386137"/>
            <a:ext cx="4324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Transaction-Critical: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Cannot risk data corruption.</a:t>
            </a:r>
            <a:endParaRPr/>
          </a:p>
        </p:txBody>
      </p:sp>
      <p:sp>
        <p:nvSpPr>
          <p:cNvPr id="418" name="Google Shape;418;p28"/>
          <p:cNvSpPr txBox="1"/>
          <p:nvPr/>
        </p:nvSpPr>
        <p:spPr>
          <a:xfrm>
            <a:off x="7000875" y="4138612"/>
            <a:ext cx="43243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Cost-Sensitive Scaling: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High read volume prohibits per-read billing.</a:t>
            </a:r>
            <a:endParaRPr/>
          </a:p>
        </p:txBody>
      </p:sp>
      <p:pic>
        <p:nvPicPr>
          <p:cNvPr id="419" name="Google Shape;419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0511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25278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400526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265271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3405187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15125" y="4157662"/>
            <a:ext cx="85725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</Words>
  <Application>Microsoft Macintosh PowerPoint</Application>
  <PresentationFormat>Widescreen</PresentationFormat>
  <Paragraphs>170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Inter</vt:lpstr>
      <vt:lpstr>Arial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Stefan Dinu Rusu | Tazz, IT</cp:lastModifiedBy>
  <cp:revision>1</cp:revision>
  <dcterms:modified xsi:type="dcterms:W3CDTF">2025-12-09T17:52:21Z</dcterms:modified>
</cp:coreProperties>
</file>