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9" r:id="rId2"/>
    <p:sldId id="257" r:id="rId3"/>
    <p:sldId id="258" r:id="rId4"/>
    <p:sldId id="261" r:id="rId5"/>
    <p:sldId id="259" r:id="rId6"/>
    <p:sldId id="260" r:id="rId7"/>
    <p:sldId id="266" r:id="rId8"/>
    <p:sldId id="267" r:id="rId9"/>
    <p:sldId id="268" r:id="rId10"/>
    <p:sldId id="269" r:id="rId11"/>
    <p:sldId id="262" r:id="rId12"/>
    <p:sldId id="263" r:id="rId13"/>
    <p:sldId id="264" r:id="rId14"/>
    <p:sldId id="265" r:id="rId15"/>
    <p:sldId id="270" r:id="rId16"/>
    <p:sldId id="276" r:id="rId17"/>
    <p:sldId id="271" r:id="rId18"/>
    <p:sldId id="273" r:id="rId19"/>
    <p:sldId id="274" r:id="rId20"/>
    <p:sldId id="275" r:id="rId21"/>
    <p:sldId id="272" r:id="rId22"/>
    <p:sldId id="344" r:id="rId23"/>
    <p:sldId id="340" r:id="rId24"/>
    <p:sldId id="34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031E9B-D6F3-6E47-9D2D-310E1BC14AAC}" v="19" dt="2025-11-29T15:26:07.8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B455CB-5303-4C5F-AE7B-6AAB1B134EC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E196EB-AF04-4F75-8CF8-34609337C250}">
      <dgm:prSet/>
      <dgm:spPr/>
      <dgm:t>
        <a:bodyPr/>
        <a:lstStyle/>
        <a:p>
          <a:r>
            <a:rPr lang="en-US"/>
            <a:t>Cosine Similarity: Measures orientation. The default for NLP. Ranges from -1 to 1.</a:t>
          </a:r>
        </a:p>
      </dgm:t>
    </dgm:pt>
    <dgm:pt modelId="{1C69C894-A43A-40D3-8784-6F7054A92E8E}" type="parTrans" cxnId="{57D4AEB2-D961-4E3F-97E6-4D38E78D0233}">
      <dgm:prSet/>
      <dgm:spPr/>
      <dgm:t>
        <a:bodyPr/>
        <a:lstStyle/>
        <a:p>
          <a:endParaRPr lang="en-US"/>
        </a:p>
      </dgm:t>
    </dgm:pt>
    <dgm:pt modelId="{C647E94B-3F40-44F4-AE10-7F4C1453D749}" type="sibTrans" cxnId="{57D4AEB2-D961-4E3F-97E6-4D38E78D0233}">
      <dgm:prSet/>
      <dgm:spPr/>
      <dgm:t>
        <a:bodyPr/>
        <a:lstStyle/>
        <a:p>
          <a:endParaRPr lang="en-US"/>
        </a:p>
      </dgm:t>
    </dgm:pt>
    <dgm:pt modelId="{7E309FAA-1547-45A0-9D42-7A9BA5771FBF}">
      <dgm:prSet/>
      <dgm:spPr/>
      <dgm:t>
        <a:bodyPr/>
        <a:lstStyle/>
        <a:p>
          <a:r>
            <a:rPr lang="en-US"/>
            <a:t>Dot Product: Faster. Identical to Cosine if vectors are normalized to unit length.</a:t>
          </a:r>
        </a:p>
      </dgm:t>
    </dgm:pt>
    <dgm:pt modelId="{E8590724-06B9-4AA6-92E6-89162AD9DE18}" type="parTrans" cxnId="{DE83D331-55E5-45CB-96D5-3D0B7F573F89}">
      <dgm:prSet/>
      <dgm:spPr/>
      <dgm:t>
        <a:bodyPr/>
        <a:lstStyle/>
        <a:p>
          <a:endParaRPr lang="en-US"/>
        </a:p>
      </dgm:t>
    </dgm:pt>
    <dgm:pt modelId="{AF554938-1838-4AD9-B00A-7434AB7707BA}" type="sibTrans" cxnId="{DE83D331-55E5-45CB-96D5-3D0B7F573F89}">
      <dgm:prSet/>
      <dgm:spPr/>
      <dgm:t>
        <a:bodyPr/>
        <a:lstStyle/>
        <a:p>
          <a:endParaRPr lang="en-US"/>
        </a:p>
      </dgm:t>
    </dgm:pt>
    <dgm:pt modelId="{DC548294-A3AB-485A-8294-18B1EEA2D0D5}">
      <dgm:prSet/>
      <dgm:spPr/>
      <dgm:t>
        <a:bodyPr/>
        <a:lstStyle/>
        <a:p>
          <a:r>
            <a:rPr lang="en-US"/>
            <a:t>L2 Norm: Euclidean distance. Sensitive to magnitude; less common for text.</a:t>
          </a:r>
        </a:p>
      </dgm:t>
    </dgm:pt>
    <dgm:pt modelId="{5A29CE49-EB0B-4740-B39D-039EABE304F1}" type="parTrans" cxnId="{BBDE1FEA-AA33-4DD3-8FCE-AB5BA54ABF3C}">
      <dgm:prSet/>
      <dgm:spPr/>
      <dgm:t>
        <a:bodyPr/>
        <a:lstStyle/>
        <a:p>
          <a:endParaRPr lang="en-US"/>
        </a:p>
      </dgm:t>
    </dgm:pt>
    <dgm:pt modelId="{CBB89099-214F-42E0-AABD-EDC912008858}" type="sibTrans" cxnId="{BBDE1FEA-AA33-4DD3-8FCE-AB5BA54ABF3C}">
      <dgm:prSet/>
      <dgm:spPr/>
      <dgm:t>
        <a:bodyPr/>
        <a:lstStyle/>
        <a:p>
          <a:endParaRPr lang="en-US"/>
        </a:p>
      </dgm:t>
    </dgm:pt>
    <dgm:pt modelId="{BBCAA1F9-FB3B-D340-84D6-71D2707B1B3E}" type="pres">
      <dgm:prSet presAssocID="{9CB455CB-5303-4C5F-AE7B-6AAB1B134ECD}" presName="linear" presStyleCnt="0">
        <dgm:presLayoutVars>
          <dgm:animLvl val="lvl"/>
          <dgm:resizeHandles val="exact"/>
        </dgm:presLayoutVars>
      </dgm:prSet>
      <dgm:spPr/>
    </dgm:pt>
    <dgm:pt modelId="{2CDB46FC-0F2D-3440-9EE8-D4161E4CD87A}" type="pres">
      <dgm:prSet presAssocID="{D4E196EB-AF04-4F75-8CF8-34609337C25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0935EDA-A6ED-7045-B108-74B8067D2D67}" type="pres">
      <dgm:prSet presAssocID="{C647E94B-3F40-44F4-AE10-7F4C1453D749}" presName="spacer" presStyleCnt="0"/>
      <dgm:spPr/>
    </dgm:pt>
    <dgm:pt modelId="{D0E055B8-A5D2-754B-AC51-D643F8FFCF18}" type="pres">
      <dgm:prSet presAssocID="{7E309FAA-1547-45A0-9D42-7A9BA5771FB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B4167DC-4364-794C-895B-7D428561BBF9}" type="pres">
      <dgm:prSet presAssocID="{AF554938-1838-4AD9-B00A-7434AB7707BA}" presName="spacer" presStyleCnt="0"/>
      <dgm:spPr/>
    </dgm:pt>
    <dgm:pt modelId="{B16D869C-14F6-C748-9880-10E793490108}" type="pres">
      <dgm:prSet presAssocID="{DC548294-A3AB-485A-8294-18B1EEA2D0D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7833D11-72C0-8F4D-90A4-E3DA5BC1ABA2}" type="presOf" srcId="{9CB455CB-5303-4C5F-AE7B-6AAB1B134ECD}" destId="{BBCAA1F9-FB3B-D340-84D6-71D2707B1B3E}" srcOrd="0" destOrd="0" presId="urn:microsoft.com/office/officeart/2005/8/layout/vList2"/>
    <dgm:cxn modelId="{E1411322-93D9-DC4D-AF48-712E10B8500A}" type="presOf" srcId="{D4E196EB-AF04-4F75-8CF8-34609337C250}" destId="{2CDB46FC-0F2D-3440-9EE8-D4161E4CD87A}" srcOrd="0" destOrd="0" presId="urn:microsoft.com/office/officeart/2005/8/layout/vList2"/>
    <dgm:cxn modelId="{216EC726-FFC3-4A4A-9325-646A606F4306}" type="presOf" srcId="{DC548294-A3AB-485A-8294-18B1EEA2D0D5}" destId="{B16D869C-14F6-C748-9880-10E793490108}" srcOrd="0" destOrd="0" presId="urn:microsoft.com/office/officeart/2005/8/layout/vList2"/>
    <dgm:cxn modelId="{DE83D331-55E5-45CB-96D5-3D0B7F573F89}" srcId="{9CB455CB-5303-4C5F-AE7B-6AAB1B134ECD}" destId="{7E309FAA-1547-45A0-9D42-7A9BA5771FBF}" srcOrd="1" destOrd="0" parTransId="{E8590724-06B9-4AA6-92E6-89162AD9DE18}" sibTransId="{AF554938-1838-4AD9-B00A-7434AB7707BA}"/>
    <dgm:cxn modelId="{C098F051-F5EC-614B-A1EF-F6EF50FA2D9C}" type="presOf" srcId="{7E309FAA-1547-45A0-9D42-7A9BA5771FBF}" destId="{D0E055B8-A5D2-754B-AC51-D643F8FFCF18}" srcOrd="0" destOrd="0" presId="urn:microsoft.com/office/officeart/2005/8/layout/vList2"/>
    <dgm:cxn modelId="{57D4AEB2-D961-4E3F-97E6-4D38E78D0233}" srcId="{9CB455CB-5303-4C5F-AE7B-6AAB1B134ECD}" destId="{D4E196EB-AF04-4F75-8CF8-34609337C250}" srcOrd="0" destOrd="0" parTransId="{1C69C894-A43A-40D3-8784-6F7054A92E8E}" sibTransId="{C647E94B-3F40-44F4-AE10-7F4C1453D749}"/>
    <dgm:cxn modelId="{BBDE1FEA-AA33-4DD3-8FCE-AB5BA54ABF3C}" srcId="{9CB455CB-5303-4C5F-AE7B-6AAB1B134ECD}" destId="{DC548294-A3AB-485A-8294-18B1EEA2D0D5}" srcOrd="2" destOrd="0" parTransId="{5A29CE49-EB0B-4740-B39D-039EABE304F1}" sibTransId="{CBB89099-214F-42E0-AABD-EDC912008858}"/>
    <dgm:cxn modelId="{8CFDB128-126D-034D-B1CA-F109ECD391F7}" type="presParOf" srcId="{BBCAA1F9-FB3B-D340-84D6-71D2707B1B3E}" destId="{2CDB46FC-0F2D-3440-9EE8-D4161E4CD87A}" srcOrd="0" destOrd="0" presId="urn:microsoft.com/office/officeart/2005/8/layout/vList2"/>
    <dgm:cxn modelId="{3720ADFB-FF18-4943-9945-05E17F6AD58C}" type="presParOf" srcId="{BBCAA1F9-FB3B-D340-84D6-71D2707B1B3E}" destId="{60935EDA-A6ED-7045-B108-74B8067D2D67}" srcOrd="1" destOrd="0" presId="urn:microsoft.com/office/officeart/2005/8/layout/vList2"/>
    <dgm:cxn modelId="{7E022332-235C-B843-A420-8C1C2A43227C}" type="presParOf" srcId="{BBCAA1F9-FB3B-D340-84D6-71D2707B1B3E}" destId="{D0E055B8-A5D2-754B-AC51-D643F8FFCF18}" srcOrd="2" destOrd="0" presId="urn:microsoft.com/office/officeart/2005/8/layout/vList2"/>
    <dgm:cxn modelId="{0AC5C966-17C2-304C-9EA0-91C6AA1B5AE7}" type="presParOf" srcId="{BBCAA1F9-FB3B-D340-84D6-71D2707B1B3E}" destId="{EB4167DC-4364-794C-895B-7D428561BBF9}" srcOrd="3" destOrd="0" presId="urn:microsoft.com/office/officeart/2005/8/layout/vList2"/>
    <dgm:cxn modelId="{46441357-492C-3B47-A911-7E034D5B1738}" type="presParOf" srcId="{BBCAA1F9-FB3B-D340-84D6-71D2707B1B3E}" destId="{B16D869C-14F6-C748-9880-10E79349010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1A3A1A-F55A-4ED2-B980-AEC46881B2B1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F15655A-FFCA-462B-8FB7-706511252B56}">
      <dgm:prSet/>
      <dgm:spPr/>
      <dgm:t>
        <a:bodyPr/>
        <a:lstStyle/>
        <a:p>
          <a:r>
            <a:rPr lang="en-US"/>
            <a:t>Reciprocal Rank Fusion (RRF)</a:t>
          </a:r>
        </a:p>
      </dgm:t>
    </dgm:pt>
    <dgm:pt modelId="{B7784A92-304B-459B-A3EF-0A365036334F}" type="parTrans" cxnId="{961008D1-4976-4DF0-AFF8-3BDA3DCA1173}">
      <dgm:prSet/>
      <dgm:spPr/>
      <dgm:t>
        <a:bodyPr/>
        <a:lstStyle/>
        <a:p>
          <a:endParaRPr lang="en-US"/>
        </a:p>
      </dgm:t>
    </dgm:pt>
    <dgm:pt modelId="{60832B6E-C011-43F1-9411-8BD69D80FA28}" type="sibTrans" cxnId="{961008D1-4976-4DF0-AFF8-3BDA3DCA1173}">
      <dgm:prSet/>
      <dgm:spPr/>
      <dgm:t>
        <a:bodyPr/>
        <a:lstStyle/>
        <a:p>
          <a:endParaRPr lang="en-US"/>
        </a:p>
      </dgm:t>
    </dgm:pt>
    <dgm:pt modelId="{851418E5-3FA9-4E27-BF19-36F137FDFC91}">
      <dgm:prSet/>
      <dgm:spPr/>
      <dgm:t>
        <a:bodyPr/>
        <a:lstStyle/>
        <a:p>
          <a:r>
            <a:rPr lang="en-US"/>
            <a:t>Hybrid Search runs both queries in parallel:</a:t>
          </a:r>
        </a:p>
      </dgm:t>
    </dgm:pt>
    <dgm:pt modelId="{E1693797-7E53-42A6-8EE2-069AE1C25A12}" type="parTrans" cxnId="{363D22BA-9731-4996-BA89-395CC94E53AF}">
      <dgm:prSet/>
      <dgm:spPr/>
      <dgm:t>
        <a:bodyPr/>
        <a:lstStyle/>
        <a:p>
          <a:endParaRPr lang="en-US"/>
        </a:p>
      </dgm:t>
    </dgm:pt>
    <dgm:pt modelId="{D68543B8-3A57-43AD-81E5-3B9ADE8A7192}" type="sibTrans" cxnId="{363D22BA-9731-4996-BA89-395CC94E53AF}">
      <dgm:prSet/>
      <dgm:spPr/>
      <dgm:t>
        <a:bodyPr/>
        <a:lstStyle/>
        <a:p>
          <a:endParaRPr lang="en-US"/>
        </a:p>
      </dgm:t>
    </dgm:pt>
    <dgm:pt modelId="{1A440E6A-8D23-47C5-9F19-0E5ED2D74D62}">
      <dgm:prSet/>
      <dgm:spPr/>
      <dgm:t>
        <a:bodyPr/>
        <a:lstStyle/>
        <a:p>
          <a:r>
            <a:rPr lang="en-US"/>
            <a:t>Standard BM25 Match</a:t>
          </a:r>
        </a:p>
      </dgm:t>
    </dgm:pt>
    <dgm:pt modelId="{CFA7B6EA-916F-4C4C-A1D9-AC8A63F54669}" type="parTrans" cxnId="{4FA2C685-604A-4B5A-A2AA-358F909FDB81}">
      <dgm:prSet/>
      <dgm:spPr/>
      <dgm:t>
        <a:bodyPr/>
        <a:lstStyle/>
        <a:p>
          <a:endParaRPr lang="en-US"/>
        </a:p>
      </dgm:t>
    </dgm:pt>
    <dgm:pt modelId="{5375EE77-FA92-416C-A32C-9DC94310E274}" type="sibTrans" cxnId="{4FA2C685-604A-4B5A-A2AA-358F909FDB81}">
      <dgm:prSet/>
      <dgm:spPr/>
      <dgm:t>
        <a:bodyPr/>
        <a:lstStyle/>
        <a:p>
          <a:endParaRPr lang="en-US"/>
        </a:p>
      </dgm:t>
    </dgm:pt>
    <dgm:pt modelId="{BA5CAEF6-EAC4-4DC8-91D1-2C272553C2D1}">
      <dgm:prSet/>
      <dgm:spPr/>
      <dgm:t>
        <a:bodyPr/>
        <a:lstStyle/>
        <a:p>
          <a:r>
            <a:rPr lang="en-US"/>
            <a:t>kNN Vector Search</a:t>
          </a:r>
        </a:p>
      </dgm:t>
    </dgm:pt>
    <dgm:pt modelId="{C7C962C1-A20A-49DF-9D32-5B5158EDFF68}" type="parTrans" cxnId="{157C6834-EAAC-4B0E-8A1C-57FD1C614208}">
      <dgm:prSet/>
      <dgm:spPr/>
      <dgm:t>
        <a:bodyPr/>
        <a:lstStyle/>
        <a:p>
          <a:endParaRPr lang="en-US"/>
        </a:p>
      </dgm:t>
    </dgm:pt>
    <dgm:pt modelId="{F4E3E2F4-A7FD-46D4-A4A1-0B09655A4ACA}" type="sibTrans" cxnId="{157C6834-EAAC-4B0E-8A1C-57FD1C614208}">
      <dgm:prSet/>
      <dgm:spPr/>
      <dgm:t>
        <a:bodyPr/>
        <a:lstStyle/>
        <a:p>
          <a:endParaRPr lang="en-US"/>
        </a:p>
      </dgm:t>
    </dgm:pt>
    <dgm:pt modelId="{4B9CF6AA-55A8-4F71-8CCB-8D2051524877}">
      <dgm:prSet/>
      <dgm:spPr/>
      <dgm:t>
        <a:bodyPr/>
        <a:lstStyle/>
        <a:p>
          <a:r>
            <a:rPr lang="en-US"/>
            <a:t>RRF normalizes and combines the scores to rank the final results, ensuring the most relevant documents appear at the top.</a:t>
          </a:r>
          <a:br>
            <a:rPr lang="en-US"/>
          </a:br>
          <a:br>
            <a:rPr lang="en-US"/>
          </a:br>
          <a:br>
            <a:rPr lang="en-US"/>
          </a:br>
          <a:endParaRPr lang="en-US"/>
        </a:p>
      </dgm:t>
    </dgm:pt>
    <dgm:pt modelId="{9E949E1F-6D8E-4885-A35B-C9172231FAEC}" type="parTrans" cxnId="{CA8DC1D6-5BF5-44ED-BDB0-A4BE8DDBED9F}">
      <dgm:prSet/>
      <dgm:spPr/>
      <dgm:t>
        <a:bodyPr/>
        <a:lstStyle/>
        <a:p>
          <a:endParaRPr lang="en-US"/>
        </a:p>
      </dgm:t>
    </dgm:pt>
    <dgm:pt modelId="{D0BB8998-AC42-47DD-B56E-B656A05623EA}" type="sibTrans" cxnId="{CA8DC1D6-5BF5-44ED-BDB0-A4BE8DDBED9F}">
      <dgm:prSet/>
      <dgm:spPr/>
      <dgm:t>
        <a:bodyPr/>
        <a:lstStyle/>
        <a:p>
          <a:endParaRPr lang="en-US"/>
        </a:p>
      </dgm:t>
    </dgm:pt>
    <dgm:pt modelId="{22DA71DA-B386-6F45-AA56-9EC6F9A83460}" type="pres">
      <dgm:prSet presAssocID="{441A3A1A-F55A-4ED2-B980-AEC46881B2B1}" presName="Name0" presStyleCnt="0">
        <dgm:presLayoutVars>
          <dgm:dir/>
          <dgm:animLvl val="lvl"/>
          <dgm:resizeHandles val="exact"/>
        </dgm:presLayoutVars>
      </dgm:prSet>
      <dgm:spPr/>
    </dgm:pt>
    <dgm:pt modelId="{A47F8D08-D00D-EB43-BDBA-46061BE5A6B9}" type="pres">
      <dgm:prSet presAssocID="{4B9CF6AA-55A8-4F71-8CCB-8D2051524877}" presName="boxAndChildren" presStyleCnt="0"/>
      <dgm:spPr/>
    </dgm:pt>
    <dgm:pt modelId="{FF9B4D6A-F73C-1A48-AD19-62D92E85A996}" type="pres">
      <dgm:prSet presAssocID="{4B9CF6AA-55A8-4F71-8CCB-8D2051524877}" presName="parentTextBox" presStyleLbl="node1" presStyleIdx="0" presStyleCnt="3"/>
      <dgm:spPr/>
    </dgm:pt>
    <dgm:pt modelId="{7AF4F37B-E132-DC4D-A1D3-9769B67D907F}" type="pres">
      <dgm:prSet presAssocID="{D68543B8-3A57-43AD-81E5-3B9ADE8A7192}" presName="sp" presStyleCnt="0"/>
      <dgm:spPr/>
    </dgm:pt>
    <dgm:pt modelId="{27E7A4B3-AD71-5742-BA15-FB46A598E611}" type="pres">
      <dgm:prSet presAssocID="{851418E5-3FA9-4E27-BF19-36F137FDFC91}" presName="arrowAndChildren" presStyleCnt="0"/>
      <dgm:spPr/>
    </dgm:pt>
    <dgm:pt modelId="{5F692BCF-AED2-814E-92F2-6AD5D4F6DBC1}" type="pres">
      <dgm:prSet presAssocID="{851418E5-3FA9-4E27-BF19-36F137FDFC91}" presName="parentTextArrow" presStyleLbl="node1" presStyleIdx="0" presStyleCnt="3"/>
      <dgm:spPr/>
    </dgm:pt>
    <dgm:pt modelId="{0E96AAFE-2CA8-C34B-A125-C0CA11A5E628}" type="pres">
      <dgm:prSet presAssocID="{851418E5-3FA9-4E27-BF19-36F137FDFC91}" presName="arrow" presStyleLbl="node1" presStyleIdx="1" presStyleCnt="3"/>
      <dgm:spPr/>
    </dgm:pt>
    <dgm:pt modelId="{D3601F96-17C5-7F49-872D-35E43A88D1BB}" type="pres">
      <dgm:prSet presAssocID="{851418E5-3FA9-4E27-BF19-36F137FDFC91}" presName="descendantArrow" presStyleCnt="0"/>
      <dgm:spPr/>
    </dgm:pt>
    <dgm:pt modelId="{89F18BD0-5E50-214A-81CF-258EFF2DCC12}" type="pres">
      <dgm:prSet presAssocID="{1A440E6A-8D23-47C5-9F19-0E5ED2D74D62}" presName="childTextArrow" presStyleLbl="fgAccFollowNode1" presStyleIdx="0" presStyleCnt="2">
        <dgm:presLayoutVars>
          <dgm:bulletEnabled val="1"/>
        </dgm:presLayoutVars>
      </dgm:prSet>
      <dgm:spPr/>
    </dgm:pt>
    <dgm:pt modelId="{DF7AC50B-F15C-7B4E-A749-3B3E3826EA83}" type="pres">
      <dgm:prSet presAssocID="{BA5CAEF6-EAC4-4DC8-91D1-2C272553C2D1}" presName="childTextArrow" presStyleLbl="fgAccFollowNode1" presStyleIdx="1" presStyleCnt="2">
        <dgm:presLayoutVars>
          <dgm:bulletEnabled val="1"/>
        </dgm:presLayoutVars>
      </dgm:prSet>
      <dgm:spPr/>
    </dgm:pt>
    <dgm:pt modelId="{30A5B81B-2DD1-264D-927C-2F67119E768D}" type="pres">
      <dgm:prSet presAssocID="{60832B6E-C011-43F1-9411-8BD69D80FA28}" presName="sp" presStyleCnt="0"/>
      <dgm:spPr/>
    </dgm:pt>
    <dgm:pt modelId="{E54F42AD-3D7C-7D4C-8268-3CEF1BCF0677}" type="pres">
      <dgm:prSet presAssocID="{4F15655A-FFCA-462B-8FB7-706511252B56}" presName="arrowAndChildren" presStyleCnt="0"/>
      <dgm:spPr/>
    </dgm:pt>
    <dgm:pt modelId="{DA1559CA-F77C-7E45-945F-E7D5276AB3E8}" type="pres">
      <dgm:prSet presAssocID="{4F15655A-FFCA-462B-8FB7-706511252B56}" presName="parentTextArrow" presStyleLbl="node1" presStyleIdx="2" presStyleCnt="3"/>
      <dgm:spPr/>
    </dgm:pt>
  </dgm:ptLst>
  <dgm:cxnLst>
    <dgm:cxn modelId="{3988830A-DAA2-6F4A-B6F2-9DB52F7E6D1C}" type="presOf" srcId="{4F15655A-FFCA-462B-8FB7-706511252B56}" destId="{DA1559CA-F77C-7E45-945F-E7D5276AB3E8}" srcOrd="0" destOrd="0" presId="urn:microsoft.com/office/officeart/2005/8/layout/process4"/>
    <dgm:cxn modelId="{87FFC710-DF38-D34C-A0D2-61243312368B}" type="presOf" srcId="{1A440E6A-8D23-47C5-9F19-0E5ED2D74D62}" destId="{89F18BD0-5E50-214A-81CF-258EFF2DCC12}" srcOrd="0" destOrd="0" presId="urn:microsoft.com/office/officeart/2005/8/layout/process4"/>
    <dgm:cxn modelId="{157C6834-EAAC-4B0E-8A1C-57FD1C614208}" srcId="{851418E5-3FA9-4E27-BF19-36F137FDFC91}" destId="{BA5CAEF6-EAC4-4DC8-91D1-2C272553C2D1}" srcOrd="1" destOrd="0" parTransId="{C7C962C1-A20A-49DF-9D32-5B5158EDFF68}" sibTransId="{F4E3E2F4-A7FD-46D4-A4A1-0B09655A4ACA}"/>
    <dgm:cxn modelId="{4FA2CE50-A400-4845-8DBA-0EE23E507E33}" type="presOf" srcId="{441A3A1A-F55A-4ED2-B980-AEC46881B2B1}" destId="{22DA71DA-B386-6F45-AA56-9EC6F9A83460}" srcOrd="0" destOrd="0" presId="urn:microsoft.com/office/officeart/2005/8/layout/process4"/>
    <dgm:cxn modelId="{54280D63-3D3F-094E-8970-062239A37B77}" type="presOf" srcId="{BA5CAEF6-EAC4-4DC8-91D1-2C272553C2D1}" destId="{DF7AC50B-F15C-7B4E-A749-3B3E3826EA83}" srcOrd="0" destOrd="0" presId="urn:microsoft.com/office/officeart/2005/8/layout/process4"/>
    <dgm:cxn modelId="{3EEB4265-F48F-D141-9B6A-C5A7F0AB00CB}" type="presOf" srcId="{851418E5-3FA9-4E27-BF19-36F137FDFC91}" destId="{0E96AAFE-2CA8-C34B-A125-C0CA11A5E628}" srcOrd="1" destOrd="0" presId="urn:microsoft.com/office/officeart/2005/8/layout/process4"/>
    <dgm:cxn modelId="{4FA2C685-604A-4B5A-A2AA-358F909FDB81}" srcId="{851418E5-3FA9-4E27-BF19-36F137FDFC91}" destId="{1A440E6A-8D23-47C5-9F19-0E5ED2D74D62}" srcOrd="0" destOrd="0" parTransId="{CFA7B6EA-916F-4C4C-A1D9-AC8A63F54669}" sibTransId="{5375EE77-FA92-416C-A32C-9DC94310E274}"/>
    <dgm:cxn modelId="{A0A71CAB-814C-D345-840B-FFA61BE01B61}" type="presOf" srcId="{4B9CF6AA-55A8-4F71-8CCB-8D2051524877}" destId="{FF9B4D6A-F73C-1A48-AD19-62D92E85A996}" srcOrd="0" destOrd="0" presId="urn:microsoft.com/office/officeart/2005/8/layout/process4"/>
    <dgm:cxn modelId="{363D22BA-9731-4996-BA89-395CC94E53AF}" srcId="{441A3A1A-F55A-4ED2-B980-AEC46881B2B1}" destId="{851418E5-3FA9-4E27-BF19-36F137FDFC91}" srcOrd="1" destOrd="0" parTransId="{E1693797-7E53-42A6-8EE2-069AE1C25A12}" sibTransId="{D68543B8-3A57-43AD-81E5-3B9ADE8A7192}"/>
    <dgm:cxn modelId="{961008D1-4976-4DF0-AFF8-3BDA3DCA1173}" srcId="{441A3A1A-F55A-4ED2-B980-AEC46881B2B1}" destId="{4F15655A-FFCA-462B-8FB7-706511252B56}" srcOrd="0" destOrd="0" parTransId="{B7784A92-304B-459B-A3EF-0A365036334F}" sibTransId="{60832B6E-C011-43F1-9411-8BD69D80FA28}"/>
    <dgm:cxn modelId="{CA8DC1D6-5BF5-44ED-BDB0-A4BE8DDBED9F}" srcId="{441A3A1A-F55A-4ED2-B980-AEC46881B2B1}" destId="{4B9CF6AA-55A8-4F71-8CCB-8D2051524877}" srcOrd="2" destOrd="0" parTransId="{9E949E1F-6D8E-4885-A35B-C9172231FAEC}" sibTransId="{D0BB8998-AC42-47DD-B56E-B656A05623EA}"/>
    <dgm:cxn modelId="{347365F3-C01F-9548-A171-FDBBC5B1D482}" type="presOf" srcId="{851418E5-3FA9-4E27-BF19-36F137FDFC91}" destId="{5F692BCF-AED2-814E-92F2-6AD5D4F6DBC1}" srcOrd="0" destOrd="0" presId="urn:microsoft.com/office/officeart/2005/8/layout/process4"/>
    <dgm:cxn modelId="{18391A6A-2FB2-DA4B-B406-8760B594D077}" type="presParOf" srcId="{22DA71DA-B386-6F45-AA56-9EC6F9A83460}" destId="{A47F8D08-D00D-EB43-BDBA-46061BE5A6B9}" srcOrd="0" destOrd="0" presId="urn:microsoft.com/office/officeart/2005/8/layout/process4"/>
    <dgm:cxn modelId="{64EDB018-A2AE-2640-BE69-55CE073F2759}" type="presParOf" srcId="{A47F8D08-D00D-EB43-BDBA-46061BE5A6B9}" destId="{FF9B4D6A-F73C-1A48-AD19-62D92E85A996}" srcOrd="0" destOrd="0" presId="urn:microsoft.com/office/officeart/2005/8/layout/process4"/>
    <dgm:cxn modelId="{15799734-A443-0642-B58A-FD857DFD55E5}" type="presParOf" srcId="{22DA71DA-B386-6F45-AA56-9EC6F9A83460}" destId="{7AF4F37B-E132-DC4D-A1D3-9769B67D907F}" srcOrd="1" destOrd="0" presId="urn:microsoft.com/office/officeart/2005/8/layout/process4"/>
    <dgm:cxn modelId="{E7855232-D094-DF48-8A92-94A6FB12B83B}" type="presParOf" srcId="{22DA71DA-B386-6F45-AA56-9EC6F9A83460}" destId="{27E7A4B3-AD71-5742-BA15-FB46A598E611}" srcOrd="2" destOrd="0" presId="urn:microsoft.com/office/officeart/2005/8/layout/process4"/>
    <dgm:cxn modelId="{CB7E0746-4866-FC48-BE46-217963815656}" type="presParOf" srcId="{27E7A4B3-AD71-5742-BA15-FB46A598E611}" destId="{5F692BCF-AED2-814E-92F2-6AD5D4F6DBC1}" srcOrd="0" destOrd="0" presId="urn:microsoft.com/office/officeart/2005/8/layout/process4"/>
    <dgm:cxn modelId="{4DA19B93-47BC-184B-B997-0835B72058FF}" type="presParOf" srcId="{27E7A4B3-AD71-5742-BA15-FB46A598E611}" destId="{0E96AAFE-2CA8-C34B-A125-C0CA11A5E628}" srcOrd="1" destOrd="0" presId="urn:microsoft.com/office/officeart/2005/8/layout/process4"/>
    <dgm:cxn modelId="{5F53FCDB-AF8D-6F4F-B773-F3DEB9FDA8AF}" type="presParOf" srcId="{27E7A4B3-AD71-5742-BA15-FB46A598E611}" destId="{D3601F96-17C5-7F49-872D-35E43A88D1BB}" srcOrd="2" destOrd="0" presId="urn:microsoft.com/office/officeart/2005/8/layout/process4"/>
    <dgm:cxn modelId="{50D42062-6E83-B146-BE5C-1E7C1C43C192}" type="presParOf" srcId="{D3601F96-17C5-7F49-872D-35E43A88D1BB}" destId="{89F18BD0-5E50-214A-81CF-258EFF2DCC12}" srcOrd="0" destOrd="0" presId="urn:microsoft.com/office/officeart/2005/8/layout/process4"/>
    <dgm:cxn modelId="{4E8EE5C8-B9A1-C544-B790-3AA049FED630}" type="presParOf" srcId="{D3601F96-17C5-7F49-872D-35E43A88D1BB}" destId="{DF7AC50B-F15C-7B4E-A749-3B3E3826EA83}" srcOrd="1" destOrd="0" presId="urn:microsoft.com/office/officeart/2005/8/layout/process4"/>
    <dgm:cxn modelId="{ABD9DA8E-8BA4-5349-9850-37BD4F1D648A}" type="presParOf" srcId="{22DA71DA-B386-6F45-AA56-9EC6F9A83460}" destId="{30A5B81B-2DD1-264D-927C-2F67119E768D}" srcOrd="3" destOrd="0" presId="urn:microsoft.com/office/officeart/2005/8/layout/process4"/>
    <dgm:cxn modelId="{DC1DFC0C-82C7-B447-BFE2-39BD75BBEBA9}" type="presParOf" srcId="{22DA71DA-B386-6F45-AA56-9EC6F9A83460}" destId="{E54F42AD-3D7C-7D4C-8268-3CEF1BCF0677}" srcOrd="4" destOrd="0" presId="urn:microsoft.com/office/officeart/2005/8/layout/process4"/>
    <dgm:cxn modelId="{10983102-2DF1-9444-8DCD-15163F618569}" type="presParOf" srcId="{E54F42AD-3D7C-7D4C-8268-3CEF1BCF0677}" destId="{DA1559CA-F77C-7E45-945F-E7D5276AB3E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DB46FC-0F2D-3440-9EE8-D4161E4CD87A}">
      <dsp:nvSpPr>
        <dsp:cNvPr id="0" name=""/>
        <dsp:cNvSpPr/>
      </dsp:nvSpPr>
      <dsp:spPr>
        <a:xfrm>
          <a:off x="0" y="80644"/>
          <a:ext cx="6666833" cy="170469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Cosine Similarity: Measures orientation. The default for NLP. Ranges from -1 to 1.</a:t>
          </a:r>
        </a:p>
      </dsp:txBody>
      <dsp:txXfrm>
        <a:off x="83216" y="163860"/>
        <a:ext cx="6500401" cy="1538258"/>
      </dsp:txXfrm>
    </dsp:sp>
    <dsp:sp modelId="{D0E055B8-A5D2-754B-AC51-D643F8FFCF18}">
      <dsp:nvSpPr>
        <dsp:cNvPr id="0" name=""/>
        <dsp:cNvSpPr/>
      </dsp:nvSpPr>
      <dsp:spPr>
        <a:xfrm>
          <a:off x="0" y="1874614"/>
          <a:ext cx="6666833" cy="1704690"/>
        </a:xfrm>
        <a:prstGeom prst="round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Dot Product: Faster. Identical to Cosine if vectors are normalized to unit length.</a:t>
          </a:r>
        </a:p>
      </dsp:txBody>
      <dsp:txXfrm>
        <a:off x="83216" y="1957830"/>
        <a:ext cx="6500401" cy="1538258"/>
      </dsp:txXfrm>
    </dsp:sp>
    <dsp:sp modelId="{B16D869C-14F6-C748-9880-10E793490108}">
      <dsp:nvSpPr>
        <dsp:cNvPr id="0" name=""/>
        <dsp:cNvSpPr/>
      </dsp:nvSpPr>
      <dsp:spPr>
        <a:xfrm>
          <a:off x="0" y="3668585"/>
          <a:ext cx="6666833" cy="170469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L2 Norm: Euclidean distance. Sensitive to magnitude; less common for text.</a:t>
          </a:r>
        </a:p>
      </dsp:txBody>
      <dsp:txXfrm>
        <a:off x="83216" y="3751801"/>
        <a:ext cx="6500401" cy="15382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B4D6A-F73C-1A48-AD19-62D92E85A996}">
      <dsp:nvSpPr>
        <dsp:cNvPr id="0" name=""/>
        <dsp:cNvSpPr/>
      </dsp:nvSpPr>
      <dsp:spPr>
        <a:xfrm>
          <a:off x="0" y="4105454"/>
          <a:ext cx="6666833" cy="13475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RRF normalizes and combines the scores to rank the final results, ensuring the most relevant documents appear at the top.</a:t>
          </a:r>
          <a:br>
            <a:rPr lang="en-US" sz="1600" kern="1200"/>
          </a:br>
          <a:br>
            <a:rPr lang="en-US" sz="1600" kern="1200"/>
          </a:br>
          <a:br>
            <a:rPr lang="en-US" sz="1600" kern="1200"/>
          </a:br>
          <a:endParaRPr lang="en-US" sz="1600" kern="1200"/>
        </a:p>
      </dsp:txBody>
      <dsp:txXfrm>
        <a:off x="0" y="4105454"/>
        <a:ext cx="6666833" cy="1347501"/>
      </dsp:txXfrm>
    </dsp:sp>
    <dsp:sp modelId="{0E96AAFE-2CA8-C34B-A125-C0CA11A5E628}">
      <dsp:nvSpPr>
        <dsp:cNvPr id="0" name=""/>
        <dsp:cNvSpPr/>
      </dsp:nvSpPr>
      <dsp:spPr>
        <a:xfrm rot="10800000">
          <a:off x="0" y="2053209"/>
          <a:ext cx="6666833" cy="2072457"/>
        </a:xfrm>
        <a:prstGeom prst="upArrowCallou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Hybrid Search runs both queries in parallel:</a:t>
          </a:r>
        </a:p>
      </dsp:txBody>
      <dsp:txXfrm rot="-10800000">
        <a:off x="0" y="2053209"/>
        <a:ext cx="6666833" cy="727432"/>
      </dsp:txXfrm>
    </dsp:sp>
    <dsp:sp modelId="{89F18BD0-5E50-214A-81CF-258EFF2DCC12}">
      <dsp:nvSpPr>
        <dsp:cNvPr id="0" name=""/>
        <dsp:cNvSpPr/>
      </dsp:nvSpPr>
      <dsp:spPr>
        <a:xfrm>
          <a:off x="0" y="2780641"/>
          <a:ext cx="3333416" cy="61966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Standard BM25 Match</a:t>
          </a:r>
        </a:p>
      </dsp:txBody>
      <dsp:txXfrm>
        <a:off x="0" y="2780641"/>
        <a:ext cx="3333416" cy="619664"/>
      </dsp:txXfrm>
    </dsp:sp>
    <dsp:sp modelId="{DF7AC50B-F15C-7B4E-A749-3B3E3826EA83}">
      <dsp:nvSpPr>
        <dsp:cNvPr id="0" name=""/>
        <dsp:cNvSpPr/>
      </dsp:nvSpPr>
      <dsp:spPr>
        <a:xfrm>
          <a:off x="3333416" y="2780641"/>
          <a:ext cx="3333416" cy="619664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kNN Vector Search</a:t>
          </a:r>
        </a:p>
      </dsp:txBody>
      <dsp:txXfrm>
        <a:off x="3333416" y="2780641"/>
        <a:ext cx="3333416" cy="619664"/>
      </dsp:txXfrm>
    </dsp:sp>
    <dsp:sp modelId="{DA1559CA-F77C-7E45-945F-E7D5276AB3E8}">
      <dsp:nvSpPr>
        <dsp:cNvPr id="0" name=""/>
        <dsp:cNvSpPr/>
      </dsp:nvSpPr>
      <dsp:spPr>
        <a:xfrm rot="10800000">
          <a:off x="0" y="964"/>
          <a:ext cx="6666833" cy="2072457"/>
        </a:xfrm>
        <a:prstGeom prst="upArrowCallou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Reciprocal Rank Fusion (RRF)</a:t>
          </a:r>
        </a:p>
      </dsp:txBody>
      <dsp:txXfrm rot="10800000">
        <a:off x="0" y="964"/>
        <a:ext cx="6666833" cy="13466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5EF2F-D360-A43F-D799-D22458213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B5267-CF62-1618-EFD9-C549E07DA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C49A0-C701-A4EA-A81F-F654B27C4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45F2-5D3A-CD45-97F6-05109639CD82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9A834-CC5D-364B-BE66-A52A4F9F2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08930-956E-26A9-4E09-7C5B0EA99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F5DC-ACDA-224F-8AA2-1EE57D1A3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57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9B6F1-DFE2-FEF8-6D66-193D4F7C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B3D9B-5DA2-E378-8E5B-0D2C8B7C7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7C520-D6E5-C8B0-6BC2-E10EDA734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45F2-5D3A-CD45-97F6-05109639CD82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DA4F1-9301-428E-8B47-0075BBA90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F2D27-03A6-B980-41FA-5D6AD643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F5DC-ACDA-224F-8AA2-1EE57D1A3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4BE39-CE05-ACF2-545C-668B39EDD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CFE34-678A-87EB-0706-12504A84E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11BDC-2DB9-0BBE-9AFB-65C4CAA0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45F2-5D3A-CD45-97F6-05109639CD82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6B847-E375-DDA6-0071-4B1D126E8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BD427-2BA1-1602-6F72-ABAF14CFC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F5DC-ACDA-224F-8AA2-1EE57D1A3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123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5705-0AB3-310C-4B32-07E1C4F7E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752B7-D208-BF21-C1A4-ECA38C71E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3EC06-A6B0-121E-CE01-F0543A826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4BF8D-68D6-C5BD-0007-833637447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45F2-5D3A-CD45-97F6-05109639CD82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7C686-0E47-1950-130B-55A5BE39F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93258-89AF-5371-F337-F2C1B301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F5DC-ACDA-224F-8AA2-1EE57D1A3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0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76132-9E45-6879-FBA8-05CD58C16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5AF4D-185C-FC1A-E7A4-A4607FDC3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ECB50-4E10-E50A-ABD2-772374DE8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4DB43-6279-62E0-055D-513412A4C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78725C-CC1B-5BA0-6A38-8B8673105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9C2F8D-5BB7-442E-1EF1-C705EA5F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45F2-5D3A-CD45-97F6-05109639CD82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52E1CE-78A5-DC3D-B7ED-4CF8E9C7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E51F5C-A720-4A0A-2F13-FB14DE345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F5DC-ACDA-224F-8AA2-1EE57D1A3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585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6373-6E11-C70C-619B-D9BAA73D6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66E15-0B26-44D9-874F-0E032BD50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45F2-5D3A-CD45-97F6-05109639CD82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92992C-C4B3-99F6-411B-6B0B8CDD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93C25-869F-84A5-9011-15240DDD7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F5DC-ACDA-224F-8AA2-1EE57D1A3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66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C2308-C0C2-A627-7262-9551B216A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45F2-5D3A-CD45-97F6-05109639CD82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8D13B1-980F-252F-8330-E555A01B5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C8FBA-0ECE-734F-F9AC-31586AA27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F5DC-ACDA-224F-8AA2-1EE57D1A3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9476-F67B-9E5C-EFBB-B9FB7ACDD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5368D-FB1E-013D-7AFC-EE49DBF74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20CD0-94E7-ED5A-8F00-636F88327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4BC30-EAD5-F37C-957D-16F2CC1B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45F2-5D3A-CD45-97F6-05109639CD82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FCC9B-0D58-C949-1930-8970F540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A2849-361A-F803-B08D-0F5564400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F5DC-ACDA-224F-8AA2-1EE57D1A3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51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D35E-D492-987C-9F5D-44B62E7F6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FF1E13-F864-F043-A7D7-75185888E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14787-EE84-2530-7665-396DA99EB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59C3D-2C51-EB77-F0A0-EB05E6D44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45F2-5D3A-CD45-97F6-05109639CD82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20682-0F1E-924D-74FE-FA1542349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160-6207-FC8F-E6A4-2D69F9B0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F5DC-ACDA-224F-8AA2-1EE57D1A3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83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B1253-2C7B-39D9-A6E0-E97B37F22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D26E1-F319-7ADE-D8C8-F4974E292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7EAA3-CBA2-92E9-00A4-0B242353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45F2-5D3A-CD45-97F6-05109639CD82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26FD2-985B-A7D4-493E-249657E2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2FA9F-873C-889F-5F5B-A331F8EB6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F5DC-ACDA-224F-8AA2-1EE57D1A3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7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0BE7F-D365-D141-F09B-C8F672FBEA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5F5E2-B4B5-6AE1-25DA-C379C727A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6D2CF-2D81-FC39-7791-FA2D7D912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45F2-5D3A-CD45-97F6-05109639CD82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294E0-E43D-0FF5-D632-40BD08511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A6B7F-872D-C9E0-FDDD-092487BDA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F5DC-ACDA-224F-8AA2-1EE57D1A3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02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11347733" y="412667"/>
            <a:ext cx="2009600" cy="20096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" name="Google Shape;126;p17"/>
          <p:cNvSpPr/>
          <p:nvPr/>
        </p:nvSpPr>
        <p:spPr>
          <a:xfrm>
            <a:off x="3223900" y="5834400"/>
            <a:ext cx="1909200" cy="1909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" name="Google Shape;127;p17"/>
          <p:cNvSpPr/>
          <p:nvPr/>
        </p:nvSpPr>
        <p:spPr>
          <a:xfrm>
            <a:off x="-1020433" y="-1456165"/>
            <a:ext cx="2399600" cy="23996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" name="Google Shape;128;p17"/>
          <p:cNvSpPr txBox="1">
            <a:spLocks noGrp="1"/>
          </p:cNvSpPr>
          <p:nvPr>
            <p:ph type="sldNum" idx="12"/>
          </p:nvPr>
        </p:nvSpPr>
        <p:spPr>
          <a:xfrm>
            <a:off x="11296600" y="6217631"/>
            <a:ext cx="731600" cy="4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ctr"/>
            <a:fld id="{00000000-1234-1234-1234-123412341234}" type="slidenum">
              <a:rPr lang="en" smtClean="0"/>
              <a:pPr algn="ctr"/>
              <a:t>‹#›</a:t>
            </a:fld>
            <a:endParaRPr lang="en"/>
          </a:p>
        </p:txBody>
      </p:sp>
      <p:sp>
        <p:nvSpPr>
          <p:cNvPr id="129" name="Google Shape;129;p17"/>
          <p:cNvSpPr txBox="1">
            <a:spLocks noGrp="1"/>
          </p:cNvSpPr>
          <p:nvPr>
            <p:ph type="title"/>
          </p:nvPr>
        </p:nvSpPr>
        <p:spPr>
          <a:xfrm>
            <a:off x="952000" y="864400"/>
            <a:ext cx="10284400" cy="6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 idx="2"/>
          </p:nvPr>
        </p:nvSpPr>
        <p:spPr>
          <a:xfrm>
            <a:off x="1045901" y="4276664"/>
            <a:ext cx="2926400" cy="6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1"/>
          </p:nvPr>
        </p:nvSpPr>
        <p:spPr>
          <a:xfrm>
            <a:off x="1045901" y="4908939"/>
            <a:ext cx="2926400" cy="7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title" idx="3"/>
          </p:nvPr>
        </p:nvSpPr>
        <p:spPr>
          <a:xfrm>
            <a:off x="4632800" y="4276664"/>
            <a:ext cx="2926400" cy="6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subTitle" idx="4"/>
          </p:nvPr>
        </p:nvSpPr>
        <p:spPr>
          <a:xfrm>
            <a:off x="4632800" y="4908939"/>
            <a:ext cx="2926400" cy="7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title" idx="5"/>
          </p:nvPr>
        </p:nvSpPr>
        <p:spPr>
          <a:xfrm>
            <a:off x="8219699" y="4276664"/>
            <a:ext cx="2926400" cy="6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subTitle" idx="6"/>
          </p:nvPr>
        </p:nvSpPr>
        <p:spPr>
          <a:xfrm>
            <a:off x="8219699" y="4908939"/>
            <a:ext cx="2926400" cy="7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757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EE40DF-DEE1-5873-007F-DC48BB1F6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BB601-5ABC-9C9B-F906-9F60D4560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87005-A314-37EA-FD31-B6467642C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4D45F2-5D3A-CD45-97F6-05109639CD82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480A9-DD13-8212-CC73-ED60A57BCD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41E66-0D16-266F-76F9-C37115764D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CF5DC-ACDA-224F-8AA2-1EE57D1A3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026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334E9-2EBD-30E8-839C-CE8BD847E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EC8FE3-DB5D-A26D-13D0-9819AFF53B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algn="ctr"/>
            <a:fld id="{00000000-1234-1234-1234-123412341234}" type="slidenum">
              <a:rPr lang="en" smtClean="0"/>
              <a:pPr algn="ctr"/>
              <a:t>1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B5A4FA-4CE6-78D4-6594-065BD3D1D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123" y="3119600"/>
            <a:ext cx="10435755" cy="618800"/>
          </a:xfrm>
        </p:spPr>
        <p:txBody>
          <a:bodyPr/>
          <a:lstStyle/>
          <a:p>
            <a:pPr algn="ctr">
              <a:buClr>
                <a:schemeClr val="bg1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Retrieval Augmented Generation (RAG)</a:t>
            </a:r>
          </a:p>
        </p:txBody>
      </p:sp>
    </p:spTree>
    <p:extLst>
      <p:ext uri="{BB962C8B-B14F-4D97-AF65-F5344CB8AC3E}">
        <p14:creationId xmlns:p14="http://schemas.microsoft.com/office/powerpoint/2010/main" val="4110719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46" name="Rectangle 104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4" name="Freeform: Shape 105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6F5231-FF4F-9677-4B97-D4AD91C02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Vector Embeddings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B8B88-FAEF-CC31-D0A0-9F91B9649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695" y="649480"/>
            <a:ext cx="7357583" cy="5546047"/>
          </a:xfrm>
        </p:spPr>
        <p:txBody>
          <a:bodyPr anchor="ctr">
            <a:normAutofit/>
          </a:bodyPr>
          <a:lstStyle/>
          <a:p>
            <a:r>
              <a:rPr lang="en-US" dirty="0"/>
              <a:t>Embeddings are high-dimensional dense vectors (arrays of floating-point numbers) that represent data.</a:t>
            </a:r>
          </a:p>
          <a:p>
            <a:r>
              <a:rPr lang="en-US" dirty="0"/>
              <a:t>In this vector space, objects with similar meanings are positioned closer together.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[0.12, -0.45, 0.88, ... 0.05]</a:t>
            </a:r>
          </a:p>
          <a:p>
            <a:r>
              <a:rPr lang="en-US" i="1" dirty="0"/>
              <a:t>Example: The vector for "King" minus "Man" plus "Woman" results in a vector closest to "Queen".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455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F31A5-3C6E-E9CC-F3C5-D45F3EFD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 b="1"/>
              <a:t>How Vector Search Works</a:t>
            </a:r>
            <a:endParaRPr lang="en-US" sz="420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CB0A6-6330-F36D-F98C-7B42501D4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400" b="1"/>
              <a:t>1. Ingestion:</a:t>
            </a:r>
            <a:r>
              <a:rPr lang="en-US" sz="1400"/>
              <a:t> Source data (text, images) is passed through an Embedding Model to generate vectors.</a:t>
            </a:r>
            <a:br>
              <a:rPr lang="en-US" sz="1400"/>
            </a:br>
            <a:endParaRPr lang="en-US" sz="1400"/>
          </a:p>
          <a:p>
            <a:pPr marL="0" indent="0">
              <a:buNone/>
            </a:pPr>
            <a:r>
              <a:rPr lang="en-US" sz="1400" b="1"/>
              <a:t>2. Indexing:</a:t>
            </a:r>
            <a:r>
              <a:rPr lang="en-US" sz="1400"/>
              <a:t> Vectors are stored in Elasticsearch.</a:t>
            </a:r>
            <a:br>
              <a:rPr lang="en-US" sz="1400"/>
            </a:br>
            <a:endParaRPr lang="en-US" sz="1400"/>
          </a:p>
          <a:p>
            <a:pPr marL="0" indent="0">
              <a:buNone/>
            </a:pPr>
            <a:r>
              <a:rPr lang="en-US" sz="1400" b="1"/>
              <a:t>3. Query Time:</a:t>
            </a:r>
            <a:r>
              <a:rPr lang="en-US" sz="1400"/>
              <a:t> The user's query is vectorized using the </a:t>
            </a:r>
            <a:r>
              <a:rPr lang="en-US" sz="1400" i="1"/>
              <a:t>same</a:t>
            </a:r>
            <a:r>
              <a:rPr lang="en-US" sz="1400"/>
              <a:t> model.</a:t>
            </a:r>
            <a:br>
              <a:rPr lang="en-US" sz="1400"/>
            </a:br>
            <a:endParaRPr lang="en-US" sz="1400"/>
          </a:p>
          <a:p>
            <a:pPr marL="0" indent="0">
              <a:buNone/>
            </a:pPr>
            <a:r>
              <a:rPr lang="en-US" sz="1400" b="1"/>
              <a:t>4. Similarity:</a:t>
            </a:r>
            <a:r>
              <a:rPr lang="en-US" sz="1400"/>
              <a:t> Elasticsearch calculates the distance (Cosine, Euclidean, Dot Product) to find the nearest neighbors.</a:t>
            </a:r>
            <a:br>
              <a:rPr lang="en-US" sz="1400"/>
            </a:br>
            <a:br>
              <a:rPr lang="en-US" sz="1400"/>
            </a:br>
            <a:endParaRPr lang="en-US" sz="1400"/>
          </a:p>
        </p:txBody>
      </p:sp>
      <p:pic>
        <p:nvPicPr>
          <p:cNvPr id="5" name="Picture 4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67049129-7E8B-B52C-BFE6-05B1167D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47737"/>
            <a:ext cx="6903720" cy="376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7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0053F0-5602-AF26-ED9F-160D9F8DB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Distance Metrics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CEFE01D3-8ED1-E834-CDF8-68220A161D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78811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1678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6CE0A-D50F-67E8-96E0-849663DB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Search Methods: Exact vs. Approximate</a:t>
            </a:r>
            <a:endParaRPr lang="en-US" sz="4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A9D4CCA-99B9-9A7D-3BE4-F357E9E36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77547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D4270C-E80E-56B5-9AE1-5E110F6E2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207438"/>
              </p:ext>
            </p:extLst>
          </p:nvPr>
        </p:nvGraphicFramePr>
        <p:xfrm>
          <a:off x="320040" y="2794518"/>
          <a:ext cx="11548873" cy="3264264"/>
        </p:xfrm>
        <a:graphic>
          <a:graphicData uri="http://schemas.openxmlformats.org/drawingml/2006/table">
            <a:tbl>
              <a:tblPr firstRow="1" bandRow="1"/>
              <a:tblGrid>
                <a:gridCol w="1762781">
                  <a:extLst>
                    <a:ext uri="{9D8B030D-6E8A-4147-A177-3AD203B41FA5}">
                      <a16:colId xmlns:a16="http://schemas.microsoft.com/office/drawing/2014/main" val="2509285461"/>
                    </a:ext>
                  </a:extLst>
                </a:gridCol>
                <a:gridCol w="4819259">
                  <a:extLst>
                    <a:ext uri="{9D8B030D-6E8A-4147-A177-3AD203B41FA5}">
                      <a16:colId xmlns:a16="http://schemas.microsoft.com/office/drawing/2014/main" val="1856966594"/>
                    </a:ext>
                  </a:extLst>
                </a:gridCol>
                <a:gridCol w="4966833">
                  <a:extLst>
                    <a:ext uri="{9D8B030D-6E8A-4147-A177-3AD203B41FA5}">
                      <a16:colId xmlns:a16="http://schemas.microsoft.com/office/drawing/2014/main" val="2919505142"/>
                    </a:ext>
                  </a:extLst>
                </a:gridCol>
              </a:tblGrid>
              <a:tr h="5440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chemeClr val="bg1"/>
                          </a:solidFill>
                          <a:effectLst/>
                          <a:latin typeface="Urbanist"/>
                        </a:rPr>
                        <a:t>Feature</a:t>
                      </a:r>
                      <a:endParaRPr lang="en-US" sz="3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chemeClr val="bg1"/>
                          </a:solidFill>
                          <a:effectLst/>
                          <a:latin typeface="Urbanist"/>
                        </a:rPr>
                        <a:t>Approximate </a:t>
                      </a:r>
                      <a:r>
                        <a:rPr lang="en-US" sz="25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Urbanist"/>
                        </a:rPr>
                        <a:t>kNN</a:t>
                      </a:r>
                      <a:r>
                        <a:rPr lang="en-US" sz="2500" b="1" i="0" u="none" strike="noStrike" dirty="0">
                          <a:solidFill>
                            <a:schemeClr val="bg1"/>
                          </a:solidFill>
                          <a:effectLst/>
                          <a:latin typeface="Urbanist"/>
                        </a:rPr>
                        <a:t> (</a:t>
                      </a:r>
                      <a:r>
                        <a:rPr lang="en-US" sz="25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Urbanist"/>
                        </a:rPr>
                        <a:t>kNN</a:t>
                      </a:r>
                      <a:r>
                        <a:rPr lang="en-US" sz="2500" b="1" i="0" u="none" strike="noStrike" dirty="0">
                          <a:solidFill>
                            <a:schemeClr val="bg1"/>
                          </a:solidFill>
                          <a:effectLst/>
                          <a:latin typeface="Urbanist"/>
                        </a:rPr>
                        <a:t> Search)</a:t>
                      </a:r>
                      <a:endParaRPr lang="en-US" sz="3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chemeClr val="bg1"/>
                          </a:solidFill>
                          <a:effectLst/>
                          <a:latin typeface="Urbanist"/>
                        </a:rPr>
                        <a:t>Exact </a:t>
                      </a:r>
                      <a:r>
                        <a:rPr lang="en-US" sz="25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Urbanist"/>
                        </a:rPr>
                        <a:t>kNN</a:t>
                      </a:r>
                      <a:r>
                        <a:rPr lang="en-US" sz="2500" b="1" i="0" u="none" strike="noStrike" dirty="0">
                          <a:solidFill>
                            <a:schemeClr val="bg1"/>
                          </a:solidFill>
                          <a:effectLst/>
                          <a:latin typeface="Urbanist"/>
                        </a:rPr>
                        <a:t> (Script Score)</a:t>
                      </a:r>
                      <a:endParaRPr lang="en-US" sz="3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949576"/>
                  </a:ext>
                </a:extLst>
              </a:tr>
              <a:tr h="5440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1" i="0" u="none" strike="noStrike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Algorithm</a:t>
                      </a:r>
                      <a:endParaRPr lang="en-US" sz="3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0" i="0" u="none" strike="noStrike" dirty="0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HNSW (Graph-based)</a:t>
                      </a:r>
                      <a:endParaRPr lang="en-US" sz="3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0" i="0" u="none" strike="noStrike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Brute-force scan</a:t>
                      </a:r>
                      <a:endParaRPr lang="en-US" sz="3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12912"/>
                  </a:ext>
                </a:extLst>
              </a:tr>
              <a:tr h="5440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1" i="0" u="none" strike="noStrike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Speed</a:t>
                      </a:r>
                      <a:endParaRPr lang="en-US" sz="3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0" i="0" u="none" strike="noStrike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Extremely Fast (Scales to millions)</a:t>
                      </a:r>
                      <a:endParaRPr lang="en-US" sz="3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0" i="0" u="none" strike="noStrike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Slow (Linear with document count)</a:t>
                      </a:r>
                      <a:endParaRPr lang="en-US" sz="3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739277"/>
                  </a:ext>
                </a:extLst>
              </a:tr>
              <a:tr h="5440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1" i="0" u="none" strike="noStrike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Accuracy</a:t>
                      </a:r>
                      <a:endParaRPr lang="en-US" sz="3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0" i="0" u="none" strike="noStrike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High (Top-k is approximate)</a:t>
                      </a:r>
                      <a:endParaRPr lang="en-US" sz="3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0" i="0" u="none" strike="noStrike" dirty="0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100% Perfect</a:t>
                      </a:r>
                      <a:endParaRPr lang="en-US" sz="3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425225"/>
                  </a:ext>
                </a:extLst>
              </a:tr>
              <a:tr h="5440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1" i="0" u="none" strike="noStrike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Best For</a:t>
                      </a:r>
                      <a:endParaRPr lang="en-US" sz="3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0" i="0" u="none" strike="noStrike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Large datasets, production search</a:t>
                      </a:r>
                      <a:endParaRPr lang="en-US" sz="3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0" i="0" u="none" strike="noStrike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Small datasets, re-ranking top-N</a:t>
                      </a:r>
                      <a:endParaRPr lang="en-US" sz="3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819726"/>
                  </a:ext>
                </a:extLst>
              </a:tr>
              <a:tr h="5440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1" i="0" u="none" strike="noStrike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Cost</a:t>
                      </a:r>
                      <a:endParaRPr lang="en-US" sz="3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0" i="0" u="none" strike="noStrike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Higher RAM usage</a:t>
                      </a:r>
                      <a:endParaRPr lang="en-US" sz="3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500" b="0" i="0" u="none" strike="noStrike" dirty="0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High CPU usage</a:t>
                      </a:r>
                      <a:endParaRPr lang="en-US" sz="3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3440" marR="113440" marT="48618" marB="4861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973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1222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1221EA-00C1-1D0E-01CE-EBD77FD02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73" y="2279220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</a:rPr>
              <a:t>Hybrid Search: Best of Both Worlds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AE8386-0ECA-1ED1-6546-35D5F6107E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691084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443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4F9E-FD40-1E83-B78E-C8A5B5A7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LMStudio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C37D1-F222-27A0-1809-017FD5013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248" y="2353469"/>
            <a:ext cx="3745375" cy="287369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Desktop application for Windows, macOS, and Linux that allows users to discover, download, and run large language models (LLMs) locally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B21784-EFA2-A972-23F1-97F7FACFB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315077"/>
            <a:ext cx="7772400" cy="495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377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BCD55-17DE-029C-2A20-A236B08B0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404D9-EC6D-0301-E022-BFD3D5D3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LMStudio</a:t>
            </a:r>
            <a:r>
              <a:rPr lang="en-US" dirty="0"/>
              <a:t> – Downloading a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93582D-E0FF-242A-160C-8C3895573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0688"/>
            <a:ext cx="7772400" cy="495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798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13302-FAF7-1CCF-A038-6F4C862EE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0388-A2A9-CC9F-072D-537B13FB5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LMStudio</a:t>
            </a:r>
            <a:r>
              <a:rPr lang="en-US" dirty="0"/>
              <a:t> – Starting the server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EC5651-78A7-1F5C-2E47-D9A0E27C4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171" y="1374040"/>
            <a:ext cx="8345657" cy="53156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80E5A9-2F2D-47E8-4053-70A88F883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416" y="5762545"/>
            <a:ext cx="54102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7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F12D2-A39C-B70F-73DF-2AAB4BD93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47A74-A14B-89A2-0E3C-E34A47C02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LMStudio</a:t>
            </a:r>
            <a:r>
              <a:rPr lang="en-US" dirty="0"/>
              <a:t> – Selecting embedding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C09D93-873A-7418-12CD-3B6B45ED4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42395"/>
            <a:ext cx="7772400" cy="495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78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2626B-9E75-2BE7-207F-9988CD2D7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Creating an index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5F3DB8-6CEC-300B-E9FE-6ED53A20B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9003" y="640080"/>
            <a:ext cx="5425397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24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FC073-6939-3E48-8E54-7C63C3E66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lowchart: Document 2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07E28-9EBB-73EB-3CED-76F276B50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Indexing documents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B20E219A-E1B4-D582-0E4F-5AE1D3AE46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280334"/>
            <a:ext cx="7347537" cy="429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860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C7356-F24D-1677-9E92-DC10A657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708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F13C4C-0F45-6E69-D581-7696EB829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Searching text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21A3C9F-2035-BE6D-8A34-748462C82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7553" y="640080"/>
            <a:ext cx="5188297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641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299904-C07B-F35C-C3E7-546A76C7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6D45B-4A61-8D8D-C3A7-1FF7D6BD4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Generating embeddings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DF3B6FD9-49E7-AED1-92C6-2E012546D2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2162038"/>
            <a:ext cx="7347537" cy="253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70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F3753-4FB8-2D06-DE2B-3B838792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 used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A078EB-AE27-F77C-CAA8-95FF3EAAFD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6113" y="3221933"/>
            <a:ext cx="4432249" cy="8755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342511-9B97-EF05-3831-FA49A6140AFE}"/>
              </a:ext>
            </a:extLst>
          </p:cNvPr>
          <p:cNvSpPr txBox="1"/>
          <p:nvPr/>
        </p:nvSpPr>
        <p:spPr>
          <a:xfrm>
            <a:off x="838200" y="2092732"/>
            <a:ext cx="63728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dirty="0" err="1"/>
              <a:t>openai</a:t>
            </a:r>
            <a:r>
              <a:rPr lang="en-US" sz="2400" dirty="0"/>
              <a:t> library is used to generate vector embeddings from text. It connects to an OpenAI-compatible API (likely a local one, such as </a:t>
            </a:r>
            <a:r>
              <a:rPr lang="en-US" sz="2400" dirty="0" err="1"/>
              <a:t>LMStudio</a:t>
            </a:r>
            <a:r>
              <a:rPr lang="en-US" sz="2400" dirty="0"/>
              <a:t>) to create these embeddings.</a:t>
            </a:r>
          </a:p>
          <a:p>
            <a:endParaRPr lang="en-US" sz="2400" dirty="0"/>
          </a:p>
          <a:p>
            <a:r>
              <a:rPr lang="en-US" sz="2400" dirty="0"/>
              <a:t>The </a:t>
            </a:r>
            <a:r>
              <a:rPr lang="en-US" sz="2400" dirty="0" err="1"/>
              <a:t>elasticsearch</a:t>
            </a:r>
            <a:r>
              <a:rPr lang="en-US" sz="2400" dirty="0"/>
              <a:t> library is used to store and search these vector embeddings. It acts as a vector database, allowing the application to perform semantic searches to find the most relevant documents for a given query.</a:t>
            </a:r>
          </a:p>
        </p:txBody>
      </p:sp>
    </p:spTree>
    <p:extLst>
      <p:ext uri="{BB962C8B-B14F-4D97-AF65-F5344CB8AC3E}">
        <p14:creationId xmlns:p14="http://schemas.microsoft.com/office/powerpoint/2010/main" val="3217862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CCAAE-1B32-9BAA-3DA1-EA33D505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F668C-9759-1451-1E22-904C6AFF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5CA5BB-5E61-8257-CB4D-A8A4A3AFD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A50216-0351-1972-81A6-432C32846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39890"/>
            <a:ext cx="10482168" cy="505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070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AD126-E25B-1B59-085B-A4A00A8DC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dataset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6BFD89-73E8-0BE3-D2C6-723A12773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500" y="1905794"/>
            <a:ext cx="92710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253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6B860-9D12-60C4-CAFB-9DAB292DD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6CAAE-FE86-AAE3-4C46-9CFFD8F8E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Elasticsearch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91E520-BD33-AF75-ABE2-6F9277BE8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1719"/>
            <a:ext cx="10563168" cy="368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32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34D3B-A48F-D7A1-A51F-1433AFCF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78F58-820A-E781-26DC-1B2D1DB54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visualization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D4F848-091C-1A75-2776-90DC66F3B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47" y="1690688"/>
            <a:ext cx="10906353" cy="367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04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63D22-1210-3786-EED1-F46C92920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F79E-DA80-9A56-160C-7E39874F6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50" y="2766218"/>
            <a:ext cx="4046316" cy="1325563"/>
          </a:xfrm>
        </p:spPr>
        <p:txBody>
          <a:bodyPr/>
          <a:lstStyle/>
          <a:p>
            <a:r>
              <a:rPr lang="en-US" dirty="0"/>
              <a:t>One document’s values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36E6E2-367A-B46A-D11E-13432BAE0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422" y="0"/>
            <a:ext cx="64992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952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9107A-0EC9-D37F-3D37-8EC50D1C5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the embeddings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46BC98-E9D1-1CC0-924E-036611832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5170" y="1825625"/>
            <a:ext cx="87816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22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FCE40-8F9E-0D47-C192-DCB81B05A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607ED9-0EE0-B63B-31A9-5FF5C1E8C9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algn="ctr"/>
            <a:fld id="{00000000-1234-1234-1234-123412341234}" type="slidenum">
              <a:rPr lang="en" smtClean="0"/>
              <a:pPr algn="ctr"/>
              <a:t>22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94234F-D950-BB48-9EB2-7F6D67C7C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46" y="3119600"/>
            <a:ext cx="3753884" cy="618800"/>
          </a:xfrm>
        </p:spPr>
        <p:txBody>
          <a:bodyPr/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Diagrams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927A96-FA7E-4313-90F6-AA0AA01B8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562" y="864401"/>
            <a:ext cx="7235439" cy="511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2005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9A570-7549-C9E8-FE88-E24CD511B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9823C1-1BA5-9A0C-4977-28ECBABE0D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algn="ctr"/>
            <a:fld id="{00000000-1234-1234-1234-123412341234}" type="slidenum">
              <a:rPr lang="en" smtClean="0"/>
              <a:pPr algn="ctr"/>
              <a:t>23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AEFEB9-58FD-1E06-385A-D553CF305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398" y="0"/>
            <a:ext cx="6841708" cy="688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60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BCE4D-16E1-BC63-E6CE-812ECFE7F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CBAED0-9B78-25E4-4FE7-E654A5E470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algn="ctr"/>
            <a:fld id="{00000000-1234-1234-1234-123412341234}" type="slidenum">
              <a:rPr lang="en" smtClean="0"/>
              <a:pPr algn="ctr"/>
              <a:t>24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8AFA67-5EF5-7916-518D-8F626D01B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600" y="-18677"/>
            <a:ext cx="6483408" cy="688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906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468</Words>
  <Application>Microsoft Macintosh PowerPoint</Application>
  <PresentationFormat>Widescreen</PresentationFormat>
  <Paragraphs>66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Inter</vt:lpstr>
      <vt:lpstr>Urbanist</vt:lpstr>
      <vt:lpstr>Office Theme</vt:lpstr>
      <vt:lpstr>Retrieval Augmented Generation (RAG)</vt:lpstr>
      <vt:lpstr>Vector Embeddings</vt:lpstr>
      <vt:lpstr>How Vector Search Works</vt:lpstr>
      <vt:lpstr>Distance Metrics</vt:lpstr>
      <vt:lpstr>Search Methods: Exact vs. Approximate</vt:lpstr>
      <vt:lpstr>Hybrid Search: Best of Both Worlds</vt:lpstr>
      <vt:lpstr>LMStudio</vt:lpstr>
      <vt:lpstr>LMStudio – Downloading a model</vt:lpstr>
      <vt:lpstr>LMStudio – Starting the server</vt:lpstr>
      <vt:lpstr>LMStudio – Selecting embedding models</vt:lpstr>
      <vt:lpstr>Creating an index</vt:lpstr>
      <vt:lpstr>Indexing documents</vt:lpstr>
      <vt:lpstr>Searching text</vt:lpstr>
      <vt:lpstr>Generating embeddings</vt:lpstr>
      <vt:lpstr>Libraries used</vt:lpstr>
      <vt:lpstr>Initial dataset</vt:lpstr>
      <vt:lpstr>Embedding dataset</vt:lpstr>
      <vt:lpstr>Elasticsearch Model</vt:lpstr>
      <vt:lpstr>Index visualization</vt:lpstr>
      <vt:lpstr>One document’s values</vt:lpstr>
      <vt:lpstr>Querying the embeddings</vt:lpstr>
      <vt:lpstr>Diagrams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Dinu Rusu | Tazz, IT</dc:creator>
  <cp:lastModifiedBy>Stefan Dinu Rusu | Tazz, IT</cp:lastModifiedBy>
  <cp:revision>3</cp:revision>
  <dcterms:created xsi:type="dcterms:W3CDTF">2025-11-29T10:29:41Z</dcterms:created>
  <dcterms:modified xsi:type="dcterms:W3CDTF">2026-04-23T15:16:58Z</dcterms:modified>
</cp:coreProperties>
</file>