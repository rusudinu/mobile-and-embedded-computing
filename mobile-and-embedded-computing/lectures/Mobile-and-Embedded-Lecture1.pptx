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opportunity: run this loop once in front of the class. The graders look at the repo history: branches, PRs, reviews, and per-student commit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 of magnitude are the point, not exact numbers. A phone has ~10,000x less RAM headroom than a cloud box; an MCU has ~10,000x less than the phone. Numbers are 2026-typical: flagship phones 8–16 GB RAM; ESP32-class MCU: 520 KB SRAM, 4 MB flash, milliwatt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History for the curious: RN's old async 'bridge' serialized JSON between JS and native. It was retired with the new architecture (default since RN 0.76, Oct 2024). CodePush was the classic OTA service; Microsoft retired it in March 2025, Expo EAS Update is the mainstream successor. Flutter: Impeller replaced Skia; since Flutter 3.44 Skia is fully removed on iOS and Android 10+.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nu/dev/upb/mobile-and-embedded-computing/slides/assets/icons2/clou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3572" y="1600200"/>
            <a:ext cx="384048" cy="384048"/>
          </a:xfrm>
          <a:prstGeom prst="rect">
            <a:avLst/>
          </a:prstGeom>
        </p:spPr>
      </p:pic>
      <p:pic>
        <p:nvPicPr>
          <p:cNvPr id="3" name="Image 1" descr="/Users/dinu/dev/upb/mobile-and-embedded-computing/slides/assets/icons2/lapto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1600200"/>
            <a:ext cx="384048" cy="384048"/>
          </a:xfrm>
          <a:prstGeom prst="rect">
            <a:avLst/>
          </a:prstGeom>
        </p:spPr>
      </p:pic>
      <p:pic>
        <p:nvPicPr>
          <p:cNvPr id="4" name="Image 2" descr="/Users/dinu/dev/upb/mobile-and-embedded-computing/slides/assets/icons2/smartphon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1600200"/>
            <a:ext cx="384048" cy="384048"/>
          </a:xfrm>
          <a:prstGeom prst="rect">
            <a:avLst/>
          </a:prstGeom>
        </p:spPr>
      </p:pic>
      <p:pic>
        <p:nvPicPr>
          <p:cNvPr id="5" name="Image 3" descr="/Users/dinu/dev/upb/mobile-and-embedded-computing/slides/assets/icons2/watch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1600200"/>
            <a:ext cx="384048" cy="384048"/>
          </a:xfrm>
          <a:prstGeom prst="rect">
            <a:avLst/>
          </a:prstGeom>
        </p:spPr>
      </p:pic>
      <p:pic>
        <p:nvPicPr>
          <p:cNvPr id="6" name="Image 4" descr="/Users/dinu/dev/upb/mobile-and-embedded-computing/slides/assets/icons2/boar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1600200"/>
            <a:ext cx="384048" cy="384048"/>
          </a:xfrm>
          <a:prstGeom prst="rect">
            <a:avLst/>
          </a:prstGeom>
        </p:spPr>
      </p:pic>
      <p:pic>
        <p:nvPicPr>
          <p:cNvPr id="7" name="Image 5" descr="/Users/dinu/dev/upb/mobile-and-embedded-computing/slides/assets/icons2/cpu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332" y="1600200"/>
            <a:ext cx="384048" cy="38404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31520" y="260604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and Embedded Computing</a:t>
            </a:r>
            <a:endParaRPr lang="en-US" sz="4600" dirty="0"/>
          </a:p>
        </p:txBody>
      </p:sp>
      <p:sp>
        <p:nvSpPr>
          <p:cNvPr id="9" name="Text 1"/>
          <p:cNvSpPr/>
          <p:nvPr/>
        </p:nvSpPr>
        <p:spPr>
          <a:xfrm>
            <a:off x="731520" y="36118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1: Course orientation · Platforms &amp; the device landscape</a:t>
            </a:r>
            <a:endParaRPr lang="en-US" sz="1700" dirty="0"/>
          </a:p>
        </p:txBody>
      </p:sp>
      <p:sp>
        <p:nvSpPr>
          <p:cNvPr id="10" name="Text 2"/>
          <p:cNvSpPr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Dinu-Ștefan Rusu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teaching this course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Dinu-Ștefan Rusu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dinu_stefan.rusu@upb.ro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Teams: course channel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rusudinu.com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67512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apps shipped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32688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 across them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Appeared in, spoken at &amp; partnered with</a:t>
            </a:r>
            <a:endParaRPr lang="en-US" sz="1100" dirty="0"/>
          </a:p>
        </p:txBody>
      </p:sp>
      <p:pic>
        <p:nvPicPr>
          <p:cNvPr id="13" name="Image 0" descr="/Users/dinu/dev/upb/mobile-and-embedded-computing/slides/assets/logo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32477"/>
            <a:ext cx="1047902" cy="319126"/>
          </a:xfrm>
          <a:prstGeom prst="rect">
            <a:avLst/>
          </a:prstGeom>
        </p:spPr>
      </p:pic>
      <p:pic>
        <p:nvPicPr>
          <p:cNvPr id="14" name="Image 1" descr="/Users/dinu/dev/upb/mobile-and-embedded-computing/slides/assets/logo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63" y="4675327"/>
            <a:ext cx="770839" cy="433426"/>
          </a:xfrm>
          <a:prstGeom prst="rect">
            <a:avLst/>
          </a:prstGeom>
        </p:spPr>
      </p:pic>
      <p:pic>
        <p:nvPicPr>
          <p:cNvPr id="15" name="Image 2" descr="/Users/dinu/dev/upb/mobile-and-embedded-computing/slides/assets/logos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503" y="4715104"/>
            <a:ext cx="945490" cy="353873"/>
          </a:xfrm>
          <a:prstGeom prst="rect">
            <a:avLst/>
          </a:prstGeom>
        </p:spPr>
      </p:pic>
      <p:pic>
        <p:nvPicPr>
          <p:cNvPr id="16" name="Image 3" descr="/Users/dinu/dev/upb/mobile-and-embedded-computing/slides/assets/logos/imag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894" y="4716932"/>
            <a:ext cx="1313078" cy="350215"/>
          </a:xfrm>
          <a:prstGeom prst="rect">
            <a:avLst/>
          </a:prstGeom>
        </p:spPr>
      </p:pic>
      <p:pic>
        <p:nvPicPr>
          <p:cNvPr id="17" name="Image 4" descr="/Users/dinu/dev/upb/mobile-and-embedded-computing/slides/assets/logos/image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873" y="4626864"/>
            <a:ext cx="611734" cy="530352"/>
          </a:xfrm>
          <a:prstGeom prst="rect">
            <a:avLst/>
          </a:prstGeom>
        </p:spPr>
      </p:pic>
      <p:pic>
        <p:nvPicPr>
          <p:cNvPr id="18" name="Image 5" descr="/Users/dinu/dev/upb/mobile-and-embedded-computing/slides/assets/logos/image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6508" y="4626864"/>
            <a:ext cx="846734" cy="530352"/>
          </a:xfrm>
          <a:prstGeom prst="rect">
            <a:avLst/>
          </a:prstGeom>
        </p:spPr>
      </p:pic>
      <p:pic>
        <p:nvPicPr>
          <p:cNvPr id="19" name="Image 6" descr="/Users/dinu/dev/upb/mobile-and-embedded-computing/slides/assets/logos/image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8143" y="4767682"/>
            <a:ext cx="1691640" cy="248717"/>
          </a:xfrm>
          <a:prstGeom prst="rect">
            <a:avLst/>
          </a:prstGeom>
        </p:spPr>
      </p:pic>
      <p:pic>
        <p:nvPicPr>
          <p:cNvPr id="20" name="Image 7" descr="/Users/dinu/dev/upb/mobile-and-embedded-computing/slides/assets/logos/image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4684" y="4717847"/>
            <a:ext cx="1321308" cy="348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 lectures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89888" y="167335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mobile &amp; embedded landscape; native vs cross-platform; Git &amp; GitHub   </a:t>
            </a:r>
            <a:pPr indent="0" marL="0">
              <a:buNone/>
            </a:pPr>
            <a:r>
              <a:rPr lang="en-US" sz="1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048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2386584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vs interpreted languages; null safety; Dart &amp; Kotlin; Flutter intro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181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89888" y="3099816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Agent-assisted coding; Flutter widgets; async, isolates vs goroutines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8313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9888" y="381304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Debugging; Stateless vs Stateful; introduction to state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5445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89888" y="4526280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vs client-side execution; serverless vs VPS; Go backends &amp; Firebase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89888" y="523951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&amp; feature flags; GraphQL &amp; REST; observability and Crashlytics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13448" y="167335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Authentication; OAuth providers; Firebase App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24048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13448" y="2386584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WebSockets; runtime permissions; routing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1181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13448" y="3099816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on-device and connecting to LLMs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83133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13448" y="381304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Offline-first: local data, sync and conflict resolution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54456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13448" y="4526280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energy; embedded with TinyGo (sensors → MQTT → your app)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5257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13448" y="523951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gRPC; platform channels &amp; FFI; Kotlin Multiplatform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9257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exam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1834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exam session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31566" y="2148840"/>
            <a:ext cx="19257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931566" y="320040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+ assignments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31566" y="3703320"/>
            <a:ext cx="1834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40173" y="2148840"/>
            <a:ext cx="19257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5040173" y="320040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test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40173" y="3703320"/>
            <a:ext cx="1834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48779" y="2148840"/>
            <a:ext cx="19257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7148779" y="320040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148779" y="3703320"/>
            <a:ext cx="1834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 max 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257386" y="2148840"/>
            <a:ext cx="19257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9257386" y="320040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presentation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57386" y="3703320"/>
            <a:ext cx="1834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 max 3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34340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pass with a total of </a:t>
            </a:r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 out of 10</a:t>
            </a:r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presentations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3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topic from the shared Excel table; topics are taken in the order they are claimed</a:t>
            </a:r>
            <a:endParaRPr lang="en-US" sz="14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slides that cover ~20 minutes of presentation</a:t>
            </a:r>
            <a:endParaRPr lang="en-US" sz="14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fits the topic, include a demo, inside the same 20 minutes</a:t>
            </a:r>
            <a:endParaRPr lang="en-US" sz="14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member presents their part</a:t>
            </a:r>
            <a:endParaRPr lang="en-US" sz="14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all materials to Moodle in the designated space</a:t>
            </a:r>
            <a:endParaRPr lang="en-US" sz="14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present from your own laptop, at the projector</a:t>
            </a:r>
            <a:endParaRPr lang="en-US" sz="14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 at most 3 students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63840" y="1783080"/>
            <a:ext cx="3657600" cy="2514600"/>
          </a:xfrm>
          <a:prstGeom prst="roundRect">
            <a:avLst>
              <a:gd name="adj" fmla="val 4364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Speaking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8388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 ÷ team size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183880" y="3063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2   →   ~10 min each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3   →   ~7 min each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leave with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target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device spectrum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09160" y="18288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range of devices this course targets, and how their constraints differ by orders of magnitude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432304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9" name="Image 1" descr="/Users/dinu/dev/upb/mobile-and-embedded-computing/slides/assets/icons2/scale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8775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build strategies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09160" y="254203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ways to build a mobile app, and the trade-offs of each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145536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3" name="Image 2" descr="/Users/dinu/dev/upb/mobile-and-embedded-computing/slides/assets/icons2/zap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009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552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Flutter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09160" y="325526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course uses Flutter, and what that choice costs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858768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7" name="Image 3" descr="/Users/dinu/dev/upb/mobile-and-embedded-computing/slides/assets/icons2/gitbranch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1421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9684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Git setup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09160" y="396849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GitHub account, and the branch → PR → review workflow the project grades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and the services that host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217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is a version control system: it tracks every change ever made to your source code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lets multiple developers work on the same codebase without overwriting each other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is a tool on your machine. GitHub, GitLab and Bitbucket are services that host Git repositories and add collaboration on top: reviews, issues, CI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course uses GitHub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589520" y="178308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/>
        </p:spPr>
      </p:sp>
      <p:pic>
        <p:nvPicPr>
          <p:cNvPr id="7" name="Image 0" descr="/Users/dinu/dev/upb/mobile-and-embedded-computing/slides/assets/images/image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15400" y="228600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Git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589520" y="4069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·  GitLab  ·  Bitbucket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89520" y="4389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hosting services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GitHub account: it is mandatory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up, free:  </a:t>
            </a:r>
            <a:pPr indent="0" marL="0">
              <a:spcAft>
                <a:spcPts val="1500"/>
              </a:spcAft>
              <a:buNone/>
            </a:pPr>
            <a:r>
              <a:rPr lang="en-US" sz="1300" dirty="0">
                <a:solidFill>
                  <a:srgbClr val="0071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github.com/signup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commits are part of your grade: labs, assignments and the team project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resource for this course lives in one repository: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6400800" cy="777240"/>
          </a:xfrm>
          <a:prstGeom prst="roundRect">
            <a:avLst>
              <a:gd name="adj" fmla="val 14118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977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github.com/rusudinu/mobile-and-embedded-computing</a:t>
            </a:r>
            <a:endParaRPr lang="en-US" sz="1350" dirty="0"/>
          </a:p>
        </p:txBody>
      </p:sp>
      <p:pic>
        <p:nvPicPr>
          <p:cNvPr id="8" name="Image 0" descr="/Users/dinu/dev/upb/mobile-and-embedded-computing/slides/assets/images/image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2377440"/>
            <a:ext cx="3474720" cy="19568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and branches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repository holds all the files of your project, and every revision they've ever had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always has at least one branch (main)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repository is a Git concept, not a GitHub one. GitHub only hosts it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let you build features, fix bugs and experiment without stepping on your teammates' work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branch is always created from an existing branch</a:t>
            </a:r>
            <a:endParaRPr lang="en-US" sz="1450" dirty="0"/>
          </a:p>
        </p:txBody>
      </p:sp>
      <p:pic>
        <p:nvPicPr>
          <p:cNvPr id="6" name="Image 0" descr="/Users/dinu/dev/upb/mobile-and-embedded-computing/slides/assets/icons2/gitbranch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37744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→  feature/…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you will 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7040880" cy="3977640"/>
          </a:xfrm>
          <a:prstGeom prst="roundRect">
            <a:avLst>
              <a:gd name="adj" fmla="val 2759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309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&lt;repo-url&gt;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once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feature/login-screen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login screen"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feature/login-screen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a Pull Request → review → merge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 &amp;&amp; git pull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0" y="2057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project is graded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0" y="2560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repository history is checked for: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branch per feature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with peer review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from every team member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requests, and what happens after merge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pull request starts the process of merging your branch into the main branch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peer reviews the changes and either approves them or requests changes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the author receives all required approvals, the PR stays open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merge, a CI pipeline takes over: test → build → deploy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26480" y="1783080"/>
            <a:ext cx="544068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pic>
        <p:nvPicPr>
          <p:cNvPr id="7" name="Image 0" descr="/Users/dinu/dev/upb/mobile-and-embedded-computing/slides/assets/images/image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2148840"/>
            <a:ext cx="4892040" cy="2212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0" y="521208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 pipeline: what runs after your pull request is merged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DEVICE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“mobile and embedded” computing?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device landscape, and why it changes how you write software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DEVICE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spectrum: from the cloud to a microcontroller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clou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4824" y="1828800"/>
            <a:ext cx="347472" cy="347472"/>
          </a:xfrm>
          <a:prstGeom prst="rect">
            <a:avLst/>
          </a:prstGeom>
        </p:spPr>
      </p:pic>
      <p:pic>
        <p:nvPicPr>
          <p:cNvPr id="6" name="Image 1" descr="/Users/dinu/dev/upb/mobile-and-embedded-computing/slides/assets/icons2/laptop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479" y="1828800"/>
            <a:ext cx="347472" cy="347472"/>
          </a:xfrm>
          <a:prstGeom prst="rect">
            <a:avLst/>
          </a:prstGeom>
        </p:spPr>
      </p:pic>
      <p:pic>
        <p:nvPicPr>
          <p:cNvPr id="7" name="Image 2" descr="/Users/dinu/dev/upb/mobile-and-embedded-computing/slides/assets/icons2/smartphone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134" y="1828800"/>
            <a:ext cx="347472" cy="347472"/>
          </a:xfrm>
          <a:prstGeom prst="rect">
            <a:avLst/>
          </a:prstGeom>
        </p:spPr>
      </p:pic>
      <p:pic>
        <p:nvPicPr>
          <p:cNvPr id="8" name="Image 3" descr="/Users/dinu/dev/upb/mobile-and-embedded-computing/slides/assets/icons2/watch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789" y="1828800"/>
            <a:ext cx="347472" cy="347472"/>
          </a:xfrm>
          <a:prstGeom prst="rect">
            <a:avLst/>
          </a:prstGeom>
        </p:spPr>
      </p:pic>
      <p:pic>
        <p:nvPicPr>
          <p:cNvPr id="9" name="Image 4" descr="/Users/dinu/dev/upb/mobile-and-embedded-computing/slides/assets/icons2/board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3444" y="1828800"/>
            <a:ext cx="347472" cy="347472"/>
          </a:xfrm>
          <a:prstGeom prst="rect">
            <a:avLst/>
          </a:prstGeom>
        </p:spPr>
      </p:pic>
      <p:pic>
        <p:nvPicPr>
          <p:cNvPr id="10" name="Image 5" descr="/Users/dinu/dev/upb/mobile-and-embedded-computing/slides/assets/icons2/cpu-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8100" y="1828800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10541203" cy="914400"/>
        </p:xfrm>
        <a:graphic>
          <a:graphicData uri="http://schemas.openxmlformats.org/drawingml/2006/table">
            <a:tbl>
              <a:tblPr/>
              <a:tblGrid>
                <a:gridCol w="1033272"/>
                <a:gridCol w="1584655"/>
                <a:gridCol w="1584655"/>
                <a:gridCol w="1584655"/>
                <a:gridCol w="1584655"/>
                <a:gridCol w="1584655"/>
                <a:gridCol w="158465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Wearable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100s of GB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16–32 GB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8–16 GB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GB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1–8 GB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63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~0.5 MB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 – PB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 TB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128–512 GB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~32 GB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 card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63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 MB flash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grid, kW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 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 W, battery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 W, battery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 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63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milliwatts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macOS / Win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Android / iOS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watchOS / Wear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63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RTOS / none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12" name="Text 3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course lives on the right half of this table: </a:t>
            </a:r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are limited and the device runs on a battery.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DEVICE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when you leave the desktop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battery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is a first-class resource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8620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CPU cycle and radio wake-up costs energy. We measure this in Lecture 11</a:t>
            </a:r>
            <a:endParaRPr lang="en-US" sz="1150" dirty="0"/>
          </a:p>
        </p:txBody>
      </p:sp>
      <p:pic>
        <p:nvPicPr>
          <p:cNvPr id="8" name="Image 1" descr="/Users/dinu/dev/upb/mobile-and-embedded-computing/slides/assets/icons2/thermometer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745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limits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63440" y="28620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load throttles the SoC, so extra CPU time is not always available</a:t>
            </a:r>
            <a:endParaRPr lang="en-US" sz="1150" dirty="0"/>
          </a:p>
        </p:txBody>
      </p:sp>
      <p:pic>
        <p:nvPicPr>
          <p:cNvPr id="11" name="Image 2" descr="/Users/dinu/dev/upb/mobile-and-embedded-computing/slides/assets/icons2/wifioff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7452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392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Intermittent connectivity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503920" y="28620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is a normal state, not an error. Apps must be designed for it</a:t>
            </a:r>
            <a:endParaRPr lang="en-US" sz="1150" dirty="0"/>
          </a:p>
        </p:txBody>
      </p:sp>
      <p:pic>
        <p:nvPicPr>
          <p:cNvPr id="14" name="Image 3" descr="/Users/dinu/dev/upb/mobile-and-embedded-computing/slides/assets/icons2/store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0624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47365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control deployment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822960" y="51937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App-store review, staged rollouts, and users who never update</a:t>
            </a:r>
            <a:endParaRPr lang="en-US" sz="1150" dirty="0"/>
          </a:p>
        </p:txBody>
      </p:sp>
      <p:pic>
        <p:nvPicPr>
          <p:cNvPr id="17" name="Image 4" descr="/Users/dinu/dev/upb/mobile-and-embedded-computing/slides/assets/icons2/radio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20624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440" y="47365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&amp; radios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663440" y="51937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GPS, accelerometer, camera and BLE: capabilities desktops don't have</a:t>
            </a:r>
            <a:endParaRPr lang="en-US" sz="1150" dirty="0"/>
          </a:p>
        </p:txBody>
      </p:sp>
      <p:pic>
        <p:nvPicPr>
          <p:cNvPr id="20" name="Image 5" descr="/Users/dinu/dev/upb/mobile-and-embedded-computing/slides/assets/icons2/cpu-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206240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03920" y="47365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everywhere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8503920" y="51937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flagship phones down to microcontrollers: a different ISA than most servers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DEVICE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 app negotiates for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cpu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150" dirty="0"/>
          </a:p>
        </p:txBody>
      </p:sp>
      <p:pic>
        <p:nvPicPr>
          <p:cNvPr id="8" name="Image 1" descr="/Users/dinu/dev/upb/mobile-and-embedded-computing/slides/assets/icons2/memory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566" y="21031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31566" y="2743200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2931566" y="3200400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memory</a:t>
            </a:r>
            <a:endParaRPr lang="en-US" sz="1150" dirty="0"/>
          </a:p>
        </p:txBody>
      </p:sp>
      <p:pic>
        <p:nvPicPr>
          <p:cNvPr id="11" name="Image 2" descr="/Users/dinu/dev/upb/mobile-and-embedded-computing/slides/assets/icons2/harddrive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173" y="21031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40173" y="2743200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5040173" y="3200400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flash</a:t>
            </a:r>
            <a:endParaRPr lang="en-US" sz="1150" dirty="0"/>
          </a:p>
        </p:txBody>
      </p:sp>
      <p:pic>
        <p:nvPicPr>
          <p:cNvPr id="14" name="Image 3" descr="/Users/dinu/dev/upb/mobile-and-embedded-computing/slides/assets/icons2/grid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779" y="21031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48779" y="2743200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7148779" y="3200400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graphics &amp; ML</a:t>
            </a:r>
            <a:endParaRPr lang="en-US" sz="1150" dirty="0"/>
          </a:p>
        </p:txBody>
      </p:sp>
      <p:pic>
        <p:nvPicPr>
          <p:cNvPr id="17" name="Image 4" descr="/Users/dinu/dev/upb/mobile-and-embedded-computing/slides/assets/icons2/batterycharging-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7386" y="210312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57386" y="2743200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9257386" y="3200400"/>
            <a:ext cx="17428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mobile-only: a finite budget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822960" y="42062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22960" y="4434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desktop, the first four are effectively elastic. On mobile, all five are hard budgets, </a:t>
            </a:r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battery is the one your code cannot replenish.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822960" y="5257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one concrete resource negotiation, start to finish.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DEVICE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 in action: loading an LLM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108960" cy="530352"/>
          </a:xfrm>
          <a:prstGeom prst="roundRect">
            <a:avLst>
              <a:gd name="adj" fmla="val 15517"/>
            </a:avLst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asks the OS to load an LLM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77440" y="2313432"/>
            <a:ext cx="0" cy="384048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88720" y="2697480"/>
            <a:ext cx="237744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6974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free VRAM?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66160" y="2962656"/>
            <a:ext cx="914400" cy="0"/>
          </a:xfrm>
          <a:prstGeom prst="line">
            <a:avLst/>
          </a:prstGeom>
          <a:noFill/>
          <a:ln w="15875">
            <a:solidFill>
              <a:srgbClr val="0071E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611880" y="2670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2697480"/>
            <a:ext cx="3108960" cy="530352"/>
          </a:xfrm>
          <a:prstGeom prst="roundRect">
            <a:avLst>
              <a:gd name="adj" fmla="val 15517"/>
            </a:avLst>
          </a:prstGeom>
          <a:solidFill>
            <a:srgbClr val="F5F5F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6974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load into VRAM → GPU-fast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3227832"/>
            <a:ext cx="0" cy="384048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487168" y="3273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88720" y="3611880"/>
            <a:ext cx="237744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6118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free RAM?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566160" y="3877056"/>
            <a:ext cx="914400" cy="0"/>
          </a:xfrm>
          <a:prstGeom prst="line">
            <a:avLst/>
          </a:prstGeom>
          <a:noFill/>
          <a:ln w="15875">
            <a:solidFill>
              <a:srgbClr val="0071E3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611880" y="3584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3611880"/>
            <a:ext cx="3108960" cy="530352"/>
          </a:xfrm>
          <a:prstGeom prst="roundRect">
            <a:avLst>
              <a:gd name="adj" fmla="val 15517"/>
            </a:avLst>
          </a:prstGeom>
          <a:solidFill>
            <a:srgbClr val="F5F5F7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6118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load into RAM → runs, slower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4142232"/>
            <a:ext cx="0" cy="384048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487168" y="4187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88720" y="4526280"/>
            <a:ext cx="237744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5262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fails to load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0" y="269748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854964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memory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549640" y="33375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Macs and phones share one memory pool between CPU and GPU, which gives more effective “VRAM” for LLMs than a PC with a discrete GPU.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 is a resource-allocation problem. 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this slide in mind for Lecture 9, AI on-device.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build a mobile app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· Native · Cross-platform in two flavors, and how to choose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baseline: native apps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Platform-specific: built for one OS, with that OS's own SDK and tools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possible performance, full access to every platform capability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UI components: the platform's own look and behavior</a:t>
            </a:r>
            <a:endParaRPr lang="en-US" sz="14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fully offline; distributed through Google Play / the App Store</a:t>
            </a:r>
            <a:endParaRPr lang="en-US" sz="1450" dirty="0"/>
          </a:p>
        </p:txBody>
      </p:sp>
      <p:pic>
        <p:nvPicPr>
          <p:cNvPr id="6" name="Image 0" descr="/Users/dinu/dev/upb/mobile-and-embedded-computing/slides/assets/icons2/apple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920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66760" y="1783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/ SwiftUI · Xcode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589520" y="2880360"/>
            <a:ext cx="39319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9" name="Image 1" descr="/Users/dinu/dev/upb/mobile-and-embedded-computing/slides/assets/icons2/android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2004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66760" y="3063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/ Jetpack Compose · Android Studio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2960" y="502920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on the next slides is ultimately built on top of these two platform SDKs.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1: web apps and PWAs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from a URL: no installation, no store review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reach every user instantly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codebase, every platform with a browser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PWAs: installable, offline-capable, HTTPS-only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give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2402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sensor &amp; hardware access: BLE, NFC, background GPS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reliable background execution, especially on iOS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performance ceiling, and WebKit-only on iOS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store presence: a different discoverability model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apps have their own set of architectures, SSR, SSG and CSR, which are a web-course topic. </a:t>
            </a:r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we only care how the web option compares to the next three.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2: cross-platform, two architectures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/>
        </p:spPr>
      </p:sp>
      <p:pic>
        <p:nvPicPr>
          <p:cNvPr id="6" name="Image 0" descr="/Users/dinu/dev/upb/mobile-and-embedded-computing/slides/assets/icons2/react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574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Native: drive native widgets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143000" y="2651760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JavaScript / TypeScript code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20440" y="3108960"/>
            <a:ext cx="0" cy="18288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143000" y="3291840"/>
            <a:ext cx="47548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3444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JSI + Fabric, no serialized bridge since RN 0.76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520440" y="3749040"/>
            <a:ext cx="0" cy="18288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143000" y="3931920"/>
            <a:ext cx="47548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native widgets on each OS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43000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is genuinely native: per-platform look &amp; feel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can update over the air (Expo EAS Update)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crosses the JS ↔ native boundary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89320" y="178308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/>
        </p:spPr>
      </p:sp>
      <p:pic>
        <p:nvPicPr>
          <p:cNvPr id="18" name="Image 1" descr="/Users/dinu/dev/upb/mobile-and-embedded-computing/slides/assets/icons2/zap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5740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5800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Flutter: draw every pixel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309360" y="2651760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Dart code, AOT-compiled to native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686800" y="3108960"/>
            <a:ext cx="0" cy="18288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6309360" y="3291840"/>
            <a:ext cx="47548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Impeller renderer: draws the entire UI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686800" y="3749040"/>
            <a:ext cx="0" cy="18288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6309360" y="3931920"/>
            <a:ext cx="475488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0080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UI on every platform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309360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rendering pipeline, so no per-platform differences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 to the OS via platform channels (→ Lecture 12)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reload during development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3: Kotlin Multiplatform, share the logic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760720" cy="868680"/>
          </a:xfrm>
          <a:prstGeom prst="roundRect">
            <a:avLst>
              <a:gd name="adj" fmla="val 9474"/>
            </a:avLst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Kotlin module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· networking · storage · models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240280" y="2697480"/>
            <a:ext cx="0" cy="36576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66360" y="2697480"/>
            <a:ext cx="0" cy="36576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306324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632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Compose UI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86200" y="3063240"/>
            <a:ext cx="26974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30632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app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SwiftUI, or Compose Multiplatform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206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 / actual bridges the platform-specific parts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23760" y="182880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as much, or as little, as you choose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compiles natively per platform (Kotlin/Native for iOS)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since Nov 2023; Compose Multiplatform for iOS stable since May 2025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 at McDonald's, Netflix, Forbes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 shared KMP module in Lecture 12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120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shares everything, including the pixels. 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KMP shares exactly as much as you choose, and keeps each platform's native UI.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choose, and why this course uses Flutter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without installs, light hardware needs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323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Web / PWA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71216"/>
            <a:ext cx="42062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35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lives in JS/React, wants native UI feel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364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React Native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803904"/>
            <a:ext cx="42062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684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native apps, want shared logic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Kotlin Multiplatform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736592"/>
            <a:ext cx="42062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9011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team, pixel-identical UI, fast iteration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2303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Flutter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60720" y="1783080"/>
            <a:ext cx="5760720" cy="2514600"/>
          </a:xfrm>
          <a:prstGeom prst="roundRect">
            <a:avLst>
              <a:gd name="adj" fmla="val 4364"/>
            </a:avLst>
          </a:prstGeom>
          <a:solidFill>
            <a:srgbClr val="F5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Flutter, here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080760" y="24231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codebase: a team of 3 can build the whole semester project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reload: fast iteration in the labs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renderer: what you see in the emulator is what you ship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instructor ships Flutter for a living: 45+ apps, 400k installs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80760" y="4572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80760" y="4892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binaries than native apps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Platform-channel overhead when talking to the OS (→ Lecture 12)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is knowledge you may not reuse outside Flutter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where does “embedded” fit in?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constraints, taken further: kilobytes of RAM, milliwatt power budgets, and often no operating system at all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becomes the hub: nearby devices talk to your app over BLE or MQTT, and your app talks to the cloud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Lecture 11: a TinyGo program on a microcontroller publishes sensor data, and your Flutter app consumes it live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62179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548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note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TinyGo supports the ESP32-C3 / S3 (Wi-Fi support since TinyGo 0.41) and the Raspberry Pi Pico. Support for the original ESP32 is minimal.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0" y="1828800"/>
            <a:ext cx="3749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828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+ MCU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ESP32-C3 · TinyGo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646920" y="2743200"/>
            <a:ext cx="0" cy="347472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0" y="3090672"/>
            <a:ext cx="3749040" cy="914400"/>
          </a:xfrm>
          <a:prstGeom prst="roundRect">
            <a:avLst>
              <a:gd name="adj" fmla="val 9000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30906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Flutter app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hub, via MQTT / BLE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46920" y="4005072"/>
            <a:ext cx="0" cy="347472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0" y="4352544"/>
            <a:ext cx="3749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435254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· dashboards · ML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semester, pinned onto the spectrum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cloud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10512"/>
            <a:ext cx="310896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25880" y="1965960"/>
            <a:ext cx="94640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7" name="Image 1" descr="/Users/dinu/dev/upb/mobile-and-embedded-computing/slides/assets/icons2/cpu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1051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9966960" y="217627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microcontroller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2960" y="2651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backend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22960" y="31546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481328" y="31546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Serverless, VPS &amp; Go backends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36301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481328" y="3630168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GraphQL, REST &amp; observability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41056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L7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481328" y="4105656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OAuth &amp; App Check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2960" y="458114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L8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481328" y="4581144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WebSockets, permissions, routing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46320" y="2651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846320" y="31546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504688" y="31546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Dart, Kotlin &amp; Flutter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46320" y="36301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504688" y="3630168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 &amp; async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46320" y="41056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504688" y="4105656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846320" y="458114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L9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504688" y="4581144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on-device &amp; LLMs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846320" y="50566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504688" y="5056632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&amp; sync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846320" y="55321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L12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504688" y="55321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Channels, FFI &amp; KMP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869680" y="2651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6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</a:t>
            </a:r>
            <a:endParaRPr lang="en-US" sz="1450" dirty="0"/>
          </a:p>
        </p:txBody>
      </p:sp>
      <p:sp>
        <p:nvSpPr>
          <p:cNvPr id="33" name="Text 29"/>
          <p:cNvSpPr/>
          <p:nvPr/>
        </p:nvSpPr>
        <p:spPr>
          <a:xfrm>
            <a:off x="8869680" y="31546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9528048" y="31546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energy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8869680" y="36301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9528048" y="3630168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TinyGo: sensors → MQTT → app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see this map again at the start of every lecture, with a pin on where we are.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week</a:t>
            </a:r>
            <a:endParaRPr lang="en-US" sz="3000" dirty="0"/>
          </a:p>
        </p:txBody>
      </p:sp>
      <p:pic>
        <p:nvPicPr>
          <p:cNvPr id="3" name="Image 0" descr="/Users/dinu/dev/upb/mobile-and-embedded-computing/slides/assets/icons2/checklis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spectrum, cloud → microcontroller: this course covers the right half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strategies: web, native, cross-platform, KMP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chose Flutter, with its trade-offs stated</a:t>
            </a:r>
            <a:endParaRPr lang="en-US" sz="1250" dirty="0"/>
          </a:p>
        </p:txBody>
      </p:sp>
      <p:pic>
        <p:nvPicPr>
          <p:cNvPr id="6" name="Image 1" descr="/Users/dinu/dev/upb/mobile-and-embedded-computing/slides/assets/icons2/calenda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38912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GitHub account and open the course repo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Flutter SDK. Lab 1 walks you through it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thinking about teammates and a project idea</a:t>
            </a:r>
            <a:endParaRPr lang="en-US" sz="1250" dirty="0"/>
          </a:p>
        </p:txBody>
      </p:sp>
      <p:pic>
        <p:nvPicPr>
          <p:cNvPr id="9" name="Image 2" descr="/Users/dinu/dev/upb/mobile-and-embedded-computing/slides/assets/icons2/bookope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78308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795528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flutter.dev/multi-platform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kotlinlang.org/multiplatform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tinygo.org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developer.android.com · developer.apple.com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and Embedded Computing: Lecture 1</dc:title>
  <dc:subject>PptxGenJS Presentation</dc:subject>
  <dc:creator>Dinu-Ștefan Rusu</dc:creator>
  <cp:lastModifiedBy>Dinu-Ștefan Rusu</cp:lastModifiedBy>
  <cp:revision>1</cp:revision>
  <dcterms:created xsi:type="dcterms:W3CDTF">2026-08-08T15:40:12Z</dcterms:created>
  <dcterms:modified xsi:type="dcterms:W3CDTF">2026-08-08T15:40:12Z</dcterms:modified>
</cp:coreProperties>
</file>