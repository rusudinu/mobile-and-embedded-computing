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whole lecture here. The three sections are the same problem at three scales: between machines, inside one process, and across two platforms at build time. Ask which boundary their project already crosses. Almost all of them cross the first two without noticing.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this file live if you have five minutes. The thing students miss: proto3 enums must have a zero value, and it must mean 'unspecified', because an absent enum decodes as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go run ., then grpcurl -plaintext localhost:50051 telemetry.v1.Telemetry/SubmitReading. Point out that UnimplementedTelemetryServer embedding is what lets the server keep compiling when someone adds an RPC to the .proto.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replaces two contradicting claims in the old deck (p5 said 3-10x, p14 said 30-50%). Neither was sourced. The honest answer is that the ratio is a property of the schema and the data. Encourage students to serialize one real message both ways and print the byte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deck listed only server-streaming and bidirectional. Client streaming is the one students actually need for offline sync: a queue of readings drained upstream with a single summary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add this to the sample app and hot-reload, then note that hot reload does not reload the Kotlin side; a native change needs a full restart.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specifically to fix the contradiction between p27 and p28 of the old deck. Do not replace one invented number with another. Have students run this on their own phone and compare results across the room; the spread between devices is itself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sentence to leave the section on. If a student remembers one thing from the middle third of this lecture, it should be 'control vs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warnings worth saying aloud: the compiler enforces that every expect has an actual for every target, so a missing implementation is a build error, not a crash. And most of the time you need far less expect/actual than you assume, because Ktor and kotlinx already ship multiplatform engines.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even-handed here. The honest summary: if you have existing native apps and native teams, KMP is usually the better fit; if you have one small team and want one UI everywhere, Flutter is. Neither answer is a criticism of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Users/dinu/dev/upb/mobile-and-embedded-computing/slides/assets/icons2/cloud-white.png">    </p:cNvPr>
          <p:cNvPicPr>
            <a:picLocks noChangeAspect="1"/>
          </p:cNvPicPr>
          <p:nvPr/>
        </p:nvPicPr>
        <p:blipFill>
          <a:blip r:embed="rId1"/>
          <a:stretch>
            <a:fillRect/>
          </a:stretch>
        </p:blipFill>
        <p:spPr>
          <a:xfrm>
            <a:off x="3433572" y="1600200"/>
            <a:ext cx="384048" cy="384048"/>
          </a:xfrm>
          <a:prstGeom prst="rect">
            <a:avLst/>
          </a:prstGeom>
        </p:spPr>
      </p:pic>
      <p:pic>
        <p:nvPicPr>
          <p:cNvPr id="3" name="Image 1" descr="/Users/dinu/dev/upb/mobile-and-embedded-computing/slides/assets/icons2/laptop-white.png">    </p:cNvPr>
          <p:cNvPicPr>
            <a:picLocks noChangeAspect="1"/>
          </p:cNvPicPr>
          <p:nvPr/>
        </p:nvPicPr>
        <p:blipFill>
          <a:blip r:embed="rId2"/>
          <a:stretch>
            <a:fillRect/>
          </a:stretch>
        </p:blipFill>
        <p:spPr>
          <a:xfrm>
            <a:off x="4421124" y="1600200"/>
            <a:ext cx="384048" cy="384048"/>
          </a:xfrm>
          <a:prstGeom prst="rect">
            <a:avLst/>
          </a:prstGeom>
        </p:spPr>
      </p:pic>
      <p:pic>
        <p:nvPicPr>
          <p:cNvPr id="4" name="Image 2" descr="/Users/dinu/dev/upb/mobile-and-embedded-computing/slides/assets/icons2/smartphone-white.png">    </p:cNvPr>
          <p:cNvPicPr>
            <a:picLocks noChangeAspect="1"/>
          </p:cNvPicPr>
          <p:nvPr/>
        </p:nvPicPr>
        <p:blipFill>
          <a:blip r:embed="rId3"/>
          <a:stretch>
            <a:fillRect/>
          </a:stretch>
        </p:blipFill>
        <p:spPr>
          <a:xfrm>
            <a:off x="5408676" y="1600200"/>
            <a:ext cx="384048" cy="384048"/>
          </a:xfrm>
          <a:prstGeom prst="rect">
            <a:avLst/>
          </a:prstGeom>
        </p:spPr>
      </p:pic>
      <p:pic>
        <p:nvPicPr>
          <p:cNvPr id="5" name="Image 3" descr="/Users/dinu/dev/upb/mobile-and-embedded-computing/slides/assets/icons2/watch-white.png">    </p:cNvPr>
          <p:cNvPicPr>
            <a:picLocks noChangeAspect="1"/>
          </p:cNvPicPr>
          <p:nvPr/>
        </p:nvPicPr>
        <p:blipFill>
          <a:blip r:embed="rId4"/>
          <a:stretch>
            <a:fillRect/>
          </a:stretch>
        </p:blipFill>
        <p:spPr>
          <a:xfrm>
            <a:off x="6396228" y="1600200"/>
            <a:ext cx="384048" cy="384048"/>
          </a:xfrm>
          <a:prstGeom prst="rect">
            <a:avLst/>
          </a:prstGeom>
        </p:spPr>
      </p:pic>
      <p:pic>
        <p:nvPicPr>
          <p:cNvPr id="6" name="Image 4" descr="/Users/dinu/dev/upb/mobile-and-embedded-computing/slides/assets/icons2/board-white.png">    </p:cNvPr>
          <p:cNvPicPr>
            <a:picLocks noChangeAspect="1"/>
          </p:cNvPicPr>
          <p:nvPr/>
        </p:nvPicPr>
        <p:blipFill>
          <a:blip r:embed="rId5"/>
          <a:stretch>
            <a:fillRect/>
          </a:stretch>
        </p:blipFill>
        <p:spPr>
          <a:xfrm>
            <a:off x="7383780" y="1600200"/>
            <a:ext cx="384048" cy="384048"/>
          </a:xfrm>
          <a:prstGeom prst="rect">
            <a:avLst/>
          </a:prstGeom>
        </p:spPr>
      </p:pic>
      <p:pic>
        <p:nvPicPr>
          <p:cNvPr id="7" name="Image 5" descr="/Users/dinu/dev/upb/mobile-and-embedded-computing/slides/assets/icons2/cpu-white.png">    </p:cNvPr>
          <p:cNvPicPr>
            <a:picLocks noChangeAspect="1"/>
          </p:cNvPicPr>
          <p:nvPr/>
        </p:nvPicPr>
        <p:blipFill>
          <a:blip r:embed="rId6"/>
          <a:stretch>
            <a:fillRect/>
          </a:stretch>
        </p:blipFill>
        <p:spPr>
          <a:xfrm>
            <a:off x="8371332" y="1600200"/>
            <a:ext cx="384048" cy="384048"/>
          </a:xfrm>
          <a:prstGeom prst="rect">
            <a:avLst/>
          </a:prstGeom>
        </p:spPr>
      </p:pic>
      <p:sp>
        <p:nvSpPr>
          <p:cNvPr id="8" name="Text 0"/>
          <p:cNvSpPr/>
          <p:nvPr/>
        </p:nvSpPr>
        <p:spPr>
          <a:xfrm>
            <a:off x="731520" y="2606040"/>
            <a:ext cx="10725912" cy="868680"/>
          </a:xfrm>
          <a:prstGeom prst="rect">
            <a:avLst/>
          </a:prstGeom>
          <a:noFill/>
          <a:ln/>
        </p:spPr>
        <p:txBody>
          <a:bodyPr wrap="square" lIns="0" tIns="0" rIns="0" bIns="0" rtlCol="0" anchor="ctr"/>
          <a:lstStyle/>
          <a:p>
            <a:pPr algn="ctr" indent="0" marL="0">
              <a:buNone/>
            </a:pPr>
            <a:r>
              <a:rPr lang="en-US" sz="4600" b="1" dirty="0">
                <a:solidFill>
                  <a:srgbClr val="FFFFFF"/>
                </a:solidFill>
                <a:latin typeface="Arial" pitchFamily="34" charset="0"/>
                <a:ea typeface="Arial" pitchFamily="34" charset="-122"/>
                <a:cs typeface="Arial" pitchFamily="34" charset="-120"/>
              </a:rPr>
              <a:t>Mobile and Embedded Computing</a:t>
            </a:r>
            <a:endParaRPr lang="en-US" sz="4600" dirty="0"/>
          </a:p>
        </p:txBody>
      </p:sp>
      <p:sp>
        <p:nvSpPr>
          <p:cNvPr id="9" name="Text 1"/>
          <p:cNvSpPr/>
          <p:nvPr/>
        </p:nvSpPr>
        <p:spPr>
          <a:xfrm>
            <a:off x="731520" y="3611880"/>
            <a:ext cx="10725912" cy="411480"/>
          </a:xfrm>
          <a:prstGeom prst="rect">
            <a:avLst/>
          </a:prstGeom>
          <a:noFill/>
          <a:ln/>
        </p:spPr>
        <p:txBody>
          <a:bodyPr wrap="square" lIns="0" tIns="0" rIns="0" bIns="0" rtlCol="0" anchor="ctr"/>
          <a:lstStyle/>
          <a:p>
            <a:pPr algn="ctr" indent="0" marL="0">
              <a:buNone/>
            </a:pPr>
            <a:r>
              <a:rPr lang="en-US" sz="1700" dirty="0">
                <a:solidFill>
                  <a:srgbClr val="A1A1A6"/>
                </a:solidFill>
                <a:latin typeface="Arial" pitchFamily="34" charset="0"/>
                <a:ea typeface="Arial" pitchFamily="34" charset="-122"/>
                <a:cs typeface="Arial" pitchFamily="34" charset="-120"/>
              </a:rPr>
              <a:t>Lecture 12: gRPC, platform channels &amp; FFI, Kotlin Multiplatform</a:t>
            </a:r>
            <a:endParaRPr lang="en-US" sz="1700" dirty="0"/>
          </a:p>
        </p:txBody>
      </p:sp>
      <p:sp>
        <p:nvSpPr>
          <p:cNvPr id="10" name="Text 2"/>
          <p:cNvSpPr/>
          <p:nvPr/>
        </p:nvSpPr>
        <p:spPr>
          <a:xfrm>
            <a:off x="731520" y="5806440"/>
            <a:ext cx="10725912" cy="365760"/>
          </a:xfrm>
          <a:prstGeom prst="rect">
            <a:avLst/>
          </a:prstGeom>
          <a:noFill/>
          <a:ln/>
        </p:spPr>
        <p:txBody>
          <a:bodyPr wrap="square" lIns="0" tIns="0" rIns="0" bIns="0" rtlCol="0" anchor="ctr"/>
          <a:lstStyle/>
          <a:p>
            <a:pPr algn="ctr" indent="0" marL="0">
              <a:buNone/>
            </a:pPr>
            <a:r>
              <a:rPr lang="en-US" sz="1300" dirty="0">
                <a:solidFill>
                  <a:srgbClr val="6E6E73"/>
                </a:solidFill>
                <a:latin typeface="Arial" pitchFamily="34" charset="0"/>
                <a:ea typeface="Arial" pitchFamily="34" charset="-122"/>
                <a:cs typeface="Arial" pitchFamily="34" charset="-120"/>
              </a:rPr>
              <a:t>Dinu-Ștefan Rusu</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ORIENTATION</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Who's teaching this course</a:t>
            </a:r>
            <a:endParaRPr lang="en-US" sz="3000" dirty="0"/>
          </a:p>
        </p:txBody>
      </p:sp>
      <p:sp>
        <p:nvSpPr>
          <p:cNvPr id="5" name="Text 3"/>
          <p:cNvSpPr/>
          <p:nvPr/>
        </p:nvSpPr>
        <p:spPr>
          <a:xfrm>
            <a:off x="822960" y="1783080"/>
            <a:ext cx="5303520" cy="457200"/>
          </a:xfrm>
          <a:prstGeom prst="rect">
            <a:avLst/>
          </a:prstGeom>
          <a:noFill/>
          <a:ln/>
        </p:spPr>
        <p:txBody>
          <a:bodyPr wrap="square" lIns="0" tIns="0" rIns="0" bIns="0" rtlCol="0" anchor="ctr"/>
          <a:lstStyle/>
          <a:p>
            <a:pPr indent="0" marL="0">
              <a:buNone/>
            </a:pPr>
            <a:r>
              <a:rPr lang="en-US" sz="2200" b="1" dirty="0">
                <a:solidFill>
                  <a:srgbClr val="1D1D1F"/>
                </a:solidFill>
                <a:latin typeface="Arial" pitchFamily="34" charset="0"/>
                <a:ea typeface="Arial" pitchFamily="34" charset="-122"/>
                <a:cs typeface="Arial" pitchFamily="34" charset="-120"/>
              </a:rPr>
              <a:t>Dinu-Ștefan Rusu</a:t>
            </a:r>
            <a:endParaRPr lang="en-US" sz="2200" dirty="0"/>
          </a:p>
        </p:txBody>
      </p:sp>
      <p:sp>
        <p:nvSpPr>
          <p:cNvPr id="6" name="Text 4"/>
          <p:cNvSpPr/>
          <p:nvPr/>
        </p:nvSpPr>
        <p:spPr>
          <a:xfrm>
            <a:off x="822960" y="2331720"/>
            <a:ext cx="5303520" cy="1188720"/>
          </a:xfrm>
          <a:prstGeom prst="rect">
            <a:avLst/>
          </a:prstGeom>
          <a:noFill/>
          <a:ln/>
        </p:spPr>
        <p:txBody>
          <a:bodyPr wrap="square" lIns="0" tIns="0" rIns="0" bIns="0" rtlCol="0" anchor="ctr"/>
          <a:lstStyle/>
          <a:p>
            <a:pPr indent="0" marL="0">
              <a:spcAft>
                <a:spcPts val="600"/>
              </a:spcAft>
              <a:buNone/>
            </a:pPr>
            <a:r>
              <a:rPr lang="en-US" sz="1400" dirty="0">
                <a:solidFill>
                  <a:srgbClr val="86868B"/>
                </a:solidFill>
                <a:latin typeface="Arial" pitchFamily="34" charset="0"/>
                <a:ea typeface="Arial" pitchFamily="34" charset="-122"/>
                <a:cs typeface="Arial" pitchFamily="34" charset="-120"/>
              </a:rPr>
              <a:t>dinu_stefan.rusu@upb.ro</a:t>
            </a:r>
            <a:endParaRPr lang="en-US" sz="1400" dirty="0"/>
          </a:p>
          <a:p>
            <a:pPr indent="0" marL="0">
              <a:spcAft>
                <a:spcPts val="600"/>
              </a:spcAft>
              <a:buNone/>
            </a:pPr>
            <a:r>
              <a:rPr lang="en-US" sz="1400" dirty="0">
                <a:solidFill>
                  <a:srgbClr val="86868B"/>
                </a:solidFill>
                <a:latin typeface="Arial" pitchFamily="34" charset="0"/>
                <a:ea typeface="Arial" pitchFamily="34" charset="-122"/>
                <a:cs typeface="Arial" pitchFamily="34" charset="-120"/>
              </a:rPr>
              <a:t>Microsoft Teams course channel</a:t>
            </a:r>
            <a:endParaRPr lang="en-US" sz="1400" dirty="0"/>
          </a:p>
          <a:p>
            <a:pPr indent="0" marL="0">
              <a:spcAft>
                <a:spcPts val="600"/>
              </a:spcAft>
              <a:buNone/>
            </a:pPr>
            <a:r>
              <a:rPr lang="en-US" sz="1400" dirty="0">
                <a:solidFill>
                  <a:srgbClr val="86868B"/>
                </a:solidFill>
                <a:latin typeface="Arial" pitchFamily="34" charset="0"/>
                <a:ea typeface="Arial" pitchFamily="34" charset="-122"/>
                <a:cs typeface="Arial" pitchFamily="34" charset="-120"/>
              </a:rPr>
              <a:t>rusudinu.com</a:t>
            </a:r>
            <a:endParaRPr lang="en-US" sz="1400" dirty="0"/>
          </a:p>
        </p:txBody>
      </p:sp>
      <p:sp>
        <p:nvSpPr>
          <p:cNvPr id="7" name="Text 5"/>
          <p:cNvSpPr/>
          <p:nvPr/>
        </p:nvSpPr>
        <p:spPr>
          <a:xfrm>
            <a:off x="6675120" y="1600200"/>
            <a:ext cx="2377440" cy="914400"/>
          </a:xfrm>
          <a:prstGeom prst="rect">
            <a:avLst/>
          </a:prstGeom>
          <a:noFill/>
          <a:ln/>
        </p:spPr>
        <p:txBody>
          <a:bodyPr wrap="square" lIns="0" tIns="0" rIns="0" bIns="0" rtlCol="0" anchor="ctr"/>
          <a:lstStyle/>
          <a:p>
            <a:pPr indent="0" marL="0">
              <a:buNone/>
            </a:pPr>
            <a:r>
              <a:rPr lang="en-US" sz="5600" dirty="0">
                <a:solidFill>
                  <a:srgbClr val="1D1D1F"/>
                </a:solidFill>
                <a:latin typeface="Arial" pitchFamily="34" charset="0"/>
                <a:ea typeface="Arial" pitchFamily="34" charset="-122"/>
                <a:cs typeface="Arial" pitchFamily="34" charset="-120"/>
              </a:rPr>
              <a:t>45+</a:t>
            </a:r>
            <a:endParaRPr lang="en-US" sz="5600" dirty="0"/>
          </a:p>
        </p:txBody>
      </p:sp>
      <p:sp>
        <p:nvSpPr>
          <p:cNvPr id="8" name="Text 6"/>
          <p:cNvSpPr/>
          <p:nvPr/>
        </p:nvSpPr>
        <p:spPr>
          <a:xfrm>
            <a:off x="6675120" y="2560320"/>
            <a:ext cx="2377440" cy="32004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Flutter apps shipped</a:t>
            </a:r>
            <a:endParaRPr lang="en-US" sz="1300" dirty="0"/>
          </a:p>
        </p:txBody>
      </p:sp>
      <p:sp>
        <p:nvSpPr>
          <p:cNvPr id="9" name="Text 7"/>
          <p:cNvSpPr/>
          <p:nvPr/>
        </p:nvSpPr>
        <p:spPr>
          <a:xfrm>
            <a:off x="9326880" y="1600200"/>
            <a:ext cx="2377440" cy="914400"/>
          </a:xfrm>
          <a:prstGeom prst="rect">
            <a:avLst/>
          </a:prstGeom>
          <a:noFill/>
          <a:ln/>
        </p:spPr>
        <p:txBody>
          <a:bodyPr wrap="square" lIns="0" tIns="0" rIns="0" bIns="0" rtlCol="0" anchor="ctr"/>
          <a:lstStyle/>
          <a:p>
            <a:pPr indent="0" marL="0">
              <a:buNone/>
            </a:pPr>
            <a:r>
              <a:rPr lang="en-US" sz="5600" dirty="0">
                <a:solidFill>
                  <a:srgbClr val="1D1D1F"/>
                </a:solidFill>
                <a:latin typeface="Arial" pitchFamily="34" charset="0"/>
                <a:ea typeface="Arial" pitchFamily="34" charset="-122"/>
                <a:cs typeface="Arial" pitchFamily="34" charset="-120"/>
              </a:rPr>
              <a:t>400k</a:t>
            </a:r>
            <a:endParaRPr lang="en-US" sz="5600" dirty="0"/>
          </a:p>
        </p:txBody>
      </p:sp>
      <p:sp>
        <p:nvSpPr>
          <p:cNvPr id="10" name="Text 8"/>
          <p:cNvSpPr/>
          <p:nvPr/>
        </p:nvSpPr>
        <p:spPr>
          <a:xfrm>
            <a:off x="9326880" y="2560320"/>
            <a:ext cx="2377440" cy="32004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installs across them</a:t>
            </a:r>
            <a:endParaRPr lang="en-US" sz="1300" dirty="0"/>
          </a:p>
        </p:txBody>
      </p:sp>
      <p:sp>
        <p:nvSpPr>
          <p:cNvPr id="11" name="Shape 9"/>
          <p:cNvSpPr/>
          <p:nvPr/>
        </p:nvSpPr>
        <p:spPr>
          <a:xfrm>
            <a:off x="822960" y="3977640"/>
            <a:ext cx="10543032" cy="0"/>
          </a:xfrm>
          <a:prstGeom prst="line">
            <a:avLst/>
          </a:prstGeom>
          <a:noFill/>
          <a:ln w="9525">
            <a:solidFill>
              <a:srgbClr val="D2D2D7"/>
            </a:solidFill>
            <a:prstDash val="solid"/>
          </a:ln>
        </p:spPr>
      </p:sp>
      <p:sp>
        <p:nvSpPr>
          <p:cNvPr id="12" name="Text 10"/>
          <p:cNvSpPr/>
          <p:nvPr/>
        </p:nvSpPr>
        <p:spPr>
          <a:xfrm>
            <a:off x="822960" y="4160520"/>
            <a:ext cx="10515600" cy="274320"/>
          </a:xfrm>
          <a:prstGeom prst="rect">
            <a:avLst/>
          </a:prstGeom>
          <a:noFill/>
          <a:ln/>
        </p:spPr>
        <p:txBody>
          <a:bodyPr wrap="square" lIns="0" tIns="0" rIns="0" bIns="0" rtlCol="0" anchor="ctr"/>
          <a:lstStyle/>
          <a:p>
            <a:pPr indent="0" marL="0">
              <a:buNone/>
            </a:pPr>
            <a:r>
              <a:rPr lang="en-US" sz="1100" spc="150" kern="0" dirty="0">
                <a:solidFill>
                  <a:srgbClr val="86868B"/>
                </a:solidFill>
                <a:latin typeface="Arial" pitchFamily="34" charset="0"/>
                <a:ea typeface="Arial" pitchFamily="34" charset="-122"/>
                <a:cs typeface="Arial" pitchFamily="34" charset="-120"/>
              </a:rPr>
              <a:t>Appeared in, spoken at &amp; partnered with</a:t>
            </a:r>
            <a:endParaRPr lang="en-US" sz="1100" dirty="0"/>
          </a:p>
        </p:txBody>
      </p:sp>
      <p:pic>
        <p:nvPicPr>
          <p:cNvPr id="13" name="Image 0" descr="/Users/dinu/dev/upb/mobile-and-embedded-computing/slides/assets/logos/image1.png">    </p:cNvPr>
          <p:cNvPicPr>
            <a:picLocks noChangeAspect="1"/>
          </p:cNvPicPr>
          <p:nvPr/>
        </p:nvPicPr>
        <p:blipFill>
          <a:blip r:embed="rId1"/>
          <a:stretch>
            <a:fillRect/>
          </a:stretch>
        </p:blipFill>
        <p:spPr>
          <a:xfrm>
            <a:off x="822960" y="4732477"/>
            <a:ext cx="1047902" cy="319126"/>
          </a:xfrm>
          <a:prstGeom prst="rect">
            <a:avLst/>
          </a:prstGeom>
        </p:spPr>
      </p:pic>
      <p:pic>
        <p:nvPicPr>
          <p:cNvPr id="14" name="Image 1" descr="/Users/dinu/dev/upb/mobile-and-embedded-computing/slides/assets/logos/image2.png">    </p:cNvPr>
          <p:cNvPicPr>
            <a:picLocks noChangeAspect="1"/>
          </p:cNvPicPr>
          <p:nvPr/>
        </p:nvPicPr>
        <p:blipFill>
          <a:blip r:embed="rId2"/>
          <a:stretch>
            <a:fillRect/>
          </a:stretch>
        </p:blipFill>
        <p:spPr>
          <a:xfrm>
            <a:off x="2155763" y="4675327"/>
            <a:ext cx="770839" cy="433426"/>
          </a:xfrm>
          <a:prstGeom prst="rect">
            <a:avLst/>
          </a:prstGeom>
        </p:spPr>
      </p:pic>
      <p:pic>
        <p:nvPicPr>
          <p:cNvPr id="15" name="Image 2" descr="/Users/dinu/dev/upb/mobile-and-embedded-computing/slides/assets/logos/image3.png">    </p:cNvPr>
          <p:cNvPicPr>
            <a:picLocks noChangeAspect="1"/>
          </p:cNvPicPr>
          <p:nvPr/>
        </p:nvPicPr>
        <p:blipFill>
          <a:blip r:embed="rId3"/>
          <a:stretch>
            <a:fillRect/>
          </a:stretch>
        </p:blipFill>
        <p:spPr>
          <a:xfrm>
            <a:off x="3211503" y="4715104"/>
            <a:ext cx="945490" cy="353873"/>
          </a:xfrm>
          <a:prstGeom prst="rect">
            <a:avLst/>
          </a:prstGeom>
        </p:spPr>
      </p:pic>
      <p:pic>
        <p:nvPicPr>
          <p:cNvPr id="16" name="Image 3" descr="/Users/dinu/dev/upb/mobile-and-embedded-computing/slides/assets/logos/image4.png">    </p:cNvPr>
          <p:cNvPicPr>
            <a:picLocks noChangeAspect="1"/>
          </p:cNvPicPr>
          <p:nvPr/>
        </p:nvPicPr>
        <p:blipFill>
          <a:blip r:embed="rId4"/>
          <a:stretch>
            <a:fillRect/>
          </a:stretch>
        </p:blipFill>
        <p:spPr>
          <a:xfrm>
            <a:off x="4441894" y="4716932"/>
            <a:ext cx="1313078" cy="350215"/>
          </a:xfrm>
          <a:prstGeom prst="rect">
            <a:avLst/>
          </a:prstGeom>
        </p:spPr>
      </p:pic>
      <p:pic>
        <p:nvPicPr>
          <p:cNvPr id="17" name="Image 4" descr="/Users/dinu/dev/upb/mobile-and-embedded-computing/slides/assets/logos/image5.png">    </p:cNvPr>
          <p:cNvPicPr>
            <a:picLocks noChangeAspect="1"/>
          </p:cNvPicPr>
          <p:nvPr/>
        </p:nvPicPr>
        <p:blipFill>
          <a:blip r:embed="rId5"/>
          <a:stretch>
            <a:fillRect/>
          </a:stretch>
        </p:blipFill>
        <p:spPr>
          <a:xfrm>
            <a:off x="6039873" y="4626864"/>
            <a:ext cx="611734" cy="530352"/>
          </a:xfrm>
          <a:prstGeom prst="rect">
            <a:avLst/>
          </a:prstGeom>
        </p:spPr>
      </p:pic>
      <p:pic>
        <p:nvPicPr>
          <p:cNvPr id="18" name="Image 5" descr="/Users/dinu/dev/upb/mobile-and-embedded-computing/slides/assets/logos/image6.png">    </p:cNvPr>
          <p:cNvPicPr>
            <a:picLocks noChangeAspect="1"/>
          </p:cNvPicPr>
          <p:nvPr/>
        </p:nvPicPr>
        <p:blipFill>
          <a:blip r:embed="rId6"/>
          <a:stretch>
            <a:fillRect/>
          </a:stretch>
        </p:blipFill>
        <p:spPr>
          <a:xfrm>
            <a:off x="6936508" y="4626864"/>
            <a:ext cx="846734" cy="530352"/>
          </a:xfrm>
          <a:prstGeom prst="rect">
            <a:avLst/>
          </a:prstGeom>
        </p:spPr>
      </p:pic>
      <p:pic>
        <p:nvPicPr>
          <p:cNvPr id="19" name="Image 6" descr="/Users/dinu/dev/upb/mobile-and-embedded-computing/slides/assets/logos/image7.png">    </p:cNvPr>
          <p:cNvPicPr>
            <a:picLocks noChangeAspect="1"/>
          </p:cNvPicPr>
          <p:nvPr/>
        </p:nvPicPr>
        <p:blipFill>
          <a:blip r:embed="rId7"/>
          <a:stretch>
            <a:fillRect/>
          </a:stretch>
        </p:blipFill>
        <p:spPr>
          <a:xfrm>
            <a:off x="8068143" y="4767682"/>
            <a:ext cx="1691640" cy="248717"/>
          </a:xfrm>
          <a:prstGeom prst="rect">
            <a:avLst/>
          </a:prstGeom>
        </p:spPr>
      </p:pic>
      <p:pic>
        <p:nvPicPr>
          <p:cNvPr id="20" name="Image 7" descr="/Users/dinu/dev/upb/mobile-and-embedded-computing/slides/assets/logos/image8.png">    </p:cNvPr>
          <p:cNvPicPr>
            <a:picLocks noChangeAspect="1"/>
          </p:cNvPicPr>
          <p:nvPr/>
        </p:nvPicPr>
        <p:blipFill>
          <a:blip r:embed="rId8"/>
          <a:stretch>
            <a:fillRect/>
          </a:stretch>
        </p:blipFill>
        <p:spPr>
          <a:xfrm>
            <a:off x="10044684" y="4717847"/>
            <a:ext cx="1321308" cy="3483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3</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TODAY</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What you should leave with</a:t>
            </a:r>
            <a:endParaRPr lang="en-US" sz="3000" dirty="0"/>
          </a:p>
        </p:txBody>
      </p:sp>
      <p:pic>
        <p:nvPicPr>
          <p:cNvPr id="5" name="Image 0" descr="/Users/dinu/dev/upb/mobile-and-embedded-computing/slides/assets/icons2/network-ink.png">    </p:cNvPr>
          <p:cNvPicPr>
            <a:picLocks noChangeAspect="1"/>
          </p:cNvPicPr>
          <p:nvPr/>
        </p:nvPicPr>
        <p:blipFill>
          <a:blip r:embed="rId1"/>
          <a:stretch>
            <a:fillRect/>
          </a:stretch>
        </p:blipFill>
        <p:spPr>
          <a:xfrm>
            <a:off x="822960" y="1874520"/>
            <a:ext cx="384048" cy="384048"/>
          </a:xfrm>
          <a:prstGeom prst="rect">
            <a:avLst/>
          </a:prstGeom>
        </p:spPr>
      </p:pic>
      <p:sp>
        <p:nvSpPr>
          <p:cNvPr id="6" name="Text 3"/>
          <p:cNvSpPr/>
          <p:nvPr/>
        </p:nvSpPr>
        <p:spPr>
          <a:xfrm>
            <a:off x="1508760" y="1828800"/>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Cross the network</a:t>
            </a:r>
            <a:endParaRPr lang="en-US" sz="1600" dirty="0"/>
          </a:p>
        </p:txBody>
      </p:sp>
      <p:sp>
        <p:nvSpPr>
          <p:cNvPr id="7" name="Text 4"/>
          <p:cNvSpPr/>
          <p:nvPr/>
        </p:nvSpPr>
        <p:spPr>
          <a:xfrm>
            <a:off x="4709160" y="1828800"/>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A .proto contract, generated stubs, a Go server and a Dart client, and the transport under them</a:t>
            </a:r>
            <a:endParaRPr lang="en-US" sz="1300" dirty="0"/>
          </a:p>
        </p:txBody>
      </p:sp>
      <p:sp>
        <p:nvSpPr>
          <p:cNvPr id="8" name="Shape 5"/>
          <p:cNvSpPr/>
          <p:nvPr/>
        </p:nvSpPr>
        <p:spPr>
          <a:xfrm>
            <a:off x="822960" y="2432304"/>
            <a:ext cx="10543032" cy="0"/>
          </a:xfrm>
          <a:prstGeom prst="line">
            <a:avLst/>
          </a:prstGeom>
          <a:noFill/>
          <a:ln w="9525">
            <a:solidFill>
              <a:srgbClr val="D2D2D7"/>
            </a:solidFill>
            <a:prstDash val="solid"/>
          </a:ln>
        </p:spPr>
      </p:sp>
      <p:pic>
        <p:nvPicPr>
          <p:cNvPr id="9" name="Image 1" descr="/Users/dinu/dev/upb/mobile-and-embedded-computing/slides/assets/icons2/arrowleftright-ink.png">    </p:cNvPr>
          <p:cNvPicPr>
            <a:picLocks noChangeAspect="1"/>
          </p:cNvPicPr>
          <p:nvPr/>
        </p:nvPicPr>
        <p:blipFill>
          <a:blip r:embed="rId2"/>
          <a:stretch>
            <a:fillRect/>
          </a:stretch>
        </p:blipFill>
        <p:spPr>
          <a:xfrm>
            <a:off x="822960" y="2587752"/>
            <a:ext cx="384048" cy="384048"/>
          </a:xfrm>
          <a:prstGeom prst="rect">
            <a:avLst/>
          </a:prstGeom>
        </p:spPr>
      </p:pic>
      <p:sp>
        <p:nvSpPr>
          <p:cNvPr id="10" name="Text 6"/>
          <p:cNvSpPr/>
          <p:nvPr/>
        </p:nvSpPr>
        <p:spPr>
          <a:xfrm>
            <a:off x="1508760" y="2542032"/>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Cross into native</a:t>
            </a:r>
            <a:endParaRPr lang="en-US" sz="1600" dirty="0"/>
          </a:p>
        </p:txBody>
      </p:sp>
      <p:sp>
        <p:nvSpPr>
          <p:cNvPr id="11" name="Text 7"/>
          <p:cNvSpPr/>
          <p:nvPr/>
        </p:nvSpPr>
        <p:spPr>
          <a:xfrm>
            <a:off x="4709160" y="2542032"/>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MethodChannel and dart:ffi: what each one really costs, measured on your own device</a:t>
            </a:r>
            <a:endParaRPr lang="en-US" sz="1300" dirty="0"/>
          </a:p>
        </p:txBody>
      </p:sp>
      <p:sp>
        <p:nvSpPr>
          <p:cNvPr id="12" name="Shape 8"/>
          <p:cNvSpPr/>
          <p:nvPr/>
        </p:nvSpPr>
        <p:spPr>
          <a:xfrm>
            <a:off x="822960" y="3145536"/>
            <a:ext cx="10543032" cy="0"/>
          </a:xfrm>
          <a:prstGeom prst="line">
            <a:avLst/>
          </a:prstGeom>
          <a:noFill/>
          <a:ln w="9525">
            <a:solidFill>
              <a:srgbClr val="D2D2D7"/>
            </a:solidFill>
            <a:prstDash val="solid"/>
          </a:ln>
        </p:spPr>
      </p:sp>
      <p:pic>
        <p:nvPicPr>
          <p:cNvPr id="13" name="Image 2" descr="/Users/dinu/dev/upb/mobile-and-embedded-computing/slides/assets/icons2/blocks-ink.png">    </p:cNvPr>
          <p:cNvPicPr>
            <a:picLocks noChangeAspect="1"/>
          </p:cNvPicPr>
          <p:nvPr/>
        </p:nvPicPr>
        <p:blipFill>
          <a:blip r:embed="rId3"/>
          <a:stretch>
            <a:fillRect/>
          </a:stretch>
        </p:blipFill>
        <p:spPr>
          <a:xfrm>
            <a:off x="822960" y="3300984"/>
            <a:ext cx="384048" cy="384048"/>
          </a:xfrm>
          <a:prstGeom prst="rect">
            <a:avLst/>
          </a:prstGeom>
        </p:spPr>
      </p:pic>
      <p:sp>
        <p:nvSpPr>
          <p:cNvPr id="14" name="Text 9"/>
          <p:cNvSpPr/>
          <p:nvPr/>
        </p:nvSpPr>
        <p:spPr>
          <a:xfrm>
            <a:off x="1508760" y="3255264"/>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Share code across platforms</a:t>
            </a:r>
            <a:endParaRPr lang="en-US" sz="1600" dirty="0"/>
          </a:p>
        </p:txBody>
      </p:sp>
      <p:sp>
        <p:nvSpPr>
          <p:cNvPr id="15" name="Text 10"/>
          <p:cNvSpPr/>
          <p:nvPr/>
        </p:nvSpPr>
        <p:spPr>
          <a:xfrm>
            <a:off x="4709160" y="3255264"/>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A Kotlin Multiplatform module with expect/actual, consumed by Android and iOS</a:t>
            </a:r>
            <a:endParaRPr lang="en-US" sz="1300" dirty="0"/>
          </a:p>
        </p:txBody>
      </p:sp>
      <p:sp>
        <p:nvSpPr>
          <p:cNvPr id="16" name="Shape 11"/>
          <p:cNvSpPr/>
          <p:nvPr/>
        </p:nvSpPr>
        <p:spPr>
          <a:xfrm>
            <a:off x="822960" y="3858768"/>
            <a:ext cx="10543032" cy="0"/>
          </a:xfrm>
          <a:prstGeom prst="line">
            <a:avLst/>
          </a:prstGeom>
          <a:noFill/>
          <a:ln w="9525">
            <a:solidFill>
              <a:srgbClr val="D2D2D7"/>
            </a:solidFill>
            <a:prstDash val="solid"/>
          </a:ln>
        </p:spPr>
      </p:sp>
      <p:pic>
        <p:nvPicPr>
          <p:cNvPr id="17" name="Image 3" descr="/Users/dinu/dev/upb/mobile-and-embedded-computing/slides/assets/icons2/scale-ink.png">    </p:cNvPr>
          <p:cNvPicPr>
            <a:picLocks noChangeAspect="1"/>
          </p:cNvPicPr>
          <p:nvPr/>
        </p:nvPicPr>
        <p:blipFill>
          <a:blip r:embed="rId4"/>
          <a:stretch>
            <a:fillRect/>
          </a:stretch>
        </p:blipFill>
        <p:spPr>
          <a:xfrm>
            <a:off x="822960" y="4014216"/>
            <a:ext cx="384048" cy="384048"/>
          </a:xfrm>
          <a:prstGeom prst="rect">
            <a:avLst/>
          </a:prstGeom>
        </p:spPr>
      </p:pic>
      <p:sp>
        <p:nvSpPr>
          <p:cNvPr id="18" name="Text 12"/>
          <p:cNvSpPr/>
          <p:nvPr/>
        </p:nvSpPr>
        <p:spPr>
          <a:xfrm>
            <a:off x="1508760" y="3968496"/>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Place the boundary</a:t>
            </a:r>
            <a:endParaRPr lang="en-US" sz="1600" dirty="0"/>
          </a:p>
        </p:txBody>
      </p:sp>
      <p:sp>
        <p:nvSpPr>
          <p:cNvPr id="19" name="Text 13"/>
          <p:cNvSpPr/>
          <p:nvPr/>
        </p:nvSpPr>
        <p:spPr>
          <a:xfrm>
            <a:off x="4709160" y="3968496"/>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Run time or compile time, and what each choice costs your team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4</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CROSSING BOUNDARIES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Four boundaries, one lecture</a:t>
            </a:r>
            <a:endParaRPr lang="en-US" sz="3000" dirty="0"/>
          </a:p>
        </p:txBody>
      </p:sp>
      <p:pic>
        <p:nvPicPr>
          <p:cNvPr id="5" name="Image 0" descr="/Users/dinu/dev/upb/mobile-and-embedded-computing/slides/assets/icons2/cloud-ink.png">    </p:cNvPr>
          <p:cNvPicPr>
            <a:picLocks noChangeAspect="1"/>
          </p:cNvPicPr>
          <p:nvPr/>
        </p:nvPicPr>
        <p:blipFill>
          <a:blip r:embed="rId1"/>
          <a:stretch>
            <a:fillRect/>
          </a:stretch>
        </p:blipFill>
        <p:spPr>
          <a:xfrm>
            <a:off x="822960" y="1965960"/>
            <a:ext cx="384048" cy="384048"/>
          </a:xfrm>
          <a:prstGeom prst="rect">
            <a:avLst/>
          </a:prstGeom>
        </p:spPr>
      </p:pic>
      <p:sp>
        <p:nvSpPr>
          <p:cNvPr id="6" name="Text 3"/>
          <p:cNvSpPr/>
          <p:nvPr/>
        </p:nvSpPr>
        <p:spPr>
          <a:xfrm>
            <a:off x="822960" y="2496312"/>
            <a:ext cx="237744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Between machines</a:t>
            </a:r>
            <a:endParaRPr lang="en-US" sz="1450" dirty="0"/>
          </a:p>
        </p:txBody>
      </p:sp>
      <p:sp>
        <p:nvSpPr>
          <p:cNvPr id="7" name="Text 4"/>
          <p:cNvSpPr/>
          <p:nvPr/>
        </p:nvSpPr>
        <p:spPr>
          <a:xfrm>
            <a:off x="822960" y="2953512"/>
            <a:ext cx="237744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Your app and a server, one round trip apart. gRPC, protobuf, HTTP/2 and HTTP/3.</a:t>
            </a:r>
            <a:endParaRPr lang="en-US" sz="1150" dirty="0"/>
          </a:p>
        </p:txBody>
      </p:sp>
      <p:pic>
        <p:nvPicPr>
          <p:cNvPr id="8" name="Image 1" descr="/Users/dinu/dev/upb/mobile-and-embedded-computing/slides/assets/icons2/arrowleftright-ink.png">    </p:cNvPr>
          <p:cNvPicPr>
            <a:picLocks noChangeAspect="1"/>
          </p:cNvPicPr>
          <p:nvPr/>
        </p:nvPicPr>
        <p:blipFill>
          <a:blip r:embed="rId2"/>
          <a:stretch>
            <a:fillRect/>
          </a:stretch>
        </p:blipFill>
        <p:spPr>
          <a:xfrm>
            <a:off x="3538728" y="1965960"/>
            <a:ext cx="384048" cy="384048"/>
          </a:xfrm>
          <a:prstGeom prst="rect">
            <a:avLst/>
          </a:prstGeom>
        </p:spPr>
      </p:pic>
      <p:sp>
        <p:nvSpPr>
          <p:cNvPr id="9" name="Text 5"/>
          <p:cNvSpPr/>
          <p:nvPr/>
        </p:nvSpPr>
        <p:spPr>
          <a:xfrm>
            <a:off x="3538728" y="2496312"/>
            <a:ext cx="237744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Between languages</a:t>
            </a:r>
            <a:endParaRPr lang="en-US" sz="1450" dirty="0"/>
          </a:p>
        </p:txBody>
      </p:sp>
      <p:sp>
        <p:nvSpPr>
          <p:cNvPr id="10" name="Text 6"/>
          <p:cNvSpPr/>
          <p:nvPr/>
        </p:nvSpPr>
        <p:spPr>
          <a:xfrm>
            <a:off x="3538728" y="2953512"/>
            <a:ext cx="237744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Dart asking Kotlin or Swift for something. Platform channels: messages, encoded and posted.</a:t>
            </a:r>
            <a:endParaRPr lang="en-US" sz="1150" dirty="0"/>
          </a:p>
        </p:txBody>
      </p:sp>
      <p:pic>
        <p:nvPicPr>
          <p:cNvPr id="11" name="Image 2" descr="/Users/dinu/dev/upb/mobile-and-embedded-computing/slides/assets/icons2/cable-ink.png">    </p:cNvPr>
          <p:cNvPicPr>
            <a:picLocks noChangeAspect="1"/>
          </p:cNvPicPr>
          <p:nvPr/>
        </p:nvPicPr>
        <p:blipFill>
          <a:blip r:embed="rId3"/>
          <a:stretch>
            <a:fillRect/>
          </a:stretch>
        </p:blipFill>
        <p:spPr>
          <a:xfrm>
            <a:off x="6254496" y="1965960"/>
            <a:ext cx="384048" cy="384048"/>
          </a:xfrm>
          <a:prstGeom prst="rect">
            <a:avLst/>
          </a:prstGeom>
        </p:spPr>
      </p:pic>
      <p:sp>
        <p:nvSpPr>
          <p:cNvPr id="12" name="Text 7"/>
          <p:cNvSpPr/>
          <p:nvPr/>
        </p:nvSpPr>
        <p:spPr>
          <a:xfrm>
            <a:off x="6254496" y="2496312"/>
            <a:ext cx="237744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Between runtimes</a:t>
            </a:r>
            <a:endParaRPr lang="en-US" sz="1450" dirty="0"/>
          </a:p>
        </p:txBody>
      </p:sp>
      <p:sp>
        <p:nvSpPr>
          <p:cNvPr id="13" name="Text 8"/>
          <p:cNvSpPr/>
          <p:nvPr/>
        </p:nvSpPr>
        <p:spPr>
          <a:xfrm>
            <a:off x="6254496" y="2953512"/>
            <a:ext cx="237744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Dart calling C in the same process. dart:ffi: no encoding, no hop, no safety net.</a:t>
            </a:r>
            <a:endParaRPr lang="en-US" sz="1150" dirty="0"/>
          </a:p>
        </p:txBody>
      </p:sp>
      <p:pic>
        <p:nvPicPr>
          <p:cNvPr id="14" name="Image 3" descr="/Users/dinu/dev/upb/mobile-and-embedded-computing/slides/assets/icons2/blocks-ink.png">    </p:cNvPr>
          <p:cNvPicPr>
            <a:picLocks noChangeAspect="1"/>
          </p:cNvPicPr>
          <p:nvPr/>
        </p:nvPicPr>
        <p:blipFill>
          <a:blip r:embed="rId4"/>
          <a:stretch>
            <a:fillRect/>
          </a:stretch>
        </p:blipFill>
        <p:spPr>
          <a:xfrm>
            <a:off x="8970264" y="1965960"/>
            <a:ext cx="384048" cy="384048"/>
          </a:xfrm>
          <a:prstGeom prst="rect">
            <a:avLst/>
          </a:prstGeom>
        </p:spPr>
      </p:pic>
      <p:sp>
        <p:nvSpPr>
          <p:cNvPr id="15" name="Text 9"/>
          <p:cNvSpPr/>
          <p:nvPr/>
        </p:nvSpPr>
        <p:spPr>
          <a:xfrm>
            <a:off x="8970264" y="2496312"/>
            <a:ext cx="237744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Between platforms</a:t>
            </a:r>
            <a:endParaRPr lang="en-US" sz="1450" dirty="0"/>
          </a:p>
        </p:txBody>
      </p:sp>
      <p:sp>
        <p:nvSpPr>
          <p:cNvPr id="16" name="Text 10"/>
          <p:cNvSpPr/>
          <p:nvPr/>
        </p:nvSpPr>
        <p:spPr>
          <a:xfrm>
            <a:off x="8970264" y="2953512"/>
            <a:ext cx="237744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One body of logic, two operating systems. Kotlin Multiplatform, compiled natively for each.</a:t>
            </a:r>
            <a:endParaRPr lang="en-US" sz="1150" dirty="0"/>
          </a:p>
        </p:txBody>
      </p:sp>
      <p:sp>
        <p:nvSpPr>
          <p:cNvPr id="17" name="Shape 11"/>
          <p:cNvSpPr/>
          <p:nvPr/>
        </p:nvSpPr>
        <p:spPr>
          <a:xfrm>
            <a:off x="822960" y="4709160"/>
            <a:ext cx="10543032" cy="0"/>
          </a:xfrm>
          <a:prstGeom prst="line">
            <a:avLst/>
          </a:prstGeom>
          <a:noFill/>
          <a:ln w="9525">
            <a:solidFill>
              <a:srgbClr val="D2D2D7"/>
            </a:solidFill>
            <a:prstDash val="solid"/>
          </a:ln>
        </p:spPr>
      </p:sp>
      <p:sp>
        <p:nvSpPr>
          <p:cNvPr id="18" name="Text 12"/>
          <p:cNvSpPr/>
          <p:nvPr/>
        </p:nvSpPr>
        <p:spPr>
          <a:xfrm>
            <a:off x="822960" y="493776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Every boundary has a cost:</a:t>
            </a:r>
            <a:pPr indent="0" marL="0">
              <a:buNone/>
            </a:pPr>
            <a:r>
              <a:rPr lang="en-US" sz="1400" dirty="0">
                <a:solidFill>
                  <a:srgbClr val="86868B"/>
                </a:solidFill>
                <a:latin typeface="Arial" pitchFamily="34" charset="0"/>
                <a:ea typeface="Arial" pitchFamily="34" charset="-122"/>
                <a:cs typeface="Arial" pitchFamily="34" charset="-120"/>
              </a:rPr>
              <a:t> serialization, a thread hop, a round trip, or a second implementation. The engineering is choosing which one you pay.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BOUNDARY ONE</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Between machines</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gRPC, Protocol Buffers, and the transport underneath them</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6</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GRPC</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RPC and REST answer different questions</a:t>
            </a:r>
            <a:endParaRPr lang="en-US" sz="3000" dirty="0"/>
          </a:p>
        </p:txBody>
      </p:sp>
      <p:sp>
        <p:nvSpPr>
          <p:cNvPr id="5" name="Text 3"/>
          <p:cNvSpPr/>
          <p:nvPr/>
        </p:nvSpPr>
        <p:spPr>
          <a:xfrm>
            <a:off x="822960" y="1783080"/>
            <a:ext cx="5943600" cy="3200400"/>
          </a:xfrm>
          <a:prstGeom prst="rect">
            <a:avLst/>
          </a:prstGeom>
          <a:noFill/>
          <a:ln/>
        </p:spPr>
        <p:txBody>
          <a:bodyPr wrap="square" lIns="0" tIns="0" rIns="0" bIns="0" rtlCol="0" anchor="t"/>
          <a:lstStyle/>
          <a:p>
            <a:pPr indent="0" marL="0">
              <a:spcAft>
                <a:spcPts val="800"/>
              </a:spcAft>
              <a:buNone/>
            </a:pPr>
            <a:r>
              <a:rPr lang="en-US" sz="1250" b="1" dirty="0">
                <a:solidFill>
                  <a:srgbClr val="1D1D1F"/>
                </a:solidFill>
                <a:latin typeface="Arial" pitchFamily="34" charset="0"/>
                <a:ea typeface="Arial" pitchFamily="34" charset="-122"/>
                <a:cs typeface="Arial" pitchFamily="34" charset="-120"/>
              </a:rPr>
              <a:t>REST models nouns.</a:t>
            </a:r>
            <a:endParaRPr lang="en-US" sz="1250" dirty="0"/>
          </a:p>
          <a:p>
            <a:pPr indent="0" marL="0">
              <a:spcAft>
                <a:spcPts val="800"/>
              </a:spcAft>
              <a:buNone/>
            </a:pPr>
            <a:r>
              <a:rPr lang="en-US" sz="1250" dirty="0">
                <a:solidFill>
                  <a:srgbClr val="1D1D1F"/>
                </a:solidFill>
                <a:latin typeface="Arial" pitchFamily="34" charset="0"/>
                <a:ea typeface="Arial" pitchFamily="34" charset="-122"/>
                <a:cs typeface="Arial" pitchFamily="34" charset="-120"/>
              </a:rPr>
              <a:t>You name resources and use a small fixed set of verbs on them. It is a wonderful fit for a public API that strangers must discover from a URL alone.</a:t>
            </a:r>
            <a:endParaRPr lang="en-US" sz="1250" dirty="0"/>
          </a:p>
          <a:p>
            <a:pPr indent="0" marL="0">
              <a:spcAft>
                <a:spcPts val="800"/>
              </a:spcAft>
              <a:buNone/>
            </a:pPr>
            <a:r>
              <a:rPr lang="en-US" sz="1250" b="1" dirty="0">
                <a:solidFill>
                  <a:srgbClr val="1D1D1F"/>
                </a:solidFill>
                <a:latin typeface="Arial" pitchFamily="34" charset="0"/>
                <a:ea typeface="Arial" pitchFamily="34" charset="-122"/>
                <a:cs typeface="Arial" pitchFamily="34" charset="-120"/>
              </a:rPr>
              <a:t>RPC models verbs.</a:t>
            </a:r>
            <a:endParaRPr lang="en-US" sz="1250" dirty="0"/>
          </a:p>
          <a:p>
            <a:pPr indent="0" marL="0">
              <a:spcAft>
                <a:spcPts val="800"/>
              </a:spcAft>
              <a:buNone/>
            </a:pPr>
            <a:r>
              <a:rPr lang="en-US" sz="1250" dirty="0">
                <a:solidFill>
                  <a:srgbClr val="1D1D1F"/>
                </a:solidFill>
                <a:latin typeface="Arial" pitchFamily="34" charset="0"/>
                <a:ea typeface="Arial" pitchFamily="34" charset="-122"/>
                <a:cs typeface="Arial" pitchFamily="34" charset="-120"/>
              </a:rPr>
              <a:t>You name the operation your app actually needs, such as GetDashboard or SubmitReading, and call it as if it were a local function. The client and the server agree on a list of procedures, not a URL space.</a:t>
            </a:r>
            <a:endParaRPr lang="en-US" sz="1250" dirty="0"/>
          </a:p>
          <a:p>
            <a:pPr indent="0" marL="0">
              <a:spcAft>
                <a:spcPts val="800"/>
              </a:spcAft>
              <a:buNone/>
            </a:pPr>
            <a:r>
              <a:rPr lang="en-US" sz="1250" b="1" dirty="0">
                <a:solidFill>
                  <a:srgbClr val="1D1D1F"/>
                </a:solidFill>
                <a:latin typeface="Arial" pitchFamily="34" charset="0"/>
                <a:ea typeface="Arial" pitchFamily="34" charset="-122"/>
                <a:cs typeface="Arial" pitchFamily="34" charset="-120"/>
              </a:rPr>
              <a:t>On a phone the difference is round trips.</a:t>
            </a:r>
            <a:endParaRPr lang="en-US" sz="1250" dirty="0"/>
          </a:p>
          <a:p>
            <a:pPr indent="0" marL="0">
              <a:spcAft>
                <a:spcPts val="800"/>
              </a:spcAft>
              <a:buNone/>
            </a:pPr>
            <a:r>
              <a:rPr lang="en-US" sz="1250" dirty="0">
                <a:solidFill>
                  <a:srgbClr val="1D1D1F"/>
                </a:solidFill>
                <a:latin typeface="Arial" pitchFamily="34" charset="0"/>
                <a:ea typeface="Arial" pitchFamily="34" charset="-122"/>
                <a:cs typeface="Arial" pitchFamily="34" charset="-120"/>
              </a:rPr>
              <a:t>A resource-shaped API often needs three or four sequential requests to fill one screen, and on cellular each one costs 40–200 ms before any byte of your data moves.</a:t>
            </a:r>
            <a:endParaRPr lang="en-US" sz="1250" dirty="0"/>
          </a:p>
        </p:txBody>
      </p:sp>
      <p:sp>
        <p:nvSpPr>
          <p:cNvPr id="6" name="Shape 4"/>
          <p:cNvSpPr/>
          <p:nvPr/>
        </p:nvSpPr>
        <p:spPr>
          <a:xfrm>
            <a:off x="7223760" y="1828800"/>
            <a:ext cx="4142232" cy="2606040"/>
          </a:xfrm>
          <a:prstGeom prst="roundRect">
            <a:avLst>
              <a:gd name="adj" fmla="val 4211"/>
            </a:avLst>
          </a:prstGeom>
          <a:solidFill>
            <a:srgbClr val="F5F5F7"/>
          </a:solidFill>
          <a:ln/>
        </p:spPr>
      </p:sp>
      <p:sp>
        <p:nvSpPr>
          <p:cNvPr id="7" name="Text 5"/>
          <p:cNvSpPr/>
          <p:nvPr/>
        </p:nvSpPr>
        <p:spPr>
          <a:xfrm>
            <a:off x="7635240" y="2148840"/>
            <a:ext cx="3410712" cy="2011680"/>
          </a:xfrm>
          <a:prstGeom prst="rect">
            <a:avLst/>
          </a:prstGeom>
          <a:noFill/>
          <a:ln/>
        </p:spPr>
        <p:txBody>
          <a:bodyPr wrap="square" lIns="0" tIns="0" rIns="0" bIns="0" rtlCol="0" anchor="t"/>
          <a:lstStyle/>
          <a:p>
            <a:pPr indent="0" marL="0">
              <a:lnSpc>
                <a:spcPts val="1800"/>
              </a:lnSpc>
              <a:buNone/>
            </a:pPr>
            <a:r>
              <a:rPr lang="en-US" sz="950" dirty="0">
                <a:solidFill>
                  <a:srgbClr val="86868B"/>
                </a:solidFill>
                <a:latin typeface="Courier New" pitchFamily="34" charset="0"/>
                <a:ea typeface="Courier New" pitchFamily="34" charset="-122"/>
                <a:cs typeface="Courier New" pitchFamily="34" charset="-120"/>
              </a:rPr>
              <a:t># REST: four requests, four latencies</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GET /users/42</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GET /users/42/devices</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GET /devices/9/readings?limit=20</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GET /devices/9/alerts</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86868B"/>
                </a:solidFill>
                <a:latin typeface="Courier New" pitchFamily="34" charset="0"/>
                <a:ea typeface="Courier New" pitchFamily="34" charset="-122"/>
                <a:cs typeface="Courier New" pitchFamily="34" charset="-120"/>
              </a:rPr>
              <a:t># RPC: one call, one round trip,</a:t>
            </a:r>
            <a:endParaRPr lang="en-US" sz="950" dirty="0"/>
          </a:p>
          <a:p>
            <a:pPr indent="0" marL="0">
              <a:lnSpc>
                <a:spcPts val="1800"/>
              </a:lnSpc>
              <a:buNone/>
            </a:pPr>
            <a:r>
              <a:rPr lang="en-US" sz="950" dirty="0">
                <a:solidFill>
                  <a:srgbClr val="86868B"/>
                </a:solidFill>
                <a:latin typeface="Courier New" pitchFamily="34" charset="0"/>
                <a:ea typeface="Courier New" pitchFamily="34" charset="-122"/>
                <a:cs typeface="Courier New" pitchFamily="34" charset="-120"/>
              </a:rPr>
              <a:t># one response shaped like the screen</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GetDashboard(user_id: 42) -&gt; Dashboard</a:t>
            </a:r>
            <a:endParaRPr lang="en-US" sz="950" dirty="0"/>
          </a:p>
        </p:txBody>
      </p:sp>
      <p:sp>
        <p:nvSpPr>
          <p:cNvPr id="8" name="Text 6"/>
          <p:cNvSpPr/>
          <p:nvPr/>
        </p:nvSpPr>
        <p:spPr>
          <a:xfrm>
            <a:off x="7223760" y="4572000"/>
            <a:ext cx="4142232" cy="822960"/>
          </a:xfrm>
          <a:prstGeom prst="rect">
            <a:avLst/>
          </a:prstGeom>
          <a:noFill/>
          <a:ln/>
        </p:spPr>
        <p:txBody>
          <a:bodyPr wrap="square" lIns="0" tIns="0" rIns="0" bIns="0" rtlCol="0" anchor="t"/>
          <a:lstStyle/>
          <a:p>
            <a:pPr indent="0" marL="0">
              <a:spcAft>
                <a:spcPts val="1400"/>
              </a:spcAft>
              <a:buNone/>
            </a:pPr>
            <a:r>
              <a:rPr lang="en-US" sz="1150" dirty="0">
                <a:solidFill>
                  <a:srgbClr val="86868B"/>
                </a:solidFill>
                <a:latin typeface="Arial" pitchFamily="34" charset="0"/>
                <a:ea typeface="Arial" pitchFamily="34" charset="-122"/>
                <a:cs typeface="Arial" pitchFamily="34" charset="-120"/>
              </a:rPr>
              <a:t>Neither one is “modern”. gRPC wins where you own both ends; REST wins where you do not.</a:t>
            </a:r>
            <a:endParaRPr lang="en-US" sz="1150" dirty="0"/>
          </a:p>
        </p:txBody>
      </p:sp>
      <p:sp>
        <p:nvSpPr>
          <p:cNvPr id="9" name="Shape 7"/>
          <p:cNvSpPr/>
          <p:nvPr/>
        </p:nvSpPr>
        <p:spPr>
          <a:xfrm>
            <a:off x="822960" y="5257800"/>
            <a:ext cx="5943600" cy="0"/>
          </a:xfrm>
          <a:prstGeom prst="line">
            <a:avLst/>
          </a:prstGeom>
          <a:noFill/>
          <a:ln w="9525">
            <a:solidFill>
              <a:srgbClr val="D2D2D7"/>
            </a:solidFill>
            <a:prstDash val="solid"/>
          </a:ln>
        </p:spPr>
      </p:sp>
      <p:sp>
        <p:nvSpPr>
          <p:cNvPr id="10" name="Text 8"/>
          <p:cNvSpPr/>
          <p:nvPr/>
        </p:nvSpPr>
        <p:spPr>
          <a:xfrm>
            <a:off x="822960" y="5486400"/>
            <a:ext cx="594360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Design the call around the screen,</a:t>
            </a:r>
            <a:pPr indent="0" marL="0">
              <a:buNone/>
            </a:pPr>
            <a:r>
              <a:rPr lang="en-US" sz="1400" dirty="0">
                <a:solidFill>
                  <a:srgbClr val="86868B"/>
                </a:solidFill>
                <a:latin typeface="Arial" pitchFamily="34" charset="0"/>
                <a:ea typeface="Arial" pitchFamily="34" charset="-122"/>
                <a:cs typeface="Arial" pitchFamily="34" charset="-120"/>
              </a:rPr>
              <a:t> not around your database tables. The round trip is the expensive part.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7</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GRPC</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Contract first: the .proto file</a:t>
            </a:r>
            <a:endParaRPr lang="en-US" sz="3000" dirty="0"/>
          </a:p>
        </p:txBody>
      </p:sp>
      <p:sp>
        <p:nvSpPr>
          <p:cNvPr id="5" name="Shape 3"/>
          <p:cNvSpPr/>
          <p:nvPr/>
        </p:nvSpPr>
        <p:spPr>
          <a:xfrm>
            <a:off x="822960" y="1783080"/>
            <a:ext cx="7406640" cy="4343400"/>
          </a:xfrm>
          <a:prstGeom prst="roundRect">
            <a:avLst>
              <a:gd name="adj" fmla="val 2526"/>
            </a:avLst>
          </a:prstGeom>
          <a:solidFill>
            <a:srgbClr val="F5F5F7"/>
          </a:solidFill>
          <a:ln/>
        </p:spPr>
      </p:sp>
      <p:sp>
        <p:nvSpPr>
          <p:cNvPr id="6" name="Text 4"/>
          <p:cNvSpPr/>
          <p:nvPr/>
        </p:nvSpPr>
        <p:spPr>
          <a:xfrm>
            <a:off x="1234440" y="2103120"/>
            <a:ext cx="6675120" cy="3749040"/>
          </a:xfrm>
          <a:prstGeom prst="rect">
            <a:avLst/>
          </a:prstGeom>
          <a:noFill/>
          <a:ln/>
        </p:spPr>
        <p:txBody>
          <a:bodyPr wrap="square" lIns="0" tIns="0" rIns="0" bIns="0" rtlCol="0" anchor="t"/>
          <a:lstStyle/>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syntax = "proto3";</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package telemetry.v1;</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option go_package = "example.com/telemetry/gen/telemetryv1";</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message Reading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string device_id        = 1;   // numbers 1..15 cost one tag byte,</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double temp_c           = 2;   // spend them on your hottest fields</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int64  taken_at_unix_ms = 3;</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bool   from_cache       = 4;</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message SubmitReadingRequest  { Reading reading = 1;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message SubmitReadingResponse { string stored_id = 1;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message WatchDeviceRequest    { string device_id = 1;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service Telemetry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rpc SubmitReading(SubmitReadingRequest) returns (SubmitReadingResponse);</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rpc WatchDevice(WatchDeviceRequest) returns (stream Reading);</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a:t>
            </a:r>
            <a:endParaRPr lang="en-US" sz="850" dirty="0"/>
          </a:p>
        </p:txBody>
      </p:sp>
      <p:sp>
        <p:nvSpPr>
          <p:cNvPr id="7" name="Text 5"/>
          <p:cNvSpPr/>
          <p:nvPr/>
        </p:nvSpPr>
        <p:spPr>
          <a:xfrm>
            <a:off x="8549640" y="1828800"/>
            <a:ext cx="2816352" cy="4114800"/>
          </a:xfrm>
          <a:prstGeom prst="rect">
            <a:avLst/>
          </a:prstGeom>
          <a:noFill/>
          <a:ln/>
        </p:spPr>
        <p:txBody>
          <a:bodyPr wrap="square" lIns="0" tIns="0" rIns="0" bIns="0" rtlCol="0" anchor="t"/>
          <a:lstStyle/>
          <a:p>
            <a:pPr indent="0" marL="0">
              <a:spcAft>
                <a:spcPts val="600"/>
              </a:spcAft>
              <a:buNone/>
            </a:pPr>
            <a:r>
              <a:rPr lang="en-US" sz="1050" b="1" dirty="0">
                <a:solidFill>
                  <a:srgbClr val="1D1D1F"/>
                </a:solidFill>
                <a:latin typeface="Arial" pitchFamily="34" charset="0"/>
                <a:ea typeface="Arial" pitchFamily="34" charset="-122"/>
                <a:cs typeface="Arial" pitchFamily="34" charset="-120"/>
              </a:rPr>
              <a:t>One file, three teams.</a:t>
            </a:r>
            <a:endParaRPr lang="en-US" sz="1050" dirty="0"/>
          </a:p>
          <a:p>
            <a:pPr indent="0" marL="0">
              <a:spcAft>
                <a:spcPts val="600"/>
              </a:spcAft>
              <a:buNone/>
            </a:pPr>
            <a:r>
              <a:rPr lang="en-US" sz="1050" dirty="0">
                <a:solidFill>
                  <a:srgbClr val="1D1D1F"/>
                </a:solidFill>
                <a:latin typeface="Arial" pitchFamily="34" charset="0"/>
                <a:ea typeface="Arial" pitchFamily="34" charset="-122"/>
                <a:cs typeface="Arial" pitchFamily="34" charset="-120"/>
              </a:rPr>
              <a:t>The .proto is the only source of truth. Backend, Android and iOS generate from it and build in parallel.</a:t>
            </a:r>
            <a:endParaRPr lang="en-US" sz="1050" dirty="0"/>
          </a:p>
          <a:p>
            <a:pPr indent="0" marL="0">
              <a:spcAft>
                <a:spcPts val="600"/>
              </a:spcAft>
              <a:buNone/>
            </a:pPr>
            <a:r>
              <a:rPr lang="en-US" sz="1050" b="1" dirty="0">
                <a:solidFill>
                  <a:srgbClr val="1D1D1F"/>
                </a:solidFill>
                <a:latin typeface="Arial" pitchFamily="34" charset="0"/>
                <a:ea typeface="Arial" pitchFamily="34" charset="-122"/>
                <a:cs typeface="Arial" pitchFamily="34" charset="-120"/>
              </a:rPr>
              <a:t>The numbers are the wire format.</a:t>
            </a:r>
            <a:endParaRPr lang="en-US" sz="1050" dirty="0"/>
          </a:p>
          <a:p>
            <a:pPr indent="0" marL="0">
              <a:spcAft>
                <a:spcPts val="600"/>
              </a:spcAft>
              <a:buNone/>
            </a:pPr>
            <a:r>
              <a:rPr lang="en-US" sz="1050" dirty="0">
                <a:solidFill>
                  <a:srgbClr val="1D1D1F"/>
                </a:solidFill>
                <a:latin typeface="Arial" pitchFamily="34" charset="0"/>
                <a:ea typeface="Arial" pitchFamily="34" charset="-122"/>
                <a:cs typeface="Arial" pitchFamily="34" charset="-120"/>
              </a:rPr>
              <a:t>Field names never travel. The tag number does, so it can never change.</a:t>
            </a:r>
            <a:endParaRPr lang="en-US" sz="1050" dirty="0"/>
          </a:p>
          <a:p>
            <a:pPr indent="0" marL="0">
              <a:spcAft>
                <a:spcPts val="600"/>
              </a:spcAft>
              <a:buNone/>
            </a:pPr>
            <a:r>
              <a:rPr lang="en-US" sz="1050" b="1" dirty="0">
                <a:solidFill>
                  <a:srgbClr val="1D1D1F"/>
                </a:solidFill>
                <a:latin typeface="Arial" pitchFamily="34" charset="0"/>
                <a:ea typeface="Arial" pitchFamily="34" charset="-122"/>
                <a:cs typeface="Arial" pitchFamily="34" charset="-120"/>
              </a:rPr>
              <a:t>Enums need a zero.</a:t>
            </a:r>
            <a:endParaRPr lang="en-US" sz="1050" dirty="0"/>
          </a:p>
          <a:p>
            <a:pPr indent="0" marL="0">
              <a:spcAft>
                <a:spcPts val="600"/>
              </a:spcAft>
              <a:buNone/>
            </a:pPr>
            <a:r>
              <a:rPr lang="en-US" sz="1050" dirty="0">
                <a:solidFill>
                  <a:srgbClr val="1D1D1F"/>
                </a:solidFill>
                <a:latin typeface="Arial" pitchFamily="34" charset="0"/>
                <a:ea typeface="Arial" pitchFamily="34" charset="-122"/>
                <a:cs typeface="Arial" pitchFamily="34" charset="-120"/>
              </a:rPr>
              <a:t>In proto3 an absent enum decodes as 0, so 0 must mean UNSPECIFIED.</a:t>
            </a:r>
            <a:endParaRPr lang="en-US" sz="1050" dirty="0"/>
          </a:p>
          <a:p>
            <a:pPr indent="0" marL="0">
              <a:spcAft>
                <a:spcPts val="600"/>
              </a:spcAft>
              <a:buNone/>
            </a:pPr>
            <a:r>
              <a:rPr lang="en-US" sz="1050" b="1" dirty="0">
                <a:solidFill>
                  <a:srgbClr val="1D1D1F"/>
                </a:solidFill>
                <a:latin typeface="Arial" pitchFamily="34" charset="0"/>
                <a:ea typeface="Arial" pitchFamily="34" charset="-122"/>
                <a:cs typeface="Arial" pitchFamily="34" charset="-120"/>
              </a:rPr>
              <a:t>Version the package,</a:t>
            </a:r>
            <a:endParaRPr lang="en-US" sz="1050" dirty="0"/>
          </a:p>
          <a:p>
            <a:pPr indent="0" marL="0">
              <a:spcAft>
                <a:spcPts val="600"/>
              </a:spcAft>
              <a:buNone/>
            </a:pPr>
            <a:r>
              <a:rPr lang="en-US" sz="1050" dirty="0">
                <a:solidFill>
                  <a:srgbClr val="1D1D1F"/>
                </a:solidFill>
                <a:latin typeface="Arial" pitchFamily="34" charset="0"/>
                <a:ea typeface="Arial" pitchFamily="34" charset="-122"/>
                <a:cs typeface="Arial" pitchFamily="34" charset="-120"/>
              </a:rPr>
              <a:t>not the file: telemetry.v1 lets you ship a v2 alongside it.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8</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GRPC</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Generating the stubs with protoc</a:t>
            </a:r>
            <a:endParaRPr lang="en-US" sz="3000" dirty="0"/>
          </a:p>
        </p:txBody>
      </p:sp>
      <p:sp>
        <p:nvSpPr>
          <p:cNvPr id="5" name="Shape 3"/>
          <p:cNvSpPr/>
          <p:nvPr/>
        </p:nvSpPr>
        <p:spPr>
          <a:xfrm>
            <a:off x="822960" y="1828800"/>
            <a:ext cx="6583680" cy="3611880"/>
          </a:xfrm>
          <a:prstGeom prst="roundRect">
            <a:avLst>
              <a:gd name="adj" fmla="val 3038"/>
            </a:avLst>
          </a:prstGeom>
          <a:solidFill>
            <a:srgbClr val="F5F5F7"/>
          </a:solidFill>
          <a:ln/>
        </p:spPr>
      </p:sp>
      <p:sp>
        <p:nvSpPr>
          <p:cNvPr id="6" name="Text 4"/>
          <p:cNvSpPr/>
          <p:nvPr/>
        </p:nvSpPr>
        <p:spPr>
          <a:xfrm>
            <a:off x="1234440" y="2148840"/>
            <a:ext cx="5852160" cy="3017520"/>
          </a:xfrm>
          <a:prstGeom prst="rect">
            <a:avLst/>
          </a:prstGeom>
          <a:noFill/>
          <a:ln/>
        </p:spPr>
        <p:txBody>
          <a:bodyPr wrap="square" lIns="0" tIns="0" rIns="0" bIns="0" rtlCol="0" anchor="t"/>
          <a:lstStyle/>
          <a:p>
            <a:pPr indent="0" marL="0">
              <a:lnSpc>
                <a:spcPts val="1700"/>
              </a:lnSpc>
              <a:buNone/>
            </a:pPr>
            <a:r>
              <a:rPr lang="en-US" sz="900" dirty="0">
                <a:solidFill>
                  <a:srgbClr val="86868B"/>
                </a:solidFill>
                <a:latin typeface="Courier New" pitchFamily="34" charset="0"/>
                <a:ea typeface="Courier New" pitchFamily="34" charset="-122"/>
                <a:cs typeface="Courier New" pitchFamily="34" charset="-120"/>
              </a:rPr>
              <a:t># --- Go: two plugins, messages and service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go install google.golang.org/protobuf/cmd/protoc-gen-go@latest</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go install google.golang.org/grpc/cmd/protoc-gen-go-grpc@latest</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protoc -Iproto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--go_out=gen      --go_opt=paths=source_relative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--go-grpc_out=gen --go-grpc_opt=paths=source_relative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proto/telemetry/v1/telemetry.proto</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86868B"/>
                </a:solidFill>
                <a:latin typeface="Courier New" pitchFamily="34" charset="0"/>
                <a:ea typeface="Courier New" pitchFamily="34" charset="-122"/>
                <a:cs typeface="Courier New" pitchFamily="34" charset="-120"/>
              </a:rPr>
              <a:t># --- Dart: the plugin is a Dart global executable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dart pub global activate protoc_plugin</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export PATH="$PATH:$HOME/.pub-cache/bin"</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protoc -Iproto --dart_out=grpc:lib/gen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proto/telemetry/v1/telemetry.proto</a:t>
            </a:r>
            <a:endParaRPr lang="en-US" sz="900" dirty="0"/>
          </a:p>
        </p:txBody>
      </p:sp>
      <p:sp>
        <p:nvSpPr>
          <p:cNvPr id="7" name="Text 5"/>
          <p:cNvSpPr/>
          <p:nvPr/>
        </p:nvSpPr>
        <p:spPr>
          <a:xfrm>
            <a:off x="7726680" y="1828800"/>
            <a:ext cx="3639312" cy="3657600"/>
          </a:xfrm>
          <a:prstGeom prst="rect">
            <a:avLst/>
          </a:prstGeom>
          <a:noFill/>
          <a:ln/>
        </p:spPr>
        <p:txBody>
          <a:bodyPr wrap="square" lIns="0" tIns="0" rIns="0" bIns="0" rtlCol="0" anchor="t"/>
          <a:lstStyle/>
          <a:p>
            <a:pPr indent="0" marL="0">
              <a:spcAft>
                <a:spcPts val="800"/>
              </a:spcAft>
              <a:buNone/>
            </a:pPr>
            <a:r>
              <a:rPr lang="en-US" sz="1100" b="1" dirty="0">
                <a:solidFill>
                  <a:srgbClr val="1D1D1F"/>
                </a:solidFill>
                <a:latin typeface="Arial" pitchFamily="34" charset="0"/>
                <a:ea typeface="Arial" pitchFamily="34" charset="-122"/>
                <a:cs typeface="Arial" pitchFamily="34" charset="-120"/>
              </a:rPr>
              <a:t>What comes out</a:t>
            </a:r>
            <a:endParaRPr lang="en-US" sz="1100" dirty="0"/>
          </a:p>
          <a:p>
            <a:pPr indent="0" marL="0">
              <a:spcAft>
                <a:spcPts val="800"/>
              </a:spcAft>
              <a:buNone/>
            </a:pPr>
            <a:r>
              <a:rPr lang="en-US" sz="1100" dirty="0">
                <a:solidFill>
                  <a:srgbClr val="1D1D1F"/>
                </a:solidFill>
                <a:latin typeface="Arial" pitchFamily="34" charset="0"/>
                <a:ea typeface="Arial" pitchFamily="34" charset="-122"/>
                <a:cs typeface="Arial" pitchFamily="34" charset="-120"/>
              </a:rPr>
              <a:t>Reading, SubmitReadingRequest… as real classes with typed getters, equality and a binary codec.</a:t>
            </a:r>
            <a:endParaRPr lang="en-US" sz="1100" dirty="0"/>
          </a:p>
          <a:p>
            <a:pPr indent="0" marL="0">
              <a:spcAft>
                <a:spcPts val="800"/>
              </a:spcAft>
              <a:buNone/>
            </a:pPr>
            <a:r>
              <a:rPr lang="en-US" sz="1100" dirty="0">
                <a:solidFill>
                  <a:srgbClr val="1D1D1F"/>
                </a:solidFill>
                <a:latin typeface="Arial" pitchFamily="34" charset="0"/>
                <a:ea typeface="Arial" pitchFamily="34" charset="-122"/>
                <a:cs typeface="Arial" pitchFamily="34" charset="-120"/>
              </a:rPr>
              <a:t>TelemetryClient: the client stub you call.</a:t>
            </a:r>
            <a:endParaRPr lang="en-US" sz="1100" dirty="0"/>
          </a:p>
          <a:p>
            <a:pPr indent="0" marL="0">
              <a:spcAft>
                <a:spcPts val="800"/>
              </a:spcAft>
              <a:buNone/>
            </a:pPr>
            <a:r>
              <a:rPr lang="en-US" sz="1100" dirty="0">
                <a:solidFill>
                  <a:srgbClr val="1D1D1F"/>
                </a:solidFill>
                <a:latin typeface="Arial" pitchFamily="34" charset="0"/>
                <a:ea typeface="Arial" pitchFamily="34" charset="-122"/>
                <a:cs typeface="Arial" pitchFamily="34" charset="-120"/>
              </a:rPr>
              <a:t>TelemetryServiceBase / UnimplementedTelemetryServer: the skeleton you implement.</a:t>
            </a:r>
            <a:endParaRPr lang="en-US" sz="1100" dirty="0"/>
          </a:p>
          <a:p>
            <a:pPr indent="0" marL="0">
              <a:spcAft>
                <a:spcPts val="800"/>
              </a:spcAft>
              <a:buNone/>
            </a:pPr>
            <a:r>
              <a:rPr lang="en-US" sz="1100" b="1" dirty="0">
                <a:solidFill>
                  <a:srgbClr val="1D1D1F"/>
                </a:solidFill>
                <a:latin typeface="Arial" pitchFamily="34" charset="0"/>
                <a:ea typeface="Arial" pitchFamily="34" charset="-122"/>
                <a:cs typeface="Arial" pitchFamily="34" charset="-120"/>
              </a:rPr>
              <a:t>Generated code is build output.</a:t>
            </a:r>
            <a:endParaRPr lang="en-US" sz="1100" dirty="0"/>
          </a:p>
          <a:p>
            <a:pPr indent="0" marL="0">
              <a:spcAft>
                <a:spcPts val="800"/>
              </a:spcAft>
              <a:buNone/>
            </a:pPr>
            <a:r>
              <a:rPr lang="en-US" sz="1100" dirty="0">
                <a:solidFill>
                  <a:srgbClr val="1D1D1F"/>
                </a:solidFill>
                <a:latin typeface="Arial" pitchFamily="34" charset="0"/>
                <a:ea typeface="Arial" pitchFamily="34" charset="-122"/>
                <a:cs typeface="Arial" pitchFamily="34" charset="-120"/>
              </a:rPr>
              <a:t>Never edit it. Either commit it and regenerate on change, or run protoc in CI. Pick one and write it down.</a:t>
            </a:r>
            <a:endParaRPr lang="en-US" sz="1100" dirty="0"/>
          </a:p>
          <a:p>
            <a:pPr indent="0" marL="0">
              <a:spcAft>
                <a:spcPts val="800"/>
              </a:spcAft>
              <a:buNone/>
            </a:pPr>
            <a:r>
              <a:rPr lang="en-US" sz="1100" b="1" dirty="0">
                <a:solidFill>
                  <a:srgbClr val="1D1D1F"/>
                </a:solidFill>
                <a:latin typeface="Arial" pitchFamily="34" charset="0"/>
                <a:ea typeface="Arial" pitchFamily="34" charset="-122"/>
                <a:cs typeface="Arial" pitchFamily="34" charset="-120"/>
              </a:rPr>
              <a:t>pubspec.yaml needs protobuf and grpc.</a:t>
            </a:r>
            <a:endParaRPr lang="en-US" sz="1100" dirty="0"/>
          </a:p>
        </p:txBody>
      </p:sp>
      <p:sp>
        <p:nvSpPr>
          <p:cNvPr id="8" name="Shape 6"/>
          <p:cNvSpPr/>
          <p:nvPr/>
        </p:nvSpPr>
        <p:spPr>
          <a:xfrm>
            <a:off x="822960" y="5577840"/>
            <a:ext cx="10543032" cy="0"/>
          </a:xfrm>
          <a:prstGeom prst="line">
            <a:avLst/>
          </a:prstGeom>
          <a:noFill/>
          <a:ln w="9525">
            <a:solidFill>
              <a:srgbClr val="D2D2D7"/>
            </a:solidFill>
            <a:prstDash val="solid"/>
          </a:ln>
        </p:spPr>
      </p:sp>
      <p:sp>
        <p:nvSpPr>
          <p:cNvPr id="9" name="Text 7"/>
          <p:cNvSpPr/>
          <p:nvPr/>
        </p:nvSpPr>
        <p:spPr>
          <a:xfrm>
            <a:off x="822960" y="580644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The compiler writes the parsing code,</a:t>
            </a:r>
            <a:pPr indent="0" marL="0">
              <a:buNone/>
            </a:pPr>
            <a:r>
              <a:rPr lang="en-US" sz="1400" dirty="0">
                <a:solidFill>
                  <a:srgbClr val="86868B"/>
                </a:solidFill>
                <a:latin typeface="Arial" pitchFamily="34" charset="0"/>
                <a:ea typeface="Arial" pitchFamily="34" charset="-122"/>
                <a:cs typeface="Arial" pitchFamily="34" charset="-120"/>
              </a:rPr>
              <a:t> which is the code you would otherwise get subtly wrong.</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9</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GRPC · GO</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A Go server for that service</a:t>
            </a:r>
            <a:endParaRPr lang="en-US" sz="3000" dirty="0"/>
          </a:p>
        </p:txBody>
      </p:sp>
      <p:sp>
        <p:nvSpPr>
          <p:cNvPr id="5" name="Text 3"/>
          <p:cNvSpPr/>
          <p:nvPr/>
        </p:nvSpPr>
        <p:spPr>
          <a:xfrm>
            <a:off x="822960" y="1627632"/>
            <a:ext cx="5943600" cy="256032"/>
          </a:xfrm>
          <a:prstGeom prst="rect">
            <a:avLst/>
          </a:prstGeom>
          <a:noFill/>
          <a:ln/>
        </p:spPr>
        <p:txBody>
          <a:bodyPr wrap="square" lIns="0" tIns="0" rIns="0" bIns="0" rtlCol="0" anchor="ctr"/>
          <a:lstStyle/>
          <a:p>
            <a:pPr indent="0" marL="0">
              <a:buNone/>
            </a:pPr>
            <a:r>
              <a:rPr lang="en-US" sz="1200" b="1" dirty="0">
                <a:solidFill>
                  <a:srgbClr val="1D1D1F"/>
                </a:solidFill>
                <a:latin typeface="Arial" pitchFamily="34" charset="0"/>
                <a:ea typeface="Arial" pitchFamily="34" charset="-122"/>
                <a:cs typeface="Arial" pitchFamily="34" charset="-120"/>
              </a:rPr>
              <a:t>Unary: the generated interface, implemented</a:t>
            </a:r>
            <a:endParaRPr lang="en-US" sz="1200" dirty="0"/>
          </a:p>
        </p:txBody>
      </p:sp>
      <p:sp>
        <p:nvSpPr>
          <p:cNvPr id="6" name="Shape 4"/>
          <p:cNvSpPr/>
          <p:nvPr/>
        </p:nvSpPr>
        <p:spPr>
          <a:xfrm>
            <a:off x="822960" y="1901952"/>
            <a:ext cx="5943600" cy="4297680"/>
          </a:xfrm>
          <a:prstGeom prst="roundRect">
            <a:avLst>
              <a:gd name="adj" fmla="val 2553"/>
            </a:avLst>
          </a:prstGeom>
          <a:solidFill>
            <a:srgbClr val="F5F5F7"/>
          </a:solidFill>
          <a:ln/>
        </p:spPr>
      </p:sp>
      <p:sp>
        <p:nvSpPr>
          <p:cNvPr id="7" name="Text 5"/>
          <p:cNvSpPr/>
          <p:nvPr/>
        </p:nvSpPr>
        <p:spPr>
          <a:xfrm>
            <a:off x="1234440" y="2221992"/>
            <a:ext cx="5212080" cy="3703320"/>
          </a:xfrm>
          <a:prstGeom prst="rect">
            <a:avLst/>
          </a:prstGeom>
          <a:noFill/>
          <a:ln/>
        </p:spPr>
        <p:txBody>
          <a:bodyPr wrap="square" lIns="0" tIns="0" rIns="0" bIns="0" rtlCol="0" anchor="t"/>
          <a:lstStyle/>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type server struct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pb.UnimplementedTelemetryServer   // new RPCs keep compiling</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store *Store</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func (s *server) SubmitReading(ctx context.Context,</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req *pb.SubmitReadingRequest) (*pb.SubmitReadingResponse, error)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r := req.GetReading()</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if r.GetDeviceId() == ""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return nil, status.Error(codes.InvalidArgument, "device_id")</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id, err := s.store.Save(ctx, r)   // ctx = the client's deadline</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if err != nil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return nil, status.Error(codes.Internal, "save failed")</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return &amp;pb.SubmitReadingResponse{StoredId: id}, nil</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func main()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lis, _ := net.Listen("tcp", ":50051")</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g := grpc.NewServer()</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pb.RegisterTelemetryServer(g, &amp;server{store: NewStore()})</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log.Fatal(g.Serve(lis))</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a:t>
            </a:r>
            <a:endParaRPr lang="en-US" sz="750" dirty="0"/>
          </a:p>
        </p:txBody>
      </p:sp>
      <p:sp>
        <p:nvSpPr>
          <p:cNvPr id="8" name="Text 6"/>
          <p:cNvSpPr/>
          <p:nvPr/>
        </p:nvSpPr>
        <p:spPr>
          <a:xfrm>
            <a:off x="7086600" y="1627632"/>
            <a:ext cx="4279392" cy="256032"/>
          </a:xfrm>
          <a:prstGeom prst="rect">
            <a:avLst/>
          </a:prstGeom>
          <a:noFill/>
          <a:ln/>
        </p:spPr>
        <p:txBody>
          <a:bodyPr wrap="square" lIns="0" tIns="0" rIns="0" bIns="0" rtlCol="0" anchor="ctr"/>
          <a:lstStyle/>
          <a:p>
            <a:pPr indent="0" marL="0">
              <a:buNone/>
            </a:pPr>
            <a:r>
              <a:rPr lang="en-US" sz="1200" b="1" dirty="0">
                <a:solidFill>
                  <a:srgbClr val="1D1D1F"/>
                </a:solidFill>
                <a:latin typeface="Arial" pitchFamily="34" charset="0"/>
                <a:ea typeface="Arial" pitchFamily="34" charset="-122"/>
                <a:cs typeface="Arial" pitchFamily="34" charset="-120"/>
              </a:rPr>
              <a:t>Server streaming</a:t>
            </a:r>
            <a:endParaRPr lang="en-US" sz="1200" dirty="0"/>
          </a:p>
        </p:txBody>
      </p:sp>
      <p:sp>
        <p:nvSpPr>
          <p:cNvPr id="9" name="Shape 7"/>
          <p:cNvSpPr/>
          <p:nvPr/>
        </p:nvSpPr>
        <p:spPr>
          <a:xfrm>
            <a:off x="7086600" y="1901952"/>
            <a:ext cx="4279392" cy="2697480"/>
          </a:xfrm>
          <a:prstGeom prst="roundRect">
            <a:avLst>
              <a:gd name="adj" fmla="val 4068"/>
            </a:avLst>
          </a:prstGeom>
          <a:solidFill>
            <a:srgbClr val="F5F5F7"/>
          </a:solidFill>
          <a:ln/>
        </p:spPr>
      </p:sp>
      <p:sp>
        <p:nvSpPr>
          <p:cNvPr id="10" name="Text 8"/>
          <p:cNvSpPr/>
          <p:nvPr/>
        </p:nvSpPr>
        <p:spPr>
          <a:xfrm>
            <a:off x="7498080" y="2221992"/>
            <a:ext cx="3547872" cy="2103120"/>
          </a:xfrm>
          <a:prstGeom prst="rect">
            <a:avLst/>
          </a:prstGeom>
          <a:noFill/>
          <a:ln/>
        </p:spPr>
        <p:txBody>
          <a:bodyPr wrap="square" lIns="0" tIns="0" rIns="0" bIns="0" rtlCol="0" anchor="t"/>
          <a:lstStyle/>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func (s *server) WatchDevice(</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req *pb.WatchDeviceRequest,</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stream pb.Telemetry_WatchDeviceServer,</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error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ctx := stream.Context()</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for r := range s.store.Sub(ctx, req.DeviceId)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if err := stream.Send(r); err != nil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return err</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return nil   // ends the stream cleanly</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a:t>
            </a:r>
            <a:endParaRPr lang="en-US" sz="750" dirty="0"/>
          </a:p>
        </p:txBody>
      </p:sp>
      <p:sp>
        <p:nvSpPr>
          <p:cNvPr id="11" name="Text 9"/>
          <p:cNvSpPr/>
          <p:nvPr/>
        </p:nvSpPr>
        <p:spPr>
          <a:xfrm>
            <a:off x="7086600" y="4754880"/>
            <a:ext cx="4279392" cy="1463040"/>
          </a:xfrm>
          <a:prstGeom prst="rect">
            <a:avLst/>
          </a:prstGeom>
          <a:noFill/>
          <a:ln/>
        </p:spPr>
        <p:txBody>
          <a:bodyPr wrap="square" lIns="0" tIns="0" rIns="0" bIns="0" rtlCol="0" anchor="t"/>
          <a:lstStyle/>
          <a:p>
            <a:pPr indent="0" marL="0">
              <a:spcAft>
                <a:spcPts val="500"/>
              </a:spcAft>
              <a:buNone/>
            </a:pPr>
            <a:r>
              <a:rPr lang="en-US" sz="1050" b="1" dirty="0">
                <a:solidFill>
                  <a:srgbClr val="1D1D1F"/>
                </a:solidFill>
                <a:latin typeface="Arial" pitchFamily="34" charset="0"/>
                <a:ea typeface="Arial" pitchFamily="34" charset="-122"/>
                <a:cs typeface="Arial" pitchFamily="34" charset="-120"/>
              </a:rPr>
              <a:t>The same Go you met in Lecture 5,</a:t>
            </a:r>
            <a:endParaRPr lang="en-US" sz="1050" dirty="0"/>
          </a:p>
          <a:p>
            <a:pPr indent="0" marL="0">
              <a:spcAft>
                <a:spcPts val="500"/>
              </a:spcAft>
              <a:buNone/>
            </a:pPr>
            <a:r>
              <a:rPr lang="en-US" sz="1050" dirty="0">
                <a:solidFill>
                  <a:srgbClr val="1D1D1F"/>
                </a:solidFill>
                <a:latin typeface="Arial" pitchFamily="34" charset="0"/>
                <a:ea typeface="Arial" pitchFamily="34" charset="-122"/>
                <a:cs typeface="Arial" pitchFamily="34" charset="-120"/>
              </a:rPr>
              <a:t>now speaking a generated interface instead of hand-written JSON handlers.</a:t>
            </a:r>
            <a:endParaRPr lang="en-US" sz="1050" dirty="0"/>
          </a:p>
          <a:p>
            <a:pPr indent="0" marL="0">
              <a:spcAft>
                <a:spcPts val="500"/>
              </a:spcAft>
              <a:buNone/>
            </a:pPr>
            <a:r>
              <a:rPr lang="en-US" sz="1050" b="1" dirty="0">
                <a:solidFill>
                  <a:srgbClr val="1D1D1F"/>
                </a:solidFill>
                <a:latin typeface="Arial" pitchFamily="34" charset="0"/>
                <a:ea typeface="Arial" pitchFamily="34" charset="-122"/>
                <a:cs typeface="Arial" pitchFamily="34" charset="-120"/>
              </a:rPr>
              <a:t>ctx is the deadline.</a:t>
            </a:r>
            <a:endParaRPr lang="en-US" sz="1050" dirty="0"/>
          </a:p>
          <a:p>
            <a:pPr indent="0" marL="0">
              <a:spcAft>
                <a:spcPts val="500"/>
              </a:spcAft>
              <a:buNone/>
            </a:pPr>
            <a:r>
              <a:rPr lang="en-US" sz="1050" dirty="0">
                <a:solidFill>
                  <a:srgbClr val="1D1D1F"/>
                </a:solidFill>
                <a:latin typeface="Arial" pitchFamily="34" charset="0"/>
                <a:ea typeface="Arial" pitchFamily="34" charset="-122"/>
                <a:cs typeface="Arial" pitchFamily="34" charset="-120"/>
              </a:rPr>
              <a:t>When the phone gives up after 2 s, ctx is canceled here and the query is abandoned, so no work continues for a call nobody is waiting on.</a:t>
            </a:r>
            <a:endParaRPr lang="en-US" sz="1050" dirty="0"/>
          </a:p>
          <a:p>
            <a:pPr indent="0" marL="0">
              <a:spcAft>
                <a:spcPts val="500"/>
              </a:spcAft>
              <a:buNone/>
            </a:pPr>
            <a:r>
              <a:rPr lang="en-US" sz="1050" b="1" dirty="0">
                <a:solidFill>
                  <a:srgbClr val="1D1D1F"/>
                </a:solidFill>
                <a:latin typeface="Arial" pitchFamily="34" charset="0"/>
                <a:ea typeface="Arial" pitchFamily="34" charset="-122"/>
                <a:cs typeface="Arial" pitchFamily="34" charset="-120"/>
              </a:rPr>
              <a:t>Errors are codes, not strings:</a:t>
            </a:r>
            <a:endParaRPr lang="en-US" sz="1050" dirty="0"/>
          </a:p>
          <a:p>
            <a:pPr indent="0" marL="0">
              <a:spcAft>
                <a:spcPts val="500"/>
              </a:spcAft>
              <a:buNone/>
            </a:pPr>
            <a:r>
              <a:rPr lang="en-US" sz="1050" dirty="0">
                <a:solidFill>
                  <a:srgbClr val="1D1D1F"/>
                </a:solidFill>
                <a:latin typeface="Arial" pitchFamily="34" charset="0"/>
                <a:ea typeface="Arial" pitchFamily="34" charset="-122"/>
                <a:cs typeface="Arial" pitchFamily="34" charset="-120"/>
              </a:rPr>
              <a:t>InvalidArgument, NotFound, Unauthenticated, Unavailable. The client branches on them.</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10</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GRPC · DART</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The generated Dart client</a:t>
            </a:r>
            <a:endParaRPr lang="en-US" sz="3000" dirty="0"/>
          </a:p>
        </p:txBody>
      </p:sp>
      <p:sp>
        <p:nvSpPr>
          <p:cNvPr id="5" name="Text 3"/>
          <p:cNvSpPr/>
          <p:nvPr/>
        </p:nvSpPr>
        <p:spPr>
          <a:xfrm>
            <a:off x="822960" y="1627632"/>
            <a:ext cx="5943600" cy="256032"/>
          </a:xfrm>
          <a:prstGeom prst="rect">
            <a:avLst/>
          </a:prstGeom>
          <a:noFill/>
          <a:ln/>
        </p:spPr>
        <p:txBody>
          <a:bodyPr wrap="square" lIns="0" tIns="0" rIns="0" bIns="0" rtlCol="0" anchor="ctr"/>
          <a:lstStyle/>
          <a:p>
            <a:pPr indent="0" marL="0">
              <a:buNone/>
            </a:pPr>
            <a:r>
              <a:rPr lang="en-US" sz="1200" b="1" dirty="0">
                <a:solidFill>
                  <a:srgbClr val="1D1D1F"/>
                </a:solidFill>
                <a:latin typeface="Arial" pitchFamily="34" charset="0"/>
                <a:ea typeface="Arial" pitchFamily="34" charset="-122"/>
                <a:cs typeface="Arial" pitchFamily="34" charset="-120"/>
              </a:rPr>
              <a:t>Unary: a deadline and an auth header</a:t>
            </a:r>
            <a:endParaRPr lang="en-US" sz="1200" dirty="0"/>
          </a:p>
        </p:txBody>
      </p:sp>
      <p:sp>
        <p:nvSpPr>
          <p:cNvPr id="6" name="Shape 4"/>
          <p:cNvSpPr/>
          <p:nvPr/>
        </p:nvSpPr>
        <p:spPr>
          <a:xfrm>
            <a:off x="822960" y="1901952"/>
            <a:ext cx="5943600" cy="4297680"/>
          </a:xfrm>
          <a:prstGeom prst="roundRect">
            <a:avLst>
              <a:gd name="adj" fmla="val 2553"/>
            </a:avLst>
          </a:prstGeom>
          <a:solidFill>
            <a:srgbClr val="F5F5F7"/>
          </a:solidFill>
          <a:ln/>
        </p:spPr>
      </p:sp>
      <p:sp>
        <p:nvSpPr>
          <p:cNvPr id="7" name="Text 5"/>
          <p:cNvSpPr/>
          <p:nvPr/>
        </p:nvSpPr>
        <p:spPr>
          <a:xfrm>
            <a:off x="1234440" y="2221992"/>
            <a:ext cx="5212080" cy="3703320"/>
          </a:xfrm>
          <a:prstGeom prst="rect">
            <a:avLst/>
          </a:prstGeom>
          <a:noFill/>
          <a:ln/>
        </p:spPr>
        <p:txBody>
          <a:bodyPr wrap="square" lIns="0" tIns="0" rIns="0" bIns="0" rtlCol="0" anchor="t"/>
          <a:lstStyle/>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final channel = ClientChannel('api.example.com', port: 443,</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options: const ChannelOptions(</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credentials: ChannelCredentials.secure(),</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idleTimeout: Duration(seconds: 30),  // let an idle socket close</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final client = TelemetryClient(channel);</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try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final res = await client.submitReading(</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SubmitReadingRequest(reading: Reading()</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..deviceId = id</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..tempC = 21.5</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..takenAtUnixMs = Int64(nowMs)),</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options: CallOptions(</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timeout: const Duration(seconds: 2),</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metadata: {'authorization': 'Bearer $token'},</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debugPrint(res.storedId);</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on GrpcError catch (e)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if (e.code == StatusCode.deadlineExceeded) { /* retry */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a:t>
            </a:r>
            <a:endParaRPr lang="en-US" sz="750" dirty="0"/>
          </a:p>
        </p:txBody>
      </p:sp>
      <p:sp>
        <p:nvSpPr>
          <p:cNvPr id="8" name="Text 6"/>
          <p:cNvSpPr/>
          <p:nvPr/>
        </p:nvSpPr>
        <p:spPr>
          <a:xfrm>
            <a:off x="7086600" y="1627632"/>
            <a:ext cx="4279392" cy="256032"/>
          </a:xfrm>
          <a:prstGeom prst="rect">
            <a:avLst/>
          </a:prstGeom>
          <a:noFill/>
          <a:ln/>
        </p:spPr>
        <p:txBody>
          <a:bodyPr wrap="square" lIns="0" tIns="0" rIns="0" bIns="0" rtlCol="0" anchor="ctr"/>
          <a:lstStyle/>
          <a:p>
            <a:pPr indent="0" marL="0">
              <a:buNone/>
            </a:pPr>
            <a:r>
              <a:rPr lang="en-US" sz="1200" b="1" dirty="0">
                <a:solidFill>
                  <a:srgbClr val="1D1D1F"/>
                </a:solidFill>
                <a:latin typeface="Arial" pitchFamily="34" charset="0"/>
                <a:ea typeface="Arial" pitchFamily="34" charset="-122"/>
                <a:cs typeface="Arial" pitchFamily="34" charset="-120"/>
              </a:rPr>
              <a:t>Server streaming is just a Dart Stream</a:t>
            </a:r>
            <a:endParaRPr lang="en-US" sz="1200" dirty="0"/>
          </a:p>
        </p:txBody>
      </p:sp>
      <p:sp>
        <p:nvSpPr>
          <p:cNvPr id="9" name="Shape 7"/>
          <p:cNvSpPr/>
          <p:nvPr/>
        </p:nvSpPr>
        <p:spPr>
          <a:xfrm>
            <a:off x="7086600" y="1901952"/>
            <a:ext cx="4279392" cy="2377440"/>
          </a:xfrm>
          <a:prstGeom prst="roundRect">
            <a:avLst>
              <a:gd name="adj" fmla="val 4615"/>
            </a:avLst>
          </a:prstGeom>
          <a:solidFill>
            <a:srgbClr val="F5F5F7"/>
          </a:solidFill>
          <a:ln/>
        </p:spPr>
      </p:sp>
      <p:sp>
        <p:nvSpPr>
          <p:cNvPr id="10" name="Text 8"/>
          <p:cNvSpPr/>
          <p:nvPr/>
        </p:nvSpPr>
        <p:spPr>
          <a:xfrm>
            <a:off x="7498080" y="2221992"/>
            <a:ext cx="3547872" cy="1783080"/>
          </a:xfrm>
          <a:prstGeom prst="rect">
            <a:avLst/>
          </a:prstGeom>
          <a:noFill/>
          <a:ln/>
        </p:spPr>
        <p:txBody>
          <a:bodyPr wrap="square" lIns="0" tIns="0" rIns="0" bIns="0" rtlCol="0" anchor="t"/>
          <a:lstStyle/>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final sub = client</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.watchDevice(WatchDeviceRequest()..deviceId = id)</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.listen(_onReading, onError: _onError);</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@override</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void dispose()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sub.cancel();         // stop the server sending</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channel.shutdown();   // and let the radio sleep</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super.dispose();</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a:t>
            </a:r>
            <a:endParaRPr lang="en-US" sz="750" dirty="0"/>
          </a:p>
        </p:txBody>
      </p:sp>
      <p:sp>
        <p:nvSpPr>
          <p:cNvPr id="11" name="Text 9"/>
          <p:cNvSpPr/>
          <p:nvPr/>
        </p:nvSpPr>
        <p:spPr>
          <a:xfrm>
            <a:off x="7086600" y="4480560"/>
            <a:ext cx="4279392" cy="1737360"/>
          </a:xfrm>
          <a:prstGeom prst="rect">
            <a:avLst/>
          </a:prstGeom>
          <a:noFill/>
          <a:ln/>
        </p:spPr>
        <p:txBody>
          <a:bodyPr wrap="square" lIns="0" tIns="0" rIns="0" bIns="0" rtlCol="0" anchor="t"/>
          <a:lstStyle/>
          <a:p>
            <a:pPr indent="0" marL="0">
              <a:spcAft>
                <a:spcPts val="600"/>
              </a:spcAft>
              <a:buNone/>
            </a:pPr>
            <a:r>
              <a:rPr lang="en-US" sz="1050" b="1" dirty="0">
                <a:solidFill>
                  <a:srgbClr val="1D1D1F"/>
                </a:solidFill>
                <a:latin typeface="Arial" pitchFamily="34" charset="0"/>
                <a:ea typeface="Arial" pitchFamily="34" charset="-122"/>
                <a:cs typeface="Arial" pitchFamily="34" charset="-120"/>
              </a:rPr>
              <a:t>It looks like a local call.</a:t>
            </a:r>
            <a:endParaRPr lang="en-US" sz="1050" dirty="0"/>
          </a:p>
          <a:p>
            <a:pPr indent="0" marL="0">
              <a:spcAft>
                <a:spcPts val="600"/>
              </a:spcAft>
              <a:buNone/>
            </a:pPr>
            <a:r>
              <a:rPr lang="en-US" sz="1050" dirty="0">
                <a:solidFill>
                  <a:srgbClr val="1D1D1F"/>
                </a:solidFill>
                <a:latin typeface="Arial" pitchFamily="34" charset="0"/>
                <a:ea typeface="Arial" pitchFamily="34" charset="-122"/>
                <a:cs typeface="Arial" pitchFamily="34" charset="-120"/>
              </a:rPr>
              <a:t>That is the point of RPC, and the danger. It is still the network.</a:t>
            </a:r>
            <a:endParaRPr lang="en-US" sz="1050" dirty="0"/>
          </a:p>
          <a:p>
            <a:pPr indent="0" marL="0">
              <a:spcAft>
                <a:spcPts val="600"/>
              </a:spcAft>
              <a:buNone/>
            </a:pPr>
            <a:r>
              <a:rPr lang="en-US" sz="1050" b="1" dirty="0">
                <a:solidFill>
                  <a:srgbClr val="1D1D1F"/>
                </a:solidFill>
                <a:latin typeface="Arial" pitchFamily="34" charset="0"/>
                <a:ea typeface="Arial" pitchFamily="34" charset="-122"/>
                <a:cs typeface="Arial" pitchFamily="34" charset="-120"/>
              </a:rPr>
              <a:t>Always set a deadline.</a:t>
            </a:r>
            <a:endParaRPr lang="en-US" sz="1050" dirty="0"/>
          </a:p>
          <a:p>
            <a:pPr indent="0" marL="0">
              <a:spcAft>
                <a:spcPts val="600"/>
              </a:spcAft>
              <a:buNone/>
            </a:pPr>
            <a:r>
              <a:rPr lang="en-US" sz="1050" dirty="0">
                <a:solidFill>
                  <a:srgbClr val="1D1D1F"/>
                </a:solidFill>
                <a:latin typeface="Arial" pitchFamily="34" charset="0"/>
                <a:ea typeface="Arial" pitchFamily="34" charset="-122"/>
                <a:cs typeface="Arial" pitchFamily="34" charset="-120"/>
              </a:rPr>
              <a:t>Without one, a stalled call holds a UI state forever.</a:t>
            </a:r>
            <a:endParaRPr lang="en-US" sz="1050" dirty="0"/>
          </a:p>
          <a:p>
            <a:pPr indent="0" marL="0">
              <a:spcAft>
                <a:spcPts val="600"/>
              </a:spcAft>
              <a:buNone/>
            </a:pPr>
            <a:r>
              <a:rPr lang="en-US" sz="1050" b="1" dirty="0">
                <a:solidFill>
                  <a:srgbClr val="1D1D1F"/>
                </a:solidFill>
                <a:latin typeface="Arial" pitchFamily="34" charset="0"/>
                <a:ea typeface="Arial" pitchFamily="34" charset="-122"/>
                <a:cs typeface="Arial" pitchFamily="34" charset="-120"/>
              </a:rPr>
              <a:t>Cancel in dispose().</a:t>
            </a:r>
            <a:endParaRPr lang="en-US" sz="1050" dirty="0"/>
          </a:p>
          <a:p>
            <a:pPr indent="0" marL="0">
              <a:spcAft>
                <a:spcPts val="600"/>
              </a:spcAft>
              <a:buNone/>
            </a:pPr>
            <a:r>
              <a:rPr lang="en-US" sz="1050" dirty="0">
                <a:solidFill>
                  <a:srgbClr val="1D1D1F"/>
                </a:solidFill>
                <a:latin typeface="Arial" pitchFamily="34" charset="0"/>
                <a:ea typeface="Arial" pitchFamily="34" charset="-122"/>
                <a:cs typeface="Arial" pitchFamily="34" charset="-120"/>
              </a:rPr>
              <a:t>An open stream keeps the radio and the server busy for a screen the user already left.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11</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PROTOCOL BUFFERS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Why protobuf is smaller, and by how much</a:t>
            </a:r>
            <a:endParaRPr lang="en-US" sz="3000" dirty="0"/>
          </a:p>
        </p:txBody>
      </p:sp>
      <p:sp>
        <p:nvSpPr>
          <p:cNvPr id="5" name="Text 3"/>
          <p:cNvSpPr/>
          <p:nvPr/>
        </p:nvSpPr>
        <p:spPr>
          <a:xfrm>
            <a:off x="822960" y="1737360"/>
            <a:ext cx="6492240" cy="4023360"/>
          </a:xfrm>
          <a:prstGeom prst="rect">
            <a:avLst/>
          </a:prstGeom>
          <a:noFill/>
          <a:ln/>
        </p:spPr>
        <p:txBody>
          <a:bodyPr wrap="square" lIns="0" tIns="0" rIns="0" bIns="0" rtlCol="0" anchor="t"/>
          <a:lstStyle/>
          <a:p>
            <a:pPr indent="0" marL="0">
              <a:spcAft>
                <a:spcPts val="800"/>
              </a:spcAft>
              <a:buNone/>
            </a:pPr>
            <a:r>
              <a:rPr lang="en-US" sz="1150" b="1" dirty="0">
                <a:solidFill>
                  <a:srgbClr val="1D1D1F"/>
                </a:solidFill>
                <a:latin typeface="Arial" pitchFamily="34" charset="0"/>
                <a:ea typeface="Arial" pitchFamily="34" charset="-122"/>
                <a:cs typeface="Arial" pitchFamily="34" charset="-120"/>
              </a:rPr>
              <a:t>Four mechanisms, all of them structural:</a:t>
            </a:r>
            <a:endParaRPr lang="en-US" sz="1150" dirty="0"/>
          </a:p>
          <a:p>
            <a:pPr indent="0" marL="0">
              <a:spcAft>
                <a:spcPts val="800"/>
              </a:spcAft>
              <a:buNone/>
            </a:pPr>
            <a:r>
              <a:rPr lang="en-US" sz="1150" dirty="0">
                <a:solidFill>
                  <a:srgbClr val="1D1D1F"/>
                </a:solidFill>
                <a:latin typeface="Arial" pitchFamily="34" charset="0"/>
                <a:ea typeface="Arial" pitchFamily="34" charset="-122"/>
                <a:cs typeface="Arial" pitchFamily="34" charset="-120"/>
              </a:rPr>
              <a:t>It is binary: no quotes, commas, braces or whitespace, and numbers are not re-rendered as text.</a:t>
            </a:r>
            <a:endParaRPr lang="en-US" sz="1150" dirty="0"/>
          </a:p>
          <a:p>
            <a:pPr indent="0" marL="0">
              <a:spcAft>
                <a:spcPts val="800"/>
              </a:spcAft>
              <a:buNone/>
            </a:pPr>
            <a:r>
              <a:rPr lang="en-US" sz="1150" dirty="0">
                <a:solidFill>
                  <a:srgbClr val="1D1D1F"/>
                </a:solidFill>
                <a:latin typeface="Arial" pitchFamily="34" charset="0"/>
                <a:ea typeface="Arial" pitchFamily="34" charset="-122"/>
                <a:cs typeface="Arial" pitchFamily="34" charset="-120"/>
              </a:rPr>
              <a:t>Fields are identified by number, not name: a tag byte packs the field number and a 3-bit wire type, so "taken_at_unix_ms" costs 1 byte on the wire instead of 18.</a:t>
            </a:r>
            <a:endParaRPr lang="en-US" sz="1150" dirty="0"/>
          </a:p>
          <a:p>
            <a:pPr indent="0" marL="0">
              <a:spcAft>
                <a:spcPts val="800"/>
              </a:spcAft>
              <a:buNone/>
            </a:pPr>
            <a:r>
              <a:rPr lang="en-US" sz="1150" dirty="0">
                <a:solidFill>
                  <a:srgbClr val="1D1D1F"/>
                </a:solidFill>
                <a:latin typeface="Arial" pitchFamily="34" charset="0"/>
                <a:ea typeface="Arial" pitchFamily="34" charset="-122"/>
                <a:cs typeface="Arial" pitchFamily="34" charset="-120"/>
              </a:rPr>
              <a:t>Integers are varints: 7 bits of value per byte, so 300 is AC 02 rather than four fixed bytes, and small numbers cost one byte.</a:t>
            </a:r>
            <a:endParaRPr lang="en-US" sz="1150" dirty="0"/>
          </a:p>
          <a:p>
            <a:pPr indent="0" marL="0">
              <a:spcAft>
                <a:spcPts val="800"/>
              </a:spcAft>
              <a:buNone/>
            </a:pPr>
            <a:r>
              <a:rPr lang="en-US" sz="1150" dirty="0">
                <a:solidFill>
                  <a:srgbClr val="1D1D1F"/>
                </a:solidFill>
                <a:latin typeface="Arial" pitchFamily="34" charset="0"/>
                <a:ea typeface="Arial" pitchFamily="34" charset="-122"/>
                <a:cs typeface="Arial" pitchFamily="34" charset="-120"/>
              </a:rPr>
              <a:t>Nothing is sent for a field left at its default.</a:t>
            </a:r>
            <a:endParaRPr lang="en-US" sz="1150" dirty="0"/>
          </a:p>
          <a:p>
            <a:pPr indent="0" marL="0">
              <a:spcAft>
                <a:spcPts val="800"/>
              </a:spcAft>
              <a:buNone/>
            </a:pPr>
            <a:r>
              <a:rPr lang="en-US" sz="1150" b="1" dirty="0">
                <a:solidFill>
                  <a:srgbClr val="1D1D1F"/>
                </a:solidFill>
                <a:latin typeface="Arial" pitchFamily="34" charset="0"/>
                <a:ea typeface="Arial" pitchFamily="34" charset="-122"/>
                <a:cs typeface="Arial" pitchFamily="34" charset="-120"/>
              </a:rPr>
              <a:t>How much smaller? That depends entirely on your data.</a:t>
            </a:r>
            <a:endParaRPr lang="en-US" sz="1150" dirty="0"/>
          </a:p>
          <a:p>
            <a:pPr indent="0" marL="0">
              <a:spcAft>
                <a:spcPts val="800"/>
              </a:spcAft>
              <a:buNone/>
            </a:pPr>
            <a:r>
              <a:rPr lang="en-US" sz="1150" dirty="0">
                <a:solidFill>
                  <a:srgbClr val="1D1D1F"/>
                </a:solidFill>
                <a:latin typeface="Arial" pitchFamily="34" charset="0"/>
                <a:ea typeface="Arial" pitchFamily="34" charset="-122"/>
                <a:cs typeface="Arial" pitchFamily="34" charset="-120"/>
              </a:rPr>
              <a:t>A message of short integers with long field names shrinks enormously. A message that is one long UTF-8 string barely shrinks at all, because the string is the same bytes in both formats. And gzip, which almost every JSON API and gRPC channel already applies, compresses away exactly the repetition protobuf never sends, narrowing the gap further.</a:t>
            </a:r>
            <a:endParaRPr lang="en-US" sz="1150" dirty="0"/>
          </a:p>
        </p:txBody>
      </p:sp>
      <p:sp>
        <p:nvSpPr>
          <p:cNvPr id="6" name="Shape 4"/>
          <p:cNvSpPr/>
          <p:nvPr/>
        </p:nvSpPr>
        <p:spPr>
          <a:xfrm>
            <a:off x="7589520" y="1828800"/>
            <a:ext cx="3776472" cy="3063240"/>
          </a:xfrm>
          <a:prstGeom prst="roundRect">
            <a:avLst>
              <a:gd name="adj" fmla="val 3582"/>
            </a:avLst>
          </a:prstGeom>
          <a:solidFill>
            <a:srgbClr val="F5F5F7"/>
          </a:solidFill>
          <a:ln/>
        </p:spPr>
      </p:sp>
      <p:sp>
        <p:nvSpPr>
          <p:cNvPr id="7" name="Text 5"/>
          <p:cNvSpPr/>
          <p:nvPr/>
        </p:nvSpPr>
        <p:spPr>
          <a:xfrm>
            <a:off x="8001000" y="2148840"/>
            <a:ext cx="3044952" cy="2468880"/>
          </a:xfrm>
          <a:prstGeom prst="rect">
            <a:avLst/>
          </a:prstGeom>
          <a:noFill/>
          <a:ln/>
        </p:spPr>
        <p:txBody>
          <a:bodyPr wrap="square" lIns="0" tIns="0" rIns="0" bIns="0" rtlCol="0" anchor="t"/>
          <a:lstStyle/>
          <a:p>
            <a:pPr indent="0" marL="0">
              <a:lnSpc>
                <a:spcPts val="1500"/>
              </a:lnSpc>
              <a:buNone/>
            </a:pPr>
            <a:r>
              <a:rPr lang="en-US" sz="800" dirty="0">
                <a:solidFill>
                  <a:srgbClr val="86868B"/>
                </a:solidFill>
                <a:latin typeface="Courier New" pitchFamily="34" charset="0"/>
                <a:ea typeface="Courier New" pitchFamily="34" charset="-122"/>
                <a:cs typeface="Courier New" pitchFamily="34" charset="-120"/>
              </a:rPr>
              <a:t># JSON: 38 bytes, key names ride along</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{"device_id":"esp32-a1","temp_c":21.5}</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a:t>
            </a:r>
            <a:endParaRPr lang="en-US" sz="800" dirty="0"/>
          </a:p>
          <a:p>
            <a:pPr indent="0" marL="0">
              <a:lnSpc>
                <a:spcPts val="1500"/>
              </a:lnSpc>
              <a:buNone/>
            </a:pPr>
            <a:r>
              <a:rPr lang="en-US" sz="800" dirty="0">
                <a:solidFill>
                  <a:srgbClr val="86868B"/>
                </a:solidFill>
                <a:latin typeface="Courier New" pitchFamily="34" charset="0"/>
                <a:ea typeface="Courier New" pitchFamily="34" charset="-122"/>
                <a:cs typeface="Courier New" pitchFamily="34" charset="-120"/>
              </a:rPr>
              <a:t># protobuf: 19 bytes for this message</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0A 08 65 73 70 33 32 2D 61 31</a:t>
            </a:r>
            <a:endParaRPr lang="en-US" sz="800" dirty="0"/>
          </a:p>
          <a:p>
            <a:pPr indent="0" marL="0">
              <a:lnSpc>
                <a:spcPts val="1500"/>
              </a:lnSpc>
              <a:buNone/>
            </a:pPr>
            <a:r>
              <a:rPr lang="en-US" sz="800" dirty="0">
                <a:solidFill>
                  <a:srgbClr val="86868B"/>
                </a:solidFill>
                <a:latin typeface="Courier New" pitchFamily="34" charset="0"/>
                <a:ea typeface="Courier New" pitchFamily="34" charset="-122"/>
                <a:cs typeface="Courier New" pitchFamily="34" charset="-120"/>
              </a:rPr>
              <a:t>#  |  |  \__ 'esp32-a1' ______/</a:t>
            </a:r>
            <a:endParaRPr lang="en-US" sz="800" dirty="0"/>
          </a:p>
          <a:p>
            <a:pPr indent="0" marL="0">
              <a:lnSpc>
                <a:spcPts val="1500"/>
              </a:lnSpc>
              <a:buNone/>
            </a:pPr>
            <a:r>
              <a:rPr lang="en-US" sz="800" dirty="0">
                <a:solidFill>
                  <a:srgbClr val="86868B"/>
                </a:solidFill>
                <a:latin typeface="Courier New" pitchFamily="34" charset="0"/>
                <a:ea typeface="Courier New" pitchFamily="34" charset="-122"/>
                <a:cs typeface="Courier New" pitchFamily="34" charset="-120"/>
              </a:rPr>
              <a:t>#  |  len=8</a:t>
            </a:r>
            <a:endParaRPr lang="en-US" sz="800" dirty="0"/>
          </a:p>
          <a:p>
            <a:pPr indent="0" marL="0">
              <a:lnSpc>
                <a:spcPts val="1500"/>
              </a:lnSpc>
              <a:buNone/>
            </a:pPr>
            <a:r>
              <a:rPr lang="en-US" sz="800" dirty="0">
                <a:solidFill>
                  <a:srgbClr val="86868B"/>
                </a:solidFill>
                <a:latin typeface="Courier New" pitchFamily="34" charset="0"/>
                <a:ea typeface="Courier New" pitchFamily="34" charset="-122"/>
                <a:cs typeface="Courier New" pitchFamily="34" charset="-120"/>
              </a:rPr>
              <a:t>#  field 1, wire type 2 (LEN)</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11 00 00 00 00 00 80 35 40</a:t>
            </a:r>
            <a:endParaRPr lang="en-US" sz="800" dirty="0"/>
          </a:p>
          <a:p>
            <a:pPr indent="0" marL="0">
              <a:lnSpc>
                <a:spcPts val="1500"/>
              </a:lnSpc>
              <a:buNone/>
            </a:pPr>
            <a:r>
              <a:rPr lang="en-US" sz="800" dirty="0">
                <a:solidFill>
                  <a:srgbClr val="86868B"/>
                </a:solidFill>
                <a:latin typeface="Courier New" pitchFamily="34" charset="0"/>
                <a:ea typeface="Courier New" pitchFamily="34" charset="-122"/>
                <a:cs typeface="Courier New" pitchFamily="34" charset="-120"/>
              </a:rPr>
              <a:t>#  field 2, wire type 1 (I64) = 21.5</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a:t>
            </a:r>
            <a:endParaRPr lang="en-US" sz="800" dirty="0"/>
          </a:p>
          <a:p>
            <a:pPr indent="0" marL="0">
              <a:lnSpc>
                <a:spcPts val="1500"/>
              </a:lnSpc>
              <a:buNone/>
            </a:pPr>
            <a:r>
              <a:rPr lang="en-US" sz="800" dirty="0">
                <a:solidFill>
                  <a:srgbClr val="86868B"/>
                </a:solidFill>
                <a:latin typeface="Courier New" pitchFamily="34" charset="0"/>
                <a:ea typeface="Courier New" pitchFamily="34" charset="-122"/>
                <a:cs typeface="Courier New" pitchFamily="34" charset="-120"/>
              </a:rPr>
              <a:t># varint: 300 -&gt; AC 02   (2 bytes, not 4)</a:t>
            </a:r>
            <a:endParaRPr lang="en-US" sz="800" dirty="0"/>
          </a:p>
        </p:txBody>
      </p:sp>
      <p:sp>
        <p:nvSpPr>
          <p:cNvPr id="8" name="Shape 6"/>
          <p:cNvSpPr/>
          <p:nvPr/>
        </p:nvSpPr>
        <p:spPr>
          <a:xfrm>
            <a:off x="822960" y="5166360"/>
            <a:ext cx="10543032" cy="0"/>
          </a:xfrm>
          <a:prstGeom prst="line">
            <a:avLst/>
          </a:prstGeom>
          <a:noFill/>
          <a:ln w="9525">
            <a:solidFill>
              <a:srgbClr val="D2D2D7"/>
            </a:solidFill>
            <a:prstDash val="solid"/>
          </a:ln>
        </p:spPr>
      </p:sp>
      <p:sp>
        <p:nvSpPr>
          <p:cNvPr id="9" name="Text 7"/>
          <p:cNvSpPr/>
          <p:nvPr/>
        </p:nvSpPr>
        <p:spPr>
          <a:xfrm>
            <a:off x="822960" y="539496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Quote the mechanism, not a multiplier.</a:t>
            </a:r>
            <a:pPr indent="0" marL="0">
              <a:buNone/>
            </a:pPr>
            <a:r>
              <a:rPr lang="en-US" sz="1400" dirty="0">
                <a:solidFill>
                  <a:srgbClr val="86868B"/>
                </a:solidFill>
                <a:latin typeface="Arial" pitchFamily="34" charset="0"/>
                <a:ea typeface="Arial" pitchFamily="34" charset="-122"/>
                <a:cs typeface="Arial" pitchFamily="34" charset="-120"/>
              </a:rPr>
              <a:t> “3–10× smaller” and “30–50% smaller” are both somebody else's payload. Measure yours.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12</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PROTOCOL BUFFERS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Schema evolution without breaking old apps</a:t>
            </a:r>
            <a:endParaRPr lang="en-US" sz="3000" dirty="0"/>
          </a:p>
        </p:txBody>
      </p:sp>
      <p:sp>
        <p:nvSpPr>
          <p:cNvPr id="5" name="Shape 3"/>
          <p:cNvSpPr/>
          <p:nvPr/>
        </p:nvSpPr>
        <p:spPr>
          <a:xfrm>
            <a:off x="822960" y="1783080"/>
            <a:ext cx="5943600" cy="3154680"/>
          </a:xfrm>
          <a:prstGeom prst="roundRect">
            <a:avLst>
              <a:gd name="adj" fmla="val 3478"/>
            </a:avLst>
          </a:prstGeom>
          <a:solidFill>
            <a:srgbClr val="F5F5F7"/>
          </a:solidFill>
          <a:ln/>
        </p:spPr>
      </p:sp>
      <p:sp>
        <p:nvSpPr>
          <p:cNvPr id="6" name="Text 4"/>
          <p:cNvSpPr/>
          <p:nvPr/>
        </p:nvSpPr>
        <p:spPr>
          <a:xfrm>
            <a:off x="1234440" y="2103120"/>
            <a:ext cx="5212080" cy="2560320"/>
          </a:xfrm>
          <a:prstGeom prst="rect">
            <a:avLst/>
          </a:prstGeom>
          <a:noFill/>
          <a:ln/>
        </p:spPr>
        <p:txBody>
          <a:bodyPr wrap="square" lIns="0" tIns="0" rIns="0" bIns="0" rtlCol="0" anchor="t"/>
          <a:lstStyle/>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message Reading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string device_id        = 1;</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double temp_c           = 2;</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int64  taken_at_unix_ms = 3;</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bool   from_cache       = 4;</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double humidity         = 5;   // added in v2</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optional int32 rssi     = 6;   // explicit presence:</a:t>
            </a:r>
            <a:endParaRPr lang="en-US" sz="850" dirty="0"/>
          </a:p>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 tells 0 apart from absent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reserved 7;                    // 7 was battery_pct, deleted.</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reserved "battery_pct";        // never reuse a number or a name</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a:t>
            </a:r>
            <a:endParaRPr lang="en-US" sz="850" dirty="0"/>
          </a:p>
        </p:txBody>
      </p:sp>
      <p:sp>
        <p:nvSpPr>
          <p:cNvPr id="7" name="Text 5"/>
          <p:cNvSpPr/>
          <p:nvPr/>
        </p:nvSpPr>
        <p:spPr>
          <a:xfrm>
            <a:off x="7223760" y="1828800"/>
            <a:ext cx="4142232" cy="3840480"/>
          </a:xfrm>
          <a:prstGeom prst="rect">
            <a:avLst/>
          </a:prstGeom>
          <a:noFill/>
          <a:ln/>
        </p:spPr>
        <p:txBody>
          <a:bodyPr wrap="square" lIns="0" tIns="0" rIns="0" bIns="0" rtlCol="0" anchor="t"/>
          <a:lstStyle/>
          <a:p>
            <a:pPr indent="0" marL="0">
              <a:spcAft>
                <a:spcPts val="800"/>
              </a:spcAft>
              <a:buNone/>
            </a:pPr>
            <a:r>
              <a:rPr lang="en-US" sz="1100" b="1" dirty="0">
                <a:solidFill>
                  <a:srgbClr val="1D1D1F"/>
                </a:solidFill>
                <a:latin typeface="Arial" pitchFamily="34" charset="0"/>
                <a:ea typeface="Arial" pitchFamily="34" charset="-122"/>
                <a:cs typeface="Arial" pitchFamily="34" charset="-120"/>
              </a:rPr>
              <a:t>Old app, new server (forward).</a:t>
            </a:r>
            <a:endParaRPr lang="en-US" sz="1100" dirty="0"/>
          </a:p>
          <a:p>
            <a:pPr indent="0" marL="0">
              <a:spcAft>
                <a:spcPts val="800"/>
              </a:spcAft>
              <a:buNone/>
            </a:pPr>
            <a:r>
              <a:rPr lang="en-US" sz="1100" dirty="0">
                <a:solidFill>
                  <a:srgbClr val="1D1D1F"/>
                </a:solidFill>
                <a:latin typeface="Arial" pitchFamily="34" charset="0"/>
                <a:ea typeface="Arial" pitchFamily="34" charset="-122"/>
                <a:cs typeface="Arial" pitchFamily="34" charset="-120"/>
              </a:rPr>
              <a:t>The parser hits tag 5, reads its wire type, and knows exactly how many bytes to skip. It does not crash; proto3 even keeps the unknown bytes and re-emits them if it echoes the message back.</a:t>
            </a:r>
            <a:endParaRPr lang="en-US" sz="1100" dirty="0"/>
          </a:p>
          <a:p>
            <a:pPr indent="0" marL="0">
              <a:spcAft>
                <a:spcPts val="800"/>
              </a:spcAft>
              <a:buNone/>
            </a:pPr>
            <a:r>
              <a:rPr lang="en-US" sz="1100" b="1" dirty="0">
                <a:solidFill>
                  <a:srgbClr val="1D1D1F"/>
                </a:solidFill>
                <a:latin typeface="Arial" pitchFamily="34" charset="0"/>
                <a:ea typeface="Arial" pitchFamily="34" charset="-122"/>
                <a:cs typeface="Arial" pitchFamily="34" charset="-120"/>
              </a:rPr>
              <a:t>New server, old app (backward).</a:t>
            </a:r>
            <a:endParaRPr lang="en-US" sz="1100" dirty="0"/>
          </a:p>
          <a:p>
            <a:pPr indent="0" marL="0">
              <a:spcAft>
                <a:spcPts val="800"/>
              </a:spcAft>
              <a:buNone/>
            </a:pPr>
            <a:r>
              <a:rPr lang="en-US" sz="1100" dirty="0">
                <a:solidFill>
                  <a:srgbClr val="1D1D1F"/>
                </a:solidFill>
                <a:latin typeface="Arial" pitchFamily="34" charset="0"/>
                <a:ea typeface="Arial" pitchFamily="34" charset="-122"/>
                <a:cs typeface="Arial" pitchFamily="34" charset="-120"/>
              </a:rPr>
              <a:t>The missing field decodes to its default: 0, empty string, empty list. Which means “absent” and “zero” are the same thing unless you mark the field optional.</a:t>
            </a:r>
            <a:endParaRPr lang="en-US" sz="1100" dirty="0"/>
          </a:p>
          <a:p>
            <a:pPr indent="0" marL="0">
              <a:spcAft>
                <a:spcPts val="800"/>
              </a:spcAft>
              <a:buNone/>
            </a:pPr>
            <a:r>
              <a:rPr lang="en-US" sz="1100" b="1" dirty="0">
                <a:solidFill>
                  <a:srgbClr val="1D1D1F"/>
                </a:solidFill>
                <a:latin typeface="Arial" pitchFamily="34" charset="0"/>
                <a:ea typeface="Arial" pitchFamily="34" charset="-122"/>
                <a:cs typeface="Arial" pitchFamily="34" charset="-120"/>
              </a:rPr>
              <a:t>The rules that keep both true:</a:t>
            </a:r>
            <a:endParaRPr lang="en-US" sz="1100" dirty="0"/>
          </a:p>
          <a:p>
            <a:pPr indent="0" marL="0">
              <a:spcAft>
                <a:spcPts val="800"/>
              </a:spcAft>
              <a:buNone/>
            </a:pPr>
            <a:r>
              <a:rPr lang="en-US" sz="1100" dirty="0">
                <a:solidFill>
                  <a:srgbClr val="1D1D1F"/>
                </a:solidFill>
                <a:latin typeface="Arial" pitchFamily="34" charset="0"/>
                <a:ea typeface="Arial" pitchFamily="34" charset="-122"/>
                <a:cs typeface="Arial" pitchFamily="34" charset="-120"/>
              </a:rPr>
              <a:t>never renumber a field, never reuse a deleted number, never change a field's type, and reserve what you remove.</a:t>
            </a:r>
            <a:endParaRPr lang="en-US" sz="1100" dirty="0"/>
          </a:p>
        </p:txBody>
      </p:sp>
      <p:sp>
        <p:nvSpPr>
          <p:cNvPr id="8" name="Shape 6"/>
          <p:cNvSpPr/>
          <p:nvPr/>
        </p:nvSpPr>
        <p:spPr>
          <a:xfrm>
            <a:off x="822960" y="5166360"/>
            <a:ext cx="5943600" cy="0"/>
          </a:xfrm>
          <a:prstGeom prst="line">
            <a:avLst/>
          </a:prstGeom>
          <a:noFill/>
          <a:ln w="9525">
            <a:solidFill>
              <a:srgbClr val="D2D2D7"/>
            </a:solidFill>
            <a:prstDash val="solid"/>
          </a:ln>
        </p:spPr>
      </p:sp>
      <p:sp>
        <p:nvSpPr>
          <p:cNvPr id="9" name="Text 7"/>
          <p:cNvSpPr/>
          <p:nvPr/>
        </p:nvSpPr>
        <p:spPr>
          <a:xfrm>
            <a:off x="822960" y="5394960"/>
            <a:ext cx="594360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Users do not update.</a:t>
            </a:r>
            <a:pPr indent="0" marL="0">
              <a:buNone/>
            </a:pPr>
            <a:r>
              <a:rPr lang="en-US" sz="1400" dirty="0">
                <a:solidFill>
                  <a:srgbClr val="86868B"/>
                </a:solidFill>
                <a:latin typeface="Arial" pitchFamily="34" charset="0"/>
                <a:ea typeface="Arial" pitchFamily="34" charset="-122"/>
                <a:cs typeface="Arial" pitchFamily="34" charset="-120"/>
              </a:rPr>
              <a:t> A year-old build is still on the network, and the wire format is the compatibility contract.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13</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GRPC</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Four call shapes, not one</a:t>
            </a:r>
            <a:endParaRPr lang="en-US" sz="3000" dirty="0"/>
          </a:p>
        </p:txBody>
      </p:sp>
      <p:sp>
        <p:nvSpPr>
          <p:cNvPr id="5" name="Text 3"/>
          <p:cNvSpPr/>
          <p:nvPr/>
        </p:nvSpPr>
        <p:spPr>
          <a:xfrm>
            <a:off x="822960" y="1828800"/>
            <a:ext cx="5120640" cy="292608"/>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Unary</a:t>
            </a:r>
            <a:endParaRPr lang="en-US" sz="1500" dirty="0"/>
          </a:p>
        </p:txBody>
      </p:sp>
      <p:sp>
        <p:nvSpPr>
          <p:cNvPr id="6" name="Text 4"/>
          <p:cNvSpPr/>
          <p:nvPr/>
        </p:nvSpPr>
        <p:spPr>
          <a:xfrm>
            <a:off x="822960" y="2157984"/>
            <a:ext cx="5120640" cy="274320"/>
          </a:xfrm>
          <a:prstGeom prst="rect">
            <a:avLst/>
          </a:prstGeom>
          <a:noFill/>
          <a:ln/>
        </p:spPr>
        <p:txBody>
          <a:bodyPr wrap="square" lIns="0" tIns="0" rIns="0" bIns="0" rtlCol="0" anchor="ctr"/>
          <a:lstStyle/>
          <a:p>
            <a:pPr indent="0" marL="0">
              <a:buNone/>
            </a:pPr>
            <a:r>
              <a:rPr lang="en-US" sz="950" dirty="0">
                <a:solidFill>
                  <a:srgbClr val="0071E3"/>
                </a:solidFill>
                <a:latin typeface="Courier New" pitchFamily="34" charset="0"/>
                <a:ea typeface="Courier New" pitchFamily="34" charset="-122"/>
                <a:cs typeface="Courier New" pitchFamily="34" charset="-120"/>
              </a:rPr>
              <a:t>rpc GetDevice(GetDeviceRequest) returns (Device);</a:t>
            </a:r>
            <a:endParaRPr lang="en-US" sz="950" dirty="0"/>
          </a:p>
        </p:txBody>
      </p:sp>
      <p:sp>
        <p:nvSpPr>
          <p:cNvPr id="7" name="Text 5"/>
          <p:cNvSpPr/>
          <p:nvPr/>
        </p:nvSpPr>
        <p:spPr>
          <a:xfrm>
            <a:off x="822960" y="2487168"/>
            <a:ext cx="5120640" cy="77724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One request, one response. The default, and what almost every screen load should be.</a:t>
            </a:r>
            <a:endParaRPr lang="en-US" sz="1150" dirty="0"/>
          </a:p>
        </p:txBody>
      </p:sp>
      <p:sp>
        <p:nvSpPr>
          <p:cNvPr id="8" name="Text 6"/>
          <p:cNvSpPr/>
          <p:nvPr/>
        </p:nvSpPr>
        <p:spPr>
          <a:xfrm>
            <a:off x="6400800" y="1828800"/>
            <a:ext cx="5120640" cy="292608"/>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Server streaming</a:t>
            </a:r>
            <a:endParaRPr lang="en-US" sz="1500" dirty="0"/>
          </a:p>
        </p:txBody>
      </p:sp>
      <p:sp>
        <p:nvSpPr>
          <p:cNvPr id="9" name="Text 7"/>
          <p:cNvSpPr/>
          <p:nvPr/>
        </p:nvSpPr>
        <p:spPr>
          <a:xfrm>
            <a:off x="6400800" y="2157984"/>
            <a:ext cx="5120640" cy="274320"/>
          </a:xfrm>
          <a:prstGeom prst="rect">
            <a:avLst/>
          </a:prstGeom>
          <a:noFill/>
          <a:ln/>
        </p:spPr>
        <p:txBody>
          <a:bodyPr wrap="square" lIns="0" tIns="0" rIns="0" bIns="0" rtlCol="0" anchor="ctr"/>
          <a:lstStyle/>
          <a:p>
            <a:pPr indent="0" marL="0">
              <a:buNone/>
            </a:pPr>
            <a:r>
              <a:rPr lang="en-US" sz="950" dirty="0">
                <a:solidFill>
                  <a:srgbClr val="0071E3"/>
                </a:solidFill>
                <a:latin typeface="Courier New" pitchFamily="34" charset="0"/>
                <a:ea typeface="Courier New" pitchFamily="34" charset="-122"/>
                <a:cs typeface="Courier New" pitchFamily="34" charset="-120"/>
              </a:rPr>
              <a:t>rpc WatchDevice(WatchDeviceRequest) returns (stream Reading);</a:t>
            </a:r>
            <a:endParaRPr lang="en-US" sz="950" dirty="0"/>
          </a:p>
        </p:txBody>
      </p:sp>
      <p:sp>
        <p:nvSpPr>
          <p:cNvPr id="10" name="Text 8"/>
          <p:cNvSpPr/>
          <p:nvPr/>
        </p:nvSpPr>
        <p:spPr>
          <a:xfrm>
            <a:off x="6400800" y="2487168"/>
            <a:ext cx="5120640" cy="77724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One request, many responses. Live readings, a feed, or progress on a long job, instead of polling.</a:t>
            </a:r>
            <a:endParaRPr lang="en-US" sz="1150" dirty="0"/>
          </a:p>
        </p:txBody>
      </p:sp>
      <p:sp>
        <p:nvSpPr>
          <p:cNvPr id="11" name="Text 9"/>
          <p:cNvSpPr/>
          <p:nvPr/>
        </p:nvSpPr>
        <p:spPr>
          <a:xfrm>
            <a:off x="822960" y="3429000"/>
            <a:ext cx="5120640" cy="292608"/>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Client streaming</a:t>
            </a:r>
            <a:endParaRPr lang="en-US" sz="1500" dirty="0"/>
          </a:p>
        </p:txBody>
      </p:sp>
      <p:sp>
        <p:nvSpPr>
          <p:cNvPr id="12" name="Text 10"/>
          <p:cNvSpPr/>
          <p:nvPr/>
        </p:nvSpPr>
        <p:spPr>
          <a:xfrm>
            <a:off x="822960" y="3758184"/>
            <a:ext cx="5120640" cy="274320"/>
          </a:xfrm>
          <a:prstGeom prst="rect">
            <a:avLst/>
          </a:prstGeom>
          <a:noFill/>
          <a:ln/>
        </p:spPr>
        <p:txBody>
          <a:bodyPr wrap="square" lIns="0" tIns="0" rIns="0" bIns="0" rtlCol="0" anchor="ctr"/>
          <a:lstStyle/>
          <a:p>
            <a:pPr indent="0" marL="0">
              <a:buNone/>
            </a:pPr>
            <a:r>
              <a:rPr lang="en-US" sz="950" dirty="0">
                <a:solidFill>
                  <a:srgbClr val="0071E3"/>
                </a:solidFill>
                <a:latin typeface="Courier New" pitchFamily="34" charset="0"/>
                <a:ea typeface="Courier New" pitchFamily="34" charset="-122"/>
                <a:cs typeface="Courier New" pitchFamily="34" charset="-120"/>
              </a:rPr>
              <a:t>rpc UploadBatch(stream Reading) returns (UploadSummary);</a:t>
            </a:r>
            <a:endParaRPr lang="en-US" sz="950" dirty="0"/>
          </a:p>
        </p:txBody>
      </p:sp>
      <p:sp>
        <p:nvSpPr>
          <p:cNvPr id="13" name="Text 11"/>
          <p:cNvSpPr/>
          <p:nvPr/>
        </p:nvSpPr>
        <p:spPr>
          <a:xfrm>
            <a:off x="822960" y="4087368"/>
            <a:ext cx="5120640" cy="77724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Many requests, one response. Flush a queue of offline readings, upload a file in chunks, and get one acknowledgement.</a:t>
            </a:r>
            <a:endParaRPr lang="en-US" sz="1150" dirty="0"/>
          </a:p>
        </p:txBody>
      </p:sp>
      <p:sp>
        <p:nvSpPr>
          <p:cNvPr id="14" name="Text 12"/>
          <p:cNvSpPr/>
          <p:nvPr/>
        </p:nvSpPr>
        <p:spPr>
          <a:xfrm>
            <a:off x="6400800" y="3429000"/>
            <a:ext cx="5120640" cy="292608"/>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Bidirectional streaming</a:t>
            </a:r>
            <a:endParaRPr lang="en-US" sz="1500" dirty="0"/>
          </a:p>
        </p:txBody>
      </p:sp>
      <p:sp>
        <p:nvSpPr>
          <p:cNvPr id="15" name="Text 13"/>
          <p:cNvSpPr/>
          <p:nvPr/>
        </p:nvSpPr>
        <p:spPr>
          <a:xfrm>
            <a:off x="6400800" y="3758184"/>
            <a:ext cx="5120640" cy="274320"/>
          </a:xfrm>
          <a:prstGeom prst="rect">
            <a:avLst/>
          </a:prstGeom>
          <a:noFill/>
          <a:ln/>
        </p:spPr>
        <p:txBody>
          <a:bodyPr wrap="square" lIns="0" tIns="0" rIns="0" bIns="0" rtlCol="0" anchor="ctr"/>
          <a:lstStyle/>
          <a:p>
            <a:pPr indent="0" marL="0">
              <a:buNone/>
            </a:pPr>
            <a:r>
              <a:rPr lang="en-US" sz="950" dirty="0">
                <a:solidFill>
                  <a:srgbClr val="0071E3"/>
                </a:solidFill>
                <a:latin typeface="Courier New" pitchFamily="34" charset="0"/>
                <a:ea typeface="Courier New" pitchFamily="34" charset="-122"/>
                <a:cs typeface="Courier New" pitchFamily="34" charset="-120"/>
              </a:rPr>
              <a:t>rpc Session(stream ClientMsg) returns (stream ServerMsg);</a:t>
            </a:r>
            <a:endParaRPr lang="en-US" sz="950" dirty="0"/>
          </a:p>
        </p:txBody>
      </p:sp>
      <p:sp>
        <p:nvSpPr>
          <p:cNvPr id="16" name="Text 14"/>
          <p:cNvSpPr/>
          <p:nvPr/>
        </p:nvSpPr>
        <p:spPr>
          <a:xfrm>
            <a:off x="6400800" y="4087368"/>
            <a:ext cx="5120640" cy="77724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Both directions, independently, on one connection. Chat, presence, live location: the WebSocket case from Lecture 8, with a schema.</a:t>
            </a:r>
            <a:endParaRPr lang="en-US" sz="1150" dirty="0"/>
          </a:p>
        </p:txBody>
      </p:sp>
      <p:sp>
        <p:nvSpPr>
          <p:cNvPr id="17" name="Shape 15"/>
          <p:cNvSpPr/>
          <p:nvPr/>
        </p:nvSpPr>
        <p:spPr>
          <a:xfrm>
            <a:off x="5897880" y="1828800"/>
            <a:ext cx="0" cy="0"/>
          </a:xfrm>
          <a:prstGeom prst="line">
            <a:avLst/>
          </a:prstGeom>
          <a:noFill/>
          <a:ln w="9525">
            <a:solidFill>
              <a:srgbClr val="D2D2D7"/>
            </a:solidFill>
            <a:prstDash val="solid"/>
          </a:ln>
        </p:spPr>
      </p:sp>
      <p:sp>
        <p:nvSpPr>
          <p:cNvPr id="18" name="Shape 16"/>
          <p:cNvSpPr/>
          <p:nvPr/>
        </p:nvSpPr>
        <p:spPr>
          <a:xfrm>
            <a:off x="822960" y="5029200"/>
            <a:ext cx="10543032" cy="0"/>
          </a:xfrm>
          <a:prstGeom prst="line">
            <a:avLst/>
          </a:prstGeom>
          <a:noFill/>
          <a:ln w="9525">
            <a:solidFill>
              <a:srgbClr val="D2D2D7"/>
            </a:solidFill>
            <a:prstDash val="solid"/>
          </a:ln>
        </p:spPr>
      </p:sp>
      <p:sp>
        <p:nvSpPr>
          <p:cNvPr id="19" name="Text 17"/>
          <p:cNvSpPr/>
          <p:nvPr/>
        </p:nvSpPr>
        <p:spPr>
          <a:xfrm>
            <a:off x="822960" y="525780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The shape is part of the contract.</a:t>
            </a:r>
            <a:pPr indent="0" marL="0">
              <a:buNone/>
            </a:pPr>
            <a:r>
              <a:rPr lang="en-US" sz="1400" dirty="0">
                <a:solidFill>
                  <a:srgbClr val="86868B"/>
                </a:solidFill>
                <a:latin typeface="Arial" pitchFamily="34" charset="0"/>
                <a:ea typeface="Arial" pitchFamily="34" charset="-122"/>
                <a:cs typeface="Arial" pitchFamily="34" charset="-120"/>
              </a:rPr>
              <a:t> Changing a method from unary to streaming is a breaking change: it changes the generated signature on every client.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14</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TRANSPORT</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HTTP/2: one connection, many streams</a:t>
            </a:r>
            <a:endParaRPr lang="en-US" sz="3000" dirty="0"/>
          </a:p>
        </p:txBody>
      </p:sp>
      <p:sp>
        <p:nvSpPr>
          <p:cNvPr id="5" name="Text 3"/>
          <p:cNvSpPr/>
          <p:nvPr/>
        </p:nvSpPr>
        <p:spPr>
          <a:xfrm>
            <a:off x="822960" y="1783080"/>
            <a:ext cx="6492240" cy="3657600"/>
          </a:xfrm>
          <a:prstGeom prst="rect">
            <a:avLst/>
          </a:prstGeom>
          <a:noFill/>
          <a:ln/>
        </p:spPr>
        <p:txBody>
          <a:bodyPr wrap="square" lIns="0" tIns="0" rIns="0" bIns="0" rtlCol="0" anchor="t"/>
          <a:lstStyle/>
          <a:p>
            <a:pPr indent="0" marL="0">
              <a:spcAft>
                <a:spcPts val="1200"/>
              </a:spcAft>
              <a:buNone/>
            </a:pPr>
            <a:r>
              <a:rPr lang="en-US" sz="1250" dirty="0">
                <a:solidFill>
                  <a:srgbClr val="1D1D1F"/>
                </a:solidFill>
                <a:latin typeface="Arial" pitchFamily="34" charset="0"/>
                <a:ea typeface="Arial" pitchFamily="34" charset="-122"/>
                <a:cs typeface="Arial" pitchFamily="34" charset="-120"/>
              </a:rPr>
              <a:t>HTTP/1.1 gives you one request at a time per connection. Browsers hid that by opening six connections; a phone pays for every one of them in handshakes and radio time.</a:t>
            </a:r>
            <a:endParaRPr lang="en-US" sz="1250" dirty="0"/>
          </a:p>
          <a:p>
            <a:pPr indent="0" marL="0">
              <a:spcAft>
                <a:spcPts val="1200"/>
              </a:spcAft>
              <a:buNone/>
            </a:pPr>
            <a:r>
              <a:rPr lang="en-US" sz="1250" dirty="0">
                <a:solidFill>
                  <a:srgbClr val="1D1D1F"/>
                </a:solidFill>
                <a:latin typeface="Arial" pitchFamily="34" charset="0"/>
                <a:ea typeface="Arial" pitchFamily="34" charset="-122"/>
                <a:cs typeface="Arial" pitchFamily="34" charset="-120"/>
              </a:rPr>
              <a:t>HTTP/2 splits everything into binary frames tagged with a stream id, so many calls interleave over a single TCP connection. gRPC does not add this. gRPC is defined on top of it: one RPC is one HTTP/2 stream.</a:t>
            </a:r>
            <a:endParaRPr lang="en-US" sz="1250" dirty="0"/>
          </a:p>
          <a:p>
            <a:pPr indent="0" marL="0">
              <a:spcAft>
                <a:spcPts val="1200"/>
              </a:spcAft>
              <a:buNone/>
            </a:pPr>
            <a:r>
              <a:rPr lang="en-US" sz="1250" dirty="0">
                <a:solidFill>
                  <a:srgbClr val="1D1D1F"/>
                </a:solidFill>
                <a:latin typeface="Arial" pitchFamily="34" charset="0"/>
                <a:ea typeface="Arial" pitchFamily="34" charset="-122"/>
                <a:cs typeface="Arial" pitchFamily="34" charset="-120"/>
              </a:rPr>
              <a:t>HPACK removes the other tax. Headers go into a static table of common names and a dynamic table shared by both ends, so a repeated Authorization header costs an index, not 800 bytes.</a:t>
            </a:r>
            <a:endParaRPr lang="en-US" sz="1250" dirty="0"/>
          </a:p>
          <a:p>
            <a:pPr indent="0" marL="0">
              <a:spcAft>
                <a:spcPts val="1200"/>
              </a:spcAft>
              <a:buNone/>
            </a:pPr>
            <a:r>
              <a:rPr lang="en-US" sz="1250" b="1" dirty="0">
                <a:solidFill>
                  <a:srgbClr val="1D1D1F"/>
                </a:solidFill>
                <a:latin typeface="Arial" pitchFamily="34" charset="0"/>
                <a:ea typeface="Arial" pitchFamily="34" charset="-122"/>
                <a:cs typeface="Arial" pitchFamily="34" charset="-120"/>
              </a:rPr>
              <a:t>What HTTP/2 does not fix: TCP still delivers in order.</a:t>
            </a:r>
            <a:endParaRPr lang="en-US" sz="1250" dirty="0"/>
          </a:p>
          <a:p>
            <a:pPr indent="0" marL="0">
              <a:spcAft>
                <a:spcPts val="1200"/>
              </a:spcAft>
              <a:buNone/>
            </a:pPr>
            <a:r>
              <a:rPr lang="en-US" sz="1250" dirty="0">
                <a:solidFill>
                  <a:srgbClr val="1D1D1F"/>
                </a:solidFill>
                <a:latin typeface="Arial" pitchFamily="34" charset="0"/>
                <a:ea typeface="Arial" pitchFamily="34" charset="-122"/>
                <a:cs typeface="Arial" pitchFamily="34" charset="-120"/>
              </a:rPr>
              <a:t>One lost packet stalls every stream on that connection until it is retransmitted. That is head-of-line blocking moved down a layer, and a lossy mobile link is where it shows.</a:t>
            </a:r>
            <a:endParaRPr lang="en-US" sz="1250" dirty="0"/>
          </a:p>
        </p:txBody>
      </p:sp>
      <p:sp>
        <p:nvSpPr>
          <p:cNvPr id="6" name="Shape 4"/>
          <p:cNvSpPr/>
          <p:nvPr/>
        </p:nvSpPr>
        <p:spPr>
          <a:xfrm>
            <a:off x="7589520" y="1874520"/>
            <a:ext cx="3776472" cy="868680"/>
          </a:xfrm>
          <a:prstGeom prst="roundRect">
            <a:avLst>
              <a:gd name="adj" fmla="val 9474"/>
            </a:avLst>
          </a:prstGeom>
          <a:solidFill>
            <a:srgbClr val="000000"/>
          </a:solidFill>
          <a:ln/>
        </p:spPr>
      </p:sp>
      <p:sp>
        <p:nvSpPr>
          <p:cNvPr id="7" name="Text 5"/>
          <p:cNvSpPr/>
          <p:nvPr/>
        </p:nvSpPr>
        <p:spPr>
          <a:xfrm>
            <a:off x="7726680" y="1874520"/>
            <a:ext cx="3502152"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One TCP + TLS connection</a:t>
            </a:r>
            <a:endParaRPr lang="en-US" sz="1300" dirty="0"/>
          </a:p>
          <a:p>
            <a:pPr algn="ctr" indent="0" marL="0">
              <a:buNone/>
            </a:pPr>
            <a:r>
              <a:rPr lang="en-US" sz="1050" dirty="0">
                <a:solidFill>
                  <a:srgbClr val="A1A1A6"/>
                </a:solidFill>
                <a:latin typeface="Arial" pitchFamily="34" charset="0"/>
                <a:ea typeface="Arial" pitchFamily="34" charset="-122"/>
                <a:cs typeface="Arial" pitchFamily="34" charset="-120"/>
              </a:rPr>
              <a:t>handshake once, reuse for every call</a:t>
            </a:r>
            <a:endParaRPr lang="en-US" sz="1300" dirty="0"/>
          </a:p>
        </p:txBody>
      </p:sp>
      <p:sp>
        <p:nvSpPr>
          <p:cNvPr id="8" name="Shape 6"/>
          <p:cNvSpPr/>
          <p:nvPr/>
        </p:nvSpPr>
        <p:spPr>
          <a:xfrm>
            <a:off x="7589520" y="2926080"/>
            <a:ext cx="3776472" cy="868680"/>
          </a:xfrm>
          <a:prstGeom prst="roundRect">
            <a:avLst>
              <a:gd name="adj" fmla="val 9474"/>
            </a:avLst>
          </a:prstGeom>
          <a:solidFill>
            <a:srgbClr val="FFFFFF"/>
          </a:solidFill>
          <a:ln w="12700">
            <a:solidFill>
              <a:srgbClr val="D2D2D7"/>
            </a:solidFill>
            <a:prstDash val="solid"/>
          </a:ln>
        </p:spPr>
      </p:sp>
      <p:sp>
        <p:nvSpPr>
          <p:cNvPr id="9" name="Text 7"/>
          <p:cNvSpPr/>
          <p:nvPr/>
        </p:nvSpPr>
        <p:spPr>
          <a:xfrm>
            <a:off x="7726680" y="2926080"/>
            <a:ext cx="3502152" cy="868680"/>
          </a:xfrm>
          <a:prstGeom prst="rect">
            <a:avLst/>
          </a:prstGeom>
          <a:noFill/>
          <a:ln/>
        </p:spPr>
        <p:txBody>
          <a:bodyPr wrap="square" lIns="0" tIns="0" rIns="0" bIns="0" rtlCol="0" anchor="ctr"/>
          <a:lstStyle/>
          <a:p>
            <a:pPr algn="ctr" indent="0" marL="0">
              <a:buNone/>
            </a:pPr>
            <a:r>
              <a:rPr lang="en-US" sz="1300" b="1" dirty="0">
                <a:solidFill>
                  <a:srgbClr val="1D1D1F"/>
                </a:solidFill>
                <a:latin typeface="Arial" pitchFamily="34" charset="0"/>
                <a:ea typeface="Arial" pitchFamily="34" charset="-122"/>
                <a:cs typeface="Arial" pitchFamily="34" charset="-120"/>
              </a:rPr>
              <a:t>Binary framing</a:t>
            </a:r>
            <a:endParaRPr lang="en-US" sz="1300" dirty="0"/>
          </a:p>
          <a:p>
            <a:pPr algn="ctr" indent="0" marL="0">
              <a:buNone/>
            </a:pPr>
            <a:r>
              <a:rPr lang="en-US" sz="1050" dirty="0">
                <a:solidFill>
                  <a:srgbClr val="86868B"/>
                </a:solidFill>
                <a:latin typeface="Arial" pitchFamily="34" charset="0"/>
                <a:ea typeface="Arial" pitchFamily="34" charset="-122"/>
                <a:cs typeface="Arial" pitchFamily="34" charset="-120"/>
              </a:rPr>
              <a:t>HEADERS and DATA frames, stream-tagged</a:t>
            </a:r>
            <a:endParaRPr lang="en-US" sz="1300" dirty="0"/>
          </a:p>
        </p:txBody>
      </p:sp>
      <p:sp>
        <p:nvSpPr>
          <p:cNvPr id="10" name="Shape 8"/>
          <p:cNvSpPr/>
          <p:nvPr/>
        </p:nvSpPr>
        <p:spPr>
          <a:xfrm>
            <a:off x="7589520" y="3977640"/>
            <a:ext cx="3776472" cy="868680"/>
          </a:xfrm>
          <a:prstGeom prst="roundRect">
            <a:avLst>
              <a:gd name="adj" fmla="val 9474"/>
            </a:avLst>
          </a:prstGeom>
          <a:solidFill>
            <a:srgbClr val="FFFFFF"/>
          </a:solidFill>
          <a:ln w="12700">
            <a:solidFill>
              <a:srgbClr val="D2D2D7"/>
            </a:solidFill>
            <a:prstDash val="solid"/>
          </a:ln>
        </p:spPr>
      </p:sp>
      <p:sp>
        <p:nvSpPr>
          <p:cNvPr id="11" name="Text 9"/>
          <p:cNvSpPr/>
          <p:nvPr/>
        </p:nvSpPr>
        <p:spPr>
          <a:xfrm>
            <a:off x="7726680" y="3977640"/>
            <a:ext cx="3502152" cy="868680"/>
          </a:xfrm>
          <a:prstGeom prst="rect">
            <a:avLst/>
          </a:prstGeom>
          <a:noFill/>
          <a:ln/>
        </p:spPr>
        <p:txBody>
          <a:bodyPr wrap="square" lIns="0" tIns="0" rIns="0" bIns="0" rtlCol="0" anchor="ctr"/>
          <a:lstStyle/>
          <a:p>
            <a:pPr algn="ctr" indent="0" marL="0">
              <a:buNone/>
            </a:pPr>
            <a:r>
              <a:rPr lang="en-US" sz="1300" b="1" dirty="0">
                <a:solidFill>
                  <a:srgbClr val="1D1D1F"/>
                </a:solidFill>
                <a:latin typeface="Arial" pitchFamily="34" charset="0"/>
                <a:ea typeface="Arial" pitchFamily="34" charset="-122"/>
                <a:cs typeface="Arial" pitchFamily="34" charset="-120"/>
              </a:rPr>
              <a:t>Many streams in flight</a:t>
            </a:r>
            <a:endParaRPr lang="en-US" sz="1300" dirty="0"/>
          </a:p>
          <a:p>
            <a:pPr algn="ctr" indent="0" marL="0">
              <a:buNone/>
            </a:pPr>
            <a:r>
              <a:rPr lang="en-US" sz="1050" dirty="0">
                <a:solidFill>
                  <a:srgbClr val="86868B"/>
                </a:solidFill>
                <a:latin typeface="Arial" pitchFamily="34" charset="0"/>
                <a:ea typeface="Arial" pitchFamily="34" charset="-122"/>
                <a:cs typeface="Arial" pitchFamily="34" charset="-120"/>
              </a:rPr>
              <a:t>interleaved, independently flow-controlled</a:t>
            </a:r>
            <a:endParaRPr lang="en-US" sz="1300" dirty="0"/>
          </a:p>
        </p:txBody>
      </p:sp>
      <p:sp>
        <p:nvSpPr>
          <p:cNvPr id="12" name="Shape 10"/>
          <p:cNvSpPr/>
          <p:nvPr/>
        </p:nvSpPr>
        <p:spPr>
          <a:xfrm>
            <a:off x="7589520" y="5029200"/>
            <a:ext cx="3776472" cy="868680"/>
          </a:xfrm>
          <a:prstGeom prst="roundRect">
            <a:avLst>
              <a:gd name="adj" fmla="val 12632"/>
            </a:avLst>
          </a:prstGeom>
          <a:solidFill>
            <a:srgbClr val="F5F5F7"/>
          </a:solidFill>
          <a:ln/>
        </p:spPr>
      </p:sp>
      <p:sp>
        <p:nvSpPr>
          <p:cNvPr id="13" name="Text 11"/>
          <p:cNvSpPr/>
          <p:nvPr/>
        </p:nvSpPr>
        <p:spPr>
          <a:xfrm>
            <a:off x="7726680" y="5029200"/>
            <a:ext cx="3502152" cy="868680"/>
          </a:xfrm>
          <a:prstGeom prst="rect">
            <a:avLst/>
          </a:prstGeom>
          <a:noFill/>
          <a:ln/>
        </p:spPr>
        <p:txBody>
          <a:bodyPr wrap="square" lIns="0" tIns="0" rIns="0" bIns="0" rtlCol="0" anchor="ctr"/>
          <a:lstStyle/>
          <a:p>
            <a:pPr algn="ctr" indent="0" marL="0">
              <a:buNone/>
            </a:pPr>
            <a:r>
              <a:rPr lang="en-US" sz="1300" b="1" dirty="0">
                <a:solidFill>
                  <a:srgbClr val="1D1D1F"/>
                </a:solidFill>
                <a:latin typeface="Arial" pitchFamily="34" charset="0"/>
                <a:ea typeface="Arial" pitchFamily="34" charset="-122"/>
                <a:cs typeface="Arial" pitchFamily="34" charset="-120"/>
              </a:rPr>
              <a:t>HPACK</a:t>
            </a:r>
            <a:endParaRPr lang="en-US" sz="1300" dirty="0"/>
          </a:p>
          <a:p>
            <a:pPr algn="ctr" indent="0" marL="0">
              <a:buNone/>
            </a:pPr>
            <a:r>
              <a:rPr lang="en-US" sz="1050" dirty="0">
                <a:solidFill>
                  <a:srgbClr val="86868B"/>
                </a:solidFill>
                <a:latin typeface="Arial" pitchFamily="34" charset="0"/>
                <a:ea typeface="Arial" pitchFamily="34" charset="-122"/>
                <a:cs typeface="Arial" pitchFamily="34" charset="-120"/>
              </a:rPr>
              <a:t>repeated headers cost a table index</a:t>
            </a:r>
            <a:endParaRPr lang="en-US" sz="1300" dirty="0"/>
          </a:p>
        </p:txBody>
      </p:sp>
      <p:sp>
        <p:nvSpPr>
          <p:cNvPr id="14" name="Shape 12"/>
          <p:cNvSpPr/>
          <p:nvPr/>
        </p:nvSpPr>
        <p:spPr>
          <a:xfrm>
            <a:off x="822960" y="5669280"/>
            <a:ext cx="6492240" cy="0"/>
          </a:xfrm>
          <a:prstGeom prst="line">
            <a:avLst/>
          </a:prstGeom>
          <a:noFill/>
          <a:ln w="9525">
            <a:solidFill>
              <a:srgbClr val="D2D2D7"/>
            </a:solidFill>
            <a:prstDash val="solid"/>
          </a:ln>
        </p:spPr>
      </p:sp>
      <p:sp>
        <p:nvSpPr>
          <p:cNvPr id="15" name="Text 13"/>
          <p:cNvSpPr/>
          <p:nvPr/>
        </p:nvSpPr>
        <p:spPr>
          <a:xfrm>
            <a:off x="822960" y="5897880"/>
            <a:ext cx="649224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One connection, kept warm.</a:t>
            </a:r>
            <a:pPr indent="0" marL="0">
              <a:buNone/>
            </a:pPr>
            <a:r>
              <a:rPr lang="en-US" sz="1400" dirty="0">
                <a:solidFill>
                  <a:srgbClr val="86868B"/>
                </a:solidFill>
                <a:latin typeface="Arial" pitchFamily="34" charset="0"/>
                <a:ea typeface="Arial" pitchFamily="34" charset="-122"/>
                <a:cs typeface="Arial" pitchFamily="34" charset="-120"/>
              </a:rPr>
              <a:t> That is most of gRPC's mobile advantage, before a single byte of protobuf is counted.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15</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TRANSPORT</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HTTP/3 and QUIC: the mobile case</a:t>
            </a:r>
            <a:endParaRPr lang="en-US" sz="3000" dirty="0"/>
          </a:p>
        </p:txBody>
      </p:sp>
      <p:sp>
        <p:nvSpPr>
          <p:cNvPr id="5" name="Text 3"/>
          <p:cNvSpPr/>
          <p:nvPr/>
        </p:nvSpPr>
        <p:spPr>
          <a:xfrm>
            <a:off x="822960" y="1737360"/>
            <a:ext cx="6492240" cy="3931920"/>
          </a:xfrm>
          <a:prstGeom prst="rect">
            <a:avLst/>
          </a:prstGeom>
          <a:noFill/>
          <a:ln/>
        </p:spPr>
        <p:txBody>
          <a:bodyPr wrap="square" lIns="0" tIns="0" rIns="0" bIns="0" rtlCol="0" anchor="t"/>
          <a:lstStyle/>
          <a:p>
            <a:pPr indent="0" marL="0">
              <a:spcAft>
                <a:spcPts val="900"/>
              </a:spcAft>
              <a:buNone/>
            </a:pPr>
            <a:r>
              <a:rPr lang="en-US" sz="1150" dirty="0">
                <a:solidFill>
                  <a:srgbClr val="1D1D1F"/>
                </a:solidFill>
                <a:latin typeface="Arial" pitchFamily="34" charset="0"/>
                <a:ea typeface="Arial" pitchFamily="34" charset="-122"/>
                <a:cs typeface="Arial" pitchFamily="34" charset="-120"/>
              </a:rPr>
              <a:t>QUIC moves the whole thing onto UDP and implements streams itself. A lost packet now stalls only the stream it belonged to, so the head-of-line blocking that HTTP/2 pushed into TCP goes away.</a:t>
            </a:r>
            <a:endParaRPr lang="en-US" sz="1150" dirty="0"/>
          </a:p>
          <a:p>
            <a:pPr indent="0" marL="0">
              <a:spcAft>
                <a:spcPts val="900"/>
              </a:spcAft>
              <a:buNone/>
            </a:pPr>
            <a:r>
              <a:rPr lang="en-US" sz="1150" dirty="0">
                <a:solidFill>
                  <a:srgbClr val="1D1D1F"/>
                </a:solidFill>
                <a:latin typeface="Arial" pitchFamily="34" charset="0"/>
                <a:ea typeface="Arial" pitchFamily="34" charset="-122"/>
                <a:cs typeface="Arial" pitchFamily="34" charset="-120"/>
              </a:rPr>
              <a:t>TLS 1.3 is folded into the transport handshake: a new connection is one round trip, and a resumed one can be zero, with the first request riding along with the handshake. On a 150 ms link that is a visible difference.</a:t>
            </a:r>
            <a:endParaRPr lang="en-US" sz="1150" dirty="0"/>
          </a:p>
          <a:p>
            <a:pPr indent="0" marL="0">
              <a:spcAft>
                <a:spcPts val="900"/>
              </a:spcAft>
              <a:buNone/>
            </a:pPr>
            <a:r>
              <a:rPr lang="en-US" sz="1150" b="1" dirty="0">
                <a:solidFill>
                  <a:srgbClr val="1D1D1F"/>
                </a:solidFill>
                <a:latin typeface="Arial" pitchFamily="34" charset="0"/>
                <a:ea typeface="Arial" pitchFamily="34" charset="-122"/>
                <a:cs typeface="Arial" pitchFamily="34" charset="-120"/>
              </a:rPr>
              <a:t>The feature that only matters on a phone: connection migration.</a:t>
            </a:r>
            <a:endParaRPr lang="en-US" sz="1150" dirty="0"/>
          </a:p>
          <a:p>
            <a:pPr indent="0" marL="0">
              <a:spcAft>
                <a:spcPts val="900"/>
              </a:spcAft>
              <a:buNone/>
            </a:pPr>
            <a:r>
              <a:rPr lang="en-US" sz="1150" dirty="0">
                <a:solidFill>
                  <a:srgbClr val="1D1D1F"/>
                </a:solidFill>
                <a:latin typeface="Arial" pitchFamily="34" charset="0"/>
                <a:ea typeface="Arial" pitchFamily="34" charset="-122"/>
                <a:cs typeface="Arial" pitchFamily="34" charset="-120"/>
              </a:rPr>
              <a:t>A QUIC connection is identified by a connection ID, not by the IP/port pair. Walk out of Wi-Fi onto 5G and the connection survives; a TCP connection dies and every stream on it restarts.</a:t>
            </a:r>
            <a:endParaRPr lang="en-US" sz="1150" dirty="0"/>
          </a:p>
          <a:p>
            <a:pPr indent="0" marL="0">
              <a:spcAft>
                <a:spcPts val="900"/>
              </a:spcAft>
              <a:buNone/>
            </a:pPr>
            <a:r>
              <a:rPr lang="en-US" sz="1150" b="1" dirty="0">
                <a:solidFill>
                  <a:srgbClr val="1D1D1F"/>
                </a:solidFill>
                <a:latin typeface="Arial" pitchFamily="34" charset="0"/>
                <a:ea typeface="Arial" pitchFamily="34" charset="-122"/>
                <a:cs typeface="Arial" pitchFamily="34" charset="-120"/>
              </a:rPr>
              <a:t>Where gRPC stands today:</a:t>
            </a:r>
            <a:endParaRPr lang="en-US" sz="1150" dirty="0"/>
          </a:p>
          <a:p>
            <a:pPr indent="0" marL="0">
              <a:spcAft>
                <a:spcPts val="900"/>
              </a:spcAft>
              <a:buNone/>
            </a:pPr>
            <a:r>
              <a:rPr lang="en-US" sz="1150" dirty="0">
                <a:solidFill>
                  <a:srgbClr val="1D1D1F"/>
                </a:solidFill>
                <a:latin typeface="Arial" pitchFamily="34" charset="0"/>
                <a:ea typeface="Arial" pitchFamily="34" charset="-122"/>
                <a:cs typeface="Arial" pitchFamily="34" charset="-120"/>
              </a:rPr>
              <a:t>the wire protocol is specified over HTTP/2. HTTP/3 usually reaches you at the edge, where a load balancer or CDN speaks HTTP/3 to the device and HTTP/2 to your service, or through Cronet on Android. Treat it as a deployment choice, not a code change.</a:t>
            </a:r>
            <a:endParaRPr lang="en-US" sz="1150" dirty="0"/>
          </a:p>
        </p:txBody>
      </p:sp>
      <p:sp>
        <p:nvSpPr>
          <p:cNvPr id="6" name="Shape 4"/>
          <p:cNvSpPr/>
          <p:nvPr/>
        </p:nvSpPr>
        <p:spPr>
          <a:xfrm>
            <a:off x="7589520" y="1828800"/>
            <a:ext cx="3776472" cy="868680"/>
          </a:xfrm>
          <a:prstGeom prst="roundRect">
            <a:avLst>
              <a:gd name="adj" fmla="val 9474"/>
            </a:avLst>
          </a:prstGeom>
          <a:solidFill>
            <a:srgbClr val="000000"/>
          </a:solidFill>
          <a:ln/>
        </p:spPr>
      </p:sp>
      <p:sp>
        <p:nvSpPr>
          <p:cNvPr id="7" name="Text 5"/>
          <p:cNvSpPr/>
          <p:nvPr/>
        </p:nvSpPr>
        <p:spPr>
          <a:xfrm>
            <a:off x="7726680" y="1828800"/>
            <a:ext cx="3502152"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QUIC over UDP</a:t>
            </a:r>
            <a:endParaRPr lang="en-US" sz="1300" dirty="0"/>
          </a:p>
          <a:p>
            <a:pPr algn="ctr" indent="0" marL="0">
              <a:buNone/>
            </a:pPr>
            <a:r>
              <a:rPr lang="en-US" sz="1050" dirty="0">
                <a:solidFill>
                  <a:srgbClr val="A1A1A6"/>
                </a:solidFill>
                <a:latin typeface="Arial" pitchFamily="34" charset="0"/>
                <a:ea typeface="Arial" pitchFamily="34" charset="-122"/>
                <a:cs typeface="Arial" pitchFamily="34" charset="-120"/>
              </a:rPr>
              <a:t>independent streams, no shared stall</a:t>
            </a:r>
            <a:endParaRPr lang="en-US" sz="1300" dirty="0"/>
          </a:p>
        </p:txBody>
      </p:sp>
      <p:sp>
        <p:nvSpPr>
          <p:cNvPr id="8" name="Shape 6"/>
          <p:cNvSpPr/>
          <p:nvPr/>
        </p:nvSpPr>
        <p:spPr>
          <a:xfrm>
            <a:off x="7589520" y="2880360"/>
            <a:ext cx="3776472" cy="868680"/>
          </a:xfrm>
          <a:prstGeom prst="roundRect">
            <a:avLst>
              <a:gd name="adj" fmla="val 9474"/>
            </a:avLst>
          </a:prstGeom>
          <a:solidFill>
            <a:srgbClr val="FFFFFF"/>
          </a:solidFill>
          <a:ln w="12700">
            <a:solidFill>
              <a:srgbClr val="D2D2D7"/>
            </a:solidFill>
            <a:prstDash val="solid"/>
          </a:ln>
        </p:spPr>
      </p:sp>
      <p:sp>
        <p:nvSpPr>
          <p:cNvPr id="9" name="Text 7"/>
          <p:cNvSpPr/>
          <p:nvPr/>
        </p:nvSpPr>
        <p:spPr>
          <a:xfrm>
            <a:off x="7726680" y="2880360"/>
            <a:ext cx="3502152" cy="868680"/>
          </a:xfrm>
          <a:prstGeom prst="rect">
            <a:avLst/>
          </a:prstGeom>
          <a:noFill/>
          <a:ln/>
        </p:spPr>
        <p:txBody>
          <a:bodyPr wrap="square" lIns="0" tIns="0" rIns="0" bIns="0" rtlCol="0" anchor="ctr"/>
          <a:lstStyle/>
          <a:p>
            <a:pPr algn="ctr" indent="0" marL="0">
              <a:buNone/>
            </a:pPr>
            <a:r>
              <a:rPr lang="en-US" sz="1300" b="1" dirty="0">
                <a:solidFill>
                  <a:srgbClr val="1D1D1F"/>
                </a:solidFill>
                <a:latin typeface="Arial" pitchFamily="34" charset="0"/>
                <a:ea typeface="Arial" pitchFamily="34" charset="-122"/>
                <a:cs typeface="Arial" pitchFamily="34" charset="-120"/>
              </a:rPr>
              <a:t>1-RTT handshake</a:t>
            </a:r>
            <a:endParaRPr lang="en-US" sz="1300" dirty="0"/>
          </a:p>
          <a:p>
            <a:pPr algn="ctr" indent="0" marL="0">
              <a:buNone/>
            </a:pPr>
            <a:r>
              <a:rPr lang="en-US" sz="1050" dirty="0">
                <a:solidFill>
                  <a:srgbClr val="86868B"/>
                </a:solidFill>
                <a:latin typeface="Arial" pitchFamily="34" charset="0"/>
                <a:ea typeface="Arial" pitchFamily="34" charset="-122"/>
                <a:cs typeface="Arial" pitchFamily="34" charset="-120"/>
              </a:rPr>
              <a:t>0-RTT when resuming a session</a:t>
            </a:r>
            <a:endParaRPr lang="en-US" sz="1300" dirty="0"/>
          </a:p>
        </p:txBody>
      </p:sp>
      <p:sp>
        <p:nvSpPr>
          <p:cNvPr id="10" name="Shape 8"/>
          <p:cNvSpPr/>
          <p:nvPr/>
        </p:nvSpPr>
        <p:spPr>
          <a:xfrm>
            <a:off x="7589520" y="3931920"/>
            <a:ext cx="3776472" cy="868680"/>
          </a:xfrm>
          <a:prstGeom prst="roundRect">
            <a:avLst>
              <a:gd name="adj" fmla="val 9474"/>
            </a:avLst>
          </a:prstGeom>
          <a:solidFill>
            <a:srgbClr val="FFFFFF"/>
          </a:solidFill>
          <a:ln w="12700">
            <a:solidFill>
              <a:srgbClr val="D2D2D7"/>
            </a:solidFill>
            <a:prstDash val="solid"/>
          </a:ln>
        </p:spPr>
      </p:sp>
      <p:sp>
        <p:nvSpPr>
          <p:cNvPr id="11" name="Text 9"/>
          <p:cNvSpPr/>
          <p:nvPr/>
        </p:nvSpPr>
        <p:spPr>
          <a:xfrm>
            <a:off x="7726680" y="3931920"/>
            <a:ext cx="3502152" cy="868680"/>
          </a:xfrm>
          <a:prstGeom prst="rect">
            <a:avLst/>
          </a:prstGeom>
          <a:noFill/>
          <a:ln/>
        </p:spPr>
        <p:txBody>
          <a:bodyPr wrap="square" lIns="0" tIns="0" rIns="0" bIns="0" rtlCol="0" anchor="ctr"/>
          <a:lstStyle/>
          <a:p>
            <a:pPr algn="ctr" indent="0" marL="0">
              <a:buNone/>
            </a:pPr>
            <a:r>
              <a:rPr lang="en-US" sz="1300" b="1" dirty="0">
                <a:solidFill>
                  <a:srgbClr val="1D1D1F"/>
                </a:solidFill>
                <a:latin typeface="Arial" pitchFamily="34" charset="0"/>
                <a:ea typeface="Arial" pitchFamily="34" charset="-122"/>
                <a:cs typeface="Arial" pitchFamily="34" charset="-120"/>
              </a:rPr>
              <a:t>Connection IDs</a:t>
            </a:r>
            <a:endParaRPr lang="en-US" sz="1300" dirty="0"/>
          </a:p>
          <a:p>
            <a:pPr algn="ctr" indent="0" marL="0">
              <a:buNone/>
            </a:pPr>
            <a:r>
              <a:rPr lang="en-US" sz="1050" dirty="0">
                <a:solidFill>
                  <a:srgbClr val="86868B"/>
                </a:solidFill>
                <a:latin typeface="Arial" pitchFamily="34" charset="0"/>
                <a:ea typeface="Arial" pitchFamily="34" charset="-122"/>
                <a:cs typeface="Arial" pitchFamily="34" charset="-120"/>
              </a:rPr>
              <a:t>survives Wi-Fi → 5G handover</a:t>
            </a:r>
            <a:endParaRPr lang="en-US" sz="1300" dirty="0"/>
          </a:p>
        </p:txBody>
      </p:sp>
      <p:sp>
        <p:nvSpPr>
          <p:cNvPr id="12" name="Shape 10"/>
          <p:cNvSpPr/>
          <p:nvPr/>
        </p:nvSpPr>
        <p:spPr>
          <a:xfrm>
            <a:off x="7589520" y="4983480"/>
            <a:ext cx="3776472" cy="868680"/>
          </a:xfrm>
          <a:prstGeom prst="roundRect">
            <a:avLst>
              <a:gd name="adj" fmla="val 12632"/>
            </a:avLst>
          </a:prstGeom>
          <a:solidFill>
            <a:srgbClr val="F5F5F7"/>
          </a:solidFill>
          <a:ln/>
        </p:spPr>
      </p:sp>
      <p:sp>
        <p:nvSpPr>
          <p:cNvPr id="13" name="Text 11"/>
          <p:cNvSpPr/>
          <p:nvPr/>
        </p:nvSpPr>
        <p:spPr>
          <a:xfrm>
            <a:off x="7726680" y="4983480"/>
            <a:ext cx="3502152" cy="868680"/>
          </a:xfrm>
          <a:prstGeom prst="rect">
            <a:avLst/>
          </a:prstGeom>
          <a:noFill/>
          <a:ln/>
        </p:spPr>
        <p:txBody>
          <a:bodyPr wrap="square" lIns="0" tIns="0" rIns="0" bIns="0" rtlCol="0" anchor="ctr"/>
          <a:lstStyle/>
          <a:p>
            <a:pPr algn="ctr" indent="0" marL="0">
              <a:buNone/>
            </a:pPr>
            <a:r>
              <a:rPr lang="en-US" sz="1300" b="1" dirty="0">
                <a:solidFill>
                  <a:srgbClr val="1D1D1F"/>
                </a:solidFill>
                <a:latin typeface="Arial" pitchFamily="34" charset="0"/>
                <a:ea typeface="Arial" pitchFamily="34" charset="-122"/>
                <a:cs typeface="Arial" pitchFamily="34" charset="-120"/>
              </a:rPr>
              <a:t>In practice</a:t>
            </a:r>
            <a:endParaRPr lang="en-US" sz="1300" dirty="0"/>
          </a:p>
          <a:p>
            <a:pPr algn="ctr" indent="0" marL="0">
              <a:buNone/>
            </a:pPr>
            <a:r>
              <a:rPr lang="en-US" sz="1050" dirty="0">
                <a:solidFill>
                  <a:srgbClr val="86868B"/>
                </a:solidFill>
                <a:latin typeface="Arial" pitchFamily="34" charset="0"/>
                <a:ea typeface="Arial" pitchFamily="34" charset="-122"/>
                <a:cs typeface="Arial" pitchFamily="34" charset="-120"/>
              </a:rPr>
              <a:t>HTTP/3 at the edge, HTTP/2 behind it</a:t>
            </a:r>
            <a:endParaRPr lang="en-US" sz="1300" dirty="0"/>
          </a:p>
        </p:txBody>
      </p:sp>
      <p:sp>
        <p:nvSpPr>
          <p:cNvPr id="14" name="Shape 12"/>
          <p:cNvSpPr/>
          <p:nvPr/>
        </p:nvSpPr>
        <p:spPr>
          <a:xfrm>
            <a:off x="822960" y="5760720"/>
            <a:ext cx="6492240" cy="0"/>
          </a:xfrm>
          <a:prstGeom prst="line">
            <a:avLst/>
          </a:prstGeom>
          <a:noFill/>
          <a:ln w="9525">
            <a:solidFill>
              <a:srgbClr val="D2D2D7"/>
            </a:solidFill>
            <a:prstDash val="solid"/>
          </a:ln>
        </p:spPr>
      </p:sp>
      <p:sp>
        <p:nvSpPr>
          <p:cNvPr id="15" name="Text 13"/>
          <p:cNvSpPr/>
          <p:nvPr/>
        </p:nvSpPr>
        <p:spPr>
          <a:xfrm>
            <a:off x="822960" y="5989320"/>
            <a:ext cx="649224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Handshakes and reconnects are the mobile cost.</a:t>
            </a:r>
            <a:pPr indent="0" marL="0">
              <a:buNone/>
            </a:pPr>
            <a:r>
              <a:rPr lang="en-US" sz="1400" dirty="0">
                <a:solidFill>
                  <a:srgbClr val="86868B"/>
                </a:solidFill>
                <a:latin typeface="Arial" pitchFamily="34" charset="0"/>
                <a:ea typeface="Arial" pitchFamily="34" charset="-122"/>
                <a:cs typeface="Arial" pitchFamily="34" charset="-120"/>
              </a:rPr>
              <a:t> QUIC addresses both, which is why it belongs in the same argument as the radio tail.</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16</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GRPC ON A PHONE</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Deadlines, cancellation and the radio tail</a:t>
            </a:r>
            <a:endParaRPr lang="en-US" sz="3000" dirty="0"/>
          </a:p>
        </p:txBody>
      </p:sp>
      <p:sp>
        <p:nvSpPr>
          <p:cNvPr id="5" name="Text 3"/>
          <p:cNvSpPr/>
          <p:nvPr/>
        </p:nvSpPr>
        <p:spPr>
          <a:xfrm>
            <a:off x="822960" y="1737360"/>
            <a:ext cx="6492240" cy="3657600"/>
          </a:xfrm>
          <a:prstGeom prst="rect">
            <a:avLst/>
          </a:prstGeom>
          <a:noFill/>
          <a:ln/>
        </p:spPr>
        <p:txBody>
          <a:bodyPr wrap="square" lIns="0" tIns="0" rIns="0" bIns="0" rtlCol="0" anchor="t"/>
          <a:lstStyle/>
          <a:p>
            <a:pPr indent="0" marL="0">
              <a:spcAft>
                <a:spcPts val="800"/>
              </a:spcAft>
              <a:buNone/>
            </a:pPr>
            <a:r>
              <a:rPr lang="en-US" sz="1150" b="1" dirty="0">
                <a:solidFill>
                  <a:srgbClr val="1D1D1F"/>
                </a:solidFill>
                <a:latin typeface="Arial" pitchFamily="34" charset="0"/>
                <a:ea typeface="Arial" pitchFamily="34" charset="-122"/>
                <a:cs typeface="Arial" pitchFamily="34" charset="-120"/>
              </a:rPr>
              <a:t>A deadline is not a client-side timeout.</a:t>
            </a:r>
            <a:endParaRPr lang="en-US" sz="1150" dirty="0"/>
          </a:p>
          <a:p>
            <a:pPr indent="0" marL="0">
              <a:spcAft>
                <a:spcPts val="800"/>
              </a:spcAft>
              <a:buNone/>
            </a:pPr>
            <a:r>
              <a:rPr lang="en-US" sz="1150" dirty="0">
                <a:solidFill>
                  <a:srgbClr val="1D1D1F"/>
                </a:solidFill>
                <a:latin typeface="Arial" pitchFamily="34" charset="0"/>
                <a:ea typeface="Arial" pitchFamily="34" charset="-122"/>
                <a:cs typeface="Arial" pitchFamily="34" charset="-120"/>
              </a:rPr>
              <a:t>It travels with the call and propagates through every service behind it. When it expires, work stops everywhere, so nothing keeps burning CPU for a screen nobody is looking at.</a:t>
            </a:r>
            <a:endParaRPr lang="en-US" sz="1150" dirty="0"/>
          </a:p>
          <a:p>
            <a:pPr indent="0" marL="0">
              <a:spcAft>
                <a:spcPts val="800"/>
              </a:spcAft>
              <a:buNone/>
            </a:pPr>
            <a:r>
              <a:rPr lang="en-US" sz="1150" b="1" dirty="0">
                <a:solidFill>
                  <a:srgbClr val="1D1D1F"/>
                </a:solidFill>
                <a:latin typeface="Arial" pitchFamily="34" charset="0"/>
                <a:ea typeface="Arial" pitchFamily="34" charset="-122"/>
                <a:cs typeface="Arial" pitchFamily="34" charset="-120"/>
              </a:rPr>
              <a:t>The radio does not switch off immediately.</a:t>
            </a:r>
            <a:endParaRPr lang="en-US" sz="1150" dirty="0"/>
          </a:p>
          <a:p>
            <a:pPr indent="0" marL="0">
              <a:spcAft>
                <a:spcPts val="800"/>
              </a:spcAft>
              <a:buNone/>
            </a:pPr>
            <a:r>
              <a:rPr lang="en-US" sz="1150" dirty="0">
                <a:solidFill>
                  <a:srgbClr val="1D1D1F"/>
                </a:solidFill>
                <a:latin typeface="Arial" pitchFamily="34" charset="0"/>
                <a:ea typeface="Arial" pitchFamily="34" charset="-122"/>
                <a:cs typeface="Arial" pitchFamily="34" charset="-120"/>
              </a:rPr>
              <a:t>After a transmission the cellular radio stays in a high-power state for several seconds before stepping down. That period is the tail, and its duration is set by the network operator, not by you. Four chatty requests spread over ten seconds keep it awake the whole time; one multiplexed burst lets it sleep.</a:t>
            </a:r>
            <a:endParaRPr lang="en-US" sz="1150" dirty="0"/>
          </a:p>
          <a:p>
            <a:pPr indent="0" marL="0">
              <a:spcAft>
                <a:spcPts val="800"/>
              </a:spcAft>
              <a:buNone/>
            </a:pPr>
            <a:r>
              <a:rPr lang="en-US" sz="1150" b="1" dirty="0">
                <a:solidFill>
                  <a:srgbClr val="1D1D1F"/>
                </a:solidFill>
                <a:latin typeface="Arial" pitchFamily="34" charset="0"/>
                <a:ea typeface="Arial" pitchFamily="34" charset="-122"/>
                <a:cs typeface="Arial" pitchFamily="34" charset="-120"/>
              </a:rPr>
              <a:t>Keepalive pings are not free.</a:t>
            </a:r>
            <a:endParaRPr lang="en-US" sz="1150" dirty="0"/>
          </a:p>
          <a:p>
            <a:pPr indent="0" marL="0">
              <a:spcAft>
                <a:spcPts val="800"/>
              </a:spcAft>
              <a:buNone/>
            </a:pPr>
            <a:r>
              <a:rPr lang="en-US" sz="1150" dirty="0">
                <a:solidFill>
                  <a:srgbClr val="1D1D1F"/>
                </a:solidFill>
                <a:latin typeface="Arial" pitchFamily="34" charset="0"/>
                <a:ea typeface="Arial" pitchFamily="34" charset="-122"/>
                <a:cs typeface="Arial" pitchFamily="34" charset="-120"/>
              </a:rPr>
              <a:t>They hold the connection open and wake the radio. Tune the interval; do not leave a 10-second ping running in the background.</a:t>
            </a:r>
            <a:endParaRPr lang="en-US" sz="1150" dirty="0"/>
          </a:p>
        </p:txBody>
      </p:sp>
      <p:sp>
        <p:nvSpPr>
          <p:cNvPr id="6" name="Shape 4"/>
          <p:cNvSpPr/>
          <p:nvPr/>
        </p:nvSpPr>
        <p:spPr>
          <a:xfrm>
            <a:off x="7589520" y="1828800"/>
            <a:ext cx="3776472" cy="822960"/>
          </a:xfrm>
          <a:prstGeom prst="roundRect">
            <a:avLst>
              <a:gd name="adj" fmla="val 10000"/>
            </a:avLst>
          </a:prstGeom>
          <a:solidFill>
            <a:srgbClr val="000000"/>
          </a:solidFill>
          <a:ln/>
        </p:spPr>
      </p:sp>
      <p:sp>
        <p:nvSpPr>
          <p:cNvPr id="7" name="Text 5"/>
          <p:cNvSpPr/>
          <p:nvPr/>
        </p:nvSpPr>
        <p:spPr>
          <a:xfrm>
            <a:off x="7726680" y="1828800"/>
            <a:ext cx="3502152"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Burst</a:t>
            </a:r>
            <a:endParaRPr lang="en-US" sz="1300" dirty="0"/>
          </a:p>
          <a:p>
            <a:pPr algn="ctr" indent="0" marL="0">
              <a:buNone/>
            </a:pPr>
            <a:r>
              <a:rPr lang="en-US" sz="1050" dirty="0">
                <a:solidFill>
                  <a:srgbClr val="A1A1A6"/>
                </a:solidFill>
                <a:latin typeface="Arial" pitchFamily="34" charset="0"/>
                <a:ea typeface="Arial" pitchFamily="34" charset="-122"/>
                <a:cs typeface="Arial" pitchFamily="34" charset="-120"/>
              </a:rPr>
              <a:t>everything the screen needs, at once</a:t>
            </a:r>
            <a:endParaRPr lang="en-US" sz="1300" dirty="0"/>
          </a:p>
        </p:txBody>
      </p:sp>
      <p:sp>
        <p:nvSpPr>
          <p:cNvPr id="8" name="Shape 6"/>
          <p:cNvSpPr/>
          <p:nvPr/>
        </p:nvSpPr>
        <p:spPr>
          <a:xfrm>
            <a:off x="7589520" y="2852928"/>
            <a:ext cx="3776472" cy="822960"/>
          </a:xfrm>
          <a:prstGeom prst="roundRect">
            <a:avLst>
              <a:gd name="adj" fmla="val 10000"/>
            </a:avLst>
          </a:prstGeom>
          <a:solidFill>
            <a:srgbClr val="FFFFFF"/>
          </a:solidFill>
          <a:ln w="12700">
            <a:solidFill>
              <a:srgbClr val="D2D2D7"/>
            </a:solidFill>
            <a:prstDash val="solid"/>
          </a:ln>
        </p:spPr>
      </p:sp>
      <p:sp>
        <p:nvSpPr>
          <p:cNvPr id="9" name="Text 7"/>
          <p:cNvSpPr/>
          <p:nvPr/>
        </p:nvSpPr>
        <p:spPr>
          <a:xfrm>
            <a:off x="7726680" y="2852928"/>
            <a:ext cx="3502152" cy="822960"/>
          </a:xfrm>
          <a:prstGeom prst="rect">
            <a:avLst/>
          </a:prstGeom>
          <a:noFill/>
          <a:ln/>
        </p:spPr>
        <p:txBody>
          <a:bodyPr wrap="square" lIns="0" tIns="0" rIns="0" bIns="0" rtlCol="0" anchor="ctr"/>
          <a:lstStyle/>
          <a:p>
            <a:pPr algn="ctr" indent="0" marL="0">
              <a:buNone/>
            </a:pPr>
            <a:r>
              <a:rPr lang="en-US" sz="1300" b="1" dirty="0">
                <a:solidFill>
                  <a:srgbClr val="1D1D1F"/>
                </a:solidFill>
                <a:latin typeface="Arial" pitchFamily="34" charset="0"/>
                <a:ea typeface="Arial" pitchFamily="34" charset="-122"/>
                <a:cs typeface="Arial" pitchFamily="34" charset="-120"/>
              </a:rPr>
              <a:t>Tail</a:t>
            </a:r>
            <a:endParaRPr lang="en-US" sz="1300" dirty="0"/>
          </a:p>
          <a:p>
            <a:pPr algn="ctr" indent="0" marL="0">
              <a:buNone/>
            </a:pPr>
            <a:r>
              <a:rPr lang="en-US" sz="1050" dirty="0">
                <a:solidFill>
                  <a:srgbClr val="86868B"/>
                </a:solidFill>
                <a:latin typeface="Arial" pitchFamily="34" charset="0"/>
                <a:ea typeface="Arial" pitchFamily="34" charset="-122"/>
                <a:cs typeface="Arial" pitchFamily="34" charset="-120"/>
              </a:rPr>
              <a:t>radio stays high-power for seconds</a:t>
            </a:r>
            <a:endParaRPr lang="en-US" sz="1300" dirty="0"/>
          </a:p>
        </p:txBody>
      </p:sp>
      <p:sp>
        <p:nvSpPr>
          <p:cNvPr id="10" name="Shape 8"/>
          <p:cNvSpPr/>
          <p:nvPr/>
        </p:nvSpPr>
        <p:spPr>
          <a:xfrm>
            <a:off x="7589520" y="3877056"/>
            <a:ext cx="3776472" cy="822960"/>
          </a:xfrm>
          <a:prstGeom prst="roundRect">
            <a:avLst>
              <a:gd name="adj" fmla="val 13333"/>
            </a:avLst>
          </a:prstGeom>
          <a:solidFill>
            <a:srgbClr val="F5F5F7"/>
          </a:solidFill>
          <a:ln/>
        </p:spPr>
      </p:sp>
      <p:sp>
        <p:nvSpPr>
          <p:cNvPr id="11" name="Text 9"/>
          <p:cNvSpPr/>
          <p:nvPr/>
        </p:nvSpPr>
        <p:spPr>
          <a:xfrm>
            <a:off x="7726680" y="3877056"/>
            <a:ext cx="3502152" cy="822960"/>
          </a:xfrm>
          <a:prstGeom prst="rect">
            <a:avLst/>
          </a:prstGeom>
          <a:noFill/>
          <a:ln/>
        </p:spPr>
        <p:txBody>
          <a:bodyPr wrap="square" lIns="0" tIns="0" rIns="0" bIns="0" rtlCol="0" anchor="ctr"/>
          <a:lstStyle/>
          <a:p>
            <a:pPr algn="ctr" indent="0" marL="0">
              <a:buNone/>
            </a:pPr>
            <a:r>
              <a:rPr lang="en-US" sz="1300" b="1" dirty="0">
                <a:solidFill>
                  <a:srgbClr val="1D1D1F"/>
                </a:solidFill>
                <a:latin typeface="Arial" pitchFamily="34" charset="0"/>
                <a:ea typeface="Arial" pitchFamily="34" charset="-122"/>
                <a:cs typeface="Arial" pitchFamily="34" charset="-120"/>
              </a:rPr>
              <a:t>Idle</a:t>
            </a:r>
            <a:endParaRPr lang="en-US" sz="1300" dirty="0"/>
          </a:p>
          <a:p>
            <a:pPr algn="ctr" indent="0" marL="0">
              <a:buNone/>
            </a:pPr>
            <a:r>
              <a:rPr lang="en-US" sz="1050" dirty="0">
                <a:solidFill>
                  <a:srgbClr val="86868B"/>
                </a:solidFill>
                <a:latin typeface="Arial" pitchFamily="34" charset="0"/>
                <a:ea typeface="Arial" pitchFamily="34" charset="-122"/>
                <a:cs typeface="Arial" pitchFamily="34" charset="-120"/>
              </a:rPr>
              <a:t>back to low power, battery saved</a:t>
            </a:r>
            <a:endParaRPr lang="en-US" sz="1300" dirty="0"/>
          </a:p>
        </p:txBody>
      </p:sp>
      <p:sp>
        <p:nvSpPr>
          <p:cNvPr id="12" name="Text 10"/>
          <p:cNvSpPr/>
          <p:nvPr/>
        </p:nvSpPr>
        <p:spPr>
          <a:xfrm>
            <a:off x="7589520" y="4937760"/>
            <a:ext cx="3776472" cy="1280160"/>
          </a:xfrm>
          <a:prstGeom prst="rect">
            <a:avLst/>
          </a:prstGeom>
          <a:noFill/>
          <a:ln/>
        </p:spPr>
        <p:txBody>
          <a:bodyPr wrap="square" lIns="0" tIns="0" rIns="0" bIns="0" rtlCol="0" anchor="t"/>
          <a:lstStyle/>
          <a:p>
            <a:pPr indent="0" marL="0">
              <a:buNone/>
            </a:pPr>
            <a:r>
              <a:rPr lang="en-US" sz="950" b="1" dirty="0">
                <a:solidFill>
                  <a:srgbClr val="1D1D1F"/>
                </a:solidFill>
                <a:latin typeface="Arial" pitchFamily="34" charset="0"/>
                <a:ea typeface="Arial" pitchFamily="34" charset="-122"/>
                <a:cs typeface="Arial" pitchFamily="34" charset="-120"/>
              </a:rPr>
              <a:t>iOS caveat.  </a:t>
            </a:r>
            <a:pPr indent="0" marL="0">
              <a:buNone/>
            </a:pPr>
            <a:r>
              <a:rPr lang="en-US" sz="950" dirty="0">
                <a:solidFill>
                  <a:srgbClr val="86868B"/>
                </a:solidFill>
                <a:latin typeface="Arial" pitchFamily="34" charset="0"/>
                <a:ea typeface="Arial" pitchFamily="34" charset="-122"/>
                <a:cs typeface="Arial" pitchFamily="34" charset="-120"/>
              </a:rPr>
              <a:t>A suspended app gets no CPU and its sockets are torn down, so a long-lived gRPC stream does not survive backgrounding. URLSession background transfers cover plain HTTP uploads and downloads only, and cannot carry a gRPC stream. Design for it: reconnect on resume, use a silent push or BGTaskScheduler to be woken, and make the server's state resumable. Android's Doze and App Standby do the same thing with different names.</a:t>
            </a:r>
            <a:endParaRPr lang="en-US" sz="950" dirty="0"/>
          </a:p>
        </p:txBody>
      </p:sp>
      <p:sp>
        <p:nvSpPr>
          <p:cNvPr id="13" name="Shape 11"/>
          <p:cNvSpPr/>
          <p:nvPr/>
        </p:nvSpPr>
        <p:spPr>
          <a:xfrm>
            <a:off x="822960" y="5532120"/>
            <a:ext cx="6492240" cy="0"/>
          </a:xfrm>
          <a:prstGeom prst="line">
            <a:avLst/>
          </a:prstGeom>
          <a:noFill/>
          <a:ln w="9525">
            <a:solidFill>
              <a:srgbClr val="D2D2D7"/>
            </a:solidFill>
            <a:prstDash val="solid"/>
          </a:ln>
        </p:spPr>
      </p:sp>
      <p:sp>
        <p:nvSpPr>
          <p:cNvPr id="14" name="Text 12"/>
          <p:cNvSpPr/>
          <p:nvPr/>
        </p:nvSpPr>
        <p:spPr>
          <a:xfrm>
            <a:off x="822960" y="5760720"/>
            <a:ext cx="649224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Batch, set a deadline, cancel on dispose.</a:t>
            </a:r>
            <a:pPr indent="0" marL="0">
              <a:buNone/>
            </a:pPr>
            <a:r>
              <a:rPr lang="en-US" sz="1400" dirty="0">
                <a:solidFill>
                  <a:srgbClr val="86868B"/>
                </a:solidFill>
                <a:latin typeface="Arial" pitchFamily="34" charset="0"/>
                <a:ea typeface="Arial" pitchFamily="34" charset="-122"/>
                <a:cs typeface="Arial" pitchFamily="34" charset="-120"/>
              </a:rPr>
              <a:t> Three habits that show up as battery life in a review.</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17</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GRPC</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gRPC-Web and Connect: the browser problem</a:t>
            </a:r>
            <a:endParaRPr lang="en-US" sz="3000" dirty="0"/>
          </a:p>
        </p:txBody>
      </p:sp>
      <p:sp>
        <p:nvSpPr>
          <p:cNvPr id="5" name="Text 3"/>
          <p:cNvSpPr/>
          <p:nvPr/>
        </p:nvSpPr>
        <p:spPr>
          <a:xfrm>
            <a:off x="822960" y="1737360"/>
            <a:ext cx="6492240" cy="3931920"/>
          </a:xfrm>
          <a:prstGeom prst="rect">
            <a:avLst/>
          </a:prstGeom>
          <a:noFill/>
          <a:ln/>
        </p:spPr>
        <p:txBody>
          <a:bodyPr wrap="square" lIns="0" tIns="0" rIns="0" bIns="0" rtlCol="0" anchor="t"/>
          <a:lstStyle/>
          <a:p>
            <a:pPr indent="0" marL="0">
              <a:spcAft>
                <a:spcPts val="700"/>
              </a:spcAft>
              <a:buNone/>
            </a:pPr>
            <a:r>
              <a:rPr lang="en-US" sz="1150" b="1" dirty="0">
                <a:solidFill>
                  <a:srgbClr val="1D1D1F"/>
                </a:solidFill>
                <a:latin typeface="Arial" pitchFamily="34" charset="0"/>
                <a:ea typeface="Arial" pitchFamily="34" charset="-122"/>
                <a:cs typeface="Arial" pitchFamily="34" charset="-120"/>
              </a:rPr>
              <a:t>A browser cannot speak gRPC.</a:t>
            </a:r>
            <a:endParaRPr lang="en-US" sz="1150" dirty="0"/>
          </a:p>
          <a:p>
            <a:pPr indent="0" marL="0">
              <a:spcAft>
                <a:spcPts val="700"/>
              </a:spcAft>
              <a:buNone/>
            </a:pPr>
            <a:r>
              <a:rPr lang="en-US" sz="1150" dirty="0">
                <a:solidFill>
                  <a:srgbClr val="1D1D1F"/>
                </a:solidFill>
                <a:latin typeface="Arial" pitchFamily="34" charset="0"/>
                <a:ea typeface="Arial" pitchFamily="34" charset="-122"/>
                <a:cs typeface="Arial" pitchFamily="34" charset="-120"/>
              </a:rPr>
              <a:t>Not for lack of trying: fetch and XHR give JavaScript no way to control HTTP/2 frames, and no way to read trailers. gRPC delivers the call's status in a trailer, after the body. Full-duplex streaming is not available either.</a:t>
            </a:r>
            <a:endParaRPr lang="en-US" sz="1150" dirty="0"/>
          </a:p>
          <a:p>
            <a:pPr indent="0" marL="0">
              <a:spcAft>
                <a:spcPts val="700"/>
              </a:spcAft>
              <a:buNone/>
            </a:pPr>
            <a:r>
              <a:rPr lang="en-US" sz="1150" b="1" dirty="0">
                <a:solidFill>
                  <a:srgbClr val="1D1D1F"/>
                </a:solidFill>
                <a:latin typeface="Arial" pitchFamily="34" charset="0"/>
                <a:ea typeface="Arial" pitchFamily="34" charset="-122"/>
                <a:cs typeface="Arial" pitchFamily="34" charset="-120"/>
              </a:rPr>
              <a:t>gRPC-Web</a:t>
            </a:r>
            <a:endParaRPr lang="en-US" sz="1150" dirty="0"/>
          </a:p>
          <a:p>
            <a:pPr indent="0" marL="0">
              <a:spcAft>
                <a:spcPts val="700"/>
              </a:spcAft>
              <a:buNone/>
            </a:pPr>
            <a:r>
              <a:rPr lang="en-US" sz="1150" dirty="0">
                <a:solidFill>
                  <a:srgbClr val="1D1D1F"/>
                </a:solidFill>
                <a:latin typeface="Arial" pitchFamily="34" charset="0"/>
                <a:ea typeface="Arial" pitchFamily="34" charset="-122"/>
                <a:cs typeface="Arial" pitchFamily="34" charset="-120"/>
              </a:rPr>
              <a:t>is a different wire encoding that puts the trailers in the body, works over HTTP/1.1, and supports unary and server-streaming only. It needs a translating proxy in front of your service, such as Envoy or grpcwebproxy.</a:t>
            </a:r>
            <a:endParaRPr lang="en-US" sz="1150" dirty="0"/>
          </a:p>
          <a:p>
            <a:pPr indent="0" marL="0">
              <a:spcAft>
                <a:spcPts val="700"/>
              </a:spcAft>
              <a:buNone/>
            </a:pPr>
            <a:r>
              <a:rPr lang="en-US" sz="1150" b="1" dirty="0">
                <a:solidFill>
                  <a:srgbClr val="1D1D1F"/>
                </a:solidFill>
                <a:latin typeface="Arial" pitchFamily="34" charset="0"/>
                <a:ea typeface="Arial" pitchFamily="34" charset="-122"/>
                <a:cs typeface="Arial" pitchFamily="34" charset="-120"/>
              </a:rPr>
              <a:t>Connect</a:t>
            </a:r>
            <a:endParaRPr lang="en-US" sz="1150" dirty="0"/>
          </a:p>
          <a:p>
            <a:pPr indent="0" marL="0">
              <a:spcAft>
                <a:spcPts val="700"/>
              </a:spcAft>
              <a:buNone/>
            </a:pPr>
            <a:r>
              <a:rPr lang="en-US" sz="1150" dirty="0">
                <a:solidFill>
                  <a:srgbClr val="1D1D1F"/>
                </a:solidFill>
                <a:latin typeface="Arial" pitchFamily="34" charset="0"/>
                <a:ea typeface="Arial" pitchFamily="34" charset="-122"/>
                <a:cs typeface="Arial" pitchFamily="34" charset="-120"/>
              </a:rPr>
              <a:t>is the pragmatic successor: one Go handler serves the gRPC, gRPC-Web and Connect protocols on the same route, and the Connect protocol is plain HTTP that curl can call. No proxy in the path.</a:t>
            </a:r>
            <a:endParaRPr lang="en-US" sz="1150" dirty="0"/>
          </a:p>
          <a:p>
            <a:pPr indent="0" marL="0">
              <a:spcAft>
                <a:spcPts val="700"/>
              </a:spcAft>
              <a:buNone/>
            </a:pPr>
            <a:r>
              <a:rPr lang="en-US" sz="1150" b="1" dirty="0">
                <a:solidFill>
                  <a:srgbClr val="1D1D1F"/>
                </a:solidFill>
                <a:latin typeface="Arial" pitchFamily="34" charset="0"/>
                <a:ea typeface="Arial" pitchFamily="34" charset="-122"/>
                <a:cs typeface="Arial" pitchFamily="34" charset="-120"/>
              </a:rPr>
              <a:t>Why you care in this course:</a:t>
            </a:r>
            <a:endParaRPr lang="en-US" sz="1150" dirty="0"/>
          </a:p>
          <a:p>
            <a:pPr indent="0" marL="0">
              <a:spcAft>
                <a:spcPts val="700"/>
              </a:spcAft>
              <a:buNone/>
            </a:pPr>
            <a:r>
              <a:rPr lang="en-US" sz="1150" dirty="0">
                <a:solidFill>
                  <a:srgbClr val="1D1D1F"/>
                </a:solidFill>
                <a:latin typeface="Arial" pitchFamily="34" charset="0"/>
                <a:ea typeface="Arial" pitchFamily="34" charset="-122"/>
                <a:cs typeface="Arial" pitchFamily="34" charset="-120"/>
              </a:rPr>
              <a:t>your Flutter app builds for web too, and that build cannot open a raw gRPC connection.</a:t>
            </a:r>
            <a:endParaRPr lang="en-US" sz="1150" dirty="0"/>
          </a:p>
        </p:txBody>
      </p:sp>
      <p:sp>
        <p:nvSpPr>
          <p:cNvPr id="6" name="Shape 4"/>
          <p:cNvSpPr/>
          <p:nvPr/>
        </p:nvSpPr>
        <p:spPr>
          <a:xfrm>
            <a:off x="7589520" y="1828800"/>
            <a:ext cx="3776472" cy="2514600"/>
          </a:xfrm>
          <a:prstGeom prst="roundRect">
            <a:avLst>
              <a:gd name="adj" fmla="val 4364"/>
            </a:avLst>
          </a:prstGeom>
          <a:solidFill>
            <a:srgbClr val="F5F5F7"/>
          </a:solidFill>
          <a:ln/>
        </p:spPr>
      </p:sp>
      <p:sp>
        <p:nvSpPr>
          <p:cNvPr id="7" name="Text 5"/>
          <p:cNvSpPr/>
          <p:nvPr/>
        </p:nvSpPr>
        <p:spPr>
          <a:xfrm>
            <a:off x="8001000" y="2148840"/>
            <a:ext cx="3044952" cy="1920240"/>
          </a:xfrm>
          <a:prstGeom prst="rect">
            <a:avLst/>
          </a:prstGeom>
          <a:noFill/>
          <a:ln/>
        </p:spPr>
        <p:txBody>
          <a:bodyPr wrap="square" lIns="0" tIns="0" rIns="0" bIns="0" rtlCol="0" anchor="t"/>
          <a:lstStyle/>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one Go server, three protocols</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mux := http.NewServeMux()</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path, h := telemetryv1connect.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NewTelemetryHandler(&amp;server{})</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mux.Handle(path, h)</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h2c: HTTP/2 without TLS, for local dev</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http.ListenAndServe(":8080",</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h2c.NewHandler(mux, &amp;http2.Server{}))</a:t>
            </a:r>
            <a:endParaRPr lang="en-US" sz="850" dirty="0"/>
          </a:p>
        </p:txBody>
      </p:sp>
      <p:sp>
        <p:nvSpPr>
          <p:cNvPr id="8" name="Text 6"/>
          <p:cNvSpPr/>
          <p:nvPr/>
        </p:nvSpPr>
        <p:spPr>
          <a:xfrm>
            <a:off x="7589520" y="4526280"/>
            <a:ext cx="3776472" cy="822960"/>
          </a:xfrm>
          <a:prstGeom prst="rect">
            <a:avLst/>
          </a:prstGeom>
          <a:noFill/>
          <a:ln/>
        </p:spPr>
        <p:txBody>
          <a:bodyPr wrap="square" lIns="0" tIns="0" rIns="0" bIns="0" rtlCol="0" anchor="t"/>
          <a:lstStyle/>
          <a:p>
            <a:pPr indent="0" marL="0">
              <a:spcAft>
                <a:spcPts val="1400"/>
              </a:spcAft>
              <a:buNone/>
            </a:pPr>
            <a:r>
              <a:rPr lang="en-US" sz="1100" dirty="0">
                <a:solidFill>
                  <a:srgbClr val="86868B"/>
                </a:solidFill>
                <a:latin typeface="Arial" pitchFamily="34" charset="0"/>
                <a:ea typeface="Arial" pitchFamily="34" charset="-122"/>
                <a:cs typeface="Arial" pitchFamily="34" charset="-120"/>
              </a:rPr>
              <a:t>Mobile keeps the fast path; the web build gets a protocol it can actually speak.</a:t>
            </a:r>
            <a:endParaRPr lang="en-US" sz="1100" dirty="0"/>
          </a:p>
        </p:txBody>
      </p:sp>
      <p:sp>
        <p:nvSpPr>
          <p:cNvPr id="9" name="Shape 7"/>
          <p:cNvSpPr/>
          <p:nvPr/>
        </p:nvSpPr>
        <p:spPr>
          <a:xfrm>
            <a:off x="822960" y="5760720"/>
            <a:ext cx="6492240" cy="0"/>
          </a:xfrm>
          <a:prstGeom prst="line">
            <a:avLst/>
          </a:prstGeom>
          <a:noFill/>
          <a:ln w="9525">
            <a:solidFill>
              <a:srgbClr val="D2D2D7"/>
            </a:solidFill>
            <a:prstDash val="solid"/>
          </a:ln>
        </p:spPr>
      </p:sp>
      <p:sp>
        <p:nvSpPr>
          <p:cNvPr id="10" name="Text 8"/>
          <p:cNvSpPr/>
          <p:nvPr/>
        </p:nvSpPr>
        <p:spPr>
          <a:xfrm>
            <a:off x="822960" y="5989320"/>
            <a:ext cx="649224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The boundary has a shape here too:</a:t>
            </a:r>
            <a:pPr indent="0" marL="0">
              <a:buNone/>
            </a:pPr>
            <a:r>
              <a:rPr lang="en-US" sz="1400" dirty="0">
                <a:solidFill>
                  <a:srgbClr val="86868B"/>
                </a:solidFill>
                <a:latin typeface="Arial" pitchFamily="34" charset="0"/>
                <a:ea typeface="Arial" pitchFamily="34" charset="-122"/>
                <a:cs typeface="Arial" pitchFamily="34" charset="-120"/>
              </a:rPr>
              <a:t> what the browser sandbox will let you send is part of your architecture.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BOUNDARIES TWO AND THREE</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Between languages and runtimes</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Platform channels, dart:ffi, and what each one costs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19</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INSIDE THE APP</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Two runtimes sharing one process</a:t>
            </a:r>
            <a:endParaRPr lang="en-US" sz="3000" dirty="0"/>
          </a:p>
        </p:txBody>
      </p:sp>
      <p:sp>
        <p:nvSpPr>
          <p:cNvPr id="5" name="Text 3"/>
          <p:cNvSpPr/>
          <p:nvPr/>
        </p:nvSpPr>
        <p:spPr>
          <a:xfrm>
            <a:off x="822960" y="1783080"/>
            <a:ext cx="6492240" cy="3291840"/>
          </a:xfrm>
          <a:prstGeom prst="rect">
            <a:avLst/>
          </a:prstGeom>
          <a:noFill/>
          <a:ln/>
        </p:spPr>
        <p:txBody>
          <a:bodyPr wrap="square" lIns="0" tIns="0" rIns="0" bIns="0" rtlCol="0" anchor="t"/>
          <a:lstStyle/>
          <a:p>
            <a:pPr indent="0" marL="0">
              <a:spcAft>
                <a:spcPts val="1200"/>
              </a:spcAft>
              <a:buNone/>
            </a:pPr>
            <a:r>
              <a:rPr lang="en-US" sz="1250" dirty="0">
                <a:solidFill>
                  <a:srgbClr val="1D1D1F"/>
                </a:solidFill>
                <a:latin typeface="Arial" pitchFamily="34" charset="0"/>
                <a:ea typeface="Arial" pitchFamily="34" charset="-122"/>
                <a:cs typeface="Arial" pitchFamily="34" charset="-120"/>
              </a:rPr>
              <a:t>Your Flutter app is a native application. On Android an Activity, on iOS a UIViewController. That embedder loads the Flutter engine and hands it a surface, a message loop and system events.</a:t>
            </a:r>
            <a:endParaRPr lang="en-US" sz="1250" dirty="0"/>
          </a:p>
          <a:p>
            <a:pPr indent="0" marL="0">
              <a:spcAft>
                <a:spcPts val="1200"/>
              </a:spcAft>
              <a:buNone/>
            </a:pPr>
            <a:r>
              <a:rPr lang="en-US" sz="1250" dirty="0">
                <a:solidFill>
                  <a:srgbClr val="1D1D1F"/>
                </a:solidFill>
                <a:latin typeface="Arial" pitchFamily="34" charset="0"/>
                <a:ea typeface="Arial" pitchFamily="34" charset="-122"/>
                <a:cs typeface="Arial" pitchFamily="34" charset="-120"/>
              </a:rPr>
              <a:t>Inside that process there are two managed worlds. Your Dart code runs in an isolate with its own heap and its own garbage collector. The platform runtime, ART on Android and the Objective-C/Swift runtime on iOS, has its own heap and its own rules. Neither can see the other's objects.</a:t>
            </a:r>
            <a:endParaRPr lang="en-US" sz="1250" dirty="0"/>
          </a:p>
          <a:p>
            <a:pPr indent="0" marL="0">
              <a:spcAft>
                <a:spcPts val="1200"/>
              </a:spcAft>
              <a:buNone/>
            </a:pPr>
            <a:r>
              <a:rPr lang="en-US" sz="1250" b="1" dirty="0">
                <a:solidFill>
                  <a:srgbClr val="1D1D1F"/>
                </a:solidFill>
                <a:latin typeface="Arial" pitchFamily="34" charset="0"/>
                <a:ea typeface="Arial" pitchFamily="34" charset="-122"/>
                <a:cs typeface="Arial" pitchFamily="34" charset="-120"/>
              </a:rPr>
              <a:t>So every crossing is one of exactly two things:</a:t>
            </a:r>
            <a:endParaRPr lang="en-US" sz="1250" dirty="0"/>
          </a:p>
          <a:p>
            <a:pPr indent="0" marL="0">
              <a:spcAft>
                <a:spcPts val="1200"/>
              </a:spcAft>
              <a:buNone/>
            </a:pPr>
            <a:r>
              <a:rPr lang="en-US" sz="1250" dirty="0">
                <a:solidFill>
                  <a:srgbClr val="1D1D1F"/>
                </a:solidFill>
                <a:latin typeface="Arial" pitchFamily="34" charset="0"/>
                <a:ea typeface="Arial" pitchFamily="34" charset="-122"/>
                <a:cs typeface="Arial" pitchFamily="34" charset="-120"/>
              </a:rPr>
              <a:t>encode a message and hand it to the other thread (a platform channel), or drop to the one thing both sides already agree on, the C ABI (dart:ffi).</a:t>
            </a:r>
            <a:endParaRPr lang="en-US" sz="1250" dirty="0"/>
          </a:p>
        </p:txBody>
      </p:sp>
      <p:sp>
        <p:nvSpPr>
          <p:cNvPr id="6" name="Shape 4"/>
          <p:cNvSpPr/>
          <p:nvPr/>
        </p:nvSpPr>
        <p:spPr>
          <a:xfrm>
            <a:off x="7589520" y="1828800"/>
            <a:ext cx="3776472" cy="868680"/>
          </a:xfrm>
          <a:prstGeom prst="roundRect">
            <a:avLst>
              <a:gd name="adj" fmla="val 9474"/>
            </a:avLst>
          </a:prstGeom>
          <a:solidFill>
            <a:srgbClr val="FFFFFF"/>
          </a:solidFill>
          <a:ln w="12700">
            <a:solidFill>
              <a:srgbClr val="D2D2D7"/>
            </a:solidFill>
            <a:prstDash val="solid"/>
          </a:ln>
        </p:spPr>
      </p:sp>
      <p:sp>
        <p:nvSpPr>
          <p:cNvPr id="7" name="Text 5"/>
          <p:cNvSpPr/>
          <p:nvPr/>
        </p:nvSpPr>
        <p:spPr>
          <a:xfrm>
            <a:off x="7726680" y="1828800"/>
            <a:ext cx="3502152" cy="868680"/>
          </a:xfrm>
          <a:prstGeom prst="rect">
            <a:avLst/>
          </a:prstGeom>
          <a:noFill/>
          <a:ln/>
        </p:spPr>
        <p:txBody>
          <a:bodyPr wrap="square" lIns="0" tIns="0" rIns="0" bIns="0" rtlCol="0" anchor="ctr"/>
          <a:lstStyle/>
          <a:p>
            <a:pPr algn="ctr" indent="0" marL="0">
              <a:buNone/>
            </a:pPr>
            <a:r>
              <a:rPr lang="en-US" sz="1300" b="1" dirty="0">
                <a:solidFill>
                  <a:srgbClr val="1D1D1F"/>
                </a:solidFill>
                <a:latin typeface="Arial" pitchFamily="34" charset="0"/>
                <a:ea typeface="Arial" pitchFamily="34" charset="-122"/>
                <a:cs typeface="Arial" pitchFamily="34" charset="-120"/>
              </a:rPr>
              <a:t>Platform thread</a:t>
            </a:r>
            <a:endParaRPr lang="en-US" sz="1300" dirty="0"/>
          </a:p>
          <a:p>
            <a:pPr algn="ctr" indent="0" marL="0">
              <a:buNone/>
            </a:pPr>
            <a:r>
              <a:rPr lang="en-US" sz="1050" dirty="0">
                <a:solidFill>
                  <a:srgbClr val="86868B"/>
                </a:solidFill>
                <a:latin typeface="Arial" pitchFamily="34" charset="0"/>
                <a:ea typeface="Arial" pitchFamily="34" charset="-122"/>
                <a:cs typeface="Arial" pitchFamily="34" charset="-120"/>
              </a:rPr>
              <a:t>the Activity / ViewController, all OS APIs</a:t>
            </a:r>
            <a:endParaRPr lang="en-US" sz="1300" dirty="0"/>
          </a:p>
        </p:txBody>
      </p:sp>
      <p:sp>
        <p:nvSpPr>
          <p:cNvPr id="8" name="Shape 6"/>
          <p:cNvSpPr/>
          <p:nvPr/>
        </p:nvSpPr>
        <p:spPr>
          <a:xfrm>
            <a:off x="7589520" y="2880360"/>
            <a:ext cx="3776472" cy="868680"/>
          </a:xfrm>
          <a:prstGeom prst="roundRect">
            <a:avLst>
              <a:gd name="adj" fmla="val 9474"/>
            </a:avLst>
          </a:prstGeom>
          <a:solidFill>
            <a:srgbClr val="000000"/>
          </a:solidFill>
          <a:ln/>
        </p:spPr>
      </p:sp>
      <p:sp>
        <p:nvSpPr>
          <p:cNvPr id="9" name="Text 7"/>
          <p:cNvSpPr/>
          <p:nvPr/>
        </p:nvSpPr>
        <p:spPr>
          <a:xfrm>
            <a:off x="7726680" y="2880360"/>
            <a:ext cx="3502152"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UI thread</a:t>
            </a:r>
            <a:endParaRPr lang="en-US" sz="1300" dirty="0"/>
          </a:p>
          <a:p>
            <a:pPr algn="ctr" indent="0" marL="0">
              <a:buNone/>
            </a:pPr>
            <a:r>
              <a:rPr lang="en-US" sz="1050" dirty="0">
                <a:solidFill>
                  <a:srgbClr val="A1A1A6"/>
                </a:solidFill>
                <a:latin typeface="Arial" pitchFamily="34" charset="0"/>
                <a:ea typeface="Arial" pitchFamily="34" charset="-122"/>
                <a:cs typeface="Arial" pitchFamily="34" charset="-120"/>
              </a:rPr>
              <a:t>your Dart isolate: widgets, state, your heap</a:t>
            </a:r>
            <a:endParaRPr lang="en-US" sz="1300" dirty="0"/>
          </a:p>
        </p:txBody>
      </p:sp>
      <p:sp>
        <p:nvSpPr>
          <p:cNvPr id="10" name="Shape 8"/>
          <p:cNvSpPr/>
          <p:nvPr/>
        </p:nvSpPr>
        <p:spPr>
          <a:xfrm>
            <a:off x="7589520" y="3931920"/>
            <a:ext cx="3776472" cy="868680"/>
          </a:xfrm>
          <a:prstGeom prst="roundRect">
            <a:avLst>
              <a:gd name="adj" fmla="val 9474"/>
            </a:avLst>
          </a:prstGeom>
          <a:solidFill>
            <a:srgbClr val="FFFFFF"/>
          </a:solidFill>
          <a:ln w="12700">
            <a:solidFill>
              <a:srgbClr val="D2D2D7"/>
            </a:solidFill>
            <a:prstDash val="solid"/>
          </a:ln>
        </p:spPr>
      </p:sp>
      <p:sp>
        <p:nvSpPr>
          <p:cNvPr id="11" name="Text 9"/>
          <p:cNvSpPr/>
          <p:nvPr/>
        </p:nvSpPr>
        <p:spPr>
          <a:xfrm>
            <a:off x="7726680" y="3931920"/>
            <a:ext cx="3502152" cy="868680"/>
          </a:xfrm>
          <a:prstGeom prst="rect">
            <a:avLst/>
          </a:prstGeom>
          <a:noFill/>
          <a:ln/>
        </p:spPr>
        <p:txBody>
          <a:bodyPr wrap="square" lIns="0" tIns="0" rIns="0" bIns="0" rtlCol="0" anchor="ctr"/>
          <a:lstStyle/>
          <a:p>
            <a:pPr algn="ctr" indent="0" marL="0">
              <a:buNone/>
            </a:pPr>
            <a:r>
              <a:rPr lang="en-US" sz="1300" b="1" dirty="0">
                <a:solidFill>
                  <a:srgbClr val="1D1D1F"/>
                </a:solidFill>
                <a:latin typeface="Arial" pitchFamily="34" charset="0"/>
                <a:ea typeface="Arial" pitchFamily="34" charset="-122"/>
                <a:cs typeface="Arial" pitchFamily="34" charset="-120"/>
              </a:rPr>
              <a:t>Raster thread</a:t>
            </a:r>
            <a:endParaRPr lang="en-US" sz="1300" dirty="0"/>
          </a:p>
          <a:p>
            <a:pPr algn="ctr" indent="0" marL="0">
              <a:buNone/>
            </a:pPr>
            <a:r>
              <a:rPr lang="en-US" sz="1050" dirty="0">
                <a:solidFill>
                  <a:srgbClr val="86868B"/>
                </a:solidFill>
                <a:latin typeface="Arial" pitchFamily="34" charset="0"/>
                <a:ea typeface="Arial" pitchFamily="34" charset="-122"/>
                <a:cs typeface="Arial" pitchFamily="34" charset="-120"/>
              </a:rPr>
              <a:t>Impeller submits the frame to the GPU</a:t>
            </a:r>
            <a:endParaRPr lang="en-US" sz="1300" dirty="0"/>
          </a:p>
        </p:txBody>
      </p:sp>
      <p:sp>
        <p:nvSpPr>
          <p:cNvPr id="12" name="Shape 10"/>
          <p:cNvSpPr/>
          <p:nvPr/>
        </p:nvSpPr>
        <p:spPr>
          <a:xfrm>
            <a:off x="7589520" y="4983480"/>
            <a:ext cx="3776472" cy="868680"/>
          </a:xfrm>
          <a:prstGeom prst="roundRect">
            <a:avLst>
              <a:gd name="adj" fmla="val 12632"/>
            </a:avLst>
          </a:prstGeom>
          <a:solidFill>
            <a:srgbClr val="F5F5F7"/>
          </a:solidFill>
          <a:ln/>
        </p:spPr>
      </p:sp>
      <p:sp>
        <p:nvSpPr>
          <p:cNvPr id="13" name="Text 11"/>
          <p:cNvSpPr/>
          <p:nvPr/>
        </p:nvSpPr>
        <p:spPr>
          <a:xfrm>
            <a:off x="7726680" y="4983480"/>
            <a:ext cx="3502152" cy="868680"/>
          </a:xfrm>
          <a:prstGeom prst="rect">
            <a:avLst/>
          </a:prstGeom>
          <a:noFill/>
          <a:ln/>
        </p:spPr>
        <p:txBody>
          <a:bodyPr wrap="square" lIns="0" tIns="0" rIns="0" bIns="0" rtlCol="0" anchor="ctr"/>
          <a:lstStyle/>
          <a:p>
            <a:pPr algn="ctr" indent="0" marL="0">
              <a:buNone/>
            </a:pPr>
            <a:r>
              <a:rPr lang="en-US" sz="1300" b="1" dirty="0">
                <a:solidFill>
                  <a:srgbClr val="1D1D1F"/>
                </a:solidFill>
                <a:latin typeface="Arial" pitchFamily="34" charset="0"/>
                <a:ea typeface="Arial" pitchFamily="34" charset="-122"/>
                <a:cs typeface="Arial" pitchFamily="34" charset="-120"/>
              </a:rPr>
              <a:t>I/O thread</a:t>
            </a:r>
            <a:endParaRPr lang="en-US" sz="1300" dirty="0"/>
          </a:p>
          <a:p>
            <a:pPr algn="ctr" indent="0" marL="0">
              <a:buNone/>
            </a:pPr>
            <a:r>
              <a:rPr lang="en-US" sz="1050" dirty="0">
                <a:solidFill>
                  <a:srgbClr val="86868B"/>
                </a:solidFill>
                <a:latin typeface="Arial" pitchFamily="34" charset="0"/>
                <a:ea typeface="Arial" pitchFamily="34" charset="-122"/>
                <a:cs typeface="Arial" pitchFamily="34" charset="-120"/>
              </a:rPr>
              <a:t>asset loading, image decoding</a:t>
            </a:r>
            <a:endParaRPr lang="en-US" sz="1300" dirty="0"/>
          </a:p>
        </p:txBody>
      </p:sp>
      <p:sp>
        <p:nvSpPr>
          <p:cNvPr id="14" name="Shape 12"/>
          <p:cNvSpPr/>
          <p:nvPr/>
        </p:nvSpPr>
        <p:spPr>
          <a:xfrm>
            <a:off x="822960" y="5349240"/>
            <a:ext cx="6492240" cy="0"/>
          </a:xfrm>
          <a:prstGeom prst="line">
            <a:avLst/>
          </a:prstGeom>
          <a:noFill/>
          <a:ln w="9525">
            <a:solidFill>
              <a:srgbClr val="D2D2D7"/>
            </a:solidFill>
            <a:prstDash val="solid"/>
          </a:ln>
        </p:spPr>
      </p:sp>
      <p:sp>
        <p:nvSpPr>
          <p:cNvPr id="15" name="Text 13"/>
          <p:cNvSpPr/>
          <p:nvPr/>
        </p:nvSpPr>
        <p:spPr>
          <a:xfrm>
            <a:off x="822960" y="5577840"/>
            <a:ext cx="649224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Different heaps, different threads.</a:t>
            </a:r>
            <a:pPr indent="0" marL="0">
              <a:buNone/>
            </a:pPr>
            <a:r>
              <a:rPr lang="en-US" sz="1400" dirty="0">
                <a:solidFill>
                  <a:srgbClr val="86868B"/>
                </a:solidFill>
                <a:latin typeface="Arial" pitchFamily="34" charset="0"/>
                <a:ea typeface="Arial" pitchFamily="34" charset="-122"/>
                <a:cs typeface="Arial" pitchFamily="34" charset="-120"/>
              </a:rPr>
              <a:t> Everything in this section is a consequence of those two facts.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20</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PLATFORM CHANNELS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MethodChannel, both sides</a:t>
            </a:r>
            <a:endParaRPr lang="en-US" sz="3000" dirty="0"/>
          </a:p>
        </p:txBody>
      </p:sp>
      <p:sp>
        <p:nvSpPr>
          <p:cNvPr id="5" name="Text 3"/>
          <p:cNvSpPr/>
          <p:nvPr/>
        </p:nvSpPr>
        <p:spPr>
          <a:xfrm>
            <a:off x="822960" y="1627632"/>
            <a:ext cx="5394960" cy="256032"/>
          </a:xfrm>
          <a:prstGeom prst="rect">
            <a:avLst/>
          </a:prstGeom>
          <a:noFill/>
          <a:ln/>
        </p:spPr>
        <p:txBody>
          <a:bodyPr wrap="square" lIns="0" tIns="0" rIns="0" bIns="0" rtlCol="0" anchor="ctr"/>
          <a:lstStyle/>
          <a:p>
            <a:pPr indent="0" marL="0">
              <a:buNone/>
            </a:pPr>
            <a:r>
              <a:rPr lang="en-US" sz="1200" b="1" dirty="0">
                <a:solidFill>
                  <a:srgbClr val="1D1D1F"/>
                </a:solidFill>
                <a:latin typeface="Arial" pitchFamily="34" charset="0"/>
                <a:ea typeface="Arial" pitchFamily="34" charset="-122"/>
                <a:cs typeface="Arial" pitchFamily="34" charset="-120"/>
              </a:rPr>
              <a:t>Dart</a:t>
            </a:r>
            <a:endParaRPr lang="en-US" sz="1200" dirty="0"/>
          </a:p>
        </p:txBody>
      </p:sp>
      <p:sp>
        <p:nvSpPr>
          <p:cNvPr id="6" name="Shape 4"/>
          <p:cNvSpPr/>
          <p:nvPr/>
        </p:nvSpPr>
        <p:spPr>
          <a:xfrm>
            <a:off x="822960" y="1901952"/>
            <a:ext cx="5394960" cy="3246120"/>
          </a:xfrm>
          <a:prstGeom prst="roundRect">
            <a:avLst>
              <a:gd name="adj" fmla="val 3380"/>
            </a:avLst>
          </a:prstGeom>
          <a:solidFill>
            <a:srgbClr val="F5F5F7"/>
          </a:solidFill>
          <a:ln/>
        </p:spPr>
      </p:sp>
      <p:sp>
        <p:nvSpPr>
          <p:cNvPr id="7" name="Text 5"/>
          <p:cNvSpPr/>
          <p:nvPr/>
        </p:nvSpPr>
        <p:spPr>
          <a:xfrm>
            <a:off x="1234440" y="2221992"/>
            <a:ext cx="4663440" cy="2651760"/>
          </a:xfrm>
          <a:prstGeom prst="rect">
            <a:avLst/>
          </a:prstGeom>
          <a:noFill/>
          <a:ln/>
        </p:spPr>
        <p:txBody>
          <a:bodyPr wrap="square" lIns="0" tIns="0" rIns="0" bIns="0" rtlCol="0" anchor="t"/>
          <a:lstStyle/>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class Battery {</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static const _ch = MethodChannel('dev.upb.mec/battery');</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static Future&lt;int&gt; level() async {</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try {</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return await _ch.invokeMethod&lt;int&gt;('getLevel') ?? -1;</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 on PlatformException catch (e) {</a:t>
            </a:r>
            <a:endParaRPr lang="en-US" sz="800" dirty="0"/>
          </a:p>
          <a:p>
            <a:pPr indent="0" marL="0">
              <a:lnSpc>
                <a:spcPts val="1500"/>
              </a:lnSpc>
              <a:buNone/>
            </a:pPr>
            <a:r>
              <a:rPr lang="en-US" sz="800" dirty="0">
                <a:solidFill>
                  <a:srgbClr val="86868B"/>
                </a:solidFill>
                <a:latin typeface="Courier New" pitchFamily="34" charset="0"/>
                <a:ea typeface="Courier New" pitchFamily="34" charset="-122"/>
                <a:cs typeface="Courier New" pitchFamily="34" charset="-120"/>
              </a:rPr>
              <a:t>      // e.code is the string the native side chose</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debugPrint('battery failed: ${e.code}');</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return -1;</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 on MissingPluginException {</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return -1;   // not registered on this platform</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a:t>
            </a:r>
            <a:endParaRPr lang="en-US" sz="800" dirty="0"/>
          </a:p>
        </p:txBody>
      </p:sp>
      <p:sp>
        <p:nvSpPr>
          <p:cNvPr id="8" name="Text 6"/>
          <p:cNvSpPr/>
          <p:nvPr/>
        </p:nvSpPr>
        <p:spPr>
          <a:xfrm>
            <a:off x="6400800" y="1627632"/>
            <a:ext cx="4965192" cy="256032"/>
          </a:xfrm>
          <a:prstGeom prst="rect">
            <a:avLst/>
          </a:prstGeom>
          <a:noFill/>
          <a:ln/>
        </p:spPr>
        <p:txBody>
          <a:bodyPr wrap="square" lIns="0" tIns="0" rIns="0" bIns="0" rtlCol="0" anchor="ctr"/>
          <a:lstStyle/>
          <a:p>
            <a:pPr indent="0" marL="0">
              <a:buNone/>
            </a:pPr>
            <a:r>
              <a:rPr lang="en-US" sz="1200" b="1" dirty="0">
                <a:solidFill>
                  <a:srgbClr val="1D1D1F"/>
                </a:solidFill>
                <a:latin typeface="Arial" pitchFamily="34" charset="0"/>
                <a:ea typeface="Arial" pitchFamily="34" charset="-122"/>
                <a:cs typeface="Arial" pitchFamily="34" charset="-120"/>
              </a:rPr>
              <a:t>Kotlin: MainActivity</a:t>
            </a:r>
            <a:endParaRPr lang="en-US" sz="1200" dirty="0"/>
          </a:p>
        </p:txBody>
      </p:sp>
      <p:sp>
        <p:nvSpPr>
          <p:cNvPr id="9" name="Shape 7"/>
          <p:cNvSpPr/>
          <p:nvPr/>
        </p:nvSpPr>
        <p:spPr>
          <a:xfrm>
            <a:off x="6400800" y="1901952"/>
            <a:ext cx="4965192" cy="2148840"/>
          </a:xfrm>
          <a:prstGeom prst="roundRect">
            <a:avLst>
              <a:gd name="adj" fmla="val 5106"/>
            </a:avLst>
          </a:prstGeom>
          <a:solidFill>
            <a:srgbClr val="F5F5F7"/>
          </a:solidFill>
          <a:ln/>
        </p:spPr>
      </p:sp>
      <p:sp>
        <p:nvSpPr>
          <p:cNvPr id="10" name="Text 8"/>
          <p:cNvSpPr/>
          <p:nvPr/>
        </p:nvSpPr>
        <p:spPr>
          <a:xfrm>
            <a:off x="6812280" y="2221992"/>
            <a:ext cx="4233672" cy="1554480"/>
          </a:xfrm>
          <a:prstGeom prst="rect">
            <a:avLst/>
          </a:prstGeom>
          <a:noFill/>
          <a:ln/>
        </p:spPr>
        <p:txBody>
          <a:bodyPr wrap="square" lIns="0" tIns="0" rIns="0" bIns="0" rtlCol="0" anchor="t"/>
          <a:lstStyle/>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override fun configureFlutterEngine(engine: FlutterEngine)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super.configureFlutterEngine(engine)</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val ch = MethodChannel(engine.dartExecutor.binaryMessenger,</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"dev.upb.mec/battery")</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ch.setMethodCallHandler { call, result -&gt;</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if (call.method == "getLevel") result.success(level())</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else result.notImplemented()</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a:t>
            </a:r>
            <a:endParaRPr lang="en-US" sz="750" dirty="0"/>
          </a:p>
        </p:txBody>
      </p:sp>
      <p:sp>
        <p:nvSpPr>
          <p:cNvPr id="11" name="Text 9"/>
          <p:cNvSpPr/>
          <p:nvPr/>
        </p:nvSpPr>
        <p:spPr>
          <a:xfrm>
            <a:off x="6400800" y="4133088"/>
            <a:ext cx="4965192" cy="256032"/>
          </a:xfrm>
          <a:prstGeom prst="rect">
            <a:avLst/>
          </a:prstGeom>
          <a:noFill/>
          <a:ln/>
        </p:spPr>
        <p:txBody>
          <a:bodyPr wrap="square" lIns="0" tIns="0" rIns="0" bIns="0" rtlCol="0" anchor="ctr"/>
          <a:lstStyle/>
          <a:p>
            <a:pPr indent="0" marL="0">
              <a:buNone/>
            </a:pPr>
            <a:r>
              <a:rPr lang="en-US" sz="1200" b="1" dirty="0">
                <a:solidFill>
                  <a:srgbClr val="1D1D1F"/>
                </a:solidFill>
                <a:latin typeface="Arial" pitchFamily="34" charset="0"/>
                <a:ea typeface="Arial" pitchFamily="34" charset="-122"/>
                <a:cs typeface="Arial" pitchFamily="34" charset="-120"/>
              </a:rPr>
              <a:t>Swift: AppDelegate</a:t>
            </a:r>
            <a:endParaRPr lang="en-US" sz="1200" dirty="0"/>
          </a:p>
        </p:txBody>
      </p:sp>
      <p:sp>
        <p:nvSpPr>
          <p:cNvPr id="12" name="Shape 10"/>
          <p:cNvSpPr/>
          <p:nvPr/>
        </p:nvSpPr>
        <p:spPr>
          <a:xfrm>
            <a:off x="6400800" y="4407408"/>
            <a:ext cx="4965192" cy="1828800"/>
          </a:xfrm>
          <a:prstGeom prst="roundRect">
            <a:avLst>
              <a:gd name="adj" fmla="val 6000"/>
            </a:avLst>
          </a:prstGeom>
          <a:solidFill>
            <a:srgbClr val="F5F5F7"/>
          </a:solidFill>
          <a:ln/>
        </p:spPr>
      </p:sp>
      <p:sp>
        <p:nvSpPr>
          <p:cNvPr id="13" name="Text 11"/>
          <p:cNvSpPr/>
          <p:nvPr/>
        </p:nvSpPr>
        <p:spPr>
          <a:xfrm>
            <a:off x="6812280" y="4727448"/>
            <a:ext cx="4233672" cy="1234440"/>
          </a:xfrm>
          <a:prstGeom prst="rect">
            <a:avLst/>
          </a:prstGeom>
          <a:noFill/>
          <a:ln/>
        </p:spPr>
        <p:txBody>
          <a:bodyPr wrap="square" lIns="0" tIns="0" rIns="0" bIns="0" rtlCol="0" anchor="t"/>
          <a:lstStyle/>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let ch = FlutterMethodChannel(name: "dev.upb.mec/battery",</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        binaryMessenger: controller.binaryMessenger)</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ch.setMethodCallHandler { call, result in</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  guard call.method == "getLevel" else {</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    result(FlutterMethodNotImplemented); return</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  }</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  result(Int(UIDevice.current.batteryLevel * 100))</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a:t>
            </a:r>
            <a:endParaRPr lang="en-US" sz="700" dirty="0"/>
          </a:p>
        </p:txBody>
      </p:sp>
      <p:sp>
        <p:nvSpPr>
          <p:cNvPr id="14" name="Text 12"/>
          <p:cNvSpPr/>
          <p:nvPr/>
        </p:nvSpPr>
        <p:spPr>
          <a:xfrm>
            <a:off x="822960" y="5303520"/>
            <a:ext cx="5394960" cy="914400"/>
          </a:xfrm>
          <a:prstGeom prst="rect">
            <a:avLst/>
          </a:prstGeom>
          <a:noFill/>
          <a:ln/>
        </p:spPr>
        <p:txBody>
          <a:bodyPr wrap="square" lIns="0" tIns="0" rIns="0" bIns="0" rtlCol="0" anchor="t"/>
          <a:lstStyle/>
          <a:p>
            <a:pPr indent="0" marL="0">
              <a:spcAft>
                <a:spcPts val="600"/>
              </a:spcAft>
              <a:buNone/>
            </a:pPr>
            <a:r>
              <a:rPr lang="en-US" sz="950" dirty="0">
                <a:solidFill>
                  <a:srgbClr val="1D1D1F"/>
                </a:solidFill>
                <a:latin typeface="Arial" pitchFamily="34" charset="0"/>
                <a:ea typeface="Arial" pitchFamily="34" charset="-122"/>
                <a:cs typeface="Arial" pitchFamily="34" charset="-120"/>
              </a:rPr>
              <a:t>The channel name is a string on both sides, so a typo is a runtime MissingPluginException, not a compile error.</a:t>
            </a:r>
            <a:endParaRPr lang="en-US" sz="950" dirty="0"/>
          </a:p>
          <a:p>
            <a:pPr indent="0" marL="0">
              <a:spcAft>
                <a:spcPts val="600"/>
              </a:spcAft>
              <a:buNone/>
            </a:pPr>
            <a:r>
              <a:rPr lang="en-US" sz="950" dirty="0">
                <a:solidFill>
                  <a:srgbClr val="1D1D1F"/>
                </a:solidFill>
                <a:latin typeface="Arial" pitchFamily="34" charset="0"/>
                <a:ea typeface="Arial" pitchFamily="34" charset="-122"/>
                <a:cs typeface="Arial" pitchFamily="34" charset="-120"/>
              </a:rPr>
              <a:t>The handler runs on the platform's main thread: do the work elsewhere and call result later. EventChannel for streams.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21</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PLATFORM CHANNELS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What a channel call actually costs</a:t>
            </a:r>
            <a:endParaRPr lang="en-US" sz="3000" dirty="0"/>
          </a:p>
        </p:txBody>
      </p:sp>
      <p:sp>
        <p:nvSpPr>
          <p:cNvPr id="5" name="Text 3"/>
          <p:cNvSpPr/>
          <p:nvPr/>
        </p:nvSpPr>
        <p:spPr>
          <a:xfrm>
            <a:off x="822960" y="1783080"/>
            <a:ext cx="6492240" cy="3566160"/>
          </a:xfrm>
          <a:prstGeom prst="rect">
            <a:avLst/>
          </a:prstGeom>
          <a:noFill/>
          <a:ln/>
        </p:spPr>
        <p:txBody>
          <a:bodyPr wrap="square" lIns="0" tIns="0" rIns="0" bIns="0" rtlCol="0" anchor="t"/>
          <a:lstStyle/>
          <a:p>
            <a:pPr indent="0" marL="0">
              <a:spcAft>
                <a:spcPts val="1000"/>
              </a:spcAft>
              <a:buNone/>
            </a:pPr>
            <a:r>
              <a:rPr lang="en-US" sz="1150" b="1" dirty="0">
                <a:solidFill>
                  <a:srgbClr val="1D1D1F"/>
                </a:solidFill>
                <a:latin typeface="Arial" pitchFamily="34" charset="0"/>
                <a:ea typeface="Arial" pitchFamily="34" charset="-122"/>
                <a:cs typeface="Arial" pitchFamily="34" charset="-120"/>
              </a:rPr>
              <a:t>Two things are being paid for, and only one of them is constant.</a:t>
            </a:r>
            <a:endParaRPr lang="en-US" sz="1150" dirty="0"/>
          </a:p>
          <a:p>
            <a:pPr indent="0" marL="0">
              <a:spcAft>
                <a:spcPts val="1000"/>
              </a:spcAft>
              <a:buNone/>
            </a:pPr>
            <a:r>
              <a:rPr lang="en-US" sz="1150" dirty="0">
                <a:solidFill>
                  <a:srgbClr val="1D1D1F"/>
                </a:solidFill>
                <a:latin typeface="Arial" pitchFamily="34" charset="0"/>
                <a:ea typeface="Arial" pitchFamily="34" charset="-122"/>
                <a:cs typeface="Arial" pitchFamily="34" charset="-120"/>
              </a:rPr>
              <a:t>The thread hops are a roughly fixed overhead: two queue posts and two context switches, whose cost depends on how busy those threads already are. Because the call is asynchronous it also inherits the UI thread's queue: if a frame is being built, your result waits behind it. That is where tail latency comes from.</a:t>
            </a:r>
            <a:endParaRPr lang="en-US" sz="1150" dirty="0"/>
          </a:p>
          <a:p>
            <a:pPr indent="0" marL="0">
              <a:spcAft>
                <a:spcPts val="1000"/>
              </a:spcAft>
              <a:buNone/>
            </a:pPr>
            <a:r>
              <a:rPr lang="en-US" sz="1150" dirty="0">
                <a:solidFill>
                  <a:srgbClr val="1D1D1F"/>
                </a:solidFill>
                <a:latin typeface="Arial" pitchFamily="34" charset="0"/>
                <a:ea typeface="Arial" pitchFamily="34" charset="-122"/>
                <a:cs typeface="Arial" pitchFamily="34" charset="-120"/>
              </a:rPr>
              <a:t>The encoding is not fixed at all. StandardMessageCodec recurses over the object graph and writes every element, so the cost grows linearly with what you send. A map of five strings costs nothing; a list of 100,000 doubles is a different matter.</a:t>
            </a:r>
            <a:endParaRPr lang="en-US" sz="1150" dirty="0"/>
          </a:p>
          <a:p>
            <a:pPr indent="0" marL="0">
              <a:spcAft>
                <a:spcPts val="1000"/>
              </a:spcAft>
              <a:buNone/>
            </a:pPr>
            <a:r>
              <a:rPr lang="en-US" sz="1150" b="1" dirty="0">
                <a:solidFill>
                  <a:srgbClr val="1D1D1F"/>
                </a:solidFill>
                <a:latin typeface="Arial" pitchFamily="34" charset="0"/>
                <a:ea typeface="Arial" pitchFamily="34" charset="-122"/>
                <a:cs typeface="Arial" pitchFamily="34" charset="-120"/>
              </a:rPr>
              <a:t>The Android trap:</a:t>
            </a:r>
            <a:endParaRPr lang="en-US" sz="1150" dirty="0"/>
          </a:p>
          <a:p>
            <a:pPr indent="0" marL="0">
              <a:spcAft>
                <a:spcPts val="1000"/>
              </a:spcAft>
              <a:buNone/>
            </a:pPr>
            <a:r>
              <a:rPr lang="en-US" sz="1150" dirty="0">
                <a:solidFill>
                  <a:srgbClr val="1D1D1F"/>
                </a:solidFill>
                <a:latin typeface="Arial" pitchFamily="34" charset="0"/>
                <a:ea typeface="Arial" pitchFamily="34" charset="-122"/>
                <a:cs typeface="Arial" pitchFamily="34" charset="-120"/>
              </a:rPr>
              <a:t>a Dart List&lt;double&gt; decodes into 100,000 boxed java.lang.Double objects, and the garbage collector notices. Send a Float64List or Uint8List instead: the codec has a fast path that passes typed data through as a raw buffer, unboxed and copied once.</a:t>
            </a:r>
            <a:endParaRPr lang="en-US" sz="1150" dirty="0"/>
          </a:p>
        </p:txBody>
      </p:sp>
      <p:sp>
        <p:nvSpPr>
          <p:cNvPr id="6" name="Shape 4"/>
          <p:cNvSpPr/>
          <p:nvPr/>
        </p:nvSpPr>
        <p:spPr>
          <a:xfrm>
            <a:off x="7589520" y="1828800"/>
            <a:ext cx="3776472" cy="685800"/>
          </a:xfrm>
          <a:prstGeom prst="roundRect">
            <a:avLst>
              <a:gd name="adj" fmla="val 12000"/>
            </a:avLst>
          </a:prstGeom>
          <a:solidFill>
            <a:srgbClr val="000000"/>
          </a:solidFill>
          <a:ln/>
        </p:spPr>
      </p:sp>
      <p:sp>
        <p:nvSpPr>
          <p:cNvPr id="7" name="Text 5"/>
          <p:cNvSpPr/>
          <p:nvPr/>
        </p:nvSpPr>
        <p:spPr>
          <a:xfrm>
            <a:off x="7589520" y="1828800"/>
            <a:ext cx="3776472" cy="685800"/>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invokeMethod</a:t>
            </a:r>
            <a:endParaRPr lang="en-US" sz="1350" dirty="0"/>
          </a:p>
          <a:p>
            <a:pPr algn="ctr" indent="0" marL="0">
              <a:buNone/>
            </a:pPr>
            <a:r>
              <a:rPr lang="en-US" sz="1100" dirty="0">
                <a:solidFill>
                  <a:srgbClr val="A1A1A6"/>
                </a:solidFill>
                <a:latin typeface="Arial" pitchFamily="34" charset="0"/>
                <a:ea typeface="Arial" pitchFamily="34" charset="-122"/>
                <a:cs typeface="Arial" pitchFamily="34" charset="-120"/>
              </a:rPr>
              <a:t>arguments prepared on the UI thread</a:t>
            </a:r>
            <a:endParaRPr lang="en-US" sz="1350" dirty="0"/>
          </a:p>
        </p:txBody>
      </p:sp>
      <p:sp>
        <p:nvSpPr>
          <p:cNvPr id="8" name="Shape 6"/>
          <p:cNvSpPr/>
          <p:nvPr/>
        </p:nvSpPr>
        <p:spPr>
          <a:xfrm>
            <a:off x="9477756" y="2514600"/>
            <a:ext cx="0" cy="182880"/>
          </a:xfrm>
          <a:prstGeom prst="line">
            <a:avLst/>
          </a:prstGeom>
          <a:noFill/>
          <a:ln w="15875">
            <a:solidFill>
              <a:srgbClr val="86868B"/>
            </a:solidFill>
            <a:prstDash val="solid"/>
            <a:tailEnd type="triangle"/>
          </a:ln>
        </p:spPr>
      </p:sp>
      <p:sp>
        <p:nvSpPr>
          <p:cNvPr id="9" name="Shape 7"/>
          <p:cNvSpPr/>
          <p:nvPr/>
        </p:nvSpPr>
        <p:spPr>
          <a:xfrm>
            <a:off x="7589520" y="2697480"/>
            <a:ext cx="3776472" cy="685800"/>
          </a:xfrm>
          <a:prstGeom prst="roundRect">
            <a:avLst>
              <a:gd name="adj" fmla="val 12000"/>
            </a:avLst>
          </a:prstGeom>
          <a:solidFill>
            <a:srgbClr val="FFFFFF"/>
          </a:solidFill>
          <a:ln w="12700">
            <a:solidFill>
              <a:srgbClr val="D2D2D7"/>
            </a:solidFill>
            <a:prstDash val="solid"/>
          </a:ln>
        </p:spPr>
      </p:sp>
      <p:sp>
        <p:nvSpPr>
          <p:cNvPr id="10" name="Text 8"/>
          <p:cNvSpPr/>
          <p:nvPr/>
        </p:nvSpPr>
        <p:spPr>
          <a:xfrm>
            <a:off x="7589520" y="2697480"/>
            <a:ext cx="3776472" cy="68580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Encode</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the codec walks the object graph</a:t>
            </a:r>
            <a:endParaRPr lang="en-US" sz="1350" dirty="0"/>
          </a:p>
        </p:txBody>
      </p:sp>
      <p:sp>
        <p:nvSpPr>
          <p:cNvPr id="11" name="Shape 9"/>
          <p:cNvSpPr/>
          <p:nvPr/>
        </p:nvSpPr>
        <p:spPr>
          <a:xfrm>
            <a:off x="9477756" y="3383280"/>
            <a:ext cx="0" cy="182880"/>
          </a:xfrm>
          <a:prstGeom prst="line">
            <a:avLst/>
          </a:prstGeom>
          <a:noFill/>
          <a:ln w="15875">
            <a:solidFill>
              <a:srgbClr val="86868B"/>
            </a:solidFill>
            <a:prstDash val="solid"/>
            <a:tailEnd type="triangle"/>
          </a:ln>
        </p:spPr>
      </p:sp>
      <p:sp>
        <p:nvSpPr>
          <p:cNvPr id="12" name="Shape 10"/>
          <p:cNvSpPr/>
          <p:nvPr/>
        </p:nvSpPr>
        <p:spPr>
          <a:xfrm>
            <a:off x="7589520" y="3566160"/>
            <a:ext cx="3776472" cy="685800"/>
          </a:xfrm>
          <a:prstGeom prst="roundRect">
            <a:avLst>
              <a:gd name="adj" fmla="val 12000"/>
            </a:avLst>
          </a:prstGeom>
          <a:solidFill>
            <a:srgbClr val="FFFFFF"/>
          </a:solidFill>
          <a:ln w="12700">
            <a:solidFill>
              <a:srgbClr val="D2D2D7"/>
            </a:solidFill>
            <a:prstDash val="solid"/>
          </a:ln>
        </p:spPr>
      </p:sp>
      <p:sp>
        <p:nvSpPr>
          <p:cNvPr id="13" name="Text 11"/>
          <p:cNvSpPr/>
          <p:nvPr/>
        </p:nvSpPr>
        <p:spPr>
          <a:xfrm>
            <a:off x="7589520" y="3566160"/>
            <a:ext cx="3776472" cy="68580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Hop</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posted to the platform thread's queue</a:t>
            </a:r>
            <a:endParaRPr lang="en-US" sz="1350" dirty="0"/>
          </a:p>
        </p:txBody>
      </p:sp>
      <p:sp>
        <p:nvSpPr>
          <p:cNvPr id="14" name="Shape 12"/>
          <p:cNvSpPr/>
          <p:nvPr/>
        </p:nvSpPr>
        <p:spPr>
          <a:xfrm>
            <a:off x="9477756" y="4251960"/>
            <a:ext cx="0" cy="182880"/>
          </a:xfrm>
          <a:prstGeom prst="line">
            <a:avLst/>
          </a:prstGeom>
          <a:noFill/>
          <a:ln w="15875">
            <a:solidFill>
              <a:srgbClr val="86868B"/>
            </a:solidFill>
            <a:prstDash val="solid"/>
            <a:tailEnd type="triangle"/>
          </a:ln>
        </p:spPr>
      </p:sp>
      <p:sp>
        <p:nvSpPr>
          <p:cNvPr id="15" name="Shape 13"/>
          <p:cNvSpPr/>
          <p:nvPr/>
        </p:nvSpPr>
        <p:spPr>
          <a:xfrm>
            <a:off x="7589520" y="4434840"/>
            <a:ext cx="3776472" cy="685800"/>
          </a:xfrm>
          <a:prstGeom prst="roundRect">
            <a:avLst>
              <a:gd name="adj" fmla="val 16000"/>
            </a:avLst>
          </a:prstGeom>
          <a:solidFill>
            <a:srgbClr val="F5F5F7"/>
          </a:solidFill>
          <a:ln/>
        </p:spPr>
      </p:sp>
      <p:sp>
        <p:nvSpPr>
          <p:cNvPr id="16" name="Text 14"/>
          <p:cNvSpPr/>
          <p:nvPr/>
        </p:nvSpPr>
        <p:spPr>
          <a:xfrm>
            <a:off x="7589520" y="4434840"/>
            <a:ext cx="3776472" cy="68580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Native handler</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your Kotlin / Swift runs</a:t>
            </a:r>
            <a:endParaRPr lang="en-US" sz="1350" dirty="0"/>
          </a:p>
        </p:txBody>
      </p:sp>
      <p:sp>
        <p:nvSpPr>
          <p:cNvPr id="17" name="Shape 15"/>
          <p:cNvSpPr/>
          <p:nvPr/>
        </p:nvSpPr>
        <p:spPr>
          <a:xfrm>
            <a:off x="9477756" y="5120640"/>
            <a:ext cx="0" cy="182880"/>
          </a:xfrm>
          <a:prstGeom prst="line">
            <a:avLst/>
          </a:prstGeom>
          <a:noFill/>
          <a:ln w="15875">
            <a:solidFill>
              <a:srgbClr val="86868B"/>
            </a:solidFill>
            <a:prstDash val="solid"/>
            <a:tailEnd type="triangle"/>
          </a:ln>
        </p:spPr>
      </p:sp>
      <p:sp>
        <p:nvSpPr>
          <p:cNvPr id="18" name="Shape 16"/>
          <p:cNvSpPr/>
          <p:nvPr/>
        </p:nvSpPr>
        <p:spPr>
          <a:xfrm>
            <a:off x="7589520" y="5303520"/>
            <a:ext cx="3776472" cy="685800"/>
          </a:xfrm>
          <a:prstGeom prst="roundRect">
            <a:avLst>
              <a:gd name="adj" fmla="val 12000"/>
            </a:avLst>
          </a:prstGeom>
          <a:solidFill>
            <a:srgbClr val="FFFFFF"/>
          </a:solidFill>
          <a:ln w="12700">
            <a:solidFill>
              <a:srgbClr val="D2D2D7"/>
            </a:solidFill>
            <a:prstDash val="solid"/>
          </a:ln>
        </p:spPr>
      </p:sp>
      <p:sp>
        <p:nvSpPr>
          <p:cNvPr id="19" name="Text 17"/>
          <p:cNvSpPr/>
          <p:nvPr/>
        </p:nvSpPr>
        <p:spPr>
          <a:xfrm>
            <a:off x="7589520" y="5303520"/>
            <a:ext cx="3776472" cy="68580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Encode + hop back</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result returns to the UI thread</a:t>
            </a:r>
            <a:endParaRPr lang="en-US" sz="1350" dirty="0"/>
          </a:p>
        </p:txBody>
      </p:sp>
      <p:sp>
        <p:nvSpPr>
          <p:cNvPr id="20" name="Shape 18"/>
          <p:cNvSpPr/>
          <p:nvPr/>
        </p:nvSpPr>
        <p:spPr>
          <a:xfrm>
            <a:off x="822960" y="5440680"/>
            <a:ext cx="6492240" cy="0"/>
          </a:xfrm>
          <a:prstGeom prst="line">
            <a:avLst/>
          </a:prstGeom>
          <a:noFill/>
          <a:ln w="9525">
            <a:solidFill>
              <a:srgbClr val="D2D2D7"/>
            </a:solidFill>
            <a:prstDash val="solid"/>
          </a:ln>
        </p:spPr>
      </p:sp>
      <p:sp>
        <p:nvSpPr>
          <p:cNvPr id="21" name="Text 19"/>
          <p:cNvSpPr/>
          <p:nvPr/>
        </p:nvSpPr>
        <p:spPr>
          <a:xfrm>
            <a:off x="822960" y="5669280"/>
            <a:ext cx="649224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A channel call is a message, not a function call.</a:t>
            </a:r>
            <a:pPr indent="0" marL="0">
              <a:buNone/>
            </a:pPr>
            <a:r>
              <a:rPr lang="en-US" sz="1400" dirty="0">
                <a:solidFill>
                  <a:srgbClr val="86868B"/>
                </a:solidFill>
                <a:latin typeface="Arial" pitchFamily="34" charset="0"/>
                <a:ea typeface="Arial" pitchFamily="34" charset="-122"/>
                <a:cs typeface="Arial" pitchFamily="34" charset="-120"/>
              </a:rPr>
              <a:t> Its cost scales with what you put in the message.</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22</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PLATFORM CHANNELS VS FFI</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Measuring channel and FFI call cost</a:t>
            </a:r>
            <a:endParaRPr lang="en-US" sz="3000" dirty="0"/>
          </a:p>
        </p:txBody>
      </p:sp>
      <p:sp>
        <p:nvSpPr>
          <p:cNvPr id="5" name="Shape 3"/>
          <p:cNvSpPr/>
          <p:nvPr/>
        </p:nvSpPr>
        <p:spPr>
          <a:xfrm>
            <a:off x="822960" y="1737360"/>
            <a:ext cx="6858000" cy="4434840"/>
          </a:xfrm>
          <a:prstGeom prst="roundRect">
            <a:avLst>
              <a:gd name="adj" fmla="val 2474"/>
            </a:avLst>
          </a:prstGeom>
          <a:solidFill>
            <a:srgbClr val="F5F5F7"/>
          </a:solidFill>
          <a:ln/>
        </p:spPr>
      </p:sp>
      <p:sp>
        <p:nvSpPr>
          <p:cNvPr id="6" name="Text 4"/>
          <p:cNvSpPr/>
          <p:nvPr/>
        </p:nvSpPr>
        <p:spPr>
          <a:xfrm>
            <a:off x="1234440" y="2057400"/>
            <a:ext cx="6126480" cy="3840480"/>
          </a:xfrm>
          <a:prstGeom prst="rect">
            <a:avLst/>
          </a:prstGeom>
          <a:noFill/>
          <a:ln/>
        </p:spPr>
        <p:txBody>
          <a:bodyPr wrap="square" lIns="0" tIns="0" rIns="0" bIns="0" rtlCol="0" anchor="t"/>
          <a:lstStyle/>
          <a:p>
            <a:pPr indent="0" marL="0">
              <a:lnSpc>
                <a:spcPts val="1400"/>
              </a:lnSpc>
              <a:buNone/>
            </a:pPr>
            <a:r>
              <a:rPr lang="en-US" sz="750" dirty="0">
                <a:solidFill>
                  <a:srgbClr val="86868B"/>
                </a:solidFill>
                <a:latin typeface="Courier New" pitchFamily="34" charset="0"/>
                <a:ea typeface="Courier New" pitchFamily="34" charset="-122"/>
                <a:cs typeface="Courier New" pitchFamily="34" charset="-120"/>
              </a:rPr>
              <a:t>// release build, on a real device, never the simulator</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const ch = MethodChannel('dev.upb.mec/bench');</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const n = 10000;</a:t>
            </a:r>
            <a:endParaRPr lang="en-US" sz="750" dirty="0"/>
          </a:p>
          <a:p>
            <a:pPr indent="0" marL="0">
              <a:lnSpc>
                <a:spcPts val="1400"/>
              </a:lnSpc>
              <a:buNone/>
            </a:pPr>
            <a:r>
              <a:rPr lang="en-US" sz="750" dirty="0">
                <a:solidFill>
                  <a:srgbClr val="86868B"/>
                </a:solidFill>
                <a:latin typeface="Courier New" pitchFamily="34" charset="0"/>
                <a:ea typeface="Courier New" pitchFamily="34" charset="-122"/>
                <a:cs typeface="Courier New" pitchFamily="34" charset="-120"/>
              </a:rPr>
              <a:t>// 1. warm up: the first call also sets the channel up</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for (var i = 0; i &lt; 200; i++) { await ch.invokeMethod('noop');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86868B"/>
                </a:solidFill>
                <a:latin typeface="Courier New" pitchFamily="34" charset="0"/>
                <a:ea typeface="Courier New" pitchFamily="34" charset="-122"/>
                <a:cs typeface="Courier New" pitchFamily="34" charset="-120"/>
              </a:rPr>
              <a:t>// 2. empty round trip: the floor for a channel call</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var sw = Stopwatch()..start();</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for (var i = 0; i &lt; n; i++) { await ch.invokeMethod('noop');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print('channel noop: ${sw.elapsedMicroseconds / n} us/call');</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86868B"/>
                </a:solidFill>
                <a:latin typeface="Courier New" pitchFamily="34" charset="0"/>
                <a:ea typeface="Courier New" pitchFamily="34" charset="-122"/>
                <a:cs typeface="Courier New" pitchFamily="34" charset="-120"/>
              </a:rPr>
              <a:t>// 3. the slope: repeat with 1k, 16k, then 256k doubles</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final payload = Float64List(1024);</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sw = Stopwatch()..start();</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for (var i = 0; i &lt; n; i++) { await ch.invokeMethod('echo', payload);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print('channel 1k:   ${sw.elapsedMicroseconds / n} us/call');</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86868B"/>
                </a:solidFill>
                <a:latin typeface="Courier New" pitchFamily="34" charset="0"/>
                <a:ea typeface="Courier New" pitchFamily="34" charset="-122"/>
                <a:cs typeface="Courier New" pitchFamily="34" charset="-120"/>
              </a:rPr>
              <a:t>// 4. the same nothing, through FFI: a direct C call</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final noop = lib.lookupFunction&lt;Void Function(), void Function()&gt;('nop');</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sw = Stopwatch()..start();</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for (var i = 0; i &lt; n; i++) { noop();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print('ffi noop:     ${sw.elapsedMicroseconds * 1000 / n} ns/call');</a:t>
            </a:r>
            <a:endParaRPr lang="en-US" sz="750" dirty="0"/>
          </a:p>
        </p:txBody>
      </p:sp>
      <p:sp>
        <p:nvSpPr>
          <p:cNvPr id="7" name="Text 5"/>
          <p:cNvSpPr/>
          <p:nvPr/>
        </p:nvSpPr>
        <p:spPr>
          <a:xfrm>
            <a:off x="7955280" y="1828800"/>
            <a:ext cx="3410712" cy="4297680"/>
          </a:xfrm>
          <a:prstGeom prst="rect">
            <a:avLst/>
          </a:prstGeom>
          <a:noFill/>
          <a:ln/>
        </p:spPr>
        <p:txBody>
          <a:bodyPr wrap="square" lIns="0" tIns="0" rIns="0" bIns="0" rtlCol="0" anchor="t"/>
          <a:lstStyle/>
          <a:p>
            <a:pPr indent="0" marL="0">
              <a:spcAft>
                <a:spcPts val="800"/>
              </a:spcAft>
              <a:buNone/>
            </a:pPr>
            <a:r>
              <a:rPr lang="en-US" sz="1050" b="1" dirty="0">
                <a:solidFill>
                  <a:srgbClr val="1D1D1F"/>
                </a:solidFill>
                <a:latin typeface="Arial" pitchFamily="34" charset="0"/>
                <a:ea typeface="Arial" pitchFamily="34" charset="-122"/>
                <a:cs typeface="Arial" pitchFamily="34" charset="-120"/>
              </a:rPr>
              <a:t>What you will find, and what you should say.</a:t>
            </a:r>
            <a:endParaRPr lang="en-US" sz="1050" dirty="0"/>
          </a:p>
          <a:p>
            <a:pPr indent="0" marL="0">
              <a:spcAft>
                <a:spcPts val="800"/>
              </a:spcAft>
              <a:buNone/>
            </a:pPr>
            <a:r>
              <a:rPr lang="en-US" sz="1050" dirty="0">
                <a:solidFill>
                  <a:srgbClr val="1D1D1F"/>
                </a:solidFill>
                <a:latin typeface="Arial" pitchFamily="34" charset="0"/>
                <a:ea typeface="Arial" pitchFamily="34" charset="-122"/>
                <a:cs typeface="Arial" pitchFamily="34" charset="-120"/>
              </a:rPr>
              <a:t>A channel call is dominated by serialization plus a thread hop, so it lands in the microseconds-to-low-milliseconds range and grows with payload size and with how busy the two threads are.</a:t>
            </a:r>
            <a:endParaRPr lang="en-US" sz="1050" dirty="0"/>
          </a:p>
          <a:p>
            <a:pPr indent="0" marL="0">
              <a:spcAft>
                <a:spcPts val="800"/>
              </a:spcAft>
              <a:buNone/>
            </a:pPr>
            <a:r>
              <a:rPr lang="en-US" sz="1050" dirty="0">
                <a:solidFill>
                  <a:srgbClr val="1D1D1F"/>
                </a:solidFill>
                <a:latin typeface="Arial" pitchFamily="34" charset="0"/>
                <a:ea typeface="Arial" pitchFamily="34" charset="-122"/>
                <a:cs typeface="Arial" pitchFamily="34" charset="-120"/>
              </a:rPr>
              <a:t>An FFI call is a direct call into machine code already in your address space: no encoding, no hop, no queue. Orders of magnitude cheaper, and flat in payload size.</a:t>
            </a:r>
            <a:endParaRPr lang="en-US" sz="1050" dirty="0"/>
          </a:p>
          <a:p>
            <a:pPr indent="0" marL="0">
              <a:spcAft>
                <a:spcPts val="800"/>
              </a:spcAft>
              <a:buNone/>
            </a:pPr>
            <a:r>
              <a:rPr lang="en-US" sz="1050" b="1" dirty="0">
                <a:solidFill>
                  <a:srgbClr val="1D1D1F"/>
                </a:solidFill>
                <a:latin typeface="Arial" pitchFamily="34" charset="0"/>
                <a:ea typeface="Arial" pitchFamily="34" charset="-122"/>
                <a:cs typeface="Arial" pitchFamily="34" charset="-120"/>
              </a:rPr>
              <a:t>Quoted numbers disagree.</a:t>
            </a:r>
            <a:endParaRPr lang="en-US" sz="1050" dirty="0"/>
          </a:p>
          <a:p>
            <a:pPr indent="0" marL="0">
              <a:spcAft>
                <a:spcPts val="800"/>
              </a:spcAft>
              <a:buNone/>
            </a:pPr>
            <a:r>
              <a:rPr lang="en-US" sz="1050" dirty="0">
                <a:solidFill>
                  <a:srgbClr val="1D1D1F"/>
                </a:solidFill>
                <a:latin typeface="Arial" pitchFamily="34" charset="0"/>
                <a:ea typeface="Arial" pitchFamily="34" charset="-122"/>
                <a:cs typeface="Arial" pitchFamily="34" charset="-120"/>
              </a:rPr>
              <a:t>One slide of last year's deck said 0.5–2 ms; the next said 2 µs. Both unsourced, a factor of a thousand apart, and neither one described your phone.</a:t>
            </a:r>
            <a:endParaRPr lang="en-US" sz="1050" dirty="0"/>
          </a:p>
          <a:p>
            <a:pPr indent="0" marL="0">
              <a:spcAft>
                <a:spcPts val="800"/>
              </a:spcAft>
              <a:buNone/>
            </a:pPr>
            <a:r>
              <a:rPr lang="en-US" sz="1050" b="1" dirty="0">
                <a:solidFill>
                  <a:srgbClr val="1D1D1F"/>
                </a:solidFill>
                <a:latin typeface="Arial" pitchFamily="34" charset="0"/>
                <a:ea typeface="Arial" pitchFamily="34" charset="-122"/>
                <a:cs typeface="Arial" pitchFamily="34" charset="-120"/>
              </a:rPr>
              <a:t>Report the shape. Measure the number.</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23</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DART:FFI</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Calling C directly</a:t>
            </a:r>
            <a:endParaRPr lang="en-US" sz="3000" dirty="0"/>
          </a:p>
        </p:txBody>
      </p:sp>
      <p:sp>
        <p:nvSpPr>
          <p:cNvPr id="5" name="Shape 3"/>
          <p:cNvSpPr/>
          <p:nvPr/>
        </p:nvSpPr>
        <p:spPr>
          <a:xfrm>
            <a:off x="822960" y="1737360"/>
            <a:ext cx="6858000" cy="4480560"/>
          </a:xfrm>
          <a:prstGeom prst="roundRect">
            <a:avLst>
              <a:gd name="adj" fmla="val 2449"/>
            </a:avLst>
          </a:prstGeom>
          <a:solidFill>
            <a:srgbClr val="F5F5F7"/>
          </a:solidFill>
          <a:ln/>
        </p:spPr>
      </p:sp>
      <p:sp>
        <p:nvSpPr>
          <p:cNvPr id="6" name="Text 4"/>
          <p:cNvSpPr/>
          <p:nvPr/>
        </p:nvSpPr>
        <p:spPr>
          <a:xfrm>
            <a:off x="1234440" y="2057400"/>
            <a:ext cx="6126480" cy="3886200"/>
          </a:xfrm>
          <a:prstGeom prst="rect">
            <a:avLst/>
          </a:prstGeom>
          <a:noFill/>
          <a:ln/>
        </p:spPr>
        <p:txBody>
          <a:bodyPr wrap="square" lIns="0" tIns="0" rIns="0" bIns="0" rtlCol="0" anchor="t"/>
          <a:lstStyle/>
          <a:p>
            <a:pPr indent="0" marL="0">
              <a:lnSpc>
                <a:spcPts val="1300"/>
              </a:lnSpc>
              <a:buNone/>
            </a:pPr>
            <a:r>
              <a:rPr lang="en-US" sz="700" dirty="0">
                <a:solidFill>
                  <a:srgbClr val="86868B"/>
                </a:solidFill>
                <a:latin typeface="Courier New" pitchFamily="34" charset="0"/>
                <a:ea typeface="Courier New" pitchFamily="34" charset="-122"/>
                <a:cs typeface="Courier New" pitchFamily="34" charset="-120"/>
              </a:rPr>
              <a:t>// C: libsig.c, compiled and linked into the app</a:t>
            </a:r>
            <a:endParaRPr lang="en-US" sz="700" dirty="0"/>
          </a:p>
          <a:p>
            <a:pPr indent="0" marL="0">
              <a:lnSpc>
                <a:spcPts val="1300"/>
              </a:lnSpc>
              <a:buNone/>
            </a:pPr>
            <a:r>
              <a:rPr lang="en-US" sz="700" dirty="0">
                <a:solidFill>
                  <a:srgbClr val="86868B"/>
                </a:solidFill>
                <a:latin typeface="Courier New" pitchFamily="34" charset="0"/>
                <a:ea typeface="Courier New" pitchFamily="34" charset="-122"/>
                <a:cs typeface="Courier New" pitchFamily="34" charset="-120"/>
              </a:rPr>
              <a:t>// typedef struct { double mean; double peak; } Stats;</a:t>
            </a:r>
            <a:endParaRPr lang="en-US" sz="700" dirty="0"/>
          </a:p>
          <a:p>
            <a:pPr indent="0" marL="0">
              <a:lnSpc>
                <a:spcPts val="1300"/>
              </a:lnSpc>
              <a:buNone/>
            </a:pPr>
            <a:r>
              <a:rPr lang="en-US" sz="700" dirty="0">
                <a:solidFill>
                  <a:srgbClr val="86868B"/>
                </a:solidFill>
                <a:latin typeface="Courier New" pitchFamily="34" charset="0"/>
                <a:ea typeface="Courier New" pitchFamily="34" charset="-122"/>
                <a:cs typeface="Courier New" pitchFamily="34" charset="-120"/>
              </a:rPr>
              <a:t>// void analyze(const double *xs, int32_t n, Stats *out);</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final class Stats extends Struct {          // the Dart view of it</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  @Double() external double mean;</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  @Double() external double peak;</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final lib = Platform.isAndroid</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    ? DynamicLibrary.open('libsig.so')      // Android: shared object</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    : DynamicLibrary.process();             // iOS: statically linked in</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final _analyze = lib.lookupFunction&lt;</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    Void Function(Pointer&lt;Double&gt;, Int32, Pointer&lt;Stats&gt;),  // C signature</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    void Function(Pointer&lt;Double&gt;, int, Pointer&lt;Stats&gt;)     // Dart side</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&gt;('analyze');</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(double, double) analyze(Float64List xs) {</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  final arena = Arena();                    // frees everything at the end</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  try {</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    final buf = arena&lt;Double&gt;(xs.length);</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    buf.asTypedList(xs.length).setAll(0, xs);   // one copy in</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    final out = arena&lt;Stats&gt;();</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    _analyze(buf, xs.length, out);             // &lt;- the direct call</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    return (out.ref.mean, out.ref.peak);</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  } finally { arena.releaseAll(); }</a:t>
            </a:r>
            <a:endParaRPr lang="en-US" sz="700" dirty="0"/>
          </a:p>
          <a:p>
            <a:pPr indent="0" marL="0">
              <a:lnSpc>
                <a:spcPts val="1300"/>
              </a:lnSpc>
              <a:buNone/>
            </a:pPr>
            <a:r>
              <a:rPr lang="en-US" sz="700" dirty="0">
                <a:solidFill>
                  <a:srgbClr val="1D1D1F"/>
                </a:solidFill>
                <a:latin typeface="Courier New" pitchFamily="34" charset="0"/>
                <a:ea typeface="Courier New" pitchFamily="34" charset="-122"/>
                <a:cs typeface="Courier New" pitchFamily="34" charset="-120"/>
              </a:rPr>
              <a:t>}</a:t>
            </a:r>
            <a:endParaRPr lang="en-US" sz="700" dirty="0"/>
          </a:p>
        </p:txBody>
      </p:sp>
      <p:sp>
        <p:nvSpPr>
          <p:cNvPr id="7" name="Text 5"/>
          <p:cNvSpPr/>
          <p:nvPr/>
        </p:nvSpPr>
        <p:spPr>
          <a:xfrm>
            <a:off x="7955280" y="1783080"/>
            <a:ext cx="3410712" cy="4480560"/>
          </a:xfrm>
          <a:prstGeom prst="rect">
            <a:avLst/>
          </a:prstGeom>
          <a:noFill/>
          <a:ln/>
        </p:spPr>
        <p:txBody>
          <a:bodyPr wrap="square" lIns="0" tIns="0" rIns="0" bIns="0" rtlCol="0" anchor="t"/>
          <a:lstStyle/>
          <a:p>
            <a:pPr indent="0" marL="0">
              <a:spcAft>
                <a:spcPts val="600"/>
              </a:spcAft>
              <a:buNone/>
            </a:pPr>
            <a:r>
              <a:rPr lang="en-US" sz="950" b="1" dirty="0">
                <a:solidFill>
                  <a:srgbClr val="1D1D1F"/>
                </a:solidFill>
                <a:latin typeface="Arial" pitchFamily="34" charset="0"/>
                <a:ea typeface="Arial" pitchFamily="34" charset="-122"/>
                <a:cs typeface="Arial" pitchFamily="34" charset="-120"/>
              </a:rPr>
              <a:t>You own the memory.</a:t>
            </a:r>
            <a:endParaRPr lang="en-US" sz="950" dirty="0"/>
          </a:p>
          <a:p>
            <a:pPr indent="0" marL="0">
              <a:spcAft>
                <a:spcPts val="600"/>
              </a:spcAft>
              <a:buNone/>
            </a:pPr>
            <a:r>
              <a:rPr lang="en-US" sz="950" dirty="0">
                <a:solidFill>
                  <a:srgbClr val="1D1D1F"/>
                </a:solidFill>
                <a:latin typeface="Arial" pitchFamily="34" charset="0"/>
                <a:ea typeface="Arial" pitchFamily="34" charset="-122"/>
                <a:cs typeface="Arial" pitchFamily="34" charset="-120"/>
              </a:rPr>
              <a:t>There is no GC on the other side. Allocate, free, or let an Arena do it, and use NativeFinalizer when a native handle must outlive a function.</a:t>
            </a:r>
            <a:endParaRPr lang="en-US" sz="950" dirty="0"/>
          </a:p>
          <a:p>
            <a:pPr indent="0" marL="0">
              <a:spcAft>
                <a:spcPts val="600"/>
              </a:spcAft>
              <a:buNone/>
            </a:pPr>
            <a:r>
              <a:rPr lang="en-US" sz="950" b="1" dirty="0">
                <a:solidFill>
                  <a:srgbClr val="1D1D1F"/>
                </a:solidFill>
                <a:latin typeface="Arial" pitchFamily="34" charset="0"/>
                <a:ea typeface="Arial" pitchFamily="34" charset="-122"/>
                <a:cs typeface="Arial" pitchFamily="34" charset="-120"/>
              </a:rPr>
              <a:t>The call blocks the isolate.</a:t>
            </a:r>
            <a:endParaRPr lang="en-US" sz="950" dirty="0"/>
          </a:p>
          <a:p>
            <a:pPr indent="0" marL="0">
              <a:spcAft>
                <a:spcPts val="600"/>
              </a:spcAft>
              <a:buNone/>
            </a:pPr>
            <a:r>
              <a:rPr lang="en-US" sz="950" dirty="0">
                <a:solidFill>
                  <a:srgbClr val="1D1D1F"/>
                </a:solidFill>
                <a:latin typeface="Arial" pitchFamily="34" charset="0"/>
                <a:ea typeface="Arial" pitchFamily="34" charset="-122"/>
                <a:cs typeface="Arial" pitchFamily="34" charset="-120"/>
              </a:rPr>
              <a:t>The Dart thread becomes the native thread. A 30 ms C function is 30 ms of dropped frames, so run it on a worker isolate.</a:t>
            </a:r>
            <a:endParaRPr lang="en-US" sz="950" dirty="0"/>
          </a:p>
          <a:p>
            <a:pPr indent="0" marL="0">
              <a:spcAft>
                <a:spcPts val="600"/>
              </a:spcAft>
              <a:buNone/>
            </a:pPr>
            <a:r>
              <a:rPr lang="en-US" sz="950" b="1" dirty="0">
                <a:solidFill>
                  <a:srgbClr val="1D1D1F"/>
                </a:solidFill>
                <a:latin typeface="Arial" pitchFamily="34" charset="0"/>
                <a:ea typeface="Arial" pitchFamily="34" charset="-122"/>
                <a:cs typeface="Arial" pitchFamily="34" charset="-120"/>
              </a:rPr>
              <a:t>Android: FFI reaches C, not Java.</a:t>
            </a:r>
            <a:endParaRPr lang="en-US" sz="950" dirty="0"/>
          </a:p>
          <a:p>
            <a:pPr indent="0" marL="0">
              <a:spcAft>
                <a:spcPts val="600"/>
              </a:spcAft>
              <a:buNone/>
            </a:pPr>
            <a:r>
              <a:rPr lang="en-US" sz="950" dirty="0">
                <a:solidFill>
                  <a:srgbClr val="1D1D1F"/>
                </a:solidFill>
                <a:latin typeface="Arial" pitchFamily="34" charset="0"/>
                <a:ea typeface="Arial" pitchFamily="34" charset="-122"/>
                <a:cs typeface="Arial" pitchFamily="34" charset="-120"/>
              </a:rPr>
              <a:t>Calling a Kotlin API means Dart → C → JNI, with reference bookkeeping on top; for a one-shot call a MethodChannel is often cheaper. Use jnigen if you need it often.</a:t>
            </a:r>
            <a:endParaRPr lang="en-US" sz="950" dirty="0"/>
          </a:p>
          <a:p>
            <a:pPr indent="0" marL="0">
              <a:spcAft>
                <a:spcPts val="600"/>
              </a:spcAft>
              <a:buNone/>
            </a:pPr>
            <a:r>
              <a:rPr lang="en-US" sz="950" b="1" dirty="0">
                <a:solidFill>
                  <a:srgbClr val="1D1D1F"/>
                </a:solidFill>
                <a:latin typeface="Arial" pitchFamily="34" charset="0"/>
                <a:ea typeface="Arial" pitchFamily="34" charset="-122"/>
                <a:cs typeface="Arial" pitchFamily="34" charset="-120"/>
              </a:rPr>
              <a:t>iOS: Apple's toolchain links C, C++ and Objective-C into the same binary,</a:t>
            </a:r>
            <a:endParaRPr lang="en-US" sz="950" dirty="0"/>
          </a:p>
          <a:p>
            <a:pPr indent="0" marL="0">
              <a:spcAft>
                <a:spcPts val="600"/>
              </a:spcAft>
              <a:buNone/>
            </a:pPr>
            <a:r>
              <a:rPr lang="en-US" sz="950" dirty="0">
                <a:solidFill>
                  <a:srgbClr val="1D1D1F"/>
                </a:solidFill>
                <a:latin typeface="Arial" pitchFamily="34" charset="0"/>
                <a:ea typeface="Arial" pitchFamily="34" charset="-122"/>
                <a:cs typeface="Arial" pitchFamily="34" charset="-120"/>
              </a:rPr>
              <a:t>so the symbols are already in the process and DynamicLibrary.process() finds them.</a:t>
            </a:r>
            <a:endParaRPr lang="en-US" sz="950" dirty="0"/>
          </a:p>
          <a:p>
            <a:pPr indent="0" marL="0">
              <a:spcAft>
                <a:spcPts val="600"/>
              </a:spcAft>
              <a:buNone/>
            </a:pPr>
            <a:r>
              <a:rPr lang="en-US" sz="950" b="1" dirty="0">
                <a:solidFill>
                  <a:srgbClr val="1D1D1F"/>
                </a:solidFill>
                <a:latin typeface="Arial" pitchFamily="34" charset="0"/>
                <a:ea typeface="Arial" pitchFamily="34" charset="-122"/>
                <a:cs typeface="Arial" pitchFamily="34" charset="-120"/>
              </a:rPr>
              <a:t>Don't hand-write bindings:</a:t>
            </a:r>
            <a:endParaRPr lang="en-US" sz="950" dirty="0"/>
          </a:p>
          <a:p>
            <a:pPr indent="0" marL="0">
              <a:spcAft>
                <a:spcPts val="600"/>
              </a:spcAft>
              <a:buNone/>
            </a:pPr>
            <a:r>
              <a:rPr lang="en-US" sz="950" dirty="0">
                <a:solidFill>
                  <a:srgbClr val="1D1D1F"/>
                </a:solidFill>
                <a:latin typeface="Arial" pitchFamily="34" charset="0"/>
                <a:ea typeface="Arial" pitchFamily="34" charset="-122"/>
                <a:cs typeface="Arial" pitchFamily="34" charset="-120"/>
              </a:rPr>
              <a:t>ffigen generates all of the above from the C header.</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24</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CROSSING WITH DATA</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Big buffers: move the pointer, not the bytes</a:t>
            </a:r>
            <a:endParaRPr lang="en-US" sz="3000" dirty="0"/>
          </a:p>
        </p:txBody>
      </p:sp>
      <p:sp>
        <p:nvSpPr>
          <p:cNvPr id="5" name="Text 3"/>
          <p:cNvSpPr/>
          <p:nvPr/>
        </p:nvSpPr>
        <p:spPr>
          <a:xfrm>
            <a:off x="822960" y="1783080"/>
            <a:ext cx="10543032" cy="914400"/>
          </a:xfrm>
          <a:prstGeom prst="rect">
            <a:avLst/>
          </a:prstGeom>
          <a:noFill/>
          <a:ln/>
        </p:spPr>
        <p:txBody>
          <a:bodyPr wrap="square" lIns="0" tIns="0" rIns="0" bIns="0" rtlCol="0" anchor="t"/>
          <a:lstStyle/>
          <a:p>
            <a:pPr indent="0" marL="0">
              <a:spcAft>
                <a:spcPts val="1400"/>
              </a:spcAft>
              <a:buNone/>
            </a:pPr>
            <a:r>
              <a:rPr lang="en-US" sz="1250" dirty="0">
                <a:solidFill>
                  <a:srgbClr val="1D1D1F"/>
                </a:solidFill>
                <a:latin typeface="Arial" pitchFamily="34" charset="0"/>
                <a:ea typeface="Arial" pitchFamily="34" charset="-122"/>
                <a:cs typeface="Arial" pitchFamily="34" charset="-120"/>
              </a:rPr>
              <a:t>A 4K camera frame is 3840 × 2160 × 4 bytes, about 33 MB, thirty times a second. Send that through a platform channel and it is copied at least three times: native buffer → codec buffer → Dart heap. The memory bus saturates, the CPU caches are flushed, and the frames you are rendering suffer for it.</a:t>
            </a:r>
            <a:endParaRPr lang="en-US" sz="1250" dirty="0"/>
          </a:p>
        </p:txBody>
      </p:sp>
      <p:pic>
        <p:nvPicPr>
          <p:cNvPr id="6" name="Image 0" descr="/Users/dinu/dev/upb/mobile-and-embedded-computing/slides/assets/icons2/memory-ink.png">    </p:cNvPr>
          <p:cNvPicPr>
            <a:picLocks noChangeAspect="1"/>
          </p:cNvPicPr>
          <p:nvPr/>
        </p:nvPicPr>
        <p:blipFill>
          <a:blip r:embed="rId1"/>
          <a:stretch>
            <a:fillRect/>
          </a:stretch>
        </p:blipFill>
        <p:spPr>
          <a:xfrm>
            <a:off x="822960" y="2880360"/>
            <a:ext cx="384048" cy="384048"/>
          </a:xfrm>
          <a:prstGeom prst="rect">
            <a:avLst/>
          </a:prstGeom>
        </p:spPr>
      </p:pic>
      <p:sp>
        <p:nvSpPr>
          <p:cNvPr id="7" name="Text 4"/>
          <p:cNvSpPr/>
          <p:nvPr/>
        </p:nvSpPr>
        <p:spPr>
          <a:xfrm>
            <a:off x="822960" y="3410712"/>
            <a:ext cx="3227832"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External typed data</a:t>
            </a:r>
            <a:endParaRPr lang="en-US" sz="1450" dirty="0"/>
          </a:p>
        </p:txBody>
      </p:sp>
      <p:sp>
        <p:nvSpPr>
          <p:cNvPr id="8" name="Text 5"/>
          <p:cNvSpPr/>
          <p:nvPr/>
        </p:nvSpPr>
        <p:spPr>
          <a:xfrm>
            <a:off x="822960" y="3867912"/>
            <a:ext cx="3227832"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A Uint8List that is a view onto native memory instead of a copy of it. Dart reads the bytes the C code wrote: zero copies, and a finalizer frees them.</a:t>
            </a:r>
            <a:endParaRPr lang="en-US" sz="1150" dirty="0"/>
          </a:p>
        </p:txBody>
      </p:sp>
      <p:pic>
        <p:nvPicPr>
          <p:cNvPr id="9" name="Image 1" descr="/Users/dinu/dev/upb/mobile-and-embedded-computing/slides/assets/icons2/arrowleftright-ink.png">    </p:cNvPr>
          <p:cNvPicPr>
            <a:picLocks noChangeAspect="1"/>
          </p:cNvPicPr>
          <p:nvPr/>
        </p:nvPicPr>
        <p:blipFill>
          <a:blip r:embed="rId2"/>
          <a:stretch>
            <a:fillRect/>
          </a:stretch>
        </p:blipFill>
        <p:spPr>
          <a:xfrm>
            <a:off x="4480560" y="2880360"/>
            <a:ext cx="384048" cy="384048"/>
          </a:xfrm>
          <a:prstGeom prst="rect">
            <a:avLst/>
          </a:prstGeom>
        </p:spPr>
      </p:pic>
      <p:sp>
        <p:nvSpPr>
          <p:cNvPr id="10" name="Text 6"/>
          <p:cNvSpPr/>
          <p:nvPr/>
        </p:nvSpPr>
        <p:spPr>
          <a:xfrm>
            <a:off x="4480560" y="3410712"/>
            <a:ext cx="3227832"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Ownership transfer</a:t>
            </a:r>
            <a:endParaRPr lang="en-US" sz="1450" dirty="0"/>
          </a:p>
        </p:txBody>
      </p:sp>
      <p:sp>
        <p:nvSpPr>
          <p:cNvPr id="11" name="Text 7"/>
          <p:cNvSpPr/>
          <p:nvPr/>
        </p:nvSpPr>
        <p:spPr>
          <a:xfrm>
            <a:off x="4480560" y="3867912"/>
            <a:ext cx="3227832"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Isolate.exit and TransferableTypedData hand a buffer to another isolate as an O(1) page remap, not a deep copy. The sender loses access, which is the guarantee that makes it safe.</a:t>
            </a:r>
            <a:endParaRPr lang="en-US" sz="1150" dirty="0"/>
          </a:p>
        </p:txBody>
      </p:sp>
      <p:pic>
        <p:nvPicPr>
          <p:cNvPr id="12" name="Image 2" descr="/Users/dinu/dev/upb/mobile-and-embedded-computing/slides/assets/icons2/image-ink.png">    </p:cNvPr>
          <p:cNvPicPr>
            <a:picLocks noChangeAspect="1"/>
          </p:cNvPicPr>
          <p:nvPr/>
        </p:nvPicPr>
        <p:blipFill>
          <a:blip r:embed="rId3"/>
          <a:stretch>
            <a:fillRect/>
          </a:stretch>
        </p:blipFill>
        <p:spPr>
          <a:xfrm>
            <a:off x="8138160" y="2880360"/>
            <a:ext cx="384048" cy="384048"/>
          </a:xfrm>
          <a:prstGeom prst="rect">
            <a:avLst/>
          </a:prstGeom>
        </p:spPr>
      </p:pic>
      <p:sp>
        <p:nvSpPr>
          <p:cNvPr id="13" name="Text 8"/>
          <p:cNvSpPr/>
          <p:nvPr/>
        </p:nvSpPr>
        <p:spPr>
          <a:xfrm>
            <a:off x="8138160" y="3410712"/>
            <a:ext cx="3227832"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Texture registry</a:t>
            </a:r>
            <a:endParaRPr lang="en-US" sz="1450" dirty="0"/>
          </a:p>
        </p:txBody>
      </p:sp>
      <p:sp>
        <p:nvSpPr>
          <p:cNvPr id="14" name="Text 9"/>
          <p:cNvSpPr/>
          <p:nvPr/>
        </p:nvSpPr>
        <p:spPr>
          <a:xfrm>
            <a:off x="8138160" y="3867912"/>
            <a:ext cx="3227832"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The native side renders into a GPU texture and registers it; Flutter composites it straight into the scene. Camera preview and video never touch the Dart heap at all.</a:t>
            </a:r>
            <a:endParaRPr lang="en-US" sz="1150" dirty="0"/>
          </a:p>
        </p:txBody>
      </p:sp>
      <p:sp>
        <p:nvSpPr>
          <p:cNvPr id="15" name="Shape 10"/>
          <p:cNvSpPr/>
          <p:nvPr/>
        </p:nvSpPr>
        <p:spPr>
          <a:xfrm>
            <a:off x="822960" y="5349240"/>
            <a:ext cx="10543032" cy="0"/>
          </a:xfrm>
          <a:prstGeom prst="line">
            <a:avLst/>
          </a:prstGeom>
          <a:noFill/>
          <a:ln w="9525">
            <a:solidFill>
              <a:srgbClr val="D2D2D7"/>
            </a:solidFill>
            <a:prstDash val="solid"/>
          </a:ln>
        </p:spPr>
      </p:sp>
      <p:sp>
        <p:nvSpPr>
          <p:cNvPr id="16" name="Text 11"/>
          <p:cNvSpPr/>
          <p:nvPr/>
        </p:nvSpPr>
        <p:spPr>
          <a:xfrm>
            <a:off x="822960" y="557784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Data big enough to matter should not be serialized at all.</a:t>
            </a:r>
            <a:pPr indent="0" marL="0">
              <a:buNone/>
            </a:pPr>
            <a:r>
              <a:rPr lang="en-US" sz="1400" dirty="0">
                <a:solidFill>
                  <a:srgbClr val="86868B"/>
                </a:solidFill>
                <a:latin typeface="Arial" pitchFamily="34" charset="0"/>
                <a:ea typeface="Arial" pitchFamily="34" charset="-122"/>
                <a:cs typeface="Arial" pitchFamily="34" charset="-120"/>
              </a:rPr>
              <a:t> Share it, or transfer it.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25</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PLATFORM CHANNELS VS FFI</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Channels for control, FFI for compute</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822960" y="1874520"/>
          <a:ext cx="10543032" cy="914400"/>
        </p:xfrm>
        <a:graphic>
          <a:graphicData uri="http://schemas.openxmlformats.org/drawingml/2006/table">
            <a:tbl>
              <a:tblPr/>
              <a:tblGrid>
                <a:gridCol w="1600200"/>
                <a:gridCol w="4471416"/>
                <a:gridCol w="4471416"/>
              </a:tblGrid>
              <a:tr h="438912">
                <a:tc>
                  <a:txBody>
                    <a:bodyPr/>
                    <a:lstStyle/>
                    <a:p>
                      <a:pPr indent="0" marL="0">
                        <a:buNone/>
                      </a:pP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b="1" dirty="0">
                          <a:solidFill>
                            <a:srgbClr val="1D1D1F"/>
                          </a:solidFill>
                          <a:latin typeface="Arial" pitchFamily="34" charset="0"/>
                          <a:ea typeface="Arial" pitchFamily="34" charset="-122"/>
                          <a:cs typeface="Arial" pitchFamily="34" charset="-120"/>
                        </a:rPr>
                        <a:t>Platform channels</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D1D1F"/>
                          </a:solidFill>
                          <a:latin typeface="Arial" pitchFamily="34" charset="0"/>
                          <a:ea typeface="Arial" pitchFamily="34" charset="-122"/>
                          <a:cs typeface="Arial" pitchFamily="34" charset="-120"/>
                        </a:rPr>
                        <a:t>dart:ffi</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Call style</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asynchronous message passing</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synchronous direct call</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Cost</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encode + thread hop, grows with payload</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a function call; flat in payload</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Data</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copied and re-encoded on both sides</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shared memory through a pointer</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Threading</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hops to the platform thread and back</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runs on the calling isolate's thread</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Reaches</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any Kotlin / Swift API, plugins included</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C ABI only: C, C++, Rust, Go c-archive</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Fails as</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a PlatformException you can catch</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a segfault that takes the app with it</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bl>
          </a:graphicData>
        </a:graphic>
      </p:graphicFrame>
      <p:sp>
        <p:nvSpPr>
          <p:cNvPr id="6" name="Shape 3"/>
          <p:cNvSpPr/>
          <p:nvPr/>
        </p:nvSpPr>
        <p:spPr>
          <a:xfrm>
            <a:off x="822960" y="5120640"/>
            <a:ext cx="10543032" cy="0"/>
          </a:xfrm>
          <a:prstGeom prst="line">
            <a:avLst/>
          </a:prstGeom>
          <a:noFill/>
          <a:ln w="9525">
            <a:solidFill>
              <a:srgbClr val="D2D2D7"/>
            </a:solidFill>
            <a:prstDash val="solid"/>
          </a:ln>
        </p:spPr>
      </p:sp>
      <p:sp>
        <p:nvSpPr>
          <p:cNvPr id="7" name="Text 4"/>
          <p:cNvSpPr/>
          <p:nvPr/>
        </p:nvSpPr>
        <p:spPr>
          <a:xfrm>
            <a:off x="822960" y="5303520"/>
            <a:ext cx="5120640" cy="914400"/>
          </a:xfrm>
          <a:prstGeom prst="rect">
            <a:avLst/>
          </a:prstGeom>
          <a:noFill/>
          <a:ln/>
        </p:spPr>
        <p:txBody>
          <a:bodyPr wrap="square" lIns="0" tIns="0" rIns="0" bIns="0" rtlCol="0" anchor="t"/>
          <a:lstStyle/>
          <a:p>
            <a:pPr indent="0" marL="0">
              <a:buNone/>
            </a:pPr>
            <a:r>
              <a:rPr lang="en-US" sz="1250" b="1" dirty="0">
                <a:solidFill>
                  <a:srgbClr val="1D1D1F"/>
                </a:solidFill>
                <a:latin typeface="Arial" pitchFamily="34" charset="0"/>
                <a:ea typeface="Arial" pitchFamily="34" charset="-122"/>
                <a:cs typeface="Arial" pitchFamily="34" charset="-120"/>
              </a:rPr>
              <a:t>Channels for control.</a:t>
            </a:r>
            <a:endParaRPr lang="en-US" sz="1250" dirty="0"/>
          </a:p>
          <a:p>
            <a:pPr indent="0" marL="0">
              <a:buNone/>
            </a:pPr>
            <a:r>
              <a:rPr lang="en-US" sz="1250" dirty="0">
                <a:solidFill>
                  <a:srgbClr val="86868B"/>
                </a:solidFill>
                <a:latin typeface="Arial" pitchFamily="34" charset="0"/>
                <a:ea typeface="Arial" pitchFamily="34" charset="-122"/>
                <a:cs typeface="Arial" pitchFamily="34" charset="-120"/>
              </a:rPr>
              <a:t>Low-frequency intents where the boundary is crossed once per user action: open a document, read the battery, ask for a permission, start a scan. Convenience beats speed, and the whole native SDK is available.</a:t>
            </a:r>
            <a:endParaRPr lang="en-US" sz="1250" dirty="0"/>
          </a:p>
        </p:txBody>
      </p:sp>
      <p:sp>
        <p:nvSpPr>
          <p:cNvPr id="8" name="Text 5"/>
          <p:cNvSpPr/>
          <p:nvPr/>
        </p:nvSpPr>
        <p:spPr>
          <a:xfrm>
            <a:off x="6400800" y="5303520"/>
            <a:ext cx="5120640" cy="914400"/>
          </a:xfrm>
          <a:prstGeom prst="rect">
            <a:avLst/>
          </a:prstGeom>
          <a:noFill/>
          <a:ln/>
        </p:spPr>
        <p:txBody>
          <a:bodyPr wrap="square" lIns="0" tIns="0" rIns="0" bIns="0" rtlCol="0" anchor="t"/>
          <a:lstStyle/>
          <a:p>
            <a:pPr indent="0" marL="0">
              <a:buNone/>
            </a:pPr>
            <a:r>
              <a:rPr lang="en-US" sz="1250" b="1" dirty="0">
                <a:solidFill>
                  <a:srgbClr val="1D1D1F"/>
                </a:solidFill>
                <a:latin typeface="Arial" pitchFamily="34" charset="0"/>
                <a:ea typeface="Arial" pitchFamily="34" charset="-122"/>
                <a:cs typeface="Arial" pitchFamily="34" charset="-120"/>
              </a:rPr>
              <a:t>FFI for compute.</a:t>
            </a:r>
            <a:endParaRPr lang="en-US" sz="1250" dirty="0"/>
          </a:p>
          <a:p>
            <a:pPr indent="0" marL="0">
              <a:buNone/>
            </a:pPr>
            <a:r>
              <a:rPr lang="en-US" sz="1250" dirty="0">
                <a:solidFill>
                  <a:srgbClr val="86868B"/>
                </a:solidFill>
                <a:latin typeface="Arial" pitchFamily="34" charset="0"/>
                <a:ea typeface="Arial" pitchFamily="34" charset="-122"/>
                <a:cs typeface="Arial" pitchFamily="34" charset="-120"/>
              </a:rPr>
              <a:t>Anything on a per-frame or per-sample path: audio, signal processing, on-device inference, image pipelines. No encoding, no hop, and no GC on the other side, so the memory is yours to manage.</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BOUNDARY FOUR</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Between platforms</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Kotlin Multiplatform: the shared module from Lecture 1</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27</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KOTLIN MULTIPLATFORM</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Share the logic, keep the UI</a:t>
            </a:r>
            <a:endParaRPr lang="en-US" sz="3000" dirty="0"/>
          </a:p>
        </p:txBody>
      </p:sp>
      <p:sp>
        <p:nvSpPr>
          <p:cNvPr id="5" name="Shape 3"/>
          <p:cNvSpPr/>
          <p:nvPr/>
        </p:nvSpPr>
        <p:spPr>
          <a:xfrm>
            <a:off x="822960" y="1828800"/>
            <a:ext cx="5760720" cy="868680"/>
          </a:xfrm>
          <a:prstGeom prst="roundRect">
            <a:avLst>
              <a:gd name="adj" fmla="val 9474"/>
            </a:avLst>
          </a:prstGeom>
          <a:solidFill>
            <a:srgbClr val="000000"/>
          </a:solidFill>
          <a:ln/>
        </p:spPr>
      </p:sp>
      <p:sp>
        <p:nvSpPr>
          <p:cNvPr id="6" name="Text 4"/>
          <p:cNvSpPr/>
          <p:nvPr/>
        </p:nvSpPr>
        <p:spPr>
          <a:xfrm>
            <a:off x="822960" y="1828800"/>
            <a:ext cx="5760720"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Shared Kotlin module</a:t>
            </a:r>
            <a:endParaRPr lang="en-US" sz="1400" dirty="0"/>
          </a:p>
          <a:p>
            <a:pPr algn="ctr" indent="0" marL="0">
              <a:buNone/>
            </a:pPr>
            <a:r>
              <a:rPr lang="en-US" sz="1100" dirty="0">
                <a:solidFill>
                  <a:srgbClr val="A1A1A6"/>
                </a:solidFill>
                <a:latin typeface="Arial" pitchFamily="34" charset="0"/>
                <a:ea typeface="Arial" pitchFamily="34" charset="-122"/>
                <a:cs typeface="Arial" pitchFamily="34" charset="-120"/>
              </a:rPr>
              <a:t>models · networking · storage · business rules</a:t>
            </a:r>
            <a:endParaRPr lang="en-US" sz="1400" dirty="0"/>
          </a:p>
        </p:txBody>
      </p:sp>
      <p:sp>
        <p:nvSpPr>
          <p:cNvPr id="7" name="Shape 5"/>
          <p:cNvSpPr/>
          <p:nvPr/>
        </p:nvSpPr>
        <p:spPr>
          <a:xfrm>
            <a:off x="2240280" y="2697480"/>
            <a:ext cx="0" cy="384048"/>
          </a:xfrm>
          <a:prstGeom prst="line">
            <a:avLst/>
          </a:prstGeom>
          <a:noFill/>
          <a:ln w="15875">
            <a:solidFill>
              <a:srgbClr val="86868B"/>
            </a:solidFill>
            <a:prstDash val="solid"/>
            <a:tailEnd type="triangle"/>
          </a:ln>
        </p:spPr>
      </p:sp>
      <p:sp>
        <p:nvSpPr>
          <p:cNvPr id="8" name="Shape 6"/>
          <p:cNvSpPr/>
          <p:nvPr/>
        </p:nvSpPr>
        <p:spPr>
          <a:xfrm>
            <a:off x="5166360" y="2697480"/>
            <a:ext cx="0" cy="384048"/>
          </a:xfrm>
          <a:prstGeom prst="line">
            <a:avLst/>
          </a:prstGeom>
          <a:noFill/>
          <a:ln w="15875">
            <a:solidFill>
              <a:srgbClr val="86868B"/>
            </a:solidFill>
            <a:prstDash val="solid"/>
            <a:tailEnd type="triangle"/>
          </a:ln>
        </p:spPr>
      </p:sp>
      <p:sp>
        <p:nvSpPr>
          <p:cNvPr id="9" name="Shape 7"/>
          <p:cNvSpPr/>
          <p:nvPr/>
        </p:nvSpPr>
        <p:spPr>
          <a:xfrm>
            <a:off x="822960" y="3108960"/>
            <a:ext cx="2697480" cy="960120"/>
          </a:xfrm>
          <a:prstGeom prst="roundRect">
            <a:avLst>
              <a:gd name="adj" fmla="val 8571"/>
            </a:avLst>
          </a:prstGeom>
          <a:solidFill>
            <a:srgbClr val="FFFFFF"/>
          </a:solidFill>
          <a:ln w="12700">
            <a:solidFill>
              <a:srgbClr val="D2D2D7"/>
            </a:solidFill>
            <a:prstDash val="solid"/>
          </a:ln>
        </p:spPr>
      </p:sp>
      <p:sp>
        <p:nvSpPr>
          <p:cNvPr id="10" name="Text 8"/>
          <p:cNvSpPr/>
          <p:nvPr/>
        </p:nvSpPr>
        <p:spPr>
          <a:xfrm>
            <a:off x="822960" y="3108960"/>
            <a:ext cx="2697480" cy="960120"/>
          </a:xfrm>
          <a:prstGeom prst="rect">
            <a:avLst/>
          </a:prstGeom>
          <a:noFill/>
          <a:ln/>
        </p:spPr>
        <p:txBody>
          <a:bodyPr wrap="square" lIns="0" tIns="0" rIns="0" bIns="0" rtlCol="0" anchor="ctr"/>
          <a:lstStyle/>
          <a:p>
            <a:pPr algn="ctr" indent="0" marL="0">
              <a:buNone/>
            </a:pPr>
            <a:r>
              <a:rPr lang="en-US" sz="1300" b="1" dirty="0">
                <a:solidFill>
                  <a:srgbClr val="1D1D1F"/>
                </a:solidFill>
                <a:latin typeface="Arial" pitchFamily="34" charset="0"/>
                <a:ea typeface="Arial" pitchFamily="34" charset="-122"/>
                <a:cs typeface="Arial" pitchFamily="34" charset="-120"/>
              </a:rPr>
              <a:t>Android app</a:t>
            </a:r>
            <a:endParaRPr lang="en-US" sz="1300" dirty="0"/>
          </a:p>
          <a:p>
            <a:pPr algn="ctr" indent="0" marL="0">
              <a:buNone/>
            </a:pPr>
            <a:r>
              <a:rPr lang="en-US" sz="1100" dirty="0">
                <a:solidFill>
                  <a:srgbClr val="86868B"/>
                </a:solidFill>
                <a:latin typeface="Arial" pitchFamily="34" charset="0"/>
                <a:ea typeface="Arial" pitchFamily="34" charset="-122"/>
                <a:cs typeface="Arial" pitchFamily="34" charset="-120"/>
              </a:rPr>
              <a:t>Jetpack Compose UI</a:t>
            </a:r>
            <a:endParaRPr lang="en-US" sz="1300" dirty="0"/>
          </a:p>
        </p:txBody>
      </p:sp>
      <p:sp>
        <p:nvSpPr>
          <p:cNvPr id="11" name="Shape 9"/>
          <p:cNvSpPr/>
          <p:nvPr/>
        </p:nvSpPr>
        <p:spPr>
          <a:xfrm>
            <a:off x="3886200" y="3108960"/>
            <a:ext cx="2697480" cy="960120"/>
          </a:xfrm>
          <a:prstGeom prst="roundRect">
            <a:avLst>
              <a:gd name="adj" fmla="val 8571"/>
            </a:avLst>
          </a:prstGeom>
          <a:solidFill>
            <a:srgbClr val="FFFFFF"/>
          </a:solidFill>
          <a:ln w="12700">
            <a:solidFill>
              <a:srgbClr val="D2D2D7"/>
            </a:solidFill>
            <a:prstDash val="solid"/>
          </a:ln>
        </p:spPr>
      </p:sp>
      <p:sp>
        <p:nvSpPr>
          <p:cNvPr id="12" name="Text 10"/>
          <p:cNvSpPr/>
          <p:nvPr/>
        </p:nvSpPr>
        <p:spPr>
          <a:xfrm>
            <a:off x="3886200" y="3108960"/>
            <a:ext cx="2697480" cy="960120"/>
          </a:xfrm>
          <a:prstGeom prst="rect">
            <a:avLst/>
          </a:prstGeom>
          <a:noFill/>
          <a:ln/>
        </p:spPr>
        <p:txBody>
          <a:bodyPr wrap="square" lIns="0" tIns="0" rIns="0" bIns="0" rtlCol="0" anchor="ctr"/>
          <a:lstStyle/>
          <a:p>
            <a:pPr algn="ctr" indent="0" marL="0">
              <a:buNone/>
            </a:pPr>
            <a:r>
              <a:rPr lang="en-US" sz="1300" b="1" dirty="0">
                <a:solidFill>
                  <a:srgbClr val="1D1D1F"/>
                </a:solidFill>
                <a:latin typeface="Arial" pitchFamily="34" charset="0"/>
                <a:ea typeface="Arial" pitchFamily="34" charset="-122"/>
                <a:cs typeface="Arial" pitchFamily="34" charset="-120"/>
              </a:rPr>
              <a:t>iOS app</a:t>
            </a:r>
            <a:endParaRPr lang="en-US" sz="1300" dirty="0"/>
          </a:p>
          <a:p>
            <a:pPr algn="ctr" indent="0" marL="0">
              <a:buNone/>
            </a:pPr>
            <a:r>
              <a:rPr lang="en-US" sz="1100" dirty="0">
                <a:solidFill>
                  <a:srgbClr val="86868B"/>
                </a:solidFill>
                <a:latin typeface="Arial" pitchFamily="34" charset="0"/>
                <a:ea typeface="Arial" pitchFamily="34" charset="-122"/>
                <a:cs typeface="Arial" pitchFamily="34" charset="-120"/>
              </a:rPr>
              <a:t>SwiftUI, or Compose Multiplatform</a:t>
            </a:r>
            <a:endParaRPr lang="en-US" sz="1300" dirty="0"/>
          </a:p>
        </p:txBody>
      </p:sp>
      <p:sp>
        <p:nvSpPr>
          <p:cNvPr id="13" name="Text 11"/>
          <p:cNvSpPr/>
          <p:nvPr/>
        </p:nvSpPr>
        <p:spPr>
          <a:xfrm>
            <a:off x="822960" y="4251960"/>
            <a:ext cx="5760720" cy="292608"/>
          </a:xfrm>
          <a:prstGeom prst="rect">
            <a:avLst/>
          </a:prstGeom>
          <a:noFill/>
          <a:ln/>
        </p:spPr>
        <p:txBody>
          <a:bodyPr wrap="square" lIns="0" tIns="0" rIns="0" bIns="0" rtlCol="0" anchor="ctr"/>
          <a:lstStyle/>
          <a:p>
            <a:pPr algn="ctr" indent="0" marL="0">
              <a:buNone/>
            </a:pPr>
            <a:r>
              <a:rPr lang="en-US" sz="1050" dirty="0">
                <a:solidFill>
                  <a:srgbClr val="86868B"/>
                </a:solidFill>
                <a:latin typeface="Courier New" pitchFamily="34" charset="0"/>
                <a:ea typeface="Courier New" pitchFamily="34" charset="-122"/>
                <a:cs typeface="Courier New" pitchFamily="34" charset="-120"/>
              </a:rPr>
              <a:t>expect / actual covers the few pieces that must differ</a:t>
            </a:r>
            <a:endParaRPr lang="en-US" sz="1050" dirty="0"/>
          </a:p>
        </p:txBody>
      </p:sp>
      <p:sp>
        <p:nvSpPr>
          <p:cNvPr id="14" name="Text 12"/>
          <p:cNvSpPr/>
          <p:nvPr/>
        </p:nvSpPr>
        <p:spPr>
          <a:xfrm>
            <a:off x="7223760" y="1828800"/>
            <a:ext cx="4142232" cy="3657600"/>
          </a:xfrm>
          <a:prstGeom prst="rect">
            <a:avLst/>
          </a:prstGeom>
          <a:noFill/>
          <a:ln/>
        </p:spPr>
        <p:txBody>
          <a:bodyPr wrap="square" lIns="0" tIns="0" rIns="0" bIns="0" rtlCol="0" anchor="t"/>
          <a:lstStyle/>
          <a:p>
            <a:pPr indent="0" marL="0">
              <a:spcAft>
                <a:spcPts val="900"/>
              </a:spcAft>
              <a:buNone/>
            </a:pPr>
            <a:r>
              <a:rPr lang="en-US" sz="1150" dirty="0">
                <a:solidFill>
                  <a:srgbClr val="1D1D1F"/>
                </a:solidFill>
                <a:latin typeface="Arial" pitchFamily="34" charset="0"/>
                <a:ea typeface="Arial" pitchFamily="34" charset="-122"/>
                <a:cs typeface="Arial" pitchFamily="34" charset="-120"/>
              </a:rPr>
              <a:t>The Kotlin in that top box is not interpreted and not bridged. It is compiled by Kotlin/JVM for Android and by Kotlin/Native for iOS, into ordinary machine code the platform calls directly.</a:t>
            </a:r>
            <a:endParaRPr lang="en-US" sz="1150" dirty="0"/>
          </a:p>
          <a:p>
            <a:pPr indent="0" marL="0">
              <a:spcAft>
                <a:spcPts val="900"/>
              </a:spcAft>
              <a:buNone/>
            </a:pPr>
            <a:r>
              <a:rPr lang="en-US" sz="1150" dirty="0">
                <a:solidFill>
                  <a:srgbClr val="1D1D1F"/>
                </a:solidFill>
                <a:latin typeface="Arial" pitchFamily="34" charset="0"/>
                <a:ea typeface="Arial" pitchFamily="34" charset="-122"/>
                <a:cs typeface="Arial" pitchFamily="34" charset="-120"/>
              </a:rPr>
              <a:t>You choose how much goes in it. A models-and-networking module is a perfectly good result; so is everything but the views.</a:t>
            </a:r>
            <a:endParaRPr lang="en-US" sz="1150" dirty="0"/>
          </a:p>
          <a:p>
            <a:pPr indent="0" marL="0">
              <a:spcAft>
                <a:spcPts val="900"/>
              </a:spcAft>
              <a:buNone/>
            </a:pPr>
            <a:r>
              <a:rPr lang="en-US" sz="1150" b="1" dirty="0">
                <a:solidFill>
                  <a:srgbClr val="1D1D1F"/>
                </a:solidFill>
                <a:latin typeface="Arial" pitchFamily="34" charset="0"/>
                <a:ea typeface="Arial" pitchFamily="34" charset="-122"/>
                <a:cs typeface="Arial" pitchFamily="34" charset="-120"/>
              </a:rPr>
              <a:t>Stable since November 2023.</a:t>
            </a:r>
            <a:endParaRPr lang="en-US" sz="1150" dirty="0"/>
          </a:p>
          <a:p>
            <a:pPr indent="0" marL="0">
              <a:spcAft>
                <a:spcPts val="900"/>
              </a:spcAft>
              <a:buNone/>
            </a:pPr>
            <a:r>
              <a:rPr lang="en-US" sz="1150" dirty="0">
                <a:solidFill>
                  <a:srgbClr val="1D1D1F"/>
                </a:solidFill>
                <a:latin typeface="Arial" pitchFamily="34" charset="0"/>
                <a:ea typeface="Arial" pitchFamily="34" charset="-122"/>
                <a:cs typeface="Arial" pitchFamily="34" charset="-120"/>
              </a:rPr>
              <a:t>Compose Multiplatform for iOS stable since May 2025; Kotlin 2.4 is current.</a:t>
            </a:r>
            <a:endParaRPr lang="en-US" sz="1150" dirty="0"/>
          </a:p>
          <a:p>
            <a:pPr indent="0" marL="0">
              <a:spcAft>
                <a:spcPts val="900"/>
              </a:spcAft>
              <a:buNone/>
            </a:pPr>
            <a:r>
              <a:rPr lang="en-US" sz="1150" b="1" dirty="0">
                <a:solidFill>
                  <a:srgbClr val="1D1D1F"/>
                </a:solidFill>
                <a:latin typeface="Arial" pitchFamily="34" charset="0"/>
                <a:ea typeface="Arial" pitchFamily="34" charset="-122"/>
                <a:cs typeface="Arial" pitchFamily="34" charset="-120"/>
              </a:rPr>
              <a:t>In production at McDonald's, Netflix and Forbes</a:t>
            </a:r>
            <a:endParaRPr lang="en-US" sz="1150" dirty="0"/>
          </a:p>
          <a:p>
            <a:pPr indent="0" marL="0">
              <a:spcAft>
                <a:spcPts val="900"/>
              </a:spcAft>
              <a:buNone/>
            </a:pPr>
            <a:r>
              <a:rPr lang="en-US" sz="1150" dirty="0">
                <a:solidFill>
                  <a:srgbClr val="1D1D1F"/>
                </a:solidFill>
                <a:latin typeface="Arial" pitchFamily="34" charset="0"/>
                <a:ea typeface="Arial" pitchFamily="34" charset="-122"/>
                <a:cs typeface="Arial" pitchFamily="34" charset="-120"/>
              </a:rPr>
              <a:t>so it is a mature, low-risk choice.</a:t>
            </a:r>
            <a:endParaRPr lang="en-US" sz="1150" dirty="0"/>
          </a:p>
        </p:txBody>
      </p:sp>
      <p:sp>
        <p:nvSpPr>
          <p:cNvPr id="15" name="Shape 13"/>
          <p:cNvSpPr/>
          <p:nvPr/>
        </p:nvSpPr>
        <p:spPr>
          <a:xfrm>
            <a:off x="822960" y="5029200"/>
            <a:ext cx="5760720" cy="0"/>
          </a:xfrm>
          <a:prstGeom prst="line">
            <a:avLst/>
          </a:prstGeom>
          <a:noFill/>
          <a:ln w="9525">
            <a:solidFill>
              <a:srgbClr val="D2D2D7"/>
            </a:solidFill>
            <a:prstDash val="solid"/>
          </a:ln>
        </p:spPr>
      </p:sp>
      <p:sp>
        <p:nvSpPr>
          <p:cNvPr id="16" name="Text 14"/>
          <p:cNvSpPr/>
          <p:nvPr/>
        </p:nvSpPr>
        <p:spPr>
          <a:xfrm>
            <a:off x="822960" y="5257800"/>
            <a:ext cx="576072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Lecture 1 called this the third strategy.</a:t>
            </a:r>
            <a:pPr indent="0" marL="0">
              <a:buNone/>
            </a:pPr>
            <a:r>
              <a:rPr lang="en-US" sz="1400" dirty="0">
                <a:solidFill>
                  <a:srgbClr val="86868B"/>
                </a:solidFill>
                <a:latin typeface="Arial" pitchFamily="34" charset="0"/>
                <a:ea typeface="Arial" pitchFamily="34" charset="-122"/>
                <a:cs typeface="Arial" pitchFamily="34" charset="-120"/>
              </a:rPr>
              <a:t> Here is what it actually looks like in a repository.</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28</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KOTLIN MULTIPLATFORM</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expect and actual, in real code</a:t>
            </a:r>
            <a:endParaRPr lang="en-US" sz="3000" dirty="0"/>
          </a:p>
        </p:txBody>
      </p:sp>
      <p:sp>
        <p:nvSpPr>
          <p:cNvPr id="5" name="Text 3"/>
          <p:cNvSpPr/>
          <p:nvPr/>
        </p:nvSpPr>
        <p:spPr>
          <a:xfrm>
            <a:off x="822960" y="1627632"/>
            <a:ext cx="5486400" cy="256032"/>
          </a:xfrm>
          <a:prstGeom prst="rect">
            <a:avLst/>
          </a:prstGeom>
          <a:noFill/>
          <a:ln/>
        </p:spPr>
        <p:txBody>
          <a:bodyPr wrap="square" lIns="0" tIns="0" rIns="0" bIns="0" rtlCol="0" anchor="ctr"/>
          <a:lstStyle/>
          <a:p>
            <a:pPr indent="0" marL="0">
              <a:buNone/>
            </a:pPr>
            <a:r>
              <a:rPr lang="en-US" sz="1200" b="1" dirty="0">
                <a:solidFill>
                  <a:srgbClr val="1D1D1F"/>
                </a:solidFill>
                <a:latin typeface="Arial" pitchFamily="34" charset="0"/>
                <a:ea typeface="Arial" pitchFamily="34" charset="-122"/>
                <a:cs typeface="Arial" pitchFamily="34" charset="-120"/>
              </a:rPr>
              <a:t>commonMain: written once</a:t>
            </a:r>
            <a:endParaRPr lang="en-US" sz="1200" dirty="0"/>
          </a:p>
        </p:txBody>
      </p:sp>
      <p:sp>
        <p:nvSpPr>
          <p:cNvPr id="6" name="Shape 4"/>
          <p:cNvSpPr/>
          <p:nvPr/>
        </p:nvSpPr>
        <p:spPr>
          <a:xfrm>
            <a:off x="822960" y="1901952"/>
            <a:ext cx="5486400" cy="3977640"/>
          </a:xfrm>
          <a:prstGeom prst="roundRect">
            <a:avLst>
              <a:gd name="adj" fmla="val 2759"/>
            </a:avLst>
          </a:prstGeom>
          <a:solidFill>
            <a:srgbClr val="F5F5F7"/>
          </a:solidFill>
          <a:ln/>
        </p:spPr>
      </p:sp>
      <p:sp>
        <p:nvSpPr>
          <p:cNvPr id="7" name="Text 5"/>
          <p:cNvSpPr/>
          <p:nvPr/>
        </p:nvSpPr>
        <p:spPr>
          <a:xfrm>
            <a:off x="1234440" y="2221992"/>
            <a:ext cx="4754880" cy="3383280"/>
          </a:xfrm>
          <a:prstGeom prst="rect">
            <a:avLst/>
          </a:prstGeom>
          <a:noFill/>
          <a:ln/>
        </p:spPr>
        <p:txBody>
          <a:bodyPr wrap="square" lIns="0" tIns="0" rIns="0" bIns="0" rtlCol="0" anchor="t"/>
          <a:lstStyle/>
          <a:p>
            <a:pPr indent="0" marL="0">
              <a:lnSpc>
                <a:spcPts val="1400"/>
              </a:lnSpc>
              <a:buNone/>
            </a:pPr>
            <a:r>
              <a:rPr lang="en-US" sz="750" dirty="0">
                <a:solidFill>
                  <a:srgbClr val="86868B"/>
                </a:solidFill>
                <a:latin typeface="Courier New" pitchFamily="34" charset="0"/>
                <a:ea typeface="Courier New" pitchFamily="34" charset="-122"/>
                <a:cs typeface="Courier New" pitchFamily="34" charset="-120"/>
              </a:rPr>
              <a:t>// the shape, with no implementation</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expect class KeyValueStore(name: String)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fun put(key: String, value: String)</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fun get(key: String): String?</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86868B"/>
                </a:solidFill>
                <a:latin typeface="Courier New" pitchFamily="34" charset="0"/>
                <a:ea typeface="Courier New" pitchFamily="34" charset="-122"/>
                <a:cs typeface="Courier New" pitchFamily="34" charset="-120"/>
              </a:rPr>
              <a:t>// everything else is ordinary Kotlin, shared as-is</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class ReadingsRepository(</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private val http: HttpClient,      // Ktor, multiplatform</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private val store: KeyValueStore,</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suspend fun latest(deviceId: String): Reading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val cached = store.get(deviceId)</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return runCatching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http.get("$BASE/devices/$deviceId/latest").body&lt;Reading&gt;()</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.also { store.put(deviceId, Json.encodeToString(it))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}.getOrElse { cached?.let(Json::decodeFromString) ?: throw it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a:t>
            </a:r>
            <a:endParaRPr lang="en-US" sz="750" dirty="0"/>
          </a:p>
        </p:txBody>
      </p:sp>
      <p:sp>
        <p:nvSpPr>
          <p:cNvPr id="8" name="Text 6"/>
          <p:cNvSpPr/>
          <p:nvPr/>
        </p:nvSpPr>
        <p:spPr>
          <a:xfrm>
            <a:off x="6766560" y="1627632"/>
            <a:ext cx="4599432" cy="256032"/>
          </a:xfrm>
          <a:prstGeom prst="rect">
            <a:avLst/>
          </a:prstGeom>
          <a:noFill/>
          <a:ln/>
        </p:spPr>
        <p:txBody>
          <a:bodyPr wrap="square" lIns="0" tIns="0" rIns="0" bIns="0" rtlCol="0" anchor="ctr"/>
          <a:lstStyle/>
          <a:p>
            <a:pPr indent="0" marL="0">
              <a:buNone/>
            </a:pPr>
            <a:r>
              <a:rPr lang="en-US" sz="1200" b="1" dirty="0">
                <a:solidFill>
                  <a:srgbClr val="1D1D1F"/>
                </a:solidFill>
                <a:latin typeface="Arial" pitchFamily="34" charset="0"/>
                <a:ea typeface="Arial" pitchFamily="34" charset="-122"/>
                <a:cs typeface="Arial" pitchFamily="34" charset="-120"/>
              </a:rPr>
              <a:t>androidMain</a:t>
            </a:r>
            <a:endParaRPr lang="en-US" sz="1200" dirty="0"/>
          </a:p>
        </p:txBody>
      </p:sp>
      <p:sp>
        <p:nvSpPr>
          <p:cNvPr id="9" name="Shape 7"/>
          <p:cNvSpPr/>
          <p:nvPr/>
        </p:nvSpPr>
        <p:spPr>
          <a:xfrm>
            <a:off x="6766560" y="1901952"/>
            <a:ext cx="4599432" cy="1965960"/>
          </a:xfrm>
          <a:prstGeom prst="roundRect">
            <a:avLst>
              <a:gd name="adj" fmla="val 5581"/>
            </a:avLst>
          </a:prstGeom>
          <a:solidFill>
            <a:srgbClr val="F5F5F7"/>
          </a:solidFill>
          <a:ln/>
        </p:spPr>
      </p:sp>
      <p:sp>
        <p:nvSpPr>
          <p:cNvPr id="10" name="Text 8"/>
          <p:cNvSpPr/>
          <p:nvPr/>
        </p:nvSpPr>
        <p:spPr>
          <a:xfrm>
            <a:off x="7178040" y="2221992"/>
            <a:ext cx="3867912" cy="1371600"/>
          </a:xfrm>
          <a:prstGeom prst="rect">
            <a:avLst/>
          </a:prstGeom>
          <a:noFill/>
          <a:ln/>
        </p:spPr>
        <p:txBody>
          <a:bodyPr wrap="square" lIns="0" tIns="0" rIns="0" bIns="0" rtlCol="0" anchor="t"/>
          <a:lstStyle/>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actual class KeyValueStore actual constructor(name: String)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private val prefs = appContext</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.getSharedPreferences(name, Context.MODE_PRIVATE)</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actual fun put(key: String, value: String)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prefs.edit().putString(key, value).apply()</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actual fun get(key: String): String?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prefs.getString(key, null)</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a:t>
            </a:r>
            <a:endParaRPr lang="en-US" sz="750" dirty="0"/>
          </a:p>
        </p:txBody>
      </p:sp>
      <p:sp>
        <p:nvSpPr>
          <p:cNvPr id="11" name="Text 9"/>
          <p:cNvSpPr/>
          <p:nvPr/>
        </p:nvSpPr>
        <p:spPr>
          <a:xfrm>
            <a:off x="6766560" y="4005072"/>
            <a:ext cx="4599432" cy="256032"/>
          </a:xfrm>
          <a:prstGeom prst="rect">
            <a:avLst/>
          </a:prstGeom>
          <a:noFill/>
          <a:ln/>
        </p:spPr>
        <p:txBody>
          <a:bodyPr wrap="square" lIns="0" tIns="0" rIns="0" bIns="0" rtlCol="0" anchor="ctr"/>
          <a:lstStyle/>
          <a:p>
            <a:pPr indent="0" marL="0">
              <a:buNone/>
            </a:pPr>
            <a:r>
              <a:rPr lang="en-US" sz="1200" b="1" dirty="0">
                <a:solidFill>
                  <a:srgbClr val="1D1D1F"/>
                </a:solidFill>
                <a:latin typeface="Arial" pitchFamily="34" charset="0"/>
                <a:ea typeface="Arial" pitchFamily="34" charset="-122"/>
                <a:cs typeface="Arial" pitchFamily="34" charset="-120"/>
              </a:rPr>
              <a:t>iosMain</a:t>
            </a:r>
            <a:endParaRPr lang="en-US" sz="1200" dirty="0"/>
          </a:p>
        </p:txBody>
      </p:sp>
      <p:sp>
        <p:nvSpPr>
          <p:cNvPr id="12" name="Shape 10"/>
          <p:cNvSpPr/>
          <p:nvPr/>
        </p:nvSpPr>
        <p:spPr>
          <a:xfrm>
            <a:off x="6766560" y="4279392"/>
            <a:ext cx="4599432" cy="1783080"/>
          </a:xfrm>
          <a:prstGeom prst="roundRect">
            <a:avLst>
              <a:gd name="adj" fmla="val 6154"/>
            </a:avLst>
          </a:prstGeom>
          <a:solidFill>
            <a:srgbClr val="F5F5F7"/>
          </a:solidFill>
          <a:ln/>
        </p:spPr>
      </p:sp>
      <p:sp>
        <p:nvSpPr>
          <p:cNvPr id="13" name="Text 11"/>
          <p:cNvSpPr/>
          <p:nvPr/>
        </p:nvSpPr>
        <p:spPr>
          <a:xfrm>
            <a:off x="7178040" y="4599432"/>
            <a:ext cx="3867912" cy="1188720"/>
          </a:xfrm>
          <a:prstGeom prst="rect">
            <a:avLst/>
          </a:prstGeom>
          <a:noFill/>
          <a:ln/>
        </p:spPr>
        <p:txBody>
          <a:bodyPr wrap="square" lIns="0" tIns="0" rIns="0" bIns="0" rtlCol="0" anchor="t"/>
          <a:lstStyle/>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actual class KeyValueStore actual constructor(name: String)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private val defaults = NSUserDefaults(suiteName = name)</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actual fun put(key: String, value: String)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defaults.setObject(value, forKey = key)</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actual fun get(key: String): String?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defaults.stringForKey(key)</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a:t>
            </a:r>
            <a:endParaRPr lang="en-US" sz="750" dirty="0"/>
          </a:p>
        </p:txBody>
      </p:sp>
      <p:sp>
        <p:nvSpPr>
          <p:cNvPr id="14" name="Text 12"/>
          <p:cNvSpPr/>
          <p:nvPr/>
        </p:nvSpPr>
        <p:spPr>
          <a:xfrm>
            <a:off x="822960" y="5989320"/>
            <a:ext cx="5486400" cy="365760"/>
          </a:xfrm>
          <a:prstGeom prst="rect">
            <a:avLst/>
          </a:prstGeom>
          <a:noFill/>
          <a:ln/>
        </p:spPr>
        <p:txBody>
          <a:bodyPr wrap="square" lIns="0" tIns="0" rIns="0" bIns="0" rtlCol="0" anchor="t"/>
          <a:lstStyle/>
          <a:p>
            <a:pPr indent="0" marL="0">
              <a:spcAft>
                <a:spcPts val="1400"/>
              </a:spcAft>
              <a:buNone/>
            </a:pPr>
            <a:r>
              <a:rPr lang="en-US" sz="1000" dirty="0">
                <a:solidFill>
                  <a:srgbClr val="86868B"/>
                </a:solidFill>
                <a:latin typeface="Arial" pitchFamily="34" charset="0"/>
                <a:ea typeface="Arial" pitchFamily="34" charset="-122"/>
                <a:cs typeface="Arial" pitchFamily="34" charset="-120"/>
              </a:rPr>
              <a:t>iosMain calls NSUserDefaults directly: Kotlin/Native exposes the platform frameworks as Kotlin APIs, with no bridge and no wrapper library.</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29</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KOTLIN MULTIPLATFORM</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Source sets: where the code lives</a:t>
            </a:r>
            <a:endParaRPr lang="en-US" sz="3000" dirty="0"/>
          </a:p>
        </p:txBody>
      </p:sp>
      <p:sp>
        <p:nvSpPr>
          <p:cNvPr id="5" name="Shape 3"/>
          <p:cNvSpPr/>
          <p:nvPr/>
        </p:nvSpPr>
        <p:spPr>
          <a:xfrm>
            <a:off x="822960" y="1783080"/>
            <a:ext cx="5120640" cy="2514600"/>
          </a:xfrm>
          <a:prstGeom prst="roundRect">
            <a:avLst>
              <a:gd name="adj" fmla="val 4364"/>
            </a:avLst>
          </a:prstGeom>
          <a:solidFill>
            <a:srgbClr val="F5F5F7"/>
          </a:solidFill>
          <a:ln/>
        </p:spPr>
      </p:sp>
      <p:sp>
        <p:nvSpPr>
          <p:cNvPr id="6" name="Text 4"/>
          <p:cNvSpPr/>
          <p:nvPr/>
        </p:nvSpPr>
        <p:spPr>
          <a:xfrm>
            <a:off x="1234440" y="2103120"/>
            <a:ext cx="4389120" cy="1920240"/>
          </a:xfrm>
          <a:prstGeom prst="rect">
            <a:avLst/>
          </a:prstGeom>
          <a:noFill/>
          <a:ln/>
        </p:spPr>
        <p:txBody>
          <a:bodyPr wrap="square" lIns="0" tIns="0" rIns="0" bIns="0" rtlCol="0" anchor="t"/>
          <a:lstStyle/>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shared/</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build.gradle.kts</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src/</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commonMain/kotlin/     # most of the module lives here</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commonTest/kotlin/     # tests that run on every target</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androidMain/kotlin/</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iosMain/kotlin/        # iosArm64 + iosSimulatorArm64</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androidApp/                # Compose UI</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iosApp/                    # Xcode project, SwiftUI</a:t>
            </a:r>
            <a:endParaRPr lang="en-US" sz="900" dirty="0"/>
          </a:p>
        </p:txBody>
      </p:sp>
      <p:sp>
        <p:nvSpPr>
          <p:cNvPr id="7" name="Shape 5"/>
          <p:cNvSpPr/>
          <p:nvPr/>
        </p:nvSpPr>
        <p:spPr>
          <a:xfrm>
            <a:off x="6309360" y="1783080"/>
            <a:ext cx="5056632" cy="4434840"/>
          </a:xfrm>
          <a:prstGeom prst="roundRect">
            <a:avLst>
              <a:gd name="adj" fmla="val 2474"/>
            </a:avLst>
          </a:prstGeom>
          <a:solidFill>
            <a:srgbClr val="F5F5F7"/>
          </a:solidFill>
          <a:ln/>
        </p:spPr>
      </p:sp>
      <p:sp>
        <p:nvSpPr>
          <p:cNvPr id="8" name="Text 6"/>
          <p:cNvSpPr/>
          <p:nvPr/>
        </p:nvSpPr>
        <p:spPr>
          <a:xfrm>
            <a:off x="6720840" y="2103120"/>
            <a:ext cx="4325112" cy="3840480"/>
          </a:xfrm>
          <a:prstGeom prst="rect">
            <a:avLst/>
          </a:prstGeom>
          <a:noFill/>
          <a:ln/>
        </p:spPr>
        <p:txBody>
          <a:bodyPr wrap="square" lIns="0" tIns="0" rIns="0" bIns="0" rtlCol="0" anchor="t"/>
          <a:lstStyle/>
          <a:p>
            <a:pPr indent="0" marL="0">
              <a:lnSpc>
                <a:spcPts val="1400"/>
              </a:lnSpc>
              <a:buNone/>
            </a:pPr>
            <a:r>
              <a:rPr lang="en-US" sz="750" dirty="0">
                <a:solidFill>
                  <a:srgbClr val="86868B"/>
                </a:solidFill>
                <a:latin typeface="Courier New" pitchFamily="34" charset="0"/>
                <a:ea typeface="Courier New" pitchFamily="34" charset="-122"/>
                <a:cs typeface="Courier New" pitchFamily="34" charset="-120"/>
              </a:rPr>
              <a:t>// shared/build.gradle.kts</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kotlin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androidTarget()</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listOf(iosArm64(), iosSimulatorArm64()).forEach { t -&gt;</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t.binaries.framework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baseName = "Shared"</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isStatic = true    // one framework for Xcode</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sourceSets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commonMain.dependencies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implementation(libs.ktor.client.core)</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implementation(libs.kotlinx.coroutines.core)</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androidMain.dependencies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implementation(libs.ktor.client.okhttp)</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iosMain.dependencies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implementation(libs.ktor.client.darwin)</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a:t>
            </a:r>
            <a:endParaRPr lang="en-US" sz="750" dirty="0"/>
          </a:p>
        </p:txBody>
      </p:sp>
      <p:sp>
        <p:nvSpPr>
          <p:cNvPr id="9" name="Text 7"/>
          <p:cNvSpPr/>
          <p:nvPr/>
        </p:nvSpPr>
        <p:spPr>
          <a:xfrm>
            <a:off x="822960" y="4526280"/>
            <a:ext cx="5120640" cy="1554480"/>
          </a:xfrm>
          <a:prstGeom prst="rect">
            <a:avLst/>
          </a:prstGeom>
          <a:noFill/>
          <a:ln/>
        </p:spPr>
        <p:txBody>
          <a:bodyPr wrap="square" lIns="0" tIns="0" rIns="0" bIns="0" rtlCol="0" anchor="t"/>
          <a:lstStyle/>
          <a:p>
            <a:pPr indent="0" marL="0">
              <a:spcAft>
                <a:spcPts val="900"/>
              </a:spcAft>
              <a:buNone/>
            </a:pPr>
            <a:r>
              <a:rPr lang="en-US" sz="1100" dirty="0">
                <a:solidFill>
                  <a:srgbClr val="1D1D1F"/>
                </a:solidFill>
                <a:latin typeface="Arial" pitchFamily="34" charset="0"/>
                <a:ea typeface="Arial" pitchFamily="34" charset="-122"/>
                <a:cs typeface="Arial" pitchFamily="34" charset="-120"/>
              </a:rPr>
              <a:t>A source set is just a folder the compiler includes for a given target. commonMain compiles for all of them, so anything platform-specific in it is a compile error, which is the point.</a:t>
            </a:r>
            <a:endParaRPr lang="en-US" sz="1100" dirty="0"/>
          </a:p>
          <a:p>
            <a:pPr indent="0" marL="0">
              <a:spcAft>
                <a:spcPts val="900"/>
              </a:spcAft>
              <a:buNone/>
            </a:pPr>
            <a:r>
              <a:rPr lang="en-US" sz="1100" dirty="0">
                <a:solidFill>
                  <a:srgbClr val="1D1D1F"/>
                </a:solidFill>
                <a:latin typeface="Arial" pitchFamily="34" charset="0"/>
                <a:ea typeface="Arial" pitchFamily="34" charset="-122"/>
                <a:cs typeface="Arial" pitchFamily="34" charset="-120"/>
              </a:rPr>
              <a:t>Dependencies follow the same rule: one Ktor API in common, a different engine per platform.</a:t>
            </a:r>
            <a:endParaRPr lang="en-US" sz="1100" dirty="0"/>
          </a:p>
          <a:p>
            <a:pPr indent="0" marL="0">
              <a:spcAft>
                <a:spcPts val="900"/>
              </a:spcAft>
              <a:buNone/>
            </a:pPr>
            <a:r>
              <a:rPr lang="en-US" sz="1100" b="1" dirty="0">
                <a:solidFill>
                  <a:srgbClr val="1D1D1F"/>
                </a:solidFill>
                <a:latin typeface="Arial" pitchFamily="34" charset="0"/>
                <a:ea typeface="Arial" pitchFamily="34" charset="-122"/>
                <a:cs typeface="Arial" pitchFamily="34" charset="-120"/>
              </a:rPr>
              <a:t>The build file is the architecture diagram.</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30</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KOTLIN MULTIPLATFORM</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How the iOS app consumes it</a:t>
            </a:r>
            <a:endParaRPr lang="en-US" sz="3000" dirty="0"/>
          </a:p>
        </p:txBody>
      </p:sp>
      <p:sp>
        <p:nvSpPr>
          <p:cNvPr id="5" name="Shape 3"/>
          <p:cNvSpPr/>
          <p:nvPr/>
        </p:nvSpPr>
        <p:spPr>
          <a:xfrm>
            <a:off x="822960" y="1783080"/>
            <a:ext cx="5577840" cy="1783080"/>
          </a:xfrm>
          <a:prstGeom prst="roundRect">
            <a:avLst>
              <a:gd name="adj" fmla="val 6154"/>
            </a:avLst>
          </a:prstGeom>
          <a:solidFill>
            <a:srgbClr val="F5F5F7"/>
          </a:solidFill>
          <a:ln/>
        </p:spPr>
      </p:sp>
      <p:sp>
        <p:nvSpPr>
          <p:cNvPr id="6" name="Text 4"/>
          <p:cNvSpPr/>
          <p:nvPr/>
        </p:nvSpPr>
        <p:spPr>
          <a:xfrm>
            <a:off x="1234440" y="2103120"/>
            <a:ext cx="4846320" cy="1188720"/>
          </a:xfrm>
          <a:prstGeom prst="rect">
            <a:avLst/>
          </a:prstGeom>
          <a:noFill/>
          <a:ln/>
        </p:spPr>
        <p:txBody>
          <a:bodyPr wrap="square" lIns="0" tIns="0" rIns="0" bIns="0" rtlCol="0" anchor="t"/>
          <a:lstStyle/>
          <a:p>
            <a:pPr indent="0" marL="0">
              <a:lnSpc>
                <a:spcPts val="1500"/>
              </a:lnSpc>
              <a:buNone/>
            </a:pPr>
            <a:r>
              <a:rPr lang="en-US" sz="800" dirty="0">
                <a:solidFill>
                  <a:srgbClr val="86868B"/>
                </a:solidFill>
                <a:latin typeface="Courier New" pitchFamily="34" charset="0"/>
                <a:ea typeface="Courier New" pitchFamily="34" charset="-122"/>
                <a:cs typeface="Courier New" pitchFamily="34" charset="-120"/>
              </a:rPr>
              <a:t># Kotlin/Native produces a real framework</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./gradlew :shared:assembleSharedXCFramework</a:t>
            </a:r>
            <a:endParaRPr lang="en-US" sz="800" dirty="0"/>
          </a:p>
          <a:p>
            <a:pPr indent="0" marL="0">
              <a:lnSpc>
                <a:spcPts val="1500"/>
              </a:lnSpc>
              <a:buNone/>
            </a:pPr>
            <a:r>
              <a:rPr lang="en-US" sz="800" dirty="0">
                <a:solidFill>
                  <a:srgbClr val="1D1D1F"/>
                </a:solidFill>
                <a:latin typeface="Courier New" pitchFamily="34" charset="0"/>
                <a:ea typeface="Courier New" pitchFamily="34" charset="-122"/>
                <a:cs typeface="Courier New" pitchFamily="34" charset="-120"/>
              </a:rPr>
              <a:t> </a:t>
            </a:r>
            <a:endParaRPr lang="en-US" sz="800" dirty="0"/>
          </a:p>
          <a:p>
            <a:pPr indent="0" marL="0">
              <a:lnSpc>
                <a:spcPts val="1500"/>
              </a:lnSpc>
              <a:buNone/>
            </a:pPr>
            <a:r>
              <a:rPr lang="en-US" sz="800" dirty="0">
                <a:solidFill>
                  <a:srgbClr val="86868B"/>
                </a:solidFill>
                <a:latin typeface="Courier New" pitchFamily="34" charset="0"/>
                <a:ea typeface="Courier New" pitchFamily="34" charset="-122"/>
                <a:cs typeface="Courier New" pitchFamily="34" charset="-120"/>
              </a:rPr>
              <a:t># then either:</a:t>
            </a:r>
            <a:endParaRPr lang="en-US" sz="800" dirty="0"/>
          </a:p>
          <a:p>
            <a:pPr indent="0" marL="0">
              <a:lnSpc>
                <a:spcPts val="1500"/>
              </a:lnSpc>
              <a:buNone/>
            </a:pPr>
            <a:r>
              <a:rPr lang="en-US" sz="800" dirty="0">
                <a:solidFill>
                  <a:srgbClr val="86868B"/>
                </a:solidFill>
                <a:latin typeface="Courier New" pitchFamily="34" charset="0"/>
                <a:ea typeface="Courier New" pitchFamily="34" charset="-122"/>
                <a:cs typeface="Courier New" pitchFamily="34" charset="-120"/>
              </a:rPr>
              <a:t>#   - add the XCFramework to the Xcode project directly</a:t>
            </a:r>
            <a:endParaRPr lang="en-US" sz="800" dirty="0"/>
          </a:p>
          <a:p>
            <a:pPr indent="0" marL="0">
              <a:lnSpc>
                <a:spcPts val="1500"/>
              </a:lnSpc>
              <a:buNone/>
            </a:pPr>
            <a:r>
              <a:rPr lang="en-US" sz="800" dirty="0">
                <a:solidFill>
                  <a:srgbClr val="86868B"/>
                </a:solidFill>
                <a:latin typeface="Courier New" pitchFamily="34" charset="0"/>
                <a:ea typeface="Courier New" pitchFamily="34" charset="-122"/>
                <a:cs typeface="Courier New" pitchFamily="34" charset="-120"/>
              </a:rPr>
              <a:t>#   - publish it as a Swift Package (SPM)</a:t>
            </a:r>
            <a:endParaRPr lang="en-US" sz="800" dirty="0"/>
          </a:p>
          <a:p>
            <a:pPr indent="0" marL="0">
              <a:lnSpc>
                <a:spcPts val="1500"/>
              </a:lnSpc>
              <a:buNone/>
            </a:pPr>
            <a:r>
              <a:rPr lang="en-US" sz="800" dirty="0">
                <a:solidFill>
                  <a:srgbClr val="86868B"/>
                </a:solidFill>
                <a:latin typeface="Courier New" pitchFamily="34" charset="0"/>
                <a:ea typeface="Courier New" pitchFamily="34" charset="-122"/>
                <a:cs typeface="Courier New" pitchFamily="34" charset="-120"/>
              </a:rPr>
              <a:t>#   - or use the CocoaPods plugin's generated podspec</a:t>
            </a:r>
            <a:endParaRPr lang="en-US" sz="800" dirty="0"/>
          </a:p>
        </p:txBody>
      </p:sp>
      <p:sp>
        <p:nvSpPr>
          <p:cNvPr id="7" name="Shape 5"/>
          <p:cNvSpPr/>
          <p:nvPr/>
        </p:nvSpPr>
        <p:spPr>
          <a:xfrm>
            <a:off x="822960" y="3703320"/>
            <a:ext cx="5577840" cy="2468880"/>
          </a:xfrm>
          <a:prstGeom prst="roundRect">
            <a:avLst>
              <a:gd name="adj" fmla="val 4444"/>
            </a:avLst>
          </a:prstGeom>
          <a:solidFill>
            <a:srgbClr val="F5F5F7"/>
          </a:solidFill>
          <a:ln/>
        </p:spPr>
      </p:sp>
      <p:sp>
        <p:nvSpPr>
          <p:cNvPr id="8" name="Text 6"/>
          <p:cNvSpPr/>
          <p:nvPr/>
        </p:nvSpPr>
        <p:spPr>
          <a:xfrm>
            <a:off x="1234440" y="4023360"/>
            <a:ext cx="4846320" cy="1874520"/>
          </a:xfrm>
          <a:prstGeom prst="rect">
            <a:avLst/>
          </a:prstGeom>
          <a:noFill/>
          <a:ln/>
        </p:spPr>
        <p:txBody>
          <a:bodyPr wrap="square" lIns="0" tIns="0" rIns="0" bIns="0" rtlCol="0" anchor="t"/>
          <a:lstStyle/>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import Shared     // the Kotlin module, as an Obj-C / Swift API</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struct DeviceView: View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@State private var reading: Reading?</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private let repo = ReadingsRepository(http: ..., store: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var body: some View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Text(reading.map { "\($0.tempC) °C" } ?? "n/a")</a:t>
            </a:r>
            <a:endParaRPr lang="en-US" sz="750" dirty="0"/>
          </a:p>
          <a:p>
            <a:pPr indent="0" marL="0">
              <a:lnSpc>
                <a:spcPts val="1400"/>
              </a:lnSpc>
              <a:buNone/>
            </a:pPr>
            <a:r>
              <a:rPr lang="en-US" sz="750" dirty="0">
                <a:solidFill>
                  <a:srgbClr val="86868B"/>
                </a:solidFill>
                <a:latin typeface="Courier New" pitchFamily="34" charset="0"/>
                <a:ea typeface="Courier New" pitchFamily="34" charset="-122"/>
                <a:cs typeface="Courier New" pitchFamily="34" charset="-120"/>
              </a:rPr>
              <a:t>      // a Kotlin suspend fun arrives as Swift async/await</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.task { reading = try? await repo.latest(deviceId: id)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  }</a:t>
            </a:r>
            <a:endParaRPr lang="en-US" sz="750" dirty="0"/>
          </a:p>
          <a:p>
            <a:pPr indent="0" marL="0">
              <a:lnSpc>
                <a:spcPts val="1400"/>
              </a:lnSpc>
              <a:buNone/>
            </a:pPr>
            <a:r>
              <a:rPr lang="en-US" sz="750" dirty="0">
                <a:solidFill>
                  <a:srgbClr val="1D1D1F"/>
                </a:solidFill>
                <a:latin typeface="Courier New" pitchFamily="34" charset="0"/>
                <a:ea typeface="Courier New" pitchFamily="34" charset="-122"/>
                <a:cs typeface="Courier New" pitchFamily="34" charset="-120"/>
              </a:rPr>
              <a:t>}</a:t>
            </a:r>
            <a:endParaRPr lang="en-US" sz="750" dirty="0"/>
          </a:p>
        </p:txBody>
      </p:sp>
      <p:sp>
        <p:nvSpPr>
          <p:cNvPr id="9" name="Text 7"/>
          <p:cNvSpPr/>
          <p:nvPr/>
        </p:nvSpPr>
        <p:spPr>
          <a:xfrm>
            <a:off x="6858000" y="1828800"/>
            <a:ext cx="4507992" cy="4114800"/>
          </a:xfrm>
          <a:prstGeom prst="rect">
            <a:avLst/>
          </a:prstGeom>
          <a:noFill/>
          <a:ln/>
        </p:spPr>
        <p:txBody>
          <a:bodyPr wrap="square" lIns="0" tIns="0" rIns="0" bIns="0" rtlCol="0" anchor="t"/>
          <a:lstStyle/>
          <a:p>
            <a:pPr indent="0" marL="0">
              <a:spcAft>
                <a:spcPts val="700"/>
              </a:spcAft>
              <a:buNone/>
            </a:pPr>
            <a:r>
              <a:rPr lang="en-US" sz="1050" b="1" dirty="0">
                <a:solidFill>
                  <a:srgbClr val="1D1D1F"/>
                </a:solidFill>
                <a:latin typeface="Arial" pitchFamily="34" charset="0"/>
                <a:ea typeface="Arial" pitchFamily="34" charset="-122"/>
                <a:cs typeface="Arial" pitchFamily="34" charset="-120"/>
              </a:rPr>
              <a:t>There is no bridge at run time.</a:t>
            </a:r>
            <a:endParaRPr lang="en-US" sz="1050" dirty="0"/>
          </a:p>
          <a:p>
            <a:pPr indent="0" marL="0">
              <a:spcAft>
                <a:spcPts val="700"/>
              </a:spcAft>
              <a:buNone/>
            </a:pPr>
            <a:r>
              <a:rPr lang="en-US" sz="1050" dirty="0">
                <a:solidFill>
                  <a:srgbClr val="1D1D1F"/>
                </a:solidFill>
                <a:latin typeface="Arial" pitchFamily="34" charset="0"/>
                <a:ea typeface="Arial" pitchFamily="34" charset="-122"/>
                <a:cs typeface="Arial" pitchFamily="34" charset="-120"/>
              </a:rPr>
              <a:t>Kotlin classes are compiled to native code and exposed as Objective-C classes, so Swift calls them the way it calls any other framework. Compare that with a platform channel, which encodes a message for every single call.</a:t>
            </a:r>
            <a:endParaRPr lang="en-US" sz="1050" dirty="0"/>
          </a:p>
          <a:p>
            <a:pPr indent="0" marL="0">
              <a:spcAft>
                <a:spcPts val="700"/>
              </a:spcAft>
              <a:buNone/>
            </a:pPr>
            <a:r>
              <a:rPr lang="en-US" sz="1050" b="1" dirty="0">
                <a:solidFill>
                  <a:srgbClr val="1D1D1F"/>
                </a:solidFill>
                <a:latin typeface="Arial" pitchFamily="34" charset="0"/>
                <a:ea typeface="Arial" pitchFamily="34" charset="-122"/>
                <a:cs typeface="Arial" pitchFamily="34" charset="-120"/>
              </a:rPr>
              <a:t>suspend maps to async/await;</a:t>
            </a:r>
            <a:endParaRPr lang="en-US" sz="1050" dirty="0"/>
          </a:p>
          <a:p>
            <a:pPr indent="0" marL="0">
              <a:spcAft>
                <a:spcPts val="700"/>
              </a:spcAft>
              <a:buNone/>
            </a:pPr>
            <a:r>
              <a:rPr lang="en-US" sz="1050" dirty="0">
                <a:solidFill>
                  <a:srgbClr val="1D1D1F"/>
                </a:solidFill>
                <a:latin typeface="Arial" pitchFamily="34" charset="0"/>
                <a:ea typeface="Arial" pitchFamily="34" charset="-122"/>
                <a:cs typeface="Arial" pitchFamily="34" charset="-120"/>
              </a:rPr>
              <a:t>Flow needs a small wrapper, or a tool like SKIE, to feel natural in Swift.</a:t>
            </a:r>
            <a:endParaRPr lang="en-US" sz="1050" dirty="0"/>
          </a:p>
          <a:p>
            <a:pPr indent="0" marL="0">
              <a:spcAft>
                <a:spcPts val="700"/>
              </a:spcAft>
              <a:buNone/>
            </a:pPr>
            <a:r>
              <a:rPr lang="en-US" sz="1050" b="1" dirty="0">
                <a:solidFill>
                  <a:srgbClr val="1D1D1F"/>
                </a:solidFill>
                <a:latin typeface="Arial" pitchFamily="34" charset="0"/>
                <a:ea typeface="Arial" pitchFamily="34" charset="-122"/>
                <a:cs typeface="Arial" pitchFamily="34" charset="-120"/>
              </a:rPr>
              <a:t>What you still pay:</a:t>
            </a:r>
            <a:endParaRPr lang="en-US" sz="1050" dirty="0"/>
          </a:p>
          <a:p>
            <a:pPr indent="0" marL="0">
              <a:spcAft>
                <a:spcPts val="700"/>
              </a:spcAft>
              <a:buNone/>
            </a:pPr>
            <a:r>
              <a:rPr lang="en-US" sz="1050" dirty="0">
                <a:solidFill>
                  <a:srgbClr val="1D1D1F"/>
                </a:solidFill>
                <a:latin typeface="Arial" pitchFamily="34" charset="0"/>
                <a:ea typeface="Arial" pitchFamily="34" charset="-122"/>
                <a:cs typeface="Arial" pitchFamily="34" charset="-120"/>
              </a:rPr>
              <a:t>someone on the team writes SwiftUI. Kotlin/Native's memory model is a tracing GC shared across threads: no manual freeing, but object graphs held from Swift keep Kotlin objects alive.</a:t>
            </a:r>
            <a:endParaRPr lang="en-US" sz="1050" dirty="0"/>
          </a:p>
          <a:p>
            <a:pPr indent="0" marL="0">
              <a:spcAft>
                <a:spcPts val="700"/>
              </a:spcAft>
              <a:buNone/>
            </a:pPr>
            <a:r>
              <a:rPr lang="en-US" sz="1050" b="1" dirty="0">
                <a:solidFill>
                  <a:srgbClr val="1D1D1F"/>
                </a:solidFill>
                <a:latin typeface="Arial" pitchFamily="34" charset="0"/>
                <a:ea typeface="Arial" pitchFamily="34" charset="-122"/>
                <a:cs typeface="Arial" pitchFamily="34" charset="-120"/>
              </a:rPr>
              <a:t>And the iOS build needs a Mac with Xcode,</a:t>
            </a:r>
            <a:endParaRPr lang="en-US" sz="1050" dirty="0"/>
          </a:p>
          <a:p>
            <a:pPr indent="0" marL="0">
              <a:spcAft>
                <a:spcPts val="700"/>
              </a:spcAft>
              <a:buNone/>
            </a:pPr>
            <a:r>
              <a:rPr lang="en-US" sz="1050" dirty="0">
                <a:solidFill>
                  <a:srgbClr val="1D1D1F"/>
                </a:solidFill>
                <a:latin typeface="Arial" pitchFamily="34" charset="0"/>
                <a:ea typeface="Arial" pitchFamily="34" charset="-122"/>
                <a:cs typeface="Arial" pitchFamily="34" charset="-120"/>
              </a:rPr>
              <a:t>exactly like a Flutter iOS build does.</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31</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KOTLIN MULTIPLATFORM</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Flutter and KMP, honestly compared</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822960" y="1874520"/>
          <a:ext cx="10543032" cy="914400"/>
        </p:xfrm>
        <a:graphic>
          <a:graphicData uri="http://schemas.openxmlformats.org/drawingml/2006/table">
            <a:tbl>
              <a:tblPr/>
              <a:tblGrid>
                <a:gridCol w="1371600"/>
                <a:gridCol w="4585716"/>
                <a:gridCol w="4585716"/>
              </a:tblGrid>
              <a:tr h="438912">
                <a:tc>
                  <a:txBody>
                    <a:bodyPr/>
                    <a:lstStyle/>
                    <a:p>
                      <a:pPr indent="0" marL="0">
                        <a:buNone/>
                      </a:pP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Flutter</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Kotlin Multiplatform</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75488">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UI</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one UI, drawn by Impeller on both platforms</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each platform's native UI, or Compose on both</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75488">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Shared</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everything, including the pixels</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whatever you put in commonMain</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75488">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Boundary</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crossed at run time: a channel or FFI call per OS API</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crossed at compile time: shared code is native code</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75488">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Language</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Dart for the whole app</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Kotlin shared, plus Swift for the iOS UI</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75488">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Team</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one team can ship both platforms</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needs someone comfortable on each platform</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75488">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Maturity</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stable, very large plugin ecosystem</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stable since Nov 2023; Compose iOS since May 2025</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bl>
          </a:graphicData>
        </a:graphic>
      </p:graphicFrame>
      <p:sp>
        <p:nvSpPr>
          <p:cNvPr id="6" name="Shape 3"/>
          <p:cNvSpPr/>
          <p:nvPr/>
        </p:nvSpPr>
        <p:spPr>
          <a:xfrm>
            <a:off x="822960" y="5257800"/>
            <a:ext cx="10543032" cy="0"/>
          </a:xfrm>
          <a:prstGeom prst="line">
            <a:avLst/>
          </a:prstGeom>
          <a:noFill/>
          <a:ln w="9525">
            <a:solidFill>
              <a:srgbClr val="D2D2D7"/>
            </a:solidFill>
            <a:prstDash val="solid"/>
          </a:ln>
        </p:spPr>
      </p:sp>
      <p:sp>
        <p:nvSpPr>
          <p:cNvPr id="7" name="Text 4"/>
          <p:cNvSpPr/>
          <p:nvPr/>
        </p:nvSpPr>
        <p:spPr>
          <a:xfrm>
            <a:off x="822960" y="548640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Neither one deletes the boundary: they move it.</a:t>
            </a:r>
            <a:pPr indent="0" marL="0">
              <a:buNone/>
            </a:pPr>
            <a:r>
              <a:rPr lang="en-US" sz="1400" dirty="0">
                <a:solidFill>
                  <a:srgbClr val="86868B"/>
                </a:solidFill>
                <a:latin typeface="Arial" pitchFamily="34" charset="0"/>
                <a:ea typeface="Arial" pitchFamily="34" charset="-122"/>
                <a:cs typeface="Arial" pitchFamily="34" charset="-120"/>
              </a:rPr>
              <a:t> Flutter crosses it at run time, once per call. KMP crosses it at compile time, once per build. Lecture 1 chose Flutter for one team and one UI; this is the trade you accepted.</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822960" y="64008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Where the semester ends up</a:t>
            </a:r>
            <a:endParaRPr lang="en-US" sz="3000" dirty="0"/>
          </a:p>
        </p:txBody>
      </p:sp>
      <p:pic>
        <p:nvPicPr>
          <p:cNvPr id="3" name="Image 0" descr="/Users/dinu/dev/upb/mobile-and-embedded-computing/slides/assets/icons2/checklist-white.png">    </p:cNvPr>
          <p:cNvPicPr>
            <a:picLocks noChangeAspect="1"/>
          </p:cNvPicPr>
          <p:nvPr/>
        </p:nvPicPr>
        <p:blipFill>
          <a:blip r:embed="rId1"/>
          <a:stretch>
            <a:fillRect/>
          </a:stretch>
        </p:blipFill>
        <p:spPr>
          <a:xfrm>
            <a:off x="822960" y="1783080"/>
            <a:ext cx="384048" cy="384048"/>
          </a:xfrm>
          <a:prstGeom prst="rect">
            <a:avLst/>
          </a:prstGeom>
        </p:spPr>
      </p:pic>
      <p:sp>
        <p:nvSpPr>
          <p:cNvPr id="4" name="Text 1"/>
          <p:cNvSpPr/>
          <p:nvPr/>
        </p:nvSpPr>
        <p:spPr>
          <a:xfrm>
            <a:off x="822960" y="22860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Looking back</a:t>
            </a:r>
            <a:endParaRPr lang="en-US" sz="1700" dirty="0"/>
          </a:p>
        </p:txBody>
      </p:sp>
      <p:sp>
        <p:nvSpPr>
          <p:cNvPr id="5" name="Text 2"/>
          <p:cNvSpPr/>
          <p:nvPr/>
        </p:nvSpPr>
        <p:spPr>
          <a:xfrm>
            <a:off x="822960" y="2880360"/>
            <a:ext cx="3383280" cy="2743200"/>
          </a:xfrm>
          <a:prstGeom prst="rect">
            <a:avLst/>
          </a:prstGeom>
          <a:noFill/>
          <a:ln/>
        </p:spPr>
        <p:txBody>
          <a:bodyPr wrap="square" lIns="0" tIns="0" rIns="0" bIns="0" rtlCol="0" anchor="t"/>
          <a:lstStyle/>
          <a:p>
            <a:pPr indent="0" marL="0">
              <a:spcAft>
                <a:spcPts val="1100"/>
              </a:spcAft>
              <a:buNone/>
            </a:pPr>
            <a:r>
              <a:rPr lang="en-US" sz="1250" dirty="0">
                <a:solidFill>
                  <a:srgbClr val="A1A1A6"/>
                </a:solidFill>
                <a:latin typeface="Arial" pitchFamily="34" charset="0"/>
                <a:ea typeface="Arial" pitchFamily="34" charset="-122"/>
                <a:cs typeface="Arial" pitchFamily="34" charset="-120"/>
              </a:rPr>
              <a:t>Boundaries were the recurring cost all semester: process, network, language, platform</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gRPC: one .proto contract, four call shapes, one warm connection, with L5's Go backend on the far end</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Channels for control, FFI for compute, and measure both yourself</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KMP crosses at compile time; Flutter crosses at run time</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Every performance number in a slide deck is a property of someone else's hardware</a:t>
            </a:r>
            <a:endParaRPr lang="en-US" sz="1250" dirty="0"/>
          </a:p>
        </p:txBody>
      </p:sp>
      <p:pic>
        <p:nvPicPr>
          <p:cNvPr id="6" name="Image 1" descr="/Users/dinu/dev/upb/mobile-and-embedded-computing/slides/assets/icons2/calendar-white.png">    </p:cNvPr>
          <p:cNvPicPr>
            <a:picLocks noChangeAspect="1"/>
          </p:cNvPicPr>
          <p:nvPr/>
        </p:nvPicPr>
        <p:blipFill>
          <a:blip r:embed="rId2"/>
          <a:stretch>
            <a:fillRect/>
          </a:stretch>
        </p:blipFill>
        <p:spPr>
          <a:xfrm>
            <a:off x="4389120" y="1783080"/>
            <a:ext cx="384048" cy="384048"/>
          </a:xfrm>
          <a:prstGeom prst="rect">
            <a:avLst/>
          </a:prstGeom>
        </p:spPr>
      </p:pic>
      <p:sp>
        <p:nvSpPr>
          <p:cNvPr id="7" name="Text 3"/>
          <p:cNvSpPr/>
          <p:nvPr/>
        </p:nvSpPr>
        <p:spPr>
          <a:xfrm>
            <a:off x="4389120" y="22860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Before the exam</a:t>
            </a:r>
            <a:endParaRPr lang="en-US" sz="1700" dirty="0"/>
          </a:p>
        </p:txBody>
      </p:sp>
      <p:sp>
        <p:nvSpPr>
          <p:cNvPr id="8" name="Text 4"/>
          <p:cNvSpPr/>
          <p:nvPr/>
        </p:nvSpPr>
        <p:spPr>
          <a:xfrm>
            <a:off x="4389120" y="2880360"/>
            <a:ext cx="3383280" cy="2743200"/>
          </a:xfrm>
          <a:prstGeom prst="rect">
            <a:avLst/>
          </a:prstGeom>
          <a:noFill/>
          <a:ln/>
        </p:spPr>
        <p:txBody>
          <a:bodyPr wrap="square" lIns="0" tIns="0" rIns="0" bIns="0" rtlCol="0" anchor="t"/>
          <a:lstStyle/>
          <a:p>
            <a:pPr indent="0" marL="0">
              <a:spcAft>
                <a:spcPts val="1100"/>
              </a:spcAft>
              <a:buNone/>
            </a:pPr>
            <a:r>
              <a:rPr lang="en-US" sz="1250" dirty="0">
                <a:solidFill>
                  <a:srgbClr val="A1A1A6"/>
                </a:solidFill>
                <a:latin typeface="Arial" pitchFamily="34" charset="0"/>
                <a:ea typeface="Arial" pitchFamily="34" charset="-122"/>
                <a:cs typeface="Arial" pitchFamily="34" charset="-120"/>
              </a:rPr>
              <a:t>Run the full chain once: .proto → protoc → Go server → generated Dart client</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Run the channel-vs-FFI benchmark on your own phone, in release mode</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Move one model and one repository from your project into a shared Kotlin module</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Re-read L5, L8 and L10 as one story about the wire</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Bring your project questions to the last office hours</a:t>
            </a:r>
            <a:endParaRPr lang="en-US" sz="1250" dirty="0"/>
          </a:p>
        </p:txBody>
      </p:sp>
      <p:pic>
        <p:nvPicPr>
          <p:cNvPr id="9" name="Image 2" descr="/Users/dinu/dev/upb/mobile-and-embedded-computing/slides/assets/icons2/bookopen-white.png">    </p:cNvPr>
          <p:cNvPicPr>
            <a:picLocks noChangeAspect="1"/>
          </p:cNvPicPr>
          <p:nvPr/>
        </p:nvPicPr>
        <p:blipFill>
          <a:blip r:embed="rId3"/>
          <a:stretch>
            <a:fillRect/>
          </a:stretch>
        </p:blipFill>
        <p:spPr>
          <a:xfrm>
            <a:off x="7955280" y="1783080"/>
            <a:ext cx="384048" cy="384048"/>
          </a:xfrm>
          <a:prstGeom prst="rect">
            <a:avLst/>
          </a:prstGeom>
        </p:spPr>
      </p:pic>
      <p:sp>
        <p:nvSpPr>
          <p:cNvPr id="10" name="Text 5"/>
          <p:cNvSpPr/>
          <p:nvPr/>
        </p:nvSpPr>
        <p:spPr>
          <a:xfrm>
            <a:off x="7955280" y="22860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Read more</a:t>
            </a:r>
            <a:endParaRPr lang="en-US" sz="1700" dirty="0"/>
          </a:p>
        </p:txBody>
      </p:sp>
      <p:sp>
        <p:nvSpPr>
          <p:cNvPr id="11" name="Text 6"/>
          <p:cNvSpPr/>
          <p:nvPr/>
        </p:nvSpPr>
        <p:spPr>
          <a:xfrm>
            <a:off x="7955280" y="2880360"/>
            <a:ext cx="3383280" cy="2743200"/>
          </a:xfrm>
          <a:prstGeom prst="rect">
            <a:avLst/>
          </a:prstGeom>
          <a:noFill/>
          <a:ln/>
        </p:spPr>
        <p:txBody>
          <a:bodyPr wrap="square" lIns="0" tIns="0" rIns="0" bIns="0" rtlCol="0" anchor="t"/>
          <a:lstStyle/>
          <a:p>
            <a:pPr indent="0" marL="0">
              <a:spcAft>
                <a:spcPts val="1100"/>
              </a:spcAft>
              <a:buNone/>
            </a:pPr>
            <a:r>
              <a:rPr lang="en-US" sz="1250" dirty="0">
                <a:solidFill>
                  <a:srgbClr val="A1A1A6"/>
                </a:solidFill>
                <a:latin typeface="Arial" pitchFamily="34" charset="0"/>
                <a:ea typeface="Arial" pitchFamily="34" charset="-122"/>
                <a:cs typeface="Arial" pitchFamily="34" charset="-120"/>
              </a:rPr>
              <a:t>grpc.io/docs · protobuf.dev/programming-guides/encoding</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connectrpc.com · RFC 9114 (HTTP/3) · RFC 9000 (QUIC)</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docs.flutter.dev/platform-integration: channels, FFI, ffigen</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dart.dev/interop/c-interop</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kotlinlang.org/docs/multiplatform.html</a:t>
            </a:r>
            <a:endParaRPr lang="en-US" sz="1250" dirty="0"/>
          </a:p>
        </p:txBody>
      </p:sp>
      <p:sp>
        <p:nvSpPr>
          <p:cNvPr id="12" name="Text 7"/>
          <p:cNvSpPr/>
          <p:nvPr/>
        </p:nvSpPr>
        <p:spPr>
          <a:xfrm>
            <a:off x="822960" y="6035040"/>
            <a:ext cx="10515600" cy="365760"/>
          </a:xfrm>
          <a:prstGeom prst="rect">
            <a:avLst/>
          </a:prstGeom>
          <a:noFill/>
          <a:ln/>
        </p:spPr>
        <p:txBody>
          <a:bodyPr wrap="square" lIns="0" tIns="0" rIns="0" bIns="0" rtlCol="0" anchor="ctr"/>
          <a:lstStyle/>
          <a:p>
            <a:pPr algn="ctr" indent="0" marL="0">
              <a:buNone/>
            </a:pPr>
            <a:r>
              <a:rPr lang="en-US" sz="1250" dirty="0">
                <a:solidFill>
                  <a:srgbClr val="6E6E73"/>
                </a:solidFill>
                <a:latin typeface="Arial" pitchFamily="34" charset="0"/>
                <a:ea typeface="Arial" pitchFamily="34" charset="-122"/>
                <a:cs typeface="Arial" pitchFamily="34" charset="-120"/>
              </a:rPr>
              <a:t>That is the course. Project demos and the exam are what is left, and office hours stay open until both are done.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and Embedded Computing, Lecture 12</dc:title>
  <dc:subject>PptxGenJS Presentation</dc:subject>
  <dc:creator>Dinu-Ștefan Rusu</dc:creator>
  <cp:lastModifiedBy>Dinu-Ștefan Rusu</cp:lastModifiedBy>
  <cp:revision>1</cp:revision>
  <dcterms:created xsi:type="dcterms:W3CDTF">2026-08-08T15:40:13Z</dcterms:created>
  <dcterms:modified xsi:type="dcterms:W3CDTF">2026-08-08T15:40:13Z</dcterms:modified>
</cp:coreProperties>
</file>