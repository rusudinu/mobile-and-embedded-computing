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a 'compiled language' and a 'interpreted language'. Then point out that C has interpreters (Cling) and Python has AOT compilers (Nuitka, Cython). The dichotomy students arrive with is a folk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rows are a continuum, not four boxes: modern runtimes mix tiers (V8 has an interpreter plus two JITs; Android's ART does install-time AOT plus profile-guided JIT). The point students must leave with is that 'how fast is it' is a question about a toolchain and a workload, not about a language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replaces the old 'compiled vs interpreted' dichotomy. Same language, two compilers, chosen by build mode. Students routinely file performance bugs against debug builds. A debug Flutter build can be several times slower than release, and that is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opportunity: delete the null check in greet() and show the analyzer error in the IDE, then show that adding ! makes it compile and crash. The lesson is that ! moves the failure from build time to a user's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Impeller replaced Skia: default on iOS since 2023, default on Android (Vulkan, API 29+) since Flutter 3.29 in Feb 2025, and as of Flutter 3.44 Skia is fully removed on iOS and Android 10+, with an OpenGL fallback only for very old Android. Do not describe Skia as the current renderer.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Mobile and Embedded Computing</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2: compiled vs interpreted, null safety, Dart &amp; Kotlin</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layers-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The compilation spectrum</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AOT, JIT, bytecode VMs, interpreters, and why “compiled” describes an implementation, not a language</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shieldcheck-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Sound null safety</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How non-nullable-by-default removes a whole family of crashes, in Dart and, almost identically, in Kotlin</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code-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Dart you can actually write</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Variables, functions, classes, collections and the null-aware operators: enough to read any Flutter code</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zap-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What Flutter really is</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One Dart codebase, one renderer, and why hot reload exists only in debug builds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HOW CODE RUNS</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From source text to a running program</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Compilers, interpreters, and the spectrum in between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HOW CODE RUNS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Compiler and interpreter: what actually happens</a:t>
            </a:r>
            <a:endParaRPr lang="en-US" sz="3000" dirty="0"/>
          </a:p>
        </p:txBody>
      </p:sp>
      <p:sp>
        <p:nvSpPr>
          <p:cNvPr id="5" name="Text 3"/>
          <p:cNvSpPr/>
          <p:nvPr/>
        </p:nvSpPr>
        <p:spPr>
          <a:xfrm>
            <a:off x="822960" y="1783080"/>
            <a:ext cx="6217920" cy="2926080"/>
          </a:xfrm>
          <a:prstGeom prst="rect">
            <a:avLst/>
          </a:prstGeom>
          <a:noFill/>
          <a:ln/>
        </p:spPr>
        <p:txBody>
          <a:bodyPr wrap="square" lIns="0" tIns="0" rIns="0" bIns="0" rtlCol="0" anchor="t"/>
          <a:lstStyle/>
          <a:p>
            <a:pPr indent="0" marL="0">
              <a:spcAft>
                <a:spcPts val="1500"/>
              </a:spcAft>
              <a:buNone/>
            </a:pPr>
            <a:r>
              <a:rPr lang="en-US" sz="1400" dirty="0">
                <a:solidFill>
                  <a:srgbClr val="1D1D1F"/>
                </a:solidFill>
                <a:latin typeface="Arial" pitchFamily="34" charset="0"/>
                <a:ea typeface="Arial" pitchFamily="34" charset="-122"/>
                <a:cs typeface="Arial" pitchFamily="34" charset="-120"/>
              </a:rPr>
              <a:t>A compiler translates your whole program ahead of time into instructions for one CPU and one OS. You ship the result; the translation is paid once, by you.</a:t>
            </a:r>
            <a:endParaRPr lang="en-US" sz="1400" dirty="0"/>
          </a:p>
          <a:p>
            <a:pPr indent="0" marL="0">
              <a:spcAft>
                <a:spcPts val="1500"/>
              </a:spcAft>
              <a:buNone/>
            </a:pPr>
            <a:r>
              <a:rPr lang="en-US" sz="1400" dirty="0">
                <a:solidFill>
                  <a:srgbClr val="1D1D1F"/>
                </a:solidFill>
                <a:latin typeface="Arial" pitchFamily="34" charset="0"/>
                <a:ea typeface="Arial" pitchFamily="34" charset="-122"/>
                <a:cs typeface="Arial" pitchFamily="34" charset="-120"/>
              </a:rPr>
              <a:t>An interpreter is a program that reads your code and carries out its instructions step by step, every time it runs. You ship the source; the translation is paid on every run, on the user's device.</a:t>
            </a:r>
            <a:endParaRPr lang="en-US" sz="1400" dirty="0"/>
          </a:p>
          <a:p>
            <a:pPr indent="0" marL="0">
              <a:spcAft>
                <a:spcPts val="1500"/>
              </a:spcAft>
              <a:buNone/>
            </a:pPr>
            <a:r>
              <a:rPr lang="en-US" sz="1400" b="1" dirty="0">
                <a:solidFill>
                  <a:srgbClr val="1D1D1F"/>
                </a:solidFill>
                <a:latin typeface="Arial" pitchFamily="34" charset="0"/>
                <a:ea typeface="Arial" pitchFamily="34" charset="-122"/>
                <a:cs typeface="Arial" pitchFamily="34" charset="-120"/>
              </a:rPr>
              <a:t>Almost nothing real is purely one or the other.</a:t>
            </a:r>
            <a:endParaRPr lang="en-US" sz="1400" dirty="0"/>
          </a:p>
        </p:txBody>
      </p:sp>
      <p:sp>
        <p:nvSpPr>
          <p:cNvPr id="6" name="Shape 4"/>
          <p:cNvSpPr/>
          <p:nvPr/>
        </p:nvSpPr>
        <p:spPr>
          <a:xfrm>
            <a:off x="7589520" y="1783080"/>
            <a:ext cx="3931920" cy="3749040"/>
          </a:xfrm>
          <a:prstGeom prst="roundRect">
            <a:avLst>
              <a:gd name="adj" fmla="val 2927"/>
            </a:avLst>
          </a:prstGeom>
          <a:solidFill>
            <a:srgbClr val="F5F5F7"/>
          </a:solidFill>
          <a:ln/>
        </p:spPr>
      </p:sp>
      <p:sp>
        <p:nvSpPr>
          <p:cNvPr id="7" name="Text 5"/>
          <p:cNvSpPr/>
          <p:nvPr/>
        </p:nvSpPr>
        <p:spPr>
          <a:xfrm>
            <a:off x="7909560" y="2039112"/>
            <a:ext cx="329184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The same language, run differently</a:t>
            </a:r>
            <a:endParaRPr lang="en-US" sz="1450" dirty="0"/>
          </a:p>
        </p:txBody>
      </p:sp>
      <p:sp>
        <p:nvSpPr>
          <p:cNvPr id="8" name="Text 6"/>
          <p:cNvSpPr/>
          <p:nvPr/>
        </p:nvSpPr>
        <p:spPr>
          <a:xfrm>
            <a:off x="7909560" y="2496312"/>
            <a:ext cx="3291840" cy="2788920"/>
          </a:xfrm>
          <a:prstGeom prst="rect">
            <a:avLst/>
          </a:prstGeom>
          <a:noFill/>
          <a:ln/>
        </p:spPr>
        <p:txBody>
          <a:bodyPr wrap="square" lIns="0" tIns="0" rIns="0" bIns="0" rtlCol="0" anchor="t"/>
          <a:lstStyle/>
          <a:p>
            <a:pPr indent="0" marL="0">
              <a:spcAft>
                <a:spcPts val="600"/>
              </a:spcAft>
              <a:buNone/>
            </a:pPr>
            <a:r>
              <a:rPr lang="en-US" sz="1150" b="1" dirty="0">
                <a:solidFill>
                  <a:srgbClr val="1D1D1F"/>
                </a:solidFill>
                <a:latin typeface="Arial" pitchFamily="34" charset="0"/>
                <a:ea typeface="Arial" pitchFamily="34" charset="-122"/>
                <a:cs typeface="Arial" pitchFamily="34" charset="-120"/>
              </a:rPr>
              <a:t>Python</a:t>
            </a:r>
            <a:endParaRPr lang="en-US" sz="1150" dirty="0"/>
          </a:p>
          <a:p>
            <a:pPr indent="0" marL="0">
              <a:spcAft>
                <a:spcPts val="600"/>
              </a:spcAft>
              <a:buNone/>
            </a:pPr>
            <a:r>
              <a:rPr lang="en-US" sz="1150" dirty="0">
                <a:solidFill>
                  <a:srgbClr val="1D1D1F"/>
                </a:solidFill>
                <a:latin typeface="Arial" pitchFamily="34" charset="0"/>
                <a:ea typeface="Arial" pitchFamily="34" charset="-122"/>
                <a:cs typeface="Arial" pitchFamily="34" charset="-120"/>
              </a:rPr>
              <a:t>CPython compiles to bytecode, then interprets it. PyPy JIT-compiles the same source.</a:t>
            </a:r>
            <a:endParaRPr lang="en-US" sz="1150" dirty="0"/>
          </a:p>
          <a:p>
            <a:pPr indent="0" marL="0">
              <a:spcAft>
                <a:spcPts val="600"/>
              </a:spcAft>
              <a:buNone/>
            </a:pPr>
            <a:r>
              <a:rPr lang="en-US" sz="1150" b="1" dirty="0">
                <a:solidFill>
                  <a:srgbClr val="1D1D1F"/>
                </a:solidFill>
                <a:latin typeface="Arial" pitchFamily="34" charset="0"/>
                <a:ea typeface="Arial" pitchFamily="34" charset="-122"/>
                <a:cs typeface="Arial" pitchFamily="34" charset="-120"/>
              </a:rPr>
              <a:t>Java / Kotlin</a:t>
            </a:r>
            <a:endParaRPr lang="en-US" sz="1150" dirty="0"/>
          </a:p>
          <a:p>
            <a:pPr indent="0" marL="0">
              <a:spcAft>
                <a:spcPts val="600"/>
              </a:spcAft>
              <a:buNone/>
            </a:pPr>
            <a:r>
              <a:rPr lang="en-US" sz="1150" dirty="0">
                <a:solidFill>
                  <a:srgbClr val="1D1D1F"/>
                </a:solidFill>
                <a:latin typeface="Arial" pitchFamily="34" charset="0"/>
                <a:ea typeface="Arial" pitchFamily="34" charset="-122"/>
                <a:cs typeface="Arial" pitchFamily="34" charset="-120"/>
              </a:rPr>
              <a:t>Bytecode, interpreted at first, then JIT-compiled once a method gets hot.</a:t>
            </a:r>
            <a:endParaRPr lang="en-US" sz="1150" dirty="0"/>
          </a:p>
          <a:p>
            <a:pPr indent="0" marL="0">
              <a:spcAft>
                <a:spcPts val="600"/>
              </a:spcAft>
              <a:buNone/>
            </a:pPr>
            <a:r>
              <a:rPr lang="en-US" sz="1150" b="1" dirty="0">
                <a:solidFill>
                  <a:srgbClr val="1D1D1F"/>
                </a:solidFill>
                <a:latin typeface="Arial" pitchFamily="34" charset="0"/>
                <a:ea typeface="Arial" pitchFamily="34" charset="-122"/>
                <a:cs typeface="Arial" pitchFamily="34" charset="-120"/>
              </a:rPr>
              <a:t>JavaScript</a:t>
            </a:r>
            <a:endParaRPr lang="en-US" sz="1150" dirty="0"/>
          </a:p>
          <a:p>
            <a:pPr indent="0" marL="0">
              <a:spcAft>
                <a:spcPts val="600"/>
              </a:spcAft>
              <a:buNone/>
            </a:pPr>
            <a:r>
              <a:rPr lang="en-US" sz="1150" dirty="0">
                <a:solidFill>
                  <a:srgbClr val="1D1D1F"/>
                </a:solidFill>
                <a:latin typeface="Arial" pitchFamily="34" charset="0"/>
                <a:ea typeface="Arial" pitchFamily="34" charset="-122"/>
                <a:cs typeface="Arial" pitchFamily="34" charset="-120"/>
              </a:rPr>
              <a:t>V8 parses, interprets, then JIT-compiles, and de-optimizes when its guesses fail.</a:t>
            </a:r>
            <a:endParaRPr lang="en-US" sz="1150" dirty="0"/>
          </a:p>
          <a:p>
            <a:pPr indent="0" marL="0">
              <a:spcAft>
                <a:spcPts val="600"/>
              </a:spcAft>
              <a:buNone/>
            </a:pPr>
            <a:r>
              <a:rPr lang="en-US" sz="1150" b="1" dirty="0">
                <a:solidFill>
                  <a:srgbClr val="1D1D1F"/>
                </a:solidFill>
                <a:latin typeface="Arial" pitchFamily="34" charset="0"/>
                <a:ea typeface="Arial" pitchFamily="34" charset="-122"/>
                <a:cs typeface="Arial" pitchFamily="34" charset="-120"/>
              </a:rPr>
              <a:t>Dart</a:t>
            </a:r>
            <a:endParaRPr lang="en-US" sz="1150" dirty="0"/>
          </a:p>
          <a:p>
            <a:pPr indent="0" marL="0">
              <a:spcAft>
                <a:spcPts val="600"/>
              </a:spcAft>
              <a:buNone/>
            </a:pPr>
            <a:r>
              <a:rPr lang="en-US" sz="1150" dirty="0">
                <a:solidFill>
                  <a:srgbClr val="1D1D1F"/>
                </a:solidFill>
                <a:latin typeface="Arial" pitchFamily="34" charset="0"/>
                <a:ea typeface="Arial" pitchFamily="34" charset="-122"/>
                <a:cs typeface="Arial" pitchFamily="34" charset="-120"/>
              </a:rPr>
              <a:t>JIT while you develop. AOT for the build you ship.</a:t>
            </a:r>
            <a:endParaRPr lang="en-US" sz="1150" dirty="0"/>
          </a:p>
        </p:txBody>
      </p:sp>
      <p:sp>
        <p:nvSpPr>
          <p:cNvPr id="9" name="Shape 7"/>
          <p:cNvSpPr/>
          <p:nvPr/>
        </p:nvSpPr>
        <p:spPr>
          <a:xfrm>
            <a:off x="822960" y="4434840"/>
            <a:ext cx="6217920" cy="0"/>
          </a:xfrm>
          <a:prstGeom prst="line">
            <a:avLst/>
          </a:prstGeom>
          <a:noFill/>
          <a:ln w="9525">
            <a:solidFill>
              <a:srgbClr val="D2D2D7"/>
            </a:solidFill>
            <a:prstDash val="solid"/>
          </a:ln>
        </p:spPr>
      </p:sp>
      <p:sp>
        <p:nvSpPr>
          <p:cNvPr id="10" name="Text 8"/>
          <p:cNvSpPr/>
          <p:nvPr/>
        </p:nvSpPr>
        <p:spPr>
          <a:xfrm>
            <a:off x="822960" y="4663440"/>
            <a:ext cx="621792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“Compiled” and “interpreted” are properties of a toolchain,</a:t>
            </a:r>
            <a:pPr indent="0" marL="0">
              <a:buNone/>
            </a:pPr>
            <a:r>
              <a:rPr lang="en-US" sz="1400" dirty="0">
                <a:solidFill>
                  <a:srgbClr val="86868B"/>
                </a:solidFill>
                <a:latin typeface="Arial" pitchFamily="34" charset="0"/>
                <a:ea typeface="Arial" pitchFamily="34" charset="-122"/>
                <a:cs typeface="Arial" pitchFamily="34" charset="-120"/>
              </a:rPr>
              <a:t> not of a language. The same source can be run either way.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HOW CODE RUNS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compilation spectrum</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10543032" cy="914400"/>
        </p:xfrm>
        <a:graphic>
          <a:graphicData uri="http://schemas.openxmlformats.org/drawingml/2006/table">
            <a:tbl>
              <a:tblPr/>
              <a:tblGrid>
                <a:gridCol w="1033272"/>
                <a:gridCol w="2377440"/>
                <a:gridCol w="2377440"/>
                <a:gridCol w="2377440"/>
                <a:gridCol w="2377440"/>
              </a:tblGrid>
              <a:tr h="438912">
                <a:tc>
                  <a:txBody>
                    <a:bodyPr/>
                    <a:lstStyle/>
                    <a:p>
                      <a:pPr indent="0" marL="0">
                        <a:buNone/>
                      </a:pP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AOT → native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JIT in a VM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Bytecode VM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Interpreter</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Translated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Before you ship</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While running</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At load time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Line by line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You ship</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Machine code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Source + VM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Bytecode + VM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Source + runtime</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Start-up</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Fastest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Needs warm-up</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Medium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Starts instantly</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Peak speed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High, fixed</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Can beat AOT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Medium</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Lowest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30352">
                <a:tc>
                  <a:txBody>
                    <a:bodyPr/>
                    <a:lstStyle/>
                    <a:p>
                      <a:pPr algn="l" indent="0" marL="0">
                        <a:buNone/>
                      </a:pPr>
                      <a:r>
                        <a:rPr lang="en-US" sz="1150" dirty="0">
                          <a:solidFill>
                            <a:srgbClr val="86868B"/>
                          </a:solidFill>
                          <a:latin typeface="Arial" pitchFamily="34" charset="0"/>
                          <a:ea typeface="Arial" pitchFamily="34" charset="-122"/>
                          <a:cs typeface="Arial" pitchFamily="34" charset="-120"/>
                        </a:rPr>
                        <a:t>Examples</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Go · Rust · Swift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b="1" dirty="0">
                          <a:solidFill>
                            <a:srgbClr val="1D1D1F"/>
                          </a:solidFill>
                          <a:latin typeface="Arial" pitchFamily="34" charset="0"/>
                          <a:ea typeface="Arial" pitchFamily="34" charset="-122"/>
                          <a:cs typeface="Arial" pitchFamily="34" charset="-120"/>
                        </a:rPr>
                        <a:t>JVM · V8 · ART</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CPython</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D1D1F"/>
                          </a:solidFill>
                          <a:latin typeface="Arial" pitchFamily="34" charset="0"/>
                          <a:ea typeface="Arial" pitchFamily="34" charset="-122"/>
                          <a:cs typeface="Arial" pitchFamily="34" charset="-120"/>
                        </a:rPr>
                        <a:t>Bash · shell</a:t>
                      </a:r>
                      <a:endParaRPr lang="en-US" sz="11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440680"/>
            <a:ext cx="10543032" cy="0"/>
          </a:xfrm>
          <a:prstGeom prst="line">
            <a:avLst/>
          </a:prstGeom>
          <a:noFill/>
          <a:ln w="9525">
            <a:solidFill>
              <a:srgbClr val="D2D2D7"/>
            </a:solidFill>
            <a:prstDash val="solid"/>
          </a:ln>
        </p:spPr>
      </p:sp>
      <p:sp>
        <p:nvSpPr>
          <p:cNvPr id="7" name="Text 4"/>
          <p:cNvSpPr/>
          <p:nvPr/>
        </p:nvSpPr>
        <p:spPr>
          <a:xfrm>
            <a:off x="822960" y="56692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Dart sits at two points on this spectrum at once:</a:t>
            </a:r>
            <a:pPr indent="0" marL="0">
              <a:buNone/>
            </a:pPr>
            <a:r>
              <a:rPr lang="en-US" sz="1400" dirty="0">
                <a:solidFill>
                  <a:srgbClr val="86868B"/>
                </a:solidFill>
                <a:latin typeface="Arial" pitchFamily="34" charset="0"/>
                <a:ea typeface="Arial" pitchFamily="34" charset="-122"/>
                <a:cs typeface="Arial" pitchFamily="34" charset="-120"/>
              </a:rPr>
              <a:t> JIT while you develop, AOT for the build your users install.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HOW CODE RUNS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Is compiled code faster?</a:t>
            </a:r>
            <a:endParaRPr lang="en-US" sz="3000" dirty="0"/>
          </a:p>
        </p:txBody>
      </p:sp>
      <p:sp>
        <p:nvSpPr>
          <p:cNvPr id="5" name="Text 3"/>
          <p:cNvSpPr/>
          <p:nvPr/>
        </p:nvSpPr>
        <p:spPr>
          <a:xfrm>
            <a:off x="822960" y="1783080"/>
            <a:ext cx="6217920" cy="3017520"/>
          </a:xfrm>
          <a:prstGeom prst="rect">
            <a:avLst/>
          </a:prstGeom>
          <a:noFill/>
          <a:ln/>
        </p:spPr>
        <p:txBody>
          <a:bodyPr wrap="square" lIns="0" tIns="0" rIns="0" bIns="0" rtlCol="0" anchor="t"/>
          <a:lstStyle/>
          <a:p>
            <a:pPr indent="0" marL="0">
              <a:spcAft>
                <a:spcPts val="1400"/>
              </a:spcAft>
              <a:buNone/>
            </a:pPr>
            <a:r>
              <a:rPr lang="en-US" sz="1400" dirty="0">
                <a:solidFill>
                  <a:srgbClr val="1D1D1F"/>
                </a:solidFill>
                <a:latin typeface="Arial" pitchFamily="34" charset="0"/>
                <a:ea typeface="Arial" pitchFamily="34" charset="-122"/>
                <a:cs typeface="Arial" pitchFamily="34" charset="-120"/>
              </a:rPr>
              <a:t>There is a real gap, and it is entirely workload-dependent. A tight numeric loop shows the biggest difference; code dominated by I/O, syscalls or a native library shows almost none.</a:t>
            </a:r>
            <a:endParaRPr lang="en-US" sz="1400" dirty="0"/>
          </a:p>
          <a:p>
            <a:pPr indent="0" marL="0">
              <a:spcAft>
                <a:spcPts val="1400"/>
              </a:spcAft>
              <a:buNone/>
            </a:pPr>
            <a:r>
              <a:rPr lang="en-US" sz="1400" dirty="0">
                <a:solidFill>
                  <a:srgbClr val="1D1D1F"/>
                </a:solidFill>
                <a:latin typeface="Arial" pitchFamily="34" charset="0"/>
                <a:ea typeface="Arial" pitchFamily="34" charset="-122"/>
                <a:cs typeface="Arial" pitchFamily="34" charset="-120"/>
              </a:rPr>
              <a:t>A JIT can beat an AOT compiler. It sees the actual types and hot branches at run time and inlines on that evidence, using information that does not exist ahead of time.</a:t>
            </a:r>
            <a:endParaRPr lang="en-US" sz="1400" dirty="0"/>
          </a:p>
          <a:p>
            <a:pPr indent="0" marL="0">
              <a:spcAft>
                <a:spcPts val="1400"/>
              </a:spcAft>
              <a:buNone/>
            </a:pPr>
            <a:r>
              <a:rPr lang="en-US" sz="1400" dirty="0">
                <a:solidFill>
                  <a:srgbClr val="1D1D1F"/>
                </a:solidFill>
                <a:latin typeface="Arial" pitchFamily="34" charset="0"/>
                <a:ea typeface="Arial" pitchFamily="34" charset="-122"/>
                <a:cs typeface="Arial" pitchFamily="34" charset="-120"/>
              </a:rPr>
              <a:t>AOT wins where a phone needs it: cold start-up, memory footprint, and predictable latency.</a:t>
            </a:r>
            <a:endParaRPr lang="en-US" sz="1400" dirty="0"/>
          </a:p>
          <a:p>
            <a:pPr indent="0" marL="0">
              <a:spcAft>
                <a:spcPts val="1400"/>
              </a:spcAft>
              <a:buNone/>
            </a:pPr>
            <a:r>
              <a:rPr lang="en-US" sz="1400" dirty="0">
                <a:solidFill>
                  <a:srgbClr val="1D1D1F"/>
                </a:solidFill>
                <a:latin typeface="Arial" pitchFamily="34" charset="0"/>
                <a:ea typeface="Arial" pitchFamily="34" charset="-122"/>
                <a:cs typeface="Arial" pitchFamily="34" charset="-120"/>
              </a:rPr>
              <a:t>In a Flutter frame the budget goes to layout, rasterization, I/O and garbage collection long before it goes to language dispatch.</a:t>
            </a:r>
            <a:endParaRPr lang="en-US" sz="1400" dirty="0"/>
          </a:p>
        </p:txBody>
      </p:sp>
      <p:sp>
        <p:nvSpPr>
          <p:cNvPr id="6" name="Shape 4"/>
          <p:cNvSpPr/>
          <p:nvPr/>
        </p:nvSpPr>
        <p:spPr>
          <a:xfrm>
            <a:off x="7589520" y="1783080"/>
            <a:ext cx="3931920" cy="2834640"/>
          </a:xfrm>
          <a:prstGeom prst="roundRect">
            <a:avLst>
              <a:gd name="adj" fmla="val 3871"/>
            </a:avLst>
          </a:prstGeom>
          <a:solidFill>
            <a:srgbClr val="F5F5F7"/>
          </a:solidFill>
          <a:ln/>
        </p:spPr>
      </p:sp>
      <p:sp>
        <p:nvSpPr>
          <p:cNvPr id="7" name="Text 5"/>
          <p:cNvSpPr/>
          <p:nvPr/>
        </p:nvSpPr>
        <p:spPr>
          <a:xfrm>
            <a:off x="7909560" y="2011680"/>
            <a:ext cx="3291840" cy="320040"/>
          </a:xfrm>
          <a:prstGeom prst="rect">
            <a:avLst/>
          </a:prstGeom>
          <a:noFill/>
          <a:ln/>
        </p:spPr>
        <p:txBody>
          <a:bodyPr wrap="square" lIns="0" tIns="0" rIns="0" bIns="0" rtlCol="0" anchor="ctr"/>
          <a:lstStyle/>
          <a:p>
            <a:pPr indent="0" marL="0">
              <a:buNone/>
            </a:pPr>
            <a:r>
              <a:rPr lang="en-US" sz="1100" b="1" spc="150" kern="0" dirty="0">
                <a:solidFill>
                  <a:srgbClr val="86868B"/>
                </a:solidFill>
                <a:latin typeface="Arial" pitchFamily="34" charset="0"/>
                <a:ea typeface="Arial" pitchFamily="34" charset="-122"/>
                <a:cs typeface="Arial" pitchFamily="34" charset="-120"/>
              </a:rPr>
              <a:t>Not a fact</a:t>
            </a:r>
            <a:endParaRPr lang="en-US" sz="1100" dirty="0"/>
          </a:p>
        </p:txBody>
      </p:sp>
      <p:sp>
        <p:nvSpPr>
          <p:cNvPr id="8" name="Text 6"/>
          <p:cNvSpPr/>
          <p:nvPr/>
        </p:nvSpPr>
        <p:spPr>
          <a:xfrm>
            <a:off x="7909560" y="2377440"/>
            <a:ext cx="3291840" cy="914400"/>
          </a:xfrm>
          <a:prstGeom prst="rect">
            <a:avLst/>
          </a:prstGeom>
          <a:noFill/>
          <a:ln/>
        </p:spPr>
        <p:txBody>
          <a:bodyPr wrap="square" lIns="0" tIns="0" rIns="0" bIns="0" rtlCol="0" anchor="t"/>
          <a:lstStyle/>
          <a:p>
            <a:pPr indent="0" marL="0">
              <a:buNone/>
            </a:pPr>
            <a:r>
              <a:rPr lang="en-US" sz="1400" dirty="0">
                <a:solidFill>
                  <a:srgbClr val="86868B"/>
                </a:solidFill>
                <a:latin typeface="Arial" pitchFamily="34" charset="0"/>
                <a:ea typeface="Arial" pitchFamily="34" charset="-122"/>
                <a:cs typeface="Arial" pitchFamily="34" charset="-120"/>
              </a:rPr>
              <a:t>“Compiled languages are about 100× faster than interpreted ones.”</a:t>
            </a:r>
            <a:endParaRPr lang="en-US" sz="1400" dirty="0"/>
          </a:p>
        </p:txBody>
      </p:sp>
      <p:sp>
        <p:nvSpPr>
          <p:cNvPr id="9" name="Text 7"/>
          <p:cNvSpPr/>
          <p:nvPr/>
        </p:nvSpPr>
        <p:spPr>
          <a:xfrm>
            <a:off x="7909560" y="3383280"/>
            <a:ext cx="3291840" cy="1097280"/>
          </a:xfrm>
          <a:prstGeom prst="rect">
            <a:avLst/>
          </a:prstGeom>
          <a:noFill/>
          <a:ln/>
        </p:spPr>
        <p:txBody>
          <a:bodyPr wrap="square" lIns="0" tIns="0" rIns="0" bIns="0" rtlCol="0" anchor="t"/>
          <a:lstStyle/>
          <a:p>
            <a:pPr indent="0" marL="0">
              <a:spcAft>
                <a:spcPts val="800"/>
              </a:spcAft>
              <a:buNone/>
            </a:pPr>
            <a:r>
              <a:rPr lang="en-US" sz="1250" b="1" dirty="0">
                <a:solidFill>
                  <a:srgbClr val="1D1D1F"/>
                </a:solidFill>
                <a:latin typeface="Arial" pitchFamily="34" charset="0"/>
                <a:ea typeface="Arial" pitchFamily="34" charset="-122"/>
                <a:cs typeface="Arial" pitchFamily="34" charset="-120"/>
              </a:rPr>
              <a:t>There is no single multiplier.</a:t>
            </a:r>
            <a:endParaRPr lang="en-US" sz="1250" dirty="0"/>
          </a:p>
          <a:p>
            <a:pPr indent="0" marL="0">
              <a:spcAft>
                <a:spcPts val="800"/>
              </a:spcAft>
              <a:buNone/>
            </a:pPr>
            <a:r>
              <a:rPr lang="en-US" sz="1250" dirty="0">
                <a:solidFill>
                  <a:srgbClr val="1D1D1F"/>
                </a:solidFill>
                <a:latin typeface="Arial" pitchFamily="34" charset="0"/>
                <a:ea typeface="Arial" pitchFamily="34" charset="-122"/>
                <a:cs typeface="Arial" pitchFamily="34" charset="-120"/>
              </a:rPr>
              <a:t>Ask instead: faster at what, measured how, on which device?</a:t>
            </a:r>
            <a:endParaRPr lang="en-US" sz="1250" dirty="0"/>
          </a:p>
        </p:txBody>
      </p:sp>
      <p:sp>
        <p:nvSpPr>
          <p:cNvPr id="10" name="Shape 8"/>
          <p:cNvSpPr/>
          <p:nvPr/>
        </p:nvSpPr>
        <p:spPr>
          <a:xfrm>
            <a:off x="822960" y="5029200"/>
            <a:ext cx="6217920" cy="0"/>
          </a:xfrm>
          <a:prstGeom prst="line">
            <a:avLst/>
          </a:prstGeom>
          <a:noFill/>
          <a:ln w="9525">
            <a:solidFill>
              <a:srgbClr val="D2D2D7"/>
            </a:solidFill>
            <a:prstDash val="solid"/>
          </a:ln>
        </p:spPr>
      </p:sp>
      <p:sp>
        <p:nvSpPr>
          <p:cNvPr id="11" name="Text 9"/>
          <p:cNvSpPr/>
          <p:nvPr/>
        </p:nvSpPr>
        <p:spPr>
          <a:xfrm>
            <a:off x="822960" y="5257800"/>
            <a:ext cx="621792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Benchmark the workload you actually have.</a:t>
            </a:r>
            <a:pPr indent="0" marL="0">
              <a:buNone/>
            </a:pPr>
            <a:r>
              <a:rPr lang="en-US" sz="1400" dirty="0">
                <a:solidFill>
                  <a:srgbClr val="86868B"/>
                </a:solidFill>
                <a:latin typeface="Arial" pitchFamily="34" charset="0"/>
                <a:ea typeface="Arial" pitchFamily="34" charset="-122"/>
                <a:cs typeface="Arial" pitchFamily="34" charset="-120"/>
              </a:rPr>
              <a:t> Numbers from any other benchmark describe someone else's program.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HOW CODE RUNS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Why Dart compiles two different ways</a:t>
            </a:r>
            <a:endParaRPr lang="en-US" sz="3000" dirty="0"/>
          </a:p>
        </p:txBody>
      </p:sp>
      <p:sp>
        <p:nvSpPr>
          <p:cNvPr id="5" name="Shape 3"/>
          <p:cNvSpPr/>
          <p:nvPr/>
        </p:nvSpPr>
        <p:spPr>
          <a:xfrm>
            <a:off x="822960" y="1783080"/>
            <a:ext cx="5257800" cy="2880360"/>
          </a:xfrm>
          <a:prstGeom prst="roundRect">
            <a:avLst>
              <a:gd name="adj" fmla="val 3810"/>
            </a:avLst>
          </a:prstGeom>
          <a:solidFill>
            <a:srgbClr val="F5F5F7"/>
          </a:solidFill>
          <a:ln/>
        </p:spPr>
      </p:sp>
      <p:sp>
        <p:nvSpPr>
          <p:cNvPr id="6" name="Text 4"/>
          <p:cNvSpPr/>
          <p:nvPr/>
        </p:nvSpPr>
        <p:spPr>
          <a:xfrm>
            <a:off x="1143000" y="2011680"/>
            <a:ext cx="4617720" cy="36576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Debug: JIT</a:t>
            </a:r>
            <a:endParaRPr lang="en-US" sz="1600" dirty="0"/>
          </a:p>
        </p:txBody>
      </p:sp>
      <p:sp>
        <p:nvSpPr>
          <p:cNvPr id="7" name="Text 5"/>
          <p:cNvSpPr/>
          <p:nvPr/>
        </p:nvSpPr>
        <p:spPr>
          <a:xfrm>
            <a:off x="1143000" y="2423160"/>
            <a:ext cx="4617720" cy="320040"/>
          </a:xfrm>
          <a:prstGeom prst="rect">
            <a:avLst/>
          </a:prstGeom>
          <a:noFill/>
          <a:ln/>
        </p:spPr>
        <p:txBody>
          <a:bodyPr wrap="square" lIns="0" tIns="0" rIns="0" bIns="0" rtlCol="0" anchor="ctr"/>
          <a:lstStyle/>
          <a:p>
            <a:pPr indent="0" marL="0">
              <a:buNone/>
            </a:pPr>
            <a:r>
              <a:rPr lang="en-US" sz="1200" dirty="0">
                <a:solidFill>
                  <a:srgbClr val="0071E3"/>
                </a:solidFill>
                <a:latin typeface="Courier New" pitchFamily="34" charset="0"/>
                <a:ea typeface="Courier New" pitchFamily="34" charset="-122"/>
                <a:cs typeface="Courier New" pitchFamily="34" charset="-120"/>
              </a:rPr>
              <a:t>flutter run</a:t>
            </a:r>
            <a:endParaRPr lang="en-US" sz="1200" dirty="0"/>
          </a:p>
        </p:txBody>
      </p:sp>
      <p:sp>
        <p:nvSpPr>
          <p:cNvPr id="8" name="Text 6"/>
          <p:cNvSpPr/>
          <p:nvPr/>
        </p:nvSpPr>
        <p:spPr>
          <a:xfrm>
            <a:off x="1143000" y="2834640"/>
            <a:ext cx="4617720" cy="1920240"/>
          </a:xfrm>
          <a:prstGeom prst="rect">
            <a:avLst/>
          </a:prstGeom>
          <a:noFill/>
          <a:ln/>
        </p:spPr>
        <p:txBody>
          <a:bodyPr wrap="square" lIns="0" tIns="0" rIns="0" bIns="0" rtlCol="0" anchor="t"/>
          <a:lstStyle/>
          <a:p>
            <a:pPr indent="0" marL="0">
              <a:spcAft>
                <a:spcPts val="1000"/>
              </a:spcAft>
              <a:buNone/>
            </a:pPr>
            <a:r>
              <a:rPr lang="en-US" sz="1250" dirty="0">
                <a:solidFill>
                  <a:srgbClr val="1D1D1F"/>
                </a:solidFill>
                <a:latin typeface="Arial" pitchFamily="34" charset="0"/>
                <a:ea typeface="Arial" pitchFamily="34" charset="-122"/>
                <a:cs typeface="Arial" pitchFamily="34" charset="-120"/>
              </a:rPr>
              <a:t>The Dart VM compiles your code as it runs</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Hot reload: new code is swapped into the live isolate in under a second</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Assertions on, DevTools attached, service protocol open</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Slower, and a much larger binary</a:t>
            </a:r>
            <a:endParaRPr lang="en-US" sz="1250" dirty="0"/>
          </a:p>
        </p:txBody>
      </p:sp>
      <p:sp>
        <p:nvSpPr>
          <p:cNvPr id="9" name="Shape 7"/>
          <p:cNvSpPr/>
          <p:nvPr/>
        </p:nvSpPr>
        <p:spPr>
          <a:xfrm>
            <a:off x="6263640" y="1783080"/>
            <a:ext cx="5257800" cy="2880360"/>
          </a:xfrm>
          <a:prstGeom prst="roundRect">
            <a:avLst>
              <a:gd name="adj" fmla="val 3810"/>
            </a:avLst>
          </a:prstGeom>
          <a:solidFill>
            <a:srgbClr val="F5F5F7"/>
          </a:solidFill>
          <a:ln/>
        </p:spPr>
      </p:sp>
      <p:sp>
        <p:nvSpPr>
          <p:cNvPr id="10" name="Text 8"/>
          <p:cNvSpPr/>
          <p:nvPr/>
        </p:nvSpPr>
        <p:spPr>
          <a:xfrm>
            <a:off x="6583680" y="2011680"/>
            <a:ext cx="4617720" cy="36576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Release: AOT</a:t>
            </a:r>
            <a:endParaRPr lang="en-US" sz="1600" dirty="0"/>
          </a:p>
        </p:txBody>
      </p:sp>
      <p:sp>
        <p:nvSpPr>
          <p:cNvPr id="11" name="Text 9"/>
          <p:cNvSpPr/>
          <p:nvPr/>
        </p:nvSpPr>
        <p:spPr>
          <a:xfrm>
            <a:off x="6583680" y="2423160"/>
            <a:ext cx="4617720" cy="320040"/>
          </a:xfrm>
          <a:prstGeom prst="rect">
            <a:avLst/>
          </a:prstGeom>
          <a:noFill/>
          <a:ln/>
        </p:spPr>
        <p:txBody>
          <a:bodyPr wrap="square" lIns="0" tIns="0" rIns="0" bIns="0" rtlCol="0" anchor="ctr"/>
          <a:lstStyle/>
          <a:p>
            <a:pPr indent="0" marL="0">
              <a:buNone/>
            </a:pPr>
            <a:r>
              <a:rPr lang="en-US" sz="1200" dirty="0">
                <a:solidFill>
                  <a:srgbClr val="0071E3"/>
                </a:solidFill>
                <a:latin typeface="Courier New" pitchFamily="34" charset="0"/>
                <a:ea typeface="Courier New" pitchFamily="34" charset="-122"/>
                <a:cs typeface="Courier New" pitchFamily="34" charset="-120"/>
              </a:rPr>
              <a:t>flutter build apk --release</a:t>
            </a:r>
            <a:endParaRPr lang="en-US" sz="1200" dirty="0"/>
          </a:p>
        </p:txBody>
      </p:sp>
      <p:sp>
        <p:nvSpPr>
          <p:cNvPr id="12" name="Text 10"/>
          <p:cNvSpPr/>
          <p:nvPr/>
        </p:nvSpPr>
        <p:spPr>
          <a:xfrm>
            <a:off x="6583680" y="2834640"/>
            <a:ext cx="4617720" cy="1920240"/>
          </a:xfrm>
          <a:prstGeom prst="rect">
            <a:avLst/>
          </a:prstGeom>
          <a:noFill/>
          <a:ln/>
        </p:spPr>
        <p:txBody>
          <a:bodyPr wrap="square" lIns="0" tIns="0" rIns="0" bIns="0" rtlCol="0" anchor="t"/>
          <a:lstStyle/>
          <a:p>
            <a:pPr indent="0" marL="0">
              <a:spcAft>
                <a:spcPts val="1000"/>
              </a:spcAft>
              <a:buNone/>
            </a:pPr>
            <a:r>
              <a:rPr lang="en-US" sz="1250" dirty="0">
                <a:solidFill>
                  <a:srgbClr val="1D1D1F"/>
                </a:solidFill>
                <a:latin typeface="Arial" pitchFamily="34" charset="0"/>
                <a:ea typeface="Arial" pitchFamily="34" charset="-122"/>
                <a:cs typeface="Arial" pitchFamily="34" charset="-120"/>
              </a:rPr>
              <a:t>Compiled ahead of time to native ARM64 machine code</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No VM and no interpreter ship inside your app</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Fast cold start, smaller memory footprint, tree-shaken</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No hot reload: there is nothing to reload into</a:t>
            </a:r>
            <a:endParaRPr lang="en-US" sz="1250" dirty="0"/>
          </a:p>
        </p:txBody>
      </p:sp>
      <p:sp>
        <p:nvSpPr>
          <p:cNvPr id="13" name="Shape 11"/>
          <p:cNvSpPr/>
          <p:nvPr/>
        </p:nvSpPr>
        <p:spPr>
          <a:xfrm>
            <a:off x="822960" y="4983480"/>
            <a:ext cx="10543032" cy="0"/>
          </a:xfrm>
          <a:prstGeom prst="line">
            <a:avLst/>
          </a:prstGeom>
          <a:noFill/>
          <a:ln w="9525">
            <a:solidFill>
              <a:srgbClr val="D2D2D7"/>
            </a:solidFill>
            <a:prstDash val="solid"/>
          </a:ln>
        </p:spPr>
      </p:sp>
      <p:sp>
        <p:nvSpPr>
          <p:cNvPr id="14" name="Text 12"/>
          <p:cNvSpPr/>
          <p:nvPr/>
        </p:nvSpPr>
        <p:spPr>
          <a:xfrm>
            <a:off x="822960" y="52120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Never judge performance from a debug build.</a:t>
            </a:r>
            <a:pPr indent="0" marL="0">
              <a:buNone/>
            </a:pPr>
            <a:r>
              <a:rPr lang="en-US" sz="1400" dirty="0">
                <a:solidFill>
                  <a:srgbClr val="86868B"/>
                </a:solidFill>
                <a:latin typeface="Arial" pitchFamily="34" charset="0"/>
                <a:ea typeface="Arial" pitchFamily="34" charset="-122"/>
                <a:cs typeface="Arial" pitchFamily="34" charset="-120"/>
              </a:rPr>
              <a:t> Measure in profile or release mode: flutter run --profile.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HOW CODE RUNS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Type errors and security are different things</a:t>
            </a:r>
            <a:endParaRPr lang="en-US" sz="3000" dirty="0"/>
          </a:p>
        </p:txBody>
      </p:sp>
      <p:pic>
        <p:nvPicPr>
          <p:cNvPr id="5" name="Image 0" descr="/Users/dinu/dev/upb/mobile-and-embedded-computing/slides/assets/icons2/check-ink.png">    </p:cNvPr>
          <p:cNvPicPr>
            <a:picLocks noChangeAspect="1"/>
          </p:cNvPicPr>
          <p:nvPr/>
        </p:nvPicPr>
        <p:blipFill>
          <a:blip r:embed="rId1"/>
          <a:stretch>
            <a:fillRect/>
          </a:stretch>
        </p:blipFill>
        <p:spPr>
          <a:xfrm>
            <a:off x="822960" y="1828800"/>
            <a:ext cx="384048" cy="384048"/>
          </a:xfrm>
          <a:prstGeom prst="rect">
            <a:avLst/>
          </a:prstGeom>
        </p:spPr>
      </p:pic>
      <p:sp>
        <p:nvSpPr>
          <p:cNvPr id="6" name="Text 3"/>
          <p:cNvSpPr/>
          <p:nvPr/>
        </p:nvSpPr>
        <p:spPr>
          <a:xfrm>
            <a:off x="822960" y="2359152"/>
            <a:ext cx="32918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Compile-time type errors</a:t>
            </a:r>
            <a:endParaRPr lang="en-US" sz="1450" dirty="0"/>
          </a:p>
        </p:txBody>
      </p:sp>
      <p:sp>
        <p:nvSpPr>
          <p:cNvPr id="7" name="Text 4"/>
          <p:cNvSpPr/>
          <p:nvPr/>
        </p:nvSpPr>
        <p:spPr>
          <a:xfrm>
            <a:off x="822960" y="2816352"/>
            <a:ext cx="32918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compiler rejects int x = 'hi' before it ever ships. You get refactoring confidence and a smaller crash surface, at zero runtime cost.</a:t>
            </a:r>
            <a:endParaRPr lang="en-US" sz="1150" dirty="0"/>
          </a:p>
        </p:txBody>
      </p:sp>
      <p:pic>
        <p:nvPicPr>
          <p:cNvPr id="8" name="Image 1" descr="/Users/dinu/dev/upb/mobile-and-embedded-computing/slides/assets/icons2/circlealert-ink.png">    </p:cNvPr>
          <p:cNvPicPr>
            <a:picLocks noChangeAspect="1"/>
          </p:cNvPicPr>
          <p:nvPr/>
        </p:nvPicPr>
        <p:blipFill>
          <a:blip r:embed="rId2"/>
          <a:stretch>
            <a:fillRect/>
          </a:stretch>
        </p:blipFill>
        <p:spPr>
          <a:xfrm>
            <a:off x="4443984" y="1828800"/>
            <a:ext cx="384048" cy="384048"/>
          </a:xfrm>
          <a:prstGeom prst="rect">
            <a:avLst/>
          </a:prstGeom>
        </p:spPr>
      </p:pic>
      <p:sp>
        <p:nvSpPr>
          <p:cNvPr id="9" name="Text 5"/>
          <p:cNvSpPr/>
          <p:nvPr/>
        </p:nvSpPr>
        <p:spPr>
          <a:xfrm>
            <a:off x="4443984" y="2359152"/>
            <a:ext cx="32918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Runtime failures</a:t>
            </a:r>
            <a:endParaRPr lang="en-US" sz="1450" dirty="0"/>
          </a:p>
        </p:txBody>
      </p:sp>
      <p:sp>
        <p:nvSpPr>
          <p:cNvPr id="10" name="Text 6"/>
          <p:cNvSpPr/>
          <p:nvPr/>
        </p:nvSpPr>
        <p:spPr>
          <a:xfrm>
            <a:off x="4443984" y="2816352"/>
            <a:ext cx="32918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Nulls, index-out-of-range, a request that fails, malformed input. The type system narrows these, and null safety removes a whole family of them, but they cannot be eliminated.</a:t>
            </a:r>
            <a:endParaRPr lang="en-US" sz="1150" dirty="0"/>
          </a:p>
        </p:txBody>
      </p:sp>
      <p:pic>
        <p:nvPicPr>
          <p:cNvPr id="11" name="Image 2" descr="/Users/dinu/dev/upb/mobile-and-embedded-computing/slides/assets/icons2/lock-ink.png">    </p:cNvPr>
          <p:cNvPicPr>
            <a:picLocks noChangeAspect="1"/>
          </p:cNvPicPr>
          <p:nvPr/>
        </p:nvPicPr>
        <p:blipFill>
          <a:blip r:embed="rId3"/>
          <a:stretch>
            <a:fillRect/>
          </a:stretch>
        </p:blipFill>
        <p:spPr>
          <a:xfrm>
            <a:off x="8065008" y="1828800"/>
            <a:ext cx="384048" cy="384048"/>
          </a:xfrm>
          <a:prstGeom prst="rect">
            <a:avLst/>
          </a:prstGeom>
        </p:spPr>
      </p:pic>
      <p:sp>
        <p:nvSpPr>
          <p:cNvPr id="12" name="Text 7"/>
          <p:cNvSpPr/>
          <p:nvPr/>
        </p:nvSpPr>
        <p:spPr>
          <a:xfrm>
            <a:off x="8065008" y="2359152"/>
            <a:ext cx="3291840"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Security vulnerabilities</a:t>
            </a:r>
            <a:endParaRPr lang="en-US" sz="1450" dirty="0"/>
          </a:p>
        </p:txBody>
      </p:sp>
      <p:sp>
        <p:nvSpPr>
          <p:cNvPr id="13" name="Text 8"/>
          <p:cNvSpPr/>
          <p:nvPr/>
        </p:nvSpPr>
        <p:spPr>
          <a:xfrm>
            <a:off x="8065008" y="2816352"/>
            <a:ext cx="3291840"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Hard-coded API keys, a missing authorization check, injection, insecure local storage, over-broad permissions. A fully type-checked app can be completely insecure.</a:t>
            </a:r>
            <a:endParaRPr lang="en-US" sz="1150" dirty="0"/>
          </a:p>
        </p:txBody>
      </p:sp>
      <p:sp>
        <p:nvSpPr>
          <p:cNvPr id="14" name="Shape 9"/>
          <p:cNvSpPr/>
          <p:nvPr/>
        </p:nvSpPr>
        <p:spPr>
          <a:xfrm>
            <a:off x="822960" y="4114800"/>
            <a:ext cx="10543032" cy="0"/>
          </a:xfrm>
          <a:prstGeom prst="line">
            <a:avLst/>
          </a:prstGeom>
          <a:noFill/>
          <a:ln w="9525">
            <a:solidFill>
              <a:srgbClr val="D2D2D7"/>
            </a:solidFill>
            <a:prstDash val="solid"/>
          </a:ln>
        </p:spPr>
      </p:sp>
      <p:sp>
        <p:nvSpPr>
          <p:cNvPr id="15" name="Text 10"/>
          <p:cNvSpPr/>
          <p:nvPr/>
        </p:nvSpPr>
        <p:spPr>
          <a:xfrm>
            <a:off x="822960" y="4343400"/>
            <a:ext cx="10543032" cy="82296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 one real overlap is memory safety.</a:t>
            </a:r>
            <a:pPr indent="0" marL="0">
              <a:buNone/>
            </a:pPr>
            <a:r>
              <a:rPr lang="en-US" sz="1400" dirty="0">
                <a:solidFill>
                  <a:srgbClr val="86868B"/>
                </a:solidFill>
                <a:latin typeface="Arial" pitchFamily="34" charset="0"/>
                <a:ea typeface="Arial" pitchFamily="34" charset="-122"/>
                <a:cs typeface="Arial" pitchFamily="34" charset="-120"/>
              </a:rPr>
              <a:t>  Dart, Kotlin, Go and Rust have no manual pointer arithmetic, so buffer overflows and use-after-free, the classic exploitable bugs of C and C++, cannot happen. That is memory safety, not type checking.</a:t>
            </a:r>
            <a:endParaRPr lang="en-US" sz="1400" dirty="0"/>
          </a:p>
        </p:txBody>
      </p:sp>
      <p:sp>
        <p:nvSpPr>
          <p:cNvPr id="16" name="Text 11"/>
          <p:cNvSpPr/>
          <p:nvPr/>
        </p:nvSpPr>
        <p:spPr>
          <a:xfrm>
            <a:off x="822960" y="5212080"/>
            <a:ext cx="10543032" cy="365760"/>
          </a:xfrm>
          <a:prstGeom prst="rect">
            <a:avLst/>
          </a:prstGeom>
          <a:noFill/>
          <a:ln/>
        </p:spPr>
        <p:txBody>
          <a:bodyPr wrap="square" lIns="0" tIns="0" rIns="0" bIns="0" rtlCol="0" anchor="ctr"/>
          <a:lstStyle/>
          <a:p>
            <a:pPr indent="0" marL="0">
              <a:buNone/>
            </a:pPr>
            <a:r>
              <a:rPr lang="en-US" sz="1200" dirty="0">
                <a:solidFill>
                  <a:srgbClr val="86868B"/>
                </a:solidFill>
                <a:latin typeface="Arial" pitchFamily="34" charset="0"/>
                <a:ea typeface="Arial" pitchFamily="34" charset="-122"/>
                <a:cs typeface="Arial" pitchFamily="34" charset="-120"/>
              </a:rPr>
              <a:t>Security is a design and review discipline. We come back to it in Lecture 7, authentication and App Check.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NULL SAFETY</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The billion-dollar mistake, and its fix</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Why Dart and Kotlin make null part of the type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NULL SAFETY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billion-dollar mistake</a:t>
            </a:r>
            <a:endParaRPr lang="en-US" sz="3000" dirty="0"/>
          </a:p>
        </p:txBody>
      </p:sp>
      <p:sp>
        <p:nvSpPr>
          <p:cNvPr id="5" name="Shape 3"/>
          <p:cNvSpPr/>
          <p:nvPr/>
        </p:nvSpPr>
        <p:spPr>
          <a:xfrm>
            <a:off x="822960" y="1783080"/>
            <a:ext cx="7040880" cy="2743200"/>
          </a:xfrm>
          <a:prstGeom prst="roundRect">
            <a:avLst>
              <a:gd name="adj" fmla="val 4000"/>
            </a:avLst>
          </a:prstGeom>
          <a:solidFill>
            <a:srgbClr val="F5F5F7"/>
          </a:solidFill>
          <a:ln/>
        </p:spPr>
      </p:sp>
      <p:sp>
        <p:nvSpPr>
          <p:cNvPr id="6" name="Text 4"/>
          <p:cNvSpPr/>
          <p:nvPr/>
        </p:nvSpPr>
        <p:spPr>
          <a:xfrm>
            <a:off x="1234440" y="2103120"/>
            <a:ext cx="6309360" cy="2148840"/>
          </a:xfrm>
          <a:prstGeom prst="rect">
            <a:avLst/>
          </a:prstGeom>
          <a:noFill/>
          <a:ln/>
        </p:spPr>
        <p:txBody>
          <a:bodyPr wrap="square" lIns="0" tIns="0" rIns="0" bIns="0" rtlCol="0" anchor="t"/>
          <a:lstStyle/>
          <a:p>
            <a:pPr indent="0" marL="0">
              <a:lnSpc>
                <a:spcPts val="2400"/>
              </a:lnSpc>
              <a:buNone/>
            </a:pPr>
            <a:r>
              <a:rPr lang="en-US" sz="1300" dirty="0">
                <a:solidFill>
                  <a:srgbClr val="86868B"/>
                </a:solidFill>
                <a:latin typeface="Courier New" pitchFamily="34" charset="0"/>
                <a:ea typeface="Courier New" pitchFamily="34" charset="-122"/>
                <a:cs typeface="Courier New" pitchFamily="34" charset="-120"/>
              </a:rPr>
              <a:t>// Java. This compiles cleanly, with no warning.</a:t>
            </a:r>
            <a:endParaRPr lang="en-US" sz="1300" dirty="0"/>
          </a:p>
          <a:p>
            <a:pPr indent="0" marL="0">
              <a:lnSpc>
                <a:spcPts val="2400"/>
              </a:lnSpc>
              <a:buNone/>
            </a:pPr>
            <a:r>
              <a:rPr lang="en-US" sz="1300" dirty="0">
                <a:solidFill>
                  <a:srgbClr val="1D1D1F"/>
                </a:solidFill>
                <a:latin typeface="Courier New" pitchFamily="34" charset="0"/>
                <a:ea typeface="Courier New" pitchFamily="34" charset="-122"/>
                <a:cs typeface="Courier New" pitchFamily="34" charset="-120"/>
              </a:rPr>
              <a:t>String name = findUser(42);</a:t>
            </a:r>
            <a:endParaRPr lang="en-US" sz="1300" dirty="0"/>
          </a:p>
          <a:p>
            <a:pPr indent="0" marL="0">
              <a:lnSpc>
                <a:spcPts val="2400"/>
              </a:lnSpc>
              <a:buNone/>
            </a:pPr>
            <a:r>
              <a:rPr lang="en-US" sz="1300" dirty="0">
                <a:solidFill>
                  <a:srgbClr val="1D1D1F"/>
                </a:solidFill>
                <a:latin typeface="Courier New" pitchFamily="34" charset="0"/>
                <a:ea typeface="Courier New" pitchFamily="34" charset="-122"/>
                <a:cs typeface="Courier New" pitchFamily="34" charset="-120"/>
              </a:rPr>
              <a:t>System.out.println(name.length());</a:t>
            </a:r>
            <a:endParaRPr lang="en-US" sz="1300" dirty="0"/>
          </a:p>
          <a:p>
            <a:pPr indent="0" marL="0">
              <a:lnSpc>
                <a:spcPts val="2400"/>
              </a:lnSpc>
              <a:buNone/>
            </a:pPr>
            <a:r>
              <a:rPr lang="en-US" sz="1300" dirty="0">
                <a:solidFill>
                  <a:srgbClr val="1D1D1F"/>
                </a:solidFill>
                <a:latin typeface="Courier New" pitchFamily="34" charset="0"/>
                <a:ea typeface="Courier New" pitchFamily="34" charset="-122"/>
                <a:cs typeface="Courier New" pitchFamily="34" charset="-120"/>
              </a:rPr>
              <a:t> </a:t>
            </a:r>
            <a:endParaRPr lang="en-US" sz="1300" dirty="0"/>
          </a:p>
          <a:p>
            <a:pPr indent="0" marL="0">
              <a:lnSpc>
                <a:spcPts val="2400"/>
              </a:lnSpc>
              <a:buNone/>
            </a:pPr>
            <a:r>
              <a:rPr lang="en-US" sz="1300" dirty="0">
                <a:solidFill>
                  <a:srgbClr val="86868B"/>
                </a:solidFill>
                <a:latin typeface="Courier New" pitchFamily="34" charset="0"/>
                <a:ea typeface="Courier New" pitchFamily="34" charset="-122"/>
                <a:cs typeface="Courier New" pitchFamily="34" charset="-120"/>
              </a:rPr>
              <a:t>// findUser is allowed to return null.</a:t>
            </a:r>
            <a:endParaRPr lang="en-US" sz="1300" dirty="0"/>
          </a:p>
          <a:p>
            <a:pPr indent="0" marL="0">
              <a:lnSpc>
                <a:spcPts val="2400"/>
              </a:lnSpc>
              <a:buNone/>
            </a:pPr>
            <a:r>
              <a:rPr lang="en-US" sz="1300" dirty="0">
                <a:solidFill>
                  <a:srgbClr val="86868B"/>
                </a:solidFill>
                <a:latin typeface="Courier New" pitchFamily="34" charset="0"/>
                <a:ea typeface="Courier New" pitchFamily="34" charset="-122"/>
                <a:cs typeface="Courier New" pitchFamily="34" charset="-120"/>
              </a:rPr>
              <a:t>// NullPointerException at run time,</a:t>
            </a:r>
            <a:endParaRPr lang="en-US" sz="1300" dirty="0"/>
          </a:p>
          <a:p>
            <a:pPr indent="0" marL="0">
              <a:lnSpc>
                <a:spcPts val="2400"/>
              </a:lnSpc>
              <a:buNone/>
            </a:pPr>
            <a:r>
              <a:rPr lang="en-US" sz="1300" dirty="0">
                <a:solidFill>
                  <a:srgbClr val="86868B"/>
                </a:solidFill>
                <a:latin typeface="Courier New" pitchFamily="34" charset="0"/>
                <a:ea typeface="Courier New" pitchFamily="34" charset="-122"/>
                <a:cs typeface="Courier New" pitchFamily="34" charset="-120"/>
              </a:rPr>
              <a:t>// on a user's device, in production.</a:t>
            </a:r>
            <a:endParaRPr lang="en-US" sz="130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Where null came from</a:t>
            </a:r>
            <a:endParaRPr lang="en-US" sz="1450" dirty="0"/>
          </a:p>
        </p:txBody>
      </p:sp>
      <p:sp>
        <p:nvSpPr>
          <p:cNvPr id="8" name="Text 6"/>
          <p:cNvSpPr/>
          <p:nvPr/>
        </p:nvSpPr>
        <p:spPr>
          <a:xfrm>
            <a:off x="8138160" y="2221992"/>
            <a:ext cx="3200400" cy="4023360"/>
          </a:xfrm>
          <a:prstGeom prst="rect">
            <a:avLst/>
          </a:prstGeom>
          <a:noFill/>
          <a:ln/>
        </p:spPr>
        <p:txBody>
          <a:bodyPr wrap="square" lIns="0" tIns="0" rIns="0" bIns="0" rtlCol="0" anchor="t"/>
          <a:lstStyle/>
          <a:p>
            <a:pPr indent="0" marL="0">
              <a:spcAft>
                <a:spcPts val="700"/>
              </a:spcAft>
              <a:buNone/>
            </a:pPr>
            <a:r>
              <a:rPr lang="en-US" sz="1200" dirty="0">
                <a:solidFill>
                  <a:srgbClr val="86868B"/>
                </a:solidFill>
                <a:latin typeface="Arial" pitchFamily="34" charset="0"/>
                <a:ea typeface="Arial" pitchFamily="34" charset="-122"/>
                <a:cs typeface="Arial" pitchFamily="34" charset="-120"/>
              </a:rPr>
              <a:t>Tony Hoare put the null reference into ALGOL W in 1965 because it was easy to implement. In 2009 he called it his “billion-dollar mistake”.</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Non-nullable by default, since:</a:t>
            </a:r>
            <a:endParaRPr lang="en-US" sz="1200" dirty="0"/>
          </a:p>
          <a:p>
            <a:pPr indent="0" marL="0">
              <a:spcAft>
                <a:spcPts val="700"/>
              </a:spcAft>
              <a:buNone/>
            </a:pPr>
            <a:r>
              <a:rPr lang="en-US" sz="1200" dirty="0">
                <a:solidFill>
                  <a:srgbClr val="86868B"/>
                </a:solidFill>
                <a:latin typeface="Arial" pitchFamily="34" charset="0"/>
                <a:ea typeface="Arial" pitchFamily="34" charset="-122"/>
                <a:cs typeface="Arial" pitchFamily="34" charset="-120"/>
              </a:rPr>
              <a:t>Swift: 2014, optionals</a:t>
            </a:r>
            <a:endParaRPr lang="en-US" sz="1200" dirty="0"/>
          </a:p>
          <a:p>
            <a:pPr indent="0" marL="0">
              <a:spcAft>
                <a:spcPts val="700"/>
              </a:spcAft>
              <a:buNone/>
            </a:pPr>
            <a:r>
              <a:rPr lang="en-US" sz="1200" dirty="0">
                <a:solidFill>
                  <a:srgbClr val="86868B"/>
                </a:solidFill>
                <a:latin typeface="Arial" pitchFamily="34" charset="0"/>
                <a:ea typeface="Arial" pitchFamily="34" charset="-122"/>
                <a:cs typeface="Arial" pitchFamily="34" charset="-120"/>
              </a:rPr>
              <a:t>Kotlin: 2016, from 1.0</a:t>
            </a:r>
            <a:endParaRPr lang="en-US" sz="1200" dirty="0"/>
          </a:p>
          <a:p>
            <a:pPr indent="0" marL="0">
              <a:spcAft>
                <a:spcPts val="700"/>
              </a:spcAft>
              <a:buNone/>
            </a:pPr>
            <a:r>
              <a:rPr lang="en-US" sz="1200" dirty="0">
                <a:solidFill>
                  <a:srgbClr val="86868B"/>
                </a:solidFill>
                <a:latin typeface="Arial" pitchFamily="34" charset="0"/>
                <a:ea typeface="Arial" pitchFamily="34" charset="-122"/>
                <a:cs typeface="Arial" pitchFamily="34" charset="-120"/>
              </a:rPr>
              <a:t>Dart: 2021, from 2.12</a:t>
            </a:r>
            <a:endParaRPr lang="en-US" sz="1200" dirty="0"/>
          </a:p>
          <a:p>
            <a:pPr indent="0" marL="0">
              <a:spcAft>
                <a:spcPts val="700"/>
              </a:spcAft>
              <a:buNone/>
            </a:pPr>
            <a:r>
              <a:rPr lang="en-US" sz="1200" dirty="0">
                <a:solidFill>
                  <a:srgbClr val="86868B"/>
                </a:solidFill>
                <a:latin typeface="Arial" pitchFamily="34" charset="0"/>
                <a:ea typeface="Arial" pitchFamily="34" charset="-122"/>
                <a:cs typeface="Arial" pitchFamily="34" charset="-120"/>
              </a:rPr>
              <a:t>TypeScript: strictNullChecks</a:t>
            </a:r>
            <a:endParaRPr lang="en-US" sz="1200" dirty="0"/>
          </a:p>
          <a:p>
            <a:pPr indent="0" marL="0">
              <a:spcAft>
                <a:spcPts val="700"/>
              </a:spcAft>
              <a:buNone/>
            </a:pPr>
            <a:r>
              <a:rPr lang="en-US" sz="1200" dirty="0">
                <a:solidFill>
                  <a:srgbClr val="86868B"/>
                </a:solidFill>
                <a:latin typeface="Arial" pitchFamily="34" charset="0"/>
                <a:ea typeface="Arial" pitchFamily="34" charset="-122"/>
                <a:cs typeface="Arial" pitchFamily="34" charset="-120"/>
              </a:rPr>
              <a:t>C#: nullable reference types</a:t>
            </a:r>
            <a:endParaRPr lang="en-US" sz="1200" dirty="0"/>
          </a:p>
        </p:txBody>
      </p:sp>
      <p:sp>
        <p:nvSpPr>
          <p:cNvPr id="9" name="Shape 7"/>
          <p:cNvSpPr/>
          <p:nvPr/>
        </p:nvSpPr>
        <p:spPr>
          <a:xfrm>
            <a:off x="822960" y="4846320"/>
            <a:ext cx="7040880" cy="0"/>
          </a:xfrm>
          <a:prstGeom prst="line">
            <a:avLst/>
          </a:prstGeom>
          <a:noFill/>
          <a:ln w="9525">
            <a:solidFill>
              <a:srgbClr val="D2D2D7"/>
            </a:solidFill>
            <a:prstDash val="solid"/>
          </a:ln>
        </p:spPr>
      </p:sp>
      <p:sp>
        <p:nvSpPr>
          <p:cNvPr id="10" name="Text 8"/>
          <p:cNvSpPr/>
          <p:nvPr/>
        </p:nvSpPr>
        <p:spPr>
          <a:xfrm>
            <a:off x="822960" y="5074920"/>
            <a:ext cx="704088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Null is not a value problem, it is a type problem.</a:t>
            </a:r>
            <a:pPr indent="0" marL="0">
              <a:buNone/>
            </a:pPr>
            <a:r>
              <a:rPr lang="en-US" sz="1400" dirty="0">
                <a:solidFill>
                  <a:srgbClr val="86868B"/>
                </a:solidFill>
                <a:latin typeface="Arial" pitchFamily="34" charset="0"/>
                <a:ea typeface="Arial" pitchFamily="34" charset="-122"/>
                <a:cs typeface="Arial" pitchFamily="34" charset="-120"/>
              </a:rPr>
              <a:t> If the type cannot say “maybe absent”, the compiler cannot help you.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NULL SAFETY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Dart null safety: the operators</a:t>
            </a:r>
            <a:endParaRPr lang="en-US" sz="3000" dirty="0"/>
          </a:p>
        </p:txBody>
      </p:sp>
      <p:sp>
        <p:nvSpPr>
          <p:cNvPr id="5" name="Shape 3"/>
          <p:cNvSpPr/>
          <p:nvPr/>
        </p:nvSpPr>
        <p:spPr>
          <a:xfrm>
            <a:off x="822960" y="1783080"/>
            <a:ext cx="7040880" cy="4343400"/>
          </a:xfrm>
          <a:prstGeom prst="roundRect">
            <a:avLst>
              <a:gd name="adj" fmla="val 2526"/>
            </a:avLst>
          </a:prstGeom>
          <a:solidFill>
            <a:srgbClr val="F5F5F7"/>
          </a:solidFill>
          <a:ln/>
        </p:spPr>
      </p:sp>
      <p:sp>
        <p:nvSpPr>
          <p:cNvPr id="6" name="Text 4"/>
          <p:cNvSpPr/>
          <p:nvPr/>
        </p:nvSpPr>
        <p:spPr>
          <a:xfrm>
            <a:off x="1234440" y="2103120"/>
            <a:ext cx="6309360" cy="3749040"/>
          </a:xfrm>
          <a:prstGeom prst="rect">
            <a:avLst/>
          </a:prstGeom>
          <a:noFill/>
          <a:ln/>
        </p:spPr>
        <p:txBody>
          <a:bodyPr wrap="square" lIns="0" tIns="0" rIns="0" bIns="0" rtlCol="0" anchor="t"/>
          <a:lstStyle/>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Non-nullable by default: String name = null; is an error.</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String name = 'Ada';</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Add ? and the type is allowed to hold null.</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String? nickname;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 calls only if non-null; ?? supplies a fallback.</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shown = nickname?.trim() ?? name;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 assigns only when the target is null.</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nickname ??= 'anon';</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 asserts non-null; it throws if you were wrong.</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n = nickname!.length;</a:t>
            </a:r>
            <a:endParaRPr lang="en-US" sz="115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Four symbols, and that is most of it</a:t>
            </a:r>
            <a:endParaRPr lang="en-US" sz="1450" dirty="0"/>
          </a:p>
        </p:txBody>
      </p:sp>
      <p:sp>
        <p:nvSpPr>
          <p:cNvPr id="8" name="Text 6"/>
          <p:cNvSpPr/>
          <p:nvPr/>
        </p:nvSpPr>
        <p:spPr>
          <a:xfrm>
            <a:off x="8138160" y="2221992"/>
            <a:ext cx="3200400" cy="4206240"/>
          </a:xfrm>
          <a:prstGeom prst="rect">
            <a:avLst/>
          </a:prstGeom>
          <a:noFill/>
          <a:ln/>
        </p:spPr>
        <p:txBody>
          <a:bodyPr wrap="square" lIns="0" tIns="0" rIns="0" bIns="0" rtlCol="0" anchor="t"/>
          <a:lstStyle/>
          <a:p>
            <a:pPr indent="0" marL="0">
              <a:spcAft>
                <a:spcPts val="900"/>
              </a:spcAft>
              <a:buNone/>
            </a:pPr>
            <a:r>
              <a:rPr lang="en-US" sz="1150" dirty="0">
                <a:solidFill>
                  <a:srgbClr val="1D1D1F"/>
                </a:solidFill>
                <a:latin typeface="Courier New" pitchFamily="34" charset="0"/>
                <a:ea typeface="Courier New" pitchFamily="34" charset="-122"/>
                <a:cs typeface="Courier New" pitchFamily="34" charset="-120"/>
              </a:rPr>
              <a:t>?      the type may be null</a:t>
            </a:r>
            <a:endParaRPr lang="en-US" sz="1200" dirty="0"/>
          </a:p>
          <a:p>
            <a:pPr indent="0" marL="0">
              <a:spcAft>
                <a:spcPts val="900"/>
              </a:spcAft>
              <a:buNone/>
            </a:pPr>
            <a:r>
              <a:rPr lang="en-US" sz="1150" dirty="0">
                <a:solidFill>
                  <a:srgbClr val="1D1D1F"/>
                </a:solidFill>
                <a:latin typeface="Courier New" pitchFamily="34" charset="0"/>
                <a:ea typeface="Courier New" pitchFamily="34" charset="-122"/>
                <a:cs typeface="Courier New" pitchFamily="34" charset="-120"/>
              </a:rPr>
              <a:t>?.     guarded access</a:t>
            </a:r>
            <a:endParaRPr lang="en-US" sz="1200" dirty="0"/>
          </a:p>
          <a:p>
            <a:pPr indent="0" marL="0">
              <a:spcAft>
                <a:spcPts val="900"/>
              </a:spcAft>
              <a:buNone/>
            </a:pPr>
            <a:r>
              <a:rPr lang="en-US" sz="1150" dirty="0">
                <a:solidFill>
                  <a:srgbClr val="1D1D1F"/>
                </a:solidFill>
                <a:latin typeface="Courier New" pitchFamily="34" charset="0"/>
                <a:ea typeface="Courier New" pitchFamily="34" charset="-122"/>
                <a:cs typeface="Courier New" pitchFamily="34" charset="-120"/>
              </a:rPr>
              <a:t>??     fallback value</a:t>
            </a:r>
            <a:endParaRPr lang="en-US" sz="1200" dirty="0"/>
          </a:p>
          <a:p>
            <a:pPr indent="0" marL="0">
              <a:spcAft>
                <a:spcPts val="900"/>
              </a:spcAft>
              <a:buNone/>
            </a:pPr>
            <a:r>
              <a:rPr lang="en-US" sz="1150" dirty="0">
                <a:solidFill>
                  <a:srgbClr val="1D1D1F"/>
                </a:solidFill>
                <a:latin typeface="Courier New" pitchFamily="34" charset="0"/>
                <a:ea typeface="Courier New" pitchFamily="34" charset="-122"/>
                <a:cs typeface="Courier New" pitchFamily="34" charset="-120"/>
              </a:rPr>
              <a:t>??=    fallback assignment</a:t>
            </a:r>
            <a:endParaRPr lang="en-US" sz="1200" dirty="0"/>
          </a:p>
          <a:p>
            <a:pPr indent="0" marL="0">
              <a:spcAft>
                <a:spcPts val="900"/>
              </a:spcAft>
              <a:buNone/>
            </a:pPr>
            <a:r>
              <a:rPr lang="en-US" sz="1150" dirty="0">
                <a:solidFill>
                  <a:srgbClr val="1D1D1F"/>
                </a:solidFill>
                <a:latin typeface="Courier New" pitchFamily="34" charset="0"/>
                <a:ea typeface="Courier New" pitchFamily="34" charset="-122"/>
                <a:cs typeface="Courier New" pitchFamily="34" charset="-120"/>
              </a:rPr>
              <a:t>!      assertion, not a fix</a:t>
            </a:r>
            <a:endParaRPr lang="en-US" sz="1200" dirty="0"/>
          </a:p>
          <a:p>
            <a:pPr indent="0" marL="0">
              <a:spcAft>
                <a:spcPts val="900"/>
              </a:spcAft>
              <a:buNone/>
            </a:pPr>
            <a:r>
              <a:rPr lang="en-US" sz="1200" dirty="0">
                <a:solidFill>
                  <a:srgbClr val="86868B"/>
                </a:solidFill>
                <a:latin typeface="Arial" pitchFamily="34" charset="0"/>
                <a:ea typeface="Arial" pitchFamily="34" charset="-122"/>
                <a:cs typeface="Arial" pitchFamily="34" charset="-120"/>
              </a:rPr>
              <a:t>Every ! is a claim the compiler cannot check for you. If a file is full of them, the types are wrong; fix the types instead.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NULL SAFETY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“sound” means, and the escape hatches</a:t>
            </a:r>
            <a:endParaRPr lang="en-US" sz="3000" dirty="0"/>
          </a:p>
        </p:txBody>
      </p:sp>
      <p:sp>
        <p:nvSpPr>
          <p:cNvPr id="5" name="Shape 3"/>
          <p:cNvSpPr/>
          <p:nvPr/>
        </p:nvSpPr>
        <p:spPr>
          <a:xfrm>
            <a:off x="822960" y="1783080"/>
            <a:ext cx="7040880" cy="3977640"/>
          </a:xfrm>
          <a:prstGeom prst="roundRect">
            <a:avLst>
              <a:gd name="adj" fmla="val 2759"/>
            </a:avLst>
          </a:prstGeom>
          <a:solidFill>
            <a:srgbClr val="F5F5F7"/>
          </a:solidFill>
          <a:ln/>
        </p:spPr>
      </p:sp>
      <p:sp>
        <p:nvSpPr>
          <p:cNvPr id="6" name="Text 4"/>
          <p:cNvSpPr/>
          <p:nvPr/>
        </p:nvSpPr>
        <p:spPr>
          <a:xfrm>
            <a:off x="1234440" y="2103120"/>
            <a:ext cx="6309360" cy="3383280"/>
          </a:xfrm>
          <a:prstGeom prst="rect">
            <a:avLst/>
          </a:prstGeom>
          <a:noFill/>
          <a:ln/>
        </p:spPr>
        <p:txBody>
          <a:bodyPr wrap="square" lIns="0" tIns="0" rIns="0" bIns="0" rtlCol="0" anchor="t"/>
          <a:lstStyle/>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Flow analysis promotes a nullable to non-nullable.</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String greet(String? name)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if (name == null) return 'Hello, stranger';</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return 'Hello, ${name.toUpperCase()}';  // no ! needed</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late: I promise to assign this before anything reads it.</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class Repo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late final Database db;</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Repo() { db = openDatabase();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A broken promise throws LateInitializationError.</a:t>
            </a:r>
            <a:endParaRPr lang="en-US" sz="120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Sound = the guarantee holds</a:t>
            </a:r>
            <a:endParaRPr lang="en-US" sz="1450" dirty="0"/>
          </a:p>
        </p:txBody>
      </p:sp>
      <p:sp>
        <p:nvSpPr>
          <p:cNvPr id="8" name="Text 6"/>
          <p:cNvSpPr/>
          <p:nvPr/>
        </p:nvSpPr>
        <p:spPr>
          <a:xfrm>
            <a:off x="8138160" y="2221992"/>
            <a:ext cx="3200400" cy="3840480"/>
          </a:xfrm>
          <a:prstGeom prst="rect">
            <a:avLst/>
          </a:prstGeom>
          <a:noFill/>
          <a:ln/>
        </p:spPr>
        <p:txBody>
          <a:bodyPr wrap="square" lIns="0" tIns="0" rIns="0" bIns="0" rtlCol="0" anchor="t"/>
          <a:lstStyle/>
          <a:p>
            <a:pPr indent="0" marL="0">
              <a:spcAft>
                <a:spcPts val="1200"/>
              </a:spcAft>
              <a:buNone/>
            </a:pPr>
            <a:r>
              <a:rPr lang="en-US" sz="1200" dirty="0">
                <a:solidFill>
                  <a:srgbClr val="86868B"/>
                </a:solidFill>
                <a:latin typeface="Arial" pitchFamily="34" charset="0"/>
                <a:ea typeface="Arial" pitchFamily="34" charset="-122"/>
                <a:cs typeface="Arial" pitchFamily="34" charset="-120"/>
              </a:rPr>
              <a:t>A non-nullable Dart variable can never hold null at run time. This is a guarantee, not a strong tendency.</a:t>
            </a:r>
            <a:endParaRPr lang="en-US" sz="1200" dirty="0"/>
          </a:p>
          <a:p>
            <a:pPr indent="0" marL="0">
              <a:spcAft>
                <a:spcPts val="1200"/>
              </a:spcAft>
              <a:buNone/>
            </a:pPr>
            <a:r>
              <a:rPr lang="en-US" sz="1200" dirty="0">
                <a:solidFill>
                  <a:srgbClr val="86868B"/>
                </a:solidFill>
                <a:latin typeface="Arial" pitchFamily="34" charset="0"/>
                <a:ea typeface="Arial" pitchFamily="34" charset="-122"/>
                <a:cs typeface="Arial" pitchFamily="34" charset="-120"/>
              </a:rPr>
              <a:t>So the compiler stops emitting null checks for it. Sound null safety makes release builds smaller and faster, not only safer.</a:t>
            </a:r>
            <a:endParaRPr lang="en-US" sz="1200" dirty="0"/>
          </a:p>
          <a:p>
            <a:pPr indent="0" marL="0">
              <a:spcAft>
                <a:spcPts val="1200"/>
              </a:spcAft>
              <a:buNone/>
            </a:pPr>
            <a:r>
              <a:rPr lang="en-US" sz="1200" dirty="0">
                <a:solidFill>
                  <a:srgbClr val="1D1D1F"/>
                </a:solidFill>
                <a:latin typeface="Arial" pitchFamily="34" charset="0"/>
                <a:ea typeface="Arial" pitchFamily="34" charset="-122"/>
                <a:cs typeface="Arial" pitchFamily="34" charset="-120"/>
              </a:rPr>
              <a:t>Use late for dependency injection and expensive lazy fields, not to silence the analyzer.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NULL SAFETY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Null safety in Dart and Kotlin, side by side</a:t>
            </a:r>
            <a:endParaRPr lang="en-US" sz="3000" dirty="0"/>
          </a:p>
        </p:txBody>
      </p:sp>
      <p:sp>
        <p:nvSpPr>
          <p:cNvPr id="5" name="Text 3"/>
          <p:cNvSpPr/>
          <p:nvPr/>
        </p:nvSpPr>
        <p:spPr>
          <a:xfrm>
            <a:off x="822960" y="1737360"/>
            <a:ext cx="5120640" cy="32004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Dart</a:t>
            </a:r>
            <a:endParaRPr lang="en-US" sz="1500" dirty="0"/>
          </a:p>
        </p:txBody>
      </p:sp>
      <p:sp>
        <p:nvSpPr>
          <p:cNvPr id="6" name="Text 4"/>
          <p:cNvSpPr/>
          <p:nvPr/>
        </p:nvSpPr>
        <p:spPr>
          <a:xfrm>
            <a:off x="6400800" y="1737360"/>
            <a:ext cx="5120640" cy="32004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Kotlin</a:t>
            </a:r>
            <a:endParaRPr lang="en-US" sz="1500" dirty="0"/>
          </a:p>
        </p:txBody>
      </p:sp>
      <p:sp>
        <p:nvSpPr>
          <p:cNvPr id="7" name="Shape 5"/>
          <p:cNvSpPr/>
          <p:nvPr/>
        </p:nvSpPr>
        <p:spPr>
          <a:xfrm>
            <a:off x="822960" y="2148840"/>
            <a:ext cx="5120640" cy="2651760"/>
          </a:xfrm>
          <a:prstGeom prst="roundRect">
            <a:avLst>
              <a:gd name="adj" fmla="val 4138"/>
            </a:avLst>
          </a:prstGeom>
          <a:solidFill>
            <a:srgbClr val="F5F5F7"/>
          </a:solidFill>
          <a:ln/>
        </p:spPr>
      </p:sp>
      <p:sp>
        <p:nvSpPr>
          <p:cNvPr id="8" name="Text 6"/>
          <p:cNvSpPr/>
          <p:nvPr/>
        </p:nvSpPr>
        <p:spPr>
          <a:xfrm>
            <a:off x="1234440" y="2468880"/>
            <a:ext cx="4389120" cy="2057400"/>
          </a:xfrm>
          <a:prstGeom prst="rect">
            <a:avLst/>
          </a:prstGeom>
          <a:noFill/>
          <a:ln/>
        </p:spPr>
        <p:txBody>
          <a:bodyPr wrap="square" lIns="0" tIns="0" rIns="0" bIns="0" rtlCol="0" anchor="t"/>
          <a:lstStyle/>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String? findEmail(int id) { ...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void notify(int id)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final email = findEmail(id);</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if (email == null) return;</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send(email);</a:t>
            </a:r>
            <a:endParaRPr lang="en-US" sz="1100" dirty="0"/>
          </a:p>
          <a:p>
            <a:pPr indent="0" marL="0">
              <a:lnSpc>
                <a:spcPts val="2000"/>
              </a:lnSpc>
              <a:buNone/>
            </a:pPr>
            <a:r>
              <a:rPr lang="en-US" sz="1100" dirty="0">
                <a:solidFill>
                  <a:srgbClr val="86868B"/>
                </a:solidFill>
                <a:latin typeface="Courier New" pitchFamily="34" charset="0"/>
                <a:ea typeface="Courier New" pitchFamily="34" charset="-122"/>
                <a:cs typeface="Courier New" pitchFamily="34" charset="-120"/>
              </a:rPr>
              <a:t>  // promoted to String</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a:t>
            </a:r>
            <a:endParaRPr lang="en-US" sz="1100" dirty="0"/>
          </a:p>
        </p:txBody>
      </p:sp>
      <p:sp>
        <p:nvSpPr>
          <p:cNvPr id="9" name="Shape 7"/>
          <p:cNvSpPr/>
          <p:nvPr/>
        </p:nvSpPr>
        <p:spPr>
          <a:xfrm>
            <a:off x="6400800" y="2148840"/>
            <a:ext cx="5120640" cy="2651760"/>
          </a:xfrm>
          <a:prstGeom prst="roundRect">
            <a:avLst>
              <a:gd name="adj" fmla="val 4138"/>
            </a:avLst>
          </a:prstGeom>
          <a:solidFill>
            <a:srgbClr val="F5F5F7"/>
          </a:solidFill>
          <a:ln/>
        </p:spPr>
      </p:sp>
      <p:sp>
        <p:nvSpPr>
          <p:cNvPr id="10" name="Text 8"/>
          <p:cNvSpPr/>
          <p:nvPr/>
        </p:nvSpPr>
        <p:spPr>
          <a:xfrm>
            <a:off x="6812280" y="2468880"/>
            <a:ext cx="4389120" cy="2057400"/>
          </a:xfrm>
          <a:prstGeom prst="rect">
            <a:avLst/>
          </a:prstGeom>
          <a:noFill/>
          <a:ln/>
        </p:spPr>
        <p:txBody>
          <a:bodyPr wrap="square" lIns="0" tIns="0" rIns="0" bIns="0" rtlCol="0" anchor="t"/>
          <a:lstStyle/>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fun findEmail(id: Int): String? { ...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fun notify(id: Int)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val email = findEmail(id)</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if (email == null) return</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send(email)</a:t>
            </a:r>
            <a:endParaRPr lang="en-US" sz="1100" dirty="0"/>
          </a:p>
          <a:p>
            <a:pPr indent="0" marL="0">
              <a:lnSpc>
                <a:spcPts val="2000"/>
              </a:lnSpc>
              <a:buNone/>
            </a:pPr>
            <a:r>
              <a:rPr lang="en-US" sz="1100" dirty="0">
                <a:solidFill>
                  <a:srgbClr val="86868B"/>
                </a:solidFill>
                <a:latin typeface="Courier New" pitchFamily="34" charset="0"/>
                <a:ea typeface="Courier New" pitchFamily="34" charset="-122"/>
                <a:cs typeface="Courier New" pitchFamily="34" charset="-120"/>
              </a:rPr>
              <a:t>  // smart cast to String</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822960" y="5074920"/>
            <a:ext cx="10543032" cy="0"/>
          </a:xfrm>
          <a:prstGeom prst="line">
            <a:avLst/>
          </a:prstGeom>
          <a:noFill/>
          <a:ln w="9525">
            <a:solidFill>
              <a:srgbClr val="D2D2D7"/>
            </a:solidFill>
            <a:prstDash val="solid"/>
          </a:ln>
        </p:spPr>
      </p:sp>
      <p:sp>
        <p:nvSpPr>
          <p:cNvPr id="12" name="Text 10"/>
          <p:cNvSpPr/>
          <p:nvPr/>
        </p:nvSpPr>
        <p:spPr>
          <a:xfrm>
            <a:off x="1234440" y="5257800"/>
            <a:ext cx="4572000" cy="320040"/>
          </a:xfrm>
          <a:prstGeom prst="rect">
            <a:avLst/>
          </a:prstGeom>
          <a:noFill/>
          <a:ln/>
        </p:spPr>
        <p:txBody>
          <a:bodyPr wrap="square" lIns="0" tIns="0" rIns="0" bIns="0" rtlCol="0" anchor="ctr"/>
          <a:lstStyle/>
          <a:p>
            <a:pPr indent="0" marL="0">
              <a:buNone/>
            </a:pPr>
            <a:r>
              <a:rPr lang="en-US" sz="1200" dirty="0">
                <a:solidFill>
                  <a:srgbClr val="1D1D1F"/>
                </a:solidFill>
                <a:latin typeface="Courier New" pitchFamily="34" charset="0"/>
                <a:ea typeface="Courier New" pitchFamily="34" charset="-122"/>
                <a:cs typeface="Courier New" pitchFamily="34" charset="-120"/>
              </a:rPr>
              <a:t>?.      ??      ??=     !       late final</a:t>
            </a:r>
            <a:endParaRPr lang="en-US" sz="1200" dirty="0"/>
          </a:p>
        </p:txBody>
      </p:sp>
      <p:sp>
        <p:nvSpPr>
          <p:cNvPr id="13" name="Text 11"/>
          <p:cNvSpPr/>
          <p:nvPr/>
        </p:nvSpPr>
        <p:spPr>
          <a:xfrm>
            <a:off x="6812280" y="5257800"/>
            <a:ext cx="4572000" cy="320040"/>
          </a:xfrm>
          <a:prstGeom prst="rect">
            <a:avLst/>
          </a:prstGeom>
          <a:noFill/>
          <a:ln/>
        </p:spPr>
        <p:txBody>
          <a:bodyPr wrap="square" lIns="0" tIns="0" rIns="0" bIns="0" rtlCol="0" anchor="ctr"/>
          <a:lstStyle/>
          <a:p>
            <a:pPr indent="0" marL="0">
              <a:buNone/>
            </a:pPr>
            <a:r>
              <a:rPr lang="en-US" sz="1200" dirty="0">
                <a:solidFill>
                  <a:srgbClr val="1D1D1F"/>
                </a:solidFill>
                <a:latin typeface="Courier New" pitchFamily="34" charset="0"/>
                <a:ea typeface="Courier New" pitchFamily="34" charset="-122"/>
                <a:cs typeface="Courier New" pitchFamily="34" charset="-120"/>
              </a:rPr>
              <a:t>?.      ?:      (none)  !!      lateinit var</a:t>
            </a:r>
            <a:endParaRPr lang="en-US" sz="1200" dirty="0"/>
          </a:p>
        </p:txBody>
      </p:sp>
      <p:sp>
        <p:nvSpPr>
          <p:cNvPr id="14" name="Text 12"/>
          <p:cNvSpPr/>
          <p:nvPr/>
        </p:nvSpPr>
        <p:spPr>
          <a:xfrm>
            <a:off x="822960" y="5715000"/>
            <a:ext cx="10543032" cy="548640"/>
          </a:xfrm>
          <a:prstGeom prst="rect">
            <a:avLst/>
          </a:prstGeom>
          <a:noFill/>
          <a:ln/>
        </p:spPr>
        <p:txBody>
          <a:bodyPr wrap="square" lIns="0" tIns="0" rIns="0" bIns="0" rtlCol="0" anchor="t"/>
          <a:lstStyle/>
          <a:p>
            <a:pPr indent="0" marL="0">
              <a:buNone/>
            </a:pPr>
            <a:r>
              <a:rPr lang="en-US" sz="1250" b="1" dirty="0">
                <a:solidFill>
                  <a:srgbClr val="1D1D1F"/>
                </a:solidFill>
                <a:latin typeface="Arial" pitchFamily="34" charset="0"/>
                <a:ea typeface="Arial" pitchFamily="34" charset="-122"/>
                <a:cs typeface="Arial" pitchFamily="34" charset="-120"/>
              </a:rPr>
              <a:t>Learn it once. </a:t>
            </a:r>
            <a:pPr indent="0" marL="0">
              <a:buNone/>
            </a:pPr>
            <a:r>
              <a:rPr lang="en-US" sz="1250" dirty="0">
                <a:solidFill>
                  <a:srgbClr val="86868B"/>
                </a:solidFill>
                <a:latin typeface="Arial" pitchFamily="34" charset="0"/>
                <a:ea typeface="Arial" pitchFamily="34" charset="-122"/>
                <a:cs typeface="Arial" pitchFamily="34" charset="-120"/>
              </a:rPr>
              <a:t>The concept, and most of the syntax, transfers straight to Kotlin, and to Swift and Rust after that. One real difference: Kotlin's lateinit works on var only, while Dart allows late final.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DART &amp; KOTLIN</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The language you will write this semester</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Dart 3.12, with Kotlin 2.4 alongside it for comparison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DART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Variables: var, final, const</a:t>
            </a:r>
            <a:endParaRPr lang="en-US" sz="3000" dirty="0"/>
          </a:p>
        </p:txBody>
      </p:sp>
      <p:sp>
        <p:nvSpPr>
          <p:cNvPr id="5" name="Shape 3"/>
          <p:cNvSpPr/>
          <p:nvPr/>
        </p:nvSpPr>
        <p:spPr>
          <a:xfrm>
            <a:off x="822960" y="1783080"/>
            <a:ext cx="7040880" cy="4114800"/>
          </a:xfrm>
          <a:prstGeom prst="roundRect">
            <a:avLst>
              <a:gd name="adj" fmla="val 2667"/>
            </a:avLst>
          </a:prstGeom>
          <a:solidFill>
            <a:srgbClr val="F5F5F7"/>
          </a:solidFill>
          <a:ln/>
        </p:spPr>
      </p:sp>
      <p:sp>
        <p:nvSpPr>
          <p:cNvPr id="6" name="Text 4"/>
          <p:cNvSpPr/>
          <p:nvPr/>
        </p:nvSpPr>
        <p:spPr>
          <a:xfrm>
            <a:off x="1234440" y="2103120"/>
            <a:ext cx="6309360" cy="3520440"/>
          </a:xfrm>
          <a:prstGeom prst="rect">
            <a:avLst/>
          </a:prstGeom>
          <a:noFill/>
          <a:ln/>
        </p:spPr>
        <p:txBody>
          <a:bodyPr wrap="square" lIns="0" tIns="0" rIns="0" bIns="0" rtlCol="0" anchor="t"/>
          <a:lstStyle/>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var infers its type from the initializer.</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var count = 0;</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String title = 'Lecture 2';</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final: assigned once, at run time.</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final now = DateTime.now();</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const: assigned once, by the compiler, baked into</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the binary. Everything in it must be known statically.</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const frameBudgetMs = 1000 / 120;</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String interpolation, not concatenation.</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print('$title: $frameBudgetMs ms per frame');</a:t>
            </a:r>
            <a:endParaRPr lang="en-US" sz="120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Read it this way</a:t>
            </a:r>
            <a:endParaRPr lang="en-US" sz="1450" dirty="0"/>
          </a:p>
        </p:txBody>
      </p:sp>
      <p:sp>
        <p:nvSpPr>
          <p:cNvPr id="8" name="Text 6"/>
          <p:cNvSpPr/>
          <p:nvPr/>
        </p:nvSpPr>
        <p:spPr>
          <a:xfrm>
            <a:off x="8138160" y="2221992"/>
            <a:ext cx="3200400" cy="4114800"/>
          </a:xfrm>
          <a:prstGeom prst="rect">
            <a:avLst/>
          </a:prstGeom>
          <a:noFill/>
          <a:ln/>
        </p:spPr>
        <p:txBody>
          <a:bodyPr wrap="square" lIns="0" tIns="0" rIns="0" bIns="0" rtlCol="0" anchor="t"/>
          <a:lstStyle/>
          <a:p>
            <a:pPr indent="0" marL="0">
              <a:spcAft>
                <a:spcPts val="600"/>
              </a:spcAft>
              <a:buNone/>
            </a:pPr>
            <a:r>
              <a:rPr lang="en-US" sz="1150" dirty="0">
                <a:solidFill>
                  <a:srgbClr val="1D1D1F"/>
                </a:solidFill>
                <a:latin typeface="Courier New" pitchFamily="34" charset="0"/>
                <a:ea typeface="Courier New" pitchFamily="34" charset="-122"/>
                <a:cs typeface="Courier New" pitchFamily="34" charset="-120"/>
              </a:rPr>
              <a:t>var</a:t>
            </a:r>
            <a:endParaRPr lang="en-US" sz="1150" dirty="0"/>
          </a:p>
          <a:p>
            <a:pPr indent="0" marL="0">
              <a:spcAft>
                <a:spcPts val="600"/>
              </a:spcAft>
              <a:buNone/>
            </a:pPr>
            <a:r>
              <a:rPr lang="en-US" sz="1150" dirty="0">
                <a:solidFill>
                  <a:srgbClr val="86868B"/>
                </a:solidFill>
                <a:latin typeface="Arial" pitchFamily="34" charset="0"/>
                <a:ea typeface="Arial" pitchFamily="34" charset="-122"/>
                <a:cs typeface="Arial" pitchFamily="34" charset="-120"/>
              </a:rPr>
              <a:t>still statically typed: the type is inferred, not absent.</a:t>
            </a:r>
            <a:endParaRPr lang="en-US" sz="1150" dirty="0"/>
          </a:p>
          <a:p>
            <a:pPr indent="0" marL="0">
              <a:spcAft>
                <a:spcPts val="600"/>
              </a:spcAft>
              <a:buNone/>
            </a:pPr>
            <a:r>
              <a:rPr lang="en-US" sz="1150" dirty="0">
                <a:solidFill>
                  <a:srgbClr val="1D1D1F"/>
                </a:solidFill>
                <a:latin typeface="Courier New" pitchFamily="34" charset="0"/>
                <a:ea typeface="Courier New" pitchFamily="34" charset="-122"/>
                <a:cs typeface="Courier New" pitchFamily="34" charset="-120"/>
              </a:rPr>
              <a:t>final</a:t>
            </a:r>
            <a:endParaRPr lang="en-US" sz="1150" dirty="0"/>
          </a:p>
          <a:p>
            <a:pPr indent="0" marL="0">
              <a:spcAft>
                <a:spcPts val="600"/>
              </a:spcAft>
              <a:buNone/>
            </a:pPr>
            <a:r>
              <a:rPr lang="en-US" sz="1150" dirty="0">
                <a:solidFill>
                  <a:srgbClr val="86868B"/>
                </a:solidFill>
                <a:latin typeface="Arial" pitchFamily="34" charset="0"/>
                <a:ea typeface="Arial" pitchFamily="34" charset="-122"/>
                <a:cs typeface="Arial" pitchFamily="34" charset="-120"/>
              </a:rPr>
              <a:t>the binding cannot be reassigned. The object it points at may still change.</a:t>
            </a:r>
            <a:endParaRPr lang="en-US" sz="1150" dirty="0"/>
          </a:p>
          <a:p>
            <a:pPr indent="0" marL="0">
              <a:spcAft>
                <a:spcPts val="600"/>
              </a:spcAft>
              <a:buNone/>
            </a:pPr>
            <a:r>
              <a:rPr lang="en-US" sz="1150" dirty="0">
                <a:solidFill>
                  <a:srgbClr val="1D1D1F"/>
                </a:solidFill>
                <a:latin typeface="Courier New" pitchFamily="34" charset="0"/>
                <a:ea typeface="Courier New" pitchFamily="34" charset="-122"/>
                <a:cs typeface="Courier New" pitchFamily="34" charset="-120"/>
              </a:rPr>
              <a:t>const</a:t>
            </a:r>
            <a:endParaRPr lang="en-US" sz="1150" dirty="0"/>
          </a:p>
          <a:p>
            <a:pPr indent="0" marL="0">
              <a:spcAft>
                <a:spcPts val="600"/>
              </a:spcAft>
              <a:buNone/>
            </a:pPr>
            <a:r>
              <a:rPr lang="en-US" sz="1150" dirty="0">
                <a:solidFill>
                  <a:srgbClr val="86868B"/>
                </a:solidFill>
                <a:latin typeface="Arial" pitchFamily="34" charset="0"/>
                <a:ea typeface="Arial" pitchFamily="34" charset="-122"/>
                <a:cs typeface="Arial" pitchFamily="34" charset="-120"/>
              </a:rPr>
              <a:t>a compile-time constant. In Flutter, const widgets are built once and reused, which is a real performance lever.</a:t>
            </a:r>
            <a:endParaRPr lang="en-US" sz="1150" dirty="0"/>
          </a:p>
          <a:p>
            <a:pPr indent="0" marL="0">
              <a:spcAft>
                <a:spcPts val="600"/>
              </a:spcAft>
              <a:buNone/>
            </a:pPr>
            <a:r>
              <a:rPr lang="en-US" sz="1150" dirty="0">
                <a:solidFill>
                  <a:srgbClr val="1D1D1F"/>
                </a:solidFill>
                <a:latin typeface="Courier New" pitchFamily="34" charset="0"/>
                <a:ea typeface="Courier New" pitchFamily="34" charset="-122"/>
                <a:cs typeface="Courier New" pitchFamily="34" charset="-120"/>
              </a:rPr>
              <a:t>dynamic</a:t>
            </a:r>
            <a:endParaRPr lang="en-US" sz="1150" dirty="0"/>
          </a:p>
          <a:p>
            <a:pPr indent="0" marL="0">
              <a:spcAft>
                <a:spcPts val="600"/>
              </a:spcAft>
              <a:buNone/>
            </a:pPr>
            <a:r>
              <a:rPr lang="en-US" sz="1150" dirty="0">
                <a:solidFill>
                  <a:srgbClr val="86868B"/>
                </a:solidFill>
                <a:latin typeface="Arial" pitchFamily="34" charset="0"/>
                <a:ea typeface="Arial" pitchFamily="34" charset="-122"/>
                <a:cs typeface="Arial" pitchFamily="34" charset="-120"/>
              </a:rPr>
              <a:t>opts out of static checking entirely. You will almost never want it.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DART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Functions and parameters</a:t>
            </a:r>
            <a:endParaRPr lang="en-US" sz="3000" dirty="0"/>
          </a:p>
        </p:txBody>
      </p:sp>
      <p:sp>
        <p:nvSpPr>
          <p:cNvPr id="5" name="Shape 3"/>
          <p:cNvSpPr/>
          <p:nvPr/>
        </p:nvSpPr>
        <p:spPr>
          <a:xfrm>
            <a:off x="822960" y="1783080"/>
            <a:ext cx="7040880" cy="4297680"/>
          </a:xfrm>
          <a:prstGeom prst="roundRect">
            <a:avLst>
              <a:gd name="adj" fmla="val 2553"/>
            </a:avLst>
          </a:prstGeom>
          <a:solidFill>
            <a:srgbClr val="F5F5F7"/>
          </a:solidFill>
          <a:ln/>
        </p:spPr>
      </p:sp>
      <p:sp>
        <p:nvSpPr>
          <p:cNvPr id="6" name="Text 4"/>
          <p:cNvSpPr/>
          <p:nvPr/>
        </p:nvSpPr>
        <p:spPr>
          <a:xfrm>
            <a:off x="1234440" y="2103120"/>
            <a:ext cx="6309360" cy="3703320"/>
          </a:xfrm>
          <a:prstGeom prst="rect">
            <a:avLst/>
          </a:prstGeom>
          <a:noFill/>
          <a:ln/>
        </p:spPr>
        <p:txBody>
          <a:bodyPr wrap="square" lIns="0" tIns="0" rIns="0" bIns="0" rtlCol="0" anchor="t"/>
          <a:lstStyle/>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Positional parameters; =&gt; is a one-expression body.</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int add(int a, int b) =&gt; a + b;</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Optional positional parameters, with a default.</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String tag(String n, [String suffix = '']) =&gt; '$n$suffix';</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Named parameters: this is the Flutter style.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String card({</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required String title,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String? subtitle,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int maxLines = 2,</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=&gt; title;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card(title: 'Dart', maxLines: 3);</a:t>
            </a:r>
            <a:endParaRPr lang="en-US" sz="115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Why named parameters matter</a:t>
            </a:r>
            <a:endParaRPr lang="en-US" sz="1450" dirty="0"/>
          </a:p>
        </p:txBody>
      </p:sp>
      <p:sp>
        <p:nvSpPr>
          <p:cNvPr id="8" name="Text 6"/>
          <p:cNvSpPr/>
          <p:nvPr/>
        </p:nvSpPr>
        <p:spPr>
          <a:xfrm>
            <a:off x="8138160" y="2221992"/>
            <a:ext cx="3200400" cy="4114800"/>
          </a:xfrm>
          <a:prstGeom prst="rect">
            <a:avLst/>
          </a:prstGeom>
          <a:noFill/>
          <a:ln/>
        </p:spPr>
        <p:txBody>
          <a:bodyPr wrap="square" lIns="0" tIns="0" rIns="0" bIns="0" rtlCol="0" anchor="t"/>
          <a:lstStyle/>
          <a:p>
            <a:pPr indent="0" marL="0">
              <a:spcAft>
                <a:spcPts val="1200"/>
              </a:spcAft>
              <a:buNone/>
            </a:pPr>
            <a:r>
              <a:rPr lang="en-US" sz="1200" dirty="0">
                <a:solidFill>
                  <a:srgbClr val="86868B"/>
                </a:solidFill>
                <a:latin typeface="Arial" pitchFamily="34" charset="0"/>
                <a:ea typeface="Arial" pitchFamily="34" charset="-122"/>
                <a:cs typeface="Arial" pitchFamily="34" charset="-120"/>
              </a:rPr>
              <a:t>Every Flutter widget constructor uses them. Call sites read as prose instead of as a row of anonymous positional arguments.</a:t>
            </a:r>
            <a:endParaRPr lang="en-US" sz="1200" dirty="0"/>
          </a:p>
          <a:p>
            <a:pPr indent="0" marL="0">
              <a:spcAft>
                <a:spcPts val="1200"/>
              </a:spcAft>
              <a:buNone/>
            </a:pPr>
            <a:r>
              <a:rPr lang="en-US" sz="1200" dirty="0">
                <a:solidFill>
                  <a:srgbClr val="1D1D1F"/>
                </a:solidFill>
                <a:latin typeface="Arial" pitchFamily="34" charset="0"/>
                <a:ea typeface="Arial" pitchFamily="34" charset="-122"/>
                <a:cs typeface="Arial" pitchFamily="34" charset="-120"/>
              </a:rPr>
              <a:t>required is a compile-time obligation, not a runtime check.</a:t>
            </a:r>
            <a:endParaRPr lang="en-US" sz="1200" dirty="0"/>
          </a:p>
          <a:p>
            <a:pPr indent="0" marL="0">
              <a:spcAft>
                <a:spcPts val="1200"/>
              </a:spcAft>
              <a:buNone/>
            </a:pPr>
            <a:r>
              <a:rPr lang="en-US" sz="1200" dirty="0">
                <a:solidFill>
                  <a:srgbClr val="86868B"/>
                </a:solidFill>
                <a:latin typeface="Arial" pitchFamily="34" charset="0"/>
                <a:ea typeface="Arial" pitchFamily="34" charset="-122"/>
                <a:cs typeface="Arial" pitchFamily="34" charset="-120"/>
              </a:rPr>
              <a:t>Functions are first-class values: pass them, store them, return them. That is what a callback like onPressed actually is.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DART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Classes, constructors and getters</a:t>
            </a:r>
            <a:endParaRPr lang="en-US" sz="3000" dirty="0"/>
          </a:p>
        </p:txBody>
      </p:sp>
      <p:sp>
        <p:nvSpPr>
          <p:cNvPr id="5" name="Shape 3"/>
          <p:cNvSpPr/>
          <p:nvPr/>
        </p:nvSpPr>
        <p:spPr>
          <a:xfrm>
            <a:off x="822960" y="1783080"/>
            <a:ext cx="7040880" cy="4297680"/>
          </a:xfrm>
          <a:prstGeom prst="roundRect">
            <a:avLst>
              <a:gd name="adj" fmla="val 2553"/>
            </a:avLst>
          </a:prstGeom>
          <a:solidFill>
            <a:srgbClr val="F5F5F7"/>
          </a:solidFill>
          <a:ln/>
        </p:spPr>
      </p:sp>
      <p:sp>
        <p:nvSpPr>
          <p:cNvPr id="6" name="Text 4"/>
          <p:cNvSpPr/>
          <p:nvPr/>
        </p:nvSpPr>
        <p:spPr>
          <a:xfrm>
            <a:off x="1234440" y="2103120"/>
            <a:ext cx="6309360" cy="3703320"/>
          </a:xfrm>
          <a:prstGeom prst="rect">
            <a:avLst/>
          </a:prstGeom>
          <a:noFill/>
          <a:ln/>
        </p:spPr>
        <p:txBody>
          <a:bodyPr wrap="square" lIns="0" tIns="0" rIns="0" bIns="0" rtlCol="0" anchor="t"/>
          <a:lstStyle/>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class Lecture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final int number;</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final String title;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final String? room;</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 this.x in the parameter list assigns the field.</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Lecture({required this.number, required this.title,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this.room});</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 A getter: computed, called without parentheses.</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String get label =&gt; 'L$number: $title';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l = Lecture(number: 2, title: 'Languages');</a:t>
            </a:r>
            <a:endParaRPr lang="en-US" sz="115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Also worth knowing</a:t>
            </a:r>
            <a:endParaRPr lang="en-US" sz="1450" dirty="0"/>
          </a:p>
        </p:txBody>
      </p:sp>
      <p:sp>
        <p:nvSpPr>
          <p:cNvPr id="8" name="Text 6"/>
          <p:cNvSpPr/>
          <p:nvPr/>
        </p:nvSpPr>
        <p:spPr>
          <a:xfrm>
            <a:off x="8138160" y="2221992"/>
            <a:ext cx="3200400" cy="4114800"/>
          </a:xfrm>
          <a:prstGeom prst="rect">
            <a:avLst/>
          </a:prstGeom>
          <a:noFill/>
          <a:ln/>
        </p:spPr>
        <p:txBody>
          <a:bodyPr wrap="square" lIns="0" tIns="0" rIns="0" bIns="0" rtlCol="0" anchor="t"/>
          <a:lstStyle/>
          <a:p>
            <a:pPr indent="0" marL="0">
              <a:spcAft>
                <a:spcPts val="1000"/>
              </a:spcAft>
              <a:buNone/>
            </a:pPr>
            <a:r>
              <a:rPr lang="en-US" sz="1150" dirty="0">
                <a:solidFill>
                  <a:srgbClr val="1D1D1F"/>
                </a:solidFill>
                <a:latin typeface="Arial" pitchFamily="34" charset="0"/>
                <a:ea typeface="Arial" pitchFamily="34" charset="-122"/>
                <a:cs typeface="Arial" pitchFamily="34" charset="-120"/>
              </a:rPr>
              <a:t>Named constructors:</a:t>
            </a:r>
            <a:endParaRPr lang="en-US" sz="1150" dirty="0"/>
          </a:p>
          <a:p>
            <a:pPr indent="0" marL="0">
              <a:spcAft>
                <a:spcPts val="1000"/>
              </a:spcAft>
              <a:buNone/>
            </a:pPr>
            <a:r>
              <a:rPr lang="en-US" sz="1050" dirty="0">
                <a:solidFill>
                  <a:srgbClr val="1D1D1F"/>
                </a:solidFill>
                <a:latin typeface="Courier New" pitchFamily="34" charset="0"/>
                <a:ea typeface="Courier New" pitchFamily="34" charset="-122"/>
                <a:cs typeface="Courier New" pitchFamily="34" charset="-120"/>
              </a:rPr>
              <a:t>Lecture.lab(this.number)</a:t>
            </a:r>
            <a:endParaRPr lang="en-US" sz="1150" dirty="0"/>
          </a:p>
          <a:p>
            <a:pPr indent="0" marL="0">
              <a:spcAft>
                <a:spcPts val="1000"/>
              </a:spcAft>
              <a:buNone/>
            </a:pPr>
            <a:r>
              <a:rPr lang="en-US" sz="1050" dirty="0">
                <a:solidFill>
                  <a:srgbClr val="1D1D1F"/>
                </a:solidFill>
                <a:latin typeface="Courier New" pitchFamily="34" charset="0"/>
                <a:ea typeface="Courier New" pitchFamily="34" charset="-122"/>
                <a:cs typeface="Courier New" pitchFamily="34" charset="-120"/>
              </a:rPr>
              <a:t>    : title = 'Lab', room = null;</a:t>
            </a:r>
            <a:endParaRPr lang="en-US" sz="1150" dirty="0"/>
          </a:p>
          <a:p>
            <a:pPr indent="0" marL="0">
              <a:spcAft>
                <a:spcPts val="1000"/>
              </a:spcAft>
              <a:buNone/>
            </a:pPr>
            <a:r>
              <a:rPr lang="en-US" sz="1150" dirty="0">
                <a:solidFill>
                  <a:srgbClr val="86868B"/>
                </a:solidFill>
                <a:latin typeface="Arial" pitchFamily="34" charset="0"/>
                <a:ea typeface="Arial" pitchFamily="34" charset="-122"/>
                <a:cs typeface="Arial" pitchFamily="34" charset="-120"/>
              </a:rPr>
              <a:t>Every class gets a default toString, ==, and hashCode, and == is identity by default.</a:t>
            </a:r>
            <a:endParaRPr lang="en-US" sz="1150" dirty="0"/>
          </a:p>
          <a:p>
            <a:pPr indent="0" marL="0">
              <a:spcAft>
                <a:spcPts val="1000"/>
              </a:spcAft>
              <a:buNone/>
            </a:pPr>
            <a:r>
              <a:rPr lang="en-US" sz="1150" dirty="0">
                <a:solidFill>
                  <a:srgbClr val="86868B"/>
                </a:solidFill>
                <a:latin typeface="Arial" pitchFamily="34" charset="0"/>
                <a:ea typeface="Arial" pitchFamily="34" charset="-122"/>
                <a:cs typeface="Arial" pitchFamily="34" charset="-120"/>
              </a:rPr>
              <a:t>Two Lecture objects with the same fields are not equal. Lecture 4 fixes that with Equatable.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DART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Collections and control flow</a:t>
            </a:r>
            <a:endParaRPr lang="en-US" sz="3000" dirty="0"/>
          </a:p>
        </p:txBody>
      </p:sp>
      <p:sp>
        <p:nvSpPr>
          <p:cNvPr id="5" name="Shape 3"/>
          <p:cNvSpPr/>
          <p:nvPr/>
        </p:nvSpPr>
        <p:spPr>
          <a:xfrm>
            <a:off x="822960" y="1783080"/>
            <a:ext cx="7040880" cy="4297680"/>
          </a:xfrm>
          <a:prstGeom prst="roundRect">
            <a:avLst>
              <a:gd name="adj" fmla="val 2553"/>
            </a:avLst>
          </a:prstGeom>
          <a:solidFill>
            <a:srgbClr val="F5F5F7"/>
          </a:solidFill>
          <a:ln/>
        </p:spPr>
      </p:sp>
      <p:sp>
        <p:nvSpPr>
          <p:cNvPr id="6" name="Text 4"/>
          <p:cNvSpPr/>
          <p:nvPr/>
        </p:nvSpPr>
        <p:spPr>
          <a:xfrm>
            <a:off x="1234440" y="2103120"/>
            <a:ext cx="6309360" cy="3703320"/>
          </a:xfrm>
          <a:prstGeom prst="rect">
            <a:avLst/>
          </a:prstGeom>
          <a:noFill/>
          <a:ln/>
        </p:spPr>
        <p:txBody>
          <a:bodyPr wrap="square" lIns="0" tIns="0" rIns="0" bIns="0" rtlCol="0" anchor="t"/>
          <a:lstStyle/>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topics = &lt;String&gt;['Dart', 'Kotlin', 'Flutter'];</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seen = &lt;String&gt;{};</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points = &lt;String, int&gt;{'exam': 3, 'lab': 3};</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for (final t in topics) { seen.add(t);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86868B"/>
                </a:solidFill>
                <a:latin typeface="Courier New" pitchFamily="34" charset="0"/>
                <a:ea typeface="Courier New" pitchFamily="34" charset="-122"/>
                <a:cs typeface="Courier New" pitchFamily="34" charset="-120"/>
              </a:rPr>
              <a:t>// Collection-if and collection-for build lists inline.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final menu =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'Home',</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if (isAdmin) 'Admin',</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for (final t in topics) 'Lab: $t',</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 </a:t>
            </a:r>
            <a:endParaRPr lang="en-US" sz="1150" dirty="0"/>
          </a:p>
          <a:p>
            <a:pPr indent="0" marL="0">
              <a:lnSpc>
                <a:spcPts val="2100"/>
              </a:lnSpc>
              <a:buNone/>
            </a:pPr>
            <a:r>
              <a:rPr lang="en-US" sz="1150" dirty="0">
                <a:solidFill>
                  <a:srgbClr val="1D1D1F"/>
                </a:solidFill>
                <a:latin typeface="Courier New" pitchFamily="34" charset="0"/>
                <a:ea typeface="Courier New" pitchFamily="34" charset="-122"/>
                <a:cs typeface="Courier New" pitchFamily="34" charset="-120"/>
              </a:rPr>
              <a:t>topics.where((t) =&gt; t.length &gt; 4).forEach(print);</a:t>
            </a:r>
            <a:endParaRPr lang="en-US" sz="115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You will see this everywhere</a:t>
            </a:r>
            <a:endParaRPr lang="en-US" sz="1450" dirty="0"/>
          </a:p>
        </p:txBody>
      </p:sp>
      <p:sp>
        <p:nvSpPr>
          <p:cNvPr id="8" name="Text 6"/>
          <p:cNvSpPr/>
          <p:nvPr/>
        </p:nvSpPr>
        <p:spPr>
          <a:xfrm>
            <a:off x="8138160" y="2221992"/>
            <a:ext cx="3200400" cy="411480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List, Set and Map are the three built-ins. The angle brackets are the element types.</a:t>
            </a:r>
            <a:endParaRPr lang="en-US" sz="1150" dirty="0"/>
          </a:p>
          <a:p>
            <a:pPr indent="0" marL="0">
              <a:spcAft>
                <a:spcPts val="1100"/>
              </a:spcAft>
              <a:buNone/>
            </a:pPr>
            <a:r>
              <a:rPr lang="en-US" sz="1150" dirty="0">
                <a:solidFill>
                  <a:srgbClr val="1D1D1F"/>
                </a:solidFill>
                <a:latin typeface="Arial" pitchFamily="34" charset="0"/>
                <a:ea typeface="Arial" pitchFamily="34" charset="-122"/>
                <a:cs typeface="Arial" pitchFamily="34" charset="-120"/>
              </a:rPr>
              <a:t>Collection-if and collection-for are how Flutter builds a list of children conditionally, without a helper function and without a temporary list.</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where, map, fold and forEach are lazy Iterable operations; call toList() when you need a List back.</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DART</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Garbage collection, in one slide</a:t>
            </a:r>
            <a:endParaRPr lang="en-US" sz="3000" dirty="0"/>
          </a:p>
        </p:txBody>
      </p:sp>
      <p:sp>
        <p:nvSpPr>
          <p:cNvPr id="5" name="Text 3"/>
          <p:cNvSpPr/>
          <p:nvPr/>
        </p:nvSpPr>
        <p:spPr>
          <a:xfrm>
            <a:off x="822960" y="1783080"/>
            <a:ext cx="6217920" cy="2743200"/>
          </a:xfrm>
          <a:prstGeom prst="rect">
            <a:avLst/>
          </a:prstGeom>
          <a:noFill/>
          <a:ln/>
        </p:spPr>
        <p:txBody>
          <a:bodyPr wrap="square" lIns="0" tIns="0" rIns="0" bIns="0" rtlCol="0" anchor="t"/>
          <a:lstStyle/>
          <a:p>
            <a:pPr indent="0" marL="0">
              <a:spcAft>
                <a:spcPts val="1500"/>
              </a:spcAft>
              <a:buNone/>
            </a:pPr>
            <a:r>
              <a:rPr lang="en-US" sz="1400" dirty="0">
                <a:solidFill>
                  <a:srgbClr val="1D1D1F"/>
                </a:solidFill>
                <a:latin typeface="Arial" pitchFamily="34" charset="0"/>
                <a:ea typeface="Arial" pitchFamily="34" charset="-122"/>
                <a:cs typeface="Arial" pitchFamily="34" charset="-120"/>
              </a:rPr>
              <a:t>Dart is garbage collected: you never free memory. The VM reclaims objects that nothing can reach any more.</a:t>
            </a:r>
            <a:endParaRPr lang="en-US" sz="1400" dirty="0"/>
          </a:p>
          <a:p>
            <a:pPr indent="0" marL="0">
              <a:spcAft>
                <a:spcPts val="1500"/>
              </a:spcAft>
              <a:buNone/>
            </a:pPr>
            <a:r>
              <a:rPr lang="en-US" sz="1400" dirty="0">
                <a:solidFill>
                  <a:srgbClr val="1D1D1F"/>
                </a:solidFill>
                <a:latin typeface="Arial" pitchFamily="34" charset="0"/>
                <a:ea typeface="Arial" pitchFamily="34" charset="-122"/>
                <a:cs typeface="Arial" pitchFamily="34" charset="-120"/>
              </a:rPr>
              <a:t>The generational hypothesis: most objects die young. Flutter proves it: a rebuild allocates thousands of short-lived Widget objects and discards them a frame later.</a:t>
            </a:r>
            <a:endParaRPr lang="en-US" sz="1400" dirty="0"/>
          </a:p>
          <a:p>
            <a:pPr indent="0" marL="0">
              <a:spcAft>
                <a:spcPts val="1500"/>
              </a:spcAft>
              <a:buNone/>
            </a:pPr>
            <a:r>
              <a:rPr lang="en-US" sz="1400" dirty="0">
                <a:solidFill>
                  <a:srgbClr val="1D1D1F"/>
                </a:solidFill>
                <a:latin typeface="Arial" pitchFamily="34" charset="0"/>
                <a:ea typeface="Arial" pitchFamily="34" charset="-122"/>
                <a:cs typeface="Arial" pitchFamily="34" charset="-120"/>
              </a:rPr>
              <a:t>So the heap is split. The young space is collected constantly and cheaply. Survivors are promoted to the old space, which is collected rarely and concurrently with your app.</a:t>
            </a:r>
            <a:endParaRPr lang="en-US" sz="1400" dirty="0"/>
          </a:p>
        </p:txBody>
      </p:sp>
      <p:sp>
        <p:nvSpPr>
          <p:cNvPr id="6" name="Shape 4"/>
          <p:cNvSpPr/>
          <p:nvPr/>
        </p:nvSpPr>
        <p:spPr>
          <a:xfrm>
            <a:off x="7589520" y="1783080"/>
            <a:ext cx="3931920" cy="914400"/>
          </a:xfrm>
          <a:prstGeom prst="roundRect">
            <a:avLst>
              <a:gd name="adj" fmla="val 9000"/>
            </a:avLst>
          </a:prstGeom>
          <a:solidFill>
            <a:srgbClr val="000000"/>
          </a:solidFill>
          <a:ln/>
        </p:spPr>
      </p:sp>
      <p:sp>
        <p:nvSpPr>
          <p:cNvPr id="7" name="Text 5"/>
          <p:cNvSpPr/>
          <p:nvPr/>
        </p:nvSpPr>
        <p:spPr>
          <a:xfrm>
            <a:off x="7589520" y="1783080"/>
            <a:ext cx="3931920" cy="91440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Young space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almost everything dies here</a:t>
            </a:r>
            <a:endParaRPr lang="en-US" sz="1350" dirty="0"/>
          </a:p>
        </p:txBody>
      </p:sp>
      <p:sp>
        <p:nvSpPr>
          <p:cNvPr id="8" name="Shape 6"/>
          <p:cNvSpPr/>
          <p:nvPr/>
        </p:nvSpPr>
        <p:spPr>
          <a:xfrm>
            <a:off x="9555480" y="2697480"/>
            <a:ext cx="0" cy="329184"/>
          </a:xfrm>
          <a:prstGeom prst="line">
            <a:avLst/>
          </a:prstGeom>
          <a:noFill/>
          <a:ln w="15875">
            <a:solidFill>
              <a:srgbClr val="86868B"/>
            </a:solidFill>
            <a:prstDash val="solid"/>
            <a:tailEnd type="triangle"/>
          </a:ln>
        </p:spPr>
      </p:sp>
      <p:sp>
        <p:nvSpPr>
          <p:cNvPr id="9" name="Shape 7"/>
          <p:cNvSpPr/>
          <p:nvPr/>
        </p:nvSpPr>
        <p:spPr>
          <a:xfrm>
            <a:off x="7589520" y="3026664"/>
            <a:ext cx="3931920" cy="914400"/>
          </a:xfrm>
          <a:prstGeom prst="roundRect">
            <a:avLst>
              <a:gd name="adj" fmla="val 9000"/>
            </a:avLst>
          </a:prstGeom>
          <a:solidFill>
            <a:srgbClr val="FFFFFF"/>
          </a:solidFill>
          <a:ln w="12700">
            <a:solidFill>
              <a:srgbClr val="D2D2D7"/>
            </a:solidFill>
            <a:prstDash val="solid"/>
          </a:ln>
        </p:spPr>
      </p:sp>
      <p:sp>
        <p:nvSpPr>
          <p:cNvPr id="10" name="Text 8"/>
          <p:cNvSpPr/>
          <p:nvPr/>
        </p:nvSpPr>
        <p:spPr>
          <a:xfrm>
            <a:off x="7589520" y="3026664"/>
            <a:ext cx="3931920" cy="9144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Scavenge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copy the few survivors, drop the rest</a:t>
            </a:r>
            <a:endParaRPr lang="en-US" sz="1350" dirty="0"/>
          </a:p>
        </p:txBody>
      </p:sp>
      <p:sp>
        <p:nvSpPr>
          <p:cNvPr id="11" name="Shape 9"/>
          <p:cNvSpPr/>
          <p:nvPr/>
        </p:nvSpPr>
        <p:spPr>
          <a:xfrm>
            <a:off x="9555480" y="3941064"/>
            <a:ext cx="0" cy="329184"/>
          </a:xfrm>
          <a:prstGeom prst="line">
            <a:avLst/>
          </a:prstGeom>
          <a:noFill/>
          <a:ln w="15875">
            <a:solidFill>
              <a:srgbClr val="86868B"/>
            </a:solidFill>
            <a:prstDash val="solid"/>
            <a:tailEnd type="triangle"/>
          </a:ln>
        </p:spPr>
      </p:sp>
      <p:sp>
        <p:nvSpPr>
          <p:cNvPr id="12" name="Shape 10"/>
          <p:cNvSpPr/>
          <p:nvPr/>
        </p:nvSpPr>
        <p:spPr>
          <a:xfrm>
            <a:off x="7589520" y="4270248"/>
            <a:ext cx="3931920" cy="914400"/>
          </a:xfrm>
          <a:prstGeom prst="roundRect">
            <a:avLst>
              <a:gd name="adj" fmla="val 9000"/>
            </a:avLst>
          </a:prstGeom>
          <a:solidFill>
            <a:srgbClr val="FFFFFF"/>
          </a:solidFill>
          <a:ln w="12700">
            <a:solidFill>
              <a:srgbClr val="D2D2D7"/>
            </a:solidFill>
            <a:prstDash val="solid"/>
          </a:ln>
        </p:spPr>
      </p:sp>
      <p:sp>
        <p:nvSpPr>
          <p:cNvPr id="13" name="Text 11"/>
          <p:cNvSpPr/>
          <p:nvPr/>
        </p:nvSpPr>
        <p:spPr>
          <a:xfrm>
            <a:off x="7589520" y="4270248"/>
            <a:ext cx="3931920" cy="91440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Old space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collected rarely, concurrently</a:t>
            </a:r>
            <a:endParaRPr lang="en-US" sz="1350" dirty="0"/>
          </a:p>
        </p:txBody>
      </p:sp>
      <p:sp>
        <p:nvSpPr>
          <p:cNvPr id="14" name="Shape 12"/>
          <p:cNvSpPr/>
          <p:nvPr/>
        </p:nvSpPr>
        <p:spPr>
          <a:xfrm>
            <a:off x="822960" y="4800600"/>
            <a:ext cx="6217920" cy="0"/>
          </a:xfrm>
          <a:prstGeom prst="line">
            <a:avLst/>
          </a:prstGeom>
          <a:noFill/>
          <a:ln w="9525">
            <a:solidFill>
              <a:srgbClr val="D2D2D7"/>
            </a:solidFill>
            <a:prstDash val="solid"/>
          </a:ln>
        </p:spPr>
      </p:sp>
      <p:sp>
        <p:nvSpPr>
          <p:cNvPr id="15" name="Text 13"/>
          <p:cNvSpPr/>
          <p:nvPr/>
        </p:nvSpPr>
        <p:spPr>
          <a:xfrm>
            <a:off x="822960" y="5029200"/>
            <a:ext cx="621792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Why it matters on a phone:</a:t>
            </a:r>
            <a:pPr indent="0" marL="0">
              <a:buNone/>
            </a:pPr>
            <a:r>
              <a:rPr lang="en-US" sz="1400" dirty="0">
                <a:solidFill>
                  <a:srgbClr val="86868B"/>
                </a:solidFill>
                <a:latin typeface="Arial" pitchFamily="34" charset="0"/>
                <a:ea typeface="Arial" pitchFamily="34" charset="-122"/>
                <a:cs typeface="Arial" pitchFamily="34" charset="-120"/>
              </a:rPr>
              <a:t> a pause longer than one frame budget, 8.3 ms at 120 Hz, is a visible dropped frame, and every collection costs CPU cycles and therefore battery. Allocate less inside build(), use const constructors, and keep heavy work off the UI isolate (→ Lecture 3).</a:t>
            </a:r>
            <a:endParaRPr lang="en-US" sz="1400" dirty="0"/>
          </a:p>
        </p:txBody>
      </p:sp>
      <p:sp>
        <p:nvSpPr>
          <p:cNvPr id="16" name="Text 14"/>
          <p:cNvSpPr/>
          <p:nvPr/>
        </p:nvSpPr>
        <p:spPr>
          <a:xfrm>
            <a:off x="7589520" y="5394960"/>
            <a:ext cx="3931920" cy="640080"/>
          </a:xfrm>
          <a:prstGeom prst="rect">
            <a:avLst/>
          </a:prstGeom>
          <a:noFill/>
          <a:ln/>
        </p:spPr>
        <p:txBody>
          <a:bodyPr wrap="square" lIns="0" tIns="0" rIns="0" bIns="0" rtlCol="0" anchor="t"/>
          <a:lstStyle/>
          <a:p>
            <a:pPr indent="0" marL="0">
              <a:buNone/>
            </a:pPr>
            <a:r>
              <a:rPr lang="en-US" sz="1050" dirty="0">
                <a:solidFill>
                  <a:srgbClr val="86868B"/>
                </a:solidFill>
                <a:latin typeface="Arial" pitchFamily="34" charset="0"/>
                <a:ea typeface="Arial" pitchFamily="34" charset="-122"/>
                <a:cs typeface="Arial" pitchFamily="34" charset="-120"/>
              </a:rPr>
              <a:t>The bookkeeping that keeps this correct, remembered sets and write barriers, is beyond the scope of week 2.</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KOTLIN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Kotlin and Dart: the same shapes</a:t>
            </a:r>
            <a:endParaRPr lang="en-US" sz="3000" dirty="0"/>
          </a:p>
        </p:txBody>
      </p:sp>
      <p:sp>
        <p:nvSpPr>
          <p:cNvPr id="5" name="Text 3"/>
          <p:cNvSpPr/>
          <p:nvPr/>
        </p:nvSpPr>
        <p:spPr>
          <a:xfrm>
            <a:off x="822960" y="1737360"/>
            <a:ext cx="5120640" cy="32004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Dart</a:t>
            </a:r>
            <a:endParaRPr lang="en-US" sz="1500" dirty="0"/>
          </a:p>
        </p:txBody>
      </p:sp>
      <p:sp>
        <p:nvSpPr>
          <p:cNvPr id="6" name="Text 4"/>
          <p:cNvSpPr/>
          <p:nvPr/>
        </p:nvSpPr>
        <p:spPr>
          <a:xfrm>
            <a:off x="6400800" y="1737360"/>
            <a:ext cx="5120640" cy="32004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Kotlin</a:t>
            </a:r>
            <a:endParaRPr lang="en-US" sz="1500" dirty="0"/>
          </a:p>
        </p:txBody>
      </p:sp>
      <p:sp>
        <p:nvSpPr>
          <p:cNvPr id="7" name="Shape 5"/>
          <p:cNvSpPr/>
          <p:nvPr/>
        </p:nvSpPr>
        <p:spPr>
          <a:xfrm>
            <a:off x="822960" y="2148840"/>
            <a:ext cx="5120640" cy="2651760"/>
          </a:xfrm>
          <a:prstGeom prst="roundRect">
            <a:avLst>
              <a:gd name="adj" fmla="val 4138"/>
            </a:avLst>
          </a:prstGeom>
          <a:solidFill>
            <a:srgbClr val="F5F5F7"/>
          </a:solidFill>
          <a:ln/>
        </p:spPr>
      </p:sp>
      <p:sp>
        <p:nvSpPr>
          <p:cNvPr id="8" name="Text 6"/>
          <p:cNvSpPr/>
          <p:nvPr/>
        </p:nvSpPr>
        <p:spPr>
          <a:xfrm>
            <a:off x="1234440" y="2468880"/>
            <a:ext cx="4389120" cy="2057400"/>
          </a:xfrm>
          <a:prstGeom prst="rect">
            <a:avLst/>
          </a:prstGeom>
          <a:noFill/>
          <a:ln/>
        </p:spPr>
        <p:txBody>
          <a:bodyPr wrap="square" lIns="0" tIns="0" rIns="0" bIns="0" rtlCol="0" anchor="t"/>
          <a:lstStyle/>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class User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final String name;</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final int age;</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const User(this.name, this.age);</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final u = User('Ada', 36);</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var count = 0;</a:t>
            </a:r>
            <a:endParaRPr lang="en-US" sz="1100" dirty="0"/>
          </a:p>
        </p:txBody>
      </p:sp>
      <p:sp>
        <p:nvSpPr>
          <p:cNvPr id="9" name="Shape 7"/>
          <p:cNvSpPr/>
          <p:nvPr/>
        </p:nvSpPr>
        <p:spPr>
          <a:xfrm>
            <a:off x="6400800" y="2148840"/>
            <a:ext cx="5120640" cy="2651760"/>
          </a:xfrm>
          <a:prstGeom prst="roundRect">
            <a:avLst>
              <a:gd name="adj" fmla="val 4138"/>
            </a:avLst>
          </a:prstGeom>
          <a:solidFill>
            <a:srgbClr val="F5F5F7"/>
          </a:solidFill>
          <a:ln/>
        </p:spPr>
      </p:sp>
      <p:sp>
        <p:nvSpPr>
          <p:cNvPr id="10" name="Text 8"/>
          <p:cNvSpPr/>
          <p:nvPr/>
        </p:nvSpPr>
        <p:spPr>
          <a:xfrm>
            <a:off x="6812280" y="2468880"/>
            <a:ext cx="4389120" cy="2057400"/>
          </a:xfrm>
          <a:prstGeom prst="rect">
            <a:avLst/>
          </a:prstGeom>
          <a:noFill/>
          <a:ln/>
        </p:spPr>
        <p:txBody>
          <a:bodyPr wrap="square" lIns="0" tIns="0" rIns="0" bIns="0" rtlCol="0" anchor="t"/>
          <a:lstStyle/>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data class User(</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val name: String,</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val age: Int,</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 </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val u = User("Ada", 36)</a:t>
            </a:r>
            <a:endParaRPr lang="en-US" sz="1100" dirty="0"/>
          </a:p>
          <a:p>
            <a:pPr indent="0" marL="0">
              <a:lnSpc>
                <a:spcPts val="2000"/>
              </a:lnSpc>
              <a:buNone/>
            </a:pPr>
            <a:r>
              <a:rPr lang="en-US" sz="1100" dirty="0">
                <a:solidFill>
                  <a:srgbClr val="1D1D1F"/>
                </a:solidFill>
                <a:latin typeface="Courier New" pitchFamily="34" charset="0"/>
                <a:ea typeface="Courier New" pitchFamily="34" charset="-122"/>
                <a:cs typeface="Courier New" pitchFamily="34" charset="-120"/>
              </a:rPr>
              <a:t>var count = 0</a:t>
            </a:r>
            <a:endParaRPr lang="en-US" sz="1100" dirty="0"/>
          </a:p>
        </p:txBody>
      </p:sp>
      <p:sp>
        <p:nvSpPr>
          <p:cNvPr id="11" name="Shape 9"/>
          <p:cNvSpPr/>
          <p:nvPr/>
        </p:nvSpPr>
        <p:spPr>
          <a:xfrm>
            <a:off x="822960" y="5029200"/>
            <a:ext cx="10543032" cy="0"/>
          </a:xfrm>
          <a:prstGeom prst="line">
            <a:avLst/>
          </a:prstGeom>
          <a:noFill/>
          <a:ln w="9525">
            <a:solidFill>
              <a:srgbClr val="D2D2D7"/>
            </a:solidFill>
            <a:prstDash val="solid"/>
          </a:ln>
        </p:spPr>
      </p:sp>
      <p:sp>
        <p:nvSpPr>
          <p:cNvPr id="12" name="Text 10"/>
          <p:cNvSpPr/>
          <p:nvPr/>
        </p:nvSpPr>
        <p:spPr>
          <a:xfrm>
            <a:off x="822960" y="5212080"/>
            <a:ext cx="5120640" cy="9144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Kotlin's data class gives you ==, hashCode, copy and toString for free. In Dart you write them by hand, or generate them with Equatable or freezed (→ Lecture 4).</a:t>
            </a:r>
            <a:endParaRPr lang="en-US" sz="1150" dirty="0"/>
          </a:p>
        </p:txBody>
      </p:sp>
      <p:sp>
        <p:nvSpPr>
          <p:cNvPr id="13" name="Text 11"/>
          <p:cNvSpPr/>
          <p:nvPr/>
        </p:nvSpPr>
        <p:spPr>
          <a:xfrm>
            <a:off x="6400800" y="5212080"/>
            <a:ext cx="5120640" cy="9144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The same spectrum, again: Kotlin/JVM ships bytecode that Android's ART compiles; Kotlin/Native compiles ahead of time for iOS. Shared modules: Lecture 11.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FLUTTER</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What Flutter actually is</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One Dart codebase, one renderer, and a build mode that changes how the code runs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FLUTTER</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Flutter is, and what it draws</a:t>
            </a:r>
            <a:endParaRPr lang="en-US" sz="3000" dirty="0"/>
          </a:p>
        </p:txBody>
      </p:sp>
      <p:sp>
        <p:nvSpPr>
          <p:cNvPr id="5" name="Text 3"/>
          <p:cNvSpPr/>
          <p:nvPr/>
        </p:nvSpPr>
        <p:spPr>
          <a:xfrm>
            <a:off x="822960" y="1783080"/>
            <a:ext cx="6217920" cy="3108960"/>
          </a:xfrm>
          <a:prstGeom prst="rect">
            <a:avLst/>
          </a:prstGeom>
          <a:noFill/>
          <a:ln/>
        </p:spPr>
        <p:txBody>
          <a:bodyPr wrap="square" lIns="0" tIns="0" rIns="0" bIns="0" rtlCol="0" anchor="t"/>
          <a:lstStyle/>
          <a:p>
            <a:pPr indent="0" marL="0">
              <a:spcAft>
                <a:spcPts val="1400"/>
              </a:spcAft>
              <a:buNone/>
            </a:pPr>
            <a:r>
              <a:rPr lang="en-US" sz="1400" dirty="0">
                <a:solidFill>
                  <a:srgbClr val="1D1D1F"/>
                </a:solidFill>
                <a:latin typeface="Arial" pitchFamily="34" charset="0"/>
                <a:ea typeface="Arial" pitchFamily="34" charset="-122"/>
                <a:cs typeface="Arial" pitchFamily="34" charset="-120"/>
              </a:rPr>
              <a:t>Google's open-source UI toolkit: one Dart codebase for Android, iOS, web and desktop.</a:t>
            </a:r>
            <a:endParaRPr lang="en-US" sz="1400" dirty="0"/>
          </a:p>
          <a:p>
            <a:pPr indent="0" marL="0">
              <a:spcAft>
                <a:spcPts val="1400"/>
              </a:spcAft>
              <a:buNone/>
            </a:pPr>
            <a:r>
              <a:rPr lang="en-US" sz="1400" dirty="0">
                <a:solidFill>
                  <a:srgbClr val="1D1D1F"/>
                </a:solidFill>
                <a:latin typeface="Arial" pitchFamily="34" charset="0"/>
                <a:ea typeface="Arial" pitchFamily="34" charset="-122"/>
                <a:cs typeface="Arial" pitchFamily="34" charset="-120"/>
              </a:rPr>
              <a:t>Flutter does not use the platform's own widgets. It ships its own widget library and draws every pixel itself, through the Impeller renderer.</a:t>
            </a:r>
            <a:endParaRPr lang="en-US" sz="1400" dirty="0"/>
          </a:p>
          <a:p>
            <a:pPr indent="0" marL="0">
              <a:spcAft>
                <a:spcPts val="1400"/>
              </a:spcAft>
              <a:buNone/>
            </a:pPr>
            <a:r>
              <a:rPr lang="en-US" sz="1400" dirty="0">
                <a:solidFill>
                  <a:srgbClr val="1D1D1F"/>
                </a:solidFill>
                <a:latin typeface="Arial" pitchFamily="34" charset="0"/>
                <a:ea typeface="Arial" pitchFamily="34" charset="-122"/>
                <a:cs typeface="Arial" pitchFamily="34" charset="-120"/>
              </a:rPr>
              <a:t>That is why a Flutter app looks identical on both platforms, and why the platform's native controls are not automatically available.</a:t>
            </a:r>
            <a:endParaRPr lang="en-US" sz="1400" dirty="0"/>
          </a:p>
          <a:p>
            <a:pPr indent="0" marL="0">
              <a:spcAft>
                <a:spcPts val="1400"/>
              </a:spcAft>
              <a:buNone/>
            </a:pPr>
            <a:r>
              <a:rPr lang="en-US" sz="1400" dirty="0">
                <a:solidFill>
                  <a:srgbClr val="1D1D1F"/>
                </a:solidFill>
                <a:latin typeface="Arial" pitchFamily="34" charset="0"/>
                <a:ea typeface="Arial" pitchFamily="34" charset="-122"/>
                <a:cs typeface="Arial" pitchFamily="34" charset="-120"/>
              </a:rPr>
              <a:t>It reaches the OS (camera, sensors, BLE, files) through platform channels (→ Lecture 12).</a:t>
            </a:r>
            <a:endParaRPr lang="en-US" sz="1400" dirty="0"/>
          </a:p>
        </p:txBody>
      </p:sp>
      <p:sp>
        <p:nvSpPr>
          <p:cNvPr id="6" name="Shape 4"/>
          <p:cNvSpPr/>
          <p:nvPr/>
        </p:nvSpPr>
        <p:spPr>
          <a:xfrm>
            <a:off x="7589520" y="1783080"/>
            <a:ext cx="3931920" cy="777240"/>
          </a:xfrm>
          <a:prstGeom prst="roundRect">
            <a:avLst>
              <a:gd name="adj" fmla="val 10588"/>
            </a:avLst>
          </a:prstGeom>
          <a:solidFill>
            <a:srgbClr val="000000"/>
          </a:solidFill>
          <a:ln/>
        </p:spPr>
      </p:sp>
      <p:sp>
        <p:nvSpPr>
          <p:cNvPr id="7" name="Text 5"/>
          <p:cNvSpPr/>
          <p:nvPr/>
        </p:nvSpPr>
        <p:spPr>
          <a:xfrm>
            <a:off x="7589520" y="1783080"/>
            <a:ext cx="3931920" cy="77724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Your Dart code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widgets · state · logic</a:t>
            </a:r>
            <a:endParaRPr lang="en-US" sz="1350" dirty="0"/>
          </a:p>
        </p:txBody>
      </p:sp>
      <p:sp>
        <p:nvSpPr>
          <p:cNvPr id="8" name="Shape 6"/>
          <p:cNvSpPr/>
          <p:nvPr/>
        </p:nvSpPr>
        <p:spPr>
          <a:xfrm>
            <a:off x="9555480" y="2560320"/>
            <a:ext cx="0" cy="274320"/>
          </a:xfrm>
          <a:prstGeom prst="line">
            <a:avLst/>
          </a:prstGeom>
          <a:noFill/>
          <a:ln w="15875">
            <a:solidFill>
              <a:srgbClr val="86868B"/>
            </a:solidFill>
            <a:prstDash val="solid"/>
            <a:tailEnd type="triangle"/>
          </a:ln>
        </p:spPr>
      </p:sp>
      <p:sp>
        <p:nvSpPr>
          <p:cNvPr id="9" name="Shape 7"/>
          <p:cNvSpPr/>
          <p:nvPr/>
        </p:nvSpPr>
        <p:spPr>
          <a:xfrm>
            <a:off x="7589520" y="2834640"/>
            <a:ext cx="3931920" cy="777240"/>
          </a:xfrm>
          <a:prstGeom prst="roundRect">
            <a:avLst>
              <a:gd name="adj" fmla="val 10588"/>
            </a:avLst>
          </a:prstGeom>
          <a:solidFill>
            <a:srgbClr val="FFFFFF"/>
          </a:solidFill>
          <a:ln w="12700">
            <a:solidFill>
              <a:srgbClr val="D2D2D7"/>
            </a:solidFill>
            <a:prstDash val="solid"/>
          </a:ln>
        </p:spPr>
      </p:sp>
      <p:sp>
        <p:nvSpPr>
          <p:cNvPr id="10" name="Text 8"/>
          <p:cNvSpPr/>
          <p:nvPr/>
        </p:nvSpPr>
        <p:spPr>
          <a:xfrm>
            <a:off x="7589520" y="2834640"/>
            <a:ext cx="3931920" cy="77724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Flutter framework</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layout, animation, gestures</a:t>
            </a:r>
            <a:endParaRPr lang="en-US" sz="1350" dirty="0"/>
          </a:p>
        </p:txBody>
      </p:sp>
      <p:sp>
        <p:nvSpPr>
          <p:cNvPr id="11" name="Shape 9"/>
          <p:cNvSpPr/>
          <p:nvPr/>
        </p:nvSpPr>
        <p:spPr>
          <a:xfrm>
            <a:off x="9555480" y="3611880"/>
            <a:ext cx="0" cy="274320"/>
          </a:xfrm>
          <a:prstGeom prst="line">
            <a:avLst/>
          </a:prstGeom>
          <a:noFill/>
          <a:ln w="15875">
            <a:solidFill>
              <a:srgbClr val="86868B"/>
            </a:solidFill>
            <a:prstDash val="solid"/>
            <a:tailEnd type="triangle"/>
          </a:ln>
        </p:spPr>
      </p:sp>
      <p:sp>
        <p:nvSpPr>
          <p:cNvPr id="12" name="Shape 10"/>
          <p:cNvSpPr/>
          <p:nvPr/>
        </p:nvSpPr>
        <p:spPr>
          <a:xfrm>
            <a:off x="7589520" y="3886200"/>
            <a:ext cx="3931920" cy="777240"/>
          </a:xfrm>
          <a:prstGeom prst="roundRect">
            <a:avLst>
              <a:gd name="adj" fmla="val 10588"/>
            </a:avLst>
          </a:prstGeom>
          <a:solidFill>
            <a:srgbClr val="FFFFFF"/>
          </a:solidFill>
          <a:ln w="12700">
            <a:solidFill>
              <a:srgbClr val="D2D2D7"/>
            </a:solidFill>
            <a:prstDash val="solid"/>
          </a:ln>
        </p:spPr>
      </p:sp>
      <p:sp>
        <p:nvSpPr>
          <p:cNvPr id="13" name="Text 11"/>
          <p:cNvSpPr/>
          <p:nvPr/>
        </p:nvSpPr>
        <p:spPr>
          <a:xfrm>
            <a:off x="7589520" y="3886200"/>
            <a:ext cx="3931920" cy="77724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Impeller</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renderer, shaders precompiled</a:t>
            </a:r>
            <a:endParaRPr lang="en-US" sz="1350" dirty="0"/>
          </a:p>
        </p:txBody>
      </p:sp>
      <p:sp>
        <p:nvSpPr>
          <p:cNvPr id="14" name="Shape 12"/>
          <p:cNvSpPr/>
          <p:nvPr/>
        </p:nvSpPr>
        <p:spPr>
          <a:xfrm>
            <a:off x="9555480" y="4663440"/>
            <a:ext cx="0" cy="274320"/>
          </a:xfrm>
          <a:prstGeom prst="line">
            <a:avLst/>
          </a:prstGeom>
          <a:noFill/>
          <a:ln w="15875">
            <a:solidFill>
              <a:srgbClr val="86868B"/>
            </a:solidFill>
            <a:prstDash val="solid"/>
            <a:tailEnd type="triangle"/>
          </a:ln>
        </p:spPr>
      </p:sp>
      <p:sp>
        <p:nvSpPr>
          <p:cNvPr id="15" name="Shape 13"/>
          <p:cNvSpPr/>
          <p:nvPr/>
        </p:nvSpPr>
        <p:spPr>
          <a:xfrm>
            <a:off x="7589520" y="4937760"/>
            <a:ext cx="3931920" cy="777240"/>
          </a:xfrm>
          <a:prstGeom prst="roundRect">
            <a:avLst>
              <a:gd name="adj" fmla="val 14118"/>
            </a:avLst>
          </a:prstGeom>
          <a:solidFill>
            <a:srgbClr val="F5F5F7"/>
          </a:solidFill>
          <a:ln/>
        </p:spPr>
      </p:sp>
      <p:sp>
        <p:nvSpPr>
          <p:cNvPr id="16" name="Text 14"/>
          <p:cNvSpPr/>
          <p:nvPr/>
        </p:nvSpPr>
        <p:spPr>
          <a:xfrm>
            <a:off x="7589520" y="4937760"/>
            <a:ext cx="3931920" cy="77724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GPU</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Metal on iOS · Vulkan on Android</a:t>
            </a:r>
            <a:endParaRPr lang="en-US" sz="1350" dirty="0"/>
          </a:p>
        </p:txBody>
      </p:sp>
      <p:sp>
        <p:nvSpPr>
          <p:cNvPr id="17" name="Shape 15"/>
          <p:cNvSpPr/>
          <p:nvPr/>
        </p:nvSpPr>
        <p:spPr>
          <a:xfrm>
            <a:off x="822960" y="5120640"/>
            <a:ext cx="6217920" cy="0"/>
          </a:xfrm>
          <a:prstGeom prst="line">
            <a:avLst/>
          </a:prstGeom>
          <a:noFill/>
          <a:ln w="9525">
            <a:solidFill>
              <a:srgbClr val="D2D2D7"/>
            </a:solidFill>
            <a:prstDash val="solid"/>
          </a:ln>
        </p:spPr>
      </p:sp>
      <p:sp>
        <p:nvSpPr>
          <p:cNvPr id="18" name="Text 16"/>
          <p:cNvSpPr/>
          <p:nvPr/>
        </p:nvSpPr>
        <p:spPr>
          <a:xfrm>
            <a:off x="822960" y="5349240"/>
            <a:ext cx="621792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 release build is Dart, AOT-compiled to native ARM code.</a:t>
            </a:r>
            <a:pPr indent="0" marL="0">
              <a:buNone/>
            </a:pPr>
            <a:r>
              <a:rPr lang="en-US" sz="1400" dirty="0">
                <a:solidFill>
                  <a:srgbClr val="86868B"/>
                </a:solidFill>
                <a:latin typeface="Arial" pitchFamily="34" charset="0"/>
                <a:ea typeface="Arial" pitchFamily="34" charset="-122"/>
                <a:cs typeface="Arial" pitchFamily="34" charset="-120"/>
              </a:rPr>
              <a:t> There is no interpreter and no JavaScript inside your app.</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FLUTTER</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Hot reload, and why release builds cannot</a:t>
            </a:r>
            <a:endParaRPr lang="en-US" sz="3000" dirty="0"/>
          </a:p>
        </p:txBody>
      </p:sp>
      <p:sp>
        <p:nvSpPr>
          <p:cNvPr id="5" name="Shape 3"/>
          <p:cNvSpPr/>
          <p:nvPr/>
        </p:nvSpPr>
        <p:spPr>
          <a:xfrm>
            <a:off x="822960" y="1783080"/>
            <a:ext cx="5394960" cy="731520"/>
          </a:xfrm>
          <a:prstGeom prst="roundRect">
            <a:avLst>
              <a:gd name="adj" fmla="val 11250"/>
            </a:avLst>
          </a:prstGeom>
          <a:solidFill>
            <a:srgbClr val="FFFFFF"/>
          </a:solidFill>
          <a:ln w="12700">
            <a:solidFill>
              <a:srgbClr val="D2D2D7"/>
            </a:solidFill>
            <a:prstDash val="solid"/>
          </a:ln>
        </p:spPr>
      </p:sp>
      <p:sp>
        <p:nvSpPr>
          <p:cNvPr id="6" name="Text 4"/>
          <p:cNvSpPr/>
          <p:nvPr/>
        </p:nvSpPr>
        <p:spPr>
          <a:xfrm>
            <a:off x="822960" y="1783080"/>
            <a:ext cx="5394960" cy="73152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1. You save a .dart file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the tool watches your project</a:t>
            </a:r>
            <a:endParaRPr lang="en-US" sz="1350" dirty="0"/>
          </a:p>
        </p:txBody>
      </p:sp>
      <p:sp>
        <p:nvSpPr>
          <p:cNvPr id="7" name="Shape 5"/>
          <p:cNvSpPr/>
          <p:nvPr/>
        </p:nvSpPr>
        <p:spPr>
          <a:xfrm>
            <a:off x="3520440" y="2514600"/>
            <a:ext cx="0" cy="237744"/>
          </a:xfrm>
          <a:prstGeom prst="line">
            <a:avLst/>
          </a:prstGeom>
          <a:noFill/>
          <a:ln w="15875">
            <a:solidFill>
              <a:srgbClr val="86868B"/>
            </a:solidFill>
            <a:prstDash val="solid"/>
            <a:tailEnd type="triangle"/>
          </a:ln>
        </p:spPr>
      </p:sp>
      <p:sp>
        <p:nvSpPr>
          <p:cNvPr id="8" name="Shape 6"/>
          <p:cNvSpPr/>
          <p:nvPr/>
        </p:nvSpPr>
        <p:spPr>
          <a:xfrm>
            <a:off x="822960" y="2752344"/>
            <a:ext cx="5394960" cy="731520"/>
          </a:xfrm>
          <a:prstGeom prst="roundRect">
            <a:avLst>
              <a:gd name="adj" fmla="val 11250"/>
            </a:avLst>
          </a:prstGeom>
          <a:solidFill>
            <a:srgbClr val="FFFFFF"/>
          </a:solidFill>
          <a:ln w="12700">
            <a:solidFill>
              <a:srgbClr val="D2D2D7"/>
            </a:solidFill>
            <a:prstDash val="solid"/>
          </a:ln>
        </p:spPr>
      </p:sp>
      <p:sp>
        <p:nvSpPr>
          <p:cNvPr id="9" name="Text 7"/>
          <p:cNvSpPr/>
          <p:nvPr/>
        </p:nvSpPr>
        <p:spPr>
          <a:xfrm>
            <a:off x="822960" y="2752344"/>
            <a:ext cx="5394960" cy="73152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2. Changed source → running VM</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over the dev service protocol</a:t>
            </a:r>
            <a:endParaRPr lang="en-US" sz="1350" dirty="0"/>
          </a:p>
        </p:txBody>
      </p:sp>
      <p:sp>
        <p:nvSpPr>
          <p:cNvPr id="10" name="Shape 8"/>
          <p:cNvSpPr/>
          <p:nvPr/>
        </p:nvSpPr>
        <p:spPr>
          <a:xfrm>
            <a:off x="3520440" y="3483864"/>
            <a:ext cx="0" cy="237744"/>
          </a:xfrm>
          <a:prstGeom prst="line">
            <a:avLst/>
          </a:prstGeom>
          <a:noFill/>
          <a:ln w="15875">
            <a:solidFill>
              <a:srgbClr val="86868B"/>
            </a:solidFill>
            <a:prstDash val="solid"/>
            <a:tailEnd type="triangle"/>
          </a:ln>
        </p:spPr>
      </p:sp>
      <p:sp>
        <p:nvSpPr>
          <p:cNvPr id="11" name="Shape 9"/>
          <p:cNvSpPr/>
          <p:nvPr/>
        </p:nvSpPr>
        <p:spPr>
          <a:xfrm>
            <a:off x="822960" y="3721608"/>
            <a:ext cx="5394960" cy="731520"/>
          </a:xfrm>
          <a:prstGeom prst="roundRect">
            <a:avLst>
              <a:gd name="adj" fmla="val 11250"/>
            </a:avLst>
          </a:prstGeom>
          <a:solidFill>
            <a:srgbClr val="000000"/>
          </a:solidFill>
          <a:ln/>
        </p:spPr>
      </p:sp>
      <p:sp>
        <p:nvSpPr>
          <p:cNvPr id="12" name="Text 10"/>
          <p:cNvSpPr/>
          <p:nvPr/>
        </p:nvSpPr>
        <p:spPr>
          <a:xfrm>
            <a:off x="822960" y="3721608"/>
            <a:ext cx="539496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3. The VM re-JITs it in place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existing objects stay alive</a:t>
            </a:r>
            <a:endParaRPr lang="en-US" sz="1350" dirty="0"/>
          </a:p>
        </p:txBody>
      </p:sp>
      <p:sp>
        <p:nvSpPr>
          <p:cNvPr id="13" name="Shape 11"/>
          <p:cNvSpPr/>
          <p:nvPr/>
        </p:nvSpPr>
        <p:spPr>
          <a:xfrm>
            <a:off x="3520440" y="4453128"/>
            <a:ext cx="0" cy="237744"/>
          </a:xfrm>
          <a:prstGeom prst="line">
            <a:avLst/>
          </a:prstGeom>
          <a:noFill/>
          <a:ln w="15875">
            <a:solidFill>
              <a:srgbClr val="86868B"/>
            </a:solidFill>
            <a:prstDash val="solid"/>
            <a:tailEnd type="triangle"/>
          </a:ln>
        </p:spPr>
      </p:sp>
      <p:sp>
        <p:nvSpPr>
          <p:cNvPr id="14" name="Shape 12"/>
          <p:cNvSpPr/>
          <p:nvPr/>
        </p:nvSpPr>
        <p:spPr>
          <a:xfrm>
            <a:off x="822960" y="4690872"/>
            <a:ext cx="5394960" cy="731520"/>
          </a:xfrm>
          <a:prstGeom prst="roundRect">
            <a:avLst>
              <a:gd name="adj" fmla="val 11250"/>
            </a:avLst>
          </a:prstGeom>
          <a:solidFill>
            <a:srgbClr val="FFFFFF"/>
          </a:solidFill>
          <a:ln w="12700">
            <a:solidFill>
              <a:srgbClr val="D2D2D7"/>
            </a:solidFill>
            <a:prstDash val="solid"/>
          </a:ln>
        </p:spPr>
      </p:sp>
      <p:sp>
        <p:nvSpPr>
          <p:cNvPr id="15" name="Text 13"/>
          <p:cNvSpPr/>
          <p:nvPr/>
        </p:nvSpPr>
        <p:spPr>
          <a:xfrm>
            <a:off x="822960" y="4690872"/>
            <a:ext cx="5394960" cy="73152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4. Flutter rebuilds the tree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your app keeps its state</a:t>
            </a:r>
            <a:endParaRPr lang="en-US" sz="1350" dirty="0"/>
          </a:p>
        </p:txBody>
      </p:sp>
      <p:sp>
        <p:nvSpPr>
          <p:cNvPr id="16" name="Shape 14"/>
          <p:cNvSpPr/>
          <p:nvPr/>
        </p:nvSpPr>
        <p:spPr>
          <a:xfrm>
            <a:off x="6583680" y="1783080"/>
            <a:ext cx="4937760" cy="3639312"/>
          </a:xfrm>
          <a:prstGeom prst="roundRect">
            <a:avLst>
              <a:gd name="adj" fmla="val 3015"/>
            </a:avLst>
          </a:prstGeom>
          <a:solidFill>
            <a:srgbClr val="F5F5F7"/>
          </a:solidFill>
          <a:ln/>
        </p:spPr>
      </p:sp>
      <p:sp>
        <p:nvSpPr>
          <p:cNvPr id="17" name="Text 15"/>
          <p:cNvSpPr/>
          <p:nvPr/>
        </p:nvSpPr>
        <p:spPr>
          <a:xfrm>
            <a:off x="6903720" y="2039112"/>
            <a:ext cx="429768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What hot reload cannot do</a:t>
            </a:r>
            <a:endParaRPr lang="en-US" sz="1450" dirty="0"/>
          </a:p>
        </p:txBody>
      </p:sp>
      <p:sp>
        <p:nvSpPr>
          <p:cNvPr id="18" name="Text 16"/>
          <p:cNvSpPr/>
          <p:nvPr/>
        </p:nvSpPr>
        <p:spPr>
          <a:xfrm>
            <a:off x="6903720" y="2496312"/>
            <a:ext cx="4297680" cy="2679192"/>
          </a:xfrm>
          <a:prstGeom prst="rect">
            <a:avLst/>
          </a:prstGeom>
          <a:noFill/>
          <a:ln/>
        </p:spPr>
        <p:txBody>
          <a:bodyPr wrap="square" lIns="0" tIns="0" rIns="0" bIns="0" rtlCol="0" anchor="t"/>
          <a:lstStyle/>
          <a:p>
            <a:pPr indent="0" marL="0">
              <a:spcAft>
                <a:spcPts val="1000"/>
              </a:spcAft>
              <a:buNone/>
            </a:pPr>
            <a:r>
              <a:rPr lang="en-US" sz="1250" dirty="0">
                <a:solidFill>
                  <a:srgbClr val="1D1D1F"/>
                </a:solidFill>
                <a:latin typeface="Arial" pitchFamily="34" charset="0"/>
                <a:ea typeface="Arial" pitchFamily="34" charset="-122"/>
                <a:cs typeface="Arial" pitchFamily="34" charset="-120"/>
              </a:rPr>
              <a:t>Change main() or anything that only runs at start-up</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Change an enum into a class, or a generic type declaration</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Fix a compile error: the build has to succeed first</a:t>
            </a:r>
            <a:endParaRPr lang="en-US" sz="1250" dirty="0"/>
          </a:p>
          <a:p>
            <a:pPr indent="0" marL="0">
              <a:spcAft>
                <a:spcPts val="1000"/>
              </a:spcAft>
              <a:buNone/>
            </a:pPr>
            <a:r>
              <a:rPr lang="en-US" sz="1250" b="1" dirty="0">
                <a:solidFill>
                  <a:srgbClr val="1D1D1F"/>
                </a:solidFill>
                <a:latin typeface="Arial" pitchFamily="34" charset="0"/>
                <a:ea typeface="Arial" pitchFamily="34" charset="-122"/>
                <a:cs typeface="Arial" pitchFamily="34" charset="-120"/>
              </a:rPr>
              <a:t>Work in a release build: it is AOT machine code, and there is no VM to load new code into.</a:t>
            </a:r>
            <a:endParaRPr lang="en-US" sz="1250" dirty="0"/>
          </a:p>
          <a:p>
            <a:pPr indent="0" marL="0">
              <a:spcAft>
                <a:spcPts val="1000"/>
              </a:spcAft>
              <a:buNone/>
            </a:pPr>
            <a:r>
              <a:rPr lang="en-US" sz="1150" dirty="0">
                <a:solidFill>
                  <a:srgbClr val="86868B"/>
                </a:solidFill>
                <a:latin typeface="Courier New" pitchFamily="34" charset="0"/>
                <a:ea typeface="Courier New" pitchFamily="34" charset="-122"/>
                <a:cs typeface="Courier New" pitchFamily="34" charset="-120"/>
              </a:rPr>
              <a:t>r = reload  ·  R = restart (state lost)</a:t>
            </a:r>
            <a:endParaRPr lang="en-US" sz="1250" dirty="0"/>
          </a:p>
        </p:txBody>
      </p:sp>
      <p:sp>
        <p:nvSpPr>
          <p:cNvPr id="19" name="Shape 17"/>
          <p:cNvSpPr/>
          <p:nvPr/>
        </p:nvSpPr>
        <p:spPr>
          <a:xfrm>
            <a:off x="822960" y="5577840"/>
            <a:ext cx="10543032" cy="0"/>
          </a:xfrm>
          <a:prstGeom prst="line">
            <a:avLst/>
          </a:prstGeom>
          <a:noFill/>
          <a:ln w="9525">
            <a:solidFill>
              <a:srgbClr val="D2D2D7"/>
            </a:solidFill>
            <a:prstDash val="solid"/>
          </a:ln>
        </p:spPr>
      </p:sp>
      <p:sp>
        <p:nvSpPr>
          <p:cNvPr id="20" name="Text 18"/>
          <p:cNvSpPr/>
          <p:nvPr/>
        </p:nvSpPr>
        <p:spPr>
          <a:xfrm>
            <a:off x="822960" y="58064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Hot reload is the payoff of the JIT half of the spectrum.</a:t>
            </a:r>
            <a:pPr indent="0" marL="0">
              <a:buNone/>
            </a:pPr>
            <a:r>
              <a:rPr lang="en-US" sz="1400" dirty="0">
                <a:solidFill>
                  <a:srgbClr val="86868B"/>
                </a:solidFill>
                <a:latin typeface="Arial" pitchFamily="34" charset="0"/>
                <a:ea typeface="Arial" pitchFamily="34" charset="-122"/>
                <a:cs typeface="Arial" pitchFamily="34" charset="-120"/>
              </a:rPr>
              <a:t> It is a development-time feature, and it is the reason Dart kept its VM.</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FLUTTER</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Your toolchain: install, create, run</a:t>
            </a:r>
            <a:endParaRPr lang="en-US" sz="3000" dirty="0"/>
          </a:p>
        </p:txBody>
      </p:sp>
      <p:sp>
        <p:nvSpPr>
          <p:cNvPr id="5" name="Shape 3"/>
          <p:cNvSpPr/>
          <p:nvPr/>
        </p:nvSpPr>
        <p:spPr>
          <a:xfrm>
            <a:off x="822960" y="1783080"/>
            <a:ext cx="7040880" cy="4343400"/>
          </a:xfrm>
          <a:prstGeom prst="roundRect">
            <a:avLst>
              <a:gd name="adj" fmla="val 2526"/>
            </a:avLst>
          </a:prstGeom>
          <a:solidFill>
            <a:srgbClr val="F5F5F7"/>
          </a:solidFill>
          <a:ln/>
        </p:spPr>
      </p:sp>
      <p:sp>
        <p:nvSpPr>
          <p:cNvPr id="6" name="Text 4"/>
          <p:cNvSpPr/>
          <p:nvPr/>
        </p:nvSpPr>
        <p:spPr>
          <a:xfrm>
            <a:off x="1234440" y="2103120"/>
            <a:ext cx="6309360" cy="3749040"/>
          </a:xfrm>
          <a:prstGeom prst="rect">
            <a:avLst/>
          </a:prstGeom>
          <a:noFill/>
          <a:ln/>
        </p:spPr>
        <p:txBody>
          <a:bodyPr wrap="square" lIns="0" tIns="0" rIns="0" bIns="0" rtlCol="0" anchor="t"/>
          <a:lstStyle/>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docs.flutter.dev/install, then Android Studio for the</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Android SDK and an emulator, Xcode on macOS for iOS,</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and VS Code or IntelliJ with the Dart + Flutter plugins.</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flutter doctor</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checks every dependency and names what is missing</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flutter create my_app &amp;&amp; cd my_app</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flutter run</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debug build: JIT, hot reload (r), hot restart (R)</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 </a:t>
            </a:r>
            <a:endParaRPr lang="en-US" sz="1200" dirty="0"/>
          </a:p>
          <a:p>
            <a:pPr indent="0" marL="0">
              <a:lnSpc>
                <a:spcPts val="2200"/>
              </a:lnSpc>
              <a:buNone/>
            </a:pPr>
            <a:r>
              <a:rPr lang="en-US" sz="1200" dirty="0">
                <a:solidFill>
                  <a:srgbClr val="1D1D1F"/>
                </a:solidFill>
                <a:latin typeface="Courier New" pitchFamily="34" charset="0"/>
                <a:ea typeface="Courier New" pitchFamily="34" charset="-122"/>
                <a:cs typeface="Courier New" pitchFamily="34" charset="-120"/>
              </a:rPr>
              <a:t>flutter run --release</a:t>
            </a:r>
            <a:endParaRPr lang="en-US" sz="1200" dirty="0"/>
          </a:p>
          <a:p>
            <a:pPr indent="0" marL="0">
              <a:lnSpc>
                <a:spcPts val="2200"/>
              </a:lnSpc>
              <a:buNone/>
            </a:pPr>
            <a:r>
              <a:rPr lang="en-US" sz="1200" dirty="0">
                <a:solidFill>
                  <a:srgbClr val="86868B"/>
                </a:solidFill>
                <a:latin typeface="Courier New" pitchFamily="34" charset="0"/>
                <a:ea typeface="Courier New" pitchFamily="34" charset="-122"/>
                <a:cs typeface="Courier New" pitchFamily="34" charset="-120"/>
              </a:rPr>
              <a:t># AOT machine code: what your users actually run</a:t>
            </a:r>
            <a:endParaRPr lang="en-US" sz="1200" dirty="0"/>
          </a:p>
        </p:txBody>
      </p:sp>
      <p:sp>
        <p:nvSpPr>
          <p:cNvPr id="7" name="Text 5"/>
          <p:cNvSpPr/>
          <p:nvPr/>
        </p:nvSpPr>
        <p:spPr>
          <a:xfrm>
            <a:off x="8138160" y="1783080"/>
            <a:ext cx="3200400" cy="36576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In the lab this week</a:t>
            </a:r>
            <a:endParaRPr lang="en-US" sz="1450" dirty="0"/>
          </a:p>
        </p:txBody>
      </p:sp>
      <p:sp>
        <p:nvSpPr>
          <p:cNvPr id="8" name="Text 6"/>
          <p:cNvSpPr/>
          <p:nvPr/>
        </p:nvSpPr>
        <p:spPr>
          <a:xfrm>
            <a:off x="8138160" y="2221992"/>
            <a:ext cx="3200400" cy="4206240"/>
          </a:xfrm>
          <a:prstGeom prst="rect">
            <a:avLst/>
          </a:prstGeom>
          <a:noFill/>
          <a:ln/>
        </p:spPr>
        <p:txBody>
          <a:bodyPr wrap="square" lIns="0" tIns="0" rIns="0" bIns="0" rtlCol="0" anchor="t"/>
          <a:lstStyle/>
          <a:p>
            <a:pPr indent="0" marL="0">
              <a:spcAft>
                <a:spcPts val="1100"/>
              </a:spcAft>
              <a:buNone/>
            </a:pPr>
            <a:r>
              <a:rPr lang="en-US" sz="1150" dirty="0">
                <a:solidFill>
                  <a:srgbClr val="86868B"/>
                </a:solidFill>
                <a:latin typeface="Arial" pitchFamily="34" charset="0"/>
                <a:ea typeface="Arial" pitchFamily="34" charset="-122"/>
                <a:cs typeface="Arial" pitchFamily="34" charset="-120"/>
              </a:rPr>
              <a:t>Lab 2 walks the whole install end to end, on Windows, macOS and Linux.</a:t>
            </a:r>
            <a:endParaRPr lang="en-US" sz="1150" dirty="0"/>
          </a:p>
          <a:p>
            <a:pPr indent="0" marL="0">
              <a:spcAft>
                <a:spcPts val="1100"/>
              </a:spcAft>
              <a:buNone/>
            </a:pPr>
            <a:r>
              <a:rPr lang="en-US" sz="1150" dirty="0">
                <a:solidFill>
                  <a:srgbClr val="1D1D1F"/>
                </a:solidFill>
                <a:latin typeface="Arial" pitchFamily="34" charset="0"/>
                <a:ea typeface="Arial" pitchFamily="34" charset="-122"/>
                <a:cs typeface="Arial" pitchFamily="34" charset="-120"/>
              </a:rPr>
              <a:t>Run flutter doctor before you ask for help; it names the missing piece in one line.</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An Android emulator is enough for every lab. A real device is faster, and the only way to test sensors.</a:t>
            </a:r>
            <a:endParaRPr lang="en-US" sz="1150" dirty="0"/>
          </a:p>
          <a:p>
            <a:pPr indent="0" marL="0">
              <a:spcAft>
                <a:spcPts val="1100"/>
              </a:spcAft>
              <a:buNone/>
            </a:pPr>
            <a:r>
              <a:rPr lang="en-US" sz="1150" dirty="0">
                <a:solidFill>
                  <a:srgbClr val="86868B"/>
                </a:solidFill>
                <a:latin typeface="Arial" pitchFamily="34" charset="0"/>
                <a:ea typeface="Arial" pitchFamily="34" charset="-122"/>
                <a:cs typeface="Arial" pitchFamily="34" charset="-120"/>
              </a:rPr>
              <a:t>iOS builds need macOS and Xcode; the labs never require them.</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week</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Recap</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Compilation is a spectrum: Dart sits at two points on it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Types catch type errors; security is a separate discipline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Non-nullable by default: ? ?? ! late, and Kotlin maps 1:1</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Flutter = your Dart code, drawn by Impeller, AOT in release</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week</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Lab 2: install the SDK, run flutter doctor, create and run an app</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Rewrite the null-unsafe snippet from the handout using ?, ?? and promotion</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Push the lab on a branch and open a PR, the Lecture 1 loop</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Form your project team (max 3) and claim a concept-presentation topic</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dart.dev/language</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dart.dev/null-safety</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dart.dev/effective-dart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kotlinlang.org/docs/null-safety.html</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docs.flutter.dev/get-started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2</dc:title>
  <dc:subject>PptxGenJS Presentation</dc:subject>
  <dc:creator>Dinu-Ștefan Rusu</dc:creator>
  <cp:lastModifiedBy>Dinu-Ștefan Rusu</cp:lastModifiedBy>
  <cp:revision>1</cp:revision>
  <dcterms:created xsi:type="dcterms:W3CDTF">2026-08-08T15:40:13Z</dcterms:created>
  <dcterms:modified xsi:type="dcterms:W3CDTF">2026-08-08T15:40:13Z</dcterms:modified>
</cp:coreProperties>
</file>