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naming out loud: the old version of this deck opened with a market-size projection. Market size tells you nothing about which of these three to build, so it is gone. The deck now opens on the question that changes your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arithmetic on the board: 7e9 parameters × 4 bytes = 28 GB. Then ask what a phone has. The point is not that on-device LLMs are impossible. The point is that the size class is 1–4B, quantized and specialized, and that a laptop and a phone are not the same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plugins are community-maintained Dart wrappers over the native ML Kit SDKs; they call across a platform channel per invocation (channel mechanics → Lecture 12). That is fine for a photo, and it is why the barcode slide is about back-pressure rather than throughput.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deck pinned this slide to “a limited set of high-end devices as of mid-2024” and named two phone models. That sentence was already out of date when the deck was delivered. The durable version is the rule on this slide: query availability at runtime and always have a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deck named the package 'generative_ai', which does not exist; the real one was google_generative_ai, and it is now deprecated in favor of firebase_ai. Say that the deprecation strengthens the argument rather than weakening it: the replacement is the one with attestation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if you have a device to hand: it takes about a minute on an app you built yourself. The demo convinces students in a way the sentence does not. If there is no device, at least run strings over a release build of the lab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Users/dinu/dev/upb/mobile-and-embedded-computing/slides/assets/icons2/cloud-white.png">    </p:cNvPr>
          <p:cNvPicPr>
            <a:picLocks noChangeAspect="1"/>
          </p:cNvPicPr>
          <p:nvPr/>
        </p:nvPicPr>
        <p:blipFill>
          <a:blip r:embed="rId1"/>
          <a:stretch>
            <a:fillRect/>
          </a:stretch>
        </p:blipFill>
        <p:spPr>
          <a:xfrm>
            <a:off x="3433572" y="1600200"/>
            <a:ext cx="384048" cy="384048"/>
          </a:xfrm>
          <a:prstGeom prst="rect">
            <a:avLst/>
          </a:prstGeom>
        </p:spPr>
      </p:pic>
      <p:pic>
        <p:nvPicPr>
          <p:cNvPr id="3" name="Image 1" descr="/Users/dinu/dev/upb/mobile-and-embedded-computing/slides/assets/icons2/laptop-white.png">    </p:cNvPr>
          <p:cNvPicPr>
            <a:picLocks noChangeAspect="1"/>
          </p:cNvPicPr>
          <p:nvPr/>
        </p:nvPicPr>
        <p:blipFill>
          <a:blip r:embed="rId2"/>
          <a:stretch>
            <a:fillRect/>
          </a:stretch>
        </p:blipFill>
        <p:spPr>
          <a:xfrm>
            <a:off x="4421124" y="1600200"/>
            <a:ext cx="384048" cy="384048"/>
          </a:xfrm>
          <a:prstGeom prst="rect">
            <a:avLst/>
          </a:prstGeom>
        </p:spPr>
      </p:pic>
      <p:pic>
        <p:nvPicPr>
          <p:cNvPr id="4" name="Image 2" descr="/Users/dinu/dev/upb/mobile-and-embedded-computing/slides/assets/icons2/smartphone-white.png">    </p:cNvPr>
          <p:cNvPicPr>
            <a:picLocks noChangeAspect="1"/>
          </p:cNvPicPr>
          <p:nvPr/>
        </p:nvPicPr>
        <p:blipFill>
          <a:blip r:embed="rId3"/>
          <a:stretch>
            <a:fillRect/>
          </a:stretch>
        </p:blipFill>
        <p:spPr>
          <a:xfrm>
            <a:off x="5408676" y="1600200"/>
            <a:ext cx="384048" cy="384048"/>
          </a:xfrm>
          <a:prstGeom prst="rect">
            <a:avLst/>
          </a:prstGeom>
        </p:spPr>
      </p:pic>
      <p:pic>
        <p:nvPicPr>
          <p:cNvPr id="5" name="Image 3" descr="/Users/dinu/dev/upb/mobile-and-embedded-computing/slides/assets/icons2/watch-white.png">    </p:cNvPr>
          <p:cNvPicPr>
            <a:picLocks noChangeAspect="1"/>
          </p:cNvPicPr>
          <p:nvPr/>
        </p:nvPicPr>
        <p:blipFill>
          <a:blip r:embed="rId4"/>
          <a:stretch>
            <a:fillRect/>
          </a:stretch>
        </p:blipFill>
        <p:spPr>
          <a:xfrm>
            <a:off x="6396228" y="1600200"/>
            <a:ext cx="384048" cy="384048"/>
          </a:xfrm>
          <a:prstGeom prst="rect">
            <a:avLst/>
          </a:prstGeom>
        </p:spPr>
      </p:pic>
      <p:pic>
        <p:nvPicPr>
          <p:cNvPr id="6" name="Image 4" descr="/Users/dinu/dev/upb/mobile-and-embedded-computing/slides/assets/icons2/board-white.png">    </p:cNvPr>
          <p:cNvPicPr>
            <a:picLocks noChangeAspect="1"/>
          </p:cNvPicPr>
          <p:nvPr/>
        </p:nvPicPr>
        <p:blipFill>
          <a:blip r:embed="rId5"/>
          <a:stretch>
            <a:fillRect/>
          </a:stretch>
        </p:blipFill>
        <p:spPr>
          <a:xfrm>
            <a:off x="7383780" y="1600200"/>
            <a:ext cx="384048" cy="384048"/>
          </a:xfrm>
          <a:prstGeom prst="rect">
            <a:avLst/>
          </a:prstGeom>
        </p:spPr>
      </p:pic>
      <p:pic>
        <p:nvPicPr>
          <p:cNvPr id="7" name="Image 5" descr="/Users/dinu/dev/upb/mobile-and-embedded-computing/slides/assets/icons2/cpu-white.png">    </p:cNvPr>
          <p:cNvPicPr>
            <a:picLocks noChangeAspect="1"/>
          </p:cNvPicPr>
          <p:nvPr/>
        </p:nvPicPr>
        <p:blipFill>
          <a:blip r:embed="rId6"/>
          <a:stretch>
            <a:fillRect/>
          </a:stretch>
        </p:blipFill>
        <p:spPr>
          <a:xfrm>
            <a:off x="8371332" y="1600200"/>
            <a:ext cx="384048" cy="384048"/>
          </a:xfrm>
          <a:prstGeom prst="rect">
            <a:avLst/>
          </a:prstGeom>
        </p:spPr>
      </p:pic>
      <p:sp>
        <p:nvSpPr>
          <p:cNvPr id="8" name="Text 0"/>
          <p:cNvSpPr/>
          <p:nvPr/>
        </p:nvSpPr>
        <p:spPr>
          <a:xfrm>
            <a:off x="731520" y="2606040"/>
            <a:ext cx="10725912" cy="86868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AI in Flutter</a:t>
            </a:r>
            <a:endParaRPr lang="en-US" sz="4600" dirty="0"/>
          </a:p>
        </p:txBody>
      </p:sp>
      <p:sp>
        <p:nvSpPr>
          <p:cNvPr id="9" name="Text 1"/>
          <p:cNvSpPr/>
          <p:nvPr/>
        </p:nvSpPr>
        <p:spPr>
          <a:xfrm>
            <a:off x="731520" y="3611880"/>
            <a:ext cx="10725912" cy="411480"/>
          </a:xfrm>
          <a:prstGeom prst="rect">
            <a:avLst/>
          </a:prstGeom>
          <a:noFill/>
          <a:ln/>
        </p:spPr>
        <p:txBody>
          <a:bodyPr wrap="square" lIns="0" tIns="0" rIns="0" bIns="0" rtlCol="0" anchor="ctr"/>
          <a:lstStyle/>
          <a:p>
            <a:pPr algn="ctr" indent="0" marL="0">
              <a:buNone/>
            </a:pPr>
            <a:r>
              <a:rPr lang="en-US" sz="1700" dirty="0">
                <a:solidFill>
                  <a:srgbClr val="A1A1A6"/>
                </a:solidFill>
                <a:latin typeface="Arial" pitchFamily="34" charset="0"/>
                <a:ea typeface="Arial" pitchFamily="34" charset="-122"/>
                <a:cs typeface="Arial" pitchFamily="34" charset="-120"/>
              </a:rPr>
              <a:t>Lecture 9: on-device ML and connecting to LLMs</a:t>
            </a:r>
            <a:endParaRPr lang="en-US" sz="1700" dirty="0"/>
          </a:p>
        </p:txBody>
      </p:sp>
      <p:sp>
        <p:nvSpPr>
          <p:cNvPr id="10" name="Text 2"/>
          <p:cNvSpPr/>
          <p:nvPr/>
        </p:nvSpPr>
        <p:spPr>
          <a:xfrm>
            <a:off x="731520" y="5806440"/>
            <a:ext cx="10725912" cy="365760"/>
          </a:xfrm>
          <a:prstGeom prst="rect">
            <a:avLst/>
          </a:prstGeom>
          <a:noFill/>
          <a:ln/>
        </p:spPr>
        <p:txBody>
          <a:bodyPr wrap="square" lIns="0" tIns="0" rIns="0" bIns="0" rtlCol="0" anchor="ctr"/>
          <a:lstStyle/>
          <a:p>
            <a:pPr algn="ctr" indent="0" marL="0">
              <a:buNone/>
            </a:pPr>
            <a:r>
              <a:rPr lang="en-US" sz="1300" dirty="0">
                <a:solidFill>
                  <a:srgbClr val="6E6E73"/>
                </a:solidFill>
                <a:latin typeface="Arial" pitchFamily="34" charset="0"/>
                <a:ea typeface="Arial" pitchFamily="34" charset="-122"/>
                <a:cs typeface="Arial" pitchFamily="34" charset="-120"/>
              </a:rPr>
              <a:t>Dinu-Ștefan Rusu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ORIENTATION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Who's teaching this course</a:t>
            </a:r>
            <a:endParaRPr lang="en-US" sz="3000" dirty="0"/>
          </a:p>
        </p:txBody>
      </p:sp>
      <p:sp>
        <p:nvSpPr>
          <p:cNvPr id="5" name="Text 3"/>
          <p:cNvSpPr/>
          <p:nvPr/>
        </p:nvSpPr>
        <p:spPr>
          <a:xfrm>
            <a:off x="822960" y="1783080"/>
            <a:ext cx="5303520" cy="457200"/>
          </a:xfrm>
          <a:prstGeom prst="rect">
            <a:avLst/>
          </a:prstGeom>
          <a:noFill/>
          <a:ln/>
        </p:spPr>
        <p:txBody>
          <a:bodyPr wrap="square" lIns="0" tIns="0" rIns="0" bIns="0" rtlCol="0" anchor="ctr"/>
          <a:lstStyle/>
          <a:p>
            <a:pPr indent="0" marL="0">
              <a:buNone/>
            </a:pPr>
            <a:r>
              <a:rPr lang="en-US" sz="2200" b="1" dirty="0">
                <a:solidFill>
                  <a:srgbClr val="1D1D1F"/>
                </a:solidFill>
                <a:latin typeface="Arial" pitchFamily="34" charset="0"/>
                <a:ea typeface="Arial" pitchFamily="34" charset="-122"/>
                <a:cs typeface="Arial" pitchFamily="34" charset="-120"/>
              </a:rPr>
              <a:t>Dinu-Ștefan Rusu</a:t>
            </a:r>
            <a:endParaRPr lang="en-US" sz="2200" dirty="0"/>
          </a:p>
        </p:txBody>
      </p:sp>
      <p:sp>
        <p:nvSpPr>
          <p:cNvPr id="6" name="Text 4"/>
          <p:cNvSpPr/>
          <p:nvPr/>
        </p:nvSpPr>
        <p:spPr>
          <a:xfrm>
            <a:off x="822960" y="2331720"/>
            <a:ext cx="5303520" cy="1188720"/>
          </a:xfrm>
          <a:prstGeom prst="rect">
            <a:avLst/>
          </a:prstGeom>
          <a:noFill/>
          <a:ln/>
        </p:spPr>
        <p:txBody>
          <a:bodyPr wrap="square" lIns="0" tIns="0" rIns="0" bIns="0" rtlCol="0" anchor="ctr"/>
          <a:lstStyle/>
          <a:p>
            <a:pPr indent="0" marL="0">
              <a:spcAft>
                <a:spcPts val="600"/>
              </a:spcAft>
              <a:buNone/>
            </a:pPr>
            <a:r>
              <a:rPr lang="en-US" sz="1400" dirty="0">
                <a:solidFill>
                  <a:srgbClr val="86868B"/>
                </a:solidFill>
                <a:latin typeface="Arial" pitchFamily="34" charset="0"/>
                <a:ea typeface="Arial" pitchFamily="34" charset="-122"/>
                <a:cs typeface="Arial" pitchFamily="34" charset="-120"/>
              </a:rPr>
              <a:t>dinu_stefan.rusu@upb.ro</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Microsoft Teams course channel</a:t>
            </a:r>
            <a:endParaRPr lang="en-US" sz="1400" dirty="0"/>
          </a:p>
          <a:p>
            <a:pPr indent="0" marL="0">
              <a:spcAft>
                <a:spcPts val="600"/>
              </a:spcAft>
              <a:buNone/>
            </a:pPr>
            <a:r>
              <a:rPr lang="en-US" sz="1400" dirty="0">
                <a:solidFill>
                  <a:srgbClr val="86868B"/>
                </a:solidFill>
                <a:latin typeface="Arial" pitchFamily="34" charset="0"/>
                <a:ea typeface="Arial" pitchFamily="34" charset="-122"/>
                <a:cs typeface="Arial" pitchFamily="34" charset="-120"/>
              </a:rPr>
              <a:t>rusudinu.com</a:t>
            </a:r>
            <a:endParaRPr lang="en-US" sz="1400" dirty="0"/>
          </a:p>
        </p:txBody>
      </p:sp>
      <p:sp>
        <p:nvSpPr>
          <p:cNvPr id="7" name="Text 5"/>
          <p:cNvSpPr/>
          <p:nvPr/>
        </p:nvSpPr>
        <p:spPr>
          <a:xfrm>
            <a:off x="667512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45+</a:t>
            </a:r>
            <a:endParaRPr lang="en-US" sz="5600" dirty="0"/>
          </a:p>
        </p:txBody>
      </p:sp>
      <p:sp>
        <p:nvSpPr>
          <p:cNvPr id="8" name="Text 6"/>
          <p:cNvSpPr/>
          <p:nvPr/>
        </p:nvSpPr>
        <p:spPr>
          <a:xfrm>
            <a:off x="667512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Flutter apps shipped</a:t>
            </a:r>
            <a:endParaRPr lang="en-US" sz="1300" dirty="0"/>
          </a:p>
        </p:txBody>
      </p:sp>
      <p:sp>
        <p:nvSpPr>
          <p:cNvPr id="9" name="Text 7"/>
          <p:cNvSpPr/>
          <p:nvPr/>
        </p:nvSpPr>
        <p:spPr>
          <a:xfrm>
            <a:off x="9326880" y="1600200"/>
            <a:ext cx="2377440" cy="914400"/>
          </a:xfrm>
          <a:prstGeom prst="rect">
            <a:avLst/>
          </a:prstGeom>
          <a:noFill/>
          <a:ln/>
        </p:spPr>
        <p:txBody>
          <a:bodyPr wrap="square" lIns="0" tIns="0" rIns="0" bIns="0" rtlCol="0" anchor="ctr"/>
          <a:lstStyle/>
          <a:p>
            <a:pPr indent="0" marL="0">
              <a:buNone/>
            </a:pPr>
            <a:r>
              <a:rPr lang="en-US" sz="5600" dirty="0">
                <a:solidFill>
                  <a:srgbClr val="1D1D1F"/>
                </a:solidFill>
                <a:latin typeface="Arial" pitchFamily="34" charset="0"/>
                <a:ea typeface="Arial" pitchFamily="34" charset="-122"/>
                <a:cs typeface="Arial" pitchFamily="34" charset="-120"/>
              </a:rPr>
              <a:t>400k</a:t>
            </a:r>
            <a:endParaRPr lang="en-US" sz="5600" dirty="0"/>
          </a:p>
        </p:txBody>
      </p:sp>
      <p:sp>
        <p:nvSpPr>
          <p:cNvPr id="10" name="Text 8"/>
          <p:cNvSpPr/>
          <p:nvPr/>
        </p:nvSpPr>
        <p:spPr>
          <a:xfrm>
            <a:off x="9326880" y="2560320"/>
            <a:ext cx="2377440" cy="32004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installs across them</a:t>
            </a:r>
            <a:endParaRPr lang="en-US" sz="1300" dirty="0"/>
          </a:p>
        </p:txBody>
      </p:sp>
      <p:sp>
        <p:nvSpPr>
          <p:cNvPr id="11" name="Shape 9"/>
          <p:cNvSpPr/>
          <p:nvPr/>
        </p:nvSpPr>
        <p:spPr>
          <a:xfrm>
            <a:off x="822960" y="3977640"/>
            <a:ext cx="10543032" cy="0"/>
          </a:xfrm>
          <a:prstGeom prst="line">
            <a:avLst/>
          </a:prstGeom>
          <a:noFill/>
          <a:ln w="9525">
            <a:solidFill>
              <a:srgbClr val="D2D2D7"/>
            </a:solidFill>
            <a:prstDash val="solid"/>
          </a:ln>
        </p:spPr>
      </p:sp>
      <p:sp>
        <p:nvSpPr>
          <p:cNvPr id="12" name="Text 10"/>
          <p:cNvSpPr/>
          <p:nvPr/>
        </p:nvSpPr>
        <p:spPr>
          <a:xfrm>
            <a:off x="822960" y="4160520"/>
            <a:ext cx="10515600" cy="274320"/>
          </a:xfrm>
          <a:prstGeom prst="rect">
            <a:avLst/>
          </a:prstGeom>
          <a:noFill/>
          <a:ln/>
        </p:spPr>
        <p:txBody>
          <a:bodyPr wrap="square" lIns="0" tIns="0" rIns="0" bIns="0" rtlCol="0" anchor="ctr"/>
          <a:lstStyle/>
          <a:p>
            <a:pPr indent="0" marL="0">
              <a:buNone/>
            </a:pPr>
            <a:r>
              <a:rPr lang="en-US" sz="1100" spc="150" kern="0" dirty="0">
                <a:solidFill>
                  <a:srgbClr val="86868B"/>
                </a:solidFill>
                <a:latin typeface="Arial" pitchFamily="34" charset="0"/>
                <a:ea typeface="Arial" pitchFamily="34" charset="-122"/>
                <a:cs typeface="Arial" pitchFamily="34" charset="-120"/>
              </a:rPr>
              <a:t>Appeared in, spoken at &amp; partnered with</a:t>
            </a:r>
            <a:endParaRPr lang="en-US" sz="1100" dirty="0"/>
          </a:p>
        </p:txBody>
      </p:sp>
      <p:pic>
        <p:nvPicPr>
          <p:cNvPr id="13" name="Image 0" descr="/Users/dinu/dev/upb/mobile-and-embedded-computing/slides/assets/logos/image1.png">    </p:cNvPr>
          <p:cNvPicPr>
            <a:picLocks noChangeAspect="1"/>
          </p:cNvPicPr>
          <p:nvPr/>
        </p:nvPicPr>
        <p:blipFill>
          <a:blip r:embed="rId1"/>
          <a:stretch>
            <a:fillRect/>
          </a:stretch>
        </p:blipFill>
        <p:spPr>
          <a:xfrm>
            <a:off x="822960" y="4732477"/>
            <a:ext cx="1047902" cy="319126"/>
          </a:xfrm>
          <a:prstGeom prst="rect">
            <a:avLst/>
          </a:prstGeom>
        </p:spPr>
      </p:pic>
      <p:pic>
        <p:nvPicPr>
          <p:cNvPr id="14" name="Image 1" descr="/Users/dinu/dev/upb/mobile-and-embedded-computing/slides/assets/logos/image2.png">    </p:cNvPr>
          <p:cNvPicPr>
            <a:picLocks noChangeAspect="1"/>
          </p:cNvPicPr>
          <p:nvPr/>
        </p:nvPicPr>
        <p:blipFill>
          <a:blip r:embed="rId2"/>
          <a:stretch>
            <a:fillRect/>
          </a:stretch>
        </p:blipFill>
        <p:spPr>
          <a:xfrm>
            <a:off x="2155763" y="4675327"/>
            <a:ext cx="770839" cy="433426"/>
          </a:xfrm>
          <a:prstGeom prst="rect">
            <a:avLst/>
          </a:prstGeom>
        </p:spPr>
      </p:pic>
      <p:pic>
        <p:nvPicPr>
          <p:cNvPr id="15" name="Image 2" descr="/Users/dinu/dev/upb/mobile-and-embedded-computing/slides/assets/logos/image3.png">    </p:cNvPr>
          <p:cNvPicPr>
            <a:picLocks noChangeAspect="1"/>
          </p:cNvPicPr>
          <p:nvPr/>
        </p:nvPicPr>
        <p:blipFill>
          <a:blip r:embed="rId3"/>
          <a:stretch>
            <a:fillRect/>
          </a:stretch>
        </p:blipFill>
        <p:spPr>
          <a:xfrm>
            <a:off x="3211503" y="4715104"/>
            <a:ext cx="945490" cy="353873"/>
          </a:xfrm>
          <a:prstGeom prst="rect">
            <a:avLst/>
          </a:prstGeom>
        </p:spPr>
      </p:pic>
      <p:pic>
        <p:nvPicPr>
          <p:cNvPr id="16" name="Image 3" descr="/Users/dinu/dev/upb/mobile-and-embedded-computing/slides/assets/logos/image4.png">    </p:cNvPr>
          <p:cNvPicPr>
            <a:picLocks noChangeAspect="1"/>
          </p:cNvPicPr>
          <p:nvPr/>
        </p:nvPicPr>
        <p:blipFill>
          <a:blip r:embed="rId4"/>
          <a:stretch>
            <a:fillRect/>
          </a:stretch>
        </p:blipFill>
        <p:spPr>
          <a:xfrm>
            <a:off x="4441894" y="4716932"/>
            <a:ext cx="1313078" cy="350215"/>
          </a:xfrm>
          <a:prstGeom prst="rect">
            <a:avLst/>
          </a:prstGeom>
        </p:spPr>
      </p:pic>
      <p:pic>
        <p:nvPicPr>
          <p:cNvPr id="17" name="Image 4" descr="/Users/dinu/dev/upb/mobile-and-embedded-computing/slides/assets/logos/image5.png">    </p:cNvPr>
          <p:cNvPicPr>
            <a:picLocks noChangeAspect="1"/>
          </p:cNvPicPr>
          <p:nvPr/>
        </p:nvPicPr>
        <p:blipFill>
          <a:blip r:embed="rId5"/>
          <a:stretch>
            <a:fillRect/>
          </a:stretch>
        </p:blipFill>
        <p:spPr>
          <a:xfrm>
            <a:off x="6039873" y="4626864"/>
            <a:ext cx="611734" cy="530352"/>
          </a:xfrm>
          <a:prstGeom prst="rect">
            <a:avLst/>
          </a:prstGeom>
        </p:spPr>
      </p:pic>
      <p:pic>
        <p:nvPicPr>
          <p:cNvPr id="18" name="Image 5" descr="/Users/dinu/dev/upb/mobile-and-embedded-computing/slides/assets/logos/image6.png">    </p:cNvPr>
          <p:cNvPicPr>
            <a:picLocks noChangeAspect="1"/>
          </p:cNvPicPr>
          <p:nvPr/>
        </p:nvPicPr>
        <p:blipFill>
          <a:blip r:embed="rId6"/>
          <a:stretch>
            <a:fillRect/>
          </a:stretch>
        </p:blipFill>
        <p:spPr>
          <a:xfrm>
            <a:off x="6936508" y="4626864"/>
            <a:ext cx="846734" cy="530352"/>
          </a:xfrm>
          <a:prstGeom prst="rect">
            <a:avLst/>
          </a:prstGeom>
        </p:spPr>
      </p:pic>
      <p:pic>
        <p:nvPicPr>
          <p:cNvPr id="19" name="Image 6" descr="/Users/dinu/dev/upb/mobile-and-embedded-computing/slides/assets/logos/image7.png">    </p:cNvPr>
          <p:cNvPicPr>
            <a:picLocks noChangeAspect="1"/>
          </p:cNvPicPr>
          <p:nvPr/>
        </p:nvPicPr>
        <p:blipFill>
          <a:blip r:embed="rId7"/>
          <a:stretch>
            <a:fillRect/>
          </a:stretch>
        </p:blipFill>
        <p:spPr>
          <a:xfrm>
            <a:off x="8068143" y="4767682"/>
            <a:ext cx="1691640" cy="248717"/>
          </a:xfrm>
          <a:prstGeom prst="rect">
            <a:avLst/>
          </a:prstGeom>
        </p:spPr>
      </p:pic>
      <p:pic>
        <p:nvPicPr>
          <p:cNvPr id="20" name="Image 7" descr="/Users/dinu/dev/upb/mobile-and-embedded-computing/slides/assets/logos/image8.png">    </p:cNvPr>
          <p:cNvPicPr>
            <a:picLocks noChangeAspect="1"/>
          </p:cNvPicPr>
          <p:nvPr/>
        </p:nvPicPr>
        <p:blipFill>
          <a:blip r:embed="rId8"/>
          <a:stretch>
            <a:fillRect/>
          </a:stretch>
        </p:blipFill>
        <p:spPr>
          <a:xfrm>
            <a:off x="10044684" y="4717847"/>
            <a:ext cx="1321308" cy="348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TODAY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What you should leave with</a:t>
            </a:r>
            <a:endParaRPr lang="en-US" sz="3000" dirty="0"/>
          </a:p>
        </p:txBody>
      </p:sp>
      <p:pic>
        <p:nvPicPr>
          <p:cNvPr id="5" name="Image 0" descr="/Users/dinu/dev/upb/mobile-and-embedded-computing/slides/assets/icons2/scale-ink.png">    </p:cNvPr>
          <p:cNvPicPr>
            <a:picLocks noChangeAspect="1"/>
          </p:cNvPicPr>
          <p:nvPr/>
        </p:nvPicPr>
        <p:blipFill>
          <a:blip r:embed="rId1"/>
          <a:stretch>
            <a:fillRect/>
          </a:stretch>
        </p:blipFill>
        <p:spPr>
          <a:xfrm>
            <a:off x="822960" y="1874520"/>
            <a:ext cx="384048" cy="384048"/>
          </a:xfrm>
          <a:prstGeom prst="rect">
            <a:avLst/>
          </a:prstGeom>
        </p:spPr>
      </p:pic>
      <p:sp>
        <p:nvSpPr>
          <p:cNvPr id="6" name="Text 3"/>
          <p:cNvSpPr/>
          <p:nvPr/>
        </p:nvSpPr>
        <p:spPr>
          <a:xfrm>
            <a:off x="1508760" y="1828800"/>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On-device or cloud</a:t>
            </a:r>
            <a:endParaRPr lang="en-US" sz="1600" dirty="0"/>
          </a:p>
        </p:txBody>
      </p:sp>
      <p:sp>
        <p:nvSpPr>
          <p:cNvPr id="7" name="Text 4"/>
          <p:cNvSpPr/>
          <p:nvPr/>
        </p:nvSpPr>
        <p:spPr>
          <a:xfrm>
            <a:off x="4709160" y="1828800"/>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The variables that decide it: latency, privacy, offline, cost per call, capability ceiling</a:t>
            </a:r>
            <a:endParaRPr lang="en-US" sz="1300" dirty="0"/>
          </a:p>
        </p:txBody>
      </p:sp>
      <p:sp>
        <p:nvSpPr>
          <p:cNvPr id="8" name="Shape 5"/>
          <p:cNvSpPr/>
          <p:nvPr/>
        </p:nvSpPr>
        <p:spPr>
          <a:xfrm>
            <a:off x="822960" y="2432304"/>
            <a:ext cx="10543032" cy="0"/>
          </a:xfrm>
          <a:prstGeom prst="line">
            <a:avLst/>
          </a:prstGeom>
          <a:noFill/>
          <a:ln w="9525">
            <a:solidFill>
              <a:srgbClr val="D2D2D7"/>
            </a:solidFill>
            <a:prstDash val="solid"/>
          </a:ln>
        </p:spPr>
      </p:sp>
      <p:pic>
        <p:nvPicPr>
          <p:cNvPr id="9" name="Image 1" descr="/Users/dinu/dev/upb/mobile-and-embedded-computing/slides/assets/icons2/microchip-ink.png">    </p:cNvPr>
          <p:cNvPicPr>
            <a:picLocks noChangeAspect="1"/>
          </p:cNvPicPr>
          <p:nvPr/>
        </p:nvPicPr>
        <p:blipFill>
          <a:blip r:embed="rId2"/>
          <a:stretch>
            <a:fillRect/>
          </a:stretch>
        </p:blipFill>
        <p:spPr>
          <a:xfrm>
            <a:off x="822960" y="2587752"/>
            <a:ext cx="384048" cy="384048"/>
          </a:xfrm>
          <a:prstGeom prst="rect">
            <a:avLst/>
          </a:prstGeom>
        </p:spPr>
      </p:pic>
      <p:sp>
        <p:nvSpPr>
          <p:cNvPr id="10" name="Text 6"/>
          <p:cNvSpPr/>
          <p:nvPr/>
        </p:nvSpPr>
        <p:spPr>
          <a:xfrm>
            <a:off x="1508760" y="2542032"/>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ML Kit and LiteRT</a:t>
            </a:r>
            <a:endParaRPr lang="en-US" sz="1600" dirty="0"/>
          </a:p>
        </p:txBody>
      </p:sp>
      <p:sp>
        <p:nvSpPr>
          <p:cNvPr id="11" name="Text 7"/>
          <p:cNvSpPr/>
          <p:nvPr/>
        </p:nvSpPr>
        <p:spPr>
          <a:xfrm>
            <a:off x="4709160" y="2542032"/>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Real Dart for text and barcodes, plus your own quantized model through tflite_flutter</a:t>
            </a:r>
            <a:endParaRPr lang="en-US" sz="1300" dirty="0"/>
          </a:p>
        </p:txBody>
      </p:sp>
      <p:sp>
        <p:nvSpPr>
          <p:cNvPr id="12" name="Shape 8"/>
          <p:cNvSpPr/>
          <p:nvPr/>
        </p:nvSpPr>
        <p:spPr>
          <a:xfrm>
            <a:off x="822960" y="3145536"/>
            <a:ext cx="10543032" cy="0"/>
          </a:xfrm>
          <a:prstGeom prst="line">
            <a:avLst/>
          </a:prstGeom>
          <a:noFill/>
          <a:ln w="9525">
            <a:solidFill>
              <a:srgbClr val="D2D2D7"/>
            </a:solidFill>
            <a:prstDash val="solid"/>
          </a:ln>
        </p:spPr>
      </p:sp>
      <p:pic>
        <p:nvPicPr>
          <p:cNvPr id="13" name="Image 2" descr="/Users/dinu/dev/upb/mobile-and-embedded-computing/slides/assets/icons2/key-ink.png">    </p:cNvPr>
          <p:cNvPicPr>
            <a:picLocks noChangeAspect="1"/>
          </p:cNvPicPr>
          <p:nvPr/>
        </p:nvPicPr>
        <p:blipFill>
          <a:blip r:embed="rId3"/>
          <a:stretch>
            <a:fillRect/>
          </a:stretch>
        </p:blipFill>
        <p:spPr>
          <a:xfrm>
            <a:off x="822960" y="3300984"/>
            <a:ext cx="384048" cy="384048"/>
          </a:xfrm>
          <a:prstGeom prst="rect">
            <a:avLst/>
          </a:prstGeom>
        </p:spPr>
      </p:pic>
      <p:sp>
        <p:nvSpPr>
          <p:cNvPr id="14" name="Text 9"/>
          <p:cNvSpPr/>
          <p:nvPr/>
        </p:nvSpPr>
        <p:spPr>
          <a:xfrm>
            <a:off x="1508760" y="3255264"/>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Where the API key lives</a:t>
            </a:r>
            <a:endParaRPr lang="en-US" sz="1600" dirty="0"/>
          </a:p>
        </p:txBody>
      </p:sp>
      <p:sp>
        <p:nvSpPr>
          <p:cNvPr id="15" name="Text 10"/>
          <p:cNvSpPr/>
          <p:nvPr/>
        </p:nvSpPr>
        <p:spPr>
          <a:xfrm>
            <a:off x="4709160" y="3255264"/>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Why a key inside an app binary is public, and the two architectures that fix it</a:t>
            </a:r>
            <a:endParaRPr lang="en-US" sz="1300" dirty="0"/>
          </a:p>
        </p:txBody>
      </p:sp>
      <p:sp>
        <p:nvSpPr>
          <p:cNvPr id="16" name="Shape 11"/>
          <p:cNvSpPr/>
          <p:nvPr/>
        </p:nvSpPr>
        <p:spPr>
          <a:xfrm>
            <a:off x="822960" y="3858768"/>
            <a:ext cx="10543032" cy="0"/>
          </a:xfrm>
          <a:prstGeom prst="line">
            <a:avLst/>
          </a:prstGeom>
          <a:noFill/>
          <a:ln w="9525">
            <a:solidFill>
              <a:srgbClr val="D2D2D7"/>
            </a:solidFill>
            <a:prstDash val="solid"/>
          </a:ln>
        </p:spPr>
      </p:sp>
      <p:pic>
        <p:nvPicPr>
          <p:cNvPr id="17" name="Image 3" descr="/Users/dinu/dev/upb/mobile-and-embedded-computing/slides/assets/icons2/waves-ink.png">    </p:cNvPr>
          <p:cNvPicPr>
            <a:picLocks noChangeAspect="1"/>
          </p:cNvPicPr>
          <p:nvPr/>
        </p:nvPicPr>
        <p:blipFill>
          <a:blip r:embed="rId4"/>
          <a:stretch>
            <a:fillRect/>
          </a:stretch>
        </p:blipFill>
        <p:spPr>
          <a:xfrm>
            <a:off x="822960" y="4014216"/>
            <a:ext cx="384048" cy="384048"/>
          </a:xfrm>
          <a:prstGeom prst="rect">
            <a:avLst/>
          </a:prstGeom>
        </p:spPr>
      </p:pic>
      <p:sp>
        <p:nvSpPr>
          <p:cNvPr id="18" name="Text 12"/>
          <p:cNvSpPr/>
          <p:nvPr/>
        </p:nvSpPr>
        <p:spPr>
          <a:xfrm>
            <a:off x="1508760" y="3968496"/>
            <a:ext cx="3017520" cy="502920"/>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LLMs in a real UI</a:t>
            </a:r>
            <a:endParaRPr lang="en-US" sz="1600" dirty="0"/>
          </a:p>
        </p:txBody>
      </p:sp>
      <p:sp>
        <p:nvSpPr>
          <p:cNvPr id="19" name="Text 13"/>
          <p:cNvSpPr/>
          <p:nvPr/>
        </p:nvSpPr>
        <p:spPr>
          <a:xfrm>
            <a:off x="4709160" y="3968496"/>
            <a:ext cx="6675120" cy="502920"/>
          </a:xfrm>
          <a:prstGeom prst="rect">
            <a:avLst/>
          </a:prstGeom>
          <a:noFill/>
          <a:ln/>
        </p:spPr>
        <p:txBody>
          <a:bodyPr wrap="square" lIns="0" tIns="0" rIns="0" bIns="0" rtlCol="0" anchor="ctr"/>
          <a:lstStyle/>
          <a:p>
            <a:pPr indent="0" marL="0">
              <a:buNone/>
            </a:pPr>
            <a:r>
              <a:rPr lang="en-US" sz="1300" dirty="0">
                <a:solidFill>
                  <a:srgbClr val="86868B"/>
                </a:solidFill>
                <a:latin typeface="Arial" pitchFamily="34" charset="0"/>
                <a:ea typeface="Arial" pitchFamily="34" charset="-122"/>
                <a:cs typeface="Arial" pitchFamily="34" charset="-120"/>
              </a:rPr>
              <a:t>Streaming, timeouts, token cost, and validating output you cannot trust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1 · THE DECISION</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On the device, or on someone else's GPU</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Five variables: latency, privacy, offline, cost, capability ceiling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DECISION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Three different things called “AI in the app”</a:t>
            </a:r>
            <a:endParaRPr lang="en-US" sz="3000" dirty="0"/>
          </a:p>
        </p:txBody>
      </p:sp>
      <p:pic>
        <p:nvPicPr>
          <p:cNvPr id="5" name="Image 0" descr="/Users/dinu/dev/upb/mobile-and-embedded-computing/slides/assets/icons2/scantext-ink.png">    </p:cNvPr>
          <p:cNvPicPr>
            <a:picLocks noChangeAspect="1"/>
          </p:cNvPicPr>
          <p:nvPr/>
        </p:nvPicPr>
        <p:blipFill>
          <a:blip r:embed="rId1"/>
          <a:stretch>
            <a:fillRect/>
          </a:stretch>
        </p:blipFill>
        <p:spPr>
          <a:xfrm>
            <a:off x="822960" y="1965960"/>
            <a:ext cx="384048" cy="384048"/>
          </a:xfrm>
          <a:prstGeom prst="rect">
            <a:avLst/>
          </a:prstGeom>
        </p:spPr>
      </p:pic>
      <p:sp>
        <p:nvSpPr>
          <p:cNvPr id="6" name="Text 3"/>
          <p:cNvSpPr/>
          <p:nvPr/>
        </p:nvSpPr>
        <p:spPr>
          <a:xfrm>
            <a:off x="822960" y="2496312"/>
            <a:ext cx="318211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Classic on-device ML</a:t>
            </a:r>
            <a:endParaRPr lang="en-US" sz="1450" dirty="0"/>
          </a:p>
        </p:txBody>
      </p:sp>
      <p:sp>
        <p:nvSpPr>
          <p:cNvPr id="7" name="Text 4"/>
          <p:cNvSpPr/>
          <p:nvPr/>
        </p:nvSpPr>
        <p:spPr>
          <a:xfrm>
            <a:off x="822960" y="2953512"/>
            <a:ext cx="318211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A fixed-purpose model runs locally: read text, find a barcode, locate a face. Milliseconds, offline, nothing leaves the phone.</a:t>
            </a:r>
            <a:endParaRPr lang="en-US" sz="1150" dirty="0"/>
          </a:p>
        </p:txBody>
      </p:sp>
      <p:pic>
        <p:nvPicPr>
          <p:cNvPr id="8" name="Image 1" descr="/Users/dinu/dev/upb/mobile-and-embedded-computing/slides/assets/icons2/sparkles-ink.png">    </p:cNvPr>
          <p:cNvPicPr>
            <a:picLocks noChangeAspect="1"/>
          </p:cNvPicPr>
          <p:nvPr/>
        </p:nvPicPr>
        <p:blipFill>
          <a:blip r:embed="rId2"/>
          <a:stretch>
            <a:fillRect/>
          </a:stretch>
        </p:blipFill>
        <p:spPr>
          <a:xfrm>
            <a:off x="4507992" y="1965960"/>
            <a:ext cx="384048" cy="384048"/>
          </a:xfrm>
          <a:prstGeom prst="rect">
            <a:avLst/>
          </a:prstGeom>
        </p:spPr>
      </p:pic>
      <p:sp>
        <p:nvSpPr>
          <p:cNvPr id="9" name="Text 5"/>
          <p:cNvSpPr/>
          <p:nvPr/>
        </p:nvSpPr>
        <p:spPr>
          <a:xfrm>
            <a:off x="4507992" y="2496312"/>
            <a:ext cx="318211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On-device generative</a:t>
            </a:r>
            <a:endParaRPr lang="en-US" sz="1450" dirty="0"/>
          </a:p>
        </p:txBody>
      </p:sp>
      <p:sp>
        <p:nvSpPr>
          <p:cNvPr id="10" name="Text 6"/>
          <p:cNvSpPr/>
          <p:nvPr/>
        </p:nvSpPr>
        <p:spPr>
          <a:xfrm>
            <a:off x="4507992" y="2953512"/>
            <a:ext cx="318211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A small language model on the phone's NPU: summarize, proofread, rewrite. Gated on hardware, so never guaranteed.</a:t>
            </a:r>
            <a:endParaRPr lang="en-US" sz="1150" dirty="0"/>
          </a:p>
        </p:txBody>
      </p:sp>
      <p:pic>
        <p:nvPicPr>
          <p:cNvPr id="11" name="Image 2" descr="/Users/dinu/dev/upb/mobile-and-embedded-computing/slides/assets/icons2/cloud-ink.png">    </p:cNvPr>
          <p:cNvPicPr>
            <a:picLocks noChangeAspect="1"/>
          </p:cNvPicPr>
          <p:nvPr/>
        </p:nvPicPr>
        <p:blipFill>
          <a:blip r:embed="rId3"/>
          <a:stretch>
            <a:fillRect/>
          </a:stretch>
        </p:blipFill>
        <p:spPr>
          <a:xfrm>
            <a:off x="8193024" y="1965960"/>
            <a:ext cx="384048" cy="384048"/>
          </a:xfrm>
          <a:prstGeom prst="rect">
            <a:avLst/>
          </a:prstGeom>
        </p:spPr>
      </p:pic>
      <p:sp>
        <p:nvSpPr>
          <p:cNvPr id="12" name="Text 7"/>
          <p:cNvSpPr/>
          <p:nvPr/>
        </p:nvSpPr>
        <p:spPr>
          <a:xfrm>
            <a:off x="8193024" y="2496312"/>
            <a:ext cx="318211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A cloud LLM</a:t>
            </a:r>
            <a:endParaRPr lang="en-US" sz="1450" dirty="0"/>
          </a:p>
        </p:txBody>
      </p:sp>
      <p:sp>
        <p:nvSpPr>
          <p:cNvPr id="13" name="Text 8"/>
          <p:cNvSpPr/>
          <p:nvPr/>
        </p:nvSpPr>
        <p:spPr>
          <a:xfrm>
            <a:off x="8193024" y="2953512"/>
            <a:ext cx="318211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A large model on someone else's machines. Highest capability, network-bound, and billed per token. It is also where this lecture's security problems come from.</a:t>
            </a:r>
            <a:endParaRPr lang="en-US" sz="1150" dirty="0"/>
          </a:p>
        </p:txBody>
      </p:sp>
      <p:sp>
        <p:nvSpPr>
          <p:cNvPr id="14" name="Text 9"/>
          <p:cNvSpPr/>
          <p:nvPr/>
        </p:nvSpPr>
        <p:spPr>
          <a:xfrm>
            <a:off x="822960" y="4160520"/>
            <a:ext cx="10543032" cy="1371600"/>
          </a:xfrm>
          <a:prstGeom prst="rect">
            <a:avLst/>
          </a:prstGeom>
          <a:noFill/>
          <a:ln/>
        </p:spPr>
        <p:txBody>
          <a:bodyPr wrap="square" lIns="0" tIns="0" rIns="0" bIns="0" rtlCol="0" anchor="t"/>
          <a:lstStyle/>
          <a:p>
            <a:pPr indent="0" marL="0">
              <a:spcAft>
                <a:spcPts val="1200"/>
              </a:spcAft>
              <a:buNone/>
            </a:pPr>
            <a:r>
              <a:rPr lang="en-US" sz="1350" dirty="0">
                <a:solidFill>
                  <a:srgbClr val="1D1D1F"/>
                </a:solidFill>
                <a:latin typeface="Arial" pitchFamily="34" charset="0"/>
                <a:ea typeface="Arial" pitchFamily="34" charset="-122"/>
                <a:cs typeface="Arial" pitchFamily="34" charset="-120"/>
              </a:rPr>
              <a:t>They are not three sizes of the same thing. They differ in where the compute happens, who pays for it, what happens with no network, and what an attacker can reach.</a:t>
            </a:r>
            <a:endParaRPr lang="en-US" sz="1350" dirty="0"/>
          </a:p>
          <a:p>
            <a:pPr indent="0" marL="0">
              <a:spcAft>
                <a:spcPts val="1200"/>
              </a:spcAft>
              <a:buNone/>
            </a:pPr>
            <a:r>
              <a:rPr lang="en-US" sz="1350" b="1" dirty="0">
                <a:solidFill>
                  <a:srgbClr val="1D1D1F"/>
                </a:solidFill>
                <a:latin typeface="Arial" pitchFamily="34" charset="0"/>
                <a:ea typeface="Arial" pitchFamily="34" charset="-122"/>
                <a:cs typeface="Arial" pitchFamily="34" charset="-120"/>
              </a:rPr>
              <a:t>Picking one is an architecture decision. It is not a library choice, and it is very expensive to reverse late.</a:t>
            </a:r>
            <a:endParaRPr lang="en-US" sz="1350" dirty="0"/>
          </a:p>
        </p:txBody>
      </p:sp>
      <p:sp>
        <p:nvSpPr>
          <p:cNvPr id="15" name="Shape 10"/>
          <p:cNvSpPr/>
          <p:nvPr/>
        </p:nvSpPr>
        <p:spPr>
          <a:xfrm>
            <a:off x="822960" y="5394960"/>
            <a:ext cx="10543032" cy="0"/>
          </a:xfrm>
          <a:prstGeom prst="line">
            <a:avLst/>
          </a:prstGeom>
          <a:noFill/>
          <a:ln w="9525">
            <a:solidFill>
              <a:srgbClr val="D2D2D7"/>
            </a:solidFill>
            <a:prstDash val="solid"/>
          </a:ln>
        </p:spPr>
      </p:sp>
      <p:sp>
        <p:nvSpPr>
          <p:cNvPr id="16" name="Text 11"/>
          <p:cNvSpPr/>
          <p:nvPr/>
        </p:nvSpPr>
        <p:spPr>
          <a:xfrm>
            <a:off x="822960" y="562356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Most shipping apps use two of the three.</a:t>
            </a:r>
            <a:pPr indent="0" marL="0">
              <a:buNone/>
            </a:pPr>
            <a:r>
              <a:rPr lang="en-US" sz="1400" dirty="0">
                <a:solidFill>
                  <a:srgbClr val="86868B"/>
                </a:solidFill>
                <a:latin typeface="Arial" pitchFamily="34" charset="0"/>
                <a:ea typeface="Arial" pitchFamily="34" charset="-122"/>
                <a:cs typeface="Arial" pitchFamily="34" charset="-120"/>
              </a:rPr>
              <a:t> The boundary between them is where most of the design work sits.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DECISION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On-device vs cloud, variable by variable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543032" cy="914400"/>
        </p:xfrm>
        <a:graphic>
          <a:graphicData uri="http://schemas.openxmlformats.org/drawingml/2006/table">
            <a:tbl>
              <a:tblPr/>
              <a:tblGrid>
                <a:gridCol w="2377440"/>
                <a:gridCol w="4082796"/>
                <a:gridCol w="4082796"/>
              </a:tblGrid>
              <a:tr h="438912">
                <a:tc>
                  <a:txBody>
                    <a:bodyPr/>
                    <a:lstStyle/>
                    <a:p>
                      <a:pPr indent="0" marL="0">
                        <a:buNone/>
                      </a:pP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On-device</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Cloud</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Latency</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1–50 ms, no network involved</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300 ms – several seconds, plus the round trip</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No connection</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works, because offline is a normal state</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the feature does not exist</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Where the data goes</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nowhere; it never leaves the device</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to a third party: a residency and GDPR question</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Marginal cost per call</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zero, forever</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per token, forever</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Capability ceiling</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whatever fits in RAM</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the largest model in production</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Battery</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your CPU / GPU / NPU burns it</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the radio burns it, and radios are expensive</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438912">
                <a:tc>
                  <a:txBody>
                    <a:bodyPr/>
                    <a:lstStyle/>
                    <a:p>
                      <a:pPr algn="l" indent="0" marL="0">
                        <a:buNone/>
                      </a:pPr>
                      <a:r>
                        <a:rPr lang="en-US" sz="1050" dirty="0">
                          <a:solidFill>
                            <a:srgbClr val="86868B"/>
                          </a:solidFill>
                          <a:latin typeface="Arial" pitchFamily="34" charset="0"/>
                          <a:ea typeface="Arial" pitchFamily="34" charset="-122"/>
                          <a:cs typeface="Arial" pitchFamily="34" charset="-120"/>
                        </a:rPr>
                        <a:t>Updating the model</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050" b="1" dirty="0">
                          <a:solidFill>
                            <a:srgbClr val="1D1D1F"/>
                          </a:solidFill>
                          <a:latin typeface="Arial" pitchFamily="34" charset="0"/>
                          <a:ea typeface="Arial" pitchFamily="34" charset="-122"/>
                          <a:cs typeface="Arial" pitchFamily="34" charset="-120"/>
                        </a:rPr>
                        <a:t>an app update, or a download you own</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c>
                  <a:txBody>
                    <a:bodyPr/>
                    <a:lstStyle/>
                    <a:p>
                      <a:pPr algn="ctr" indent="0" marL="0">
                        <a:buNone/>
                      </a:pPr>
                      <a:r>
                        <a:rPr lang="en-US" sz="1050" dirty="0">
                          <a:solidFill>
                            <a:srgbClr val="1D1D1F"/>
                          </a:solidFill>
                          <a:latin typeface="Arial" pitchFamily="34" charset="0"/>
                          <a:ea typeface="Arial" pitchFamily="34" charset="-122"/>
                          <a:cs typeface="Arial" pitchFamily="34" charset="-120"/>
                        </a:rPr>
                        <a:t>instant, server-side, no client involved</a:t>
                      </a:r>
                      <a:endParaRPr lang="en-US" sz="105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5486400"/>
            <a:ext cx="10543032" cy="0"/>
          </a:xfrm>
          <a:prstGeom prst="line">
            <a:avLst/>
          </a:prstGeom>
          <a:noFill/>
          <a:ln w="9525">
            <a:solidFill>
              <a:srgbClr val="D2D2D7"/>
            </a:solidFill>
            <a:prstDash val="solid"/>
          </a:ln>
        </p:spPr>
      </p:sp>
      <p:sp>
        <p:nvSpPr>
          <p:cNvPr id="7" name="Text 4"/>
          <p:cNvSpPr/>
          <p:nvPr/>
        </p:nvSpPr>
        <p:spPr>
          <a:xfrm>
            <a:off x="822960" y="571500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On-device first, cloud when it cannot cope.</a:t>
            </a:r>
            <a:pPr indent="0" marL="0">
              <a:buNone/>
            </a:pPr>
            <a:r>
              <a:rPr lang="en-US" sz="1400" dirty="0">
                <a:solidFill>
                  <a:srgbClr val="86868B"/>
                </a:solidFill>
                <a:latin typeface="Arial" pitchFamily="34" charset="0"/>
                <a:ea typeface="Arial" pitchFamily="34" charset="-122"/>
                <a:cs typeface="Arial" pitchFamily="34" charset="-120"/>
              </a:rPr>
              <a:t> Privacy, offline and cost all point one way; only capability points the other.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7</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DECISION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Callback to Lecture 1: will the model fit?</a:t>
            </a:r>
            <a:endParaRPr lang="en-US" sz="3000" dirty="0"/>
          </a:p>
        </p:txBody>
      </p:sp>
      <p:sp>
        <p:nvSpPr>
          <p:cNvPr id="5" name="Text 3"/>
          <p:cNvSpPr/>
          <p:nvPr/>
        </p:nvSpPr>
        <p:spPr>
          <a:xfrm>
            <a:off x="822960" y="1920240"/>
            <a:ext cx="2361438" cy="914400"/>
          </a:xfrm>
          <a:prstGeom prst="rect">
            <a:avLst/>
          </a:prstGeom>
          <a:noFill/>
          <a:ln/>
        </p:spPr>
        <p:txBody>
          <a:bodyPr wrap="square" lIns="0" tIns="0" rIns="0" bIns="0" rtlCol="0" anchor="ctr"/>
          <a:lstStyle/>
          <a:p>
            <a:pPr indent="0" marL="0">
              <a:buNone/>
            </a:pPr>
            <a:r>
              <a:rPr lang="en-US" sz="4000" dirty="0">
                <a:solidFill>
                  <a:srgbClr val="1D1D1F"/>
                </a:solidFill>
                <a:latin typeface="Arial" pitchFamily="34" charset="0"/>
                <a:ea typeface="Arial" pitchFamily="34" charset="-122"/>
                <a:cs typeface="Arial" pitchFamily="34" charset="-120"/>
              </a:rPr>
              <a:t>28 GB</a:t>
            </a:r>
            <a:endParaRPr lang="en-US" sz="4000" dirty="0"/>
          </a:p>
        </p:txBody>
      </p:sp>
      <p:sp>
        <p:nvSpPr>
          <p:cNvPr id="6" name="Text 4"/>
          <p:cNvSpPr/>
          <p:nvPr/>
        </p:nvSpPr>
        <p:spPr>
          <a:xfrm>
            <a:off x="822960" y="2971800"/>
            <a:ext cx="2361438" cy="5486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7B at float32</a:t>
            </a:r>
            <a:endParaRPr lang="en-US" sz="1350" dirty="0"/>
          </a:p>
        </p:txBody>
      </p:sp>
      <p:sp>
        <p:nvSpPr>
          <p:cNvPr id="7" name="Text 5"/>
          <p:cNvSpPr/>
          <p:nvPr/>
        </p:nvSpPr>
        <p:spPr>
          <a:xfrm>
            <a:off x="822960" y="3474720"/>
            <a:ext cx="2361438" cy="3200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one 4-byte float per parameter</a:t>
            </a:r>
            <a:endParaRPr lang="en-US" sz="1150" dirty="0"/>
          </a:p>
        </p:txBody>
      </p:sp>
      <p:sp>
        <p:nvSpPr>
          <p:cNvPr id="8" name="Text 6"/>
          <p:cNvSpPr/>
          <p:nvPr/>
        </p:nvSpPr>
        <p:spPr>
          <a:xfrm>
            <a:off x="3458718" y="1920240"/>
            <a:ext cx="2361438" cy="914400"/>
          </a:xfrm>
          <a:prstGeom prst="rect">
            <a:avLst/>
          </a:prstGeom>
          <a:noFill/>
          <a:ln/>
        </p:spPr>
        <p:txBody>
          <a:bodyPr wrap="square" lIns="0" tIns="0" rIns="0" bIns="0" rtlCol="0" anchor="ctr"/>
          <a:lstStyle/>
          <a:p>
            <a:pPr indent="0" marL="0">
              <a:buNone/>
            </a:pPr>
            <a:r>
              <a:rPr lang="en-US" sz="4000" dirty="0">
                <a:solidFill>
                  <a:srgbClr val="1D1D1F"/>
                </a:solidFill>
                <a:latin typeface="Arial" pitchFamily="34" charset="0"/>
                <a:ea typeface="Arial" pitchFamily="34" charset="-122"/>
                <a:cs typeface="Arial" pitchFamily="34" charset="-120"/>
              </a:rPr>
              <a:t>14 GB</a:t>
            </a:r>
            <a:endParaRPr lang="en-US" sz="4000" dirty="0"/>
          </a:p>
        </p:txBody>
      </p:sp>
      <p:sp>
        <p:nvSpPr>
          <p:cNvPr id="9" name="Text 7"/>
          <p:cNvSpPr/>
          <p:nvPr/>
        </p:nvSpPr>
        <p:spPr>
          <a:xfrm>
            <a:off x="3458718" y="2971800"/>
            <a:ext cx="2361438" cy="5486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7B at float16</a:t>
            </a:r>
            <a:endParaRPr lang="en-US" sz="1350" dirty="0"/>
          </a:p>
        </p:txBody>
      </p:sp>
      <p:sp>
        <p:nvSpPr>
          <p:cNvPr id="10" name="Text 8"/>
          <p:cNvSpPr/>
          <p:nvPr/>
        </p:nvSpPr>
        <p:spPr>
          <a:xfrm>
            <a:off x="3458718" y="3474720"/>
            <a:ext cx="2361438" cy="3200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half precision, the usual baseline</a:t>
            </a:r>
            <a:endParaRPr lang="en-US" sz="1150" dirty="0"/>
          </a:p>
        </p:txBody>
      </p:sp>
      <p:sp>
        <p:nvSpPr>
          <p:cNvPr id="11" name="Text 9"/>
          <p:cNvSpPr/>
          <p:nvPr/>
        </p:nvSpPr>
        <p:spPr>
          <a:xfrm>
            <a:off x="6094476" y="1920240"/>
            <a:ext cx="2361438" cy="914400"/>
          </a:xfrm>
          <a:prstGeom prst="rect">
            <a:avLst/>
          </a:prstGeom>
          <a:noFill/>
          <a:ln/>
        </p:spPr>
        <p:txBody>
          <a:bodyPr wrap="square" lIns="0" tIns="0" rIns="0" bIns="0" rtlCol="0" anchor="ctr"/>
          <a:lstStyle/>
          <a:p>
            <a:pPr indent="0" marL="0">
              <a:buNone/>
            </a:pPr>
            <a:r>
              <a:rPr lang="en-US" sz="4000" dirty="0">
                <a:solidFill>
                  <a:srgbClr val="1D1D1F"/>
                </a:solidFill>
                <a:latin typeface="Arial" pitchFamily="34" charset="0"/>
                <a:ea typeface="Arial" pitchFamily="34" charset="-122"/>
                <a:cs typeface="Arial" pitchFamily="34" charset="-120"/>
              </a:rPr>
              <a:t>3.5 GB</a:t>
            </a:r>
            <a:endParaRPr lang="en-US" sz="4000" dirty="0"/>
          </a:p>
        </p:txBody>
      </p:sp>
      <p:sp>
        <p:nvSpPr>
          <p:cNvPr id="12" name="Text 10"/>
          <p:cNvSpPr/>
          <p:nvPr/>
        </p:nvSpPr>
        <p:spPr>
          <a:xfrm>
            <a:off x="6094476" y="2971800"/>
            <a:ext cx="2361438" cy="5486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7B at int4</a:t>
            </a:r>
            <a:endParaRPr lang="en-US" sz="1350" dirty="0"/>
          </a:p>
        </p:txBody>
      </p:sp>
      <p:sp>
        <p:nvSpPr>
          <p:cNvPr id="13" name="Text 11"/>
          <p:cNvSpPr/>
          <p:nvPr/>
        </p:nvSpPr>
        <p:spPr>
          <a:xfrm>
            <a:off x="6094476" y="3474720"/>
            <a:ext cx="2361438" cy="3200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aggressive, with a real quality cost</a:t>
            </a:r>
            <a:endParaRPr lang="en-US" sz="1150" dirty="0"/>
          </a:p>
        </p:txBody>
      </p:sp>
      <p:sp>
        <p:nvSpPr>
          <p:cNvPr id="14" name="Text 12"/>
          <p:cNvSpPr/>
          <p:nvPr/>
        </p:nvSpPr>
        <p:spPr>
          <a:xfrm>
            <a:off x="8730234" y="1920240"/>
            <a:ext cx="2361438" cy="914400"/>
          </a:xfrm>
          <a:prstGeom prst="rect">
            <a:avLst/>
          </a:prstGeom>
          <a:noFill/>
          <a:ln/>
        </p:spPr>
        <p:txBody>
          <a:bodyPr wrap="square" lIns="0" tIns="0" rIns="0" bIns="0" rtlCol="0" anchor="ctr"/>
          <a:lstStyle/>
          <a:p>
            <a:pPr indent="0" marL="0">
              <a:buNone/>
            </a:pPr>
            <a:r>
              <a:rPr lang="en-US" sz="4000" dirty="0">
                <a:solidFill>
                  <a:srgbClr val="1D1D1F"/>
                </a:solidFill>
                <a:latin typeface="Arial" pitchFamily="34" charset="0"/>
                <a:ea typeface="Arial" pitchFamily="34" charset="-122"/>
                <a:cs typeface="Arial" pitchFamily="34" charset="-120"/>
              </a:rPr>
              <a:t>~1 GB</a:t>
            </a:r>
            <a:endParaRPr lang="en-US" sz="4000" dirty="0"/>
          </a:p>
        </p:txBody>
      </p:sp>
      <p:sp>
        <p:nvSpPr>
          <p:cNvPr id="15" name="Text 13"/>
          <p:cNvSpPr/>
          <p:nvPr/>
        </p:nvSpPr>
        <p:spPr>
          <a:xfrm>
            <a:off x="8730234" y="2971800"/>
            <a:ext cx="2361438" cy="5486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2B at int4</a:t>
            </a:r>
            <a:endParaRPr lang="en-US" sz="1350" dirty="0"/>
          </a:p>
        </p:txBody>
      </p:sp>
      <p:sp>
        <p:nvSpPr>
          <p:cNvPr id="16" name="Text 14"/>
          <p:cNvSpPr/>
          <p:nvPr/>
        </p:nvSpPr>
        <p:spPr>
          <a:xfrm>
            <a:off x="8730234" y="3474720"/>
            <a:ext cx="2361438" cy="3200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the class that ships inside a phone</a:t>
            </a:r>
            <a:endParaRPr lang="en-US" sz="1150" dirty="0"/>
          </a:p>
        </p:txBody>
      </p:sp>
      <p:sp>
        <p:nvSpPr>
          <p:cNvPr id="17" name="Shape 15"/>
          <p:cNvSpPr/>
          <p:nvPr/>
        </p:nvSpPr>
        <p:spPr>
          <a:xfrm>
            <a:off x="822960" y="4206240"/>
            <a:ext cx="10543032" cy="0"/>
          </a:xfrm>
          <a:prstGeom prst="line">
            <a:avLst/>
          </a:prstGeom>
          <a:noFill/>
          <a:ln w="9525">
            <a:solidFill>
              <a:srgbClr val="D2D2D7"/>
            </a:solidFill>
            <a:prstDash val="solid"/>
          </a:ln>
        </p:spPr>
      </p:sp>
      <p:sp>
        <p:nvSpPr>
          <p:cNvPr id="18" name="Text 16"/>
          <p:cNvSpPr/>
          <p:nvPr/>
        </p:nvSpPr>
        <p:spPr>
          <a:xfrm>
            <a:off x="822960" y="4434840"/>
            <a:ext cx="10543032" cy="1737360"/>
          </a:xfrm>
          <a:prstGeom prst="rect">
            <a:avLst/>
          </a:prstGeom>
          <a:noFill/>
          <a:ln/>
        </p:spPr>
        <p:txBody>
          <a:bodyPr wrap="square" lIns="0" tIns="0" rIns="0" bIns="0" rtlCol="0" anchor="t"/>
          <a:lstStyle/>
          <a:p>
            <a:pPr indent="0" marL="0">
              <a:spcAft>
                <a:spcPts val="1000"/>
              </a:spcAft>
              <a:buNone/>
            </a:pPr>
            <a:r>
              <a:rPr lang="en-US" sz="1250" dirty="0">
                <a:solidFill>
                  <a:srgbClr val="1D1D1F"/>
                </a:solidFill>
                <a:latin typeface="Arial" pitchFamily="34" charset="0"/>
                <a:ea typeface="Arial" pitchFamily="34" charset="-122"/>
                <a:cs typeface="Arial" pitchFamily="34" charset="-120"/>
              </a:rPr>
              <a:t>Weights come first: parameters × bytes-per-parameter is memory you must find before a single token is produced. The KV cache then grows on top of that, with every token of context you keep.</a:t>
            </a:r>
            <a:endParaRPr lang="en-US" sz="1250" dirty="0"/>
          </a:p>
          <a:p>
            <a:pPr indent="0" marL="0">
              <a:spcAft>
                <a:spcPts val="1000"/>
              </a:spcAft>
              <a:buNone/>
            </a:pPr>
            <a:r>
              <a:rPr lang="en-US" sz="1250" dirty="0">
                <a:solidFill>
                  <a:srgbClr val="1D1D1F"/>
                </a:solidFill>
                <a:latin typeface="Arial" pitchFamily="34" charset="0"/>
                <a:ea typeface="Arial" pitchFamily="34" charset="-122"/>
                <a:cs typeface="Arial" pitchFamily="34" charset="-120"/>
              </a:rPr>
              <a:t>A 2026 flagship has 8–16 GB of RAM in total, shared with the OS and every other app the user expects to still be running. Android will kill your process long before you can claim half of it.</a:t>
            </a:r>
            <a:endParaRPr lang="en-US" sz="1250" dirty="0"/>
          </a:p>
          <a:p>
            <a:pPr indent="0" marL="0">
              <a:spcAft>
                <a:spcPts val="1000"/>
              </a:spcAft>
              <a:buNone/>
            </a:pPr>
            <a:r>
              <a:rPr lang="en-US" sz="1250" b="1" dirty="0">
                <a:solidFill>
                  <a:srgbClr val="1D1D1F"/>
                </a:solidFill>
                <a:latin typeface="Arial" pitchFamily="34" charset="0"/>
                <a:ea typeface="Arial" pitchFamily="34" charset="-122"/>
                <a:cs typeface="Arial" pitchFamily="34" charset="-120"/>
              </a:rPr>
              <a:t>This is Lecture 1's VRAM → RAM → fail flowchart with real numbers in it. On-device generative AI is a resource-allocation problem, exactly as promised.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THE DECISION</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pattern that ships: hybrid</a:t>
            </a:r>
            <a:endParaRPr lang="en-US" sz="3000" dirty="0"/>
          </a:p>
        </p:txBody>
      </p:sp>
      <p:sp>
        <p:nvSpPr>
          <p:cNvPr id="5" name="Shape 3"/>
          <p:cNvSpPr/>
          <p:nvPr/>
        </p:nvSpPr>
        <p:spPr>
          <a:xfrm>
            <a:off x="822960" y="1828800"/>
            <a:ext cx="5852160" cy="841248"/>
          </a:xfrm>
          <a:prstGeom prst="roundRect">
            <a:avLst>
              <a:gd name="adj" fmla="val 9783"/>
            </a:avLst>
          </a:prstGeom>
          <a:solidFill>
            <a:srgbClr val="000000"/>
          </a:solidFill>
          <a:ln/>
        </p:spPr>
      </p:sp>
      <p:sp>
        <p:nvSpPr>
          <p:cNvPr id="6" name="Text 4"/>
          <p:cNvSpPr/>
          <p:nvPr/>
        </p:nvSpPr>
        <p:spPr>
          <a:xfrm>
            <a:off x="822960" y="1828800"/>
            <a:ext cx="5852160" cy="841248"/>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Input arrives</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a camera frame, a document, a question</a:t>
            </a:r>
            <a:endParaRPr lang="en-US" sz="1350" dirty="0"/>
          </a:p>
        </p:txBody>
      </p:sp>
      <p:sp>
        <p:nvSpPr>
          <p:cNvPr id="7" name="Shape 5"/>
          <p:cNvSpPr/>
          <p:nvPr/>
        </p:nvSpPr>
        <p:spPr>
          <a:xfrm>
            <a:off x="3749040" y="2670048"/>
            <a:ext cx="0" cy="274320"/>
          </a:xfrm>
          <a:prstGeom prst="line">
            <a:avLst/>
          </a:prstGeom>
          <a:noFill/>
          <a:ln w="15875">
            <a:solidFill>
              <a:srgbClr val="86868B"/>
            </a:solidFill>
            <a:prstDash val="solid"/>
            <a:tailEnd type="triangle"/>
          </a:ln>
        </p:spPr>
      </p:sp>
      <p:sp>
        <p:nvSpPr>
          <p:cNvPr id="8" name="Shape 6"/>
          <p:cNvSpPr/>
          <p:nvPr/>
        </p:nvSpPr>
        <p:spPr>
          <a:xfrm>
            <a:off x="822960" y="2944368"/>
            <a:ext cx="5852160" cy="841248"/>
          </a:xfrm>
          <a:prstGeom prst="roundRect">
            <a:avLst>
              <a:gd name="adj" fmla="val 9783"/>
            </a:avLst>
          </a:prstGeom>
          <a:solidFill>
            <a:srgbClr val="FFFFFF"/>
          </a:solidFill>
          <a:ln w="12700">
            <a:solidFill>
              <a:srgbClr val="D2D2D7"/>
            </a:solidFill>
            <a:prstDash val="solid"/>
          </a:ln>
        </p:spPr>
      </p:sp>
      <p:sp>
        <p:nvSpPr>
          <p:cNvPr id="9" name="Text 7"/>
          <p:cNvSpPr/>
          <p:nvPr/>
        </p:nvSpPr>
        <p:spPr>
          <a:xfrm>
            <a:off x="822960" y="2944368"/>
            <a:ext cx="5852160" cy="84124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On-device model runs first</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free, offline, private, milliseconds</a:t>
            </a:r>
            <a:endParaRPr lang="en-US" sz="1350" dirty="0"/>
          </a:p>
        </p:txBody>
      </p:sp>
      <p:sp>
        <p:nvSpPr>
          <p:cNvPr id="10" name="Shape 8"/>
          <p:cNvSpPr/>
          <p:nvPr/>
        </p:nvSpPr>
        <p:spPr>
          <a:xfrm>
            <a:off x="3749040" y="3785616"/>
            <a:ext cx="0" cy="274320"/>
          </a:xfrm>
          <a:prstGeom prst="line">
            <a:avLst/>
          </a:prstGeom>
          <a:noFill/>
          <a:ln w="15875">
            <a:solidFill>
              <a:srgbClr val="86868B"/>
            </a:solidFill>
            <a:prstDash val="solid"/>
            <a:tailEnd type="triangle"/>
          </a:ln>
        </p:spPr>
      </p:sp>
      <p:sp>
        <p:nvSpPr>
          <p:cNvPr id="11" name="Shape 9"/>
          <p:cNvSpPr/>
          <p:nvPr/>
        </p:nvSpPr>
        <p:spPr>
          <a:xfrm>
            <a:off x="822960" y="4059936"/>
            <a:ext cx="5852160" cy="841248"/>
          </a:xfrm>
          <a:prstGeom prst="roundRect">
            <a:avLst>
              <a:gd name="adj" fmla="val 13043"/>
            </a:avLst>
          </a:prstGeom>
          <a:solidFill>
            <a:srgbClr val="F5F5F7"/>
          </a:solidFill>
          <a:ln/>
        </p:spPr>
      </p:sp>
      <p:sp>
        <p:nvSpPr>
          <p:cNvPr id="12" name="Text 10"/>
          <p:cNvSpPr/>
          <p:nvPr/>
        </p:nvSpPr>
        <p:spPr>
          <a:xfrm>
            <a:off x="822960" y="4059936"/>
            <a:ext cx="5852160" cy="84124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Good enough?</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a confidence or capability threshold you measure</a:t>
            </a:r>
            <a:endParaRPr lang="en-US" sz="1350" dirty="0"/>
          </a:p>
        </p:txBody>
      </p:sp>
      <p:sp>
        <p:nvSpPr>
          <p:cNvPr id="13" name="Shape 11"/>
          <p:cNvSpPr/>
          <p:nvPr/>
        </p:nvSpPr>
        <p:spPr>
          <a:xfrm>
            <a:off x="3749040" y="4901184"/>
            <a:ext cx="0" cy="274320"/>
          </a:xfrm>
          <a:prstGeom prst="line">
            <a:avLst/>
          </a:prstGeom>
          <a:noFill/>
          <a:ln w="15875">
            <a:solidFill>
              <a:srgbClr val="86868B"/>
            </a:solidFill>
            <a:prstDash val="solid"/>
            <a:tailEnd type="triangle"/>
          </a:ln>
        </p:spPr>
      </p:sp>
      <p:sp>
        <p:nvSpPr>
          <p:cNvPr id="14" name="Shape 12"/>
          <p:cNvSpPr/>
          <p:nvPr/>
        </p:nvSpPr>
        <p:spPr>
          <a:xfrm>
            <a:off x="822960" y="5175504"/>
            <a:ext cx="5852160" cy="841248"/>
          </a:xfrm>
          <a:prstGeom prst="roundRect">
            <a:avLst>
              <a:gd name="adj" fmla="val 9783"/>
            </a:avLst>
          </a:prstGeom>
          <a:solidFill>
            <a:srgbClr val="FFFFFF"/>
          </a:solidFill>
          <a:ln w="12700">
            <a:solidFill>
              <a:srgbClr val="D2D2D7"/>
            </a:solidFill>
            <a:prstDash val="solid"/>
          </a:ln>
        </p:spPr>
      </p:sp>
      <p:sp>
        <p:nvSpPr>
          <p:cNvPr id="15" name="Text 13"/>
          <p:cNvSpPr/>
          <p:nvPr/>
        </p:nvSpPr>
        <p:spPr>
          <a:xfrm>
            <a:off x="822960" y="5175504"/>
            <a:ext cx="5852160" cy="84124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Escalate to the cloud</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only for what the small model cannot do</a:t>
            </a:r>
            <a:endParaRPr lang="en-US" sz="1350" dirty="0"/>
          </a:p>
        </p:txBody>
      </p:sp>
      <p:sp>
        <p:nvSpPr>
          <p:cNvPr id="16" name="Text 14"/>
          <p:cNvSpPr/>
          <p:nvPr/>
        </p:nvSpPr>
        <p:spPr>
          <a:xfrm>
            <a:off x="7223760" y="1828800"/>
            <a:ext cx="4142232" cy="3200400"/>
          </a:xfrm>
          <a:prstGeom prst="rect">
            <a:avLst/>
          </a:prstGeom>
          <a:noFill/>
          <a:ln/>
        </p:spPr>
        <p:txBody>
          <a:bodyPr wrap="square" lIns="0" tIns="0" rIns="0" bIns="0" rtlCol="0" anchor="t"/>
          <a:lstStyle/>
          <a:p>
            <a:pPr indent="0" marL="0">
              <a:spcAft>
                <a:spcPts val="700"/>
              </a:spcAft>
              <a:buNone/>
            </a:pPr>
            <a:r>
              <a:rPr lang="en-US" sz="1200" b="1" dirty="0">
                <a:solidFill>
                  <a:srgbClr val="1D1D1F"/>
                </a:solidFill>
                <a:latin typeface="Arial" pitchFamily="34" charset="0"/>
                <a:ea typeface="Arial" pitchFamily="34" charset="-122"/>
                <a:cs typeface="Arial" pitchFamily="34" charset="-120"/>
              </a:rPr>
              <a:t>Scan locally, look up remotely.</a:t>
            </a:r>
            <a:endParaRPr lang="en-US" sz="1200" dirty="0"/>
          </a:p>
          <a:p>
            <a:pPr indent="0" marL="0">
              <a:spcAft>
                <a:spcPts val="700"/>
              </a:spcAft>
              <a:buNone/>
            </a:pPr>
            <a:r>
              <a:rPr lang="en-US" sz="1200" dirty="0">
                <a:solidFill>
                  <a:srgbClr val="1D1D1F"/>
                </a:solidFill>
                <a:latin typeface="Arial" pitchFamily="34" charset="0"/>
                <a:ea typeface="Arial" pitchFamily="34" charset="-122"/>
                <a:cs typeface="Arial" pitchFamily="34" charset="-120"/>
              </a:rPr>
              <a:t>ML Kit reads the barcode on the device; only the resulting 13 digits go to your API. The image never leaves.</a:t>
            </a:r>
            <a:endParaRPr lang="en-US" sz="1200" dirty="0"/>
          </a:p>
          <a:p>
            <a:pPr indent="0" marL="0">
              <a:spcAft>
                <a:spcPts val="700"/>
              </a:spcAft>
              <a:buNone/>
            </a:pPr>
            <a:r>
              <a:rPr lang="en-US" sz="1200" b="1" dirty="0">
                <a:solidFill>
                  <a:srgbClr val="1D1D1F"/>
                </a:solidFill>
                <a:latin typeface="Arial" pitchFamily="34" charset="0"/>
                <a:ea typeface="Arial" pitchFamily="34" charset="-122"/>
                <a:cs typeface="Arial" pitchFamily="34" charset="-120"/>
              </a:rPr>
              <a:t>Detect locally, understand remotely.</a:t>
            </a:r>
            <a:endParaRPr lang="en-US" sz="1200" dirty="0"/>
          </a:p>
          <a:p>
            <a:pPr indent="0" marL="0">
              <a:spcAft>
                <a:spcPts val="700"/>
              </a:spcAft>
              <a:buNone/>
            </a:pPr>
            <a:r>
              <a:rPr lang="en-US" sz="1200" dirty="0">
                <a:solidFill>
                  <a:srgbClr val="1D1D1F"/>
                </a:solidFill>
                <a:latin typeface="Arial" pitchFamily="34" charset="0"/>
                <a:ea typeface="Arial" pitchFamily="34" charset="-122"/>
                <a:cs typeface="Arial" pitchFamily="34" charset="-120"/>
              </a:rPr>
              <a:t>A face or object detector finds the region; you upload a small crop instead of a 12-megapixel frame.</a:t>
            </a:r>
            <a:endParaRPr lang="en-US" sz="1200" dirty="0"/>
          </a:p>
          <a:p>
            <a:pPr indent="0" marL="0">
              <a:spcAft>
                <a:spcPts val="700"/>
              </a:spcAft>
              <a:buNone/>
            </a:pPr>
            <a:r>
              <a:rPr lang="en-US" sz="1200" b="1" dirty="0">
                <a:solidFill>
                  <a:srgbClr val="1D1D1F"/>
                </a:solidFill>
                <a:latin typeface="Arial" pitchFamily="34" charset="0"/>
                <a:ea typeface="Arial" pitchFamily="34" charset="-122"/>
                <a:cs typeface="Arial" pitchFamily="34" charset="-120"/>
              </a:rPr>
              <a:t>Draft locally, refine remotely.</a:t>
            </a:r>
            <a:endParaRPr lang="en-US" sz="1200" dirty="0"/>
          </a:p>
          <a:p>
            <a:pPr indent="0" marL="0">
              <a:spcAft>
                <a:spcPts val="700"/>
              </a:spcAft>
              <a:buNone/>
            </a:pPr>
            <a:r>
              <a:rPr lang="en-US" sz="1200" dirty="0">
                <a:solidFill>
                  <a:srgbClr val="1D1D1F"/>
                </a:solidFill>
                <a:latin typeface="Arial" pitchFamily="34" charset="0"/>
                <a:ea typeface="Arial" pitchFamily="34" charset="-122"/>
                <a:cs typeface="Arial" pitchFamily="34" charset="-120"/>
              </a:rPr>
              <a:t>The on-device model writes the first version instantly; the cloud model is only called when the user asks for better.</a:t>
            </a:r>
            <a:endParaRPr lang="en-US" sz="1200" dirty="0"/>
          </a:p>
          <a:p>
            <a:pPr indent="0" marL="0">
              <a:spcAft>
                <a:spcPts val="700"/>
              </a:spcAft>
              <a:buNone/>
            </a:pPr>
            <a:r>
              <a:rPr lang="en-US" sz="1200" b="1" dirty="0">
                <a:solidFill>
                  <a:srgbClr val="1D1D1F"/>
                </a:solidFill>
                <a:latin typeface="Arial" pitchFamily="34" charset="0"/>
                <a:ea typeface="Arial" pitchFamily="34" charset="-122"/>
                <a:cs typeface="Arial" pitchFamily="34" charset="-120"/>
              </a:rPr>
              <a:t>Cache, then do not call at all.</a:t>
            </a:r>
            <a:endParaRPr lang="en-US" sz="1200" dirty="0"/>
          </a:p>
          <a:p>
            <a:pPr indent="0" marL="0">
              <a:spcAft>
                <a:spcPts val="700"/>
              </a:spcAft>
              <a:buNone/>
            </a:pPr>
            <a:r>
              <a:rPr lang="en-US" sz="1200" dirty="0">
                <a:solidFill>
                  <a:srgbClr val="1D1D1F"/>
                </a:solidFill>
                <a:latin typeface="Arial" pitchFamily="34" charset="0"/>
                <a:ea typeface="Arial" pitchFamily="34" charset="-122"/>
                <a:cs typeface="Arial" pitchFamily="34" charset="-120"/>
              </a:rPr>
              <a:t>The same barcode, the same photo, the same question. A local cache turns the second occurrence into zero latency and zero cost.</a:t>
            </a:r>
            <a:endParaRPr lang="en-US" sz="1200" dirty="0"/>
          </a:p>
        </p:txBody>
      </p:sp>
      <p:sp>
        <p:nvSpPr>
          <p:cNvPr id="17" name="Shape 15"/>
          <p:cNvSpPr/>
          <p:nvPr/>
        </p:nvSpPr>
        <p:spPr>
          <a:xfrm>
            <a:off x="7223760" y="5029200"/>
            <a:ext cx="4142232" cy="0"/>
          </a:xfrm>
          <a:prstGeom prst="line">
            <a:avLst/>
          </a:prstGeom>
          <a:noFill/>
          <a:ln w="9525">
            <a:solidFill>
              <a:srgbClr val="D2D2D7"/>
            </a:solidFill>
            <a:prstDash val="solid"/>
          </a:ln>
        </p:spPr>
      </p:sp>
      <p:sp>
        <p:nvSpPr>
          <p:cNvPr id="18" name="Text 16"/>
          <p:cNvSpPr/>
          <p:nvPr/>
        </p:nvSpPr>
        <p:spPr>
          <a:xfrm>
            <a:off x="7223760" y="5230368"/>
            <a:ext cx="4142232" cy="1097280"/>
          </a:xfrm>
          <a:prstGeom prst="rect">
            <a:avLst/>
          </a:prstGeom>
          <a:noFill/>
          <a:ln/>
        </p:spPr>
        <p:txBody>
          <a:bodyPr wrap="square" lIns="0" tIns="0" rIns="0" bIns="0" rtlCol="0" anchor="t"/>
          <a:lstStyle/>
          <a:p>
            <a:pPr indent="0" marL="0">
              <a:buNone/>
            </a:pPr>
            <a:r>
              <a:rPr lang="en-US" sz="1150" b="1" dirty="0">
                <a:solidFill>
                  <a:srgbClr val="1D1D1F"/>
                </a:solidFill>
                <a:latin typeface="Arial" pitchFamily="34" charset="0"/>
                <a:ea typeface="Arial" pitchFamily="34" charset="-122"/>
                <a:cs typeface="Arial" pitchFamily="34" charset="-120"/>
              </a:rPr>
              <a:t>Know your escalation rate.</a:t>
            </a:r>
            <a:endParaRPr lang="en-US" sz="1150" dirty="0"/>
          </a:p>
          <a:p>
            <a:pPr indent="0" marL="0">
              <a:buNone/>
            </a:pPr>
            <a:r>
              <a:rPr lang="en-US" sz="1150" dirty="0">
                <a:solidFill>
                  <a:srgbClr val="86868B"/>
                </a:solidFill>
                <a:latin typeface="Arial" pitchFamily="34" charset="0"/>
                <a:ea typeface="Arial" pitchFamily="34" charset="-122"/>
                <a:cs typeface="Arial" pitchFamily="34" charset="-120"/>
              </a:rPr>
              <a:t>The share of requests that reach the cloud is your bill, your p95 latency and your privacy exposure, in one number. A hybrid system whose escalation rate you cannot quote is a cloud system with a cache.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2 · ON THE DEVICE</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ML Kit, LiteRT, and making a model fit</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The problems Google already solved, and then your own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ON-DEVICE ML</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Google ML Kit: the solved problems</a:t>
            </a:r>
            <a:endParaRPr lang="en-US" sz="3000" dirty="0"/>
          </a:p>
        </p:txBody>
      </p:sp>
      <p:pic>
        <p:nvPicPr>
          <p:cNvPr id="5" name="Image 0" descr="/Users/dinu/dev/upb/mobile-and-embedded-computing/slides/assets/icons2/scantext-ink.png">    </p:cNvPr>
          <p:cNvPicPr>
            <a:picLocks noChangeAspect="1"/>
          </p:cNvPicPr>
          <p:nvPr/>
        </p:nvPicPr>
        <p:blipFill>
          <a:blip r:embed="rId1"/>
          <a:stretch>
            <a:fillRect/>
          </a:stretch>
        </p:blipFill>
        <p:spPr>
          <a:xfrm>
            <a:off x="822960" y="1874520"/>
            <a:ext cx="384048" cy="384048"/>
          </a:xfrm>
          <a:prstGeom prst="rect">
            <a:avLst/>
          </a:prstGeom>
        </p:spPr>
      </p:pic>
      <p:sp>
        <p:nvSpPr>
          <p:cNvPr id="6" name="Text 3"/>
          <p:cNvSpPr/>
          <p:nvPr/>
        </p:nvSpPr>
        <p:spPr>
          <a:xfrm>
            <a:off x="822960" y="2404872"/>
            <a:ext cx="318211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Text recognition</a:t>
            </a:r>
            <a:endParaRPr lang="en-US" sz="1450" dirty="0"/>
          </a:p>
        </p:txBody>
      </p:sp>
      <p:sp>
        <p:nvSpPr>
          <p:cNvPr id="7" name="Text 4"/>
          <p:cNvSpPr/>
          <p:nvPr/>
        </p:nvSpPr>
        <p:spPr>
          <a:xfrm>
            <a:off x="822960" y="2862072"/>
            <a:ext cx="318211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google_mlkit_text_recognition: Latin, Chinese, Devanagari, Japanese and Korean script packs. Blocks → lines → elements, each with a box.</a:t>
            </a:r>
            <a:endParaRPr lang="en-US" sz="1150" dirty="0"/>
          </a:p>
        </p:txBody>
      </p:sp>
      <p:pic>
        <p:nvPicPr>
          <p:cNvPr id="8" name="Image 1" descr="/Users/dinu/dev/upb/mobile-and-embedded-computing/slides/assets/icons2/scan-ink.png">    </p:cNvPr>
          <p:cNvPicPr>
            <a:picLocks noChangeAspect="1"/>
          </p:cNvPicPr>
          <p:nvPr/>
        </p:nvPicPr>
        <p:blipFill>
          <a:blip r:embed="rId2"/>
          <a:stretch>
            <a:fillRect/>
          </a:stretch>
        </p:blipFill>
        <p:spPr>
          <a:xfrm>
            <a:off x="4507992" y="1874520"/>
            <a:ext cx="384048" cy="384048"/>
          </a:xfrm>
          <a:prstGeom prst="rect">
            <a:avLst/>
          </a:prstGeom>
        </p:spPr>
      </p:pic>
      <p:sp>
        <p:nvSpPr>
          <p:cNvPr id="9" name="Text 5"/>
          <p:cNvSpPr/>
          <p:nvPr/>
        </p:nvSpPr>
        <p:spPr>
          <a:xfrm>
            <a:off x="4507992" y="2404872"/>
            <a:ext cx="318211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Barcode scanning</a:t>
            </a:r>
            <a:endParaRPr lang="en-US" sz="1450" dirty="0"/>
          </a:p>
        </p:txBody>
      </p:sp>
      <p:sp>
        <p:nvSpPr>
          <p:cNvPr id="10" name="Text 6"/>
          <p:cNvSpPr/>
          <p:nvPr/>
        </p:nvSpPr>
        <p:spPr>
          <a:xfrm>
            <a:off x="4507992" y="2862072"/>
            <a:ext cx="318211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google_mlkit_barcode_scanning: every common 1D and 2D symbology, plus the parsed payload for URLs, Wi-Fi and contacts.</a:t>
            </a:r>
            <a:endParaRPr lang="en-US" sz="1150" dirty="0"/>
          </a:p>
        </p:txBody>
      </p:sp>
      <p:pic>
        <p:nvPicPr>
          <p:cNvPr id="11" name="Image 2" descr="/Users/dinu/dev/upb/mobile-and-embedded-computing/slides/assets/icons2/user-ink.png">    </p:cNvPr>
          <p:cNvPicPr>
            <a:picLocks noChangeAspect="1"/>
          </p:cNvPicPr>
          <p:nvPr/>
        </p:nvPicPr>
        <p:blipFill>
          <a:blip r:embed="rId3"/>
          <a:stretch>
            <a:fillRect/>
          </a:stretch>
        </p:blipFill>
        <p:spPr>
          <a:xfrm>
            <a:off x="8193024" y="1874520"/>
            <a:ext cx="384048" cy="384048"/>
          </a:xfrm>
          <a:prstGeom prst="rect">
            <a:avLst/>
          </a:prstGeom>
        </p:spPr>
      </p:pic>
      <p:sp>
        <p:nvSpPr>
          <p:cNvPr id="12" name="Text 7"/>
          <p:cNvSpPr/>
          <p:nvPr/>
        </p:nvSpPr>
        <p:spPr>
          <a:xfrm>
            <a:off x="8193024" y="2404872"/>
            <a:ext cx="318211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Face detection</a:t>
            </a:r>
            <a:endParaRPr lang="en-US" sz="1450" dirty="0"/>
          </a:p>
        </p:txBody>
      </p:sp>
      <p:sp>
        <p:nvSpPr>
          <p:cNvPr id="13" name="Text 8"/>
          <p:cNvSpPr/>
          <p:nvPr/>
        </p:nvSpPr>
        <p:spPr>
          <a:xfrm>
            <a:off x="8193024" y="2862072"/>
            <a:ext cx="318211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google_mlkit_face_detection: bounding boxes, landmarks, contours, smile and eye-open probabilities. Detection, never recognition.</a:t>
            </a:r>
            <a:endParaRPr lang="en-US" sz="1150" dirty="0"/>
          </a:p>
        </p:txBody>
      </p:sp>
      <p:pic>
        <p:nvPicPr>
          <p:cNvPr id="14" name="Image 3" descr="/Users/dinu/dev/upb/mobile-and-embedded-computing/slides/assets/icons2/languages-ink.png">    </p:cNvPr>
          <p:cNvPicPr>
            <a:picLocks noChangeAspect="1"/>
          </p:cNvPicPr>
          <p:nvPr/>
        </p:nvPicPr>
        <p:blipFill>
          <a:blip r:embed="rId4"/>
          <a:stretch>
            <a:fillRect/>
          </a:stretch>
        </p:blipFill>
        <p:spPr>
          <a:xfrm>
            <a:off x="822960" y="4160520"/>
            <a:ext cx="384048" cy="384048"/>
          </a:xfrm>
          <a:prstGeom prst="rect">
            <a:avLst/>
          </a:prstGeom>
        </p:spPr>
      </p:pic>
      <p:sp>
        <p:nvSpPr>
          <p:cNvPr id="15" name="Text 9"/>
          <p:cNvSpPr/>
          <p:nvPr/>
        </p:nvSpPr>
        <p:spPr>
          <a:xfrm>
            <a:off x="822960" y="4690872"/>
            <a:ext cx="318211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Language ID &amp; translation</a:t>
            </a:r>
            <a:endParaRPr lang="en-US" sz="1450" dirty="0"/>
          </a:p>
        </p:txBody>
      </p:sp>
      <p:sp>
        <p:nvSpPr>
          <p:cNvPr id="16" name="Text 10"/>
          <p:cNvSpPr/>
          <p:nvPr/>
        </p:nvSpPr>
        <p:spPr>
          <a:xfrm>
            <a:off x="822960" y="5148072"/>
            <a:ext cx="318211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google_mlkit_language_id and google_mlkit_translation: per-language-pair models the device downloads once and keeps.</a:t>
            </a:r>
            <a:endParaRPr lang="en-US" sz="1150" dirty="0"/>
          </a:p>
        </p:txBody>
      </p:sp>
      <p:pic>
        <p:nvPicPr>
          <p:cNvPr id="17" name="Image 4" descr="/Users/dinu/dev/upb/mobile-and-embedded-computing/slides/assets/icons2/image-ink.png">    </p:cNvPr>
          <p:cNvPicPr>
            <a:picLocks noChangeAspect="1"/>
          </p:cNvPicPr>
          <p:nvPr/>
        </p:nvPicPr>
        <p:blipFill>
          <a:blip r:embed="rId5"/>
          <a:stretch>
            <a:fillRect/>
          </a:stretch>
        </p:blipFill>
        <p:spPr>
          <a:xfrm>
            <a:off x="4507992" y="4160520"/>
            <a:ext cx="384048" cy="384048"/>
          </a:xfrm>
          <a:prstGeom prst="rect">
            <a:avLst/>
          </a:prstGeom>
        </p:spPr>
      </p:pic>
      <p:sp>
        <p:nvSpPr>
          <p:cNvPr id="18" name="Text 11"/>
          <p:cNvSpPr/>
          <p:nvPr/>
        </p:nvSpPr>
        <p:spPr>
          <a:xfrm>
            <a:off x="4507992" y="4690872"/>
            <a:ext cx="318211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Labeling &amp; object detection</a:t>
            </a:r>
            <a:endParaRPr lang="en-US" sz="1450" dirty="0"/>
          </a:p>
        </p:txBody>
      </p:sp>
      <p:sp>
        <p:nvSpPr>
          <p:cNvPr id="19" name="Text 12"/>
          <p:cNvSpPr/>
          <p:nvPr/>
        </p:nvSpPr>
        <p:spPr>
          <a:xfrm>
            <a:off x="4507992" y="5148072"/>
            <a:ext cx="318211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google_mlkit_image_labeling and google_mlkit_object_detection: coarse classification, and tracking across frames.</a:t>
            </a:r>
            <a:endParaRPr lang="en-US" sz="1150" dirty="0"/>
          </a:p>
        </p:txBody>
      </p:sp>
      <p:pic>
        <p:nvPicPr>
          <p:cNvPr id="20" name="Image 5" descr="/Users/dinu/dev/upb/mobile-and-embedded-computing/slides/assets/icons2/package-ink.png">    </p:cNvPr>
          <p:cNvPicPr>
            <a:picLocks noChangeAspect="1"/>
          </p:cNvPicPr>
          <p:nvPr/>
        </p:nvPicPr>
        <p:blipFill>
          <a:blip r:embed="rId6"/>
          <a:stretch>
            <a:fillRect/>
          </a:stretch>
        </p:blipFill>
        <p:spPr>
          <a:xfrm>
            <a:off x="8193024" y="4160520"/>
            <a:ext cx="384048" cy="384048"/>
          </a:xfrm>
          <a:prstGeom prst="rect">
            <a:avLst/>
          </a:prstGeom>
        </p:spPr>
      </p:pic>
      <p:sp>
        <p:nvSpPr>
          <p:cNvPr id="21" name="Text 13"/>
          <p:cNvSpPr/>
          <p:nvPr/>
        </p:nvSpPr>
        <p:spPr>
          <a:xfrm>
            <a:off x="8193024" y="4690872"/>
            <a:ext cx="3182112" cy="45720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How you add it</a:t>
            </a:r>
            <a:endParaRPr lang="en-US" sz="1450" dirty="0"/>
          </a:p>
        </p:txBody>
      </p:sp>
      <p:sp>
        <p:nvSpPr>
          <p:cNvPr id="22" name="Text 14"/>
          <p:cNvSpPr/>
          <p:nvPr/>
        </p:nvSpPr>
        <p:spPr>
          <a:xfrm>
            <a:off x="8193024" y="5148072"/>
            <a:ext cx="3182112" cy="82296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One plugin per feature. The google_ml_kit umbrella drags every model into your binary. Android and iOS only. There is no web support.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ON-DEVICE ML</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Reading text from an image, end to end</a:t>
            </a:r>
            <a:endParaRPr lang="en-US" sz="3000" dirty="0"/>
          </a:p>
        </p:txBody>
      </p:sp>
      <p:sp>
        <p:nvSpPr>
          <p:cNvPr id="5" name="Shape 3"/>
          <p:cNvSpPr/>
          <p:nvPr/>
        </p:nvSpPr>
        <p:spPr>
          <a:xfrm>
            <a:off x="822960" y="1737360"/>
            <a:ext cx="6858000" cy="4526280"/>
          </a:xfrm>
          <a:prstGeom prst="roundRect">
            <a:avLst>
              <a:gd name="adj" fmla="val 2424"/>
            </a:avLst>
          </a:prstGeom>
          <a:solidFill>
            <a:srgbClr val="F5F5F7"/>
          </a:solidFill>
          <a:ln/>
        </p:spPr>
      </p:sp>
      <p:sp>
        <p:nvSpPr>
          <p:cNvPr id="6" name="Text 4"/>
          <p:cNvSpPr/>
          <p:nvPr/>
        </p:nvSpPr>
        <p:spPr>
          <a:xfrm>
            <a:off x="1234440" y="2057400"/>
            <a:ext cx="6126480" cy="3931920"/>
          </a:xfrm>
          <a:prstGeom prst="rect">
            <a:avLst/>
          </a:prstGeom>
          <a:noFill/>
          <a:ln/>
        </p:spPr>
        <p:txBody>
          <a:bodyPr wrap="square" lIns="0" tIns="0" rIns="0" bIns="0" rtlCol="0" anchor="t"/>
          <a:lstStyle/>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pubspec.yaml:  google_mlkit_text_recognition: ^0.15.0</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import 'package:google_mlkit_text_recognition/google_mlkit_text_recognition.dart';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class ReceiptScanner {</a:t>
            </a:r>
            <a:endParaRPr lang="en-US" sz="850" dirty="0"/>
          </a:p>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 One recognizer, reused. One per frame leaks native memory.</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_recognizer = TextRecognizer(script: TextRecognitionScript.latin);</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Future&lt;String&gt; read(String filePath) async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input = InputImage.fromFilePath(filePath);</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RecognizedText result = await _recognizer.processImage(input);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for (final block in result.blocks)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for (final line in block.lines)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debugPrint('${line.text}  @ ${line.boundingBox}');</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return result.text;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void dispose() =&gt; _recognizer.close();  // free the native detector</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p:txBody>
      </p:sp>
      <p:sp>
        <p:nvSpPr>
          <p:cNvPr id="7" name="Text 5"/>
          <p:cNvSpPr/>
          <p:nvPr/>
        </p:nvSpPr>
        <p:spPr>
          <a:xfrm>
            <a:off x="7955280" y="1828800"/>
            <a:ext cx="3410712" cy="4206240"/>
          </a:xfrm>
          <a:prstGeom prst="rect">
            <a:avLst/>
          </a:prstGeom>
          <a:noFill/>
          <a:ln/>
        </p:spPr>
        <p:txBody>
          <a:bodyPr wrap="square" lIns="0" tIns="0" rIns="0" bIns="0" rtlCol="0" anchor="t"/>
          <a:lstStyle/>
          <a:p>
            <a:pPr indent="0" marL="0">
              <a:spcAft>
                <a:spcPts val="1200"/>
              </a:spcAft>
              <a:buNone/>
            </a:pPr>
            <a:r>
              <a:rPr lang="en-US" sz="1150" dirty="0">
                <a:solidFill>
                  <a:srgbClr val="1D1D1F"/>
                </a:solidFill>
                <a:latin typeface="Arial" pitchFamily="34" charset="0"/>
                <a:ea typeface="Arial" pitchFamily="34" charset="-122"/>
                <a:cs typeface="Arial" pitchFamily="34" charset="-120"/>
              </a:rPr>
              <a:t>processImage is async and does its work off the Dart thread, so the UI keeps rendering while it runs.</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The result is a tree: blocks of lines of elements, every node carrying a bounding box you can draw over a preview.</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close() is not optional. The detector owns a native model; skipping it is a leak the Dart GC cannot see.</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The first call is the slow one: the model is loaded, and for some APIs downloaded, on first use.</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No network, no key, no per-call cost.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ON-DEVICE ML</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Barcodes from a live camera stream</a:t>
            </a:r>
            <a:endParaRPr lang="en-US" sz="3000" dirty="0"/>
          </a:p>
        </p:txBody>
      </p:sp>
      <p:sp>
        <p:nvSpPr>
          <p:cNvPr id="5" name="Shape 3"/>
          <p:cNvSpPr/>
          <p:nvPr/>
        </p:nvSpPr>
        <p:spPr>
          <a:xfrm>
            <a:off x="822960" y="1783080"/>
            <a:ext cx="6492240" cy="3703320"/>
          </a:xfrm>
          <a:prstGeom prst="roundRect">
            <a:avLst>
              <a:gd name="adj" fmla="val 2963"/>
            </a:avLst>
          </a:prstGeom>
          <a:solidFill>
            <a:srgbClr val="F5F5F7"/>
          </a:solidFill>
          <a:ln/>
        </p:spPr>
      </p:sp>
      <p:sp>
        <p:nvSpPr>
          <p:cNvPr id="6" name="Text 4"/>
          <p:cNvSpPr/>
          <p:nvPr/>
        </p:nvSpPr>
        <p:spPr>
          <a:xfrm>
            <a:off x="1234440" y="2103120"/>
            <a:ext cx="5760720" cy="3108960"/>
          </a:xfrm>
          <a:prstGeom prst="rect">
            <a:avLst/>
          </a:prstGeom>
          <a:noFill/>
          <a:ln/>
        </p:spPr>
        <p:txBody>
          <a:bodyPr wrap="square" lIns="0" tIns="0" rIns="0" bIns="0" rtlCol="0" anchor="t"/>
          <a:lstStyle/>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final _scanner = BarcodeScanner(</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formats: [BarcodeFormat.ean13, BarcodeFormat.qrCode]);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bool _busy = false;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Future&lt;void&gt; _onFrame(CameraImage frame) async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if (_busy) return;      // drop frames, never queue them</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_busy = true;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try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final input = _toInputImage(frame);   // bytes + rotation</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final codes = await _scanner.processImage(input);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if (codes.isNotEmpty) _onCode(codes.first.rawValue);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 finally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_busy = false;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p:txBody>
      </p:sp>
      <p:sp>
        <p:nvSpPr>
          <p:cNvPr id="7" name="Text 5"/>
          <p:cNvSpPr/>
          <p:nvPr/>
        </p:nvSpPr>
        <p:spPr>
          <a:xfrm>
            <a:off x="7589520" y="1828800"/>
            <a:ext cx="3776472" cy="4023360"/>
          </a:xfrm>
          <a:prstGeom prst="rect">
            <a:avLst/>
          </a:prstGeom>
          <a:noFill/>
          <a:ln/>
        </p:spPr>
        <p:txBody>
          <a:bodyPr wrap="square" lIns="0" tIns="0" rIns="0" bIns="0" rtlCol="0" anchor="t"/>
          <a:lstStyle/>
          <a:p>
            <a:pPr indent="0" marL="0">
              <a:spcAft>
                <a:spcPts val="1200"/>
              </a:spcAft>
              <a:buNone/>
            </a:pPr>
            <a:r>
              <a:rPr lang="en-US" sz="1150" dirty="0">
                <a:solidFill>
                  <a:srgbClr val="1D1D1F"/>
                </a:solidFill>
                <a:latin typeface="Arial" pitchFamily="34" charset="0"/>
                <a:ea typeface="Arial" pitchFamily="34" charset="-122"/>
                <a:cs typeface="Arial" pitchFamily="34" charset="-120"/>
              </a:rPr>
              <a:t>A camera hands you 30 frames a second. Inference does not always finish in 33 ms, so a queue grows without bound and the preview drifts behind reality.</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Dropping frames is correct: the next one is nearly identical and arrives in a moment.</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InputImage needs the raw planes plus the sensor rotation. Get the rotation wrong and detection silently returns nothing at all, with no error and no result.</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Stop the stream and close() the scanner in dispose(), and again when the app backgrounds. A live camera together with continuous inference drains the battery quickly (→ Lecture 11).</a:t>
            </a:r>
            <a:endParaRPr lang="en-US" sz="1150" dirty="0"/>
          </a:p>
        </p:txBody>
      </p:sp>
      <p:sp>
        <p:nvSpPr>
          <p:cNvPr id="8" name="Shape 6"/>
          <p:cNvSpPr/>
          <p:nvPr/>
        </p:nvSpPr>
        <p:spPr>
          <a:xfrm>
            <a:off x="822960" y="5623560"/>
            <a:ext cx="10543032" cy="0"/>
          </a:xfrm>
          <a:prstGeom prst="line">
            <a:avLst/>
          </a:prstGeom>
          <a:noFill/>
          <a:ln w="9525">
            <a:solidFill>
              <a:srgbClr val="D2D2D7"/>
            </a:solidFill>
            <a:prstDash val="solid"/>
          </a:ln>
        </p:spPr>
      </p:sp>
      <p:sp>
        <p:nvSpPr>
          <p:cNvPr id="9" name="Text 7"/>
          <p:cNvSpPr/>
          <p:nvPr/>
        </p:nvSpPr>
        <p:spPr>
          <a:xfrm>
            <a:off x="822960" y="585216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Real-time on-device ML is a back-pressure problem.</a:t>
            </a:r>
            <a:pPr indent="0" marL="0">
              <a:buNone/>
            </a:pPr>
            <a:r>
              <a:rPr lang="en-US" sz="1400" dirty="0">
                <a:solidFill>
                  <a:srgbClr val="86868B"/>
                </a:solidFill>
                <a:latin typeface="Arial" pitchFamily="34" charset="0"/>
                <a:ea typeface="Arial" pitchFamily="34" charset="-122"/>
                <a:cs typeface="Arial" pitchFamily="34" charset="-120"/>
              </a:rPr>
              <a:t> The model is fast enough; the frame pipeline around it is what breaks.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13</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ON-DEVICE ML</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On-device generative AI is a capability, not a device</a:t>
            </a:r>
            <a:endParaRPr lang="en-US" sz="3000" dirty="0"/>
          </a:p>
        </p:txBody>
      </p:sp>
      <p:sp>
        <p:nvSpPr>
          <p:cNvPr id="5" name="Text 3"/>
          <p:cNvSpPr/>
          <p:nvPr/>
        </p:nvSpPr>
        <p:spPr>
          <a:xfrm>
            <a:off x="822960" y="1783080"/>
            <a:ext cx="6309360" cy="3017520"/>
          </a:xfrm>
          <a:prstGeom prst="rect">
            <a:avLst/>
          </a:prstGeom>
          <a:noFill/>
          <a:ln/>
        </p:spPr>
        <p:txBody>
          <a:bodyPr wrap="square" lIns="0" tIns="0" rIns="0" bIns="0" rtlCol="0" anchor="t"/>
          <a:lstStyle/>
          <a:p>
            <a:pPr indent="0" marL="0">
              <a:spcAft>
                <a:spcPts val="1300"/>
              </a:spcAft>
              <a:buNone/>
            </a:pPr>
            <a:r>
              <a:rPr lang="en-US" sz="1300" dirty="0">
                <a:solidFill>
                  <a:srgbClr val="1D1D1F"/>
                </a:solidFill>
                <a:latin typeface="Arial" pitchFamily="34" charset="0"/>
                <a:ea typeface="Arial" pitchFamily="34" charset="-122"/>
                <a:cs typeface="Arial" pitchFamily="34" charset="-120"/>
              </a:rPr>
              <a:t>The step past classification: a small language model running on the phone's own accelerator: summarize a thread, proofread a message, rewrite a paragraph, describe a photo.</a:t>
            </a:r>
            <a:endParaRPr lang="en-US" sz="1300" dirty="0"/>
          </a:p>
          <a:p>
            <a:pPr indent="0" marL="0">
              <a:spcAft>
                <a:spcPts val="1300"/>
              </a:spcAft>
              <a:buNone/>
            </a:pPr>
            <a:r>
              <a:rPr lang="en-US" sz="1300" dirty="0">
                <a:solidFill>
                  <a:srgbClr val="1D1D1F"/>
                </a:solidFill>
                <a:latin typeface="Arial" pitchFamily="34" charset="0"/>
                <a:ea typeface="Arial" pitchFamily="34" charset="-122"/>
                <a:cs typeface="Arial" pitchFamily="34" charset="-120"/>
              </a:rPr>
              <a:t>Google exposes this through the ML Kit GenAI APIs backed by Gemini Nano; Apple exposes an equivalent on-device model to apps on supported hardware. Both are the same shape from your side.</a:t>
            </a:r>
            <a:endParaRPr lang="en-US" sz="1300" dirty="0"/>
          </a:p>
          <a:p>
            <a:pPr indent="0" marL="0">
              <a:spcAft>
                <a:spcPts val="1300"/>
              </a:spcAft>
              <a:buNone/>
            </a:pPr>
            <a:r>
              <a:rPr lang="en-US" sz="1300" dirty="0">
                <a:solidFill>
                  <a:srgbClr val="1D1D1F"/>
                </a:solidFill>
                <a:latin typeface="Arial" pitchFamily="34" charset="0"/>
                <a:ea typeface="Arial" pitchFamily="34" charset="-122"/>
                <a:cs typeface="Arial" pitchFamily="34" charset="-120"/>
              </a:rPr>
              <a:t>It is gated on the hardware and the OS, not on your app: enough accelerator, enough RAM, and the model itself present. The OS downloads that model and shares it between apps rather than shipping it in your binary.</a:t>
            </a:r>
            <a:endParaRPr lang="en-US" sz="1300" dirty="0"/>
          </a:p>
        </p:txBody>
      </p:sp>
      <p:sp>
        <p:nvSpPr>
          <p:cNvPr id="6" name="Shape 4"/>
          <p:cNvSpPr/>
          <p:nvPr/>
        </p:nvSpPr>
        <p:spPr>
          <a:xfrm>
            <a:off x="7680960" y="2011680"/>
            <a:ext cx="3685032" cy="868680"/>
          </a:xfrm>
          <a:prstGeom prst="roundRect">
            <a:avLst>
              <a:gd name="adj" fmla="val 9474"/>
            </a:avLst>
          </a:prstGeom>
          <a:solidFill>
            <a:srgbClr val="000000"/>
          </a:solidFill>
          <a:ln/>
        </p:spPr>
      </p:sp>
      <p:sp>
        <p:nvSpPr>
          <p:cNvPr id="7" name="Text 5"/>
          <p:cNvSpPr/>
          <p:nvPr/>
        </p:nvSpPr>
        <p:spPr>
          <a:xfrm>
            <a:off x="7680960" y="2011680"/>
            <a:ext cx="3685032"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available</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run it locally</a:t>
            </a:r>
            <a:endParaRPr lang="en-US" sz="1350" dirty="0"/>
          </a:p>
        </p:txBody>
      </p:sp>
      <p:sp>
        <p:nvSpPr>
          <p:cNvPr id="8" name="Shape 6"/>
          <p:cNvSpPr/>
          <p:nvPr/>
        </p:nvSpPr>
        <p:spPr>
          <a:xfrm>
            <a:off x="9523476" y="2880360"/>
            <a:ext cx="0" cy="292608"/>
          </a:xfrm>
          <a:prstGeom prst="line">
            <a:avLst/>
          </a:prstGeom>
          <a:noFill/>
          <a:ln w="15875">
            <a:solidFill>
              <a:srgbClr val="86868B"/>
            </a:solidFill>
            <a:prstDash val="solid"/>
            <a:tailEnd type="triangle"/>
          </a:ln>
        </p:spPr>
      </p:sp>
      <p:sp>
        <p:nvSpPr>
          <p:cNvPr id="9" name="Shape 7"/>
          <p:cNvSpPr/>
          <p:nvPr/>
        </p:nvSpPr>
        <p:spPr>
          <a:xfrm>
            <a:off x="7680960" y="3172968"/>
            <a:ext cx="3685032" cy="868680"/>
          </a:xfrm>
          <a:prstGeom prst="roundRect">
            <a:avLst>
              <a:gd name="adj" fmla="val 9474"/>
            </a:avLst>
          </a:prstGeom>
          <a:solidFill>
            <a:srgbClr val="FFFFFF"/>
          </a:solidFill>
          <a:ln w="12700">
            <a:solidFill>
              <a:srgbClr val="D2D2D7"/>
            </a:solidFill>
            <a:prstDash val="solid"/>
          </a:ln>
        </p:spPr>
      </p:sp>
      <p:sp>
        <p:nvSpPr>
          <p:cNvPr id="10" name="Text 8"/>
          <p:cNvSpPr/>
          <p:nvPr/>
        </p:nvSpPr>
        <p:spPr>
          <a:xfrm>
            <a:off x="7680960" y="3172968"/>
            <a:ext cx="3685032" cy="86868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downloadable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ask, show progress, or defer the feature</a:t>
            </a:r>
            <a:endParaRPr lang="en-US" sz="1350" dirty="0"/>
          </a:p>
        </p:txBody>
      </p:sp>
      <p:sp>
        <p:nvSpPr>
          <p:cNvPr id="11" name="Shape 9"/>
          <p:cNvSpPr/>
          <p:nvPr/>
        </p:nvSpPr>
        <p:spPr>
          <a:xfrm>
            <a:off x="9523476" y="4041648"/>
            <a:ext cx="0" cy="292608"/>
          </a:xfrm>
          <a:prstGeom prst="line">
            <a:avLst/>
          </a:prstGeom>
          <a:noFill/>
          <a:ln w="15875">
            <a:solidFill>
              <a:srgbClr val="86868B"/>
            </a:solidFill>
            <a:prstDash val="solid"/>
            <a:tailEnd type="triangle"/>
          </a:ln>
        </p:spPr>
      </p:sp>
      <p:sp>
        <p:nvSpPr>
          <p:cNvPr id="12" name="Shape 10"/>
          <p:cNvSpPr/>
          <p:nvPr/>
        </p:nvSpPr>
        <p:spPr>
          <a:xfrm>
            <a:off x="7680960" y="4334256"/>
            <a:ext cx="3685032" cy="868680"/>
          </a:xfrm>
          <a:prstGeom prst="roundRect">
            <a:avLst>
              <a:gd name="adj" fmla="val 12632"/>
            </a:avLst>
          </a:prstGeom>
          <a:solidFill>
            <a:srgbClr val="F5F5F7"/>
          </a:solidFill>
          <a:ln/>
        </p:spPr>
      </p:sp>
      <p:sp>
        <p:nvSpPr>
          <p:cNvPr id="13" name="Text 11"/>
          <p:cNvSpPr/>
          <p:nvPr/>
        </p:nvSpPr>
        <p:spPr>
          <a:xfrm>
            <a:off x="7680960" y="4334256"/>
            <a:ext cx="3685032" cy="86868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unsupported</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fall back to cloud, or hide the feature</a:t>
            </a:r>
            <a:endParaRPr lang="en-US" sz="1350" dirty="0"/>
          </a:p>
        </p:txBody>
      </p:sp>
      <p:sp>
        <p:nvSpPr>
          <p:cNvPr id="14" name="Text 12"/>
          <p:cNvSpPr/>
          <p:nvPr/>
        </p:nvSpPr>
        <p:spPr>
          <a:xfrm>
            <a:off x="7680960" y="1691640"/>
            <a:ext cx="3685032" cy="274320"/>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Ask the SDK: three answers.</a:t>
            </a:r>
            <a:endParaRPr lang="en-US" sz="1250" dirty="0"/>
          </a:p>
        </p:txBody>
      </p:sp>
      <p:sp>
        <p:nvSpPr>
          <p:cNvPr id="15" name="Shape 13"/>
          <p:cNvSpPr/>
          <p:nvPr/>
        </p:nvSpPr>
        <p:spPr>
          <a:xfrm>
            <a:off x="822960" y="5074920"/>
            <a:ext cx="6309360" cy="0"/>
          </a:xfrm>
          <a:prstGeom prst="line">
            <a:avLst/>
          </a:prstGeom>
          <a:noFill/>
          <a:ln w="9525">
            <a:solidFill>
              <a:srgbClr val="D2D2D7"/>
            </a:solidFill>
            <a:prstDash val="solid"/>
          </a:ln>
        </p:spPr>
      </p:sp>
      <p:sp>
        <p:nvSpPr>
          <p:cNvPr id="16" name="Text 14"/>
          <p:cNvSpPr/>
          <p:nvPr/>
        </p:nvSpPr>
        <p:spPr>
          <a:xfrm>
            <a:off x="822960" y="5303520"/>
            <a:ext cx="630936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Feature-detect, never device-detect.</a:t>
            </a:r>
            <a:pPr indent="0" marL="0">
              <a:buNone/>
            </a:pPr>
            <a:r>
              <a:rPr lang="en-US" sz="1400" dirty="0">
                <a:solidFill>
                  <a:srgbClr val="86868B"/>
                </a:solidFill>
                <a:latin typeface="Arial" pitchFamily="34" charset="0"/>
                <a:ea typeface="Arial" pitchFamily="34" charset="-122"/>
                <a:cs typeface="Arial" pitchFamily="34" charset="-120"/>
              </a:rPr>
              <a:t> A hard-coded list of phone models goes out of date with every hardware release. Availability is a runtime question, and the fallback path is part of the feature.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CUSTOM MODELS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Your own model: TensorFlow Lite, now LiteRT</a:t>
            </a:r>
            <a:endParaRPr lang="en-US" sz="3000" dirty="0"/>
          </a:p>
        </p:txBody>
      </p:sp>
      <p:sp>
        <p:nvSpPr>
          <p:cNvPr id="5" name="Text 3"/>
          <p:cNvSpPr/>
          <p:nvPr/>
        </p:nvSpPr>
        <p:spPr>
          <a:xfrm>
            <a:off x="822960" y="1783080"/>
            <a:ext cx="6492240" cy="3931920"/>
          </a:xfrm>
          <a:prstGeom prst="rect">
            <a:avLst/>
          </a:prstGeom>
          <a:noFill/>
          <a:ln/>
        </p:spPr>
        <p:txBody>
          <a:bodyPr wrap="square" lIns="0" tIns="0" rIns="0" bIns="0" rtlCol="0" anchor="t"/>
          <a:lstStyle/>
          <a:p>
            <a:pPr indent="0" marL="0">
              <a:spcAft>
                <a:spcPts val="1200"/>
              </a:spcAft>
              <a:buNone/>
            </a:pPr>
            <a:r>
              <a:rPr lang="en-US" sz="1250" dirty="0">
                <a:solidFill>
                  <a:srgbClr val="1D1D1F"/>
                </a:solidFill>
                <a:latin typeface="Arial" pitchFamily="34" charset="0"/>
                <a:ea typeface="Arial" pitchFamily="34" charset="-122"/>
                <a:cs typeface="Arial" pitchFamily="34" charset="-120"/>
              </a:rPr>
              <a:t>ML Kit covers the problems Google already solved. When the task is yours, such as grading a weld, classifying a leaf, or scoring a window of accelerometer data, you bring your own model.</a:t>
            </a:r>
            <a:endParaRPr lang="en-US" sz="1250" dirty="0"/>
          </a:p>
          <a:p>
            <a:pPr indent="0" marL="0">
              <a:spcAft>
                <a:spcPts val="1200"/>
              </a:spcAft>
              <a:buNone/>
            </a:pPr>
            <a:r>
              <a:rPr lang="en-US" sz="1250" dirty="0">
                <a:solidFill>
                  <a:srgbClr val="1D1D1F"/>
                </a:solidFill>
                <a:latin typeface="Arial" pitchFamily="34" charset="0"/>
                <a:ea typeface="Arial" pitchFamily="34" charset="-122"/>
                <a:cs typeface="Arial" pitchFamily="34" charset="-120"/>
              </a:rPr>
              <a:t>LiteRT, the runtime published for years as TensorFlow Lite, executes a .tflite flatbuffer on the device. The file is the graph plus the weights: no training code, no ability to learn, fixed input and output shapes.</a:t>
            </a:r>
            <a:endParaRPr lang="en-US" sz="1250" dirty="0"/>
          </a:p>
          <a:p>
            <a:pPr indent="0" marL="0">
              <a:spcAft>
                <a:spcPts val="1200"/>
              </a:spcAft>
              <a:buNone/>
            </a:pPr>
            <a:r>
              <a:rPr lang="en-US" sz="1250" dirty="0">
                <a:solidFill>
                  <a:srgbClr val="1D1D1F"/>
                </a:solidFill>
                <a:latin typeface="Arial" pitchFamily="34" charset="0"/>
                <a:ea typeface="Arial" pitchFamily="34" charset="-122"/>
                <a:cs typeface="Arial" pitchFamily="34" charset="-120"/>
              </a:rPr>
              <a:t>In Flutter, tflite_flutter binds the LiteRT C API through dart:ffi, which is a direct call into native code rather than a platform-channel message per inference (→ Lecture 12).</a:t>
            </a:r>
            <a:endParaRPr lang="en-US" sz="1250" dirty="0"/>
          </a:p>
          <a:p>
            <a:pPr indent="0" marL="0">
              <a:spcAft>
                <a:spcPts val="1200"/>
              </a:spcAft>
              <a:buNone/>
            </a:pPr>
            <a:r>
              <a:rPr lang="en-US" sz="1250" dirty="0">
                <a:solidFill>
                  <a:srgbClr val="1D1D1F"/>
                </a:solidFill>
                <a:latin typeface="Arial" pitchFamily="34" charset="0"/>
                <a:ea typeface="Arial" pitchFamily="34" charset="-122"/>
                <a:cs typeface="Arial" pitchFamily="34" charset="-120"/>
              </a:rPr>
              <a:t>Delegates hand layers to the accelerator: GPU, NNAPI on Android, Core ML on iOS. Every delegate is allowed to refuse, and CPU is always the fallback, so you measure on the cheapest phone you support, not the newest.</a:t>
            </a:r>
            <a:endParaRPr lang="en-US" sz="1250" dirty="0"/>
          </a:p>
        </p:txBody>
      </p:sp>
      <p:sp>
        <p:nvSpPr>
          <p:cNvPr id="6" name="Shape 4"/>
          <p:cNvSpPr/>
          <p:nvPr/>
        </p:nvSpPr>
        <p:spPr>
          <a:xfrm>
            <a:off x="7772400" y="1828800"/>
            <a:ext cx="3593592" cy="822960"/>
          </a:xfrm>
          <a:prstGeom prst="roundRect">
            <a:avLst>
              <a:gd name="adj" fmla="val 10000"/>
            </a:avLst>
          </a:prstGeom>
          <a:solidFill>
            <a:srgbClr val="FFFFFF"/>
          </a:solidFill>
          <a:ln w="12700">
            <a:solidFill>
              <a:srgbClr val="D2D2D7"/>
            </a:solidFill>
            <a:prstDash val="solid"/>
          </a:ln>
        </p:spPr>
      </p:sp>
      <p:sp>
        <p:nvSpPr>
          <p:cNvPr id="7" name="Text 5"/>
          <p:cNvSpPr/>
          <p:nvPr/>
        </p:nvSpPr>
        <p:spPr>
          <a:xfrm>
            <a:off x="7772400" y="1828800"/>
            <a:ext cx="3593592" cy="82296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Train</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TensorFlow or PyTorch, on a real GPU</a:t>
            </a:r>
            <a:endParaRPr lang="en-US" sz="1350" dirty="0"/>
          </a:p>
        </p:txBody>
      </p:sp>
      <p:sp>
        <p:nvSpPr>
          <p:cNvPr id="8" name="Shape 6"/>
          <p:cNvSpPr/>
          <p:nvPr/>
        </p:nvSpPr>
        <p:spPr>
          <a:xfrm>
            <a:off x="9569196" y="2651760"/>
            <a:ext cx="0" cy="256032"/>
          </a:xfrm>
          <a:prstGeom prst="line">
            <a:avLst/>
          </a:prstGeom>
          <a:noFill/>
          <a:ln w="15875">
            <a:solidFill>
              <a:srgbClr val="86868B"/>
            </a:solidFill>
            <a:prstDash val="solid"/>
            <a:tailEnd type="triangle"/>
          </a:ln>
        </p:spPr>
      </p:sp>
      <p:sp>
        <p:nvSpPr>
          <p:cNvPr id="9" name="Shape 7"/>
          <p:cNvSpPr/>
          <p:nvPr/>
        </p:nvSpPr>
        <p:spPr>
          <a:xfrm>
            <a:off x="7772400" y="2907792"/>
            <a:ext cx="3593592" cy="822960"/>
          </a:xfrm>
          <a:prstGeom prst="roundRect">
            <a:avLst>
              <a:gd name="adj" fmla="val 10000"/>
            </a:avLst>
          </a:prstGeom>
          <a:solidFill>
            <a:srgbClr val="FFFFFF"/>
          </a:solidFill>
          <a:ln w="12700">
            <a:solidFill>
              <a:srgbClr val="D2D2D7"/>
            </a:solidFill>
            <a:prstDash val="solid"/>
          </a:ln>
        </p:spPr>
      </p:sp>
      <p:sp>
        <p:nvSpPr>
          <p:cNvPr id="10" name="Text 8"/>
          <p:cNvSpPr/>
          <p:nvPr/>
        </p:nvSpPr>
        <p:spPr>
          <a:xfrm>
            <a:off x="7772400" y="2907792"/>
            <a:ext cx="3593592" cy="82296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Convert</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 model.tflite</a:t>
            </a:r>
            <a:endParaRPr lang="en-US" sz="1350" dirty="0"/>
          </a:p>
        </p:txBody>
      </p:sp>
      <p:sp>
        <p:nvSpPr>
          <p:cNvPr id="11" name="Shape 9"/>
          <p:cNvSpPr/>
          <p:nvPr/>
        </p:nvSpPr>
        <p:spPr>
          <a:xfrm>
            <a:off x="9569196" y="3730752"/>
            <a:ext cx="0" cy="256032"/>
          </a:xfrm>
          <a:prstGeom prst="line">
            <a:avLst/>
          </a:prstGeom>
          <a:noFill/>
          <a:ln w="15875">
            <a:solidFill>
              <a:srgbClr val="86868B"/>
            </a:solidFill>
            <a:prstDash val="solid"/>
            <a:tailEnd type="triangle"/>
          </a:ln>
        </p:spPr>
      </p:sp>
      <p:sp>
        <p:nvSpPr>
          <p:cNvPr id="12" name="Shape 10"/>
          <p:cNvSpPr/>
          <p:nvPr/>
        </p:nvSpPr>
        <p:spPr>
          <a:xfrm>
            <a:off x="7772400" y="3986784"/>
            <a:ext cx="3593592" cy="822960"/>
          </a:xfrm>
          <a:prstGeom prst="roundRect">
            <a:avLst>
              <a:gd name="adj" fmla="val 13333"/>
            </a:avLst>
          </a:prstGeom>
          <a:solidFill>
            <a:srgbClr val="F5F5F7"/>
          </a:solidFill>
          <a:ln/>
        </p:spPr>
      </p:sp>
      <p:sp>
        <p:nvSpPr>
          <p:cNvPr id="13" name="Text 11"/>
          <p:cNvSpPr/>
          <p:nvPr/>
        </p:nvSpPr>
        <p:spPr>
          <a:xfrm>
            <a:off x="7772400" y="3986784"/>
            <a:ext cx="3593592" cy="822960"/>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Quantize</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float32 → int8, about 4x smaller</a:t>
            </a:r>
            <a:endParaRPr lang="en-US" sz="1350" dirty="0"/>
          </a:p>
        </p:txBody>
      </p:sp>
      <p:sp>
        <p:nvSpPr>
          <p:cNvPr id="14" name="Shape 12"/>
          <p:cNvSpPr/>
          <p:nvPr/>
        </p:nvSpPr>
        <p:spPr>
          <a:xfrm>
            <a:off x="9569196" y="4809744"/>
            <a:ext cx="0" cy="256032"/>
          </a:xfrm>
          <a:prstGeom prst="line">
            <a:avLst/>
          </a:prstGeom>
          <a:noFill/>
          <a:ln w="15875">
            <a:solidFill>
              <a:srgbClr val="86868B"/>
            </a:solidFill>
            <a:prstDash val="solid"/>
            <a:tailEnd type="triangle"/>
          </a:ln>
        </p:spPr>
      </p:sp>
      <p:sp>
        <p:nvSpPr>
          <p:cNvPr id="15" name="Shape 13"/>
          <p:cNvSpPr/>
          <p:nvPr/>
        </p:nvSpPr>
        <p:spPr>
          <a:xfrm>
            <a:off x="7772400" y="5065776"/>
            <a:ext cx="3593592" cy="822960"/>
          </a:xfrm>
          <a:prstGeom prst="roundRect">
            <a:avLst>
              <a:gd name="adj" fmla="val 10000"/>
            </a:avLst>
          </a:prstGeom>
          <a:solidFill>
            <a:srgbClr val="000000"/>
          </a:solidFill>
          <a:ln/>
        </p:spPr>
      </p:sp>
      <p:sp>
        <p:nvSpPr>
          <p:cNvPr id="16" name="Text 14"/>
          <p:cNvSpPr/>
          <p:nvPr/>
        </p:nvSpPr>
        <p:spPr>
          <a:xfrm>
            <a:off x="7772400" y="5065776"/>
            <a:ext cx="3593592"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Ship &amp; run</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asset or download, then Interpreter</a:t>
            </a:r>
            <a:endParaRPr lang="en-US" sz="1350" dirty="0"/>
          </a:p>
        </p:txBody>
      </p:sp>
      <p:sp>
        <p:nvSpPr>
          <p:cNvPr id="17" name="Text 15"/>
          <p:cNvSpPr/>
          <p:nvPr/>
        </p:nvSpPr>
        <p:spPr>
          <a:xfrm>
            <a:off x="7772400" y="6053328"/>
            <a:ext cx="3593592" cy="274320"/>
          </a:xfrm>
          <a:prstGeom prst="rect">
            <a:avLst/>
          </a:prstGeom>
          <a:noFill/>
          <a:ln/>
        </p:spPr>
        <p:txBody>
          <a:bodyPr wrap="square" lIns="0" tIns="0" rIns="0" bIns="0" rtlCol="0" anchor="ctr"/>
          <a:lstStyle/>
          <a:p>
            <a:pPr algn="ctr" indent="0" marL="0">
              <a:buNone/>
            </a:pPr>
            <a:r>
              <a:rPr lang="en-US" sz="1100" dirty="0">
                <a:solidFill>
                  <a:srgbClr val="86868B"/>
                </a:solidFill>
                <a:latin typeface="Arial" pitchFamily="34" charset="0"/>
                <a:ea typeface="Arial" pitchFamily="34" charset="-122"/>
                <a:cs typeface="Arial" pitchFamily="34" charset="-120"/>
              </a:rPr>
              <a:t>None of the first three steps happen in Dart.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CUSTOM MODELS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tflite_flutter: load, run, get off the UI isolate</a:t>
            </a:r>
            <a:endParaRPr lang="en-US" sz="3000" dirty="0"/>
          </a:p>
        </p:txBody>
      </p:sp>
      <p:sp>
        <p:nvSpPr>
          <p:cNvPr id="5" name="Shape 3"/>
          <p:cNvSpPr/>
          <p:nvPr/>
        </p:nvSpPr>
        <p:spPr>
          <a:xfrm>
            <a:off x="822960" y="1737360"/>
            <a:ext cx="7040880" cy="4526280"/>
          </a:xfrm>
          <a:prstGeom prst="roundRect">
            <a:avLst>
              <a:gd name="adj" fmla="val 2424"/>
            </a:avLst>
          </a:prstGeom>
          <a:solidFill>
            <a:srgbClr val="F5F5F7"/>
          </a:solidFill>
          <a:ln/>
        </p:spPr>
      </p:sp>
      <p:sp>
        <p:nvSpPr>
          <p:cNvPr id="6" name="Text 4"/>
          <p:cNvSpPr/>
          <p:nvPr/>
        </p:nvSpPr>
        <p:spPr>
          <a:xfrm>
            <a:off x="1234440" y="2057400"/>
            <a:ext cx="6309360" cy="3931920"/>
          </a:xfrm>
          <a:prstGeom prst="rect">
            <a:avLst/>
          </a:prstGeom>
          <a:noFill/>
          <a:ln/>
        </p:spPr>
        <p:txBody>
          <a:bodyPr wrap="square" lIns="0" tIns="0" rIns="0" bIns="0" rtlCol="0" anchor="t"/>
          <a:lstStyle/>
          <a:p>
            <a:pPr indent="0" marL="0">
              <a:lnSpc>
                <a:spcPts val="1600"/>
              </a:lnSpc>
              <a:buNone/>
            </a:pPr>
            <a:r>
              <a:rPr lang="en-US" sz="850" dirty="0">
                <a:solidFill>
                  <a:srgbClr val="86868B"/>
                </a:solidFill>
                <a:latin typeface="Courier New" pitchFamily="34" charset="0"/>
                <a:ea typeface="Courier New" pitchFamily="34" charset="-122"/>
                <a:cs typeface="Courier New" pitchFamily="34" charset="-120"/>
              </a:rPr>
              <a:t>// tflite_flutter: ^0.11.0. The .tflite ships as a Flutter asset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import 'package:tflite_flutter/tflite_flutter.dart';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late final Interpreter _interp;</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late final IsolateInterpreter _iso;</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Future&lt;void&gt; load() async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o = InterpreterOptions()..threads = 2;</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try { o.addDelegate(GpuDelegateV2()); } catch (_) {}   // CPU is fine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_interp = await Interpreter.fromAsset(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'assets/models/leaf_int8.tflite', options: o);</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_iso = await IsolateInterpreter.create(address: _interp.address);</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Future&lt;List&lt;double&gt;&gt; classify(List input) async {</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final out = List.filled(5, 0.0).reshape([1, 5]);</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await _iso.run([input], out);      // off the UI isolate</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  return out[0].cast&lt;double&gt;();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a:t>
            </a:r>
            <a:endParaRPr lang="en-US" sz="850" dirty="0"/>
          </a:p>
          <a:p>
            <a:pPr indent="0" marL="0">
              <a:lnSpc>
                <a:spcPts val="1600"/>
              </a:lnSpc>
              <a:buNone/>
            </a:pPr>
            <a:r>
              <a:rPr lang="en-US" sz="850" dirty="0">
                <a:solidFill>
                  <a:srgbClr val="1D1D1F"/>
                </a:solidFill>
                <a:latin typeface="Courier New" pitchFamily="34" charset="0"/>
                <a:ea typeface="Courier New" pitchFamily="34" charset="-122"/>
                <a:cs typeface="Courier New" pitchFamily="34" charset="-120"/>
              </a:rPr>
              <a:t>void dispose() { _iso.close(); _interp.close(); }</a:t>
            </a:r>
            <a:endParaRPr lang="en-US" sz="850" dirty="0"/>
          </a:p>
        </p:txBody>
      </p:sp>
      <p:sp>
        <p:nvSpPr>
          <p:cNvPr id="7" name="Text 5"/>
          <p:cNvSpPr/>
          <p:nvPr/>
        </p:nvSpPr>
        <p:spPr>
          <a:xfrm>
            <a:off x="8138160" y="1828800"/>
            <a:ext cx="3227832" cy="4206240"/>
          </a:xfrm>
          <a:prstGeom prst="rect">
            <a:avLst/>
          </a:prstGeom>
          <a:noFill/>
          <a:ln/>
        </p:spPr>
        <p:txBody>
          <a:bodyPr wrap="square" lIns="0" tIns="0" rIns="0" bIns="0" rtlCol="0" anchor="t"/>
          <a:lstStyle/>
          <a:p>
            <a:pPr indent="0" marL="0">
              <a:spcAft>
                <a:spcPts val="1200"/>
              </a:spcAft>
              <a:buNone/>
            </a:pPr>
            <a:r>
              <a:rPr lang="en-US" sz="1100" dirty="0">
                <a:solidFill>
                  <a:srgbClr val="1D1D1F"/>
                </a:solidFill>
                <a:latin typeface="Arial" pitchFamily="34" charset="0"/>
                <a:ea typeface="Arial" pitchFamily="34" charset="-122"/>
                <a:cs typeface="Arial" pitchFamily="34" charset="-120"/>
              </a:rPr>
              <a:t>Interpreter.run is synchronous and CPU-bound. On the UI isolate it drops frames, so hand the interpreter's native address to an isolate (→ Lecture 3).</a:t>
            </a:r>
            <a:endParaRPr lang="en-US" sz="1100" dirty="0"/>
          </a:p>
          <a:p>
            <a:pPr indent="0" marL="0">
              <a:spcAft>
                <a:spcPts val="1200"/>
              </a:spcAft>
              <a:buNone/>
            </a:pPr>
            <a:r>
              <a:rPr lang="en-US" sz="1100" dirty="0">
                <a:solidFill>
                  <a:srgbClr val="1D1D1F"/>
                </a:solidFill>
                <a:latin typeface="Arial" pitchFamily="34" charset="0"/>
                <a:ea typeface="Arial" pitchFamily="34" charset="-122"/>
                <a:cs typeface="Arial" pitchFamily="34" charset="-120"/>
              </a:rPr>
              <a:t>Shapes are baked into the file at conversion time. getInputTensors() tells you what the model wants; guessing produces a crash or silent nonsense.</a:t>
            </a:r>
            <a:endParaRPr lang="en-US" sz="1100" dirty="0"/>
          </a:p>
          <a:p>
            <a:pPr indent="0" marL="0">
              <a:spcAft>
                <a:spcPts val="1200"/>
              </a:spcAft>
              <a:buNone/>
            </a:pPr>
            <a:r>
              <a:rPr lang="en-US" sz="1100" dirty="0">
                <a:solidFill>
                  <a:srgbClr val="1D1D1F"/>
                </a:solidFill>
                <a:latin typeface="Arial" pitchFamily="34" charset="0"/>
                <a:ea typeface="Arial" pitchFamily="34" charset="-122"/>
                <a:cs typeface="Arial" pitchFamily="34" charset="-120"/>
              </a:rPr>
              <a:t>An int8 model expects int8 input, with the scale and zero-point traveling alongside the tensor.</a:t>
            </a:r>
            <a:endParaRPr lang="en-US" sz="1100" dirty="0"/>
          </a:p>
          <a:p>
            <a:pPr indent="0" marL="0">
              <a:spcAft>
                <a:spcPts val="1200"/>
              </a:spcAft>
              <a:buNone/>
            </a:pPr>
            <a:r>
              <a:rPr lang="en-US" sz="1100" dirty="0">
                <a:solidFill>
                  <a:srgbClr val="1D1D1F"/>
                </a:solidFill>
                <a:latin typeface="Arial" pitchFamily="34" charset="0"/>
                <a:ea typeface="Arial" pitchFamily="34" charset="-122"/>
                <a:cs typeface="Arial" pitchFamily="34" charset="-120"/>
              </a:rPr>
              <a:t>close() both. Native memory again, invisible to the Dart GC.</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CUSTOM MODELS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Quantization, and how the model reaches the phone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1463040"/>
                <a:gridCol w="3026664"/>
                <a:gridCol w="3026664"/>
                <a:gridCol w="3026664"/>
              </a:tblGrid>
              <a:tr h="438912">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float32</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float16</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int8</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50292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Size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1x, the baseline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0.5x</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0.25x</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50292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Accuracy</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reference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loss is usually negligible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small and task-dependent, so measure it</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r h="50292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CPU speed</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baseline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about baseline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2–4x faster on integer units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5F5F7"/>
                    </a:solidFill>
                  </a:tcPr>
                </a:tc>
              </a:tr>
            </a:tbl>
          </a:graphicData>
        </a:graphic>
      </p:graphicFrame>
      <p:sp>
        <p:nvSpPr>
          <p:cNvPr id="6" name="Text 3"/>
          <p:cNvSpPr/>
          <p:nvPr/>
        </p:nvSpPr>
        <p:spPr>
          <a:xfrm>
            <a:off x="822960" y="3931920"/>
            <a:ext cx="10543032" cy="1463040"/>
          </a:xfrm>
          <a:prstGeom prst="rect">
            <a:avLst/>
          </a:prstGeom>
          <a:noFill/>
          <a:ln/>
        </p:spPr>
        <p:txBody>
          <a:bodyPr wrap="square" lIns="0" tIns="0" rIns="0" bIns="0" rtlCol="0" anchor="t"/>
          <a:lstStyle/>
          <a:p>
            <a:pPr indent="0" marL="0">
              <a:spcAft>
                <a:spcPts val="700"/>
              </a:spcAft>
              <a:buNone/>
            </a:pPr>
            <a:r>
              <a:rPr lang="en-US" sz="1150" b="1" dirty="0">
                <a:solidFill>
                  <a:srgbClr val="1D1D1F"/>
                </a:solidFill>
                <a:latin typeface="Arial" pitchFamily="34" charset="0"/>
                <a:ea typeface="Arial" pitchFamily="34" charset="-122"/>
                <a:cs typeface="Arial" pitchFamily="34" charset="-120"/>
              </a:rPr>
              <a:t>Bundled as an asset.</a:t>
            </a:r>
            <a:endParaRPr lang="en-US" sz="1150" dirty="0"/>
          </a:p>
          <a:p>
            <a:pPr indent="0" marL="0">
              <a:spcAft>
                <a:spcPts val="700"/>
              </a:spcAft>
              <a:buNone/>
            </a:pPr>
            <a:r>
              <a:rPr lang="en-US" sz="1150" dirty="0">
                <a:solidFill>
                  <a:srgbClr val="1D1D1F"/>
                </a:solidFill>
                <a:latin typeface="Arial" pitchFamily="34" charset="0"/>
                <a:ea typeface="Arial" pitchFamily="34" charset="-122"/>
                <a:cs typeface="Arial" pitchFamily="34" charset="-120"/>
              </a:rPr>
              <a:t>In the store binary, available on first launch, and re-downloaded by every user every time you change it. Install size is a conversion metric, so a 90 MB model is a product decision, not a detail.</a:t>
            </a:r>
            <a:endParaRPr lang="en-US" sz="1150" dirty="0"/>
          </a:p>
          <a:p>
            <a:pPr indent="0" marL="0">
              <a:spcAft>
                <a:spcPts val="700"/>
              </a:spcAft>
              <a:buNone/>
            </a:pPr>
            <a:r>
              <a:rPr lang="en-US" sz="1150" b="1" dirty="0">
                <a:solidFill>
                  <a:srgbClr val="1D1D1F"/>
                </a:solidFill>
                <a:latin typeface="Arial" pitchFamily="34" charset="0"/>
                <a:ea typeface="Arial" pitchFamily="34" charset="-122"/>
                <a:cs typeface="Arial" pitchFamily="34" charset="-120"/>
              </a:rPr>
              <a:t>Downloaded on first run.</a:t>
            </a:r>
            <a:endParaRPr lang="en-US" sz="1150" dirty="0"/>
          </a:p>
          <a:p>
            <a:pPr indent="0" marL="0">
              <a:spcAft>
                <a:spcPts val="700"/>
              </a:spcAft>
              <a:buNone/>
            </a:pPr>
            <a:r>
              <a:rPr lang="en-US" sz="1150" dirty="0">
                <a:solidFill>
                  <a:srgbClr val="1D1D1F"/>
                </a:solidFill>
                <a:latin typeface="Arial" pitchFamily="34" charset="0"/>
                <a:ea typeface="Arial" pitchFamily="34" charset="-122"/>
                <a:cs typeface="Arial" pitchFamily="34" charset="-120"/>
              </a:rPr>
              <a:t>A smaller install, but now you own a download, a cache, a version check, a retry, and a first-launch state where the feature does not work yet. Firebase ML custom model hosting does this for you, with rollout and rollback.</a:t>
            </a:r>
            <a:endParaRPr lang="en-US" sz="1150" dirty="0"/>
          </a:p>
        </p:txBody>
      </p:sp>
      <p:sp>
        <p:nvSpPr>
          <p:cNvPr id="7" name="Shape 4"/>
          <p:cNvSpPr/>
          <p:nvPr/>
        </p:nvSpPr>
        <p:spPr>
          <a:xfrm>
            <a:off x="822960" y="5440680"/>
            <a:ext cx="10543032" cy="0"/>
          </a:xfrm>
          <a:prstGeom prst="line">
            <a:avLst/>
          </a:prstGeom>
          <a:noFill/>
          <a:ln w="9525">
            <a:solidFill>
              <a:srgbClr val="D2D2D7"/>
            </a:solidFill>
            <a:prstDash val="solid"/>
          </a:ln>
        </p:spPr>
      </p:sp>
      <p:sp>
        <p:nvSpPr>
          <p:cNvPr id="8" name="Text 5"/>
          <p:cNvSpPr/>
          <p:nvPr/>
        </p:nvSpPr>
        <p:spPr>
          <a:xfrm>
            <a:off x="822960" y="566928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Accelerator paths are int8-first.</a:t>
            </a:r>
            <a:pPr indent="0" marL="0">
              <a:buNone/>
            </a:pPr>
            <a:r>
              <a:rPr lang="en-US" sz="1400" dirty="0">
                <a:solidFill>
                  <a:srgbClr val="86868B"/>
                </a:solidFill>
                <a:latin typeface="Arial" pitchFamily="34" charset="0"/>
                <a:ea typeface="Arial" pitchFamily="34" charset="-122"/>
                <a:cs typeface="Arial" pitchFamily="34" charset="-120"/>
              </a:rPr>
              <a:t> Quantization is often the difference between running on the NPU and running on the CPU.</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3 · CLOUD LLMS</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Calling a model you do not host</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Where the key lives determines the architecture; everything else is UI</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18</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CLOUD LLMS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prototyping trap: a key inside the app</a:t>
            </a:r>
            <a:endParaRPr lang="en-US" sz="3000" dirty="0"/>
          </a:p>
        </p:txBody>
      </p:sp>
      <p:sp>
        <p:nvSpPr>
          <p:cNvPr id="5" name="Text 3"/>
          <p:cNvSpPr/>
          <p:nvPr/>
        </p:nvSpPr>
        <p:spPr>
          <a:xfrm>
            <a:off x="822960" y="1463040"/>
            <a:ext cx="6492240" cy="274320"/>
          </a:xfrm>
          <a:prstGeom prst="rect">
            <a:avLst/>
          </a:prstGeom>
          <a:noFill/>
          <a:ln/>
        </p:spPr>
        <p:txBody>
          <a:bodyPr wrap="square" lIns="0" tIns="0" rIns="0" bIns="0" rtlCol="0" anchor="ctr"/>
          <a:lstStyle/>
          <a:p>
            <a:pPr indent="0" marL="0">
              <a:buNone/>
            </a:pPr>
            <a:r>
              <a:rPr lang="en-US" sz="1200" b="1" spc="150" kern="0" dirty="0">
                <a:solidFill>
                  <a:srgbClr val="FF3B30"/>
                </a:solidFill>
                <a:latin typeface="Arial" pitchFamily="34" charset="0"/>
                <a:ea typeface="Arial" pitchFamily="34" charset="-122"/>
                <a:cs typeface="Arial" pitchFamily="34" charset="-120"/>
              </a:rPr>
              <a:t>Do not ship this</a:t>
            </a:r>
            <a:endParaRPr lang="en-US" sz="1200" dirty="0"/>
          </a:p>
        </p:txBody>
      </p:sp>
      <p:sp>
        <p:nvSpPr>
          <p:cNvPr id="6" name="Shape 4"/>
          <p:cNvSpPr/>
          <p:nvPr/>
        </p:nvSpPr>
        <p:spPr>
          <a:xfrm>
            <a:off x="822960" y="1783080"/>
            <a:ext cx="6492240" cy="2880360"/>
          </a:xfrm>
          <a:prstGeom prst="roundRect">
            <a:avLst>
              <a:gd name="adj" fmla="val 3810"/>
            </a:avLst>
          </a:prstGeom>
          <a:solidFill>
            <a:srgbClr val="F5F5F7"/>
          </a:solidFill>
          <a:ln/>
        </p:spPr>
      </p:sp>
      <p:sp>
        <p:nvSpPr>
          <p:cNvPr id="7" name="Text 5"/>
          <p:cNvSpPr/>
          <p:nvPr/>
        </p:nvSpPr>
        <p:spPr>
          <a:xfrm>
            <a:off x="1234440" y="2103120"/>
            <a:ext cx="5760720" cy="2286000"/>
          </a:xfrm>
          <a:prstGeom prst="rect">
            <a:avLst/>
          </a:prstGeom>
          <a:noFill/>
          <a:ln/>
        </p:spPr>
        <p:txBody>
          <a:bodyPr wrap="square" lIns="0" tIns="0" rIns="0" bIns="0" rtlCol="0" anchor="t"/>
          <a:lstStyle/>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google_generative_ai is deprecated, and the wrong shape anyway.</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import 'package:google_generative_ai/google_generative_ai.dart';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const apiKey = 'AIzaSyD-9tSrke72_EXAMPLE_KEY_xxxxxxxxxx';</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final model = GenerativeModel(</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model: 'gemini-2.5-flash',</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apiKey: apiKey,        // &lt;- compiled into the APK / IPA</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final res = await model.generateContent([Content.text(prompt)]);</a:t>
            </a:r>
            <a:endParaRPr lang="en-US" sz="950" dirty="0"/>
          </a:p>
        </p:txBody>
      </p:sp>
      <p:sp>
        <p:nvSpPr>
          <p:cNvPr id="8" name="Text 6"/>
          <p:cNvSpPr/>
          <p:nvPr/>
        </p:nvSpPr>
        <p:spPr>
          <a:xfrm>
            <a:off x="7589520" y="1463040"/>
            <a:ext cx="3776472" cy="274320"/>
          </a:xfrm>
          <a:prstGeom prst="rect">
            <a:avLst/>
          </a:prstGeom>
          <a:noFill/>
          <a:ln/>
        </p:spPr>
        <p:txBody>
          <a:bodyPr wrap="square" lIns="0" tIns="0" rIns="0" bIns="0" rtlCol="0" anchor="ctr"/>
          <a:lstStyle/>
          <a:p>
            <a:pPr indent="0" marL="0">
              <a:buNone/>
            </a:pPr>
            <a:r>
              <a:rPr lang="en-US" sz="1200" b="1" spc="150" kern="0" dirty="0">
                <a:solidFill>
                  <a:srgbClr val="1D1D1F"/>
                </a:solidFill>
                <a:latin typeface="Arial" pitchFamily="34" charset="0"/>
                <a:ea typeface="Arial" pitchFamily="34" charset="-122"/>
                <a:cs typeface="Arial" pitchFamily="34" charset="-120"/>
              </a:rPr>
              <a:t>Three separate things are wrong</a:t>
            </a:r>
            <a:endParaRPr lang="en-US" sz="1200" dirty="0"/>
          </a:p>
        </p:txBody>
      </p:sp>
      <p:sp>
        <p:nvSpPr>
          <p:cNvPr id="9" name="Text 7"/>
          <p:cNvSpPr/>
          <p:nvPr/>
        </p:nvSpPr>
        <p:spPr>
          <a:xfrm>
            <a:off x="7589520" y="1783080"/>
            <a:ext cx="3776472" cy="4114800"/>
          </a:xfrm>
          <a:prstGeom prst="rect">
            <a:avLst/>
          </a:prstGeom>
          <a:noFill/>
          <a:ln/>
        </p:spPr>
        <p:txBody>
          <a:bodyPr wrap="square" lIns="0" tIns="0" rIns="0" bIns="0" rtlCol="0" anchor="t"/>
          <a:lstStyle/>
          <a:p>
            <a:pPr indent="0" marL="0">
              <a:spcAft>
                <a:spcPts val="700"/>
              </a:spcAft>
              <a:buNone/>
            </a:pPr>
            <a:r>
              <a:rPr lang="en-US" sz="1100" b="1" dirty="0">
                <a:solidFill>
                  <a:srgbClr val="1D1D1F"/>
                </a:solidFill>
                <a:latin typeface="Arial" pitchFamily="34" charset="0"/>
                <a:ea typeface="Arial" pitchFamily="34" charset="-122"/>
                <a:cs typeface="Arial" pitchFamily="34" charset="-120"/>
              </a:rPr>
              <a:t>The package.</a:t>
            </a:r>
            <a:endParaRPr lang="en-US" sz="1100" dirty="0"/>
          </a:p>
          <a:p>
            <a:pPr indent="0" marL="0">
              <a:spcAft>
                <a:spcPts val="700"/>
              </a:spcAft>
              <a:buNone/>
            </a:pPr>
            <a:r>
              <a:rPr lang="en-US" sz="1100" dirty="0">
                <a:solidFill>
                  <a:srgbClr val="1D1D1F"/>
                </a:solidFill>
                <a:latin typeface="Arial" pitchFamily="34" charset="0"/>
                <a:ea typeface="Arial" pitchFamily="34" charset="-122"/>
                <a:cs typeface="Arial" pitchFamily="34" charset="-120"/>
              </a:rPr>
              <a:t>google_generative_ai is deprecated; firebase_ai replaces it, and firebase_ai is also the fix for the other two problems.</a:t>
            </a:r>
            <a:endParaRPr lang="en-US" sz="1100" dirty="0"/>
          </a:p>
          <a:p>
            <a:pPr indent="0" marL="0">
              <a:spcAft>
                <a:spcPts val="700"/>
              </a:spcAft>
              <a:buNone/>
            </a:pPr>
            <a:r>
              <a:rPr lang="en-US" sz="1100" b="1" dirty="0">
                <a:solidFill>
                  <a:srgbClr val="1D1D1F"/>
                </a:solidFill>
                <a:latin typeface="Arial" pitchFamily="34" charset="0"/>
                <a:ea typeface="Arial" pitchFamily="34" charset="-122"/>
                <a:cs typeface="Arial" pitchFamily="34" charset="-120"/>
              </a:rPr>
              <a:t>The key.</a:t>
            </a:r>
            <a:endParaRPr lang="en-US" sz="1100" dirty="0"/>
          </a:p>
          <a:p>
            <a:pPr indent="0" marL="0">
              <a:spcAft>
                <a:spcPts val="700"/>
              </a:spcAft>
              <a:buNone/>
            </a:pPr>
            <a:r>
              <a:rPr lang="en-US" sz="1100" dirty="0">
                <a:solidFill>
                  <a:srgbClr val="1D1D1F"/>
                </a:solidFill>
                <a:latin typeface="Arial" pitchFamily="34" charset="0"/>
                <a:ea typeface="Arial" pitchFamily="34" charset="-122"/>
                <a:cs typeface="Arial" pitchFamily="34" charset="-120"/>
              </a:rPr>
              <a:t>Anything compiled into your app ships to every person who installs it. --dart-define, a .env file, base64, string obfuscation: all the same outcome.</a:t>
            </a:r>
            <a:endParaRPr lang="en-US" sz="1100" dirty="0"/>
          </a:p>
          <a:p>
            <a:pPr indent="0" marL="0">
              <a:spcAft>
                <a:spcPts val="700"/>
              </a:spcAft>
              <a:buNone/>
            </a:pPr>
            <a:r>
              <a:rPr lang="en-US" sz="1100" b="1" dirty="0">
                <a:solidFill>
                  <a:srgbClr val="1D1D1F"/>
                </a:solidFill>
                <a:latin typeface="Arial" pitchFamily="34" charset="0"/>
                <a:ea typeface="Arial" pitchFamily="34" charset="-122"/>
                <a:cs typeface="Arial" pitchFamily="34" charset="-120"/>
              </a:rPr>
              <a:t>The architecture.</a:t>
            </a:r>
            <a:endParaRPr lang="en-US" sz="1100" dirty="0"/>
          </a:p>
          <a:p>
            <a:pPr indent="0" marL="0">
              <a:spcAft>
                <a:spcPts val="700"/>
              </a:spcAft>
              <a:buNone/>
            </a:pPr>
            <a:r>
              <a:rPr lang="en-US" sz="1100" dirty="0">
                <a:solidFill>
                  <a:srgbClr val="1D1D1F"/>
                </a:solidFill>
                <a:latin typeface="Arial" pitchFamily="34" charset="0"/>
                <a:ea typeface="Arial" pitchFamily="34" charset="-122"/>
                <a:cs typeface="Arial" pitchFamily="34" charset="-120"/>
              </a:rPr>
              <a:t>The client is talking straight to a metered API, so nothing but the client limits who can spend against your account.</a:t>
            </a:r>
            <a:endParaRPr lang="en-US" sz="1100" dirty="0"/>
          </a:p>
        </p:txBody>
      </p:sp>
      <p:sp>
        <p:nvSpPr>
          <p:cNvPr id="10" name="Shape 8"/>
          <p:cNvSpPr/>
          <p:nvPr/>
        </p:nvSpPr>
        <p:spPr>
          <a:xfrm>
            <a:off x="822960" y="4892040"/>
            <a:ext cx="6492240" cy="0"/>
          </a:xfrm>
          <a:prstGeom prst="line">
            <a:avLst/>
          </a:prstGeom>
          <a:noFill/>
          <a:ln w="9525">
            <a:solidFill>
              <a:srgbClr val="D2D2D7"/>
            </a:solidFill>
            <a:prstDash val="solid"/>
          </a:ln>
        </p:spPr>
      </p:sp>
      <p:sp>
        <p:nvSpPr>
          <p:cNvPr id="11" name="Text 9"/>
          <p:cNvSpPr/>
          <p:nvPr/>
        </p:nvSpPr>
        <p:spPr>
          <a:xfrm>
            <a:off x="822960" y="5120640"/>
            <a:ext cx="649224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This is fine for one afternoon on an emulator.</a:t>
            </a:r>
            <a:pPr indent="0" marL="0">
              <a:buNone/>
            </a:pPr>
            <a:r>
              <a:rPr lang="en-US" sz="1400" dirty="0">
                <a:solidFill>
                  <a:srgbClr val="86868B"/>
                </a:solidFill>
                <a:latin typeface="Arial" pitchFamily="34" charset="0"/>
                <a:ea typeface="Arial" pitchFamily="34" charset="-122"/>
                <a:cs typeface="Arial" pitchFamily="34" charset="-120"/>
              </a:rPr>
              <a:t> It stops being fine once the build leaves your machine.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19</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CLOUD LLMS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 key in a binary is a published key</a:t>
            </a:r>
            <a:endParaRPr lang="en-US" sz="3000" dirty="0"/>
          </a:p>
        </p:txBody>
      </p:sp>
      <p:sp>
        <p:nvSpPr>
          <p:cNvPr id="5" name="Shape 3"/>
          <p:cNvSpPr/>
          <p:nvPr/>
        </p:nvSpPr>
        <p:spPr>
          <a:xfrm>
            <a:off x="822960" y="1783080"/>
            <a:ext cx="6035040" cy="3566160"/>
          </a:xfrm>
          <a:prstGeom prst="roundRect">
            <a:avLst>
              <a:gd name="adj" fmla="val 3077"/>
            </a:avLst>
          </a:prstGeom>
          <a:solidFill>
            <a:srgbClr val="F5F5F7"/>
          </a:solidFill>
          <a:ln/>
        </p:spPr>
      </p:sp>
      <p:sp>
        <p:nvSpPr>
          <p:cNvPr id="6" name="Text 4"/>
          <p:cNvSpPr/>
          <p:nvPr/>
        </p:nvSpPr>
        <p:spPr>
          <a:xfrm>
            <a:off x="1234440" y="2103120"/>
            <a:ext cx="5303520" cy="2971800"/>
          </a:xfrm>
          <a:prstGeom prst="rect">
            <a:avLst/>
          </a:prstGeom>
          <a:noFill/>
          <a:ln/>
        </p:spPr>
        <p:txBody>
          <a:bodyPr wrap="square" lIns="0" tIns="0" rIns="0" bIns="0" rtlCol="0" anchor="t"/>
          <a:lstStyle/>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Anyone can run this against any app, on their own phone.</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adb shell pm path com.example.app</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package:/data/app/~~a1b2.../base.apk</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adb pull /data/app/~~a1b2.../base.apk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unzip -o base.apk -d out/</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strings out/lib/arm64-v8a/libapp.so \</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 grep -E 'AIza[0-9A-Za-z_-]{35}'</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AIzaSyD-9tSrke72_EXAMPLE_KEY_xxxxxxxxxx</a:t>
            </a:r>
            <a:endParaRPr lang="en-US" sz="950" dirty="0"/>
          </a:p>
          <a:p>
            <a:pPr indent="0" marL="0">
              <a:lnSpc>
                <a:spcPts val="1800"/>
              </a:lnSpc>
              <a:buNone/>
            </a:pPr>
            <a:r>
              <a:rPr lang="en-US" sz="950" dirty="0">
                <a:solidFill>
                  <a:srgbClr val="1D1D1F"/>
                </a:solidFill>
                <a:latin typeface="Courier New" pitchFamily="34" charset="0"/>
                <a:ea typeface="Courier New" pitchFamily="34" charset="-122"/>
                <a:cs typeface="Courier New" pitchFamily="34" charset="-120"/>
              </a:rPr>
              <a:t> </a:t>
            </a:r>
            <a:endParaRPr lang="en-US" sz="950" dirty="0"/>
          </a:p>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Elapsed: about a minute.</a:t>
            </a:r>
            <a:endParaRPr lang="en-US" sz="950" dirty="0"/>
          </a:p>
          <a:p>
            <a:pPr indent="0" marL="0">
              <a:lnSpc>
                <a:spcPts val="1800"/>
              </a:lnSpc>
              <a:buNone/>
            </a:pPr>
            <a:r>
              <a:rPr lang="en-US" sz="950" dirty="0">
                <a:solidFill>
                  <a:srgbClr val="86868B"/>
                </a:solidFill>
                <a:latin typeface="Courier New" pitchFamily="34" charset="0"/>
                <a:ea typeface="Courier New" pitchFamily="34" charset="-122"/>
                <a:cs typeface="Courier New" pitchFamily="34" charset="-120"/>
              </a:rPr>
              <a:t># iOS is the same exercise on the .ipa payload.</a:t>
            </a:r>
            <a:endParaRPr lang="en-US" sz="950" dirty="0"/>
          </a:p>
        </p:txBody>
      </p:sp>
      <p:sp>
        <p:nvSpPr>
          <p:cNvPr id="7" name="Text 5"/>
          <p:cNvSpPr/>
          <p:nvPr/>
        </p:nvSpPr>
        <p:spPr>
          <a:xfrm>
            <a:off x="7223760" y="1828800"/>
            <a:ext cx="4142232" cy="3657600"/>
          </a:xfrm>
          <a:prstGeom prst="rect">
            <a:avLst/>
          </a:prstGeom>
          <a:noFill/>
          <a:ln/>
        </p:spPr>
        <p:txBody>
          <a:bodyPr wrap="square" lIns="0" tIns="0" rIns="0" bIns="0" rtlCol="0" anchor="t"/>
          <a:lstStyle/>
          <a:p>
            <a:pPr indent="0" marL="0">
              <a:spcAft>
                <a:spcPts val="1200"/>
              </a:spcAft>
              <a:buNone/>
            </a:pPr>
            <a:r>
              <a:rPr lang="en-US" sz="1150" dirty="0">
                <a:solidFill>
                  <a:srgbClr val="1D1D1F"/>
                </a:solidFill>
                <a:latin typeface="Arial" pitchFamily="34" charset="0"/>
                <a:ea typeface="Arial" pitchFamily="34" charset="-122"/>
                <a:cs typeface="Arial" pitchFamily="34" charset="-120"/>
              </a:rPr>
              <a:t>Release Dart is AOT-compiled into libapp.so, but string constants survive compilation. They have to: the program reads them at runtime.</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Obfuscation renames symbols. It does not remove the bytes your HTTP client eventually puts on the wire, and a proxy on the attacker's own device reads the request regardless.</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The bill is yours. A provider key is billed to the account that issued it, so a leaked key is someone else's inference at your expense until you happen to look.</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Rotating the key ships a new app version and leaves every old install broken.</a:t>
            </a:r>
            <a:endParaRPr lang="en-US" sz="1150" dirty="0"/>
          </a:p>
        </p:txBody>
      </p:sp>
      <p:sp>
        <p:nvSpPr>
          <p:cNvPr id="8" name="Shape 6"/>
          <p:cNvSpPr/>
          <p:nvPr/>
        </p:nvSpPr>
        <p:spPr>
          <a:xfrm>
            <a:off x="822960" y="5532120"/>
            <a:ext cx="10543032" cy="0"/>
          </a:xfrm>
          <a:prstGeom prst="line">
            <a:avLst/>
          </a:prstGeom>
          <a:noFill/>
          <a:ln w="9525">
            <a:solidFill>
              <a:srgbClr val="D2D2D7"/>
            </a:solidFill>
            <a:prstDash val="solid"/>
          </a:ln>
        </p:spPr>
      </p:sp>
      <p:sp>
        <p:nvSpPr>
          <p:cNvPr id="9" name="Text 7"/>
          <p:cNvSpPr/>
          <p:nvPr/>
        </p:nvSpPr>
        <p:spPr>
          <a:xfrm>
            <a:off x="822960" y="576072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There is no secret you can ship inside a client.</a:t>
            </a:r>
            <a:pPr indent="0" marL="0">
              <a:buNone/>
            </a:pPr>
            <a:r>
              <a:rPr lang="en-US" sz="1400" dirty="0">
                <a:solidFill>
                  <a:srgbClr val="86868B"/>
                </a:solidFill>
                <a:latin typeface="Arial" pitchFamily="34" charset="0"/>
                <a:ea typeface="Arial" pitchFamily="34" charset="-122"/>
                <a:cs typeface="Arial" pitchFamily="34" charset="-120"/>
              </a:rPr>
              <a:t> The same rule as Lecture 5, this time with a billing consequence.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20</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CLOUD LLMS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Two correct shapes, and what each one costs</a:t>
            </a:r>
            <a:endParaRPr lang="en-US" sz="3000" dirty="0"/>
          </a:p>
        </p:txBody>
      </p:sp>
      <p:sp>
        <p:nvSpPr>
          <p:cNvPr id="5" name="Text 3"/>
          <p:cNvSpPr/>
          <p:nvPr/>
        </p:nvSpPr>
        <p:spPr>
          <a:xfrm>
            <a:off x="822960" y="1737360"/>
            <a:ext cx="512064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A: your backend proxies the call</a:t>
            </a:r>
            <a:endParaRPr lang="en-US" sz="1400" dirty="0"/>
          </a:p>
        </p:txBody>
      </p:sp>
      <p:sp>
        <p:nvSpPr>
          <p:cNvPr id="6" name="Shape 4"/>
          <p:cNvSpPr/>
          <p:nvPr/>
        </p:nvSpPr>
        <p:spPr>
          <a:xfrm>
            <a:off x="822960" y="2194560"/>
            <a:ext cx="5120640" cy="749808"/>
          </a:xfrm>
          <a:prstGeom prst="roundRect">
            <a:avLst>
              <a:gd name="adj" fmla="val 10976"/>
            </a:avLst>
          </a:prstGeom>
          <a:solidFill>
            <a:srgbClr val="000000"/>
          </a:solidFill>
          <a:ln/>
        </p:spPr>
      </p:sp>
      <p:sp>
        <p:nvSpPr>
          <p:cNvPr id="7" name="Text 5"/>
          <p:cNvSpPr/>
          <p:nvPr/>
        </p:nvSpPr>
        <p:spPr>
          <a:xfrm>
            <a:off x="822960" y="2194560"/>
            <a:ext cx="5120640" cy="749808"/>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Flutter app</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sends the user's ID token, no key</a:t>
            </a:r>
            <a:endParaRPr lang="en-US" sz="1350" dirty="0"/>
          </a:p>
        </p:txBody>
      </p:sp>
      <p:sp>
        <p:nvSpPr>
          <p:cNvPr id="8" name="Shape 6"/>
          <p:cNvSpPr/>
          <p:nvPr/>
        </p:nvSpPr>
        <p:spPr>
          <a:xfrm>
            <a:off x="3383280" y="2944368"/>
            <a:ext cx="0" cy="237744"/>
          </a:xfrm>
          <a:prstGeom prst="line">
            <a:avLst/>
          </a:prstGeom>
          <a:noFill/>
          <a:ln w="15875">
            <a:solidFill>
              <a:srgbClr val="86868B"/>
            </a:solidFill>
            <a:prstDash val="solid"/>
            <a:tailEnd type="triangle"/>
          </a:ln>
        </p:spPr>
      </p:sp>
      <p:sp>
        <p:nvSpPr>
          <p:cNvPr id="9" name="Shape 7"/>
          <p:cNvSpPr/>
          <p:nvPr/>
        </p:nvSpPr>
        <p:spPr>
          <a:xfrm>
            <a:off x="822960" y="3182112"/>
            <a:ext cx="5120640" cy="749808"/>
          </a:xfrm>
          <a:prstGeom prst="roundRect">
            <a:avLst>
              <a:gd name="adj" fmla="val 10976"/>
            </a:avLst>
          </a:prstGeom>
          <a:solidFill>
            <a:srgbClr val="FFFFFF"/>
          </a:solidFill>
          <a:ln w="12700">
            <a:solidFill>
              <a:srgbClr val="D2D2D7"/>
            </a:solidFill>
            <a:prstDash val="solid"/>
          </a:ln>
        </p:spPr>
      </p:sp>
      <p:sp>
        <p:nvSpPr>
          <p:cNvPr id="10" name="Text 8"/>
          <p:cNvSpPr/>
          <p:nvPr/>
        </p:nvSpPr>
        <p:spPr>
          <a:xfrm>
            <a:off x="822960" y="3182112"/>
            <a:ext cx="5120640" cy="74980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Your backend</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verifies the token, holds the provider key</a:t>
            </a:r>
            <a:endParaRPr lang="en-US" sz="1350" dirty="0"/>
          </a:p>
        </p:txBody>
      </p:sp>
      <p:sp>
        <p:nvSpPr>
          <p:cNvPr id="11" name="Shape 9"/>
          <p:cNvSpPr/>
          <p:nvPr/>
        </p:nvSpPr>
        <p:spPr>
          <a:xfrm>
            <a:off x="3383280" y="3931920"/>
            <a:ext cx="0" cy="237744"/>
          </a:xfrm>
          <a:prstGeom prst="line">
            <a:avLst/>
          </a:prstGeom>
          <a:noFill/>
          <a:ln w="15875">
            <a:solidFill>
              <a:srgbClr val="86868B"/>
            </a:solidFill>
            <a:prstDash val="solid"/>
            <a:tailEnd type="triangle"/>
          </a:ln>
        </p:spPr>
      </p:sp>
      <p:sp>
        <p:nvSpPr>
          <p:cNvPr id="12" name="Shape 10"/>
          <p:cNvSpPr/>
          <p:nvPr/>
        </p:nvSpPr>
        <p:spPr>
          <a:xfrm>
            <a:off x="822960" y="4169664"/>
            <a:ext cx="5120640" cy="749808"/>
          </a:xfrm>
          <a:prstGeom prst="roundRect">
            <a:avLst>
              <a:gd name="adj" fmla="val 14634"/>
            </a:avLst>
          </a:prstGeom>
          <a:solidFill>
            <a:srgbClr val="F5F5F7"/>
          </a:solidFill>
          <a:ln/>
        </p:spPr>
      </p:sp>
      <p:sp>
        <p:nvSpPr>
          <p:cNvPr id="13" name="Text 11"/>
          <p:cNvSpPr/>
          <p:nvPr/>
        </p:nvSpPr>
        <p:spPr>
          <a:xfrm>
            <a:off x="822960" y="4169664"/>
            <a:ext cx="5120640" cy="74980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Model provider</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billed to you, called only by you</a:t>
            </a:r>
            <a:endParaRPr lang="en-US" sz="1350" dirty="0"/>
          </a:p>
        </p:txBody>
      </p:sp>
      <p:sp>
        <p:nvSpPr>
          <p:cNvPr id="14" name="Text 12"/>
          <p:cNvSpPr/>
          <p:nvPr/>
        </p:nvSpPr>
        <p:spPr>
          <a:xfrm>
            <a:off x="822960" y="5120640"/>
            <a:ext cx="5120640" cy="685800"/>
          </a:xfrm>
          <a:prstGeom prst="rect">
            <a:avLst/>
          </a:prstGeom>
          <a:noFill/>
          <a:ln/>
        </p:spPr>
        <p:txBody>
          <a:bodyPr wrap="square" lIns="0" tIns="0" rIns="0" bIns="0" rtlCol="0" anchor="t"/>
          <a:lstStyle/>
          <a:p>
            <a:pPr indent="0" marL="0">
              <a:buNone/>
            </a:pPr>
            <a:r>
              <a:rPr lang="en-US" sz="1150" dirty="0">
                <a:solidFill>
                  <a:srgbClr val="86868B"/>
                </a:solidFill>
                <a:latin typeface="Arial" pitchFamily="34" charset="0"/>
                <a:ea typeface="Arial" pitchFamily="34" charset="-122"/>
                <a:cs typeface="Arial" pitchFamily="34" charset="-120"/>
              </a:rPr>
              <a:t>Any provider, your own rate limits, your own logging and prompt control, plus a service you have to operate (→ Lecture 5).</a:t>
            </a:r>
            <a:endParaRPr lang="en-US" sz="1150" dirty="0"/>
          </a:p>
        </p:txBody>
      </p:sp>
      <p:sp>
        <p:nvSpPr>
          <p:cNvPr id="15" name="Text 13"/>
          <p:cNvSpPr/>
          <p:nvPr/>
        </p:nvSpPr>
        <p:spPr>
          <a:xfrm>
            <a:off x="6245352" y="1737360"/>
            <a:ext cx="5120640" cy="3200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B: Firebase AI Logic + App Check</a:t>
            </a:r>
            <a:endParaRPr lang="en-US" sz="1400" dirty="0"/>
          </a:p>
        </p:txBody>
      </p:sp>
      <p:sp>
        <p:nvSpPr>
          <p:cNvPr id="16" name="Shape 14"/>
          <p:cNvSpPr/>
          <p:nvPr/>
        </p:nvSpPr>
        <p:spPr>
          <a:xfrm>
            <a:off x="6245352" y="2194560"/>
            <a:ext cx="5120640" cy="749808"/>
          </a:xfrm>
          <a:prstGeom prst="roundRect">
            <a:avLst>
              <a:gd name="adj" fmla="val 10976"/>
            </a:avLst>
          </a:prstGeom>
          <a:solidFill>
            <a:srgbClr val="000000"/>
          </a:solidFill>
          <a:ln/>
        </p:spPr>
      </p:sp>
      <p:sp>
        <p:nvSpPr>
          <p:cNvPr id="17" name="Text 15"/>
          <p:cNvSpPr/>
          <p:nvPr/>
        </p:nvSpPr>
        <p:spPr>
          <a:xfrm>
            <a:off x="6245352" y="2194560"/>
            <a:ext cx="5120640" cy="749808"/>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Flutter app</a:t>
            </a:r>
            <a:endParaRPr lang="en-US" sz="1350" dirty="0"/>
          </a:p>
          <a:p>
            <a:pPr algn="ctr" indent="0" marL="0">
              <a:buNone/>
            </a:pPr>
            <a:r>
              <a:rPr lang="en-US" sz="1100" dirty="0">
                <a:solidFill>
                  <a:srgbClr val="A1A1A6"/>
                </a:solidFill>
                <a:latin typeface="Arial" pitchFamily="34" charset="0"/>
                <a:ea typeface="Arial" pitchFamily="34" charset="-122"/>
                <a:cs typeface="Arial" pitchFamily="34" charset="-120"/>
              </a:rPr>
              <a:t>firebase_ai, with no key to pass</a:t>
            </a:r>
            <a:endParaRPr lang="en-US" sz="1350" dirty="0"/>
          </a:p>
        </p:txBody>
      </p:sp>
      <p:sp>
        <p:nvSpPr>
          <p:cNvPr id="18" name="Shape 16"/>
          <p:cNvSpPr/>
          <p:nvPr/>
        </p:nvSpPr>
        <p:spPr>
          <a:xfrm>
            <a:off x="8805672" y="2944368"/>
            <a:ext cx="0" cy="237744"/>
          </a:xfrm>
          <a:prstGeom prst="line">
            <a:avLst/>
          </a:prstGeom>
          <a:noFill/>
          <a:ln w="15875">
            <a:solidFill>
              <a:srgbClr val="86868B"/>
            </a:solidFill>
            <a:prstDash val="solid"/>
            <a:tailEnd type="triangle"/>
          </a:ln>
        </p:spPr>
      </p:sp>
      <p:sp>
        <p:nvSpPr>
          <p:cNvPr id="19" name="Shape 17"/>
          <p:cNvSpPr/>
          <p:nvPr/>
        </p:nvSpPr>
        <p:spPr>
          <a:xfrm>
            <a:off x="6245352" y="3182112"/>
            <a:ext cx="5120640" cy="749808"/>
          </a:xfrm>
          <a:prstGeom prst="roundRect">
            <a:avLst>
              <a:gd name="adj" fmla="val 10976"/>
            </a:avLst>
          </a:prstGeom>
          <a:solidFill>
            <a:srgbClr val="FFFFFF"/>
          </a:solidFill>
          <a:ln w="12700">
            <a:solidFill>
              <a:srgbClr val="D2D2D7"/>
            </a:solidFill>
            <a:prstDash val="solid"/>
          </a:ln>
        </p:spPr>
      </p:sp>
      <p:sp>
        <p:nvSpPr>
          <p:cNvPr id="20" name="Text 18"/>
          <p:cNvSpPr/>
          <p:nvPr/>
        </p:nvSpPr>
        <p:spPr>
          <a:xfrm>
            <a:off x="6245352" y="3182112"/>
            <a:ext cx="5120640" cy="74980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Firebase AI Logic</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App Check attests the caller (→ Lecture 7)</a:t>
            </a:r>
            <a:endParaRPr lang="en-US" sz="1350" dirty="0"/>
          </a:p>
        </p:txBody>
      </p:sp>
      <p:sp>
        <p:nvSpPr>
          <p:cNvPr id="21" name="Shape 19"/>
          <p:cNvSpPr/>
          <p:nvPr/>
        </p:nvSpPr>
        <p:spPr>
          <a:xfrm>
            <a:off x="8805672" y="3931920"/>
            <a:ext cx="0" cy="237744"/>
          </a:xfrm>
          <a:prstGeom prst="line">
            <a:avLst/>
          </a:prstGeom>
          <a:noFill/>
          <a:ln w="15875">
            <a:solidFill>
              <a:srgbClr val="86868B"/>
            </a:solidFill>
            <a:prstDash val="solid"/>
            <a:tailEnd type="triangle"/>
          </a:ln>
        </p:spPr>
      </p:sp>
      <p:sp>
        <p:nvSpPr>
          <p:cNvPr id="22" name="Shape 20"/>
          <p:cNvSpPr/>
          <p:nvPr/>
        </p:nvSpPr>
        <p:spPr>
          <a:xfrm>
            <a:off x="6245352" y="4169664"/>
            <a:ext cx="5120640" cy="749808"/>
          </a:xfrm>
          <a:prstGeom prst="roundRect">
            <a:avLst>
              <a:gd name="adj" fmla="val 14634"/>
            </a:avLst>
          </a:prstGeom>
          <a:solidFill>
            <a:srgbClr val="F5F5F7"/>
          </a:solidFill>
          <a:ln/>
        </p:spPr>
      </p:sp>
      <p:sp>
        <p:nvSpPr>
          <p:cNvPr id="23" name="Text 21"/>
          <p:cNvSpPr/>
          <p:nvPr/>
        </p:nvSpPr>
        <p:spPr>
          <a:xfrm>
            <a:off x="6245352" y="4169664"/>
            <a:ext cx="5120640" cy="749808"/>
          </a:xfrm>
          <a:prstGeom prst="rect">
            <a:avLst/>
          </a:prstGeom>
          <a:noFill/>
          <a:ln/>
        </p:spPr>
        <p:txBody>
          <a:bodyPr wrap="square" lIns="0" tIns="0" rIns="0" bIns="0" rtlCol="0" anchor="ctr"/>
          <a:lstStyle/>
          <a:p>
            <a:pPr algn="ctr" indent="0" marL="0">
              <a:buNone/>
            </a:pPr>
            <a:r>
              <a:rPr lang="en-US" sz="1350" b="1" dirty="0">
                <a:solidFill>
                  <a:srgbClr val="1D1D1F"/>
                </a:solidFill>
                <a:latin typeface="Arial" pitchFamily="34" charset="0"/>
                <a:ea typeface="Arial" pitchFamily="34" charset="-122"/>
                <a:cs typeface="Arial" pitchFamily="34" charset="-120"/>
              </a:rPr>
              <a:t>Gemini</a:t>
            </a:r>
            <a:endParaRPr lang="en-US" sz="1350" dirty="0"/>
          </a:p>
          <a:p>
            <a:pPr algn="ctr" indent="0" marL="0">
              <a:buNone/>
            </a:pPr>
            <a:r>
              <a:rPr lang="en-US" sz="1100" dirty="0">
                <a:solidFill>
                  <a:srgbClr val="86868B"/>
                </a:solidFill>
                <a:latin typeface="Arial" pitchFamily="34" charset="0"/>
                <a:ea typeface="Arial" pitchFamily="34" charset="-122"/>
                <a:cs typeface="Arial" pitchFamily="34" charset="-120"/>
              </a:rPr>
              <a:t>billed to your Firebase project</a:t>
            </a:r>
            <a:endParaRPr lang="en-US" sz="1350" dirty="0"/>
          </a:p>
        </p:txBody>
      </p:sp>
      <p:sp>
        <p:nvSpPr>
          <p:cNvPr id="24" name="Text 22"/>
          <p:cNvSpPr/>
          <p:nvPr/>
        </p:nvSpPr>
        <p:spPr>
          <a:xfrm>
            <a:off x="6245352" y="5120640"/>
            <a:ext cx="5120640" cy="685800"/>
          </a:xfrm>
          <a:prstGeom prst="rect">
            <a:avLst/>
          </a:prstGeom>
          <a:noFill/>
          <a:ln/>
        </p:spPr>
        <p:txBody>
          <a:bodyPr wrap="square" lIns="0" tIns="0" rIns="0" bIns="0" rtlCol="0" anchor="t"/>
          <a:lstStyle/>
          <a:p>
            <a:pPr indent="0" marL="0">
              <a:buNone/>
            </a:pPr>
            <a:r>
              <a:rPr lang="en-US" sz="1150" dirty="0">
                <a:solidFill>
                  <a:srgbClr val="86868B"/>
                </a:solidFill>
                <a:latin typeface="Arial" pitchFamily="34" charset="0"/>
                <a:ea typeface="Arial" pitchFamily="34" charset="-122"/>
                <a:cs typeface="Arial" pitchFamily="34" charset="-120"/>
              </a:rPr>
              <a:t>Working this afternoon, with attestation built in, but Google models only, and only if you press Enforce in App Check.</a:t>
            </a:r>
            <a:endParaRPr lang="en-US" sz="1150" dirty="0"/>
          </a:p>
        </p:txBody>
      </p:sp>
      <p:sp>
        <p:nvSpPr>
          <p:cNvPr id="25" name="Shape 23"/>
          <p:cNvSpPr/>
          <p:nvPr/>
        </p:nvSpPr>
        <p:spPr>
          <a:xfrm>
            <a:off x="822960" y="5806440"/>
            <a:ext cx="10543032" cy="0"/>
          </a:xfrm>
          <a:prstGeom prst="line">
            <a:avLst/>
          </a:prstGeom>
          <a:noFill/>
          <a:ln w="9525">
            <a:solidFill>
              <a:srgbClr val="D2D2D7"/>
            </a:solidFill>
            <a:prstDash val="solid"/>
          </a:ln>
        </p:spPr>
      </p:sp>
      <p:sp>
        <p:nvSpPr>
          <p:cNvPr id="26" name="Text 24"/>
          <p:cNvSpPr/>
          <p:nvPr/>
        </p:nvSpPr>
        <p:spPr>
          <a:xfrm>
            <a:off x="822960" y="60350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Both put the credential somewhere the user cannot reach.</a:t>
            </a:r>
            <a:pPr indent="0" marL="0">
              <a:buNone/>
            </a:pPr>
            <a:r>
              <a:rPr lang="en-US" sz="1400" dirty="0">
                <a:solidFill>
                  <a:srgbClr val="86868B"/>
                </a:solidFill>
                <a:latin typeface="Arial" pitchFamily="34" charset="0"/>
                <a:ea typeface="Arial" pitchFamily="34" charset="-122"/>
                <a:cs typeface="Arial" pitchFamily="34" charset="-120"/>
              </a:rPr>
              <a:t> That is what separates them from the key-in-the-app version.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21</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CLOUD LLMS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firebase_ai: the call with no key in it</a:t>
            </a:r>
            <a:endParaRPr lang="en-US" sz="3000" dirty="0"/>
          </a:p>
        </p:txBody>
      </p:sp>
      <p:sp>
        <p:nvSpPr>
          <p:cNvPr id="5" name="Shape 3"/>
          <p:cNvSpPr/>
          <p:nvPr/>
        </p:nvSpPr>
        <p:spPr>
          <a:xfrm>
            <a:off x="822960" y="1783080"/>
            <a:ext cx="6858000" cy="4434840"/>
          </a:xfrm>
          <a:prstGeom prst="roundRect">
            <a:avLst>
              <a:gd name="adj" fmla="val 2474"/>
            </a:avLst>
          </a:prstGeom>
          <a:solidFill>
            <a:srgbClr val="F5F5F7"/>
          </a:solidFill>
          <a:ln/>
        </p:spPr>
      </p:sp>
      <p:sp>
        <p:nvSpPr>
          <p:cNvPr id="6" name="Text 4"/>
          <p:cNvSpPr/>
          <p:nvPr/>
        </p:nvSpPr>
        <p:spPr>
          <a:xfrm>
            <a:off x="1234440" y="2103120"/>
            <a:ext cx="6126480" cy="3840480"/>
          </a:xfrm>
          <a:prstGeom prst="rect">
            <a:avLst/>
          </a:prstGeom>
          <a:noFill/>
          <a:ln/>
        </p:spPr>
        <p:txBody>
          <a:bodyPr wrap="square" lIns="0" tIns="0" rIns="0" bIns="0" rtlCol="0" anchor="t"/>
          <a:lstStyle/>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pubspec.yaml:  firebase_core, firebase_ai, firebase_app_check</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await Firebase.initializeApp(</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options: DefaultFirebaseOptions.currentPlatform);</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App Check first: it attests this is a genuine build of YOUR app.</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await FirebaseAppCheck.instance.activate(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androidProvider: AndroidProvider.playIntegrity,</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appleProvider: AppleProvider.appAttest,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final model = FirebaseAI.googleAI().generativeModel(</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model: 'gemini-2.5-flash',</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systemInstruction: Content.system(</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'Answer only from the catalog you are given.'),</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generationConfig: GenerationConfig(</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temperature: 0.2, maxOutputTokens: 512),</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final res = await model.generateContent([Content.text(question)]);</a:t>
            </a:r>
            <a:endParaRPr lang="en-US" sz="900" dirty="0"/>
          </a:p>
        </p:txBody>
      </p:sp>
      <p:sp>
        <p:nvSpPr>
          <p:cNvPr id="7" name="Text 5"/>
          <p:cNvSpPr/>
          <p:nvPr/>
        </p:nvSpPr>
        <p:spPr>
          <a:xfrm>
            <a:off x="7955280" y="1828800"/>
            <a:ext cx="3410712" cy="4206240"/>
          </a:xfrm>
          <a:prstGeom prst="rect">
            <a:avLst/>
          </a:prstGeom>
          <a:noFill/>
          <a:ln/>
        </p:spPr>
        <p:txBody>
          <a:bodyPr wrap="square" lIns="0" tIns="0" rIns="0" bIns="0" rtlCol="0" anchor="t"/>
          <a:lstStyle/>
          <a:p>
            <a:pPr indent="0" marL="0">
              <a:spcAft>
                <a:spcPts val="1200"/>
              </a:spcAft>
              <a:buNone/>
            </a:pPr>
            <a:r>
              <a:rPr lang="en-US" sz="1100" dirty="0">
                <a:solidFill>
                  <a:srgbClr val="1D1D1F"/>
                </a:solidFill>
                <a:latin typeface="Arial" pitchFamily="34" charset="0"/>
                <a:ea typeface="Arial" pitchFamily="34" charset="-122"/>
                <a:cs typeface="Arial" pitchFamily="34" charset="-120"/>
              </a:rPr>
              <a:t>There is no apiKey parameter to pass. The credential is the project configuration, and the request is only served when it carries a valid App Check token (→ Lecture 7).</a:t>
            </a:r>
            <a:endParaRPr lang="en-US" sz="1100" dirty="0"/>
          </a:p>
          <a:p>
            <a:pPr indent="0" marL="0">
              <a:spcAft>
                <a:spcPts val="1200"/>
              </a:spcAft>
              <a:buNone/>
            </a:pPr>
            <a:r>
              <a:rPr lang="en-US" sz="1100" dirty="0">
                <a:solidFill>
                  <a:srgbClr val="1D1D1F"/>
                </a:solidFill>
                <a:latin typeface="Arial" pitchFamily="34" charset="0"/>
                <a:ea typeface="Arial" pitchFamily="34" charset="-122"/>
                <a:cs typeface="Arial" pitchFamily="34" charset="-120"/>
              </a:rPr>
              <a:t>activate() only measures. Enforcement is a separate switch in the console, per product. That is the step that keeps scripts out.</a:t>
            </a:r>
            <a:endParaRPr lang="en-US" sz="1100" dirty="0"/>
          </a:p>
          <a:p>
            <a:pPr indent="0" marL="0">
              <a:spcAft>
                <a:spcPts val="1200"/>
              </a:spcAft>
              <a:buNone/>
            </a:pPr>
            <a:r>
              <a:rPr lang="en-US" sz="1100" dirty="0">
                <a:solidFill>
                  <a:srgbClr val="1D1D1F"/>
                </a:solidFill>
                <a:latin typeface="Arial" pitchFamily="34" charset="0"/>
                <a:ea typeface="Arial" pitchFamily="34" charset="-122"/>
                <a:cs typeface="Arial" pitchFamily="34" charset="-120"/>
              </a:rPr>
              <a:t>maxOutputTokens is a cost control, not a style preference. It is the only hard cap you get.</a:t>
            </a:r>
            <a:endParaRPr lang="en-US" sz="1100" dirty="0"/>
          </a:p>
          <a:p>
            <a:pPr indent="0" marL="0">
              <a:spcAft>
                <a:spcPts val="1200"/>
              </a:spcAft>
              <a:buNone/>
            </a:pPr>
            <a:r>
              <a:rPr lang="en-US" sz="1100" dirty="0">
                <a:solidFill>
                  <a:srgbClr val="1D1D1F"/>
                </a:solidFill>
                <a:latin typeface="Arial" pitchFamily="34" charset="0"/>
                <a:ea typeface="Arial" pitchFamily="34" charset="-122"/>
                <a:cs typeface="Arial" pitchFamily="34" charset="-120"/>
              </a:rPr>
              <a:t>temperature low, systemInstruction narrow: the cheapest steering available, and it runs before any of your validation does.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22</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CLOUD LLMS</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Stream the answer, do not freeze the screen</a:t>
            </a:r>
            <a:endParaRPr lang="en-US" sz="3000" dirty="0"/>
          </a:p>
        </p:txBody>
      </p:sp>
      <p:sp>
        <p:nvSpPr>
          <p:cNvPr id="5" name="Shape 3"/>
          <p:cNvSpPr/>
          <p:nvPr/>
        </p:nvSpPr>
        <p:spPr>
          <a:xfrm>
            <a:off x="822960" y="1783080"/>
            <a:ext cx="6492240" cy="3886200"/>
          </a:xfrm>
          <a:prstGeom prst="roundRect">
            <a:avLst>
              <a:gd name="adj" fmla="val 2824"/>
            </a:avLst>
          </a:prstGeom>
          <a:solidFill>
            <a:srgbClr val="F5F5F7"/>
          </a:solidFill>
          <a:ln/>
        </p:spPr>
      </p:sp>
      <p:sp>
        <p:nvSpPr>
          <p:cNvPr id="6" name="Text 4"/>
          <p:cNvSpPr/>
          <p:nvPr/>
        </p:nvSpPr>
        <p:spPr>
          <a:xfrm>
            <a:off x="1234440" y="2103120"/>
            <a:ext cx="5760720" cy="3291840"/>
          </a:xfrm>
          <a:prstGeom prst="rect">
            <a:avLst/>
          </a:prstGeom>
          <a:noFill/>
          <a:ln/>
        </p:spPr>
        <p:txBody>
          <a:bodyPr wrap="square" lIns="0" tIns="0" rIns="0" bIns="0" rtlCol="0" anchor="t"/>
          <a:lstStyle/>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Stream&lt;String&gt; ask(String prompt) async*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final buf = StringBuffer();</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final s = _model.generateContentStream([Content.text(prompt)]);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await for (final chunk in s)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buf.write(chunk.text ??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yield buf.toString();   // the UI rebuilds per chunk</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StreamBuilder&lt;String&gt;(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stream: _answer,</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builder: (context, snap) =&gt; switch (snap.connectionState)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ConnectionState.waiting =&gt; const ThinkingLine(),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_ =&gt; SelectableText(snap.data ??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p:txBody>
      </p:sp>
      <p:sp>
        <p:nvSpPr>
          <p:cNvPr id="7" name="Text 5"/>
          <p:cNvSpPr/>
          <p:nvPr/>
        </p:nvSpPr>
        <p:spPr>
          <a:xfrm>
            <a:off x="7589520" y="1828800"/>
            <a:ext cx="3776472" cy="4023360"/>
          </a:xfrm>
          <a:prstGeom prst="rect">
            <a:avLst/>
          </a:prstGeom>
          <a:noFill/>
          <a:ln/>
        </p:spPr>
        <p:txBody>
          <a:bodyPr wrap="square" lIns="0" tIns="0" rIns="0" bIns="0" rtlCol="0" anchor="t"/>
          <a:lstStyle/>
          <a:p>
            <a:pPr indent="0" marL="0">
              <a:spcAft>
                <a:spcPts val="1200"/>
              </a:spcAft>
              <a:buNone/>
            </a:pPr>
            <a:r>
              <a:rPr lang="en-US" sz="1150" dirty="0">
                <a:solidFill>
                  <a:srgbClr val="1D1D1F"/>
                </a:solidFill>
                <a:latin typeface="Arial" pitchFamily="34" charset="0"/>
                <a:ea typeface="Arial" pitchFamily="34" charset="-122"/>
                <a:cs typeface="Arial" pitchFamily="34" charset="-120"/>
              </a:rPr>
              <a:t>Time to first token is the latency users feel, not total time. Streaming turns a six-second wait into a 600 ms one without making anything faster.</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Show three distinct states: sent, thinking, writing. A spinner that never changes is indistinguishable from a hang.</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Give the user a cancel. Hold the StreamSubscription and cancel it on dispose, on navigation, and whenever a new question starts.</a:t>
            </a:r>
            <a:endParaRPr lang="en-US" sz="1150" dirty="0"/>
          </a:p>
          <a:p>
            <a:pPr indent="0" marL="0">
              <a:spcAft>
                <a:spcPts val="1200"/>
              </a:spcAft>
              <a:buNone/>
            </a:pPr>
            <a:r>
              <a:rPr lang="en-US" sz="1150" dirty="0">
                <a:solidFill>
                  <a:srgbClr val="1D1D1F"/>
                </a:solidFill>
                <a:latin typeface="Arial" pitchFamily="34" charset="0"/>
                <a:ea typeface="Arial" pitchFamily="34" charset="-122"/>
                <a:cs typeface="Arial" pitchFamily="34" charset="-120"/>
              </a:rPr>
              <a:t>Nothing here can jank the UI unless you do work inside the builder. Keep the builder to layout.</a:t>
            </a:r>
            <a:endParaRPr lang="en-US" sz="1150" dirty="0"/>
          </a:p>
        </p:txBody>
      </p:sp>
      <p:sp>
        <p:nvSpPr>
          <p:cNvPr id="8" name="Shape 6"/>
          <p:cNvSpPr/>
          <p:nvPr/>
        </p:nvSpPr>
        <p:spPr>
          <a:xfrm>
            <a:off x="822960" y="5806440"/>
            <a:ext cx="10543032" cy="0"/>
          </a:xfrm>
          <a:prstGeom prst="line">
            <a:avLst/>
          </a:prstGeom>
          <a:noFill/>
          <a:ln w="9525">
            <a:solidFill>
              <a:srgbClr val="D2D2D7"/>
            </a:solidFill>
            <a:prstDash val="solid"/>
          </a:ln>
        </p:spPr>
      </p:sp>
      <p:sp>
        <p:nvSpPr>
          <p:cNvPr id="9" name="Text 7"/>
          <p:cNvSpPr/>
          <p:nvPr/>
        </p:nvSpPr>
        <p:spPr>
          <a:xfrm>
            <a:off x="822960" y="603504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A frozen screen is a bug, not a wait.</a:t>
            </a:r>
            <a:pPr indent="0" marL="0">
              <a:buNone/>
            </a:pPr>
            <a:r>
              <a:rPr lang="en-US" sz="1400" dirty="0">
                <a:solidFill>
                  <a:srgbClr val="86868B"/>
                </a:solidFill>
                <a:latin typeface="Arial" pitchFamily="34" charset="0"/>
                <a:ea typeface="Arial" pitchFamily="34" charset="-122"/>
                <a:cs typeface="Arial" pitchFamily="34" charset="-120"/>
              </a:rPr>
              <a:t> A canceled request has still paid for the radio wake-up (→ Lecture 11).</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2514600"/>
            <a:ext cx="10725912" cy="320040"/>
          </a:xfrm>
          <a:prstGeom prst="rect">
            <a:avLst/>
          </a:prstGeom>
          <a:noFill/>
          <a:ln/>
        </p:spPr>
        <p:txBody>
          <a:bodyPr wrap="square" lIns="0" tIns="0" rIns="0" bIns="0" rtlCol="0" anchor="ctr"/>
          <a:lstStyle/>
          <a:p>
            <a:pPr algn="ctr" indent="0" marL="0">
              <a:buNone/>
            </a:pPr>
            <a:r>
              <a:rPr lang="en-US" sz="1200" spc="400" kern="0" dirty="0">
                <a:solidFill>
                  <a:srgbClr val="6E6E73"/>
                </a:solidFill>
                <a:latin typeface="Arial" pitchFamily="34" charset="0"/>
                <a:ea typeface="Arial" pitchFamily="34" charset="-122"/>
                <a:cs typeface="Arial" pitchFamily="34" charset="-120"/>
              </a:rPr>
              <a:t>PART 4 · ENGINEERING REALITY</a:t>
            </a:r>
            <a:endParaRPr lang="en-US" sz="1200" dirty="0"/>
          </a:p>
        </p:txBody>
      </p:sp>
      <p:sp>
        <p:nvSpPr>
          <p:cNvPr id="3" name="Text 1"/>
          <p:cNvSpPr/>
          <p:nvPr/>
        </p:nvSpPr>
        <p:spPr>
          <a:xfrm>
            <a:off x="731520" y="2926080"/>
            <a:ext cx="10725912" cy="77724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Cost, failure, and answers that are wrong</a:t>
            </a:r>
            <a:endParaRPr lang="en-US" sz="3600" dirty="0"/>
          </a:p>
        </p:txBody>
      </p:sp>
      <p:sp>
        <p:nvSpPr>
          <p:cNvPr id="4" name="Text 2"/>
          <p:cNvSpPr/>
          <p:nvPr/>
        </p:nvSpPr>
        <p:spPr>
          <a:xfrm>
            <a:off x="731520" y="3794760"/>
            <a:ext cx="10725912" cy="411480"/>
          </a:xfrm>
          <a:prstGeom prst="rect">
            <a:avLst/>
          </a:prstGeom>
          <a:noFill/>
          <a:ln/>
        </p:spPr>
        <p:txBody>
          <a:bodyPr wrap="square" lIns="0" tIns="0" rIns="0" bIns="0" rtlCol="0" anchor="ctr"/>
          <a:lstStyle/>
          <a:p>
            <a:pPr algn="ctr" indent="0" marL="0">
              <a:buNone/>
            </a:pPr>
            <a:r>
              <a:rPr lang="en-US" sz="1500" dirty="0">
                <a:solidFill>
                  <a:srgbClr val="A1A1A6"/>
                </a:solidFill>
                <a:latin typeface="Arial" pitchFamily="34" charset="0"/>
                <a:ea typeface="Arial" pitchFamily="34" charset="-122"/>
                <a:cs typeface="Arial" pitchFamily="34" charset="-120"/>
              </a:rPr>
              <a:t>The three areas to get right before you ship</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24</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ENGINEERING REALITY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Tokens: the unit you are billed in</a:t>
            </a:r>
            <a:endParaRPr lang="en-US" sz="3000" dirty="0"/>
          </a:p>
        </p:txBody>
      </p:sp>
      <p:sp>
        <p:nvSpPr>
          <p:cNvPr id="5" name="Text 3"/>
          <p:cNvSpPr/>
          <p:nvPr/>
        </p:nvSpPr>
        <p:spPr>
          <a:xfrm>
            <a:off x="822960" y="1965960"/>
            <a:ext cx="3240024" cy="914400"/>
          </a:xfrm>
          <a:prstGeom prst="rect">
            <a:avLst/>
          </a:prstGeom>
          <a:noFill/>
          <a:ln/>
        </p:spPr>
        <p:txBody>
          <a:bodyPr wrap="square" lIns="0" tIns="0" rIns="0" bIns="0" rtlCol="0" anchor="ctr"/>
          <a:lstStyle/>
          <a:p>
            <a:pPr indent="0" marL="0">
              <a:buNone/>
            </a:pPr>
            <a:r>
              <a:rPr lang="en-US" sz="4000" dirty="0">
                <a:solidFill>
                  <a:srgbClr val="1D1D1F"/>
                </a:solidFill>
                <a:latin typeface="Arial" pitchFamily="34" charset="0"/>
                <a:ea typeface="Arial" pitchFamily="34" charset="-122"/>
                <a:cs typeface="Arial" pitchFamily="34" charset="-120"/>
              </a:rPr>
              <a:t>~4</a:t>
            </a:r>
            <a:endParaRPr lang="en-US" sz="4000" dirty="0"/>
          </a:p>
        </p:txBody>
      </p:sp>
      <p:sp>
        <p:nvSpPr>
          <p:cNvPr id="6" name="Text 4"/>
          <p:cNvSpPr/>
          <p:nvPr/>
        </p:nvSpPr>
        <p:spPr>
          <a:xfrm>
            <a:off x="822960" y="3017520"/>
            <a:ext cx="3240024" cy="5486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characters per token</a:t>
            </a:r>
            <a:endParaRPr lang="en-US" sz="1350" dirty="0"/>
          </a:p>
        </p:txBody>
      </p:sp>
      <p:sp>
        <p:nvSpPr>
          <p:cNvPr id="7" name="Text 5"/>
          <p:cNvSpPr/>
          <p:nvPr/>
        </p:nvSpPr>
        <p:spPr>
          <a:xfrm>
            <a:off x="822960" y="3520440"/>
            <a:ext cx="3240024" cy="3200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for English prose; code and non-Latin scripts are worse</a:t>
            </a:r>
            <a:endParaRPr lang="en-US" sz="1150" dirty="0"/>
          </a:p>
        </p:txBody>
      </p:sp>
      <p:sp>
        <p:nvSpPr>
          <p:cNvPr id="8" name="Text 6"/>
          <p:cNvSpPr/>
          <p:nvPr/>
        </p:nvSpPr>
        <p:spPr>
          <a:xfrm>
            <a:off x="4337304" y="1965960"/>
            <a:ext cx="3240024" cy="914400"/>
          </a:xfrm>
          <a:prstGeom prst="rect">
            <a:avLst/>
          </a:prstGeom>
          <a:noFill/>
          <a:ln/>
        </p:spPr>
        <p:txBody>
          <a:bodyPr wrap="square" lIns="0" tIns="0" rIns="0" bIns="0" rtlCol="0" anchor="ctr"/>
          <a:lstStyle/>
          <a:p>
            <a:pPr indent="0" marL="0">
              <a:buNone/>
            </a:pPr>
            <a:r>
              <a:rPr lang="en-US" sz="4000" dirty="0">
                <a:solidFill>
                  <a:srgbClr val="1D1D1F"/>
                </a:solidFill>
                <a:latin typeface="Arial" pitchFamily="34" charset="0"/>
                <a:ea typeface="Arial" pitchFamily="34" charset="-122"/>
                <a:cs typeface="Arial" pitchFamily="34" charset="-120"/>
              </a:rPr>
              <a:t>in + out</a:t>
            </a:r>
            <a:endParaRPr lang="en-US" sz="4000" dirty="0"/>
          </a:p>
        </p:txBody>
      </p:sp>
      <p:sp>
        <p:nvSpPr>
          <p:cNvPr id="9" name="Text 7"/>
          <p:cNvSpPr/>
          <p:nvPr/>
        </p:nvSpPr>
        <p:spPr>
          <a:xfrm>
            <a:off x="4337304" y="3017520"/>
            <a:ext cx="3240024" cy="5486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both are billed</a:t>
            </a:r>
            <a:endParaRPr lang="en-US" sz="1350" dirty="0"/>
          </a:p>
        </p:txBody>
      </p:sp>
      <p:sp>
        <p:nvSpPr>
          <p:cNvPr id="10" name="Text 8"/>
          <p:cNvSpPr/>
          <p:nvPr/>
        </p:nvSpPr>
        <p:spPr>
          <a:xfrm>
            <a:off x="4337304" y="3520440"/>
            <a:ext cx="3240024" cy="3200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and the whole prompt is re-sent on every single turn</a:t>
            </a:r>
            <a:endParaRPr lang="en-US" sz="1150" dirty="0"/>
          </a:p>
        </p:txBody>
      </p:sp>
      <p:sp>
        <p:nvSpPr>
          <p:cNvPr id="11" name="Text 9"/>
          <p:cNvSpPr/>
          <p:nvPr/>
        </p:nvSpPr>
        <p:spPr>
          <a:xfrm>
            <a:off x="7851648" y="1965960"/>
            <a:ext cx="3240024" cy="914400"/>
          </a:xfrm>
          <a:prstGeom prst="rect">
            <a:avLst/>
          </a:prstGeom>
          <a:noFill/>
          <a:ln/>
        </p:spPr>
        <p:txBody>
          <a:bodyPr wrap="square" lIns="0" tIns="0" rIns="0" bIns="0" rtlCol="0" anchor="ctr"/>
          <a:lstStyle/>
          <a:p>
            <a:pPr indent="0" marL="0">
              <a:buNone/>
            </a:pPr>
            <a:r>
              <a:rPr lang="en-US" sz="4000" dirty="0">
                <a:solidFill>
                  <a:srgbClr val="1D1D1F"/>
                </a:solidFill>
                <a:latin typeface="Arial" pitchFamily="34" charset="0"/>
                <a:ea typeface="Arial" pitchFamily="34" charset="-122"/>
                <a:cs typeface="Arial" pitchFamily="34" charset="-120"/>
              </a:rPr>
              <a:t>quadratic</a:t>
            </a:r>
            <a:endParaRPr lang="en-US" sz="4000" dirty="0"/>
          </a:p>
        </p:txBody>
      </p:sp>
      <p:sp>
        <p:nvSpPr>
          <p:cNvPr id="12" name="Text 10"/>
          <p:cNvSpPr/>
          <p:nvPr/>
        </p:nvSpPr>
        <p:spPr>
          <a:xfrm>
            <a:off x="7851648" y="3017520"/>
            <a:ext cx="3240024" cy="54864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cost of a naive chat</a:t>
            </a:r>
            <a:endParaRPr lang="en-US" sz="1350" dirty="0"/>
          </a:p>
        </p:txBody>
      </p:sp>
      <p:sp>
        <p:nvSpPr>
          <p:cNvPr id="13" name="Text 11"/>
          <p:cNvSpPr/>
          <p:nvPr/>
        </p:nvSpPr>
        <p:spPr>
          <a:xfrm>
            <a:off x="7851648" y="3520440"/>
            <a:ext cx="3240024" cy="320040"/>
          </a:xfrm>
          <a:prstGeom prst="rect">
            <a:avLst/>
          </a:prstGeom>
          <a:noFill/>
          <a:ln/>
        </p:spPr>
        <p:txBody>
          <a:bodyPr wrap="square" lIns="0" tIns="0" rIns="0" bIns="0" rtlCol="0" anchor="ctr"/>
          <a:lstStyle/>
          <a:p>
            <a:pPr indent="0" marL="0">
              <a:buNone/>
            </a:pPr>
            <a:r>
              <a:rPr lang="en-US" sz="1150" dirty="0">
                <a:solidFill>
                  <a:srgbClr val="86868B"/>
                </a:solidFill>
                <a:latin typeface="Arial" pitchFamily="34" charset="0"/>
                <a:ea typeface="Arial" pitchFamily="34" charset="-122"/>
                <a:cs typeface="Arial" pitchFamily="34" charset="-120"/>
              </a:rPr>
              <a:t>resend the full history and n turns cost about n²/2 messages</a:t>
            </a:r>
            <a:endParaRPr lang="en-US" sz="1150" dirty="0"/>
          </a:p>
        </p:txBody>
      </p:sp>
      <p:sp>
        <p:nvSpPr>
          <p:cNvPr id="14" name="Shape 12"/>
          <p:cNvSpPr/>
          <p:nvPr/>
        </p:nvSpPr>
        <p:spPr>
          <a:xfrm>
            <a:off x="822960" y="4206240"/>
            <a:ext cx="10543032" cy="0"/>
          </a:xfrm>
          <a:prstGeom prst="line">
            <a:avLst/>
          </a:prstGeom>
          <a:noFill/>
          <a:ln w="9525">
            <a:solidFill>
              <a:srgbClr val="D2D2D7"/>
            </a:solidFill>
            <a:prstDash val="solid"/>
          </a:ln>
        </p:spPr>
      </p:sp>
      <p:sp>
        <p:nvSpPr>
          <p:cNvPr id="15" name="Text 13"/>
          <p:cNvSpPr/>
          <p:nvPr/>
        </p:nvSpPr>
        <p:spPr>
          <a:xfrm>
            <a:off x="822960" y="4434840"/>
            <a:ext cx="10543032" cy="1737360"/>
          </a:xfrm>
          <a:prstGeom prst="rect">
            <a:avLst/>
          </a:prstGeom>
          <a:noFill/>
          <a:ln/>
        </p:spPr>
        <p:txBody>
          <a:bodyPr wrap="square" lIns="0" tIns="0" rIns="0" bIns="0" rtlCol="0" anchor="t"/>
          <a:lstStyle/>
          <a:p>
            <a:pPr indent="0" marL="0">
              <a:spcAft>
                <a:spcPts val="800"/>
              </a:spcAft>
              <a:buNone/>
            </a:pPr>
            <a:r>
              <a:rPr lang="en-US" sz="1200" dirty="0">
                <a:solidFill>
                  <a:srgbClr val="1D1D1F"/>
                </a:solidFill>
                <a:latin typeface="Arial" pitchFamily="34" charset="0"/>
                <a:ea typeface="Arial" pitchFamily="34" charset="-122"/>
                <a:cs typeface="Arial" pitchFamily="34" charset="-120"/>
              </a:rPr>
              <a:t>Cap the output with maxOutputTokens, and cap the input by summarizing or truncating the history instead of resending all of it.</a:t>
            </a:r>
            <a:endParaRPr lang="en-US" sz="1200" dirty="0"/>
          </a:p>
          <a:p>
            <a:pPr indent="0" marL="0">
              <a:spcAft>
                <a:spcPts val="800"/>
              </a:spcAft>
              <a:buNone/>
            </a:pPr>
            <a:r>
              <a:rPr lang="en-US" sz="1200" dirty="0">
                <a:solidFill>
                  <a:srgbClr val="1D1D1F"/>
                </a:solidFill>
                <a:latin typeface="Arial" pitchFamily="34" charset="0"/>
                <a:ea typeface="Arial" pitchFamily="34" charset="-122"/>
                <a:cs typeface="Arial" pitchFamily="34" charset="-120"/>
              </a:rPr>
              <a:t>Route by difficulty: a small, cheap model answers most questions, and only its failures reach the expensive one. That is the hybrid slide again, one layer up.</a:t>
            </a:r>
            <a:endParaRPr lang="en-US" sz="1200" dirty="0"/>
          </a:p>
          <a:p>
            <a:pPr indent="0" marL="0">
              <a:spcAft>
                <a:spcPts val="800"/>
              </a:spcAft>
              <a:buNone/>
            </a:pPr>
            <a:r>
              <a:rPr lang="en-US" sz="1200" dirty="0">
                <a:solidFill>
                  <a:srgbClr val="1D1D1F"/>
                </a:solidFill>
                <a:latin typeface="Arial" pitchFamily="34" charset="0"/>
                <a:ea typeface="Arial" pitchFamily="34" charset="-122"/>
                <a:cs typeface="Arial" pitchFamily="34" charset="-120"/>
              </a:rPr>
              <a:t>Identical prompts produce identical bills, so cache them, and cache the retrieval that built them.</a:t>
            </a:r>
            <a:endParaRPr lang="en-US" sz="1200" dirty="0"/>
          </a:p>
          <a:p>
            <a:pPr indent="0" marL="0">
              <a:spcAft>
                <a:spcPts val="800"/>
              </a:spcAft>
              <a:buNone/>
            </a:pPr>
            <a:r>
              <a:rPr lang="en-US" sz="1200" b="1" dirty="0">
                <a:solidFill>
                  <a:srgbClr val="1D1D1F"/>
                </a:solidFill>
                <a:latin typeface="Arial" pitchFamily="34" charset="0"/>
                <a:ea typeface="Arial" pitchFamily="34" charset="-122"/>
                <a:cs typeface="Arial" pitchFamily="34" charset="-120"/>
              </a:rPr>
              <a:t>Per-user quotas live on your backend. An app cannot enforce a quota against a user who controls the app (→ Lecture 5).</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25</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ENGINEERING REALITY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The failures you will actually see</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914400"/>
        </p:xfrm>
        <a:graphic>
          <a:graphicData uri="http://schemas.openxmlformats.org/drawingml/2006/table">
            <a:tbl>
              <a:tblPr/>
              <a:tblGrid>
                <a:gridCol w="1371600"/>
                <a:gridCol w="4585716"/>
                <a:gridCol w="4585716"/>
              </a:tblGrid>
              <a:tr h="438912">
                <a:tc>
                  <a:txBody>
                    <a:bodyPr/>
                    <a:lstStyle/>
                    <a:p>
                      <a:pPr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What it means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1D1F"/>
                          </a:solidFill>
                          <a:latin typeface="Arial" pitchFamily="34" charset="0"/>
                          <a:ea typeface="Arial" pitchFamily="34" charset="-122"/>
                          <a:cs typeface="Arial" pitchFamily="34" charset="-120"/>
                        </a:rPr>
                        <a:t>What to do about it</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429</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Rate limited, or over quota</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Back off exponentially with jitter; cap the attempts</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503 / 500</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The provider is failing</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Retry, but every retry is billed again</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Your request is wrong</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Never retry. Fix the prompt, the schema or the size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Timeout</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No answer inside your budget</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Cancel, say so, offer a retry. Do not hang silently</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86868B"/>
                          </a:solidFill>
                          <a:latin typeface="Arial" pitchFamily="34" charset="0"/>
                          <a:ea typeface="Arial" pitchFamily="34" charset="-122"/>
                          <a:cs typeface="Arial" pitchFamily="34" charset="-120"/>
                        </a:rPr>
                        <a:t>Safety block</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The model declined to answer</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D1D1F"/>
                          </a:solidFill>
                          <a:latin typeface="Arial" pitchFamily="34" charset="0"/>
                          <a:ea typeface="Arial" pitchFamily="34" charset="-122"/>
                          <a:cs typeface="Arial" pitchFamily="34" charset="-120"/>
                        </a:rPr>
                        <a:t>A normal outcome, not an exception. Handle it as a state</a:t>
                      </a:r>
                      <a:endParaRPr lang="en-US" sz="1100" dirty="0">
                        <a:latin typeface="Arial" charset="0"/>
                        <a:ea typeface="Arial" charset="0"/>
                        <a:cs typeface="Arial" charset="0"/>
                      </a:endParaRPr>
                    </a:p>
                  </a:txBody>
                  <a:tcPr marL="91440" marR="91440" marT="45720" marB="45720" anchor="ctr">
                    <a:lnL w="6350" cap="flat" cmpd="sng" algn="ctr">
                      <a:solidFill>
                        <a:srgbClr val="D2D2D7"/>
                      </a:solidFill>
                      <a:prstDash val="solid"/>
                      <a:round/>
                      <a:headEnd type="none" w="med" len="med"/>
                      <a:tailEnd type="none" w="med" len="med"/>
                    </a:lnL>
                    <a:lnR w="6350" cap="flat" cmpd="sng" algn="ctr">
                      <a:solidFill>
                        <a:srgbClr val="D2D2D7"/>
                      </a:solidFill>
                      <a:prstDash val="solid"/>
                      <a:round/>
                      <a:headEnd type="none" w="med" len="med"/>
                      <a:tailEnd type="none" w="med" len="med"/>
                    </a:lnR>
                    <a:lnT w="6350" cap="flat" cmpd="sng" algn="ctr">
                      <a:solidFill>
                        <a:srgbClr val="D2D2D7"/>
                      </a:solidFill>
                      <a:prstDash val="solid"/>
                      <a:round/>
                      <a:headEnd type="none" w="med" len="med"/>
                      <a:tailEnd type="none" w="med" len="med"/>
                    </a:lnT>
                    <a:lnB w="6350" cap="flat" cmpd="sng" algn="ctr">
                      <a:solidFill>
                        <a:srgbClr val="D2D2D7"/>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 y="4937760"/>
            <a:ext cx="10543032" cy="914400"/>
          </a:xfrm>
          <a:prstGeom prst="rect">
            <a:avLst/>
          </a:prstGeom>
          <a:noFill/>
          <a:ln/>
        </p:spPr>
        <p:txBody>
          <a:bodyPr wrap="square" lIns="0" tIns="0" rIns="0" bIns="0" rtlCol="0" anchor="t"/>
          <a:lstStyle/>
          <a:p>
            <a:pPr indent="0" marL="0">
              <a:spcAft>
                <a:spcPts val="800"/>
              </a:spcAft>
              <a:buNone/>
            </a:pPr>
            <a:r>
              <a:rPr lang="en-US" sz="1200" dirty="0">
                <a:solidFill>
                  <a:srgbClr val="1D1D1F"/>
                </a:solidFill>
                <a:latin typeface="Arial" pitchFamily="34" charset="0"/>
                <a:ea typeface="Arial" pitchFamily="34" charset="-122"/>
                <a:cs typeface="Arial" pitchFamily="34" charset="-120"/>
              </a:rPr>
              <a:t>Set a budget for the feature, not for the attempt: three tries of ten seconds each is a thirty-second stare at a spinner, which no user waits out.</a:t>
            </a:r>
            <a:endParaRPr lang="en-US" sz="1200" dirty="0"/>
          </a:p>
          <a:p>
            <a:pPr indent="0" marL="0">
              <a:spcAft>
                <a:spcPts val="800"/>
              </a:spcAft>
              <a:buNone/>
            </a:pPr>
            <a:r>
              <a:rPr lang="en-US" sz="1200" dirty="0">
                <a:solidFill>
                  <a:srgbClr val="1D1D1F"/>
                </a:solidFill>
                <a:latin typeface="Arial" pitchFamily="34" charset="0"/>
                <a:ea typeface="Arial" pitchFamily="34" charset="-122"/>
                <a:cs typeface="Arial" pitchFamily="34" charset="-120"/>
              </a:rPr>
              <a:t>Streaming changes the shape of a timeout: you can time out on time-to-first-token and let a long answer keep flowing.</a:t>
            </a:r>
            <a:endParaRPr lang="en-US" sz="1200" dirty="0"/>
          </a:p>
        </p:txBody>
      </p:sp>
      <p:sp>
        <p:nvSpPr>
          <p:cNvPr id="7" name="Shape 4"/>
          <p:cNvSpPr/>
          <p:nvPr/>
        </p:nvSpPr>
        <p:spPr>
          <a:xfrm>
            <a:off x="822960" y="5623560"/>
            <a:ext cx="10543032" cy="0"/>
          </a:xfrm>
          <a:prstGeom prst="line">
            <a:avLst/>
          </a:prstGeom>
          <a:noFill/>
          <a:ln w="9525">
            <a:solidFill>
              <a:srgbClr val="D2D2D7"/>
            </a:solidFill>
            <a:prstDash val="solid"/>
          </a:ln>
        </p:spPr>
      </p:sp>
      <p:sp>
        <p:nvSpPr>
          <p:cNvPr id="8" name="Text 5"/>
          <p:cNvSpPr/>
          <p:nvPr/>
        </p:nvSpPr>
        <p:spPr>
          <a:xfrm>
            <a:off x="822960" y="5852160"/>
            <a:ext cx="10543032"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Retries multiply load and cost, so they need a cap.</a:t>
            </a:r>
            <a:pPr indent="0" marL="0">
              <a:buNone/>
            </a:pPr>
            <a:r>
              <a:rPr lang="en-US" sz="1400" dirty="0">
                <a:solidFill>
                  <a:srgbClr val="86868B"/>
                </a:solidFill>
                <a:latin typeface="Arial" pitchFamily="34" charset="0"/>
                <a:ea typeface="Arial" pitchFamily="34" charset="-122"/>
                <a:cs typeface="Arial" pitchFamily="34" charset="-120"/>
              </a:rPr>
              <a:t> Reuse the backoff-with-jitter machinery from Lecture 5.</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0" y="6446520"/>
            <a:ext cx="411480" cy="274320"/>
          </a:xfrm>
          <a:prstGeom prst="rect">
            <a:avLst/>
          </a:prstGeom>
          <a:noFill/>
          <a:ln/>
        </p:spPr>
        <p:txBody>
          <a:bodyPr wrap="square" lIns="0" tIns="0" rIns="0" bIns="0" rtlCol="0" anchor="ctr"/>
          <a:lstStyle/>
          <a:p>
            <a:pPr algn="r" indent="0" marL="0">
              <a:buNone/>
            </a:pPr>
            <a:r>
              <a:rPr lang="en-US" sz="900" dirty="0">
                <a:solidFill>
                  <a:srgbClr val="86868B"/>
                </a:solidFill>
                <a:latin typeface="Arial" pitchFamily="34" charset="0"/>
                <a:ea typeface="Arial" pitchFamily="34" charset="-122"/>
                <a:cs typeface="Arial" pitchFamily="34" charset="-120"/>
              </a:rPr>
              <a:t>26</a:t>
            </a:r>
            <a:endParaRPr lang="en-US" sz="900" dirty="0"/>
          </a:p>
        </p:txBody>
      </p:sp>
      <p:sp>
        <p:nvSpPr>
          <p:cNvPr id="3" name="Text 1"/>
          <p:cNvSpPr/>
          <p:nvPr/>
        </p:nvSpPr>
        <p:spPr>
          <a:xfrm>
            <a:off x="822960" y="475488"/>
            <a:ext cx="10515600" cy="274320"/>
          </a:xfrm>
          <a:prstGeom prst="rect">
            <a:avLst/>
          </a:prstGeom>
          <a:noFill/>
          <a:ln/>
        </p:spPr>
        <p:txBody>
          <a:bodyPr wrap="square" lIns="0" tIns="0" rIns="0" bIns="0" rtlCol="0" anchor="ctr"/>
          <a:lstStyle/>
          <a:p>
            <a:pPr indent="0" marL="0">
              <a:buNone/>
            </a:pPr>
            <a:r>
              <a:rPr lang="en-US" sz="1100" spc="300" kern="0" dirty="0">
                <a:solidFill>
                  <a:srgbClr val="86868B"/>
                </a:solidFill>
                <a:latin typeface="Arial" pitchFamily="34" charset="0"/>
                <a:ea typeface="Arial" pitchFamily="34" charset="-122"/>
                <a:cs typeface="Arial" pitchFamily="34" charset="-120"/>
              </a:rPr>
              <a:t>ENGINEERING REALITY</a:t>
            </a:r>
            <a:endParaRPr lang="en-US" sz="1100" dirty="0"/>
          </a:p>
        </p:txBody>
      </p:sp>
      <p:sp>
        <p:nvSpPr>
          <p:cNvPr id="4" name="Text 2"/>
          <p:cNvSpPr/>
          <p:nvPr/>
        </p:nvSpPr>
        <p:spPr>
          <a:xfrm>
            <a:off x="822960" y="749808"/>
            <a:ext cx="10515600" cy="56692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Models produce plausible wrong answers</a:t>
            </a:r>
            <a:endParaRPr lang="en-US" sz="3000" dirty="0"/>
          </a:p>
        </p:txBody>
      </p:sp>
      <p:sp>
        <p:nvSpPr>
          <p:cNvPr id="5" name="Text 3"/>
          <p:cNvSpPr/>
          <p:nvPr/>
        </p:nvSpPr>
        <p:spPr>
          <a:xfrm>
            <a:off x="822960" y="1783080"/>
            <a:ext cx="5394960" cy="3200400"/>
          </a:xfrm>
          <a:prstGeom prst="rect">
            <a:avLst/>
          </a:prstGeom>
          <a:noFill/>
          <a:ln/>
        </p:spPr>
        <p:txBody>
          <a:bodyPr wrap="square" lIns="0" tIns="0" rIns="0" bIns="0" rtlCol="0" anchor="t"/>
          <a:lstStyle/>
          <a:p>
            <a:pPr indent="0" marL="0">
              <a:spcAft>
                <a:spcPts val="700"/>
              </a:spcAft>
              <a:buNone/>
            </a:pPr>
            <a:r>
              <a:rPr lang="en-US" sz="1200" b="1" dirty="0">
                <a:solidFill>
                  <a:srgbClr val="1D1D1F"/>
                </a:solidFill>
                <a:latin typeface="Arial" pitchFamily="34" charset="0"/>
                <a:ea typeface="Arial" pitchFamily="34" charset="-122"/>
                <a:cs typeface="Arial" pitchFamily="34" charset="-120"/>
              </a:rPr>
              <a:t>It is not a bug you can prompt away.</a:t>
            </a:r>
            <a:endParaRPr lang="en-US" sz="1200" dirty="0"/>
          </a:p>
          <a:p>
            <a:pPr indent="0" marL="0">
              <a:spcAft>
                <a:spcPts val="700"/>
              </a:spcAft>
              <a:buNone/>
            </a:pPr>
            <a:r>
              <a:rPr lang="en-US" sz="1200" dirty="0">
                <a:solidFill>
                  <a:srgbClr val="1D1D1F"/>
                </a:solidFill>
                <a:latin typeface="Arial" pitchFamily="34" charset="0"/>
                <a:ea typeface="Arial" pitchFamily="34" charset="-122"/>
                <a:cs typeface="Arial" pitchFamily="34" charset="-120"/>
              </a:rPr>
              <a:t>A language model returns a likely continuation, not a true one. It will invent a product code, a price, a citation or an API method in exactly the same confident register as a correct answer.</a:t>
            </a:r>
            <a:endParaRPr lang="en-US" sz="1200" dirty="0"/>
          </a:p>
          <a:p>
            <a:pPr indent="0" marL="0">
              <a:spcAft>
                <a:spcPts val="700"/>
              </a:spcAft>
              <a:buNone/>
            </a:pPr>
            <a:r>
              <a:rPr lang="en-US" sz="1200" b="1" dirty="0">
                <a:solidFill>
                  <a:srgbClr val="1D1D1F"/>
                </a:solidFill>
                <a:latin typeface="Arial" pitchFamily="34" charset="0"/>
                <a:ea typeface="Arial" pitchFamily="34" charset="-122"/>
                <a:cs typeface="Arial" pitchFamily="34" charset="-120"/>
              </a:rPr>
              <a:t>Constrain the output space.</a:t>
            </a:r>
            <a:endParaRPr lang="en-US" sz="1200" dirty="0"/>
          </a:p>
          <a:p>
            <a:pPr indent="0" marL="0">
              <a:spcAft>
                <a:spcPts val="700"/>
              </a:spcAft>
              <a:buNone/>
            </a:pPr>
            <a:r>
              <a:rPr lang="en-US" sz="1200" dirty="0">
                <a:solidFill>
                  <a:srgbClr val="1D1D1F"/>
                </a:solidFill>
                <a:latin typeface="Arial" pitchFamily="34" charset="0"/>
                <a:ea typeface="Arial" pitchFamily="34" charset="-122"/>
                <a:cs typeface="Arial" pitchFamily="34" charset="-120"/>
              </a:rPr>
              <a:t>A value the model must choose from a fixed set cannot be hallucinated into something new. JSON mode plus a schema turns free text into a parseable contract.</a:t>
            </a:r>
            <a:endParaRPr lang="en-US" sz="1200" dirty="0"/>
          </a:p>
          <a:p>
            <a:pPr indent="0" marL="0">
              <a:spcAft>
                <a:spcPts val="700"/>
              </a:spcAft>
              <a:buNone/>
            </a:pPr>
            <a:r>
              <a:rPr lang="en-US" sz="1200" b="1" dirty="0">
                <a:solidFill>
                  <a:srgbClr val="1D1D1F"/>
                </a:solidFill>
                <a:latin typeface="Arial" pitchFamily="34" charset="0"/>
                <a:ea typeface="Arial" pitchFamily="34" charset="-122"/>
                <a:cs typeface="Arial" pitchFamily="34" charset="-120"/>
              </a:rPr>
              <a:t>Then validate it anyway.</a:t>
            </a:r>
            <a:endParaRPr lang="en-US" sz="1200" dirty="0"/>
          </a:p>
          <a:p>
            <a:pPr indent="0" marL="0">
              <a:spcAft>
                <a:spcPts val="700"/>
              </a:spcAft>
              <a:buNone/>
            </a:pPr>
            <a:r>
              <a:rPr lang="en-US" sz="1200" dirty="0">
                <a:solidFill>
                  <a:srgbClr val="1D1D1F"/>
                </a:solidFill>
                <a:latin typeface="Arial" pitchFamily="34" charset="0"/>
                <a:ea typeface="Arial" pitchFamily="34" charset="-122"/>
                <a:cs typeface="Arial" pitchFamily="34" charset="-120"/>
              </a:rPr>
              <a:t>Parse it, range-check it, and look every id up in your own data before you believe any of it.</a:t>
            </a:r>
            <a:endParaRPr lang="en-US" sz="1200" dirty="0"/>
          </a:p>
          <a:p>
            <a:pPr indent="0" marL="0">
              <a:spcAft>
                <a:spcPts val="700"/>
              </a:spcAft>
              <a:buNone/>
            </a:pPr>
            <a:r>
              <a:rPr lang="en-US" sz="1200" b="1" dirty="0">
                <a:solidFill>
                  <a:srgbClr val="1D1D1F"/>
                </a:solidFill>
                <a:latin typeface="Arial" pitchFamily="34" charset="0"/>
                <a:ea typeface="Arial" pitchFamily="34" charset="-122"/>
                <a:cs typeface="Arial" pitchFamily="34" charset="-120"/>
              </a:rPr>
              <a:t>Show where the answer came from.</a:t>
            </a:r>
            <a:endParaRPr lang="en-US" sz="1200" dirty="0"/>
          </a:p>
          <a:p>
            <a:pPr indent="0" marL="0">
              <a:spcAft>
                <a:spcPts val="700"/>
              </a:spcAft>
              <a:buNone/>
            </a:pPr>
            <a:r>
              <a:rPr lang="en-US" sz="1200" dirty="0">
                <a:solidFill>
                  <a:srgbClr val="1D1D1F"/>
                </a:solidFill>
                <a:latin typeface="Arial" pitchFamily="34" charset="0"/>
                <a:ea typeface="Arial" pitchFamily="34" charset="-122"/>
                <a:cs typeface="Arial" pitchFamily="34" charset="-120"/>
              </a:rPr>
              <a:t>If it came from your data, show the row. An answer the user can check is worth far more than one they have to trust.</a:t>
            </a:r>
            <a:endParaRPr lang="en-US" sz="1200" dirty="0"/>
          </a:p>
        </p:txBody>
      </p:sp>
      <p:sp>
        <p:nvSpPr>
          <p:cNvPr id="6" name="Shape 4"/>
          <p:cNvSpPr/>
          <p:nvPr/>
        </p:nvSpPr>
        <p:spPr>
          <a:xfrm>
            <a:off x="6492240" y="1783080"/>
            <a:ext cx="4873752" cy="3337560"/>
          </a:xfrm>
          <a:prstGeom prst="roundRect">
            <a:avLst>
              <a:gd name="adj" fmla="val 3288"/>
            </a:avLst>
          </a:prstGeom>
          <a:solidFill>
            <a:srgbClr val="F5F5F7"/>
          </a:solidFill>
          <a:ln/>
        </p:spPr>
      </p:sp>
      <p:sp>
        <p:nvSpPr>
          <p:cNvPr id="7" name="Text 5"/>
          <p:cNvSpPr/>
          <p:nvPr/>
        </p:nvSpPr>
        <p:spPr>
          <a:xfrm>
            <a:off x="6903720" y="2103120"/>
            <a:ext cx="4142232" cy="2743200"/>
          </a:xfrm>
          <a:prstGeom prst="rect">
            <a:avLst/>
          </a:prstGeom>
          <a:noFill/>
          <a:ln/>
        </p:spPr>
        <p:txBody>
          <a:bodyPr wrap="square" lIns="0" tIns="0" rIns="0" bIns="0" rtlCol="0" anchor="t"/>
          <a:lstStyle/>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generationConfig: GenerationConfig(</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responseMimeType: 'application/json',</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responseSchema: Schema.object(properties: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'category': Schema.enumString(</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enumValues: ['food', 'travel', 'other']),</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'amountCents': Schema.integer(),</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a:t>
            </a:r>
            <a:endParaRPr lang="en-US" sz="900" dirty="0"/>
          </a:p>
          <a:p>
            <a:pPr indent="0" marL="0">
              <a:lnSpc>
                <a:spcPts val="1700"/>
              </a:lnSpc>
              <a:buNone/>
            </a:pPr>
            <a:r>
              <a:rPr lang="en-US" sz="900" dirty="0">
                <a:solidFill>
                  <a:srgbClr val="86868B"/>
                </a:solidFill>
                <a:latin typeface="Courier New" pitchFamily="34" charset="0"/>
                <a:ea typeface="Courier New" pitchFamily="34" charset="-122"/>
                <a:cs typeface="Courier New" pitchFamily="34" charset="-120"/>
              </a:rPr>
              <a:t>// A schema is a constraint, not a guarantee.</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final data = jsonDecode(res.text!);</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if (!_allowed.contains(data['category'])) {</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  return _askAHuman();</a:t>
            </a:r>
            <a:endParaRPr lang="en-US" sz="900" dirty="0"/>
          </a:p>
          <a:p>
            <a:pPr indent="0" marL="0">
              <a:lnSpc>
                <a:spcPts val="1700"/>
              </a:lnSpc>
              <a:buNone/>
            </a:pPr>
            <a:r>
              <a:rPr lang="en-US" sz="900" dirty="0">
                <a:solidFill>
                  <a:srgbClr val="1D1D1F"/>
                </a:solidFill>
                <a:latin typeface="Courier New" pitchFamily="34" charset="0"/>
                <a:ea typeface="Courier New" pitchFamily="34" charset="-122"/>
                <a:cs typeface="Courier New" pitchFamily="34" charset="-120"/>
              </a:rPr>
              <a:t>}</a:t>
            </a:r>
            <a:endParaRPr lang="en-US" sz="900" dirty="0"/>
          </a:p>
        </p:txBody>
      </p:sp>
      <p:sp>
        <p:nvSpPr>
          <p:cNvPr id="8" name="Text 6"/>
          <p:cNvSpPr/>
          <p:nvPr/>
        </p:nvSpPr>
        <p:spPr>
          <a:xfrm>
            <a:off x="6492240" y="5303520"/>
            <a:ext cx="4873752" cy="822960"/>
          </a:xfrm>
          <a:prstGeom prst="rect">
            <a:avLst/>
          </a:prstGeom>
          <a:noFill/>
          <a:ln/>
        </p:spPr>
        <p:txBody>
          <a:bodyPr wrap="square" lIns="0" tIns="0" rIns="0" bIns="0" rtlCol="0" anchor="t"/>
          <a:lstStyle/>
          <a:p>
            <a:pPr indent="0" marL="0">
              <a:buNone/>
            </a:pPr>
            <a:r>
              <a:rPr lang="en-US" sz="1150" b="1" dirty="0">
                <a:solidFill>
                  <a:srgbClr val="1D1D1F"/>
                </a:solidFill>
                <a:latin typeface="Arial" pitchFamily="34" charset="0"/>
                <a:ea typeface="Arial" pitchFamily="34" charset="-122"/>
                <a:cs typeface="Arial" pitchFamily="34" charset="-120"/>
              </a:rPr>
              <a:t>Never wire model output straight to consequence.</a:t>
            </a:r>
            <a:endParaRPr lang="en-US" sz="1150" dirty="0"/>
          </a:p>
          <a:p>
            <a:pPr indent="0" marL="0">
              <a:buNone/>
            </a:pPr>
            <a:r>
              <a:rPr lang="en-US" sz="1150" dirty="0">
                <a:solidFill>
                  <a:srgbClr val="86868B"/>
                </a:solidFill>
                <a:latin typeface="Arial" pitchFamily="34" charset="0"/>
                <a:ea typeface="Arial" pitchFamily="34" charset="-122"/>
                <a:cs typeface="Arial" pitchFamily="34" charset="-120"/>
              </a:rPr>
              <a:t>Money, a database write, a permission change, a message to another person, a device actuator: a rule or a human belongs in between.</a:t>
            </a:r>
            <a:endParaRPr lang="en-US" sz="1150" dirty="0"/>
          </a:p>
        </p:txBody>
      </p:sp>
      <p:sp>
        <p:nvSpPr>
          <p:cNvPr id="9" name="Shape 7"/>
          <p:cNvSpPr/>
          <p:nvPr/>
        </p:nvSpPr>
        <p:spPr>
          <a:xfrm>
            <a:off x="822960" y="5120640"/>
            <a:ext cx="5394960" cy="0"/>
          </a:xfrm>
          <a:prstGeom prst="line">
            <a:avLst/>
          </a:prstGeom>
          <a:noFill/>
          <a:ln w="9525">
            <a:solidFill>
              <a:srgbClr val="D2D2D7"/>
            </a:solidFill>
            <a:prstDash val="solid"/>
          </a:ln>
        </p:spPr>
      </p:sp>
      <p:sp>
        <p:nvSpPr>
          <p:cNvPr id="10" name="Text 8"/>
          <p:cNvSpPr/>
          <p:nvPr/>
        </p:nvSpPr>
        <p:spPr>
          <a:xfrm>
            <a:off x="822960" y="5349240"/>
            <a:ext cx="5394960" cy="64008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Treat model output like user input from the internet.</a:t>
            </a:r>
            <a:pPr indent="0" marL="0">
              <a:buNone/>
            </a:pPr>
            <a:r>
              <a:rPr lang="en-US" sz="1400" dirty="0">
                <a:solidFill>
                  <a:srgbClr val="86868B"/>
                </a:solidFill>
                <a:latin typeface="Arial" pitchFamily="34" charset="0"/>
                <a:ea typeface="Arial" pitchFamily="34" charset="-122"/>
                <a:cs typeface="Arial" pitchFamily="34" charset="-120"/>
              </a:rPr>
              <a:t> The same trust boundary as Lecture 5, this time on the way back in.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Before next week</a:t>
            </a:r>
            <a:endParaRPr lang="en-US" sz="3000" dirty="0"/>
          </a:p>
        </p:txBody>
      </p:sp>
      <p:pic>
        <p:nvPicPr>
          <p:cNvPr id="3" name="Image 0" descr="/Users/dinu/dev/upb/mobile-and-embedded-computing/slides/assets/icons2/checklist-white.png">    </p:cNvPr>
          <p:cNvPicPr>
            <a:picLocks noChangeAspect="1"/>
          </p:cNvPicPr>
          <p:nvPr/>
        </p:nvPicPr>
        <p:blipFill>
          <a:blip r:embed="rId1"/>
          <a:stretch>
            <a:fillRect/>
          </a:stretch>
        </p:blipFill>
        <p:spPr>
          <a:xfrm>
            <a:off x="822960" y="1783080"/>
            <a:ext cx="384048" cy="384048"/>
          </a:xfrm>
          <a:prstGeom prst="rect">
            <a:avLst/>
          </a:prstGeom>
        </p:spPr>
      </p:pic>
      <p:sp>
        <p:nvSpPr>
          <p:cNvPr id="4" name="Text 1"/>
          <p:cNvSpPr/>
          <p:nvPr/>
        </p:nvSpPr>
        <p:spPr>
          <a:xfrm>
            <a:off x="82296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Recap</a:t>
            </a:r>
            <a:endParaRPr lang="en-US" sz="1700" dirty="0"/>
          </a:p>
        </p:txBody>
      </p:sp>
      <p:sp>
        <p:nvSpPr>
          <p:cNvPr id="5" name="Text 2"/>
          <p:cNvSpPr/>
          <p:nvPr/>
        </p:nvSpPr>
        <p:spPr>
          <a:xfrm>
            <a:off x="82296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On-device or cloud is an architecture decision: latency, privacy, offline, cost, ceiling</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ML Kit for solved problems, LiteRT for your own model, quantized so it fits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No app ever holds a provider key: your backend holds it, or Firebase AI + App Check does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Stream the answer, cap the tokens, and validate everything the model says</a:t>
            </a:r>
            <a:endParaRPr lang="en-US" sz="1250" dirty="0"/>
          </a:p>
        </p:txBody>
      </p:sp>
      <p:pic>
        <p:nvPicPr>
          <p:cNvPr id="6" name="Image 1" descr="/Users/dinu/dev/upb/mobile-and-embedded-computing/slides/assets/icons2/calendar-white.png">    </p:cNvPr>
          <p:cNvPicPr>
            <a:picLocks noChangeAspect="1"/>
          </p:cNvPicPr>
          <p:nvPr/>
        </p:nvPicPr>
        <p:blipFill>
          <a:blip r:embed="rId2"/>
          <a:stretch>
            <a:fillRect/>
          </a:stretch>
        </p:blipFill>
        <p:spPr>
          <a:xfrm>
            <a:off x="4389120" y="1783080"/>
            <a:ext cx="384048" cy="384048"/>
          </a:xfrm>
          <a:prstGeom prst="rect">
            <a:avLst/>
          </a:prstGeom>
        </p:spPr>
      </p:pic>
      <p:sp>
        <p:nvSpPr>
          <p:cNvPr id="7" name="Text 3"/>
          <p:cNvSpPr/>
          <p:nvPr/>
        </p:nvSpPr>
        <p:spPr>
          <a:xfrm>
            <a:off x="438912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This week</a:t>
            </a:r>
            <a:endParaRPr lang="en-US" sz="1700" dirty="0"/>
          </a:p>
        </p:txBody>
      </p:sp>
      <p:sp>
        <p:nvSpPr>
          <p:cNvPr id="8" name="Text 4"/>
          <p:cNvSpPr/>
          <p:nvPr/>
        </p:nvSpPr>
        <p:spPr>
          <a:xfrm>
            <a:off x="438912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Add ML Kit text or barcode scanning to your project app, and close the detector</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Put one cloud call behind firebase_ai with App Check activated</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Measure it: time to first token, tokens per call, cost per thousand users</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Run strings over your own release build once and look for your key</a:t>
            </a:r>
            <a:endParaRPr lang="en-US" sz="1250" dirty="0"/>
          </a:p>
        </p:txBody>
      </p:sp>
      <p:pic>
        <p:nvPicPr>
          <p:cNvPr id="9" name="Image 2" descr="/Users/dinu/dev/upb/mobile-and-embedded-computing/slides/assets/icons2/bookopen-white.png">    </p:cNvPr>
          <p:cNvPicPr>
            <a:picLocks noChangeAspect="1"/>
          </p:cNvPicPr>
          <p:nvPr/>
        </p:nvPicPr>
        <p:blipFill>
          <a:blip r:embed="rId3"/>
          <a:stretch>
            <a:fillRect/>
          </a:stretch>
        </p:blipFill>
        <p:spPr>
          <a:xfrm>
            <a:off x="7955280" y="1783080"/>
            <a:ext cx="384048" cy="384048"/>
          </a:xfrm>
          <a:prstGeom prst="rect">
            <a:avLst/>
          </a:prstGeom>
        </p:spPr>
      </p:pic>
      <p:sp>
        <p:nvSpPr>
          <p:cNvPr id="10" name="Text 5"/>
          <p:cNvSpPr/>
          <p:nvPr/>
        </p:nvSpPr>
        <p:spPr>
          <a:xfrm>
            <a:off x="7955280" y="22860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Read more</a:t>
            </a:r>
            <a:endParaRPr lang="en-US" sz="1700" dirty="0"/>
          </a:p>
        </p:txBody>
      </p:sp>
      <p:sp>
        <p:nvSpPr>
          <p:cNvPr id="11" name="Text 6"/>
          <p:cNvSpPr/>
          <p:nvPr/>
        </p:nvSpPr>
        <p:spPr>
          <a:xfrm>
            <a:off x="7955280" y="2880360"/>
            <a:ext cx="3383280" cy="2743200"/>
          </a:xfrm>
          <a:prstGeom prst="rect">
            <a:avLst/>
          </a:prstGeom>
          <a:noFill/>
          <a:ln/>
        </p:spPr>
        <p:txBody>
          <a:bodyPr wrap="square" lIns="0" tIns="0" rIns="0" bIns="0" rtlCol="0" anchor="t"/>
          <a:lstStyle/>
          <a:p>
            <a:pPr indent="0" marL="0">
              <a:spcAft>
                <a:spcPts val="1100"/>
              </a:spcAft>
              <a:buNone/>
            </a:pPr>
            <a:r>
              <a:rPr lang="en-US" sz="1250" dirty="0">
                <a:solidFill>
                  <a:srgbClr val="A1A1A6"/>
                </a:solidFill>
                <a:latin typeface="Arial" pitchFamily="34" charset="0"/>
                <a:ea typeface="Arial" pitchFamily="34" charset="-122"/>
                <a:cs typeface="Arial" pitchFamily="34" charset="-120"/>
              </a:rPr>
              <a:t>firebase.google.com/docs/ai-logic</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developers.google.com/ml-kit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ai.google.dev/edge/litert</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pub.dev/packages/tflite_flutter</a:t>
            </a:r>
            <a:endParaRPr lang="en-US" sz="1250" dirty="0"/>
          </a:p>
          <a:p>
            <a:pPr indent="0" marL="0">
              <a:spcAft>
                <a:spcPts val="1100"/>
              </a:spcAft>
              <a:buNone/>
            </a:pPr>
            <a:r>
              <a:rPr lang="en-US" sz="1250" dirty="0">
                <a:solidFill>
                  <a:srgbClr val="A1A1A6"/>
                </a:solidFill>
                <a:latin typeface="Arial" pitchFamily="34" charset="0"/>
                <a:ea typeface="Arial" pitchFamily="34" charset="-122"/>
                <a:cs typeface="Arial" pitchFamily="34" charset="-120"/>
              </a:rPr>
              <a:t>OWASP MASVS: Platform Interaction &amp; Code Quality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and Embedded Computing, Lecture 9</dc:title>
  <dc:subject>PptxGenJS Presentation</dc:subject>
  <dc:creator>Dinu-Ștefan Rusu</dc:creator>
  <cp:lastModifiedBy>Dinu-Ștefan Rusu</cp:lastModifiedBy>
  <cp:revision>1</cp:revision>
  <dcterms:created xsi:type="dcterms:W3CDTF">2026-08-08T15:40:13Z</dcterms:created>
  <dcterms:modified xsi:type="dcterms:W3CDTF">2026-08-08T15:40:13Z</dcterms:modified>
</cp:coreProperties>
</file>