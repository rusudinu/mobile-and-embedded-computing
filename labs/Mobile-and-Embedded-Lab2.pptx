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that `flutter create` was Lab 1's deliverable. Nobody should be creating a second project today; the whole semester runs in one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Type this live and delete the ? from seats: the analyzer error appears immediately. That is a quick way to demonstrate null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analyzer messages are the main feedback in this lab. Tell students to read the message rather than paste code around it; each of these five names its own fix.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7259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&amp; Null Safety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classes, null-safe types and collections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5806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and Embedded Computing  ·  Dinu-Ștefan Rusu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LABORATORY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build today</a:t>
            </a:r>
            <a:endParaRPr lang="en-US" sz="3000" dirty="0"/>
          </a:p>
        </p:txBody>
      </p:sp>
      <p:pic>
        <p:nvPicPr>
          <p:cNvPr id="5" name="Image 0" descr="/Users/dinu/dev/upb/mobile-and-embedded-computing/slides/assets/icons2/shield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 in code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8288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for ?, ?., ??, ??= and late deliberately instead of by trial and error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43230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9" name="Image 1" descr="/Users/dinu/dev/upb/mobile-and-embedded-computing/slides/assets/icons2/boxes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87752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5420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and inheritance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709160" y="2542032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 small domain with an abstract base class and two subclasses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22960" y="3145536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3" name="Image 2" descr="/Users/dinu/dev/upb/mobile-and-embedded-computing/slides/assets/icons2/lay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00984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32552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Null-safe collections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09160" y="3255264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Search, filter and default over List&lt;T&gt; without ever returning null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22960" y="385876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pic>
        <p:nvPicPr>
          <p:cNvPr id="17" name="Image 3" descr="/Users/dinu/dev/upb/mobile-and-embedded-computing/slides/assets/icons2/target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142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396849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 2, applied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709160" y="3968496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lab puts Lecture 2 to work: today is the language, not the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code goes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492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3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not starting a new project.</a:t>
            </a:r>
            <a:endParaRPr lang="en-US" sz="14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default Flutter project you created and ran in Lab 1, the one already pushed to your GitHub repository.</a:t>
            </a:r>
            <a:endParaRPr lang="en-US" sz="14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branch named lab2 before you write anything.</a:t>
            </a:r>
            <a:endParaRPr lang="en-US" sz="14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tasks are plain Dart classes. Give each one its own file under lib/models/.</a:t>
            </a:r>
            <a:endParaRPr lang="en-US" sz="1400" dirty="0"/>
          </a:p>
          <a:p>
            <a:pPr indent="0" marL="0">
              <a:spcAft>
                <a:spcPts val="13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main.dart holds widget code, just enough to display what your classes produce.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589520" y="1783080"/>
            <a:ext cx="3776472" cy="3200400"/>
          </a:xfrm>
          <a:prstGeom prst="roundRect">
            <a:avLst>
              <a:gd name="adj" fmla="val 3429"/>
            </a:avLst>
          </a:prstGeom>
          <a:solidFill>
            <a:srgbClr val="F5F5F7"/>
          </a:solidFill>
          <a:ln/>
        </p:spPr>
      </p:sp>
      <p:sp>
        <p:nvSpPr>
          <p:cNvPr id="7" name="Text 5"/>
          <p:cNvSpPr/>
          <p:nvPr/>
        </p:nvSpPr>
        <p:spPr>
          <a:xfrm>
            <a:off x="8001000" y="2103120"/>
            <a:ext cx="304495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lib/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main.dart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models/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user.dart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bank_account.dart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library_item.dart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book.dart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magazine.dart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library.dart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5120640"/>
            <a:ext cx="649224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3492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class per file, lower_snake_case filenames.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That is the Dart convention, and the graders read your repository.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null-safety toolkit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and operators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Declarations and promotion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21214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value that may be null; plain String never can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212140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assigned after construction, before its first read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6883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a member only if the receiver is non-null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268833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named parameter the caller must pass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2369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2552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right-hand value when the left one is null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23697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955280" y="325526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value for an optional parameter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38039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??=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77440" y="382219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only if the variable is currently null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80390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Book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8221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test that promotes the variable in the branch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370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non-null; throws at runtime if you are wrong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4370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!= null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55280" y="4389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analysis promotes x to non-nullable here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51206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34924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! last, not first.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! you write is a promise the compiler can no longer check for you.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rules, in one file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766560" cy="3520440"/>
          </a:xfrm>
          <a:prstGeom prst="roundRect">
            <a:avLst>
              <a:gd name="adj" fmla="val 3117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035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Room {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code;            // always present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int? seats;             // may be unknown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String? projector;            // may be absent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late final DateTime opened;   // set later, read after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Room({required this.code, this.seats, this.projector});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describeSeats() =&gt;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seats == null ? 'Capacity unknown' : '$seats seats';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955280" y="17830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it line by line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0" y="224028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can never be null, so no check is ever needed.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seats and projector may be null, so the compiler forces you to say what happens then.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opened has no value yet; reading it too early throws LateInitializationError.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== null branch the compiler knows seats is an int, so $seats compiles.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5486400"/>
            <a:ext cx="6766560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7150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r.projector ??= 'none';</a:t>
            </a:r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then r.projector?.length is 4, with no null check written by hand.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in lib/models/user.dart, and show the result from lib/main.dart.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667512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User class with a String name, an int? age and a String? email.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name a required named parameter; leave age and email optional.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at least three User instances covering different combinations of null and non-null values.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 each user's information safely, showing “Not provided” wherever a value is null.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a method getDisplayAge() that returns “Age not specified” when age is null, and the age as a string otherwise.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int? / String? for nullable fields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 supplies the “Not provided” fallback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?. reads through a nullable safely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vs optional named parameters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(age != null) promotes age to 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526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48920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users render, one with every optional field null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getDisplayAge() covers both branches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null-check crash on any of them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accounts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lib/models/bank_account.dart. This task is about late: a field that is not ready at construction time.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667512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BankAccount class with a late String accountNumber, assigned after the object is created.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required String holderName named parameter to the constructor.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double balance property with a default value of 0.0.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an optional String? bankBranch property.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method initializeAccount(String number) that sets the account number.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way for callers to tell whether the account number has been set yet.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7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account number through that check, so an uninitialized account shows a message instead of throwing.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8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several accounts and display them in a ListView.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String: no value at construction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LateInitializationError = read too early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bool flag, or a String? backing field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balance = 0.0 in the constructor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ListView.builder, on the next slide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526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48920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account renders, branch or “Not provided”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uninitialized account shows a message, not a crash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enough UI to see your objects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6766560" cy="3977640"/>
          </a:xfrm>
          <a:prstGeom prst="roundRect">
            <a:avLst>
              <a:gd name="adj" fmla="val 2759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103120"/>
            <a:ext cx="6035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8686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inside the body: of your Scaffold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ListView.builder(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itemCount: accounts.length,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itemBuilder: (context, i) {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a = accounts[i];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ListTile(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Text(a.holderName),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subtitle: Text(a.bankBranch ?? 'Not provided'),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trailing: Text(a.balance.toStringAsFixed(2)),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95528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not had the widgets lecture yet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955280" y="251460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Widgets are Lecture 3 and Lab 3; today you only need enough of them to see your data.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ListView.builder builds only the rows that are on screen.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 inside the widget tree is how the “Not provided” rule reaches the display.</a:t>
            </a:r>
            <a:endParaRPr lang="en-US" sz="120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default project already gives you MaterialApp and Scaffold, so put this in body:.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management system: the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task of the lab. Build the class hierarchy first; the Library itself is on the next slide.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667512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abstract class LibraryItem with a String title, a String? author and a DateTime? publishDate.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Book class that extends LibraryItem and adds an int? pageCount and a String? isbn.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Magazine class that extends LibraryItem and adds an int? issueNumber and a String? publisher.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shared fields up to LibraryItem through a super constructor in both subclasses.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User? borrower and a DateTime? dueDate to LibraryItem, so any item can be on loan.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the User class from Task I as the borrower type; do not write a second one.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class: cannot be instantiated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Book extends LibraryItem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constructor: : super(title: title)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@override on anything you replace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DateTime?: null until published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526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48920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and Magazine both compile with no unset non-null field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unknown value is typed with ?, not defaulted to a dummy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III, CONTINUED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Library API and borrowing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lib/models/library.dart. A Library class managing the collection with null-safe operations.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50008"/>
            <a:ext cx="6675120" cy="377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Library a List&lt;LibraryItem&gt; and an addItem(LibraryItem? item) that validates before adding.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searchByTitle(String? query), handling a null or empty search term.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getItemsByAuthor(String? author), returning the items written by that author.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getRecentItems(int? count), falling back to a default count when count is null.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borrowing: set borrower and dueDate when an item is taken out.</a:t>
            </a:r>
            <a:endParaRPr lang="en-US" sz="135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Refuse to lend an item that already has a borrower, and clear both fields when it is returned.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0" y="17830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863840" y="2148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where(...).toList() to filter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 supplies the default count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 publishDate, nulls last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item.borrower == null means available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an empty list, never null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0" y="45262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863840" y="4892040"/>
            <a:ext cx="3520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method survives a null argument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Borrowing the same item twice is rejected</a:t>
            </a:r>
            <a:endParaRPr lang="en-US" sz="12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null query returns a sensible list, not an exception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Errors you will hit today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non-nullable variable 'x' must be assigned before it can be used.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949440" y="1847088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it a value, make the type nullable with ?, or mark it late.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33472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LateInitializationError: Field 'accountNumber' has not been initialized.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949440" y="2651760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late field was read before it was set, which is Task II's case.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438144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property 'length' can't be unconditionally accessed because the receiver can be null.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0" y="3456432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?. or check for null first. Do not reach for ! to silence it.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096512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242816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check operator used on a null value.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949440" y="4261104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! that turned out to be wrong. Replace it with ?? or a real check.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901184"/>
            <a:ext cx="10543032" cy="0"/>
          </a:xfrm>
          <a:prstGeom prst="line">
            <a:avLst/>
          </a:prstGeom>
          <a:noFill/>
          <a:ln w="9525">
            <a:solidFill>
              <a:srgbClr val="D2D2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4748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argument type 'String?' can't be assigned to the parameter type 'String'.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49440" y="5065776"/>
            <a:ext cx="4416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Promote it with an if (x != null) branch, or supply a fallback with ??.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" y="4754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7498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hand this in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6675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goes to your GitHub repository. No Word documents, no email, no Teams upload.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your work to a branch named lab2, open a pull request, and merge it once it works.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asked for in a task go in a /screenshots folder in the same repository.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commit history is part of the assessment. Commit as you go, not once at the end.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lab asks for no screenshots; the committed code and a running app are the evidence.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7830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8138160" y="20116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6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38160" y="23774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committed and pushed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screenshots where asked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builds and runs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request merged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up</a:t>
            </a:r>
            <a:endParaRPr lang="en-US" sz="3000" dirty="0"/>
          </a:p>
        </p:txBody>
      </p:sp>
      <p:pic>
        <p:nvPicPr>
          <p:cNvPr id="3" name="Image 0" descr="/Users/dinu/dev/upb/mobile-and-embedded-computing/slides/assets/icons2/checklis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82296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nullable type is a promise the compiler keeps checking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defers that promise, but you still have to keep it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?? and ?. replace hand-written defensive null checks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return empty lists, never null</a:t>
            </a:r>
            <a:endParaRPr lang="en-US" sz="1250" dirty="0"/>
          </a:p>
        </p:txBody>
      </p:sp>
      <p:pic>
        <p:nvPicPr>
          <p:cNvPr id="6" name="Image 1" descr="/Users/dinu/dev/upb/mobile-and-embedded-computing/slides/assets/icons2/calendar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lab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38912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your lab2 pull request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Skim the Flutter widget catalog; Lab 3 builds two screens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same project: Lab 3 continues inside it</a:t>
            </a:r>
            <a:endParaRPr lang="en-US" sz="1250" dirty="0"/>
          </a:p>
        </p:txBody>
      </p:sp>
      <p:pic>
        <p:nvPicPr>
          <p:cNvPr id="9" name="Image 2" descr="/Users/dinu/dev/upb/mobile-and-embedded-computing/slides/assets/icons2/bookopen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7830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22860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7955280" y="2880360"/>
            <a:ext cx="3383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dart.dev/null-safety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dart.dev/language/classes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dart.dev/language/collections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25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api.flutter.dev · ListView.builder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and Embedded Computing, Laboratory 2</dc:title>
  <dc:subject>PptxGenJS Presentation</dc:subject>
  <dc:creator>Dinu-Ștefan Rusu</dc:creator>
  <cp:lastModifiedBy>Dinu-Ștefan Rusu</cp:lastModifiedBy>
  <cp:revision>1</cp:revision>
  <dcterms:created xsi:type="dcterms:W3CDTF">2026-08-08T15:40:14Z</dcterms:created>
  <dcterms:modified xsi:type="dcterms:W3CDTF">2026-08-08T15:40:14Z</dcterms:modified>
</cp:coreProperties>
</file>