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Lab 4 is not a second UI lab. If half the room rebuilds a todo app from scratch they will never open DevTools. Ten minutes in, check that everyone has a running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live before anyone starts Task I: the old handout never mentioned this step. Copy the printed URL into a browser so they see where the number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from the old handout: it implied the whole tree rebuilds and quoted a fixed 16 ms budget. Neither is true. Element reuse is runtimeType first, then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731520" y="2331720"/>
            <a:ext cx="10725912" cy="320040"/>
          </a:xfrm>
          <a:prstGeom prst="rect">
            <a:avLst/>
          </a:prstGeom>
          <a:noFill/>
          <a:ln/>
        </p:spPr>
        <p:txBody>
          <a:bodyPr wrap="square" lIns="0" tIns="0" rIns="0" bIns="0" rtlCol="0" anchor="ctr"/>
          <a:lstStyle/>
          <a:p>
            <a:pPr algn="ctr" indent="0" marL="0">
              <a:buNone/>
            </a:pPr>
            <a:r>
              <a:rPr lang="en-US" sz="1200" spc="400" kern="0" dirty="0">
                <a:solidFill>
                  <a:srgbClr val="6E6E73"/>
                </a:solidFill>
                <a:latin typeface="Arial" pitchFamily="34" charset="0"/>
                <a:ea typeface="Arial" pitchFamily="34" charset="-122"/>
                <a:cs typeface="Arial" pitchFamily="34" charset="-120"/>
              </a:rPr>
              <a:t>LABORATORY 4</a:t>
            </a:r>
            <a:endParaRPr lang="en-US" sz="1200" dirty="0"/>
          </a:p>
        </p:txBody>
      </p:sp>
      <p:sp>
        <p:nvSpPr>
          <p:cNvPr id="3" name="Text 1"/>
          <p:cNvSpPr/>
          <p:nvPr/>
        </p:nvSpPr>
        <p:spPr>
          <a:xfrm>
            <a:off x="731520" y="2743200"/>
            <a:ext cx="10725912" cy="86868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DevTools &amp; Debugging</a:t>
            </a:r>
            <a:endParaRPr lang="en-US" sz="4400" dirty="0"/>
          </a:p>
        </p:txBody>
      </p:sp>
      <p:sp>
        <p:nvSpPr>
          <p:cNvPr id="4" name="Text 2"/>
          <p:cNvSpPr/>
          <p:nvPr/>
        </p:nvSpPr>
        <p:spPr>
          <a:xfrm>
            <a:off x="731520" y="3749040"/>
            <a:ext cx="10725912" cy="411480"/>
          </a:xfrm>
          <a:prstGeom prst="rect">
            <a:avLst/>
          </a:prstGeom>
          <a:noFill/>
          <a:ln/>
        </p:spPr>
        <p:txBody>
          <a:bodyPr wrap="square" lIns="0" tIns="0" rIns="0" bIns="0" rtlCol="0" anchor="ctr"/>
          <a:lstStyle/>
          <a:p>
            <a:pPr algn="ctr" indent="0" marL="0">
              <a:buNone/>
            </a:pPr>
            <a:r>
              <a:rPr lang="en-US" sz="1700" dirty="0">
                <a:solidFill>
                  <a:srgbClr val="A1A1A6"/>
                </a:solidFill>
                <a:latin typeface="Arial" pitchFamily="34" charset="0"/>
                <a:ea typeface="Arial" pitchFamily="34" charset="-122"/>
                <a:cs typeface="Arial" pitchFamily="34" charset="-120"/>
              </a:rPr>
              <a:t>inspector, breakpoints and the render tree</a:t>
            </a:r>
            <a:endParaRPr lang="en-US" sz="1700" dirty="0"/>
          </a:p>
        </p:txBody>
      </p:sp>
      <p:sp>
        <p:nvSpPr>
          <p:cNvPr id="5" name="Text 3"/>
          <p:cNvSpPr/>
          <p:nvPr/>
        </p:nvSpPr>
        <p:spPr>
          <a:xfrm>
            <a:off x="731520" y="5806440"/>
            <a:ext cx="10725912" cy="365760"/>
          </a:xfrm>
          <a:prstGeom prst="rect">
            <a:avLst/>
          </a:prstGeom>
          <a:noFill/>
          <a:ln/>
        </p:spPr>
        <p:txBody>
          <a:bodyPr wrap="square" lIns="0" tIns="0" rIns="0" bIns="0" rtlCol="0" anchor="ctr"/>
          <a:lstStyle/>
          <a:p>
            <a:pPr algn="ctr" indent="0" marL="0">
              <a:buNone/>
            </a:pPr>
            <a:r>
              <a:rPr lang="en-US" sz="1300" dirty="0">
                <a:solidFill>
                  <a:srgbClr val="6E6E73"/>
                </a:solidFill>
                <a:latin typeface="Arial" pitchFamily="34" charset="0"/>
                <a:ea typeface="Arial" pitchFamily="34" charset="-122"/>
                <a:cs typeface="Arial" pitchFamily="34" charset="-120"/>
              </a:rPr>
              <a:t>Mobile and Embedded Computing  ·  Dinu-Ștefan Rusu</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LABORATORY 4</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What you'll build today</a:t>
            </a:r>
            <a:endParaRPr lang="en-US" sz="3000" dirty="0"/>
          </a:p>
        </p:txBody>
      </p:sp>
      <p:pic>
        <p:nvPicPr>
          <p:cNvPr id="5" name="Image 0" descr="/Users/dinu/dev/upb/mobile-and-embedded-computing/slides/assets/icons2/terminal-ink.png">    </p:cNvPr>
          <p:cNvPicPr>
            <a:picLocks noChangeAspect="1"/>
          </p:cNvPicPr>
          <p:nvPr/>
        </p:nvPicPr>
        <p:blipFill>
          <a:blip r:embed="rId1"/>
          <a:stretch>
            <a:fillRect/>
          </a:stretch>
        </p:blipFill>
        <p:spPr>
          <a:xfrm>
            <a:off x="822960" y="1874520"/>
            <a:ext cx="384048" cy="384048"/>
          </a:xfrm>
          <a:prstGeom prst="rect">
            <a:avLst/>
          </a:prstGeom>
        </p:spPr>
      </p:pic>
      <p:sp>
        <p:nvSpPr>
          <p:cNvPr id="6" name="Text 3"/>
          <p:cNvSpPr/>
          <p:nvPr/>
        </p:nvSpPr>
        <p:spPr>
          <a:xfrm>
            <a:off x="1508760" y="1828800"/>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Attach the tools</a:t>
            </a:r>
            <a:endParaRPr lang="en-US" sz="1600" dirty="0"/>
          </a:p>
        </p:txBody>
      </p:sp>
      <p:sp>
        <p:nvSpPr>
          <p:cNvPr id="7" name="Text 4"/>
          <p:cNvSpPr/>
          <p:nvPr/>
        </p:nvSpPr>
        <p:spPr>
          <a:xfrm>
            <a:off x="4709160" y="1828800"/>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Launch DevTools from the terminal and from your IDE, without looking it up</a:t>
            </a:r>
            <a:endParaRPr lang="en-US" sz="1300" dirty="0"/>
          </a:p>
        </p:txBody>
      </p:sp>
      <p:sp>
        <p:nvSpPr>
          <p:cNvPr id="8" name="Shape 5"/>
          <p:cNvSpPr/>
          <p:nvPr/>
        </p:nvSpPr>
        <p:spPr>
          <a:xfrm>
            <a:off x="822960" y="2432304"/>
            <a:ext cx="10543032" cy="0"/>
          </a:xfrm>
          <a:prstGeom prst="line">
            <a:avLst/>
          </a:prstGeom>
          <a:noFill/>
          <a:ln w="9525">
            <a:solidFill>
              <a:srgbClr val="D2D2D7"/>
            </a:solidFill>
            <a:prstDash val="solid"/>
          </a:ln>
        </p:spPr>
      </p:sp>
      <p:pic>
        <p:nvPicPr>
          <p:cNvPr id="9" name="Image 1" descr="/Users/dinu/dev/upb/mobile-and-embedded-computing/slides/assets/icons2/bug-ink.png">    </p:cNvPr>
          <p:cNvPicPr>
            <a:picLocks noChangeAspect="1"/>
          </p:cNvPicPr>
          <p:nvPr/>
        </p:nvPicPr>
        <p:blipFill>
          <a:blip r:embed="rId2"/>
          <a:stretch>
            <a:fillRect/>
          </a:stretch>
        </p:blipFill>
        <p:spPr>
          <a:xfrm>
            <a:off x="822960" y="2587752"/>
            <a:ext cx="384048" cy="384048"/>
          </a:xfrm>
          <a:prstGeom prst="rect">
            <a:avLst/>
          </a:prstGeom>
        </p:spPr>
      </p:pic>
      <p:sp>
        <p:nvSpPr>
          <p:cNvPr id="10" name="Text 6"/>
          <p:cNvSpPr/>
          <p:nvPr/>
        </p:nvSpPr>
        <p:spPr>
          <a:xfrm>
            <a:off x="1508760" y="2542032"/>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Find a real bug</a:t>
            </a:r>
            <a:endParaRPr lang="en-US" sz="1600" dirty="0"/>
          </a:p>
        </p:txBody>
      </p:sp>
      <p:sp>
        <p:nvSpPr>
          <p:cNvPr id="11" name="Text 7"/>
          <p:cNvSpPr/>
          <p:nvPr/>
        </p:nvSpPr>
        <p:spPr>
          <a:xfrm>
            <a:off x="4709160" y="2542032"/>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Reproduce it, stop on it with a breakpoint, and read the state that caused it</a:t>
            </a:r>
            <a:endParaRPr lang="en-US" sz="1300" dirty="0"/>
          </a:p>
        </p:txBody>
      </p:sp>
      <p:sp>
        <p:nvSpPr>
          <p:cNvPr id="12" name="Shape 8"/>
          <p:cNvSpPr/>
          <p:nvPr/>
        </p:nvSpPr>
        <p:spPr>
          <a:xfrm>
            <a:off x="822960" y="3145536"/>
            <a:ext cx="10543032" cy="0"/>
          </a:xfrm>
          <a:prstGeom prst="line">
            <a:avLst/>
          </a:prstGeom>
          <a:noFill/>
          <a:ln w="9525">
            <a:solidFill>
              <a:srgbClr val="D2D2D7"/>
            </a:solidFill>
            <a:prstDash val="solid"/>
          </a:ln>
        </p:spPr>
      </p:sp>
      <p:pic>
        <p:nvPicPr>
          <p:cNvPr id="13" name="Image 2" descr="/Users/dinu/dev/upb/mobile-and-embedded-computing/slides/assets/icons2/layers-ink.png">    </p:cNvPr>
          <p:cNvPicPr>
            <a:picLocks noChangeAspect="1"/>
          </p:cNvPicPr>
          <p:nvPr/>
        </p:nvPicPr>
        <p:blipFill>
          <a:blip r:embed="rId3"/>
          <a:stretch>
            <a:fillRect/>
          </a:stretch>
        </p:blipFill>
        <p:spPr>
          <a:xfrm>
            <a:off x="822960" y="3300984"/>
            <a:ext cx="384048" cy="384048"/>
          </a:xfrm>
          <a:prstGeom prst="rect">
            <a:avLst/>
          </a:prstGeom>
        </p:spPr>
      </p:pic>
      <p:sp>
        <p:nvSpPr>
          <p:cNvPr id="14" name="Text 9"/>
          <p:cNvSpPr/>
          <p:nvPr/>
        </p:nvSpPr>
        <p:spPr>
          <a:xfrm>
            <a:off x="1508760" y="3255264"/>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Read the trees</a:t>
            </a:r>
            <a:endParaRPr lang="en-US" sz="1600" dirty="0"/>
          </a:p>
        </p:txBody>
      </p:sp>
      <p:sp>
        <p:nvSpPr>
          <p:cNvPr id="15" name="Text 10"/>
          <p:cNvSpPr/>
          <p:nvPr/>
        </p:nvSpPr>
        <p:spPr>
          <a:xfrm>
            <a:off x="4709160" y="3255264"/>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Connect a pixel on screen to the widget, element and render object behind it</a:t>
            </a:r>
            <a:endParaRPr lang="en-US" sz="1300" dirty="0"/>
          </a:p>
        </p:txBody>
      </p:sp>
      <p:sp>
        <p:nvSpPr>
          <p:cNvPr id="16" name="Shape 11"/>
          <p:cNvSpPr/>
          <p:nvPr/>
        </p:nvSpPr>
        <p:spPr>
          <a:xfrm>
            <a:off x="822960" y="3858768"/>
            <a:ext cx="10543032" cy="0"/>
          </a:xfrm>
          <a:prstGeom prst="line">
            <a:avLst/>
          </a:prstGeom>
          <a:noFill/>
          <a:ln w="9525">
            <a:solidFill>
              <a:srgbClr val="D2D2D7"/>
            </a:solidFill>
            <a:prstDash val="solid"/>
          </a:ln>
        </p:spPr>
      </p:sp>
      <p:pic>
        <p:nvPicPr>
          <p:cNvPr id="17" name="Image 3" descr="/Users/dinu/dev/upb/mobile-and-embedded-computing/slides/assets/icons2/refresh-ink.png">    </p:cNvPr>
          <p:cNvPicPr>
            <a:picLocks noChangeAspect="1"/>
          </p:cNvPicPr>
          <p:nvPr/>
        </p:nvPicPr>
        <p:blipFill>
          <a:blip r:embed="rId4"/>
          <a:stretch>
            <a:fillRect/>
          </a:stretch>
        </p:blipFill>
        <p:spPr>
          <a:xfrm>
            <a:off x="822960" y="4014216"/>
            <a:ext cx="384048" cy="384048"/>
          </a:xfrm>
          <a:prstGeom prst="rect">
            <a:avLst/>
          </a:prstGeom>
        </p:spPr>
      </p:pic>
      <p:sp>
        <p:nvSpPr>
          <p:cNvPr id="18" name="Text 12"/>
          <p:cNvSpPr/>
          <p:nvPr/>
        </p:nvSpPr>
        <p:spPr>
          <a:xfrm>
            <a:off x="1508760" y="3968496"/>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Explain a rebuild</a:t>
            </a:r>
            <a:endParaRPr lang="en-US" sz="1600" dirty="0"/>
          </a:p>
        </p:txBody>
      </p:sp>
      <p:sp>
        <p:nvSpPr>
          <p:cNvPr id="19" name="Text 13"/>
          <p:cNvSpPr/>
          <p:nvPr/>
        </p:nvSpPr>
        <p:spPr>
          <a:xfrm>
            <a:off x="4709160" y="3968496"/>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Say which widgets rebuilt after a keystroke, and why the rest did not</a:t>
            </a:r>
            <a:endParaRPr lang="en-US" sz="1300" dirty="0"/>
          </a:p>
        </p:txBody>
      </p:sp>
      <p:sp>
        <p:nvSpPr>
          <p:cNvPr id="20" name="Shape 14"/>
          <p:cNvSpPr/>
          <p:nvPr/>
        </p:nvSpPr>
        <p:spPr>
          <a:xfrm>
            <a:off x="822960" y="5029200"/>
            <a:ext cx="10543032" cy="0"/>
          </a:xfrm>
          <a:prstGeom prst="line">
            <a:avLst/>
          </a:prstGeom>
          <a:noFill/>
          <a:ln w="9525">
            <a:solidFill>
              <a:srgbClr val="D2D2D7"/>
            </a:solidFill>
            <a:prstDash val="solid"/>
          </a:ln>
        </p:spPr>
      </p:sp>
      <p:sp>
        <p:nvSpPr>
          <p:cNvPr id="21" name="Text 15"/>
          <p:cNvSpPr/>
          <p:nvPr/>
        </p:nvSpPr>
        <p:spPr>
          <a:xfrm>
            <a:off x="822960" y="525780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This lab puts Lecture 4 to work.</a:t>
            </a:r>
            <a:pPr indent="0" marL="0">
              <a:buNone/>
            </a:pPr>
            <a:r>
              <a:rPr lang="en-US" sz="1400" dirty="0">
                <a:solidFill>
                  <a:srgbClr val="86868B"/>
                </a:solidFill>
                <a:latin typeface="Arial" pitchFamily="34" charset="0"/>
                <a:ea typeface="Arial" pitchFamily="34" charset="-122"/>
                <a:cs typeface="Arial" pitchFamily="34" charset="-120"/>
              </a:rPr>
              <a:t> Debugging, setState, and the three trees: today you use them on code you wrote yourself.</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3</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STARTING POINT</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Start from your Lab 3 todo app</a:t>
            </a:r>
            <a:endParaRPr lang="en-US" sz="3000" dirty="0"/>
          </a:p>
        </p:txBody>
      </p:sp>
      <p:sp>
        <p:nvSpPr>
          <p:cNvPr id="5" name="Text 3"/>
          <p:cNvSpPr/>
          <p:nvPr/>
        </p:nvSpPr>
        <p:spPr>
          <a:xfrm>
            <a:off x="822960" y="1783080"/>
            <a:ext cx="6675120" cy="3291840"/>
          </a:xfrm>
          <a:prstGeom prst="rect">
            <a:avLst/>
          </a:prstGeom>
          <a:noFill/>
          <a:ln/>
        </p:spPr>
        <p:txBody>
          <a:bodyPr wrap="square" lIns="0" tIns="0" rIns="0" bIns="0" rtlCol="0" anchor="t"/>
          <a:lstStyle/>
          <a:p>
            <a:pPr indent="0" marL="0">
              <a:spcAft>
                <a:spcPts val="1300"/>
              </a:spcAft>
              <a:buNone/>
            </a:pPr>
            <a:r>
              <a:rPr lang="en-US" sz="1350" b="1" dirty="0">
                <a:solidFill>
                  <a:srgbClr val="1D1D1F"/>
                </a:solidFill>
                <a:latin typeface="Arial" pitchFamily="34" charset="0"/>
                <a:ea typeface="Arial" pitchFamily="34" charset="-122"/>
                <a:cs typeface="Arial" pitchFamily="34" charset="-120"/>
              </a:rPr>
              <a:t>Continue from the todo app you built in Laboratory 3. Do not start a new project.</a:t>
            </a:r>
            <a:endParaRPr lang="en-US" sz="1350" dirty="0"/>
          </a:p>
          <a:p>
            <a:pPr indent="0" marL="0">
              <a:spcAft>
                <a:spcPts val="1300"/>
              </a:spcAft>
              <a:buNone/>
            </a:pPr>
            <a:r>
              <a:rPr lang="en-US" sz="1350" dirty="0">
                <a:solidFill>
                  <a:srgbClr val="1D1D1F"/>
                </a:solidFill>
                <a:latin typeface="Arial" pitchFamily="34" charset="0"/>
                <a:ea typeface="Arial" pitchFamily="34" charset="-122"/>
                <a:cs typeface="Arial" pitchFamily="34" charset="-120"/>
              </a:rPr>
              <a:t>Open that project, create a branch named lab4, and work there. Everything today happens in the file that holds your todo page, which for most of you is lib/main.dart or lib/todo_page.dart.</a:t>
            </a:r>
            <a:endParaRPr lang="en-US" sz="1350" dirty="0"/>
          </a:p>
          <a:p>
            <a:pPr indent="0" marL="0">
              <a:spcAft>
                <a:spcPts val="1300"/>
              </a:spcAft>
              <a:buNone/>
            </a:pPr>
            <a:r>
              <a:rPr lang="en-US" sz="1350" dirty="0">
                <a:solidFill>
                  <a:srgbClr val="1D1D1F"/>
                </a:solidFill>
                <a:latin typeface="Arial" pitchFamily="34" charset="0"/>
                <a:ea typeface="Arial" pitchFamily="34" charset="-122"/>
                <a:cs typeface="Arial" pitchFamily="34" charset="-120"/>
              </a:rPr>
              <a:t>If your Lab 3 app never reached a working state, spend the first twenty minutes getting the four behaviors on the right to work. You cannot debug an app that does not run.</a:t>
            </a:r>
            <a:endParaRPr lang="en-US" sz="1350" dirty="0"/>
          </a:p>
          <a:p>
            <a:pPr indent="0" marL="0">
              <a:spcAft>
                <a:spcPts val="1300"/>
              </a:spcAft>
              <a:buNone/>
            </a:pPr>
            <a:r>
              <a:rPr lang="en-US" sz="1350" dirty="0">
                <a:solidFill>
                  <a:srgbClr val="1D1D1F"/>
                </a:solidFill>
                <a:latin typeface="Arial" pitchFamily="34" charset="0"/>
                <a:ea typeface="Arial" pitchFamily="34" charset="-122"/>
                <a:cs typeface="Arial" pitchFamily="34" charset="-120"/>
              </a:rPr>
              <a:t>Commit that working version before you touch anything else. You will deliberately break this app, and you want something to compare against.</a:t>
            </a:r>
            <a:endParaRPr lang="en-US" sz="1350" dirty="0"/>
          </a:p>
        </p:txBody>
      </p:sp>
      <p:sp>
        <p:nvSpPr>
          <p:cNvPr id="6" name="Shape 4"/>
          <p:cNvSpPr/>
          <p:nvPr/>
        </p:nvSpPr>
        <p:spPr>
          <a:xfrm>
            <a:off x="7863840" y="1783080"/>
            <a:ext cx="3520440" cy="2514600"/>
          </a:xfrm>
          <a:prstGeom prst="roundRect">
            <a:avLst>
              <a:gd name="adj" fmla="val 4364"/>
            </a:avLst>
          </a:prstGeom>
          <a:solidFill>
            <a:srgbClr val="F5F5F7"/>
          </a:solidFill>
          <a:ln/>
        </p:spPr>
      </p:sp>
      <p:sp>
        <p:nvSpPr>
          <p:cNvPr id="7" name="Text 5"/>
          <p:cNvSpPr/>
          <p:nvPr/>
        </p:nvSpPr>
        <p:spPr>
          <a:xfrm>
            <a:off x="8138160" y="2011680"/>
            <a:ext cx="3017520" cy="292608"/>
          </a:xfrm>
          <a:prstGeom prst="rect">
            <a:avLst/>
          </a:prstGeom>
          <a:noFill/>
          <a:ln/>
        </p:spPr>
        <p:txBody>
          <a:bodyPr wrap="square" lIns="0" tIns="0" rIns="0" bIns="0" rtlCol="0" anchor="ctr"/>
          <a:lstStyle/>
          <a:p>
            <a:pPr indent="0" marL="0">
              <a:buNone/>
            </a:pPr>
            <a:r>
              <a:rPr lang="en-US" sz="1100" b="1" spc="150" kern="0" dirty="0">
                <a:solidFill>
                  <a:srgbClr val="86868B"/>
                </a:solidFill>
                <a:latin typeface="Arial" pitchFamily="34" charset="0"/>
                <a:ea typeface="Arial" pitchFamily="34" charset="-122"/>
                <a:cs typeface="Arial" pitchFamily="34" charset="-120"/>
              </a:rPr>
              <a:t>The app must already</a:t>
            </a:r>
            <a:endParaRPr lang="en-US" sz="1100" dirty="0"/>
          </a:p>
        </p:txBody>
      </p:sp>
      <p:sp>
        <p:nvSpPr>
          <p:cNvPr id="8" name="Text 6"/>
          <p:cNvSpPr/>
          <p:nvPr/>
        </p:nvSpPr>
        <p:spPr>
          <a:xfrm>
            <a:off x="8138160" y="2423160"/>
            <a:ext cx="3017520" cy="173736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add a todo from a text field</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mark one done and undone</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delete one</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show how many are left</a:t>
            </a:r>
            <a:endParaRPr lang="en-US" sz="1200" dirty="0"/>
          </a:p>
        </p:txBody>
      </p:sp>
      <p:sp>
        <p:nvSpPr>
          <p:cNvPr id="9" name="Shape 7"/>
          <p:cNvSpPr/>
          <p:nvPr/>
        </p:nvSpPr>
        <p:spPr>
          <a:xfrm>
            <a:off x="822960" y="5257800"/>
            <a:ext cx="10543032" cy="0"/>
          </a:xfrm>
          <a:prstGeom prst="line">
            <a:avLst/>
          </a:prstGeom>
          <a:noFill/>
          <a:ln w="9525">
            <a:solidFill>
              <a:srgbClr val="D2D2D7"/>
            </a:solidFill>
            <a:prstDash val="solid"/>
          </a:ln>
        </p:spPr>
      </p:sp>
      <p:sp>
        <p:nvSpPr>
          <p:cNvPr id="10" name="Text 8"/>
          <p:cNvSpPr/>
          <p:nvPr/>
        </p:nvSpPr>
        <p:spPr>
          <a:xfrm>
            <a:off x="822960" y="548640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Nothing new is being built today.</a:t>
            </a:r>
            <a:pPr indent="0" marL="0">
              <a:buNone/>
            </a:pPr>
            <a:r>
              <a:rPr lang="en-US" sz="1400" dirty="0">
                <a:solidFill>
                  <a:srgbClr val="86868B"/>
                </a:solidFill>
                <a:latin typeface="Arial" pitchFamily="34" charset="0"/>
                <a:ea typeface="Arial" pitchFamily="34" charset="-122"/>
                <a:cs typeface="Arial" pitchFamily="34" charset="-120"/>
              </a:rPr>
              <a:t> The app only has to run; the lab is about the tools.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4</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STARTING POINT</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The shape of the app you are debugging</a:t>
            </a:r>
            <a:endParaRPr lang="en-US" sz="3000" dirty="0"/>
          </a:p>
        </p:txBody>
      </p:sp>
      <p:sp>
        <p:nvSpPr>
          <p:cNvPr id="5" name="Text 3"/>
          <p:cNvSpPr/>
          <p:nvPr/>
        </p:nvSpPr>
        <p:spPr>
          <a:xfrm>
            <a:off x="822960" y="1737360"/>
            <a:ext cx="10543032" cy="32004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State lives in the State object. Every change to it goes through setState. If your app is not shaped like this, make it so before Task I.</a:t>
            </a:r>
            <a:endParaRPr lang="en-US" sz="1300" dirty="0"/>
          </a:p>
        </p:txBody>
      </p:sp>
      <p:sp>
        <p:nvSpPr>
          <p:cNvPr id="6" name="Shape 4"/>
          <p:cNvSpPr/>
          <p:nvPr/>
        </p:nvSpPr>
        <p:spPr>
          <a:xfrm>
            <a:off x="822960" y="2194560"/>
            <a:ext cx="5120640" cy="3794760"/>
          </a:xfrm>
          <a:prstGeom prst="roundRect">
            <a:avLst>
              <a:gd name="adj" fmla="val 2892"/>
            </a:avLst>
          </a:prstGeom>
          <a:solidFill>
            <a:srgbClr val="F5F5F7"/>
          </a:solidFill>
          <a:ln/>
        </p:spPr>
      </p:sp>
      <p:sp>
        <p:nvSpPr>
          <p:cNvPr id="7" name="Text 5"/>
          <p:cNvSpPr/>
          <p:nvPr/>
        </p:nvSpPr>
        <p:spPr>
          <a:xfrm>
            <a:off x="1234440" y="2514600"/>
            <a:ext cx="4389120" cy="3200400"/>
          </a:xfrm>
          <a:prstGeom prst="rect">
            <a:avLst/>
          </a:prstGeom>
          <a:noFill/>
          <a:ln/>
        </p:spPr>
        <p:txBody>
          <a:bodyPr wrap="square" lIns="0" tIns="0" rIns="0" bIns="0" rtlCol="0" anchor="t"/>
          <a:lstStyle/>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lib/todo_page.dart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class Todo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Todo(this.title, {this.done = false});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String title;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bool done;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class TodoPage extends StatefulWidget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const TodoPage({super.key});</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@override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State&lt;TodoPage&gt; createState() =&gt; _TodoState();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t>
            </a:r>
            <a:endParaRPr lang="en-US" sz="1050" dirty="0"/>
          </a:p>
        </p:txBody>
      </p:sp>
      <p:sp>
        <p:nvSpPr>
          <p:cNvPr id="8" name="Shape 6"/>
          <p:cNvSpPr/>
          <p:nvPr/>
        </p:nvSpPr>
        <p:spPr>
          <a:xfrm>
            <a:off x="6245352" y="2194560"/>
            <a:ext cx="5120640" cy="3794760"/>
          </a:xfrm>
          <a:prstGeom prst="roundRect">
            <a:avLst>
              <a:gd name="adj" fmla="val 2892"/>
            </a:avLst>
          </a:prstGeom>
          <a:solidFill>
            <a:srgbClr val="F5F5F7"/>
          </a:solidFill>
          <a:ln/>
        </p:spPr>
      </p:sp>
      <p:sp>
        <p:nvSpPr>
          <p:cNvPr id="9" name="Text 7"/>
          <p:cNvSpPr/>
          <p:nvPr/>
        </p:nvSpPr>
        <p:spPr>
          <a:xfrm>
            <a:off x="6656832" y="2514600"/>
            <a:ext cx="4389120" cy="3200400"/>
          </a:xfrm>
          <a:prstGeom prst="rect">
            <a:avLst/>
          </a:prstGeom>
          <a:noFill/>
          <a:ln/>
        </p:spPr>
        <p:txBody>
          <a:bodyPr wrap="square" lIns="0" tIns="0" rIns="0" bIns="0" rtlCol="0" anchor="t"/>
          <a:lstStyle/>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class _TodoState extends State&lt;TodoPage&gt;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_items = &lt;Todo&gt;[];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_input = TextEditingController();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void _add()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t = _input.text.trim();</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if (t.isEmpty) return;</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setState(() =&gt; _items.add(Todo(t)));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_input.clear();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void _toggle(int i) =&gt; setState(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 =&gt; _items[i].done = !_items[i].done);</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 dispose() the controller.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5</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SETUP</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Launching and attaching DevTools</a:t>
            </a:r>
            <a:endParaRPr lang="en-US" sz="3000" dirty="0"/>
          </a:p>
        </p:txBody>
      </p:sp>
      <p:sp>
        <p:nvSpPr>
          <p:cNvPr id="5" name="Shape 3"/>
          <p:cNvSpPr/>
          <p:nvPr/>
        </p:nvSpPr>
        <p:spPr>
          <a:xfrm>
            <a:off x="822960" y="1783080"/>
            <a:ext cx="10543032" cy="4069080"/>
          </a:xfrm>
          <a:prstGeom prst="roundRect">
            <a:avLst>
              <a:gd name="adj" fmla="val 2697"/>
            </a:avLst>
          </a:prstGeom>
          <a:solidFill>
            <a:srgbClr val="F5F5F7"/>
          </a:solidFill>
          <a:ln/>
        </p:spPr>
      </p:sp>
      <p:sp>
        <p:nvSpPr>
          <p:cNvPr id="6" name="Text 4"/>
          <p:cNvSpPr/>
          <p:nvPr/>
        </p:nvSpPr>
        <p:spPr>
          <a:xfrm>
            <a:off x="1234440" y="2103120"/>
            <a:ext cx="9811512" cy="3474720"/>
          </a:xfrm>
          <a:prstGeom prst="rect">
            <a:avLst/>
          </a:prstGeom>
          <a:noFill/>
          <a:ln/>
        </p:spPr>
        <p:txBody>
          <a:bodyPr wrap="square" lIns="0" tIns="0" rIns="0" bIns="0" rtlCol="0" anchor="t"/>
          <a:lstStyle/>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1. Run the app in debug mode from the project folder.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flutter run</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Flutter DevTools debugger and profiler is available at:</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http://127.0.0.1:9100?uri=http://127.0.0.1:53412/AbCdEfGh=/</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Cmd/Ctrl-click that URL, or paste the whole thing into a browser.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2. App already running and you closed the tab? Start DevTools</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yourself, then paste the VM Service URI it asks for.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dart devtools</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3. From the IDE. This is the only route that gives you breakpoints.</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VS Code         F5, then Cmd/Ctrl+Shift+P -&gt; "Dart: Open DevTools"</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Android Studio  Run &gt; Debug, then the Flutter Inspector tool window</a:t>
            </a:r>
            <a:endParaRPr lang="en-US" sz="1050" dirty="0"/>
          </a:p>
        </p:txBody>
      </p:sp>
      <p:sp>
        <p:nvSpPr>
          <p:cNvPr id="7" name="Shape 5"/>
          <p:cNvSpPr/>
          <p:nvPr/>
        </p:nvSpPr>
        <p:spPr>
          <a:xfrm>
            <a:off x="822960" y="5943600"/>
            <a:ext cx="10543032" cy="0"/>
          </a:xfrm>
          <a:prstGeom prst="line">
            <a:avLst/>
          </a:prstGeom>
          <a:noFill/>
          <a:ln w="9525">
            <a:solidFill>
              <a:srgbClr val="D2D2D7"/>
            </a:solidFill>
            <a:prstDash val="solid"/>
          </a:ln>
        </p:spPr>
      </p:sp>
      <p:sp>
        <p:nvSpPr>
          <p:cNvPr id="8" name="Text 6"/>
          <p:cNvSpPr/>
          <p:nvPr/>
        </p:nvSpPr>
        <p:spPr>
          <a:xfrm>
            <a:off x="822960" y="617220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Plain flutter run has no debugger attached.</a:t>
            </a:r>
            <a:pPr indent="0" marL="0">
              <a:buNone/>
            </a:pPr>
            <a:r>
              <a:rPr lang="en-US" sz="1400" dirty="0">
                <a:solidFill>
                  <a:srgbClr val="86868B"/>
                </a:solidFill>
                <a:latin typeface="Arial" pitchFamily="34" charset="0"/>
                <a:ea typeface="Arial" pitchFamily="34" charset="-122"/>
                <a:cs typeface="Arial" pitchFamily="34" charset="-120"/>
              </a:rPr>
              <a:t> Start from the IDE and your breakpoints will be hit.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6</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SETUP</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The DevTools tabs you need today</a:t>
            </a:r>
            <a:endParaRPr lang="en-US" sz="3000" dirty="0"/>
          </a:p>
        </p:txBody>
      </p:sp>
      <p:pic>
        <p:nvPicPr>
          <p:cNvPr id="5" name="Image 0" descr="/Users/dinu/dev/upb/mobile-and-embedded-computing/slides/assets/icons2/layers-ink.png">    </p:cNvPr>
          <p:cNvPicPr>
            <a:picLocks noChangeAspect="1"/>
          </p:cNvPicPr>
          <p:nvPr/>
        </p:nvPicPr>
        <p:blipFill>
          <a:blip r:embed="rId1"/>
          <a:stretch>
            <a:fillRect/>
          </a:stretch>
        </p:blipFill>
        <p:spPr>
          <a:xfrm>
            <a:off x="822960" y="1874520"/>
            <a:ext cx="384048" cy="384048"/>
          </a:xfrm>
          <a:prstGeom prst="rect">
            <a:avLst/>
          </a:prstGeom>
        </p:spPr>
      </p:pic>
      <p:sp>
        <p:nvSpPr>
          <p:cNvPr id="6" name="Text 3"/>
          <p:cNvSpPr/>
          <p:nvPr/>
        </p:nvSpPr>
        <p:spPr>
          <a:xfrm>
            <a:off x="822960" y="24048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Inspector</a:t>
            </a:r>
            <a:endParaRPr lang="en-US" sz="1450" dirty="0"/>
          </a:p>
        </p:txBody>
      </p:sp>
      <p:sp>
        <p:nvSpPr>
          <p:cNvPr id="7" name="Text 4"/>
          <p:cNvSpPr/>
          <p:nvPr/>
        </p:nvSpPr>
        <p:spPr>
          <a:xfrm>
            <a:off x="822960" y="28620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The live widget tree, Select Widget Mode, Track widget rebuilds and the Layout Explorer. Task III lives here.</a:t>
            </a:r>
            <a:endParaRPr lang="en-US" sz="1150" dirty="0"/>
          </a:p>
        </p:txBody>
      </p:sp>
      <p:pic>
        <p:nvPicPr>
          <p:cNvPr id="8" name="Image 1" descr="/Users/dinu/dev/upb/mobile-and-embedded-computing/slides/assets/icons2/bug-ink.png">    </p:cNvPr>
          <p:cNvPicPr>
            <a:picLocks noChangeAspect="1"/>
          </p:cNvPicPr>
          <p:nvPr/>
        </p:nvPicPr>
        <p:blipFill>
          <a:blip r:embed="rId2"/>
          <a:stretch>
            <a:fillRect/>
          </a:stretch>
        </p:blipFill>
        <p:spPr>
          <a:xfrm>
            <a:off x="4663440" y="1874520"/>
            <a:ext cx="384048" cy="384048"/>
          </a:xfrm>
          <a:prstGeom prst="rect">
            <a:avLst/>
          </a:prstGeom>
        </p:spPr>
      </p:pic>
      <p:sp>
        <p:nvSpPr>
          <p:cNvPr id="9" name="Text 5"/>
          <p:cNvSpPr/>
          <p:nvPr/>
        </p:nvSpPr>
        <p:spPr>
          <a:xfrm>
            <a:off x="4663440" y="24048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Debugger</a:t>
            </a:r>
            <a:endParaRPr lang="en-US" sz="1450" dirty="0"/>
          </a:p>
        </p:txBody>
      </p:sp>
      <p:sp>
        <p:nvSpPr>
          <p:cNvPr id="10" name="Text 6"/>
          <p:cNvSpPr/>
          <p:nvPr/>
        </p:nvSpPr>
        <p:spPr>
          <a:xfrm>
            <a:off x="4663440" y="28620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Breakpoints, the call stack and the Variables pane. Task II lives here, or in your IDE, which is faster.</a:t>
            </a:r>
            <a:endParaRPr lang="en-US" sz="1150" dirty="0"/>
          </a:p>
        </p:txBody>
      </p:sp>
      <p:pic>
        <p:nvPicPr>
          <p:cNvPr id="11" name="Image 2" descr="/Users/dinu/dev/upb/mobile-and-embedded-computing/slides/assets/icons2/filetext-ink.png">    </p:cNvPr>
          <p:cNvPicPr>
            <a:picLocks noChangeAspect="1"/>
          </p:cNvPicPr>
          <p:nvPr/>
        </p:nvPicPr>
        <p:blipFill>
          <a:blip r:embed="rId3"/>
          <a:stretch>
            <a:fillRect/>
          </a:stretch>
        </p:blipFill>
        <p:spPr>
          <a:xfrm>
            <a:off x="8503920" y="1874520"/>
            <a:ext cx="384048" cy="384048"/>
          </a:xfrm>
          <a:prstGeom prst="rect">
            <a:avLst/>
          </a:prstGeom>
        </p:spPr>
      </p:pic>
      <p:sp>
        <p:nvSpPr>
          <p:cNvPr id="12" name="Text 7"/>
          <p:cNvSpPr/>
          <p:nvPr/>
        </p:nvSpPr>
        <p:spPr>
          <a:xfrm>
            <a:off x="8503920" y="24048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Logging</a:t>
            </a:r>
            <a:endParaRPr lang="en-US" sz="1450" dirty="0"/>
          </a:p>
        </p:txBody>
      </p:sp>
      <p:sp>
        <p:nvSpPr>
          <p:cNvPr id="13" name="Text 8"/>
          <p:cNvSpPr/>
          <p:nvPr/>
        </p:nvSpPr>
        <p:spPr>
          <a:xfrm>
            <a:off x="8503920" y="28620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Everything debugPrint writes, plus framework events. Keep it open all session.</a:t>
            </a:r>
            <a:endParaRPr lang="en-US" sz="1150" dirty="0"/>
          </a:p>
        </p:txBody>
      </p:sp>
      <p:pic>
        <p:nvPicPr>
          <p:cNvPr id="14" name="Image 3" descr="/Users/dinu/dev/upb/mobile-and-embedded-computing/slides/assets/icons2/gauge-ink.png">    </p:cNvPr>
          <p:cNvPicPr>
            <a:picLocks noChangeAspect="1"/>
          </p:cNvPicPr>
          <p:nvPr/>
        </p:nvPicPr>
        <p:blipFill>
          <a:blip r:embed="rId4"/>
          <a:stretch>
            <a:fillRect/>
          </a:stretch>
        </p:blipFill>
        <p:spPr>
          <a:xfrm>
            <a:off x="822960" y="3977640"/>
            <a:ext cx="384048" cy="384048"/>
          </a:xfrm>
          <a:prstGeom prst="rect">
            <a:avLst/>
          </a:prstGeom>
        </p:spPr>
      </p:pic>
      <p:sp>
        <p:nvSpPr>
          <p:cNvPr id="15" name="Text 9"/>
          <p:cNvSpPr/>
          <p:nvPr/>
        </p:nvSpPr>
        <p:spPr>
          <a:xfrm>
            <a:off x="822960" y="450799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Performance</a:t>
            </a:r>
            <a:endParaRPr lang="en-US" sz="1450" dirty="0"/>
          </a:p>
        </p:txBody>
      </p:sp>
      <p:sp>
        <p:nvSpPr>
          <p:cNvPr id="16" name="Text 10"/>
          <p:cNvSpPr/>
          <p:nvPr/>
        </p:nvSpPr>
        <p:spPr>
          <a:xfrm>
            <a:off x="822960" y="496519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The frame timeline and the performance overlay. Only meaningful in a --profile build.</a:t>
            </a:r>
            <a:endParaRPr lang="en-US" sz="1150" dirty="0"/>
          </a:p>
        </p:txBody>
      </p:sp>
      <p:pic>
        <p:nvPicPr>
          <p:cNvPr id="17" name="Image 4" descr="/Users/dinu/dev/upb/mobile-and-embedded-computing/slides/assets/icons2/memory-ink.png">    </p:cNvPr>
          <p:cNvPicPr>
            <a:picLocks noChangeAspect="1"/>
          </p:cNvPicPr>
          <p:nvPr/>
        </p:nvPicPr>
        <p:blipFill>
          <a:blip r:embed="rId5"/>
          <a:stretch>
            <a:fillRect/>
          </a:stretch>
        </p:blipFill>
        <p:spPr>
          <a:xfrm>
            <a:off x="4663440" y="3977640"/>
            <a:ext cx="384048" cy="384048"/>
          </a:xfrm>
          <a:prstGeom prst="rect">
            <a:avLst/>
          </a:prstGeom>
        </p:spPr>
      </p:pic>
      <p:sp>
        <p:nvSpPr>
          <p:cNvPr id="18" name="Text 11"/>
          <p:cNvSpPr/>
          <p:nvPr/>
        </p:nvSpPr>
        <p:spPr>
          <a:xfrm>
            <a:off x="4663440" y="450799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Memory</a:t>
            </a:r>
            <a:endParaRPr lang="en-US" sz="1450" dirty="0"/>
          </a:p>
        </p:txBody>
      </p:sp>
      <p:sp>
        <p:nvSpPr>
          <p:cNvPr id="19" name="Text 12"/>
          <p:cNvSpPr/>
          <p:nvPr/>
        </p:nvSpPr>
        <p:spPr>
          <a:xfrm>
            <a:off x="4663440" y="496519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Heap snapshots. This is how you find the controller you forgot to dispose.</a:t>
            </a:r>
            <a:endParaRPr lang="en-US" sz="1150" dirty="0"/>
          </a:p>
        </p:txBody>
      </p:sp>
      <p:pic>
        <p:nvPicPr>
          <p:cNvPr id="20" name="Image 5" descr="/Users/dinu/dev/upb/mobile-and-embedded-computing/slides/assets/icons2/network-ink.png">    </p:cNvPr>
          <p:cNvPicPr>
            <a:picLocks noChangeAspect="1"/>
          </p:cNvPicPr>
          <p:nvPr/>
        </p:nvPicPr>
        <p:blipFill>
          <a:blip r:embed="rId6"/>
          <a:stretch>
            <a:fillRect/>
          </a:stretch>
        </p:blipFill>
        <p:spPr>
          <a:xfrm>
            <a:off x="8503920" y="3977640"/>
            <a:ext cx="384048" cy="384048"/>
          </a:xfrm>
          <a:prstGeom prst="rect">
            <a:avLst/>
          </a:prstGeom>
        </p:spPr>
      </p:pic>
      <p:sp>
        <p:nvSpPr>
          <p:cNvPr id="21" name="Text 13"/>
          <p:cNvSpPr/>
          <p:nvPr/>
        </p:nvSpPr>
        <p:spPr>
          <a:xfrm>
            <a:off x="8503920" y="450799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Network</a:t>
            </a:r>
            <a:endParaRPr lang="en-US" sz="1450" dirty="0"/>
          </a:p>
        </p:txBody>
      </p:sp>
      <p:sp>
        <p:nvSpPr>
          <p:cNvPr id="22" name="Text 14"/>
          <p:cNvSpPr/>
          <p:nvPr/>
        </p:nvSpPr>
        <p:spPr>
          <a:xfrm>
            <a:off x="8503920" y="496519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Every HTTP request the app makes. You will need this one in Lab 5.</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7</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TASK I</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An interactive todo list</a:t>
            </a:r>
            <a:endParaRPr lang="en-US" sz="3000" dirty="0"/>
          </a:p>
        </p:txBody>
      </p:sp>
      <p:sp>
        <p:nvSpPr>
          <p:cNvPr id="5" name="Text 3"/>
          <p:cNvSpPr/>
          <p:nvPr/>
        </p:nvSpPr>
        <p:spPr>
          <a:xfrm>
            <a:off x="822960" y="1783080"/>
            <a:ext cx="6675120" cy="457200"/>
          </a:xfrm>
          <a:prstGeom prst="rect">
            <a:avLst/>
          </a:prstGeom>
          <a:noFill/>
          <a:ln/>
        </p:spPr>
        <p:txBody>
          <a:bodyPr wrap="square" lIns="0" tIns="0" rIns="0" bIns="0" rtlCol="0" anchor="ctr"/>
          <a:lstStyle/>
          <a:p>
            <a:pPr indent="0" marL="0">
              <a:buNone/>
            </a:pPr>
            <a:r>
              <a:rPr lang="en-US" sz="1400" dirty="0">
                <a:solidFill>
                  <a:srgbClr val="86868B"/>
                </a:solidFill>
                <a:latin typeface="Arial" pitchFamily="34" charset="0"/>
                <a:ea typeface="Arial" pitchFamily="34" charset="-122"/>
                <a:cs typeface="Arial" pitchFamily="34" charset="-120"/>
              </a:rPr>
              <a:t>In your Lab 3 project, on branch lab4. Most of this exists already, so verify it and fill the gaps.</a:t>
            </a:r>
            <a:endParaRPr lang="en-US" sz="1400" dirty="0"/>
          </a:p>
        </p:txBody>
      </p:sp>
      <p:sp>
        <p:nvSpPr>
          <p:cNvPr id="6" name="Text 4"/>
          <p:cNvSpPr/>
          <p:nvPr/>
        </p:nvSpPr>
        <p:spPr>
          <a:xfrm>
            <a:off x="822960" y="2350008"/>
            <a:ext cx="6675120" cy="3776472"/>
          </a:xfrm>
          <a:prstGeom prst="rect">
            <a:avLst/>
          </a:prstGeom>
          <a:noFill/>
          <a:ln/>
        </p:spPr>
        <p:txBody>
          <a:bodyPr wrap="square" lIns="0" tIns="0" rIns="0" bIns="0" rtlCol="0" anchor="t"/>
          <a:lstStyle/>
          <a:p>
            <a:pPr marL="342900" indent="-342900">
              <a:spcAft>
                <a:spcPts val="1100"/>
              </a:spcAft>
              <a:buSzPct val="100000"/>
              <a:buFont typeface="+mj-lt"/>
              <a:buAutoNum type="arabicPeriod" startAt="1"/>
            </a:pPr>
            <a:r>
              <a:rPr lang="en-US" sz="1350" dirty="0">
                <a:solidFill>
                  <a:srgbClr val="1D1D1F"/>
                </a:solidFill>
                <a:latin typeface="Arial" pitchFamily="34" charset="0"/>
                <a:ea typeface="Arial" pitchFamily="34" charset="-122"/>
                <a:cs typeface="Arial" pitchFamily="34" charset="-120"/>
              </a:rPr>
              <a:t>Confirm the todo page is a StatefulWidget and that the list of todos lives in its State object, not in the widget</a:t>
            </a:r>
            <a:endParaRPr lang="en-US" sz="1350" dirty="0"/>
          </a:p>
          <a:p>
            <a:pPr marL="342900" indent="-342900">
              <a:spcAft>
                <a:spcPts val="1100"/>
              </a:spcAft>
              <a:buSzPct val="100000"/>
              <a:buFont typeface="+mj-lt"/>
              <a:buAutoNum type="arabicPeriod" startAt="2"/>
            </a:pPr>
            <a:r>
              <a:rPr lang="en-US" sz="1350" dirty="0">
                <a:solidFill>
                  <a:srgbClr val="1D1D1F"/>
                </a:solidFill>
                <a:latin typeface="Arial" pitchFamily="34" charset="0"/>
                <a:ea typeface="Arial" pitchFamily="34" charset="-122"/>
                <a:cs typeface="Arial" pitchFamily="34" charset="-120"/>
              </a:rPr>
              <a:t>Add a text field and an Add button that appends a new todo to the list inside setState</a:t>
            </a:r>
            <a:endParaRPr lang="en-US" sz="1350" dirty="0"/>
          </a:p>
          <a:p>
            <a:pPr marL="342900" indent="-342900">
              <a:spcAft>
                <a:spcPts val="1100"/>
              </a:spcAft>
              <a:buSzPct val="100000"/>
              <a:buFont typeface="+mj-lt"/>
              <a:buAutoNum type="arabicPeriod" startAt="3"/>
            </a:pPr>
            <a:r>
              <a:rPr lang="en-US" sz="1350" dirty="0">
                <a:solidFill>
                  <a:srgbClr val="1D1D1F"/>
                </a:solidFill>
                <a:latin typeface="Arial" pitchFamily="34" charset="0"/>
                <a:ea typeface="Arial" pitchFamily="34" charset="-122"/>
                <a:cs typeface="Arial" pitchFamily="34" charset="-120"/>
              </a:rPr>
              <a:t>Make tapping a todo toggle its done flag inside setState</a:t>
            </a:r>
            <a:endParaRPr lang="en-US" sz="1350" dirty="0"/>
          </a:p>
          <a:p>
            <a:pPr marL="342900" indent="-342900">
              <a:spcAft>
                <a:spcPts val="1100"/>
              </a:spcAft>
              <a:buSzPct val="100000"/>
              <a:buFont typeface="+mj-lt"/>
              <a:buAutoNum type="arabicPeriod" startAt="4"/>
            </a:pPr>
            <a:r>
              <a:rPr lang="en-US" sz="1350" dirty="0">
                <a:solidFill>
                  <a:srgbClr val="1D1D1F"/>
                </a:solidFill>
                <a:latin typeface="Arial" pitchFamily="34" charset="0"/>
                <a:ea typeface="Arial" pitchFamily="34" charset="-122"/>
                <a:cs typeface="Arial" pitchFamily="34" charset="-120"/>
              </a:rPr>
              <a:t>Add a delete action that removes a todo by index inside setState</a:t>
            </a:r>
            <a:endParaRPr lang="en-US" sz="1350" dirty="0"/>
          </a:p>
          <a:p>
            <a:pPr marL="342900" indent="-342900">
              <a:spcAft>
                <a:spcPts val="1100"/>
              </a:spcAft>
              <a:buSzPct val="100000"/>
              <a:buFont typeface="+mj-lt"/>
              <a:buAutoNum type="arabicPeriod" startAt="5"/>
            </a:pPr>
            <a:r>
              <a:rPr lang="en-US" sz="1350" dirty="0">
                <a:solidFill>
                  <a:srgbClr val="1D1D1F"/>
                </a:solidFill>
                <a:latin typeface="Arial" pitchFamily="34" charset="0"/>
                <a:ea typeface="Arial" pitchFamily="34" charset="-122"/>
                <a:cs typeface="Arial" pitchFamily="34" charset="-120"/>
              </a:rPr>
              <a:t>Show the number of todos not yet done in the AppBar title</a:t>
            </a:r>
            <a:endParaRPr lang="en-US" sz="1350" dirty="0"/>
          </a:p>
          <a:p>
            <a:pPr marL="342900" indent="-342900">
              <a:spcAft>
                <a:spcPts val="1100"/>
              </a:spcAft>
              <a:buSzPct val="100000"/>
              <a:buFont typeface="+mj-lt"/>
              <a:buAutoNum type="arabicPeriod" startAt="6"/>
            </a:pPr>
            <a:r>
              <a:rPr lang="en-US" sz="1350" dirty="0">
                <a:solidFill>
                  <a:srgbClr val="1D1D1F"/>
                </a:solidFill>
                <a:latin typeface="Arial" pitchFamily="34" charset="0"/>
                <a:ea typeface="Arial" pitchFamily="34" charset="-122"/>
                <a:cs typeface="Arial" pitchFamily="34" charset="-120"/>
              </a:rPr>
              <a:t>Commit this working version: it is your reference point for the rest of the lab</a:t>
            </a:r>
            <a:endParaRPr lang="en-US" sz="1350" dirty="0"/>
          </a:p>
        </p:txBody>
      </p:sp>
      <p:sp>
        <p:nvSpPr>
          <p:cNvPr id="7" name="Text 5"/>
          <p:cNvSpPr/>
          <p:nvPr/>
        </p:nvSpPr>
        <p:spPr>
          <a:xfrm>
            <a:off x="7863840" y="1783080"/>
            <a:ext cx="3520440" cy="292608"/>
          </a:xfrm>
          <a:prstGeom prst="rect">
            <a:avLst/>
          </a:prstGeom>
          <a:noFill/>
          <a:ln/>
        </p:spPr>
        <p:txBody>
          <a:bodyPr wrap="square" lIns="0" tIns="0" rIns="0" bIns="0" rtlCol="0" anchor="ctr"/>
          <a:lstStyle/>
          <a:p>
            <a:pPr indent="0" marL="0">
              <a:buNone/>
            </a:pPr>
            <a:r>
              <a:rPr lang="en-US" sz="1100" b="1" spc="150" kern="0" dirty="0">
                <a:solidFill>
                  <a:srgbClr val="86868B"/>
                </a:solidFill>
                <a:latin typeface="Arial" pitchFamily="34" charset="0"/>
                <a:ea typeface="Arial" pitchFamily="34" charset="-122"/>
                <a:cs typeface="Arial" pitchFamily="34" charset="-120"/>
              </a:rPr>
              <a:t>Hints</a:t>
            </a:r>
            <a:endParaRPr lang="en-US" sz="1100" dirty="0"/>
          </a:p>
        </p:txBody>
      </p:sp>
      <p:sp>
        <p:nvSpPr>
          <p:cNvPr id="8" name="Text 6"/>
          <p:cNvSpPr/>
          <p:nvPr/>
        </p:nvSpPr>
        <p:spPr>
          <a:xfrm>
            <a:off x="7863840" y="2148840"/>
            <a:ext cx="3520440" cy="219456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StatefulWidget and State&lt;T&gt;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setState(() { ... })</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TextEditingController, and dispose() it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ListView.builder with itemCount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IconButton for the delete action</a:t>
            </a:r>
            <a:endParaRPr lang="en-US" sz="1200" dirty="0"/>
          </a:p>
        </p:txBody>
      </p:sp>
      <p:sp>
        <p:nvSpPr>
          <p:cNvPr id="9" name="Text 7"/>
          <p:cNvSpPr/>
          <p:nvPr/>
        </p:nvSpPr>
        <p:spPr>
          <a:xfrm>
            <a:off x="7863840" y="4526280"/>
            <a:ext cx="3520440" cy="292608"/>
          </a:xfrm>
          <a:prstGeom prst="rect">
            <a:avLst/>
          </a:prstGeom>
          <a:noFill/>
          <a:ln/>
        </p:spPr>
        <p:txBody>
          <a:bodyPr wrap="square" lIns="0" tIns="0" rIns="0" bIns="0" rtlCol="0" anchor="ctr"/>
          <a:lstStyle/>
          <a:p>
            <a:pPr indent="0" marL="0">
              <a:buNone/>
            </a:pPr>
            <a:r>
              <a:rPr lang="en-US" sz="1100" b="1" spc="150" kern="0" dirty="0">
                <a:solidFill>
                  <a:srgbClr val="0071E3"/>
                </a:solidFill>
                <a:latin typeface="Arial" pitchFamily="34" charset="0"/>
                <a:ea typeface="Arial" pitchFamily="34" charset="-122"/>
                <a:cs typeface="Arial" pitchFamily="34" charset="-120"/>
              </a:rPr>
              <a:t>Done when</a:t>
            </a:r>
            <a:endParaRPr lang="en-US" sz="1100" dirty="0"/>
          </a:p>
        </p:txBody>
      </p:sp>
      <p:sp>
        <p:nvSpPr>
          <p:cNvPr id="10" name="Text 8"/>
          <p:cNvSpPr/>
          <p:nvPr/>
        </p:nvSpPr>
        <p:spPr>
          <a:xfrm>
            <a:off x="7863840" y="4892040"/>
            <a:ext cx="3520440" cy="146304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Add, toggle and delete all update the screen</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No exceptions in the console</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Committed on branch lab4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8</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TASK II</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The three bugs you will plant</a:t>
            </a:r>
            <a:endParaRPr lang="en-US" sz="3000" dirty="0"/>
          </a:p>
        </p:txBody>
      </p:sp>
      <p:sp>
        <p:nvSpPr>
          <p:cNvPr id="5" name="Text 3"/>
          <p:cNvSpPr/>
          <p:nvPr/>
        </p:nvSpPr>
        <p:spPr>
          <a:xfrm>
            <a:off x="822960" y="1737360"/>
            <a:ext cx="10543032" cy="32004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Plant these one at a time. Fix each one before planting the next. Three simultaneous bugs teach you nothing.</a:t>
            </a:r>
            <a:endParaRPr lang="en-US" sz="1300" dirty="0"/>
          </a:p>
        </p:txBody>
      </p:sp>
      <p:sp>
        <p:nvSpPr>
          <p:cNvPr id="6" name="Shape 4"/>
          <p:cNvSpPr/>
          <p:nvPr/>
        </p:nvSpPr>
        <p:spPr>
          <a:xfrm>
            <a:off x="822960" y="2194560"/>
            <a:ext cx="10543032" cy="2788920"/>
          </a:xfrm>
          <a:prstGeom prst="roundRect">
            <a:avLst>
              <a:gd name="adj" fmla="val 3934"/>
            </a:avLst>
          </a:prstGeom>
          <a:solidFill>
            <a:srgbClr val="F5F5F7"/>
          </a:solidFill>
          <a:ln/>
        </p:spPr>
      </p:sp>
      <p:sp>
        <p:nvSpPr>
          <p:cNvPr id="7" name="Text 5"/>
          <p:cNvSpPr/>
          <p:nvPr/>
        </p:nvSpPr>
        <p:spPr>
          <a:xfrm>
            <a:off x="1234440" y="2514600"/>
            <a:ext cx="9811512" cy="2194560"/>
          </a:xfrm>
          <a:prstGeom prst="rect">
            <a:avLst/>
          </a:prstGeom>
          <a:noFill/>
          <a:ln/>
        </p:spPr>
        <p:txBody>
          <a:bodyPr wrap="square" lIns="0" tIns="0" rIns="0" bIns="0" rtlCol="0" anchor="t"/>
          <a:lstStyle/>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Bug 1: out-of-bounds index. Off by one, on purpose.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for (var i = 0; i &lt;= _items.length; i++) { total += _items[i].done ? 1 : 0;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Bug 2: the model changes, the screen does not. No setState.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void _toggle(int i) =&gt; _items[i].done = !_items[i].done;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Bug 3: a null that arrives later than you assumed.</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String? _filter;                       // never assigned before the first build</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final visible = _items.where((t) =&gt; t.title.contains(_filter!)).toList();</a:t>
            </a:r>
            <a:endParaRPr lang="en-US" sz="1100" dirty="0"/>
          </a:p>
        </p:txBody>
      </p:sp>
      <p:sp>
        <p:nvSpPr>
          <p:cNvPr id="8" name="Shape 6"/>
          <p:cNvSpPr/>
          <p:nvPr/>
        </p:nvSpPr>
        <p:spPr>
          <a:xfrm>
            <a:off x="822960" y="5212080"/>
            <a:ext cx="10543032" cy="0"/>
          </a:xfrm>
          <a:prstGeom prst="line">
            <a:avLst/>
          </a:prstGeom>
          <a:noFill/>
          <a:ln w="9525">
            <a:solidFill>
              <a:srgbClr val="D2D2D7"/>
            </a:solidFill>
            <a:prstDash val="solid"/>
          </a:ln>
        </p:spPr>
      </p:sp>
      <p:sp>
        <p:nvSpPr>
          <p:cNvPr id="9" name="Text 7"/>
          <p:cNvSpPr/>
          <p:nvPr/>
        </p:nvSpPr>
        <p:spPr>
          <a:xfrm>
            <a:off x="822960" y="544068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Bug 1 throws, bug 2 is silent, bug 3 throws somewhere else entirely.</a:t>
            </a:r>
            <a:pPr indent="0" marL="0">
              <a:buNone/>
            </a:pPr>
            <a:r>
              <a:rPr lang="en-US" sz="1400" dirty="0">
                <a:solidFill>
                  <a:srgbClr val="86868B"/>
                </a:solidFill>
                <a:latin typeface="Arial" pitchFamily="34" charset="0"/>
                <a:ea typeface="Arial" pitchFamily="34" charset="-122"/>
                <a:cs typeface="Arial" pitchFamily="34" charset="-120"/>
              </a:rPr>
              <a:t> Three different failure shapes, three different tools.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9</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TASK II</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Break it, then find it with the debugger</a:t>
            </a:r>
            <a:endParaRPr lang="en-US" sz="3000" dirty="0"/>
          </a:p>
        </p:txBody>
      </p:sp>
      <p:sp>
        <p:nvSpPr>
          <p:cNvPr id="5" name="Text 3"/>
          <p:cNvSpPr/>
          <p:nvPr/>
        </p:nvSpPr>
        <p:spPr>
          <a:xfrm>
            <a:off x="822960" y="1783080"/>
            <a:ext cx="6675120" cy="457200"/>
          </a:xfrm>
          <a:prstGeom prst="rect">
            <a:avLst/>
          </a:prstGeom>
          <a:noFill/>
          <a:ln/>
        </p:spPr>
        <p:txBody>
          <a:bodyPr wrap="square" lIns="0" tIns="0" rIns="0" bIns="0" rtlCol="0" anchor="ctr"/>
          <a:lstStyle/>
          <a:p>
            <a:pPr indent="0" marL="0">
              <a:buNone/>
            </a:pPr>
            <a:r>
              <a:rPr lang="en-US" sz="1400" dirty="0">
                <a:solidFill>
                  <a:srgbClr val="86868B"/>
                </a:solidFill>
                <a:latin typeface="Arial" pitchFamily="34" charset="0"/>
                <a:ea typeface="Arial" pitchFamily="34" charset="-122"/>
                <a:cs typeface="Arial" pitchFamily="34" charset="-120"/>
              </a:rPr>
              <a:t>Start the app from your IDE so the debugger is attached. Screenshot each bug while paused.</a:t>
            </a:r>
            <a:endParaRPr lang="en-US" sz="1400" dirty="0"/>
          </a:p>
        </p:txBody>
      </p:sp>
      <p:sp>
        <p:nvSpPr>
          <p:cNvPr id="6" name="Text 4"/>
          <p:cNvSpPr/>
          <p:nvPr/>
        </p:nvSpPr>
        <p:spPr>
          <a:xfrm>
            <a:off x="822960" y="2350008"/>
            <a:ext cx="6675120" cy="3776472"/>
          </a:xfrm>
          <a:prstGeom prst="rect">
            <a:avLst/>
          </a:prstGeom>
          <a:noFill/>
          <a:ln/>
        </p:spPr>
        <p:txBody>
          <a:bodyPr wrap="square" lIns="0" tIns="0" rIns="0" bIns="0" rtlCol="0" anchor="t"/>
          <a:lstStyle/>
          <a:p>
            <a:pPr marL="342900" indent="-342900">
              <a:spcAft>
                <a:spcPts val="1100"/>
              </a:spcAft>
              <a:buSzPct val="100000"/>
              <a:buFont typeface="+mj-lt"/>
              <a:buAutoNum type="arabicPeriod" startAt="1"/>
            </a:pPr>
            <a:r>
              <a:rPr lang="en-US" sz="1350" dirty="0">
                <a:solidFill>
                  <a:srgbClr val="1D1D1F"/>
                </a:solidFill>
                <a:latin typeface="Arial" pitchFamily="34" charset="0"/>
                <a:ea typeface="Arial" pitchFamily="34" charset="-122"/>
                <a:cs typeface="Arial" pitchFamily="34" charset="-120"/>
              </a:rPr>
              <a:t>Plant bug 1 and run the app until it throws RangeError</a:t>
            </a:r>
            <a:endParaRPr lang="en-US" sz="1350" dirty="0"/>
          </a:p>
          <a:p>
            <a:pPr marL="342900" indent="-342900">
              <a:spcAft>
                <a:spcPts val="1100"/>
              </a:spcAft>
              <a:buSzPct val="100000"/>
              <a:buFont typeface="+mj-lt"/>
              <a:buAutoNum type="arabicPeriod" startAt="2"/>
            </a:pPr>
            <a:r>
              <a:rPr lang="en-US" sz="1350" dirty="0">
                <a:solidFill>
                  <a:srgbClr val="1D1D1F"/>
                </a:solidFill>
                <a:latin typeface="Arial" pitchFamily="34" charset="0"/>
                <a:ea typeface="Arial" pitchFamily="34" charset="-122"/>
                <a:cs typeface="Arial" pitchFamily="34" charset="-120"/>
              </a:rPr>
              <a:t>Read the stack trace and set a breakpoint on the line it names</a:t>
            </a:r>
            <a:endParaRPr lang="en-US" sz="1350" dirty="0"/>
          </a:p>
          <a:p>
            <a:pPr marL="342900" indent="-342900">
              <a:spcAft>
                <a:spcPts val="1100"/>
              </a:spcAft>
              <a:buSzPct val="100000"/>
              <a:buFont typeface="+mj-lt"/>
              <a:buAutoNum type="arabicPeriod" startAt="3"/>
            </a:pPr>
            <a:r>
              <a:rPr lang="en-US" sz="1350" dirty="0">
                <a:solidFill>
                  <a:srgbClr val="1D1D1F"/>
                </a:solidFill>
                <a:latin typeface="Arial" pitchFamily="34" charset="0"/>
                <a:ea typeface="Arial" pitchFamily="34" charset="-122"/>
                <a:cs typeface="Arial" pitchFamily="34" charset="-120"/>
              </a:rPr>
              <a:t>Step through the loop and watch i and _items.length in the Variables pane at the moment it fails</a:t>
            </a:r>
            <a:endParaRPr lang="en-US" sz="1350" dirty="0"/>
          </a:p>
          <a:p>
            <a:pPr marL="342900" indent="-342900">
              <a:spcAft>
                <a:spcPts val="1100"/>
              </a:spcAft>
              <a:buSzPct val="100000"/>
              <a:buFont typeface="+mj-lt"/>
              <a:buAutoNum type="arabicPeriod" startAt="4"/>
            </a:pPr>
            <a:r>
              <a:rPr lang="en-US" sz="1350" dirty="0">
                <a:solidFill>
                  <a:srgbClr val="1D1D1F"/>
                </a:solidFill>
                <a:latin typeface="Arial" pitchFamily="34" charset="0"/>
                <a:ea typeface="Arial" pitchFamily="34" charset="-122"/>
                <a:cs typeface="Arial" pitchFamily="34" charset="-120"/>
              </a:rPr>
              <a:t>Fix the bound, and confirm the exception is gone</a:t>
            </a:r>
            <a:endParaRPr lang="en-US" sz="1350" dirty="0"/>
          </a:p>
          <a:p>
            <a:pPr marL="342900" indent="-342900">
              <a:spcAft>
                <a:spcPts val="1100"/>
              </a:spcAft>
              <a:buSzPct val="100000"/>
              <a:buFont typeface="+mj-lt"/>
              <a:buAutoNum type="arabicPeriod" startAt="5"/>
            </a:pPr>
            <a:r>
              <a:rPr lang="en-US" sz="1350" dirty="0">
                <a:solidFill>
                  <a:srgbClr val="1D1D1F"/>
                </a:solidFill>
                <a:latin typeface="Arial" pitchFamily="34" charset="0"/>
                <a:ea typeface="Arial" pitchFamily="34" charset="-122"/>
                <a:cs typeface="Arial" pitchFamily="34" charset="-120"/>
              </a:rPr>
              <a:t>Plant bug 2, then use a conditional breakpoint to show the model changed while the screen did not</a:t>
            </a:r>
            <a:endParaRPr lang="en-US" sz="1350" dirty="0"/>
          </a:p>
          <a:p>
            <a:pPr marL="342900" indent="-342900">
              <a:spcAft>
                <a:spcPts val="1100"/>
              </a:spcAft>
              <a:buSzPct val="100000"/>
              <a:buFont typeface="+mj-lt"/>
              <a:buAutoNum type="arabicPeriod" startAt="6"/>
            </a:pPr>
            <a:r>
              <a:rPr lang="en-US" sz="1350" dirty="0">
                <a:solidFill>
                  <a:srgbClr val="1D1D1F"/>
                </a:solidFill>
                <a:latin typeface="Arial" pitchFamily="34" charset="0"/>
                <a:ea typeface="Arial" pitchFamily="34" charset="-122"/>
                <a:cs typeface="Arial" pitchFamily="34" charset="-120"/>
              </a:rPr>
              <a:t>Add debugPrint calls logging the done flag before and after the mutation</a:t>
            </a:r>
            <a:endParaRPr lang="en-US" sz="1350" dirty="0"/>
          </a:p>
          <a:p>
            <a:pPr marL="342900" indent="-342900">
              <a:spcAft>
                <a:spcPts val="1100"/>
              </a:spcAft>
              <a:buSzPct val="100000"/>
              <a:buFont typeface="+mj-lt"/>
              <a:buAutoNum type="arabicPeriod" startAt="7"/>
            </a:pPr>
            <a:r>
              <a:rPr lang="en-US" sz="1350" dirty="0">
                <a:solidFill>
                  <a:srgbClr val="1D1D1F"/>
                </a:solidFill>
                <a:latin typeface="Arial" pitchFamily="34" charset="0"/>
                <a:ea typeface="Arial" pitchFamily="34" charset="-122"/>
                <a:cs typeface="Arial" pitchFamily="34" charset="-120"/>
              </a:rPr>
              <a:t>Plant bug 3, reproduce the null failure, and fix it without using the ! operator</a:t>
            </a:r>
            <a:endParaRPr lang="en-US" sz="1350" dirty="0"/>
          </a:p>
        </p:txBody>
      </p:sp>
      <p:sp>
        <p:nvSpPr>
          <p:cNvPr id="7" name="Text 5"/>
          <p:cNvSpPr/>
          <p:nvPr/>
        </p:nvSpPr>
        <p:spPr>
          <a:xfrm>
            <a:off x="7863840" y="1783080"/>
            <a:ext cx="3520440" cy="292608"/>
          </a:xfrm>
          <a:prstGeom prst="rect">
            <a:avLst/>
          </a:prstGeom>
          <a:noFill/>
          <a:ln/>
        </p:spPr>
        <p:txBody>
          <a:bodyPr wrap="square" lIns="0" tIns="0" rIns="0" bIns="0" rtlCol="0" anchor="ctr"/>
          <a:lstStyle/>
          <a:p>
            <a:pPr indent="0" marL="0">
              <a:buNone/>
            </a:pPr>
            <a:r>
              <a:rPr lang="en-US" sz="1100" b="1" spc="150" kern="0" dirty="0">
                <a:solidFill>
                  <a:srgbClr val="86868B"/>
                </a:solidFill>
                <a:latin typeface="Arial" pitchFamily="34" charset="0"/>
                <a:ea typeface="Arial" pitchFamily="34" charset="-122"/>
                <a:cs typeface="Arial" pitchFamily="34" charset="-120"/>
              </a:rPr>
              <a:t>Hints</a:t>
            </a:r>
            <a:endParaRPr lang="en-US" sz="1100" dirty="0"/>
          </a:p>
        </p:txBody>
      </p:sp>
      <p:sp>
        <p:nvSpPr>
          <p:cNvPr id="8" name="Text 6"/>
          <p:cNvSpPr/>
          <p:nvPr/>
        </p:nvSpPr>
        <p:spPr>
          <a:xfrm>
            <a:off x="7863840" y="2148840"/>
            <a:ext cx="3520440" cy="219456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Click the gutter to set a breakpoint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Right-click it -&gt; Edit condition</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Condition: i == _items.length</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debugPrint, not print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debugger() from dart:developer</a:t>
            </a:r>
            <a:endParaRPr lang="en-US" sz="1200" dirty="0"/>
          </a:p>
        </p:txBody>
      </p:sp>
      <p:sp>
        <p:nvSpPr>
          <p:cNvPr id="9" name="Text 7"/>
          <p:cNvSpPr/>
          <p:nvPr/>
        </p:nvSpPr>
        <p:spPr>
          <a:xfrm>
            <a:off x="7863840" y="4526280"/>
            <a:ext cx="3520440" cy="292608"/>
          </a:xfrm>
          <a:prstGeom prst="rect">
            <a:avLst/>
          </a:prstGeom>
          <a:noFill/>
          <a:ln/>
        </p:spPr>
        <p:txBody>
          <a:bodyPr wrap="square" lIns="0" tIns="0" rIns="0" bIns="0" rtlCol="0" anchor="ctr"/>
          <a:lstStyle/>
          <a:p>
            <a:pPr indent="0" marL="0">
              <a:buNone/>
            </a:pPr>
            <a:r>
              <a:rPr lang="en-US" sz="1100" b="1" spc="150" kern="0" dirty="0">
                <a:solidFill>
                  <a:srgbClr val="0071E3"/>
                </a:solidFill>
                <a:latin typeface="Arial" pitchFamily="34" charset="0"/>
                <a:ea typeface="Arial" pitchFamily="34" charset="-122"/>
                <a:cs typeface="Arial" pitchFamily="34" charset="-120"/>
              </a:rPr>
              <a:t>Done when</a:t>
            </a:r>
            <a:endParaRPr lang="en-US" sz="1100" dirty="0"/>
          </a:p>
        </p:txBody>
      </p:sp>
      <p:sp>
        <p:nvSpPr>
          <p:cNvPr id="10" name="Text 8"/>
          <p:cNvSpPr/>
          <p:nvPr/>
        </p:nvSpPr>
        <p:spPr>
          <a:xfrm>
            <a:off x="7863840" y="4892040"/>
            <a:ext cx="3520440" cy="146304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All three bugs reproduced, then fixed</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One screenshot per bug, paused at the breakpoint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Screenshots committed in /screenshots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10</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REFERENCE</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Breakpoints, conditions and debugPrint</a:t>
            </a:r>
            <a:endParaRPr lang="en-US" sz="3000" dirty="0"/>
          </a:p>
        </p:txBody>
      </p:sp>
      <p:sp>
        <p:nvSpPr>
          <p:cNvPr id="5" name="Text 3"/>
          <p:cNvSpPr/>
          <p:nvPr/>
        </p:nvSpPr>
        <p:spPr>
          <a:xfrm>
            <a:off x="822960" y="1783080"/>
            <a:ext cx="6126480" cy="3291840"/>
          </a:xfrm>
          <a:prstGeom prst="rect">
            <a:avLst/>
          </a:prstGeom>
          <a:noFill/>
          <a:ln/>
        </p:spPr>
        <p:txBody>
          <a:bodyPr wrap="square" lIns="0" tIns="0" rIns="0" bIns="0" rtlCol="0" anchor="t"/>
          <a:lstStyle/>
          <a:p>
            <a:pPr indent="0" marL="0">
              <a:spcAft>
                <a:spcPts val="1300"/>
              </a:spcAft>
              <a:buNone/>
            </a:pPr>
            <a:r>
              <a:rPr lang="en-US" sz="1300" dirty="0">
                <a:solidFill>
                  <a:srgbClr val="1D1D1F"/>
                </a:solidFill>
                <a:latin typeface="Arial" pitchFamily="34" charset="0"/>
                <a:ea typeface="Arial" pitchFamily="34" charset="-122"/>
                <a:cs typeface="Arial" pitchFamily="34" charset="-120"/>
              </a:rPr>
              <a:t>A breakpoint pauses the isolate. While paused you can hover any variable, edit it in the Variables pane, and evaluate arbitrary Dart in the debug console.</a:t>
            </a:r>
            <a:endParaRPr lang="en-US" sz="1300" dirty="0"/>
          </a:p>
          <a:p>
            <a:pPr indent="0" marL="0">
              <a:spcAft>
                <a:spcPts val="1300"/>
              </a:spcAft>
              <a:buNone/>
            </a:pPr>
            <a:r>
              <a:rPr lang="en-US" sz="1300" dirty="0">
                <a:solidFill>
                  <a:srgbClr val="1D1D1F"/>
                </a:solidFill>
                <a:latin typeface="Arial" pitchFamily="34" charset="0"/>
                <a:ea typeface="Arial" pitchFamily="34" charset="-122"/>
                <a:cs typeface="Arial" pitchFamily="34" charset="-120"/>
              </a:rPr>
              <a:t>A conditional breakpoint only stops when its expression is true: i == _items.length, or todo.title == 'milk'. Far more precise than a print inside a loop.</a:t>
            </a:r>
            <a:endParaRPr lang="en-US" sz="1300" dirty="0"/>
          </a:p>
          <a:p>
            <a:pPr indent="0" marL="0">
              <a:spcAft>
                <a:spcPts val="1300"/>
              </a:spcAft>
              <a:buNone/>
            </a:pPr>
            <a:r>
              <a:rPr lang="en-US" sz="1300" dirty="0">
                <a:solidFill>
                  <a:srgbClr val="1D1D1F"/>
                </a:solidFill>
                <a:latin typeface="Arial" pitchFamily="34" charset="0"/>
                <a:ea typeface="Arial" pitchFamily="34" charset="-122"/>
                <a:cs typeface="Arial" pitchFamily="34" charset="-120"/>
              </a:rPr>
              <a:t>debugPrint throttles its output so Android does not silently drop lines; plain print will lose them when a loop is noisy.</a:t>
            </a:r>
            <a:endParaRPr lang="en-US" sz="1300" dirty="0"/>
          </a:p>
          <a:p>
            <a:pPr indent="0" marL="0">
              <a:spcAft>
                <a:spcPts val="1300"/>
              </a:spcAft>
              <a:buNone/>
            </a:pPr>
            <a:r>
              <a:rPr lang="en-US" sz="1300" dirty="0">
                <a:solidFill>
                  <a:srgbClr val="1D1D1F"/>
                </a:solidFill>
                <a:latin typeface="Arial" pitchFamily="34" charset="0"/>
                <a:ea typeface="Arial" pitchFamily="34" charset="-122"/>
                <a:cs typeface="Arial" pitchFamily="34" charset="-120"/>
              </a:rPr>
              <a:t>Hot reload keeps your State objects; hot restart throws them away. If a fix does not appear on screen, that is nearly always the reason.</a:t>
            </a:r>
            <a:endParaRPr lang="en-US" sz="1300" dirty="0"/>
          </a:p>
        </p:txBody>
      </p:sp>
      <p:sp>
        <p:nvSpPr>
          <p:cNvPr id="6" name="Text 4"/>
          <p:cNvSpPr/>
          <p:nvPr/>
        </p:nvSpPr>
        <p:spPr>
          <a:xfrm>
            <a:off x="7498080" y="1810512"/>
            <a:ext cx="4023360" cy="292608"/>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Step over</a:t>
            </a:r>
            <a:endParaRPr lang="en-US" sz="1400" dirty="0"/>
          </a:p>
        </p:txBody>
      </p:sp>
      <p:sp>
        <p:nvSpPr>
          <p:cNvPr id="7" name="Text 5"/>
          <p:cNvSpPr/>
          <p:nvPr/>
        </p:nvSpPr>
        <p:spPr>
          <a:xfrm>
            <a:off x="7498080" y="2112264"/>
            <a:ext cx="4023360" cy="502920"/>
          </a:xfrm>
          <a:prstGeom prst="rect">
            <a:avLst/>
          </a:prstGeom>
          <a:noFill/>
          <a:ln/>
        </p:spPr>
        <p:txBody>
          <a:bodyPr wrap="square" lIns="0" tIns="0" rIns="0" bIns="0" rtlCol="0" anchor="t"/>
          <a:lstStyle/>
          <a:p>
            <a:pPr indent="0" marL="0">
              <a:buNone/>
            </a:pPr>
            <a:r>
              <a:rPr lang="en-US" sz="1150" dirty="0">
                <a:solidFill>
                  <a:srgbClr val="86868B"/>
                </a:solidFill>
                <a:latin typeface="Arial" pitchFamily="34" charset="0"/>
                <a:ea typeface="Arial" pitchFamily="34" charset="-122"/>
                <a:cs typeface="Arial" pitchFamily="34" charset="-120"/>
              </a:rPr>
              <a:t>Run this line. Do not descend into the calls on it.</a:t>
            </a:r>
            <a:endParaRPr lang="en-US" sz="1150" dirty="0"/>
          </a:p>
        </p:txBody>
      </p:sp>
      <p:sp>
        <p:nvSpPr>
          <p:cNvPr id="8" name="Shape 6"/>
          <p:cNvSpPr/>
          <p:nvPr/>
        </p:nvSpPr>
        <p:spPr>
          <a:xfrm>
            <a:off x="7498080" y="2651760"/>
            <a:ext cx="4023360" cy="0"/>
          </a:xfrm>
          <a:prstGeom prst="line">
            <a:avLst/>
          </a:prstGeom>
          <a:noFill/>
          <a:ln w="9525">
            <a:solidFill>
              <a:srgbClr val="D2D2D7"/>
            </a:solidFill>
            <a:prstDash val="solid"/>
          </a:ln>
        </p:spPr>
      </p:sp>
      <p:sp>
        <p:nvSpPr>
          <p:cNvPr id="9" name="Text 7"/>
          <p:cNvSpPr/>
          <p:nvPr/>
        </p:nvSpPr>
        <p:spPr>
          <a:xfrm>
            <a:off x="7498080" y="2779776"/>
            <a:ext cx="4023360" cy="292608"/>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Step into</a:t>
            </a:r>
            <a:endParaRPr lang="en-US" sz="1400" dirty="0"/>
          </a:p>
        </p:txBody>
      </p:sp>
      <p:sp>
        <p:nvSpPr>
          <p:cNvPr id="10" name="Text 8"/>
          <p:cNvSpPr/>
          <p:nvPr/>
        </p:nvSpPr>
        <p:spPr>
          <a:xfrm>
            <a:off x="7498080" y="3081528"/>
            <a:ext cx="4023360" cy="502920"/>
          </a:xfrm>
          <a:prstGeom prst="rect">
            <a:avLst/>
          </a:prstGeom>
          <a:noFill/>
          <a:ln/>
        </p:spPr>
        <p:txBody>
          <a:bodyPr wrap="square" lIns="0" tIns="0" rIns="0" bIns="0" rtlCol="0" anchor="t"/>
          <a:lstStyle/>
          <a:p>
            <a:pPr indent="0" marL="0">
              <a:buNone/>
            </a:pPr>
            <a:r>
              <a:rPr lang="en-US" sz="1150" dirty="0">
                <a:solidFill>
                  <a:srgbClr val="86868B"/>
                </a:solidFill>
                <a:latin typeface="Arial" pitchFamily="34" charset="0"/>
                <a:ea typeface="Arial" pitchFamily="34" charset="-122"/>
                <a:cs typeface="Arial" pitchFamily="34" charset="-120"/>
              </a:rPr>
              <a:t>Descend into the call on this line.</a:t>
            </a:r>
            <a:endParaRPr lang="en-US" sz="1150" dirty="0"/>
          </a:p>
        </p:txBody>
      </p:sp>
      <p:sp>
        <p:nvSpPr>
          <p:cNvPr id="11" name="Shape 9"/>
          <p:cNvSpPr/>
          <p:nvPr/>
        </p:nvSpPr>
        <p:spPr>
          <a:xfrm>
            <a:off x="7498080" y="3621024"/>
            <a:ext cx="4023360" cy="0"/>
          </a:xfrm>
          <a:prstGeom prst="line">
            <a:avLst/>
          </a:prstGeom>
          <a:noFill/>
          <a:ln w="9525">
            <a:solidFill>
              <a:srgbClr val="D2D2D7"/>
            </a:solidFill>
            <a:prstDash val="solid"/>
          </a:ln>
        </p:spPr>
      </p:sp>
      <p:sp>
        <p:nvSpPr>
          <p:cNvPr id="12" name="Text 10"/>
          <p:cNvSpPr/>
          <p:nvPr/>
        </p:nvSpPr>
        <p:spPr>
          <a:xfrm>
            <a:off x="7498080" y="3749040"/>
            <a:ext cx="4023360" cy="292608"/>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Step out</a:t>
            </a:r>
            <a:endParaRPr lang="en-US" sz="1400" dirty="0"/>
          </a:p>
        </p:txBody>
      </p:sp>
      <p:sp>
        <p:nvSpPr>
          <p:cNvPr id="13" name="Text 11"/>
          <p:cNvSpPr/>
          <p:nvPr/>
        </p:nvSpPr>
        <p:spPr>
          <a:xfrm>
            <a:off x="7498080" y="4050792"/>
            <a:ext cx="4023360" cy="502920"/>
          </a:xfrm>
          <a:prstGeom prst="rect">
            <a:avLst/>
          </a:prstGeom>
          <a:noFill/>
          <a:ln/>
        </p:spPr>
        <p:txBody>
          <a:bodyPr wrap="square" lIns="0" tIns="0" rIns="0" bIns="0" rtlCol="0" anchor="t"/>
          <a:lstStyle/>
          <a:p>
            <a:pPr indent="0" marL="0">
              <a:buNone/>
            </a:pPr>
            <a:r>
              <a:rPr lang="en-US" sz="1150" dirty="0">
                <a:solidFill>
                  <a:srgbClr val="86868B"/>
                </a:solidFill>
                <a:latin typeface="Arial" pitchFamily="34" charset="0"/>
                <a:ea typeface="Arial" pitchFamily="34" charset="-122"/>
                <a:cs typeface="Arial" pitchFamily="34" charset="-120"/>
              </a:rPr>
              <a:t>Finish this function, stop back at the caller.</a:t>
            </a:r>
            <a:endParaRPr lang="en-US" sz="1150" dirty="0"/>
          </a:p>
        </p:txBody>
      </p:sp>
      <p:sp>
        <p:nvSpPr>
          <p:cNvPr id="14" name="Shape 12"/>
          <p:cNvSpPr/>
          <p:nvPr/>
        </p:nvSpPr>
        <p:spPr>
          <a:xfrm>
            <a:off x="7498080" y="4590288"/>
            <a:ext cx="4023360" cy="0"/>
          </a:xfrm>
          <a:prstGeom prst="line">
            <a:avLst/>
          </a:prstGeom>
          <a:noFill/>
          <a:ln w="9525">
            <a:solidFill>
              <a:srgbClr val="D2D2D7"/>
            </a:solidFill>
            <a:prstDash val="solid"/>
          </a:ln>
        </p:spPr>
      </p:sp>
      <p:sp>
        <p:nvSpPr>
          <p:cNvPr id="15" name="Text 13"/>
          <p:cNvSpPr/>
          <p:nvPr/>
        </p:nvSpPr>
        <p:spPr>
          <a:xfrm>
            <a:off x="7498080" y="4718304"/>
            <a:ext cx="4023360" cy="292608"/>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Resume</a:t>
            </a:r>
            <a:endParaRPr lang="en-US" sz="1400" dirty="0"/>
          </a:p>
        </p:txBody>
      </p:sp>
      <p:sp>
        <p:nvSpPr>
          <p:cNvPr id="16" name="Text 14"/>
          <p:cNvSpPr/>
          <p:nvPr/>
        </p:nvSpPr>
        <p:spPr>
          <a:xfrm>
            <a:off x="7498080" y="5020056"/>
            <a:ext cx="4023360" cy="502920"/>
          </a:xfrm>
          <a:prstGeom prst="rect">
            <a:avLst/>
          </a:prstGeom>
          <a:noFill/>
          <a:ln/>
        </p:spPr>
        <p:txBody>
          <a:bodyPr wrap="square" lIns="0" tIns="0" rIns="0" bIns="0" rtlCol="0" anchor="t"/>
          <a:lstStyle/>
          <a:p>
            <a:pPr indent="0" marL="0">
              <a:buNone/>
            </a:pPr>
            <a:r>
              <a:rPr lang="en-US" sz="1150" dirty="0">
                <a:solidFill>
                  <a:srgbClr val="86868B"/>
                </a:solidFill>
                <a:latin typeface="Arial" pitchFamily="34" charset="0"/>
                <a:ea typeface="Arial" pitchFamily="34" charset="-122"/>
                <a:cs typeface="Arial" pitchFamily="34" charset="-120"/>
              </a:rPr>
              <a:t>Run to the next breakpoint, or until the app exits.</a:t>
            </a:r>
            <a:endParaRPr lang="en-US" sz="1150" dirty="0"/>
          </a:p>
        </p:txBody>
      </p:sp>
      <p:sp>
        <p:nvSpPr>
          <p:cNvPr id="17" name="Shape 15"/>
          <p:cNvSpPr/>
          <p:nvPr/>
        </p:nvSpPr>
        <p:spPr>
          <a:xfrm>
            <a:off x="822960" y="5349240"/>
            <a:ext cx="10543032" cy="0"/>
          </a:xfrm>
          <a:prstGeom prst="line">
            <a:avLst/>
          </a:prstGeom>
          <a:noFill/>
          <a:ln w="9525">
            <a:solidFill>
              <a:srgbClr val="D2D2D7"/>
            </a:solidFill>
            <a:prstDash val="solid"/>
          </a:ln>
        </p:spPr>
      </p:sp>
      <p:sp>
        <p:nvSpPr>
          <p:cNvPr id="18" name="Text 16"/>
          <p:cNvSpPr/>
          <p:nvPr/>
        </p:nvSpPr>
        <p:spPr>
          <a:xfrm>
            <a:off x="822960" y="557784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A breakpoint you can leave in place beats a print you have to delete.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11</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TASK III</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Inspector, render tree and rebuild counts</a:t>
            </a:r>
            <a:endParaRPr lang="en-US" sz="3000" dirty="0"/>
          </a:p>
        </p:txBody>
      </p:sp>
      <p:sp>
        <p:nvSpPr>
          <p:cNvPr id="5" name="Text 3"/>
          <p:cNvSpPr/>
          <p:nvPr/>
        </p:nvSpPr>
        <p:spPr>
          <a:xfrm>
            <a:off x="822960" y="1783080"/>
            <a:ext cx="6675120" cy="457200"/>
          </a:xfrm>
          <a:prstGeom prst="rect">
            <a:avLst/>
          </a:prstGeom>
          <a:noFill/>
          <a:ln/>
        </p:spPr>
        <p:txBody>
          <a:bodyPr wrap="square" lIns="0" tIns="0" rIns="0" bIns="0" rtlCol="0" anchor="ctr"/>
          <a:lstStyle/>
          <a:p>
            <a:pPr indent="0" marL="0">
              <a:buNone/>
            </a:pPr>
            <a:r>
              <a:rPr lang="en-US" sz="1400" dirty="0">
                <a:solidFill>
                  <a:srgbClr val="86868B"/>
                </a:solidFill>
                <a:latin typeface="Arial" pitchFamily="34" charset="0"/>
                <a:ea typeface="Arial" pitchFamily="34" charset="-122"/>
                <a:cs typeface="Arial" pitchFamily="34" charset="-120"/>
              </a:rPr>
              <a:t>With the fixed app running, open the Inspector tab in DevTools.</a:t>
            </a:r>
            <a:endParaRPr lang="en-US" sz="1400" dirty="0"/>
          </a:p>
        </p:txBody>
      </p:sp>
      <p:sp>
        <p:nvSpPr>
          <p:cNvPr id="6" name="Text 4"/>
          <p:cNvSpPr/>
          <p:nvPr/>
        </p:nvSpPr>
        <p:spPr>
          <a:xfrm>
            <a:off x="822960" y="2350008"/>
            <a:ext cx="6675120" cy="3776472"/>
          </a:xfrm>
          <a:prstGeom prst="rect">
            <a:avLst/>
          </a:prstGeom>
          <a:noFill/>
          <a:ln/>
        </p:spPr>
        <p:txBody>
          <a:bodyPr wrap="square" lIns="0" tIns="0" rIns="0" bIns="0" rtlCol="0" anchor="t"/>
          <a:lstStyle/>
          <a:p>
            <a:pPr marL="342900" indent="-342900">
              <a:spcAft>
                <a:spcPts val="1100"/>
              </a:spcAft>
              <a:buSzPct val="100000"/>
              <a:buFont typeface="+mj-lt"/>
              <a:buAutoNum type="arabicPeriod" startAt="1"/>
            </a:pPr>
            <a:r>
              <a:rPr lang="en-US" sz="1350" dirty="0">
                <a:solidFill>
                  <a:srgbClr val="1D1D1F"/>
                </a:solidFill>
                <a:latin typeface="Arial" pitchFamily="34" charset="0"/>
                <a:ea typeface="Arial" pitchFamily="34" charset="-122"/>
                <a:cs typeface="Arial" pitchFamily="34" charset="-120"/>
              </a:rPr>
              <a:t>Turn on Select Widget Mode and tap a single todo row on the device</a:t>
            </a:r>
            <a:endParaRPr lang="en-US" sz="1350" dirty="0"/>
          </a:p>
          <a:p>
            <a:pPr marL="342900" indent="-342900">
              <a:spcAft>
                <a:spcPts val="1100"/>
              </a:spcAft>
              <a:buSzPct val="100000"/>
              <a:buFont typeface="+mj-lt"/>
              <a:buAutoNum type="arabicPeriod" startAt="2"/>
            </a:pPr>
            <a:r>
              <a:rPr lang="en-US" sz="1350" dirty="0">
                <a:solidFill>
                  <a:srgbClr val="1D1D1F"/>
                </a:solidFill>
                <a:latin typeface="Arial" pitchFamily="34" charset="0"/>
                <a:ea typeface="Arial" pitchFamily="34" charset="-122"/>
                <a:cs typeface="Arial" pitchFamily="34" charset="-120"/>
              </a:rPr>
              <a:t>Screenshot the widget tree with that row selected, showing the widget the framework picked</a:t>
            </a:r>
            <a:endParaRPr lang="en-US" sz="1350" dirty="0"/>
          </a:p>
          <a:p>
            <a:pPr marL="342900" indent="-342900">
              <a:spcAft>
                <a:spcPts val="1100"/>
              </a:spcAft>
              <a:buSzPct val="100000"/>
              <a:buFont typeface="+mj-lt"/>
              <a:buAutoNum type="arabicPeriod" startAt="3"/>
            </a:pPr>
            <a:r>
              <a:rPr lang="en-US" sz="1350" dirty="0">
                <a:solidFill>
                  <a:srgbClr val="1D1D1F"/>
                </a:solidFill>
                <a:latin typeface="Arial" pitchFamily="34" charset="0"/>
                <a:ea typeface="Arial" pitchFamily="34" charset="-122"/>
                <a:cs typeface="Arial" pitchFamily="34" charset="-120"/>
              </a:rPr>
              <a:t>Open the Layout Explorer on the Row or Column of that row and note the flex factors and incoming constraints</a:t>
            </a:r>
            <a:endParaRPr lang="en-US" sz="1350" dirty="0"/>
          </a:p>
          <a:p>
            <a:pPr marL="342900" indent="-342900">
              <a:spcAft>
                <a:spcPts val="1100"/>
              </a:spcAft>
              <a:buSzPct val="100000"/>
              <a:buFont typeface="+mj-lt"/>
              <a:buAutoNum type="arabicPeriod" startAt="4"/>
            </a:pPr>
            <a:r>
              <a:rPr lang="en-US" sz="1350" dirty="0">
                <a:solidFill>
                  <a:srgbClr val="1D1D1F"/>
                </a:solidFill>
                <a:latin typeface="Arial" pitchFamily="34" charset="0"/>
                <a:ea typeface="Arial" pitchFamily="34" charset="-122"/>
                <a:cs typeface="Arial" pitchFamily="34" charset="-120"/>
              </a:rPr>
              <a:t>Call debugDumpRenderTree() from a button handler and capture the render tree it prints to the console</a:t>
            </a:r>
            <a:endParaRPr lang="en-US" sz="1350" dirty="0"/>
          </a:p>
          <a:p>
            <a:pPr marL="342900" indent="-342900">
              <a:spcAft>
                <a:spcPts val="1100"/>
              </a:spcAft>
              <a:buSzPct val="100000"/>
              <a:buFont typeface="+mj-lt"/>
              <a:buAutoNum type="arabicPeriod" startAt="5"/>
            </a:pPr>
            <a:r>
              <a:rPr lang="en-US" sz="1350" dirty="0">
                <a:solidFill>
                  <a:srgbClr val="1D1D1F"/>
                </a:solidFill>
                <a:latin typeface="Arial" pitchFamily="34" charset="0"/>
                <a:ea typeface="Arial" pitchFamily="34" charset="-122"/>
                <a:cs typeface="Arial" pitchFamily="34" charset="-120"/>
              </a:rPr>
              <a:t>Turn on Track widget rebuilds, then type one single character into the text field</a:t>
            </a:r>
            <a:endParaRPr lang="en-US" sz="1350" dirty="0"/>
          </a:p>
          <a:p>
            <a:pPr marL="342900" indent="-342900">
              <a:spcAft>
                <a:spcPts val="1100"/>
              </a:spcAft>
              <a:buSzPct val="100000"/>
              <a:buFont typeface="+mj-lt"/>
              <a:buAutoNum type="arabicPeriod" startAt="6"/>
            </a:pPr>
            <a:r>
              <a:rPr lang="en-US" sz="1350" dirty="0">
                <a:solidFill>
                  <a:srgbClr val="1D1D1F"/>
                </a:solidFill>
                <a:latin typeface="Arial" pitchFamily="34" charset="0"/>
                <a:ea typeface="Arial" pitchFamily="34" charset="-122"/>
                <a:cs typeface="Arial" pitchFamily="34" charset="-120"/>
              </a:rPr>
              <a:t>Write down which widgets rebuilt, and add one sentence to your README explaining why the rest did not</a:t>
            </a:r>
            <a:endParaRPr lang="en-US" sz="1350" dirty="0"/>
          </a:p>
        </p:txBody>
      </p:sp>
      <p:sp>
        <p:nvSpPr>
          <p:cNvPr id="7" name="Text 5"/>
          <p:cNvSpPr/>
          <p:nvPr/>
        </p:nvSpPr>
        <p:spPr>
          <a:xfrm>
            <a:off x="7863840" y="1783080"/>
            <a:ext cx="3520440" cy="292608"/>
          </a:xfrm>
          <a:prstGeom prst="rect">
            <a:avLst/>
          </a:prstGeom>
          <a:noFill/>
          <a:ln/>
        </p:spPr>
        <p:txBody>
          <a:bodyPr wrap="square" lIns="0" tIns="0" rIns="0" bIns="0" rtlCol="0" anchor="ctr"/>
          <a:lstStyle/>
          <a:p>
            <a:pPr indent="0" marL="0">
              <a:buNone/>
            </a:pPr>
            <a:r>
              <a:rPr lang="en-US" sz="1100" b="1" spc="150" kern="0" dirty="0">
                <a:solidFill>
                  <a:srgbClr val="86868B"/>
                </a:solidFill>
                <a:latin typeface="Arial" pitchFamily="34" charset="0"/>
                <a:ea typeface="Arial" pitchFamily="34" charset="-122"/>
                <a:cs typeface="Arial" pitchFamily="34" charset="-120"/>
              </a:rPr>
              <a:t>Hints</a:t>
            </a:r>
            <a:endParaRPr lang="en-US" sz="1100" dirty="0"/>
          </a:p>
        </p:txBody>
      </p:sp>
      <p:sp>
        <p:nvSpPr>
          <p:cNvPr id="8" name="Text 6"/>
          <p:cNvSpPr/>
          <p:nvPr/>
        </p:nvSpPr>
        <p:spPr>
          <a:xfrm>
            <a:off x="7863840" y="2148840"/>
            <a:ext cx="3520440" cy="219456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Inspector &gt; Select Widget Mode</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Track widget rebuilds (Inspector toolbar)</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debugDumpRenderTree(), debugDumpApp()</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import 'package:flutter/rendering.dart'</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Layout Explorer for the yellow stripes</a:t>
            </a:r>
            <a:endParaRPr lang="en-US" sz="1200" dirty="0"/>
          </a:p>
        </p:txBody>
      </p:sp>
      <p:sp>
        <p:nvSpPr>
          <p:cNvPr id="9" name="Text 7"/>
          <p:cNvSpPr/>
          <p:nvPr/>
        </p:nvSpPr>
        <p:spPr>
          <a:xfrm>
            <a:off x="7863840" y="4526280"/>
            <a:ext cx="3520440" cy="292608"/>
          </a:xfrm>
          <a:prstGeom prst="rect">
            <a:avLst/>
          </a:prstGeom>
          <a:noFill/>
          <a:ln/>
        </p:spPr>
        <p:txBody>
          <a:bodyPr wrap="square" lIns="0" tIns="0" rIns="0" bIns="0" rtlCol="0" anchor="ctr"/>
          <a:lstStyle/>
          <a:p>
            <a:pPr indent="0" marL="0">
              <a:buNone/>
            </a:pPr>
            <a:r>
              <a:rPr lang="en-US" sz="1100" b="1" spc="150" kern="0" dirty="0">
                <a:solidFill>
                  <a:srgbClr val="0071E3"/>
                </a:solidFill>
                <a:latin typeface="Arial" pitchFamily="34" charset="0"/>
                <a:ea typeface="Arial" pitchFamily="34" charset="-122"/>
                <a:cs typeface="Arial" pitchFamily="34" charset="-120"/>
              </a:rPr>
              <a:t>Done when</a:t>
            </a:r>
            <a:endParaRPr lang="en-US" sz="1100" dirty="0"/>
          </a:p>
        </p:txBody>
      </p:sp>
      <p:sp>
        <p:nvSpPr>
          <p:cNvPr id="10" name="Text 8"/>
          <p:cNvSpPr/>
          <p:nvPr/>
        </p:nvSpPr>
        <p:spPr>
          <a:xfrm>
            <a:off x="7863840" y="4892040"/>
            <a:ext cx="3520440" cy="1463040"/>
          </a:xfrm>
          <a:prstGeom prst="rect">
            <a:avLst/>
          </a:prstGeom>
          <a:noFill/>
          <a:ln/>
        </p:spPr>
        <p:txBody>
          <a:bodyPr wrap="square" lIns="0" tIns="0" rIns="0" bIns="0" rtlCol="0" anchor="t"/>
          <a:lstStyle/>
          <a:p>
            <a:pPr indent="0" marL="0">
              <a:spcAft>
                <a:spcPts val="900"/>
              </a:spcAft>
              <a:buNone/>
            </a:pPr>
            <a:r>
              <a:rPr lang="en-US" sz="1200" dirty="0">
                <a:solidFill>
                  <a:srgbClr val="1D1D1F"/>
                </a:solidFill>
                <a:latin typeface="Arial" pitchFamily="34" charset="0"/>
                <a:ea typeface="Arial" pitchFamily="34" charset="-122"/>
                <a:cs typeface="Arial" pitchFamily="34" charset="-120"/>
              </a:rPr>
              <a:t>Screenshots of the widget tree and rebuild counts</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Render tree output captured</a:t>
            </a:r>
            <a:endParaRPr lang="en-US" sz="1200" dirty="0"/>
          </a:p>
          <a:p>
            <a:pPr indent="0" marL="0">
              <a:spcAft>
                <a:spcPts val="900"/>
              </a:spcAft>
              <a:buNone/>
            </a:pPr>
            <a:r>
              <a:rPr lang="en-US" sz="1200" dirty="0">
                <a:solidFill>
                  <a:srgbClr val="1D1D1F"/>
                </a:solidFill>
                <a:latin typeface="Arial" pitchFamily="34" charset="0"/>
                <a:ea typeface="Arial" pitchFamily="34" charset="-122"/>
                <a:cs typeface="Arial" pitchFamily="34" charset="-120"/>
              </a:rPr>
              <a:t>Explanation committed in README.md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12</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WHY IT WORKS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What actually rebuilds, and why</a:t>
            </a:r>
            <a:endParaRPr lang="en-US" sz="3000" dirty="0"/>
          </a:p>
        </p:txBody>
      </p:sp>
      <p:sp>
        <p:nvSpPr>
          <p:cNvPr id="5" name="Text 3"/>
          <p:cNvSpPr/>
          <p:nvPr/>
        </p:nvSpPr>
        <p:spPr>
          <a:xfrm>
            <a:off x="822960" y="1783080"/>
            <a:ext cx="6309360" cy="3383280"/>
          </a:xfrm>
          <a:prstGeom prst="rect">
            <a:avLst/>
          </a:prstGeom>
          <a:noFill/>
          <a:ln/>
        </p:spPr>
        <p:txBody>
          <a:bodyPr wrap="square" lIns="0" tIns="0" rIns="0" bIns="0" rtlCol="0" anchor="t"/>
          <a:lstStyle/>
          <a:p>
            <a:pPr indent="0" marL="0">
              <a:spcAft>
                <a:spcPts val="1200"/>
              </a:spcAft>
              <a:buNone/>
            </a:pPr>
            <a:r>
              <a:rPr lang="en-US" sz="1250" dirty="0">
                <a:solidFill>
                  <a:srgbClr val="1D1D1F"/>
                </a:solidFill>
                <a:latin typeface="Arial" pitchFamily="34" charset="0"/>
                <a:ea typeface="Arial" pitchFamily="34" charset="-122"/>
                <a:cs typeface="Arial" pitchFamily="34" charset="-120"/>
              </a:rPr>
              <a:t>Flutter does not rebuild the whole widget tree each frame. setState marks one element dirty, and only that subtree is rebuilt on the next frame. Your rebuild counts should show exactly that.</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Walking a rebuilt subtree, the framework reuses the existing element, and with it the State object and the render object, when the new widget has the same runtimeType and the same key. A different type, or a different key, and the old element is discarded.</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That is why your list keeps its scroll position when one item changes, and why keys start to matter the moment items can be reordered or removed from the middle.</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One frame budget is 1 ÷ refresh rate: 16.7 ms at 60 Hz, 8.3 ms at 120 Hz on most 2026 phones. There is no fixed 16 ms rule to memorize.</a:t>
            </a:r>
            <a:endParaRPr lang="en-US" sz="1250" dirty="0"/>
          </a:p>
        </p:txBody>
      </p:sp>
      <p:sp>
        <p:nvSpPr>
          <p:cNvPr id="6" name="Shape 4"/>
          <p:cNvSpPr/>
          <p:nvPr/>
        </p:nvSpPr>
        <p:spPr>
          <a:xfrm>
            <a:off x="7680960" y="1828800"/>
            <a:ext cx="3657600" cy="914400"/>
          </a:xfrm>
          <a:prstGeom prst="roundRect">
            <a:avLst>
              <a:gd name="adj" fmla="val 9000"/>
            </a:avLst>
          </a:prstGeom>
          <a:solidFill>
            <a:srgbClr val="FFFFFF"/>
          </a:solidFill>
          <a:ln w="12700">
            <a:solidFill>
              <a:srgbClr val="D2D2D7"/>
            </a:solidFill>
            <a:prstDash val="solid"/>
          </a:ln>
        </p:spPr>
      </p:sp>
      <p:sp>
        <p:nvSpPr>
          <p:cNvPr id="7" name="Text 5"/>
          <p:cNvSpPr/>
          <p:nvPr/>
        </p:nvSpPr>
        <p:spPr>
          <a:xfrm>
            <a:off x="7680960" y="1828800"/>
            <a:ext cx="3657600" cy="914400"/>
          </a:xfrm>
          <a:prstGeom prst="rect">
            <a:avLst/>
          </a:prstGeom>
          <a:noFill/>
          <a:ln/>
        </p:spPr>
        <p:txBody>
          <a:bodyPr wrap="square" lIns="0" tIns="0" rIns="0" bIns="0" rtlCol="0" anchor="ctr"/>
          <a:lstStyle/>
          <a:p>
            <a:pPr algn="ctr" indent="0" marL="0">
              <a:buNone/>
            </a:pPr>
            <a:r>
              <a:rPr lang="en-US" sz="1350" b="1" dirty="0">
                <a:solidFill>
                  <a:srgbClr val="1D1D1F"/>
                </a:solidFill>
                <a:latin typeface="Arial" pitchFamily="34" charset="0"/>
                <a:ea typeface="Arial" pitchFamily="34" charset="-122"/>
                <a:cs typeface="Arial" pitchFamily="34" charset="-120"/>
              </a:rPr>
              <a:t>Widget</a:t>
            </a:r>
            <a:endParaRPr lang="en-US" sz="1350" dirty="0"/>
          </a:p>
          <a:p>
            <a:pPr algn="ctr" indent="0" marL="0">
              <a:buNone/>
            </a:pPr>
            <a:r>
              <a:rPr lang="en-US" sz="1100" dirty="0">
                <a:solidFill>
                  <a:srgbClr val="86868B"/>
                </a:solidFill>
                <a:latin typeface="Arial" pitchFamily="34" charset="0"/>
                <a:ea typeface="Arial" pitchFamily="34" charset="-122"/>
                <a:cs typeface="Arial" pitchFamily="34" charset="-120"/>
              </a:rPr>
              <a:t>immutable description</a:t>
            </a:r>
            <a:endParaRPr lang="en-US" sz="1350" dirty="0"/>
          </a:p>
        </p:txBody>
      </p:sp>
      <p:sp>
        <p:nvSpPr>
          <p:cNvPr id="8" name="Shape 6"/>
          <p:cNvSpPr/>
          <p:nvPr/>
        </p:nvSpPr>
        <p:spPr>
          <a:xfrm>
            <a:off x="9509760" y="2743200"/>
            <a:ext cx="0" cy="329184"/>
          </a:xfrm>
          <a:prstGeom prst="line">
            <a:avLst/>
          </a:prstGeom>
          <a:noFill/>
          <a:ln w="15875">
            <a:solidFill>
              <a:srgbClr val="86868B"/>
            </a:solidFill>
            <a:prstDash val="solid"/>
            <a:tailEnd type="triangle"/>
          </a:ln>
        </p:spPr>
      </p:sp>
      <p:sp>
        <p:nvSpPr>
          <p:cNvPr id="9" name="Shape 7"/>
          <p:cNvSpPr/>
          <p:nvPr/>
        </p:nvSpPr>
        <p:spPr>
          <a:xfrm>
            <a:off x="7680960" y="3072384"/>
            <a:ext cx="3657600" cy="914400"/>
          </a:xfrm>
          <a:prstGeom prst="roundRect">
            <a:avLst>
              <a:gd name="adj" fmla="val 9000"/>
            </a:avLst>
          </a:prstGeom>
          <a:solidFill>
            <a:srgbClr val="000000"/>
          </a:solidFill>
          <a:ln/>
        </p:spPr>
      </p:sp>
      <p:sp>
        <p:nvSpPr>
          <p:cNvPr id="10" name="Text 8"/>
          <p:cNvSpPr/>
          <p:nvPr/>
        </p:nvSpPr>
        <p:spPr>
          <a:xfrm>
            <a:off x="7680960" y="3072384"/>
            <a:ext cx="3657600" cy="914400"/>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Element</a:t>
            </a:r>
            <a:endParaRPr lang="en-US" sz="1350" dirty="0"/>
          </a:p>
          <a:p>
            <a:pPr algn="ctr" indent="0" marL="0">
              <a:buNone/>
            </a:pPr>
            <a:r>
              <a:rPr lang="en-US" sz="1100" dirty="0">
                <a:solidFill>
                  <a:srgbClr val="A1A1A6"/>
                </a:solidFill>
                <a:latin typeface="Arial" pitchFamily="34" charset="0"/>
                <a:ea typeface="Arial" pitchFamily="34" charset="-122"/>
                <a:cs typeface="Arial" pitchFamily="34" charset="-120"/>
              </a:rPr>
              <a:t>identity + lifecycle</a:t>
            </a:r>
            <a:endParaRPr lang="en-US" sz="1350" dirty="0"/>
          </a:p>
        </p:txBody>
      </p:sp>
      <p:sp>
        <p:nvSpPr>
          <p:cNvPr id="11" name="Shape 9"/>
          <p:cNvSpPr/>
          <p:nvPr/>
        </p:nvSpPr>
        <p:spPr>
          <a:xfrm>
            <a:off x="9509760" y="3986784"/>
            <a:ext cx="0" cy="329184"/>
          </a:xfrm>
          <a:prstGeom prst="line">
            <a:avLst/>
          </a:prstGeom>
          <a:noFill/>
          <a:ln w="15875">
            <a:solidFill>
              <a:srgbClr val="86868B"/>
            </a:solidFill>
            <a:prstDash val="solid"/>
            <a:tailEnd type="triangle"/>
          </a:ln>
        </p:spPr>
      </p:sp>
      <p:sp>
        <p:nvSpPr>
          <p:cNvPr id="12" name="Shape 10"/>
          <p:cNvSpPr/>
          <p:nvPr/>
        </p:nvSpPr>
        <p:spPr>
          <a:xfrm>
            <a:off x="7680960" y="4315968"/>
            <a:ext cx="3657600" cy="914400"/>
          </a:xfrm>
          <a:prstGeom prst="roundRect">
            <a:avLst>
              <a:gd name="adj" fmla="val 9000"/>
            </a:avLst>
          </a:prstGeom>
          <a:solidFill>
            <a:srgbClr val="FFFFFF"/>
          </a:solidFill>
          <a:ln w="12700">
            <a:solidFill>
              <a:srgbClr val="D2D2D7"/>
            </a:solidFill>
            <a:prstDash val="solid"/>
          </a:ln>
        </p:spPr>
      </p:sp>
      <p:sp>
        <p:nvSpPr>
          <p:cNvPr id="13" name="Text 11"/>
          <p:cNvSpPr/>
          <p:nvPr/>
        </p:nvSpPr>
        <p:spPr>
          <a:xfrm>
            <a:off x="7680960" y="4315968"/>
            <a:ext cx="3657600" cy="914400"/>
          </a:xfrm>
          <a:prstGeom prst="rect">
            <a:avLst/>
          </a:prstGeom>
          <a:noFill/>
          <a:ln/>
        </p:spPr>
        <p:txBody>
          <a:bodyPr wrap="square" lIns="0" tIns="0" rIns="0" bIns="0" rtlCol="0" anchor="ctr"/>
          <a:lstStyle/>
          <a:p>
            <a:pPr algn="ctr" indent="0" marL="0">
              <a:buNone/>
            </a:pPr>
            <a:r>
              <a:rPr lang="en-US" sz="1350" b="1" dirty="0">
                <a:solidFill>
                  <a:srgbClr val="1D1D1F"/>
                </a:solidFill>
                <a:latin typeface="Arial" pitchFamily="34" charset="0"/>
                <a:ea typeface="Arial" pitchFamily="34" charset="-122"/>
                <a:cs typeface="Arial" pitchFamily="34" charset="-120"/>
              </a:rPr>
              <a:t>RenderObject</a:t>
            </a:r>
            <a:endParaRPr lang="en-US" sz="1350" dirty="0"/>
          </a:p>
          <a:p>
            <a:pPr algn="ctr" indent="0" marL="0">
              <a:buNone/>
            </a:pPr>
            <a:r>
              <a:rPr lang="en-US" sz="1100" dirty="0">
                <a:solidFill>
                  <a:srgbClr val="86868B"/>
                </a:solidFill>
                <a:latin typeface="Arial" pitchFamily="34" charset="0"/>
                <a:ea typeface="Arial" pitchFamily="34" charset="-122"/>
                <a:cs typeface="Arial" pitchFamily="34" charset="-120"/>
              </a:rPr>
              <a:t>layout and paint</a:t>
            </a:r>
            <a:endParaRPr lang="en-US" sz="1350" dirty="0"/>
          </a:p>
        </p:txBody>
      </p:sp>
      <p:sp>
        <p:nvSpPr>
          <p:cNvPr id="14" name="Shape 12"/>
          <p:cNvSpPr/>
          <p:nvPr/>
        </p:nvSpPr>
        <p:spPr>
          <a:xfrm>
            <a:off x="822960" y="5394960"/>
            <a:ext cx="10543032" cy="0"/>
          </a:xfrm>
          <a:prstGeom prst="line">
            <a:avLst/>
          </a:prstGeom>
          <a:noFill/>
          <a:ln w="9525">
            <a:solidFill>
              <a:srgbClr val="D2D2D7"/>
            </a:solidFill>
            <a:prstDash val="solid"/>
          </a:ln>
        </p:spPr>
      </p:sp>
      <p:sp>
        <p:nvSpPr>
          <p:cNvPr id="15" name="Text 13"/>
          <p:cNvSpPr/>
          <p:nvPr/>
        </p:nvSpPr>
        <p:spPr>
          <a:xfrm>
            <a:off x="822960" y="562356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Rebuilt is not the same as repainted.</a:t>
            </a:r>
            <a:pPr indent="0" marL="0">
              <a:buNone/>
            </a:pPr>
            <a:r>
              <a:rPr lang="en-US" sz="1400" dirty="0">
                <a:solidFill>
                  <a:srgbClr val="86868B"/>
                </a:solidFill>
                <a:latin typeface="Arial" pitchFamily="34" charset="0"/>
                <a:ea typeface="Arial" pitchFamily="34" charset="-122"/>
                <a:cs typeface="Arial" pitchFamily="34" charset="-120"/>
              </a:rPr>
              <a:t> The inspector counts rebuilds; the performance overlay shows what it cost.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13</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TROUBLESHOOTING</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When it goes wrong</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1920240"/>
          <a:ext cx="10543032" cy="914400"/>
        </p:xfrm>
        <a:graphic>
          <a:graphicData uri="http://schemas.openxmlformats.org/drawingml/2006/table">
            <a:tbl>
              <a:tblPr/>
              <a:tblGrid>
                <a:gridCol w="3200400"/>
                <a:gridCol w="3671316"/>
                <a:gridCol w="3671316"/>
              </a:tblGrid>
              <a:tr h="438912">
                <a:tc>
                  <a:txBody>
                    <a:bodyPr/>
                    <a:lstStyle/>
                    <a:p>
                      <a:pPr indent="0" marL="0">
                        <a:buNone/>
                      </a:pP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b="1" dirty="0">
                          <a:solidFill>
                            <a:srgbClr val="1D1D1F"/>
                          </a:solidFill>
                          <a:latin typeface="Arial" pitchFamily="34" charset="0"/>
                          <a:ea typeface="Arial" pitchFamily="34" charset="-122"/>
                          <a:cs typeface="Arial" pitchFamily="34" charset="-120"/>
                        </a:rPr>
                        <a:t>What it means</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D1D1F"/>
                          </a:solidFill>
                          <a:latin typeface="Arial" pitchFamily="34" charset="0"/>
                          <a:ea typeface="Arial" pitchFamily="34" charset="-122"/>
                          <a:cs typeface="Arial" pitchFamily="34" charset="-120"/>
                        </a:rPr>
                        <a:t>What to do</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603504">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Breakpoints are hollow and never hit</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The app is running without a debugger attached</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Start it from the IDE (F5), not from a bare flutter run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603504">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DevTools opens but shows no data</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It is pointed at a stale VM Service URI</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Restart flutter run and open the URL it prints this time</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603504">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The data changed, the screen did not</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You mutated state outside setState</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Track widget rebuilds will show zero rebuilds, which is your proof</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603504">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RangeError: index out of range</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You indexed at length, or the list shrank underneath you</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Breakpoint on the indexing line; watch the index and the length</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603504">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Yellow and black stripes on screen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A RenderFlex overflowed its constraints</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Open the Layout Explorer on that Row or Column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bl>
          </a:graphicData>
        </a:graphic>
      </p:graphicFrame>
      <p:sp>
        <p:nvSpPr>
          <p:cNvPr id="6" name="Shape 3"/>
          <p:cNvSpPr/>
          <p:nvPr/>
        </p:nvSpPr>
        <p:spPr>
          <a:xfrm>
            <a:off x="822960" y="5623560"/>
            <a:ext cx="10543032" cy="0"/>
          </a:xfrm>
          <a:prstGeom prst="line">
            <a:avLst/>
          </a:prstGeom>
          <a:noFill/>
          <a:ln w="9525">
            <a:solidFill>
              <a:srgbClr val="D2D2D7"/>
            </a:solidFill>
            <a:prstDash val="solid"/>
          </a:ln>
        </p:spPr>
      </p:sp>
      <p:sp>
        <p:nvSpPr>
          <p:cNvPr id="7" name="Text 4"/>
          <p:cNvSpPr/>
          <p:nvPr/>
        </p:nvSpPr>
        <p:spPr>
          <a:xfrm>
            <a:off x="822960" y="585216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Read the first line of the exception first.</a:t>
            </a:r>
            <a:pPr indent="0" marL="0">
              <a:buNone/>
            </a:pPr>
            <a:r>
              <a:rPr lang="en-US" sz="1400" dirty="0">
                <a:solidFill>
                  <a:srgbClr val="86868B"/>
                </a:solidFill>
                <a:latin typeface="Arial" pitchFamily="34" charset="0"/>
                <a:ea typeface="Arial" pitchFamily="34" charset="-122"/>
                <a:cs typeface="Arial" pitchFamily="34" charset="-120"/>
              </a:rPr>
              <a:t> It names the type, the value and the file.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14</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SUBMISSION</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How to hand this in</a:t>
            </a:r>
            <a:endParaRPr lang="en-US" sz="3000" dirty="0"/>
          </a:p>
        </p:txBody>
      </p:sp>
      <p:sp>
        <p:nvSpPr>
          <p:cNvPr id="5" name="Text 3"/>
          <p:cNvSpPr/>
          <p:nvPr/>
        </p:nvSpPr>
        <p:spPr>
          <a:xfrm>
            <a:off x="822960" y="1783080"/>
            <a:ext cx="6675120" cy="2926080"/>
          </a:xfrm>
          <a:prstGeom prst="rect">
            <a:avLst/>
          </a:prstGeom>
          <a:noFill/>
          <a:ln/>
        </p:spPr>
        <p:txBody>
          <a:bodyPr wrap="square" lIns="0" tIns="0" rIns="0" bIns="0" rtlCol="0" anchor="t"/>
          <a:lstStyle/>
          <a:p>
            <a:pPr indent="0" marL="0">
              <a:spcAft>
                <a:spcPts val="1400"/>
              </a:spcAft>
              <a:buNone/>
            </a:pPr>
            <a:r>
              <a:rPr lang="en-US" sz="1400" b="1" dirty="0">
                <a:solidFill>
                  <a:srgbClr val="1D1D1F"/>
                </a:solidFill>
                <a:latin typeface="Arial" pitchFamily="34" charset="0"/>
                <a:ea typeface="Arial" pitchFamily="34" charset="-122"/>
                <a:cs typeface="Arial" pitchFamily="34" charset="-120"/>
              </a:rPr>
              <a:t>Everything goes to your GitHub repository. No Word documents, no email, no Teams upload.</a:t>
            </a:r>
            <a:endParaRPr lang="en-US" sz="1400" dirty="0"/>
          </a:p>
          <a:p>
            <a:pPr indent="0" marL="0">
              <a:spcAft>
                <a:spcPts val="1400"/>
              </a:spcAft>
              <a:buNone/>
            </a:pPr>
            <a:r>
              <a:rPr lang="en-US" sz="1400" dirty="0">
                <a:solidFill>
                  <a:srgbClr val="1D1D1F"/>
                </a:solidFill>
                <a:latin typeface="Arial" pitchFamily="34" charset="0"/>
                <a:ea typeface="Arial" pitchFamily="34" charset="-122"/>
                <a:cs typeface="Arial" pitchFamily="34" charset="-120"/>
              </a:rPr>
              <a:t>Commit your work to a branch named lab4, open a pull request, and merge it once it works.</a:t>
            </a:r>
            <a:endParaRPr lang="en-US" sz="1400" dirty="0"/>
          </a:p>
          <a:p>
            <a:pPr indent="0" marL="0">
              <a:spcAft>
                <a:spcPts val="1400"/>
              </a:spcAft>
              <a:buNone/>
            </a:pPr>
            <a:r>
              <a:rPr lang="en-US" sz="1400" dirty="0">
                <a:solidFill>
                  <a:srgbClr val="1D1D1F"/>
                </a:solidFill>
                <a:latin typeface="Arial" pitchFamily="34" charset="0"/>
                <a:ea typeface="Arial" pitchFamily="34" charset="-122"/>
                <a:cs typeface="Arial" pitchFamily="34" charset="-120"/>
              </a:rPr>
              <a:t>Screenshots asked for in a task go in a /screenshots folder in the same repository.</a:t>
            </a:r>
            <a:endParaRPr lang="en-US" sz="1400" dirty="0"/>
          </a:p>
          <a:p>
            <a:pPr indent="0" marL="0">
              <a:spcAft>
                <a:spcPts val="1400"/>
              </a:spcAft>
              <a:buNone/>
            </a:pPr>
            <a:r>
              <a:rPr lang="en-US" sz="1400" dirty="0">
                <a:solidFill>
                  <a:srgbClr val="1D1D1F"/>
                </a:solidFill>
                <a:latin typeface="Arial" pitchFamily="34" charset="0"/>
                <a:ea typeface="Arial" pitchFamily="34" charset="-122"/>
                <a:cs typeface="Arial" pitchFamily="34" charset="-120"/>
              </a:rPr>
              <a:t>Your commit history is part of the assessment. Commit as you go, not once at the end.</a:t>
            </a:r>
            <a:endParaRPr lang="en-US" sz="1400" dirty="0"/>
          </a:p>
        </p:txBody>
      </p:sp>
      <p:sp>
        <p:nvSpPr>
          <p:cNvPr id="6" name="Text 4"/>
          <p:cNvSpPr/>
          <p:nvPr/>
        </p:nvSpPr>
        <p:spPr>
          <a:xfrm>
            <a:off x="822960" y="4572000"/>
            <a:ext cx="6675120" cy="1188720"/>
          </a:xfrm>
          <a:prstGeom prst="rect">
            <a:avLst/>
          </a:prstGeom>
          <a:noFill/>
          <a:ln/>
        </p:spPr>
        <p:txBody>
          <a:bodyPr wrap="square" lIns="0" tIns="0" rIns="0" bIns="0" rtlCol="0" anchor="t"/>
          <a:lstStyle/>
          <a:p>
            <a:pPr indent="0" marL="0">
              <a:spcAft>
                <a:spcPts val="1400"/>
              </a:spcAft>
              <a:buNone/>
            </a:pPr>
            <a:r>
              <a:rPr lang="en-US" sz="1300" dirty="0">
                <a:solidFill>
                  <a:srgbClr val="86868B"/>
                </a:solidFill>
                <a:latin typeface="Arial" pitchFamily="34" charset="0"/>
                <a:ea typeface="Arial" pitchFamily="34" charset="-122"/>
                <a:cs typeface="Arial" pitchFamily="34" charset="-120"/>
              </a:rPr>
              <a:t>This lab is screenshot-heavy on purpose: a paused debugger and a live inspector are the only evidence that you used the tools rather than read the code.</a:t>
            </a:r>
            <a:endParaRPr lang="en-US" sz="1300" dirty="0"/>
          </a:p>
          <a:p>
            <a:pPr indent="0" marL="0">
              <a:spcAft>
                <a:spcPts val="1400"/>
              </a:spcAft>
              <a:buNone/>
            </a:pPr>
            <a:r>
              <a:rPr lang="en-US" sz="1300" dirty="0">
                <a:solidFill>
                  <a:srgbClr val="86868B"/>
                </a:solidFill>
                <a:latin typeface="Arial" pitchFamily="34" charset="0"/>
                <a:ea typeface="Arial" pitchFamily="34" charset="-122"/>
                <a:cs typeface="Arial" pitchFamily="34" charset="-120"/>
              </a:rPr>
              <a:t>Expected in /screenshots: one per planted bug paused at the breakpoint, one widget tree with a row selected, one Track widget rebuilds after a keystroke.</a:t>
            </a:r>
            <a:endParaRPr lang="en-US" sz="1300" dirty="0"/>
          </a:p>
        </p:txBody>
      </p:sp>
      <p:sp>
        <p:nvSpPr>
          <p:cNvPr id="7" name="Shape 5"/>
          <p:cNvSpPr/>
          <p:nvPr/>
        </p:nvSpPr>
        <p:spPr>
          <a:xfrm>
            <a:off x="7863840" y="1783080"/>
            <a:ext cx="3520440" cy="2286000"/>
          </a:xfrm>
          <a:prstGeom prst="roundRect">
            <a:avLst>
              <a:gd name="adj" fmla="val 4800"/>
            </a:avLst>
          </a:prstGeom>
          <a:solidFill>
            <a:srgbClr val="F5F5F7"/>
          </a:solidFill>
          <a:ln/>
        </p:spPr>
      </p:sp>
      <p:sp>
        <p:nvSpPr>
          <p:cNvPr id="8" name="Text 6"/>
          <p:cNvSpPr/>
          <p:nvPr/>
        </p:nvSpPr>
        <p:spPr>
          <a:xfrm>
            <a:off x="8138160" y="2011680"/>
            <a:ext cx="2971800" cy="292608"/>
          </a:xfrm>
          <a:prstGeom prst="rect">
            <a:avLst/>
          </a:prstGeom>
          <a:noFill/>
          <a:ln/>
        </p:spPr>
        <p:txBody>
          <a:bodyPr wrap="square" lIns="0" tIns="0" rIns="0" bIns="0" rtlCol="0" anchor="ctr"/>
          <a:lstStyle/>
          <a:p>
            <a:pPr indent="0" marL="0">
              <a:buNone/>
            </a:pPr>
            <a:r>
              <a:rPr lang="en-US" sz="1100" b="1" spc="150" kern="0" dirty="0">
                <a:solidFill>
                  <a:srgbClr val="86868B"/>
                </a:solidFill>
                <a:latin typeface="Arial" pitchFamily="34" charset="0"/>
                <a:ea typeface="Arial" pitchFamily="34" charset="-122"/>
                <a:cs typeface="Arial" pitchFamily="34" charset="-120"/>
              </a:rPr>
              <a:t>Checklist</a:t>
            </a:r>
            <a:endParaRPr lang="en-US" sz="1100" dirty="0"/>
          </a:p>
        </p:txBody>
      </p:sp>
      <p:sp>
        <p:nvSpPr>
          <p:cNvPr id="9" name="Text 7"/>
          <p:cNvSpPr/>
          <p:nvPr/>
        </p:nvSpPr>
        <p:spPr>
          <a:xfrm>
            <a:off x="8138160" y="2377440"/>
            <a:ext cx="2971800" cy="1554480"/>
          </a:xfrm>
          <a:prstGeom prst="rect">
            <a:avLst/>
          </a:prstGeom>
          <a:noFill/>
          <a:ln/>
        </p:spPr>
        <p:txBody>
          <a:bodyPr wrap="square" lIns="0" tIns="0" rIns="0" bIns="0" rtlCol="0" anchor="t"/>
          <a:lstStyle/>
          <a:p>
            <a:pPr indent="0" marL="0">
              <a:spcAft>
                <a:spcPts val="800"/>
              </a:spcAft>
              <a:buNone/>
            </a:pPr>
            <a:r>
              <a:rPr lang="en-US" sz="1200" dirty="0">
                <a:solidFill>
                  <a:srgbClr val="1D1D1F"/>
                </a:solidFill>
                <a:latin typeface="Arial" pitchFamily="34" charset="0"/>
                <a:ea typeface="Arial" pitchFamily="34" charset="-122"/>
                <a:cs typeface="Arial" pitchFamily="34" charset="-120"/>
              </a:rPr>
              <a:t>code committed and pushed</a:t>
            </a:r>
            <a:endParaRPr lang="en-US" sz="1200" dirty="0"/>
          </a:p>
          <a:p>
            <a:pPr indent="0" marL="0">
              <a:spcAft>
                <a:spcPts val="800"/>
              </a:spcAft>
              <a:buNone/>
            </a:pPr>
            <a:r>
              <a:rPr lang="en-US" sz="1200" dirty="0">
                <a:solidFill>
                  <a:srgbClr val="1D1D1F"/>
                </a:solidFill>
                <a:latin typeface="Arial" pitchFamily="34" charset="0"/>
                <a:ea typeface="Arial" pitchFamily="34" charset="-122"/>
                <a:cs typeface="Arial" pitchFamily="34" charset="-120"/>
              </a:rPr>
              <a:t>screenshots where asked</a:t>
            </a:r>
            <a:endParaRPr lang="en-US" sz="1200" dirty="0"/>
          </a:p>
          <a:p>
            <a:pPr indent="0" marL="0">
              <a:spcAft>
                <a:spcPts val="800"/>
              </a:spcAft>
              <a:buNone/>
            </a:pPr>
            <a:r>
              <a:rPr lang="en-US" sz="1200" dirty="0">
                <a:solidFill>
                  <a:srgbClr val="1D1D1F"/>
                </a:solidFill>
                <a:latin typeface="Arial" pitchFamily="34" charset="0"/>
                <a:ea typeface="Arial" pitchFamily="34" charset="-122"/>
                <a:cs typeface="Arial" pitchFamily="34" charset="-120"/>
              </a:rPr>
              <a:t>app builds and runs</a:t>
            </a:r>
            <a:endParaRPr lang="en-US" sz="1200" dirty="0"/>
          </a:p>
          <a:p>
            <a:pPr indent="0" marL="0">
              <a:spcAft>
                <a:spcPts val="800"/>
              </a:spcAft>
              <a:buNone/>
            </a:pPr>
            <a:r>
              <a:rPr lang="en-US" sz="1200" dirty="0">
                <a:solidFill>
                  <a:srgbClr val="1D1D1F"/>
                </a:solidFill>
                <a:latin typeface="Arial" pitchFamily="34" charset="0"/>
                <a:ea typeface="Arial" pitchFamily="34" charset="-122"/>
                <a:cs typeface="Arial" pitchFamily="34" charset="-120"/>
              </a:rPr>
              <a:t>pull request merged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822960" y="64008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Wrapping up</a:t>
            </a:r>
            <a:endParaRPr lang="en-US" sz="3000" dirty="0"/>
          </a:p>
        </p:txBody>
      </p:sp>
      <p:pic>
        <p:nvPicPr>
          <p:cNvPr id="3" name="Image 0" descr="/Users/dinu/dev/upb/mobile-and-embedded-computing/slides/assets/icons2/checklist-white.png">    </p:cNvPr>
          <p:cNvPicPr>
            <a:picLocks noChangeAspect="1"/>
          </p:cNvPicPr>
          <p:nvPr/>
        </p:nvPicPr>
        <p:blipFill>
          <a:blip r:embed="rId1"/>
          <a:stretch>
            <a:fillRect/>
          </a:stretch>
        </p:blipFill>
        <p:spPr>
          <a:xfrm>
            <a:off x="822960" y="1783080"/>
            <a:ext cx="384048" cy="384048"/>
          </a:xfrm>
          <a:prstGeom prst="rect">
            <a:avLst/>
          </a:prstGeom>
        </p:spPr>
      </p:pic>
      <p:sp>
        <p:nvSpPr>
          <p:cNvPr id="4" name="Text 1"/>
          <p:cNvSpPr/>
          <p:nvPr/>
        </p:nvSpPr>
        <p:spPr>
          <a:xfrm>
            <a:off x="822960" y="22860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Recap</a:t>
            </a:r>
            <a:endParaRPr lang="en-US" sz="1700" dirty="0"/>
          </a:p>
        </p:txBody>
      </p:sp>
      <p:sp>
        <p:nvSpPr>
          <p:cNvPr id="5" name="Text 2"/>
          <p:cNvSpPr/>
          <p:nvPr/>
        </p:nvSpPr>
        <p:spPr>
          <a:xfrm>
            <a:off x="822960" y="2880360"/>
            <a:ext cx="3383280" cy="2743200"/>
          </a:xfrm>
          <a:prstGeom prst="rect">
            <a:avLst/>
          </a:prstGeom>
          <a:noFill/>
          <a:ln/>
        </p:spPr>
        <p:txBody>
          <a:bodyPr wrap="square" lIns="0" tIns="0" rIns="0" bIns="0" rtlCol="0" anchor="t"/>
          <a:lstStyle/>
          <a:p>
            <a:pPr indent="0" marL="0">
              <a:spcAft>
                <a:spcPts val="1100"/>
              </a:spcAft>
              <a:buNone/>
            </a:pPr>
            <a:r>
              <a:rPr lang="en-US" sz="1250" dirty="0">
                <a:solidFill>
                  <a:srgbClr val="A1A1A6"/>
                </a:solidFill>
                <a:latin typeface="Arial" pitchFamily="34" charset="0"/>
                <a:ea typeface="Arial" pitchFamily="34" charset="-122"/>
                <a:cs typeface="Arial" pitchFamily="34" charset="-120"/>
              </a:rPr>
              <a:t>DevTools attaches from the terminal or the IDE, but only the IDE route gives you breakpoints</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setState marks one element dirty; the subtree rebuilds, not the app</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Element reuse is decided by runtimeType, then key</a:t>
            </a:r>
            <a:endParaRPr lang="en-US" sz="1250" dirty="0"/>
          </a:p>
        </p:txBody>
      </p:sp>
      <p:pic>
        <p:nvPicPr>
          <p:cNvPr id="6" name="Image 1" descr="/Users/dinu/dev/upb/mobile-and-embedded-computing/slides/assets/icons2/calendar-white.png">    </p:cNvPr>
          <p:cNvPicPr>
            <a:picLocks noChangeAspect="1"/>
          </p:cNvPicPr>
          <p:nvPr/>
        </p:nvPicPr>
        <p:blipFill>
          <a:blip r:embed="rId2"/>
          <a:stretch>
            <a:fillRect/>
          </a:stretch>
        </p:blipFill>
        <p:spPr>
          <a:xfrm>
            <a:off x="4389120" y="1783080"/>
            <a:ext cx="384048" cy="384048"/>
          </a:xfrm>
          <a:prstGeom prst="rect">
            <a:avLst/>
          </a:prstGeom>
        </p:spPr>
      </p:pic>
      <p:sp>
        <p:nvSpPr>
          <p:cNvPr id="7" name="Text 3"/>
          <p:cNvSpPr/>
          <p:nvPr/>
        </p:nvSpPr>
        <p:spPr>
          <a:xfrm>
            <a:off x="4389120" y="22860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Before next lab</a:t>
            </a:r>
            <a:endParaRPr lang="en-US" sz="1700" dirty="0"/>
          </a:p>
        </p:txBody>
      </p:sp>
      <p:sp>
        <p:nvSpPr>
          <p:cNvPr id="8" name="Text 4"/>
          <p:cNvSpPr/>
          <p:nvPr/>
        </p:nvSpPr>
        <p:spPr>
          <a:xfrm>
            <a:off x="4389120" y="2880360"/>
            <a:ext cx="3383280" cy="2743200"/>
          </a:xfrm>
          <a:prstGeom prst="rect">
            <a:avLst/>
          </a:prstGeom>
          <a:noFill/>
          <a:ln/>
        </p:spPr>
        <p:txBody>
          <a:bodyPr wrap="square" lIns="0" tIns="0" rIns="0" bIns="0" rtlCol="0" anchor="t"/>
          <a:lstStyle/>
          <a:p>
            <a:pPr indent="0" marL="0">
              <a:spcAft>
                <a:spcPts val="1100"/>
              </a:spcAft>
              <a:buNone/>
            </a:pPr>
            <a:r>
              <a:rPr lang="en-US" sz="1250" dirty="0">
                <a:solidFill>
                  <a:srgbClr val="A1A1A6"/>
                </a:solidFill>
                <a:latin typeface="Arial" pitchFamily="34" charset="0"/>
                <a:ea typeface="Arial" pitchFamily="34" charset="-122"/>
                <a:cs typeface="Arial" pitchFamily="34" charset="-120"/>
              </a:rPr>
              <a:t>Push branch lab4 and open the pull request</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Screenshots in /screenshots, nowhere else</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Skim Lecture 5: HTTP, JSON and code generation</a:t>
            </a:r>
            <a:endParaRPr lang="en-US" sz="1250" dirty="0"/>
          </a:p>
        </p:txBody>
      </p:sp>
      <p:pic>
        <p:nvPicPr>
          <p:cNvPr id="9" name="Image 2" descr="/Users/dinu/dev/upb/mobile-and-embedded-computing/slides/assets/icons2/bookopen-white.png">    </p:cNvPr>
          <p:cNvPicPr>
            <a:picLocks noChangeAspect="1"/>
          </p:cNvPicPr>
          <p:nvPr/>
        </p:nvPicPr>
        <p:blipFill>
          <a:blip r:embed="rId3"/>
          <a:stretch>
            <a:fillRect/>
          </a:stretch>
        </p:blipFill>
        <p:spPr>
          <a:xfrm>
            <a:off x="7955280" y="1783080"/>
            <a:ext cx="384048" cy="384048"/>
          </a:xfrm>
          <a:prstGeom prst="rect">
            <a:avLst/>
          </a:prstGeom>
        </p:spPr>
      </p:pic>
      <p:sp>
        <p:nvSpPr>
          <p:cNvPr id="10" name="Text 5"/>
          <p:cNvSpPr/>
          <p:nvPr/>
        </p:nvSpPr>
        <p:spPr>
          <a:xfrm>
            <a:off x="7955280" y="22860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Read more</a:t>
            </a:r>
            <a:endParaRPr lang="en-US" sz="1700" dirty="0"/>
          </a:p>
        </p:txBody>
      </p:sp>
      <p:sp>
        <p:nvSpPr>
          <p:cNvPr id="11" name="Text 6"/>
          <p:cNvSpPr/>
          <p:nvPr/>
        </p:nvSpPr>
        <p:spPr>
          <a:xfrm>
            <a:off x="7955280" y="2880360"/>
            <a:ext cx="3383280" cy="2743200"/>
          </a:xfrm>
          <a:prstGeom prst="rect">
            <a:avLst/>
          </a:prstGeom>
          <a:noFill/>
          <a:ln/>
        </p:spPr>
        <p:txBody>
          <a:bodyPr wrap="square" lIns="0" tIns="0" rIns="0" bIns="0" rtlCol="0" anchor="t"/>
          <a:lstStyle/>
          <a:p>
            <a:pPr indent="0" marL="0">
              <a:spcAft>
                <a:spcPts val="1100"/>
              </a:spcAft>
              <a:buNone/>
            </a:pPr>
            <a:r>
              <a:rPr lang="en-US" sz="1250" dirty="0">
                <a:solidFill>
                  <a:srgbClr val="A1A1A6"/>
                </a:solidFill>
                <a:latin typeface="Arial" pitchFamily="34" charset="0"/>
                <a:ea typeface="Arial" pitchFamily="34" charset="-122"/>
                <a:cs typeface="Arial" pitchFamily="34" charset="-120"/>
              </a:rPr>
              <a:t>docs.flutter.dev/tools/devtools</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docs.flutter.dev/tools/devtools/inspector</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api.flutter.dev: debugDumpRenderTree, debugPrint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and Embedded Computing, Laboratory 4</dc:title>
  <dc:subject>PptxGenJS Presentation</dc:subject>
  <dc:creator>Dinu-Ștefan Rusu</dc:creator>
  <cp:lastModifiedBy>Dinu-Ștefan Rusu</cp:lastModifiedBy>
  <cp:revision>1</cp:revision>
  <dcterms:created xsi:type="dcterms:W3CDTF">2026-08-08T15:40:14Z</dcterms:created>
  <dcterms:modified xsi:type="dcterms:W3CDTF">2026-08-08T15:40:14Z</dcterms:modified>
</cp:coreProperties>
</file>