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misconception worth correcting out loud: StatelessWidget does not mean 'built once'. It means it stores no mutable state; it is rebuilt as often as its parent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not a screenshot to copy. Grade the element list and the widget breakdown, not how closely the visuals match a reference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failure live: give every Dismissible the same key, delete a middle row, and watch the wrong card vanish. That demonstrates why keys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31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LABORATORY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Widgets &amp; UI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composing layouts and handling gestures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and Embedded Computing  ·  Dinu-Ștefan Rusu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LABORATORY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build today</a:t>
            </a:r>
            <a:endParaRPr lang="en-US" sz="3000" dirty="0"/>
          </a:p>
        </p:txBody>
      </p:sp>
      <p:pic>
        <p:nvPicPr>
          <p:cNvPr id="5" name="Image 0" descr="/Users/dinu/dev/upb/mobile-and-embedded-computing/slides/assets/icons2/layout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 a screen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709160" y="182880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login screen from Column, Row, Padding and Expanded, not one giant build()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432304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9" name="Image 1" descr="/Users/dinu/dev/upb/mobile-and-embedded-computing/slides/assets/icons2/component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58775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542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it into widgets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709160" y="254203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reusable StatelessWidget and StatefulWidget components with clear parameters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22960" y="3145536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13" name="Image 2" descr="/Users/dinu/dev/upb/mobile-and-embedded-computing/slides/assets/icons2/hand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009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25526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gestures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709160" y="3255264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list rows respond to swipes, with a destructive action and a way back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2960" y="3858768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17" name="Image 3" descr="/Users/dinu/dev/upb/mobile-and-embedded-computing/slides/assets/icons2/target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1421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96849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3, applied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709160" y="3968496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lab puts Lecture 3 to work: the widget tree, composition and rebuilds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your code goes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492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repository, same Flutter project as Labs 1 and 2. Create a branch named lab3.</a:t>
            </a:r>
            <a:endParaRPr lang="en-US" sz="14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 goes in lib/screens/login_screen.dart, Task II in lib/screens/todo_screen.dart.</a:t>
            </a:r>
            <a:endParaRPr lang="en-US" sz="14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you extract gets its own file under lib/widgets/.</a:t>
            </a:r>
            <a:endParaRPr lang="en-US" sz="14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main.dart at whichever screen you are currently working on.</a:t>
            </a:r>
            <a:endParaRPr lang="en-US" sz="14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todo app. Lab 4 attaches DevTools to this exact app instead of rebuilding 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0" y="1783080"/>
            <a:ext cx="3776472" cy="3017520"/>
          </a:xfrm>
          <a:prstGeom prst="roundRect">
            <a:avLst>
              <a:gd name="adj" fmla="val 3636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2103120"/>
            <a:ext cx="304495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main.dart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screens/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login_screen.dart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todo_screen.dart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widgets/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labeled_field.dart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todo_tile.dart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5212080"/>
            <a:ext cx="6492240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pixel-perfect copy of anyone's app.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are given the element list; the styling decisions are yours.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Stateless or stateful?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StatelessWidget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no mutable state of its own; everything it draws arrives through its constructor.</a:t>
            </a:r>
            <a:endParaRPr lang="en-US" sz="13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“build once”: it rebuilds whenever its parent rebuilds or a dependency changes.</a:t>
            </a:r>
            <a:endParaRPr lang="en-US" sz="13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for the logo block, a labeled field, the primary button, a single todo row.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StatefulWidget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3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state that changes over its lifetime: controllers, a password-visibility flag, the todo list.</a:t>
            </a:r>
            <a:endParaRPr lang="en-US" sz="13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setState() marks that subtree dirty; only dirty subtrees rebuild, never the whole tree.</a:t>
            </a:r>
            <a:endParaRPr lang="en-US" sz="1300" dirty="0"/>
          </a:p>
          <a:p>
            <a:pPr indent="0" marL="0">
              <a:spcAft>
                <a:spcPts val="13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screens themselves are stateful here; most of what they contain does not need to be.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3492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stateless.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Promote a widget to stateful only when it has to remember something between builds.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layout widgets you need today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203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stacked vertically; mainAxisAlignment spaces them out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63440" y="1874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663440" y="2203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side by side; the horizontal equivalent of Column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03920" y="1874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503920" y="2203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a child take the remaining space inside a Row or Column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2960" y="3346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around a single child; EdgeInsets says how much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SizedBox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63440" y="3346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width or height; the plain way to add a gap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0392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503920" y="3346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centers its child inside the space the parent gave 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4160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4489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padding, margin, color, border and size in one widget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63440" y="4160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63440" y="4489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drawn over each other; Positioned places them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03920" y="4160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SingleChildScrollView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503920" y="44897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a Column scroll when the keyboard shrinks the screen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53492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takes children, not pixels.</a:t>
            </a:r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describe the arrangement; the framework does the measuring.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screen layout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lib/screens/login_screen.dart. The required elements are listed on the next slide.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50008"/>
            <a:ext cx="6675120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login screen containing every element listed on the following slide.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 it out with Column, Padding, SizedBox and Expanded, with no absolute positioning.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screen into smaller reusable components instead of one long build() method.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each component that only displays data a StatelessWidget.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5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screen itself a StatefulWidget, so it can hold the field controllers and the error text.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6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an error message under the fields when either field is empty on submit.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7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the visual style yourself: colors, spacing and typography are your decisions.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0" y="2148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TextField + TextEditingController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obscureText: true for the password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ElevatedButton / TextButton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InputDecoration(labelText:, hintText:)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 constructors + required params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0" y="45262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4892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element on the list is on screen and readable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two components live in lib/widgets/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Submitting an empty form shows the error text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screen, element by element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or title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606040" y="180136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icon and the app name at the top. Anything that identifies the app.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field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06040" y="235000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labeled text input, keyboardType: TextInputType.emailAddress.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field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60604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labeled text input with obscureText: true.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area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606040" y="344728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reserved line under the fields for one message. Empty when all is well.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39776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action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606040" y="399592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full-width “Sign in” button that reads both controllers.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5262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link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06040" y="454456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“Forgot password?” as a TextButton, not a second big button.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5074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606040" y="509320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padding around the form, and a scroll view around the Column.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783080"/>
            <a:ext cx="3593592" cy="379476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92440" y="2103120"/>
            <a:ext cx="2953512" cy="566928"/>
          </a:xfrm>
          <a:prstGeom prst="roundRect">
            <a:avLst>
              <a:gd name="adj" fmla="val 19355"/>
            </a:avLst>
          </a:prstGeom>
          <a:solidFill>
            <a:srgbClr val="F5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092440" y="210312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/ title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2852928"/>
            <a:ext cx="2953512" cy="402336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85292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92440" y="3364992"/>
            <a:ext cx="2953512" cy="402336"/>
          </a:xfrm>
          <a:prstGeom prst="roundRect">
            <a:avLst>
              <a:gd name="adj" fmla="val 20455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33649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 ••••••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0" y="3822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3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message area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92440" y="4187952"/>
            <a:ext cx="2953512" cy="457200"/>
          </a:xfrm>
          <a:prstGeom prst="roundRect">
            <a:avLst>
              <a:gd name="adj" fmla="val 18000"/>
            </a:avLst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8092440" y="4187952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92440" y="475488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Forgot password?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0" y="566928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wireframe, not a design.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“reusable component” means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6766560" cy="4251960"/>
          </a:xfrm>
          <a:prstGeom prst="roundRect">
            <a:avLst>
              <a:gd name="adj" fmla="val 2581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6035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lib/widgets/labeled_field.dart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LabeledField extends StatelessWidget {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LabeledField({super.key, required this.label,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required this.controller, this.obscure = false});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String label;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TextEditingController controller;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final bool obscure;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Widget build(BuildContext context) =&gt; TextField(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controller: controller,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obscureText: obscure,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decoration: InputDecoration(labelText: label));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552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counts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0" y="224028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renders from its parameters only, which is what makes it stateless.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names what the caller must pass; obscure has a default, so most callers ignore it.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email and password fields become two calls to the same widget.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const constructor with super.key lets Flutter skip rebuilding it when nothing changed.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list with swipe gestures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lib/screens/todo_screen.dart. Lab 4 debugs this app, so build it carefully.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350008"/>
            <a:ext cx="6675120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Todo model with at least an id, a title and a done flag.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a list of todos in the screen's State and render it with ListView.builder.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each todo as a Card containing a ListTile.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each row in a Dismissible with a stable, unique key.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5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left to delete the todo, removing it from the list.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6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right to mark the todo as completed, keeping the row on screen.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7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each swipe direction its own colored background with an icon, so the gesture is discoverable.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8"/>
            </a:pPr>
            <a:r>
              <a:rPr lang="en-US" sz="135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SnackBar with an Undo action after a delete.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0" y="214884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Dismissible: the swipe widget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key: ValueKey(todo.id)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direction: DismissDirection.…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confirmDismiss, onDismissed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ScaffoldMessenger.of(context)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0" y="45262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when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4892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swipe directions work on every row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Deleting the top row does not remove the wrong one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restores the deleted todo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anatomy of one swipeable row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0312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8686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row of your todo list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ListView.builder(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itemCount: todos.length,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itemBuilder: (context, i) =&gt; Dismissible(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key: ValueKey(todos[i].id),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background: const ColoredBox(color: Colors.green),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secondaryBackground: const ColoredBox(color: Colors.red),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confirmDismiss: (direction) async =&gt;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direction == DismissDirection.endToStart,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onDismissed: (_) =&gt; setState(() =&gt; todos.removeAt(i)),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child: Card(child: ListTile(title: Text(todos[i].title))),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),</a:t>
            </a:r>
            <a:endParaRPr lang="en-US" sz="11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9552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common mistakes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0" y="224028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is not optional. Without a stable unique key the wrong row disappears.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is the swipe-right layer, secondaryBackground the swipe-left one.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Returning false from confirmDismiss keeps the row, which is how “completed” works without deleting.</a:t>
            </a:r>
            <a:endParaRPr lang="en-US" sz="12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onDismissed must remove the item from your list, or the next build throws.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errors and their fixes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RenderFlex overflowed by 137 pixels on the bottom.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949440" y="1847088"/>
            <a:ext cx="4416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Column is taller than the screen. Wrap it in SingleChildScrollView, or make one child Expanded.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487168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33472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Vertical viewport was given unbounded height.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949440" y="2651760"/>
            <a:ext cx="4416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ListView inside a Column with no height. Wrap the ListView in Expanded.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3814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dismissed Dismissible widget is still part of the tree.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0" y="3456432"/>
            <a:ext cx="4416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onDismissed did not actually remove the item from the list backing the builder.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096512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242816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wrong row disappears after a swipe.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949440" y="4261104"/>
            <a:ext cx="4416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rows share a key, or the key is the list index. Key by the todo's own id.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901184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4748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keyboard covers the password field.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949440" y="5065776"/>
            <a:ext cx="4416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form inside a SingleChildScrollView; Scaffold then resizes around the keyboard.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hand this 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goes to your GitHub repository. No Word documents, no email, no Teams upload.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your work to a branch named lab3, open a pull request, and merge it once it works.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asked for in a task go in a /screenshots folder in the same repository.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commit history is part of the assessment. Commit as you go, not once at the end.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 starts from this code, so make sure the app still builds after your pull request is merged.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63840" y="17830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5F5F7"/>
          </a:solidFill>
          <a:ln/>
        </p:spPr>
      </p:sp>
      <p:sp>
        <p:nvSpPr>
          <p:cNvPr id="8" name="Text 6"/>
          <p:cNvSpPr/>
          <p:nvPr/>
        </p:nvSpPr>
        <p:spPr>
          <a:xfrm>
            <a:off x="8138160" y="201168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86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38160" y="23774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committed and pushed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where asked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builds and runs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merged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Wrapping up</a:t>
            </a:r>
            <a:endParaRPr lang="en-US" sz="3000" dirty="0"/>
          </a:p>
        </p:txBody>
      </p:sp>
      <p:pic>
        <p:nvPicPr>
          <p:cNvPr id="3" name="Image 0" descr="/Users/dinu/dev/upb/mobile-and-embedded-computing/slides/assets/icons2/checklis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 is a tree of small widgets, not one long build()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Stateless until the widget has to remember something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Dismissible turns a list row into a gesture target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are what tell Flutter which row is which</a:t>
            </a:r>
            <a:endParaRPr lang="en-US" sz="1250" dirty="0"/>
          </a:p>
        </p:txBody>
      </p:sp>
      <p:pic>
        <p:nvPicPr>
          <p:cNvPr id="6" name="Image 1" descr="/Users/dinu/dev/upb/mobile-and-embedded-computing/slides/assets/icons2/calendar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8308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8912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next lab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4389120" y="288036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your lab3 pull request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todo app; Lab 4 debugs this exact app with DevTools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Skim the DevTools overview page before the session</a:t>
            </a:r>
            <a:endParaRPr lang="en-US" sz="1250" dirty="0"/>
          </a:p>
        </p:txBody>
      </p:sp>
      <p:pic>
        <p:nvPicPr>
          <p:cNvPr id="9" name="Image 2" descr="/Users/dinu/dev/upb/mobile-and-embedded-computing/slides/assets/icons2/bookope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78308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5280" y="2286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more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955280" y="288036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docs.flutter.dev/ui/layout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docs.flutter.dev/ui/interactivity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api.flutter.dev · Dismissible, ListView.builder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and Embedded Computing, Laboratory 3</dc:title>
  <dc:subject>PptxGenJS Presentation</dc:subject>
  <dc:creator>Dinu-Ștefan Rusu</dc:creator>
  <cp:lastModifiedBy>Dinu-Ștefan Rusu</cp:lastModifiedBy>
  <cp:revision>1</cp:revision>
  <dcterms:created xsi:type="dcterms:W3CDTF">2026-08-08T15:40:14Z</dcterms:created>
  <dcterms:modified xsi:type="dcterms:W3CDTF">2026-08-08T15:40:14Z</dcterms:modified>
</cp:coreProperties>
</file>