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61" r:id="rId4"/>
    <p:sldId id="289" r:id="rId5"/>
    <p:sldId id="291" r:id="rId6"/>
    <p:sldId id="290" r:id="rId7"/>
    <p:sldId id="287" r:id="rId8"/>
    <p:sldId id="28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05"/>
    <p:restoredTop sz="94584"/>
  </p:normalViewPr>
  <p:slideViewPr>
    <p:cSldViewPr snapToGrid="0">
      <p:cViewPr varScale="1">
        <p:scale>
          <a:sx n="152" d="100"/>
          <a:sy n="152" d="100"/>
        </p:scale>
        <p:origin x="344" y="-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5/6/26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studio" TargetMode="External"/><Relationship Id="rId2" Type="http://schemas.openxmlformats.org/officeDocument/2006/relationships/hyperlink" Target="https://docs.flutter.dev/instal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jetbrains.com/idea/download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Laboratory 1. Orientation, Set-up &amp; Project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08BAA28-24FD-E123-AFF1-D961639BA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>
                <a:cs typeface="Al Bayan Plain" pitchFamily="2" charset="-78"/>
              </a:rPr>
              <a:t>Dinu-Ștefan RUSU 	</a:t>
            </a:r>
            <a:r>
              <a:rPr lang="en-US" sz="3500" b="1" dirty="0">
                <a:cs typeface="Al Bayan Plain" pitchFamily="2" charset="-78"/>
              </a:rPr>
              <a:t>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4" name="Picture 2" descr="Doctor de Bine Logo">
            <a:extLst>
              <a:ext uri="{FF2B5EF4-FFF2-40B4-BE49-F238E27FC236}">
                <a16:creationId xmlns:a16="http://schemas.microsoft.com/office/drawing/2014/main" id="{F4B90629-BC95-FA6E-725A-8F106A1469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Euronews Logo">
            <a:extLst>
              <a:ext uri="{FF2B5EF4-FFF2-40B4-BE49-F238E27FC236}">
                <a16:creationId xmlns:a16="http://schemas.microsoft.com/office/drawing/2014/main" id="{68B64F6E-8990-49D3-F089-F8BF7FF973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8FAF5A-AA7B-7B2B-9D84-1B928A9BDD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7" name="Picture 2" descr="LP - Ikea | Edenred Benefit">
            <a:extLst>
              <a:ext uri="{FF2B5EF4-FFF2-40B4-BE49-F238E27FC236}">
                <a16:creationId xmlns:a16="http://schemas.microsoft.com/office/drawing/2014/main" id="{6DF5F943-8B18-40E4-A40C-810D6118C0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D4682203-8BEE-7D5E-C531-F1A199F9EF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6" descr="Selgros România">
            <a:extLst>
              <a:ext uri="{FF2B5EF4-FFF2-40B4-BE49-F238E27FC236}">
                <a16:creationId xmlns:a16="http://schemas.microsoft.com/office/drawing/2014/main" id="{2E3117FA-B9AD-B646-36C9-7DB144EF1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DevTalks Romania | RomanianStartups.com">
            <a:extLst>
              <a:ext uri="{FF2B5EF4-FFF2-40B4-BE49-F238E27FC236}">
                <a16:creationId xmlns:a16="http://schemas.microsoft.com/office/drawing/2014/main" id="{8284B346-650B-B538-2C9F-8EC999F286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28FAFCC2-EFA4-409F-7178-7B396A65B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4729C-B494-5D82-26F9-CD9BEF45B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ACD31-2D09-6AF7-4D4D-05C5A3106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Laboratory Grading (4.5p total)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02D55B-00A3-BCFD-7F3F-37A8F2FA5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1325563"/>
          </a:xfrm>
        </p:spPr>
        <p:txBody>
          <a:bodyPr>
            <a:normAutofit/>
          </a:bodyPr>
          <a:lstStyle/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FC7FDE-1D33-C007-E20A-8D65334AFE25}"/>
              </a:ext>
            </a:extLst>
          </p:cNvPr>
          <p:cNvSpPr txBox="1">
            <a:spLocks/>
          </p:cNvSpPr>
          <p:nvPr/>
        </p:nvSpPr>
        <p:spPr>
          <a:xfrm>
            <a:off x="838200" y="342900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Project Grading (1.5p total)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C747A5F-5C3E-3991-EE1F-E75C0AA2ACDD}"/>
              </a:ext>
            </a:extLst>
          </p:cNvPr>
          <p:cNvSpPr txBox="1">
            <a:spLocks/>
          </p:cNvSpPr>
          <p:nvPr/>
        </p:nvSpPr>
        <p:spPr>
          <a:xfrm>
            <a:off x="838200" y="4754563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maximum 3)</a:t>
            </a:r>
          </a:p>
        </p:txBody>
      </p:sp>
    </p:spTree>
    <p:extLst>
      <p:ext uri="{BB962C8B-B14F-4D97-AF65-F5344CB8AC3E}">
        <p14:creationId xmlns:p14="http://schemas.microsoft.com/office/powerpoint/2010/main" val="3108798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F9A68-DD75-FF5C-2F5F-7C21254D6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C2F4160-1111-F018-E433-0C5317B25DEB}"/>
              </a:ext>
            </a:extLst>
          </p:cNvPr>
          <p:cNvSpPr txBox="1"/>
          <p:nvPr/>
        </p:nvSpPr>
        <p:spPr>
          <a:xfrm>
            <a:off x="838200" y="1452392"/>
            <a:ext cx="10537627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Project development MUST be </a:t>
            </a:r>
            <a:r>
              <a:rPr lang="en-US" sz="2400" b="1" dirty="0"/>
              <a:t>tracked on GitHub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application MUST be </a:t>
            </a:r>
            <a:r>
              <a:rPr lang="en-US" sz="2400" b="1" dirty="0"/>
              <a:t>written in Flutter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The way of working will also be marked (Pull Requests, Branches, Code reviews, GitHub Issues, etc.)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Individual participation will be measured based on Commits, Lines of Code, and the quality of the code written. </a:t>
            </a:r>
            <a:r>
              <a:rPr lang="en-US" sz="2400" b="1" dirty="0"/>
              <a:t>Each team member </a:t>
            </a:r>
            <a:r>
              <a:rPr lang="en-US" sz="2400" dirty="0"/>
              <a:t>should know </a:t>
            </a:r>
            <a:r>
              <a:rPr lang="en-US" sz="2400" b="1" dirty="0"/>
              <a:t>in detail what he has implemented</a:t>
            </a:r>
            <a:r>
              <a:rPr lang="en-US" sz="2400" dirty="0"/>
              <a:t> and have at least a brief awareness of the other parts of the project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propose your own project, and we’ll discuss and approve it together in the next lab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All your presentation materials should be uploaded on Moodle in the</a:t>
            </a:r>
          </a:p>
          <a:p>
            <a:r>
              <a:rPr lang="en-US" sz="2400" dirty="0"/>
              <a:t>designated space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Teams of max 3 students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 will present from your own laptop, at the projector</a:t>
            </a:r>
          </a:p>
          <a:p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A7C87-4EF5-2045-247B-16669C644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Project details &amp; deliverables</a:t>
            </a:r>
          </a:p>
        </p:txBody>
      </p:sp>
    </p:spTree>
    <p:extLst>
      <p:ext uri="{BB962C8B-B14F-4D97-AF65-F5344CB8AC3E}">
        <p14:creationId xmlns:p14="http://schemas.microsoft.com/office/powerpoint/2010/main" val="2875309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D2B6E-47F7-E296-2BF9-5C0ED4335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8FFC404-388D-059A-92C4-2216AB771D46}"/>
              </a:ext>
            </a:extLst>
          </p:cNvPr>
          <p:cNvSpPr txBox="1"/>
          <p:nvPr/>
        </p:nvSpPr>
        <p:spPr>
          <a:xfrm>
            <a:off x="827186" y="1166842"/>
            <a:ext cx="1053762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Think of a project idea and form teams in the given Google Sheet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After forming the teams and writing a description in the doc we will have a discussion to validate its complexity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 Your project should have a medium-hard complexity</a:t>
            </a:r>
          </a:p>
          <a:p>
            <a:pPr>
              <a:buFont typeface="Wingdings" pitchFamily="2" charset="2"/>
              <a:buChar char="Ø"/>
            </a:pPr>
            <a:endParaRPr lang="en-US" sz="2400" dirty="0"/>
          </a:p>
          <a:p>
            <a:r>
              <a:rPr lang="en-US" sz="2400" dirty="0"/>
              <a:t>Your project must at least have the following: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State management using BLoC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Authentication (Firebase Auth / Keycloak / anything that is ‘real’ auth)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Data persistence (any kind of database) and offline first capabilities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When logging in on a different device, user’s data should be loaded/transferred automatically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Realtime capabilities using </a:t>
            </a:r>
            <a:r>
              <a:rPr lang="en-US" sz="2400" dirty="0" err="1"/>
              <a:t>Websockets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81490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E9CE0-1E34-8ABD-BB67-B62464E51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D9273A4-8A42-991A-AB54-D702AA8C3E34}"/>
              </a:ext>
            </a:extLst>
          </p:cNvPr>
          <p:cNvSpPr txBox="1"/>
          <p:nvPr/>
        </p:nvSpPr>
        <p:spPr>
          <a:xfrm>
            <a:off x="827186" y="1351508"/>
            <a:ext cx="10537627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/>
              <a:t> The readme MUST contain the following sections (in this order):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Team composition</a:t>
            </a:r>
            <a:r>
              <a:rPr lang="en-US" sz="2400" dirty="0"/>
              <a:t>, 1 person / row (Name, Surname, Group)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Project description </a:t>
            </a:r>
            <a:r>
              <a:rPr lang="en-US" sz="2400" dirty="0"/>
              <a:t>(brief)</a:t>
            </a:r>
            <a:r>
              <a:rPr lang="en-US" sz="2400" b="1" dirty="0"/>
              <a:t> </a:t>
            </a:r>
            <a:r>
              <a:rPr lang="en-US" sz="2400" dirty="0"/>
              <a:t>of the implemented app (what it does, what ‘screens’ it has,  etc.)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Link to the public GitHub repository </a:t>
            </a:r>
            <a:r>
              <a:rPr lang="en-US" sz="2400" dirty="0"/>
              <a:t>(or if you chose to make the repo private, make sure to invite me as a collaborator, my username is: </a:t>
            </a:r>
            <a:r>
              <a:rPr lang="en-US" sz="2400" dirty="0" err="1"/>
              <a:t>rusudinu</a:t>
            </a:r>
            <a:r>
              <a:rPr lang="en-US" sz="24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400" dirty="0"/>
              <a:t> </a:t>
            </a:r>
            <a:r>
              <a:rPr lang="en-US" sz="2400" b="1" dirty="0"/>
              <a:t>Other information </a:t>
            </a:r>
            <a:r>
              <a:rPr lang="en-US" sz="2400" dirty="0"/>
              <a:t>(anything else you would like to mention)</a:t>
            </a:r>
          </a:p>
          <a:p>
            <a:pPr>
              <a:buFont typeface="Wingdings" pitchFamily="2" charset="2"/>
              <a:buChar char="Ø"/>
            </a:pPr>
            <a:r>
              <a:rPr lang="en-US" sz="2400" b="1" dirty="0"/>
              <a:t> </a:t>
            </a:r>
            <a:r>
              <a:rPr lang="en-US" sz="2400" dirty="0"/>
              <a:t>The final presentation will be a live demo accompanied by slides and must not take more than 15 minutes / team. Questions will be asked based on the code; you should NOT copy entire projects from the internet, and you should not vibe code stuff that you can’t explain later or do not already understand.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345152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954283"/>
            <a:ext cx="9144000" cy="949434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Environment set-up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E6157-12CF-B9C8-9FB8-5C2657B1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8B959-FF8A-0546-D976-56D7F21D6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450794" cy="1325563"/>
          </a:xfrm>
        </p:spPr>
        <p:txBody>
          <a:bodyPr/>
          <a:lstStyle/>
          <a:p>
            <a:r>
              <a:rPr lang="en-US" dirty="0"/>
              <a:t>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CEB5A9-E1D1-0544-F875-F20ADD21F2E4}"/>
              </a:ext>
            </a:extLst>
          </p:cNvPr>
          <p:cNvSpPr txBox="1"/>
          <p:nvPr/>
        </p:nvSpPr>
        <p:spPr>
          <a:xfrm>
            <a:off x="903006" y="1541721"/>
            <a:ext cx="1053762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800" dirty="0"/>
              <a:t> Set-up Flutter and your development environment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Install Flutter by following the documentation (</a:t>
            </a:r>
            <a:r>
              <a:rPr lang="en-US" sz="2800" dirty="0">
                <a:hlinkClick r:id="rId2"/>
              </a:rPr>
              <a:t>https://docs.flutter.dev/install</a:t>
            </a:r>
            <a:r>
              <a:rPr lang="en-US" sz="2800" dirty="0"/>
              <a:t>) (Click on Install Manually in the Install Flutter section)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Android Studio / Xcode (</a:t>
            </a:r>
            <a:r>
              <a:rPr lang="en-US" sz="2800" dirty="0">
                <a:hlinkClick r:id="rId3"/>
              </a:rPr>
              <a:t>https://</a:t>
            </a:r>
            <a:r>
              <a:rPr lang="en-US" sz="2800" dirty="0" err="1">
                <a:hlinkClick r:id="rId3"/>
              </a:rPr>
              <a:t>developer.android.com</a:t>
            </a:r>
            <a:r>
              <a:rPr lang="en-US" sz="2800" dirty="0">
                <a:hlinkClick r:id="rId3"/>
              </a:rPr>
              <a:t>/studio</a:t>
            </a:r>
            <a:r>
              <a:rPr lang="en-US" sz="2800" dirty="0"/>
              <a:t>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>
                <a:hlinkClick r:id="rId4"/>
              </a:rPr>
              <a:t>IntelliJ</a:t>
            </a:r>
            <a:r>
              <a:rPr lang="en-US" sz="2800" dirty="0"/>
              <a:t> / </a:t>
            </a:r>
            <a:r>
              <a:rPr lang="en-US" sz="2800" dirty="0" err="1"/>
              <a:t>VSCode</a:t>
            </a:r>
            <a:r>
              <a:rPr lang="en-US" sz="2800" dirty="0"/>
              <a:t> to write the code (with the Flutter and Dart plugins)</a:t>
            </a:r>
          </a:p>
          <a:p>
            <a:pPr lvl="1">
              <a:buFont typeface="Wingdings" pitchFamily="2" charset="2"/>
              <a:buChar char="Ø"/>
            </a:pPr>
            <a:r>
              <a:rPr lang="en-US" sz="2800" dirty="0"/>
              <a:t> Configure Android / iOS emulators</a:t>
            </a:r>
          </a:p>
          <a:p>
            <a:pPr>
              <a:buFont typeface="Wingdings" pitchFamily="2" charset="2"/>
              <a:buChar char="Ø"/>
            </a:pPr>
            <a:r>
              <a:rPr lang="en-US" sz="2800" dirty="0"/>
              <a:t> Validate development environment by creating and running the default Flutter project, it should open in your emulator</a:t>
            </a:r>
          </a:p>
        </p:txBody>
      </p:sp>
    </p:spTree>
    <p:extLst>
      <p:ext uri="{BB962C8B-B14F-4D97-AF65-F5344CB8AC3E}">
        <p14:creationId xmlns:p14="http://schemas.microsoft.com/office/powerpoint/2010/main" val="18270421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5022</TotalTime>
  <Words>585</Words>
  <Application>Microsoft Macintosh PowerPoint</Application>
  <PresentationFormat>Widescreen</PresentationFormat>
  <Paragraphs>53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Laboratory Grading (4.5p total)</vt:lpstr>
      <vt:lpstr>Project details &amp; deliverables</vt:lpstr>
      <vt:lpstr>PowerPoint Presentation</vt:lpstr>
      <vt:lpstr>PowerPoint Presentation</vt:lpstr>
      <vt:lpstr>Environment set-up</vt:lpstr>
      <vt:lpstr>Tasks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31</cp:revision>
  <dcterms:created xsi:type="dcterms:W3CDTF">2025-09-15T16:44:45Z</dcterms:created>
  <dcterms:modified xsi:type="dcterms:W3CDTF">2026-05-06T11:40:02Z</dcterms:modified>
</cp:coreProperties>
</file>