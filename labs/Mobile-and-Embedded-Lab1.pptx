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1" r:id="rId4"/>
    <p:sldId id="289" r:id="rId5"/>
    <p:sldId id="291" r:id="rId6"/>
    <p:sldId id="290" r:id="rId7"/>
    <p:sldId id="287" r:id="rId8"/>
    <p:sldId id="28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0816D-9131-0642-AC18-65111AF099E6}" v="339" dt="2025-09-20T16:46:07.6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05"/>
    <p:restoredTop sz="94584"/>
  </p:normalViewPr>
  <p:slideViewPr>
    <p:cSldViewPr snapToGrid="0">
      <p:cViewPr varScale="1">
        <p:scale>
          <a:sx n="152" d="100"/>
          <a:sy n="152" d="100"/>
        </p:scale>
        <p:origin x="3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71807-75D2-4B48-9BC1-C0791C7EACC9}" type="datetimeFigureOut">
              <a:rPr lang="en-US" smtClean="0"/>
              <a:t>5/8/26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B3F86B-2734-BF42-93A6-63E2CE51F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0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2589-B083-6788-C188-A7A86614E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23450-674B-BC5C-6F86-2413C244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0CED9-B1F4-757B-FF1C-CB55CB8E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BFC94-82B2-21A3-2575-27800619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882CC-D653-8816-84BD-1C5983F6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7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4A5D3-4475-D424-AAD2-A53CD178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D51B-2CA0-F2BB-7751-C45C80AF4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17ADD-A1A0-2F86-B8EA-0F6E6B90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B4A3-90D9-905A-D219-576A5991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4D11B-ED22-AA1A-3798-1C316DF3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0C4F-A8C0-7FBF-7450-2ACA51CF3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83313-51C9-8FCD-76A0-4E109458A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37CC-018A-DED7-E590-3816B68F0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BE3F1-093B-9CE7-664A-F0582969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AFF1-6F9B-A45E-650D-3A0836C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3BE1-F9AE-53CC-959C-34C16430A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ECB1D-0500-8247-4526-8D2F0B52C0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692D2-B90F-2BA6-C78A-203F0B917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FA438-6142-0B34-F3A6-70B84343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6006F-557E-7017-240E-8A01385B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9A0-31D6-4A5C-34F9-1C1F03E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43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7C02A-7DDC-74DF-0635-2CF18AF0F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7BEAC-52C7-85A4-F098-7758650FF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2FA94-6D26-CCB7-4492-E2A8BFFB9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FEB920-7A8D-C959-E966-E8372DF43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EABDC-105B-643A-405F-694566161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C3AA5A-00E4-3558-A4AB-13ECBF49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8B891-C0DF-5409-0653-32F79254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2BA0C-E4DD-E986-0553-D2041857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0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78B7-DDD7-A8BF-DD92-0C3EE893E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4A856-01F9-A7D0-F4A3-00A616DE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035C-CE70-5B91-C83D-ECFDADD3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1D28A-A5DE-DE88-344C-F97F44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26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09FA3-9E79-D445-3FEB-E7642CE9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E957-CFC3-430E-1B2C-F6039C01F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E4514-0A61-DEF6-6A9B-0590AD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56-7D2D-3932-43C1-D346816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483E5-0268-4B7A-4645-7558A4A7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48B4-F672-6FFE-86D1-86286538B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801C9-E5D7-9585-2BEE-0D1D1917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50128-4786-91A9-3120-12E0BCF18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3441C-EAF9-703B-E73F-2382E3E7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0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CEB4-0DC1-DEC8-58E7-87402B3F2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7C8914-103B-0FD6-F20C-87A81DDB1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F2DA9-3397-C342-6069-E5C9AC1B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AC0B1D-CEA0-7DFD-F38F-9D329028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4E28A-6907-1FF5-EC06-429B4672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AB370-1DBB-AF46-F8DB-7DC5EFFC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4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7CD9-4481-08C2-4E88-1FB52F08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0CFAC1-4D7F-6198-0D9B-053218EAB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6FC57-5135-D07A-49D2-96338573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4C60C-8258-822E-80A5-2E0D960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1161-1882-2A70-0204-86955786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8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89FA6-EACC-1D0F-2715-C3E6CBDD6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28C91-E497-8D50-85CD-2D350890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7D545-E3C6-5F58-11A4-9D653FBB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8AAD-8DB9-B119-33DB-0A54B9369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BD58E-F881-2DCA-49F9-1D5B3B13E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0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801D69-C640-402D-B659-67878647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6F774-07B9-DC88-0065-CFA51AA31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852D-D2ED-1C67-12EC-67F0CDBB24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551AF-0EE3-DD4B-B4EF-6D8229EA0D86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605C-394F-93D0-F2F5-4E9AA54A0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B3A10-224E-8E0B-3F27-9E12375E1A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35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mailto:dinu_stefan.rusu@upb.ro" TargetMode="External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hyperlink" Target="https://rusudinu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jpeg"/><Relationship Id="rId10" Type="http://schemas.openxmlformats.org/officeDocument/2006/relationships/image" Target="../media/image6.png"/><Relationship Id="rId4" Type="http://schemas.openxmlformats.org/officeDocument/2006/relationships/hyperlink" Target="https://teams.microsoft.com/l/chat/0/0?users=dinu_stefan.rusu@upb.ro" TargetMode="Externa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android.com/studio" TargetMode="External"/><Relationship Id="rId2" Type="http://schemas.openxmlformats.org/officeDocument/2006/relationships/hyperlink" Target="https://docs.flutter.dev/instal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jetbrains.com/idea/download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6A52-E683-94FB-5FDE-93AF163BA9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325"/>
            <a:ext cx="9144000" cy="2387600"/>
          </a:xfrm>
        </p:spPr>
        <p:txBody>
          <a:bodyPr/>
          <a:lstStyle/>
          <a:p>
            <a:r>
              <a:rPr lang="en-US" dirty="0"/>
              <a:t>Mobile and Embedded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421A2-2714-CF24-E8C4-734EB67EC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/>
              <a:t>Laboratory 1. Orientation, Set-up &amp; Project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04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08BAA28-24FD-E123-AFF1-D961639BA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69122"/>
            <a:ext cx="10866120" cy="475832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500" b="1">
                <a:cs typeface="Al Bayan Plain" pitchFamily="2" charset="-78"/>
              </a:rPr>
              <a:t>Dinu-Ștefan RUSU 	</a:t>
            </a:r>
            <a:r>
              <a:rPr lang="en-US" sz="3500" b="1" dirty="0">
                <a:cs typeface="Al Bayan Plain" pitchFamily="2" charset="-78"/>
              </a:rPr>
              <a:t>					</a:t>
            </a:r>
            <a:r>
              <a:rPr lang="en-US" dirty="0">
                <a:ea typeface="Archivo"/>
                <a:cs typeface="Archivo"/>
                <a:sym typeface="Archivo"/>
                <a:hlinkClick r:id="rId2"/>
              </a:rPr>
              <a:t>rusudinu.com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indent="0">
              <a:buNone/>
            </a:pPr>
            <a:endParaRPr lang="en-US" dirty="0">
              <a:cs typeface="Al Bayan Plain" pitchFamily="2" charset="-78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cs typeface="Al Bayan Plain" pitchFamily="2" charset="-78"/>
                <a:sym typeface="Archivo"/>
              </a:rPr>
              <a:t>Contact me on:</a:t>
            </a: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dinu_stefan.rusu@upb.ro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4"/>
              </a:rPr>
              <a:t>Teams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45+ Flutter apps launched</a:t>
            </a: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400k installs across all apps</a:t>
            </a: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sz="1400" dirty="0">
                <a:ea typeface="Archivo"/>
                <a:cs typeface="Archivo"/>
                <a:sym typeface="Archivo"/>
              </a:rPr>
              <a:t>Appeared in, speaker at &amp; partners</a:t>
            </a:r>
          </a:p>
        </p:txBody>
      </p:sp>
      <p:pic>
        <p:nvPicPr>
          <p:cNvPr id="4" name="Picture 2" descr="Doctor de Bine Logo">
            <a:extLst>
              <a:ext uri="{FF2B5EF4-FFF2-40B4-BE49-F238E27FC236}">
                <a16:creationId xmlns:a16="http://schemas.microsoft.com/office/drawing/2014/main" id="{F4B90629-BC95-FA6E-725A-8F106A146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082" y="5527446"/>
            <a:ext cx="1158468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uronews Logo">
            <a:extLst>
              <a:ext uri="{FF2B5EF4-FFF2-40B4-BE49-F238E27FC236}">
                <a16:creationId xmlns:a16="http://schemas.microsoft.com/office/drawing/2014/main" id="{68B64F6E-8990-49D3-F089-F8BF7FF973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28" b="26080"/>
          <a:stretch>
            <a:fillRect/>
          </a:stretch>
        </p:blipFill>
        <p:spPr bwMode="auto">
          <a:xfrm>
            <a:off x="3179033" y="5527446"/>
            <a:ext cx="1277269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8FAF5A-AA7B-7B2B-9D84-1B928A9BDD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327" y="5527446"/>
            <a:ext cx="966272" cy="361515"/>
          </a:xfrm>
          <a:prstGeom prst="rect">
            <a:avLst/>
          </a:prstGeom>
        </p:spPr>
      </p:pic>
      <p:pic>
        <p:nvPicPr>
          <p:cNvPr id="7" name="Picture 2" descr="LP - Ikea | Edenred Benefit">
            <a:extLst>
              <a:ext uri="{FF2B5EF4-FFF2-40B4-BE49-F238E27FC236}">
                <a16:creationId xmlns:a16="http://schemas.microsoft.com/office/drawing/2014/main" id="{6DF5F943-8B18-40E4-A40C-810D6118C0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918"/>
          <a:stretch>
            <a:fillRect/>
          </a:stretch>
        </p:blipFill>
        <p:spPr bwMode="auto">
          <a:xfrm>
            <a:off x="921327" y="5949669"/>
            <a:ext cx="2305050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Up Romania | Up Mobil+ – Descărcă Noua Aplicație pe iOS ...">
            <a:extLst>
              <a:ext uri="{FF2B5EF4-FFF2-40B4-BE49-F238E27FC236}">
                <a16:creationId xmlns:a16="http://schemas.microsoft.com/office/drawing/2014/main" id="{D4682203-8BEE-7D5E-C531-F1A199F9EF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99" t="12656" r="13090" b="15341"/>
          <a:stretch>
            <a:fillRect/>
          </a:stretch>
        </p:blipFill>
        <p:spPr bwMode="auto">
          <a:xfrm>
            <a:off x="3308417" y="5949669"/>
            <a:ext cx="504733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Selgros România">
            <a:extLst>
              <a:ext uri="{FF2B5EF4-FFF2-40B4-BE49-F238E27FC236}">
                <a16:creationId xmlns:a16="http://schemas.microsoft.com/office/drawing/2014/main" id="{2E3117FA-B9AD-B646-36C9-7DB144EF1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5191" y="5945357"/>
            <a:ext cx="561111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DevTalks Romania | RomanianStartups.com">
            <a:extLst>
              <a:ext uri="{FF2B5EF4-FFF2-40B4-BE49-F238E27FC236}">
                <a16:creationId xmlns:a16="http://schemas.microsoft.com/office/drawing/2014/main" id="{8284B346-650B-B538-2C9F-8EC999F28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2785" y="5498016"/>
            <a:ext cx="2906445" cy="428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A premium IT conference - DevCon | A premium tech conference | Bucharest,  Romania">
            <a:extLst>
              <a:ext uri="{FF2B5EF4-FFF2-40B4-BE49-F238E27FC236}">
                <a16:creationId xmlns:a16="http://schemas.microsoft.com/office/drawing/2014/main" id="{28FAFCC2-EFA4-409F-7178-7B396A65B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5713" y="5457802"/>
            <a:ext cx="1984518" cy="631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8232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4729C-B494-5D82-26F9-CD9BEF45B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CD31-2D09-6AF7-4D4D-05C5A3106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Laboratory Grading (4.5p total)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02D55B-00A3-BCFD-7F3F-37A8F2FA5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325563"/>
          </a:xfrm>
        </p:spPr>
        <p:txBody>
          <a:bodyPr>
            <a:normAutofit/>
          </a:bodyPr>
          <a:lstStyle/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3p Laboratory + Assignments (individual)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1.5p Lab test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endParaRPr lang="en-US" sz="28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4FC7FDE-1D33-C007-E20A-8D65334AFE25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Project Grading (1.5p total)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C747A5F-5C3E-3991-EE1F-E75C0AA2ACDD}"/>
              </a:ext>
            </a:extLst>
          </p:cNvPr>
          <p:cNvSpPr txBox="1">
            <a:spLocks/>
          </p:cNvSpPr>
          <p:nvPr/>
        </p:nvSpPr>
        <p:spPr>
          <a:xfrm>
            <a:off x="838200" y="475456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+ 1.5p Project (teams of maximum 3)</a:t>
            </a:r>
          </a:p>
        </p:txBody>
      </p:sp>
    </p:spTree>
    <p:extLst>
      <p:ext uri="{BB962C8B-B14F-4D97-AF65-F5344CB8AC3E}">
        <p14:creationId xmlns:p14="http://schemas.microsoft.com/office/powerpoint/2010/main" val="3108798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F9A68-DD75-FF5C-2F5F-7C21254D6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2F4160-1111-F018-E433-0C5317B25DEB}"/>
              </a:ext>
            </a:extLst>
          </p:cNvPr>
          <p:cNvSpPr txBox="1"/>
          <p:nvPr/>
        </p:nvSpPr>
        <p:spPr>
          <a:xfrm>
            <a:off x="838200" y="1360114"/>
            <a:ext cx="10537627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Project development MUST be </a:t>
            </a:r>
            <a:r>
              <a:rPr lang="en-US" sz="2400" b="1" dirty="0"/>
              <a:t>tracked on GitHub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application MUST be </a:t>
            </a:r>
            <a:r>
              <a:rPr lang="en-US" sz="2400" b="1" dirty="0"/>
              <a:t>written in Flutter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way of working will also be marked (Pull Requests, Branches, Code reviews, GitHub Issues, etc.)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Individual participation will be measured based on Commits, Lines of Code, and the quality of the code written. </a:t>
            </a:r>
            <a:r>
              <a:rPr lang="en-US" sz="2400" b="1" dirty="0"/>
              <a:t>Each team member </a:t>
            </a:r>
            <a:r>
              <a:rPr lang="en-US" sz="2400" dirty="0"/>
              <a:t>should know </a:t>
            </a:r>
            <a:r>
              <a:rPr lang="en-US" sz="2400" b="1" dirty="0"/>
              <a:t>in detail what he has implemented</a:t>
            </a:r>
            <a:r>
              <a:rPr lang="en-US" sz="2400" dirty="0"/>
              <a:t> and have at least a brief awareness of the other parts of the project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 will propose your own project, and we’ll discuss and approve it together in the next lab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All your presentation materials (pptx and also convert it to .pdf) should be uploaded in GitHub in a folder named presentation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Teams of max 3 students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 will present from your own laptop, at the projector</a:t>
            </a:r>
          </a:p>
          <a:p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A7C87-4EF5-2045-247B-16669C644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Project details &amp; deliverables</a:t>
            </a:r>
          </a:p>
        </p:txBody>
      </p:sp>
    </p:spTree>
    <p:extLst>
      <p:ext uri="{BB962C8B-B14F-4D97-AF65-F5344CB8AC3E}">
        <p14:creationId xmlns:p14="http://schemas.microsoft.com/office/powerpoint/2010/main" val="2875309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D2B6E-47F7-E296-2BF9-5C0ED4335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8FFC404-388D-059A-92C4-2216AB771D46}"/>
              </a:ext>
            </a:extLst>
          </p:cNvPr>
          <p:cNvSpPr txBox="1"/>
          <p:nvPr/>
        </p:nvSpPr>
        <p:spPr>
          <a:xfrm>
            <a:off x="827186" y="1166842"/>
            <a:ext cx="1053762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Think of a project idea and form teams in the given Google Sheet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After forming the teams and writing a description in the doc we will have a discussion to validate its complexity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Your project should have a medium-hard complexity</a:t>
            </a:r>
          </a:p>
          <a:p>
            <a:pPr>
              <a:buFont typeface="Wingdings" pitchFamily="2" charset="2"/>
              <a:buChar char="Ø"/>
            </a:pPr>
            <a:endParaRPr lang="en-US" sz="2400" dirty="0"/>
          </a:p>
          <a:p>
            <a:r>
              <a:rPr lang="en-US" sz="2400" dirty="0"/>
              <a:t>Your project must at least have the following: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State management using BLoC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Authentication (Firebase Auth / Keycloak / anything that is ‘real’ auth)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Data persistence (any kind of database) and offline first capabilities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When logging in on a different device, user’s data should be loaded/transferred automatically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Realtime capabilities using </a:t>
            </a:r>
            <a:r>
              <a:rPr lang="en-US" sz="2400" dirty="0" err="1"/>
              <a:t>Websockets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81490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9CE0-1E34-8ABD-BB67-B62464E51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9273A4-8A42-991A-AB54-D702AA8C3E34}"/>
              </a:ext>
            </a:extLst>
          </p:cNvPr>
          <p:cNvSpPr txBox="1"/>
          <p:nvPr/>
        </p:nvSpPr>
        <p:spPr>
          <a:xfrm>
            <a:off x="827186" y="1351508"/>
            <a:ext cx="10537627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The readme MUST contain the following sections (in this order):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Team composition</a:t>
            </a:r>
            <a:r>
              <a:rPr lang="en-US" sz="2400" dirty="0"/>
              <a:t>, 1 person / row (Name, Surname, Group)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Project description </a:t>
            </a:r>
            <a:r>
              <a:rPr lang="en-US" sz="2400" dirty="0"/>
              <a:t>(brief)</a:t>
            </a:r>
            <a:r>
              <a:rPr lang="en-US" sz="2400" b="1" dirty="0"/>
              <a:t> </a:t>
            </a:r>
            <a:r>
              <a:rPr lang="en-US" sz="2400" dirty="0"/>
              <a:t>of the implemented app (what it does, what ‘screens’ it has,  etc.)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Link to the public GitHub repository </a:t>
            </a:r>
            <a:r>
              <a:rPr lang="en-US" sz="2400" dirty="0"/>
              <a:t>(or if you chose to make the repo private, make sure to invite me as a collaborator, my username is: </a:t>
            </a:r>
            <a:r>
              <a:rPr lang="en-US" sz="2400" dirty="0" err="1"/>
              <a:t>rusudinu</a:t>
            </a:r>
            <a:r>
              <a:rPr lang="en-US" sz="2400" dirty="0"/>
              <a:t>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Other information </a:t>
            </a:r>
            <a:r>
              <a:rPr lang="en-US" sz="2400" dirty="0"/>
              <a:t>(anything else you would like to mention)</a:t>
            </a:r>
          </a:p>
          <a:p>
            <a:pPr>
              <a:buFont typeface="Wingdings" pitchFamily="2" charset="2"/>
              <a:buChar char="Ø"/>
            </a:pPr>
            <a:r>
              <a:rPr lang="en-US" sz="2400" b="1" dirty="0"/>
              <a:t> </a:t>
            </a:r>
            <a:r>
              <a:rPr lang="en-US" sz="2400" dirty="0"/>
              <a:t>The final presentation will be a live demo accompanied by slides and must not take more than 15 minutes / team. Questions will be asked based on the code; you should NOT copy entire projects from the internet, and you should not vibe code stuff that you can’t explain later or do not already understand.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345152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D7A26-8EDA-FEF6-952A-1FD6F1048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FD930-C568-1515-DD9E-887607240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54283"/>
            <a:ext cx="9144000" cy="949434"/>
          </a:xfrm>
        </p:spPr>
        <p:txBody>
          <a:bodyPr/>
          <a:lstStyle/>
          <a:p>
            <a:r>
              <a:rPr lang="en-US" b="1" dirty="0">
                <a:cs typeface="Al Bayan Plain" pitchFamily="2" charset="-78"/>
              </a:rPr>
              <a:t>Environment set-up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0213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E6157-12CF-B9C8-9FB8-5C2657B1F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8B959-FF8A-0546-D976-56D7F21D6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450794" cy="1325563"/>
          </a:xfrm>
        </p:spPr>
        <p:txBody>
          <a:bodyPr/>
          <a:lstStyle/>
          <a:p>
            <a:r>
              <a:rPr lang="en-US" dirty="0"/>
              <a:t>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CEB5A9-E1D1-0544-F875-F20ADD21F2E4}"/>
              </a:ext>
            </a:extLst>
          </p:cNvPr>
          <p:cNvSpPr txBox="1"/>
          <p:nvPr/>
        </p:nvSpPr>
        <p:spPr>
          <a:xfrm>
            <a:off x="903006" y="1541721"/>
            <a:ext cx="1053762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800" dirty="0"/>
              <a:t> Set-up Flutter and your development environment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Install Flutter by following the documentation (</a:t>
            </a:r>
            <a:r>
              <a:rPr lang="en-US" sz="2800" dirty="0">
                <a:hlinkClick r:id="rId2"/>
              </a:rPr>
              <a:t>https://docs.flutter.dev/install</a:t>
            </a:r>
            <a:r>
              <a:rPr lang="en-US" sz="2800" dirty="0"/>
              <a:t>) (Click on Install Manually in the Install Flutter section)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Android Studio / Xcode (</a:t>
            </a:r>
            <a:r>
              <a:rPr lang="en-US" sz="2800" dirty="0">
                <a:hlinkClick r:id="rId3"/>
              </a:rPr>
              <a:t>https://</a:t>
            </a:r>
            <a:r>
              <a:rPr lang="en-US" sz="2800" dirty="0" err="1">
                <a:hlinkClick r:id="rId3"/>
              </a:rPr>
              <a:t>developer.android.com</a:t>
            </a:r>
            <a:r>
              <a:rPr lang="en-US" sz="2800" dirty="0">
                <a:hlinkClick r:id="rId3"/>
              </a:rPr>
              <a:t>/studio</a:t>
            </a:r>
            <a:r>
              <a:rPr lang="en-US" sz="2800" dirty="0"/>
              <a:t>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>
                <a:hlinkClick r:id="rId4"/>
              </a:rPr>
              <a:t>IntelliJ</a:t>
            </a:r>
            <a:r>
              <a:rPr lang="en-US" sz="2800" dirty="0"/>
              <a:t> / </a:t>
            </a:r>
            <a:r>
              <a:rPr lang="en-US" sz="2800" dirty="0" err="1"/>
              <a:t>VSCode</a:t>
            </a:r>
            <a:r>
              <a:rPr lang="en-US" sz="2800" dirty="0"/>
              <a:t> to write the code (with the Flutter and Dart plugins)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Configure Android / iOS emulators</a:t>
            </a:r>
          </a:p>
          <a:p>
            <a:pPr>
              <a:buFont typeface="Wingdings" pitchFamily="2" charset="2"/>
              <a:buChar char="Ø"/>
            </a:pPr>
            <a:r>
              <a:rPr lang="en-US" sz="2800" dirty="0"/>
              <a:t> Validate development environment by creating and running the default Flutter project, it should open in your emulator</a:t>
            </a:r>
          </a:p>
        </p:txBody>
      </p:sp>
    </p:spTree>
    <p:extLst>
      <p:ext uri="{BB962C8B-B14F-4D97-AF65-F5344CB8AC3E}">
        <p14:creationId xmlns:p14="http://schemas.microsoft.com/office/powerpoint/2010/main" val="1827042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5022</TotalTime>
  <Words>596</Words>
  <Application>Microsoft Macintosh PowerPoint</Application>
  <PresentationFormat>Widescreen</PresentationFormat>
  <Paragraphs>52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Al Bayan Plain</vt:lpstr>
      <vt:lpstr>Aptos</vt:lpstr>
      <vt:lpstr>Aptos Display</vt:lpstr>
      <vt:lpstr>Archivo</vt:lpstr>
      <vt:lpstr>Arial</vt:lpstr>
      <vt:lpstr>Wingdings</vt:lpstr>
      <vt:lpstr>Office Theme</vt:lpstr>
      <vt:lpstr>Mobile and Embedded Computing</vt:lpstr>
      <vt:lpstr>PowerPoint Presentation</vt:lpstr>
      <vt:lpstr>Laboratory Grading (4.5p total)</vt:lpstr>
      <vt:lpstr>Project details &amp; deliverables</vt:lpstr>
      <vt:lpstr>PowerPoint Presentation</vt:lpstr>
      <vt:lpstr>PowerPoint Presentation</vt:lpstr>
      <vt:lpstr>Environment set-up</vt:lpstr>
      <vt:lpstr>Tasks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Dinu Rusu | Tazz, IT</dc:creator>
  <cp:lastModifiedBy>Stefan Dinu Rusu | Tazz, IT</cp:lastModifiedBy>
  <cp:revision>32</cp:revision>
  <dcterms:created xsi:type="dcterms:W3CDTF">2025-09-15T16:44:45Z</dcterms:created>
  <dcterms:modified xsi:type="dcterms:W3CDTF">2026-05-08T05:59:52Z</dcterms:modified>
</cp:coreProperties>
</file>