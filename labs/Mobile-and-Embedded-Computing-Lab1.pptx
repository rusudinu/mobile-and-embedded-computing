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61" r:id="rId4"/>
    <p:sldId id="290" r:id="rId5"/>
    <p:sldId id="289" r:id="rId6"/>
    <p:sldId id="287" r:id="rId7"/>
    <p:sldId id="28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E0816D-9131-0642-AC18-65111AF099E6}" v="339" dt="2025-09-20T16:46:07.6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14"/>
    <p:restoredTop sz="94608"/>
  </p:normalViewPr>
  <p:slideViewPr>
    <p:cSldViewPr snapToGrid="0">
      <p:cViewPr varScale="1">
        <p:scale>
          <a:sx n="153" d="100"/>
          <a:sy n="153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371807-75D2-4B48-9BC1-C0791C7EACC9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B3F86B-2734-BF42-93A6-63E2CE51F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100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12589-B083-6788-C188-A7A86614E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223450-674B-BC5C-6F86-2413C244D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0CED9-B1F4-757B-FF1C-CB55CB8E2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BFC94-82B2-21A3-2575-27800619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882CC-D653-8816-84BD-1C5983F65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277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4A5D3-4475-D424-AAD2-A53CD1787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3D51B-2CA0-F2BB-7751-C45C80AF4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17ADD-A1A0-2F86-B8EA-0F6E6B904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2B4A3-90D9-905A-D219-576A5991B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4D11B-ED22-AA1A-3798-1C316DF34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93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40C4F-A8C0-7FBF-7450-2ACA51CF3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83313-51C9-8FCD-76A0-4E109458A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B37CC-018A-DED7-E590-3816B68F0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BE3F1-093B-9CE7-664A-F05829693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5AFF1-6F9B-A45E-650D-3A0836CCC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806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13BE1-F9AE-53CC-959C-34C16430A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ECB1D-0500-8247-4526-8D2F0B52C0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692D2-B90F-2BA6-C78A-203F0B917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FA438-6142-0B34-F3A6-70B843437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6006F-557E-7017-240E-8A01385BA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73C9A0-31D6-4A5C-34F9-1C1F03EC1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43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7C02A-7DDC-74DF-0635-2CF18AF0F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7BEAC-52C7-85A4-F098-7758650FF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02FA94-6D26-CCB7-4492-E2A8BFFB9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FEB920-7A8D-C959-E966-E8372DF430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CEABDC-105B-643A-405F-6945661612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C3AA5A-00E4-3558-A4AB-13ECBF495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B8B891-C0DF-5409-0653-32F79254C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02BA0C-E4DD-E986-0553-D20418570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250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78B7-DDD7-A8BF-DD92-0C3EE893E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24A856-01F9-A7D0-F4A3-00A616DE5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65035C-CE70-5B91-C83D-ECFDADD35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1D28A-A5DE-DE88-344C-F97F443A4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82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A09FA3-9E79-D445-3FEB-E7642CE9E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5E957-CFC3-430E-1B2C-F6039C01F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E4514-0A61-DEF6-6A9B-0590AD82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18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27A56-7D2D-3932-43C1-D3468169B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483E5-0268-4B7A-4645-7558A4A77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48B4-F672-6FFE-86D1-86286538B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801C9-E5D7-9585-2BEE-0D1D1917C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50128-4786-91A9-3120-12E0BCF18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F3441C-EAF9-703B-E73F-2382E3E7B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808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ACEB4-0DC1-DEC8-58E7-87402B3F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7C8914-103B-0FD6-F20C-87A81DDB1A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F2DA9-3397-C342-6069-E5C9AC1B0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AC0B1D-CEA0-7DFD-F38F-9D3290281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4E28A-6907-1FF5-EC06-429B4672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AB370-1DBB-AF46-F8DB-7DC5EFFC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49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47CD9-4481-08C2-4E88-1FB52F08C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0CFAC1-4D7F-6198-0D9B-053218EAB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6FC57-5135-D07A-49D2-963385733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4C60C-8258-822E-80A5-2E0D96020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A1161-1882-2A70-0204-86955786D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287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89FA6-EACC-1D0F-2715-C3E6CBDD6B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B28C91-E497-8D50-85CD-2D350890C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7D545-E3C6-5F58-11A4-9D653FBB4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38AAD-8DB9-B119-33DB-0A54B9369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BD58E-F881-2DCA-49F9-1D5B3B13E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101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801D69-C640-402D-B659-678786479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6F774-07B9-DC88-0065-CFA51AA31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7852D-D2ED-1C67-12EC-67F0CDBB24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551AF-0EE3-DD4B-B4EF-6D8229EA0D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3605C-394F-93D0-F2F5-4E9AA54A0D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B3A10-224E-8E0B-3F27-9E12375E1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35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dinu_stefan.rusu@upb.ro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flutter.dev/instal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6A52-E683-94FB-5FDE-93AF163BA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4325"/>
            <a:ext cx="9144000" cy="2387600"/>
          </a:xfrm>
        </p:spPr>
        <p:txBody>
          <a:bodyPr/>
          <a:lstStyle/>
          <a:p>
            <a:r>
              <a:rPr lang="en-US" dirty="0"/>
              <a:t>Mobile and Embedded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D421A2-2714-CF24-E8C4-734EB67EC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en-US" b="1" dirty="0"/>
              <a:t>Laboratory 0. Orientation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044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27E7B-5827-BBF6-FBA1-991606DB0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9122"/>
            <a:ext cx="10515600" cy="5407842"/>
          </a:xfrm>
        </p:spPr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lang="en-US" sz="3500" b="1" dirty="0">
                <a:cs typeface="Al Bayan Plain" pitchFamily="2" charset="-78"/>
              </a:rPr>
              <a:t>Ing. Dinu-Ștefan RUSU</a:t>
            </a:r>
          </a:p>
          <a:p>
            <a:pPr marL="0" lvl="0" indent="0">
              <a:buNone/>
            </a:pPr>
            <a:endParaRPr lang="en-US" dirty="0">
              <a:cs typeface="Al Bayan Plain" pitchFamily="2" charset="-78"/>
              <a:sym typeface="Archivo"/>
            </a:endParaRPr>
          </a:p>
          <a:p>
            <a:pPr marL="0" lvl="0" indent="0">
              <a:buNone/>
            </a:pPr>
            <a:r>
              <a:rPr lang="en-US" dirty="0">
                <a:cs typeface="Al Bayan Plain" pitchFamily="2" charset="-78"/>
                <a:sym typeface="Archivo"/>
              </a:rPr>
              <a:t>You can contact me on:</a:t>
            </a:r>
          </a:p>
          <a:p>
            <a:pPr lvl="0"/>
            <a:r>
              <a:rPr lang="en-US" dirty="0">
                <a:ea typeface="Archivo"/>
                <a:cs typeface="Archivo"/>
                <a:sym typeface="Archiv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dinu_stefan.rusu@upb.ro</a:t>
            </a:r>
            <a:endParaRPr lang="en-US" dirty="0">
              <a:ea typeface="Archivo"/>
              <a:cs typeface="Archivo"/>
              <a:sym typeface="Archivo"/>
            </a:endParaRPr>
          </a:p>
          <a:p>
            <a:pPr lvl="0"/>
            <a:r>
              <a:rPr lang="en-US" dirty="0">
                <a:ea typeface="Archivo"/>
                <a:cs typeface="Archivo"/>
                <a:sym typeface="Archivo"/>
              </a:rPr>
              <a:t>Teams</a:t>
            </a:r>
          </a:p>
          <a:p>
            <a:pPr lvl="0"/>
            <a:endParaRPr lang="en-US" dirty="0">
              <a:ea typeface="Archivo"/>
              <a:cs typeface="Archivo"/>
              <a:sym typeface="Archivo"/>
            </a:endParaRPr>
          </a:p>
          <a:p>
            <a:pPr marL="0" lvl="0" indent="0">
              <a:buNone/>
            </a:pPr>
            <a:r>
              <a:rPr lang="en-US" dirty="0">
                <a:ea typeface="Archivo"/>
                <a:cs typeface="Archivo"/>
                <a:sym typeface="Archivo"/>
              </a:rPr>
              <a:t>Senior Engineer @ Dell					[Kotlin, Spring Boot]</a:t>
            </a:r>
          </a:p>
          <a:p>
            <a:pPr marL="0" lvl="0" indent="0">
              <a:buNone/>
            </a:pPr>
            <a:endParaRPr lang="en-US" dirty="0">
              <a:ea typeface="Archivo"/>
              <a:cs typeface="Archivo"/>
              <a:sym typeface="Archivo"/>
            </a:endParaRPr>
          </a:p>
          <a:p>
            <a:pPr marL="0" lvl="0" indent="0">
              <a:buNone/>
            </a:pPr>
            <a:r>
              <a:rPr lang="en-US" dirty="0">
                <a:ea typeface="Archivo"/>
                <a:cs typeface="Archivo"/>
                <a:sym typeface="Archivo"/>
              </a:rPr>
              <a:t>45+ Launched apps on Google Play &amp; App Store	[Flutter, Java]</a:t>
            </a:r>
          </a:p>
          <a:p>
            <a:pPr marL="0" lvl="0" indent="0">
              <a:buNone/>
            </a:pPr>
            <a:r>
              <a:rPr lang="en-US" dirty="0">
                <a:ea typeface="Archivo"/>
                <a:cs typeface="Archivo"/>
                <a:sym typeface="Archivo"/>
              </a:rPr>
              <a:t>Speaker at </a:t>
            </a:r>
            <a:r>
              <a:rPr lang="en-US" dirty="0" err="1">
                <a:ea typeface="Archivo"/>
                <a:cs typeface="Archivo"/>
                <a:sym typeface="Archivo"/>
              </a:rPr>
              <a:t>DevTalks</a:t>
            </a:r>
            <a:r>
              <a:rPr lang="en-US" dirty="0">
                <a:ea typeface="Archivo"/>
                <a:cs typeface="Archivo"/>
                <a:sym typeface="Archivo"/>
              </a:rPr>
              <a:t> 2025 – Scaling Flutter to 100k MAU as a solo dev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232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4729C-B494-5D82-26F9-CD9BEF45B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ACD31-2D09-6AF7-4D4D-05C5A3106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 – 4P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2D55B-00A3-BCFD-7F3F-37A8F2FA5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58750" lvl="0" indent="0">
              <a:lnSpc>
                <a:spcPct val="100000"/>
              </a:lnSpc>
              <a:buClr>
                <a:schemeClr val="lt1"/>
              </a:buClr>
              <a:buNone/>
            </a:pPr>
            <a:r>
              <a:rPr lang="en-US" dirty="0"/>
              <a:t>Hands-on Flutter exercises</a:t>
            </a:r>
          </a:p>
          <a:p>
            <a:pPr marL="158750" lvl="0" indent="0">
              <a:lnSpc>
                <a:spcPct val="100000"/>
              </a:lnSpc>
              <a:buClr>
                <a:schemeClr val="lt1"/>
              </a:buClr>
              <a:buNone/>
            </a:pPr>
            <a:r>
              <a:rPr lang="en-US" dirty="0"/>
              <a:t>4 Milestones:</a:t>
            </a:r>
          </a:p>
          <a:p>
            <a:pPr marL="158750" lvl="0" indent="0">
              <a:lnSpc>
                <a:spcPct val="100000"/>
              </a:lnSpc>
              <a:buClr>
                <a:schemeClr val="lt1"/>
              </a:buClr>
              <a:buNone/>
            </a:pPr>
            <a:r>
              <a:rPr lang="en-US" dirty="0"/>
              <a:t>	1. Build basic UI with mocked data (0.5p)</a:t>
            </a:r>
          </a:p>
          <a:p>
            <a:pPr marL="158750" lvl="0" indent="0">
              <a:lnSpc>
                <a:spcPct val="100000"/>
              </a:lnSpc>
              <a:buClr>
                <a:schemeClr val="lt1"/>
              </a:buClr>
              <a:buNone/>
            </a:pPr>
            <a:r>
              <a:rPr lang="en-US" dirty="0"/>
              <a:t>	2. Integrate Firebase (0.5p)</a:t>
            </a:r>
          </a:p>
          <a:p>
            <a:pPr marL="158750" lvl="0" indent="0">
              <a:lnSpc>
                <a:spcPct val="100000"/>
              </a:lnSpc>
              <a:buClr>
                <a:schemeClr val="lt1"/>
              </a:buClr>
              <a:buNone/>
            </a:pPr>
            <a:r>
              <a:rPr lang="en-US" dirty="0"/>
              <a:t>	3. State management &amp; Offline first (1p)</a:t>
            </a:r>
          </a:p>
          <a:p>
            <a:pPr marL="158750" lvl="0" indent="0">
              <a:lnSpc>
                <a:spcPct val="100000"/>
              </a:lnSpc>
              <a:buClr>
                <a:schemeClr val="lt1"/>
              </a:buClr>
              <a:buNone/>
            </a:pPr>
            <a:r>
              <a:rPr lang="en-US" dirty="0"/>
              <a:t>	4. Final presentation (2p)</a:t>
            </a:r>
          </a:p>
          <a:p>
            <a:pPr marL="158750" lvl="0" indent="0">
              <a:lnSpc>
                <a:spcPct val="100000"/>
              </a:lnSpc>
              <a:buClr>
                <a:schemeClr val="lt1"/>
              </a:buClr>
              <a:buNone/>
            </a:pPr>
            <a:r>
              <a:rPr lang="en-US" dirty="0"/>
              <a:t>These milestones may be solved individually or in a team of maximum 3 persons. Each contributor will be graded individually, based on their input to the developed application.</a:t>
            </a:r>
          </a:p>
        </p:txBody>
      </p:sp>
    </p:spTree>
    <p:extLst>
      <p:ext uri="{BB962C8B-B14F-4D97-AF65-F5344CB8AC3E}">
        <p14:creationId xmlns:p14="http://schemas.microsoft.com/office/powerpoint/2010/main" val="3108798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226E4-01FE-7023-52AB-2F7B0D6D1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B8E12-3488-A9AA-9BCA-697E03173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Milestones presentation 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304A8-DE35-EAF7-B41F-75A61CBC3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58750" lvl="0" indent="0">
              <a:lnSpc>
                <a:spcPct val="100000"/>
              </a:lnSpc>
              <a:buClr>
                <a:schemeClr val="lt1"/>
              </a:buClr>
              <a:buNone/>
            </a:pPr>
            <a:endParaRPr lang="en-US" dirty="0"/>
          </a:p>
          <a:p>
            <a:pPr marL="158750" lvl="0" indent="0">
              <a:lnSpc>
                <a:spcPct val="100000"/>
              </a:lnSpc>
              <a:buClr>
                <a:schemeClr val="lt1"/>
              </a:buClr>
              <a:buNone/>
            </a:pPr>
            <a:r>
              <a:rPr lang="en-US" dirty="0"/>
              <a:t>1. Build basic UI with mocked data (0.5p) – 23 October 2025</a:t>
            </a:r>
          </a:p>
          <a:p>
            <a:pPr marL="158750" lvl="0" indent="0">
              <a:lnSpc>
                <a:spcPct val="100000"/>
              </a:lnSpc>
              <a:buClr>
                <a:schemeClr val="lt1"/>
              </a:buClr>
              <a:buNone/>
            </a:pPr>
            <a:r>
              <a:rPr lang="en-US" dirty="0"/>
              <a:t>2. Integrate with Firebase (0.5p) – 20 November 2025</a:t>
            </a:r>
          </a:p>
          <a:p>
            <a:pPr marL="158750" lvl="0" indent="0">
              <a:lnSpc>
                <a:spcPct val="100000"/>
              </a:lnSpc>
              <a:buClr>
                <a:schemeClr val="lt1"/>
              </a:buClr>
              <a:buNone/>
            </a:pPr>
            <a:r>
              <a:rPr lang="en-US" dirty="0"/>
              <a:t>3. State management &amp; Offline first (1p) – 11 December 2025</a:t>
            </a:r>
          </a:p>
          <a:p>
            <a:pPr marL="158750" lvl="0" indent="0">
              <a:lnSpc>
                <a:spcPct val="100000"/>
              </a:lnSpc>
              <a:buClr>
                <a:schemeClr val="lt1"/>
              </a:buClr>
              <a:buNone/>
            </a:pPr>
            <a:r>
              <a:rPr lang="en-US" dirty="0"/>
              <a:t>4. Final presentation (2p) – 15 January 2026</a:t>
            </a:r>
          </a:p>
        </p:txBody>
      </p:sp>
    </p:spTree>
    <p:extLst>
      <p:ext uri="{BB962C8B-B14F-4D97-AF65-F5344CB8AC3E}">
        <p14:creationId xmlns:p14="http://schemas.microsoft.com/office/powerpoint/2010/main" val="723585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F9A68-DD75-FF5C-2F5F-7C21254D6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2F4160-1111-F018-E433-0C5317B25DEB}"/>
              </a:ext>
            </a:extLst>
          </p:cNvPr>
          <p:cNvSpPr txBox="1"/>
          <p:nvPr/>
        </p:nvSpPr>
        <p:spPr>
          <a:xfrm>
            <a:off x="827186" y="243512"/>
            <a:ext cx="10537627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/>
              <a:t> Project development MUST be </a:t>
            </a:r>
            <a:r>
              <a:rPr lang="en-US" sz="2400" b="1" dirty="0"/>
              <a:t>tracked on GitHub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 The application MUST be </a:t>
            </a:r>
            <a:r>
              <a:rPr lang="en-US" sz="2400" b="1" dirty="0"/>
              <a:t>written in Flutter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 The way of working will also be marked (Pull Requests, Branches, Code reviews, GitHub Issues, etc.)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 Individual participation will be measured based on Commits, Lines of Code, and the quality of the code written. </a:t>
            </a:r>
            <a:r>
              <a:rPr lang="en-US" sz="2400" b="1" dirty="0"/>
              <a:t>Each team member </a:t>
            </a:r>
            <a:r>
              <a:rPr lang="en-US" sz="2400" dirty="0"/>
              <a:t>should know </a:t>
            </a:r>
            <a:r>
              <a:rPr lang="en-US" sz="2400" b="1" dirty="0"/>
              <a:t>in detail what he has implemented</a:t>
            </a:r>
            <a:r>
              <a:rPr lang="en-US" sz="2400" dirty="0"/>
              <a:t> and have at least a brief awareness of the other parts of the project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 The readme MUST contain the following sections (in this order):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 </a:t>
            </a:r>
            <a:r>
              <a:rPr lang="en-US" sz="2400" b="1" dirty="0"/>
              <a:t>Team composition</a:t>
            </a:r>
            <a:r>
              <a:rPr lang="en-US" sz="2400" dirty="0"/>
              <a:t>, 1 person / row (Name, Surname, Group)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 </a:t>
            </a:r>
            <a:r>
              <a:rPr lang="en-US" sz="2400" b="1" dirty="0"/>
              <a:t>Project description </a:t>
            </a:r>
            <a:r>
              <a:rPr lang="en-US" sz="2400" dirty="0"/>
              <a:t>(brief)</a:t>
            </a:r>
            <a:r>
              <a:rPr lang="en-US" sz="2400" b="1" dirty="0"/>
              <a:t> </a:t>
            </a:r>
            <a:r>
              <a:rPr lang="en-US" sz="2400" dirty="0"/>
              <a:t>of the implemented app (what it does, what ‘screens’ it has,  etc.)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 </a:t>
            </a:r>
            <a:r>
              <a:rPr lang="en-US" sz="2400" b="1" dirty="0"/>
              <a:t>Other information </a:t>
            </a:r>
            <a:r>
              <a:rPr lang="en-US" sz="2400" dirty="0"/>
              <a:t>(anything else you would like to mention)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/>
              <a:t> </a:t>
            </a:r>
            <a:r>
              <a:rPr lang="en-US" sz="2400" dirty="0"/>
              <a:t>The final presentation will be a live demo accompanied by slides and must not take more than 15 minutes / team. Questions will be asked based on the code; you should NOT copy entire projects from the internet, and you should not vibe code stuff that you can’t explain later.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875309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2D7A26-8EDA-FEF6-952A-1FD6F1048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FD930-C568-1515-DD9E-887607240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lang="en-US" b="1" dirty="0">
                <a:cs typeface="Al Bayan Plain" pitchFamily="2" charset="-78"/>
              </a:rPr>
              <a:t>Laboratory 1. Platforms &amp; Technology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80213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E6157-12CF-B9C8-9FB8-5C2657B1F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8B959-FF8A-0546-D976-56D7F21D6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450794" cy="1325563"/>
          </a:xfrm>
        </p:spPr>
        <p:txBody>
          <a:bodyPr/>
          <a:lstStyle/>
          <a:p>
            <a:r>
              <a:rPr lang="en-US" dirty="0"/>
              <a:t>Tasks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CEB5A9-E1D1-0544-F875-F20ADD21F2E4}"/>
              </a:ext>
            </a:extLst>
          </p:cNvPr>
          <p:cNvSpPr txBox="1"/>
          <p:nvPr/>
        </p:nvSpPr>
        <p:spPr>
          <a:xfrm>
            <a:off x="903006" y="1541721"/>
            <a:ext cx="1053762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/>
              <a:t> Set-up Flutter and your development environment</a:t>
            </a:r>
          </a:p>
          <a:p>
            <a:pPr lvl="1">
              <a:buFont typeface="Wingdings" pitchFamily="2" charset="2"/>
              <a:buChar char="Ø"/>
            </a:pPr>
            <a:r>
              <a:rPr lang="en-US" sz="2800" dirty="0"/>
              <a:t> You should install Flutter by following the documentation (</a:t>
            </a:r>
            <a:r>
              <a:rPr lang="en-US" sz="2800" dirty="0">
                <a:hlinkClick r:id="rId2"/>
              </a:rPr>
              <a:t>https://docs.flutter.dev/install</a:t>
            </a:r>
            <a:r>
              <a:rPr lang="en-US" sz="2800" dirty="0"/>
              <a:t>) (Click on Install Manually in the Install Flutter section)</a:t>
            </a:r>
          </a:p>
          <a:p>
            <a:pPr lvl="1">
              <a:buFont typeface="Wingdings" pitchFamily="2" charset="2"/>
              <a:buChar char="Ø"/>
            </a:pPr>
            <a:r>
              <a:rPr lang="en-US" sz="2800" dirty="0"/>
              <a:t> You will need Android Studio / Xcode</a:t>
            </a:r>
          </a:p>
          <a:p>
            <a:pPr lvl="1">
              <a:buFont typeface="Wingdings" pitchFamily="2" charset="2"/>
              <a:buChar char="Ø"/>
            </a:pPr>
            <a:r>
              <a:rPr lang="en-US" sz="2800" dirty="0"/>
              <a:t> You will need IntelliJ to write the code (with the Flutter and Dart plugins)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 Validate development environment by creating and running the default Flutter project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 Organize in teams of maximum 3 for completing the milestones</a:t>
            </a:r>
          </a:p>
        </p:txBody>
      </p:sp>
    </p:spTree>
    <p:extLst>
      <p:ext uri="{BB962C8B-B14F-4D97-AF65-F5344CB8AC3E}">
        <p14:creationId xmlns:p14="http://schemas.microsoft.com/office/powerpoint/2010/main" val="1827042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4749</TotalTime>
  <Words>505</Words>
  <Application>Microsoft Macintosh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Al Bayan Plain</vt:lpstr>
      <vt:lpstr>Aptos</vt:lpstr>
      <vt:lpstr>Aptos Display</vt:lpstr>
      <vt:lpstr>Archivo</vt:lpstr>
      <vt:lpstr>Arial</vt:lpstr>
      <vt:lpstr>Wingdings</vt:lpstr>
      <vt:lpstr>Office Theme</vt:lpstr>
      <vt:lpstr>Mobile and Embedded Computing</vt:lpstr>
      <vt:lpstr>PowerPoint Presentation</vt:lpstr>
      <vt:lpstr>Grading – 4P</vt:lpstr>
      <vt:lpstr>Milestones presentation schedule</vt:lpstr>
      <vt:lpstr>PowerPoint Presentation</vt:lpstr>
      <vt:lpstr>Laboratory 1. Platforms &amp; Technology</vt:lpstr>
      <vt:lpstr>Tasks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Dinu Rusu | Tazz, IT</dc:creator>
  <cp:lastModifiedBy>Stefan Dinu Rusu | Tazz, IT</cp:lastModifiedBy>
  <cp:revision>12</cp:revision>
  <dcterms:created xsi:type="dcterms:W3CDTF">2025-09-15T16:44:45Z</dcterms:created>
  <dcterms:modified xsi:type="dcterms:W3CDTF">2026-02-10T19:14:38Z</dcterms:modified>
</cp:coreProperties>
</file>