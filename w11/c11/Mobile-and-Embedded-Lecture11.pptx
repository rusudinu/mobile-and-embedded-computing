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9144000"/>
  <p:embeddedFontLst>
    <p:embeddedFont>
      <p:font typeface="DM Sans" pitchFamily="2" charset="77"/>
      <p:regular r:id="rId42"/>
      <p:bold r:id="rId43"/>
      <p:italic r:id="rId44"/>
      <p:boldItalic r:id="rId45"/>
    </p:embeddedFont>
    <p:embeddedFont>
      <p:font typeface="Inter" panose="020F0702030404030204" pitchFamily="34" charset="0"/>
      <p:regular r:id="rId46"/>
      <p:bold r:id="rId47"/>
      <p:italic r:id="rId48"/>
      <p:boldItalic r:id="rId49"/>
    </p:embeddedFont>
    <p:embeddedFont>
      <p:font typeface="Inter Light" panose="020F0502020204030204" pitchFamily="34" charset="0"/>
      <p:regular r:id="rId50"/>
      <p:bold r:id="rId51"/>
      <p:italic r:id="rId52"/>
      <p:boldItalic r:id="rId53"/>
    </p:embeddedFont>
    <p:embeddedFont>
      <p:font typeface="Inter SemiBold" panose="020F0502020204030204" pitchFamily="34" charset="0"/>
      <p:regular r:id="rId54"/>
      <p:bold r:id="rId55"/>
      <p:italic r:id="rId56"/>
      <p:boldItalic r:id="rId57"/>
    </p:embeddedFont>
    <p:embeddedFont>
      <p:font typeface="JetBrains Mono" panose="020F0502020204030204" pitchFamily="34" charset="0"/>
      <p:regular r:id="rId58"/>
      <p:bold r:id="rId59"/>
      <p:italic r:id="rId60"/>
      <p:boldItalic r:id="rId61"/>
    </p:embeddedFont>
    <p:embeddedFont>
      <p:font typeface="Lato" panose="020F0502020204030203" pitchFamily="34" charset="0"/>
      <p:regular r:id="rId62"/>
      <p:bold r:id="rId63"/>
      <p:italic r:id="rId64"/>
      <p:boldItalic r:id="rId65"/>
    </p:embeddedFont>
    <p:embeddedFont>
      <p:font typeface="Merriweather" pitchFamily="2" charset="77"/>
      <p:regular r:id="rId66"/>
      <p:bold r:id="rId67"/>
      <p:italic r:id="rId68"/>
      <p:boldItalic r:id="rId69"/>
    </p:embeddedFont>
    <p:embeddedFont>
      <p:font typeface="Merriweather Light" panose="00000400000000000000" pitchFamily="2" charset="77"/>
      <p:regular r:id="rId70"/>
      <p:italic r:id="rId71"/>
    </p:embeddedFont>
    <p:embeddedFont>
      <p:font typeface="Poppins" pitchFamily="2" charset="77"/>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E8B36A-3B13-4662-8145-97AE537BE04F}">
  <a:tblStyle styleId="{20E8B36A-3B13-4662-8145-97AE537BE04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6"/>
  </p:normalViewPr>
  <p:slideViewPr>
    <p:cSldViewPr snapToGrid="0">
      <p:cViewPr>
        <p:scale>
          <a:sx n="93" d="100"/>
          <a:sy n="93" d="100"/>
        </p:scale>
        <p:origin x="1864" y="8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1.fntdata"/><Relationship Id="rId47" Type="http://schemas.openxmlformats.org/officeDocument/2006/relationships/font" Target="fonts/font6.fntdata"/><Relationship Id="rId63" Type="http://schemas.openxmlformats.org/officeDocument/2006/relationships/font" Target="fonts/font22.fntdata"/><Relationship Id="rId68" Type="http://schemas.openxmlformats.org/officeDocument/2006/relationships/font" Target="fonts/font27.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66" Type="http://schemas.openxmlformats.org/officeDocument/2006/relationships/font" Target="fonts/font25.fntdata"/><Relationship Id="rId74" Type="http://schemas.openxmlformats.org/officeDocument/2006/relationships/font" Target="fonts/font33.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2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font" Target="fonts/font23.fntdata"/><Relationship Id="rId69" Type="http://schemas.openxmlformats.org/officeDocument/2006/relationships/font" Target="fonts/font28.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0.fntdata"/><Relationship Id="rId72" Type="http://schemas.openxmlformats.org/officeDocument/2006/relationships/font" Target="fonts/font3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font" Target="fonts/font18.fntdata"/><Relationship Id="rId67" Type="http://schemas.openxmlformats.org/officeDocument/2006/relationships/font" Target="fonts/font26.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font" Target="fonts/font21.fntdata"/><Relationship Id="rId70" Type="http://schemas.openxmlformats.org/officeDocument/2006/relationships/font" Target="fonts/font29.fntdata"/><Relationship Id="rId75" Type="http://schemas.openxmlformats.org/officeDocument/2006/relationships/font" Target="fonts/font3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65" Type="http://schemas.openxmlformats.org/officeDocument/2006/relationships/font" Target="fonts/font24.fntdata"/><Relationship Id="rId73" Type="http://schemas.openxmlformats.org/officeDocument/2006/relationships/font" Target="fonts/font32.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9.fntdata"/><Relationship Id="rId55" Type="http://schemas.openxmlformats.org/officeDocument/2006/relationships/font" Target="fonts/font14.fntdata"/><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30.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9.png"/><Relationship Id="rId7" Type="http://schemas.openxmlformats.org/officeDocument/2006/relationships/image" Target="../media/image6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4.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6.png"/></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1914525"/>
            <a:ext cx="11601450" cy="3028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dirty="0">
                <a:solidFill>
                  <a:srgbClr val="F8FAFC"/>
                </a:solidFill>
                <a:latin typeface="Poppins"/>
                <a:ea typeface="Poppins"/>
                <a:cs typeface="Poppins"/>
                <a:sym typeface="Poppins"/>
              </a:rPr>
              <a:t>Performance and Energy Consumption in Mobile Applications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571500" y="2600325"/>
            <a:ext cx="5286375" cy="2609850"/>
          </a:xfrm>
          <a:prstGeom prst="rect">
            <a:avLst/>
          </a:prstGeom>
          <a:noFill/>
          <a:ln>
            <a:noFill/>
          </a:ln>
        </p:spPr>
      </p:pic>
      <p:pic>
        <p:nvPicPr>
          <p:cNvPr id="93" name="Google Shape;93;p14" descr="image.png"/>
          <p:cNvPicPr preferRelativeResize="0"/>
          <p:nvPr/>
        </p:nvPicPr>
        <p:blipFill rotWithShape="1">
          <a:blip r:embed="rId5">
            <a:alphaModFix/>
          </a:blip>
          <a:srcRect/>
          <a:stretch/>
        </p:blipFill>
        <p:spPr>
          <a:xfrm>
            <a:off x="6334125" y="2600325"/>
            <a:ext cx="5286375" cy="2609850"/>
          </a:xfrm>
          <a:prstGeom prst="rect">
            <a:avLst/>
          </a:prstGeom>
          <a:noFill/>
          <a:ln>
            <a:noFill/>
          </a:ln>
        </p:spPr>
      </p:pic>
      <p:sp>
        <p:nvSpPr>
          <p:cNvPr id="94" name="Google Shape;94;p14"/>
          <p:cNvSpPr txBox="1"/>
          <p:nvPr/>
        </p:nvSpPr>
        <p:spPr>
          <a:xfrm>
            <a:off x="962025" y="2990850"/>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1. Speed (Responsiveness)</a:t>
            </a:r>
            <a:endParaRPr/>
          </a:p>
        </p:txBody>
      </p:sp>
      <p:sp>
        <p:nvSpPr>
          <p:cNvPr id="95" name="Google Shape;95;p14"/>
          <p:cNvSpPr txBox="1"/>
          <p:nvPr/>
        </p:nvSpPr>
        <p:spPr>
          <a:xfrm>
            <a:off x="962025" y="3619500"/>
            <a:ext cx="450532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The app's ability to react to user input and deliver content. This includes startup latency, smoothness of scrolling and animations, and the responsiveness of UI elements.</a:t>
            </a:r>
            <a:endParaRPr/>
          </a:p>
        </p:txBody>
      </p:sp>
      <p:sp>
        <p:nvSpPr>
          <p:cNvPr id="96" name="Google Shape;96;p14"/>
          <p:cNvSpPr txBox="1"/>
          <p:nvPr/>
        </p:nvSpPr>
        <p:spPr>
          <a:xfrm>
            <a:off x="6724650" y="2990850"/>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2. Efficiency (Resource Use)</a:t>
            </a:r>
            <a:endParaRPr/>
          </a:p>
        </p:txBody>
      </p:sp>
      <p:sp>
        <p:nvSpPr>
          <p:cNvPr id="97" name="Google Shape;97;p14"/>
          <p:cNvSpPr txBox="1"/>
          <p:nvPr/>
        </p:nvSpPr>
        <p:spPr>
          <a:xfrm>
            <a:off x="6724650" y="3619500"/>
            <a:ext cx="4505325"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The app's consumption of finite system resources. This includes memory (RAM) footprint, disk storage size, and, critically, its impact on battery life through energy consumption.</a:t>
            </a:r>
            <a:endParaRPr/>
          </a:p>
        </p:txBody>
      </p:sp>
      <p:sp>
        <p:nvSpPr>
          <p:cNvPr id="98" name="Google Shape;98;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What is Mobile Performance?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02"/>
        <p:cNvGrpSpPr/>
        <p:nvPr/>
      </p:nvGrpSpPr>
      <p:grpSpPr>
        <a:xfrm>
          <a:off x="0" y="0"/>
          <a:ext cx="0" cy="0"/>
          <a:chOff x="0" y="0"/>
          <a:chExt cx="0" cy="0"/>
        </a:xfrm>
      </p:grpSpPr>
      <p:pic>
        <p:nvPicPr>
          <p:cNvPr id="103" name="Google Shape;10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04" name="Google Shape;104;p15"/>
          <p:cNvGraphicFramePr/>
          <p:nvPr>
            <p:extLst>
              <p:ext uri="{D42A27DB-BD31-4B8C-83A1-F6EECF244321}">
                <p14:modId xmlns:p14="http://schemas.microsoft.com/office/powerpoint/2010/main" val="2212111798"/>
              </p:ext>
            </p:extLst>
          </p:nvPr>
        </p:nvGraphicFramePr>
        <p:xfrm>
          <a:off x="571500" y="2276475"/>
          <a:ext cx="11049025" cy="3257525"/>
        </p:xfrm>
        <a:graphic>
          <a:graphicData uri="http://schemas.openxmlformats.org/drawingml/2006/table">
            <a:tbl>
              <a:tblPr firstRow="1" bandRow="1">
                <a:noFill/>
                <a:tableStyleId>{20E8B36A-3B13-4662-8145-97AE537BE04F}</a:tableStyleId>
              </a:tblPr>
              <a:tblGrid>
                <a:gridCol w="1468925">
                  <a:extLst>
                    <a:ext uri="{9D8B030D-6E8A-4147-A177-3AD203B41FA5}">
                      <a16:colId xmlns:a16="http://schemas.microsoft.com/office/drawing/2014/main" val="20000"/>
                    </a:ext>
                  </a:extLst>
                </a:gridCol>
                <a:gridCol w="1893550">
                  <a:extLst>
                    <a:ext uri="{9D8B030D-6E8A-4147-A177-3AD203B41FA5}">
                      <a16:colId xmlns:a16="http://schemas.microsoft.com/office/drawing/2014/main" val="20001"/>
                    </a:ext>
                  </a:extLst>
                </a:gridCol>
                <a:gridCol w="2947550">
                  <a:extLst>
                    <a:ext uri="{9D8B030D-6E8A-4147-A177-3AD203B41FA5}">
                      <a16:colId xmlns:a16="http://schemas.microsoft.com/office/drawing/2014/main" val="20002"/>
                    </a:ext>
                  </a:extLst>
                </a:gridCol>
                <a:gridCol w="1979275">
                  <a:extLst>
                    <a:ext uri="{9D8B030D-6E8A-4147-A177-3AD203B41FA5}">
                      <a16:colId xmlns:a16="http://schemas.microsoft.com/office/drawing/2014/main" val="20003"/>
                    </a:ext>
                  </a:extLst>
                </a:gridCol>
                <a:gridCol w="2759725">
                  <a:extLst>
                    <a:ext uri="{9D8B030D-6E8A-4147-A177-3AD203B41FA5}">
                      <a16:colId xmlns:a16="http://schemas.microsoft.com/office/drawing/2014/main" val="20004"/>
                    </a:ext>
                  </a:extLst>
                </a:gridCol>
              </a:tblGrid>
              <a:tr h="814375">
                <a:tc>
                  <a:txBody>
                    <a:bodyPr/>
                    <a:lstStyle/>
                    <a:p>
                      <a:pPr marL="0" marR="0" lvl="0" indent="0" algn="l" rtl="0">
                        <a:spcBef>
                          <a:spcPts val="0"/>
                        </a:spcBef>
                        <a:spcAft>
                          <a:spcPts val="0"/>
                        </a:spcAft>
                        <a:buNone/>
                      </a:pPr>
                      <a:r>
                        <a:rPr lang="en-US" sz="1500" b="1" i="0" u="none" strike="noStrike" cap="none">
                          <a:solidFill>
                            <a:schemeClr val="tx1"/>
                          </a:solidFill>
                          <a:latin typeface="Poppins"/>
                          <a:ea typeface="Poppins"/>
                          <a:cs typeface="Poppins"/>
                          <a:sym typeface="Poppins"/>
                        </a:rPr>
                        <a:t>Start Type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500" b="1" i="0" u="none" strike="noStrike" cap="none" dirty="0">
                          <a:solidFill>
                            <a:schemeClr val="tx1"/>
                          </a:solidFill>
                          <a:latin typeface="Poppins"/>
                          <a:ea typeface="Poppins"/>
                          <a:cs typeface="Poppins"/>
                          <a:sym typeface="Poppins"/>
                        </a:rPr>
                        <a:t>System State</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500" b="1" i="0" u="none" strike="noStrike" cap="none">
                          <a:solidFill>
                            <a:schemeClr val="tx1"/>
                          </a:solidFill>
                          <a:latin typeface="Poppins"/>
                          <a:ea typeface="Poppins"/>
                          <a:cs typeface="Poppins"/>
                          <a:sym typeface="Poppins"/>
                        </a:rPr>
                        <a:t>Process Status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500" b="1" i="0" u="none" strike="noStrike" cap="none">
                          <a:solidFill>
                            <a:schemeClr val="tx1"/>
                          </a:solidFill>
                          <a:latin typeface="Poppins"/>
                          <a:ea typeface="Poppins"/>
                          <a:cs typeface="Poppins"/>
                          <a:sym typeface="Poppins"/>
                        </a:rPr>
                        <a:t>Ideal Goal (Eng)</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500" b="1" i="0" u="none" strike="noStrike" cap="none">
                          <a:solidFill>
                            <a:schemeClr val="tx1"/>
                          </a:solidFill>
                          <a:latin typeface="Poppins"/>
                          <a:ea typeface="Poppins"/>
                          <a:cs typeface="Poppins"/>
                          <a:sym typeface="Poppins"/>
                        </a:rPr>
                        <a:t>Android Vitals (Penalty)</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814375">
                <a:tc>
                  <a:txBody>
                    <a:bodyPr/>
                    <a:lstStyle/>
                    <a:p>
                      <a:pPr marL="0" marR="0" lvl="0" indent="0" algn="l" rtl="0">
                        <a:spcBef>
                          <a:spcPts val="0"/>
                        </a:spcBef>
                        <a:spcAft>
                          <a:spcPts val="0"/>
                        </a:spcAft>
                        <a:buNone/>
                      </a:pPr>
                      <a:r>
                        <a:rPr lang="en-US" sz="1350" b="1" i="0" u="none" strike="noStrike" cap="none">
                          <a:solidFill>
                            <a:schemeClr val="tx1"/>
                          </a:solidFill>
                          <a:latin typeface="Lato"/>
                          <a:ea typeface="Lato"/>
                          <a:cs typeface="Lato"/>
                          <a:sym typeface="Lato"/>
                        </a:rPr>
                        <a:t>Cold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App not in memory</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Process created, runtime initialized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chemeClr val="tx1"/>
                          </a:solidFill>
                          <a:latin typeface="Lato"/>
                          <a:ea typeface="Lato"/>
                          <a:cs typeface="Lato"/>
                          <a:sym typeface="Lato"/>
                        </a:rPr>
                        <a:t>&lt; 500ms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&gt; 5s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14375">
                <a:tc>
                  <a:txBody>
                    <a:bodyPr/>
                    <a:lstStyle/>
                    <a:p>
                      <a:pPr marL="0" marR="0" lvl="0" indent="0" algn="l" rtl="0">
                        <a:spcBef>
                          <a:spcPts val="0"/>
                        </a:spcBef>
                        <a:spcAft>
                          <a:spcPts val="0"/>
                        </a:spcAft>
                        <a:buNone/>
                      </a:pPr>
                      <a:r>
                        <a:rPr lang="en-US" sz="1350" b="1" i="0" u="none" strike="noStrike" cap="none">
                          <a:solidFill>
                            <a:schemeClr val="tx1"/>
                          </a:solidFill>
                          <a:latin typeface="Lato"/>
                          <a:ea typeface="Lato"/>
                          <a:cs typeface="Lato"/>
                          <a:sym typeface="Lato"/>
                        </a:rPr>
                        <a:t>Warm</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Process in memory</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Process reused, UI recreated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(Not specified)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&gt; 2s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14400">
                <a:tc>
                  <a:txBody>
                    <a:bodyPr/>
                    <a:lstStyle/>
                    <a:p>
                      <a:pPr marL="0" marR="0" lvl="0" indent="0" algn="l" rtl="0">
                        <a:spcBef>
                          <a:spcPts val="0"/>
                        </a:spcBef>
                        <a:spcAft>
                          <a:spcPts val="0"/>
                        </a:spcAft>
                        <a:buNone/>
                      </a:pPr>
                      <a:r>
                        <a:rPr lang="en-US" sz="1350" b="1" i="0" u="none" strike="noStrike" cap="none">
                          <a:solidFill>
                            <a:schemeClr val="tx1"/>
                          </a:solidFill>
                          <a:latin typeface="Lato"/>
                          <a:ea typeface="Lato"/>
                          <a:cs typeface="Lato"/>
                          <a:sym typeface="Lato"/>
                        </a:rPr>
                        <a:t>Hot</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App &amp; UI in memory</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App brought to foreground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Lato"/>
                          <a:ea typeface="Lato"/>
                          <a:cs typeface="Lato"/>
                          <a:sym typeface="Lato"/>
                        </a:rPr>
                        <a:t>(Not specified)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Lato"/>
                          <a:ea typeface="Lato"/>
                          <a:cs typeface="Lato"/>
                          <a:sym typeface="Lato"/>
                        </a:rPr>
                        <a:t>&gt; 1.5s</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05" name="Google Shape;105;p15"/>
          <p:cNvSpPr/>
          <p:nvPr/>
        </p:nvSpPr>
        <p:spPr>
          <a:xfrm>
            <a:off x="571500" y="3186112"/>
            <a:ext cx="146893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5"/>
          <p:cNvSpPr/>
          <p:nvPr/>
        </p:nvSpPr>
        <p:spPr>
          <a:xfrm>
            <a:off x="2040433" y="3186112"/>
            <a:ext cx="189354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5"/>
          <p:cNvSpPr/>
          <p:nvPr/>
        </p:nvSpPr>
        <p:spPr>
          <a:xfrm>
            <a:off x="3933973" y="3186112"/>
            <a:ext cx="294754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5"/>
          <p:cNvSpPr/>
          <p:nvPr/>
        </p:nvSpPr>
        <p:spPr>
          <a:xfrm>
            <a:off x="6881514" y="3186112"/>
            <a:ext cx="19792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5"/>
          <p:cNvSpPr/>
          <p:nvPr/>
        </p:nvSpPr>
        <p:spPr>
          <a:xfrm>
            <a:off x="8860780" y="3186112"/>
            <a:ext cx="275971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p:cNvSpPr/>
          <p:nvPr/>
        </p:nvSpPr>
        <p:spPr>
          <a:xfrm>
            <a:off x="571500" y="4052887"/>
            <a:ext cx="146893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p:nvPr/>
        </p:nvSpPr>
        <p:spPr>
          <a:xfrm>
            <a:off x="2040433" y="4052887"/>
            <a:ext cx="189354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5"/>
          <p:cNvSpPr/>
          <p:nvPr/>
        </p:nvSpPr>
        <p:spPr>
          <a:xfrm>
            <a:off x="3933973" y="4052887"/>
            <a:ext cx="294754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5"/>
          <p:cNvSpPr/>
          <p:nvPr/>
        </p:nvSpPr>
        <p:spPr>
          <a:xfrm>
            <a:off x="6881514" y="4052887"/>
            <a:ext cx="19792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5"/>
          <p:cNvSpPr/>
          <p:nvPr/>
        </p:nvSpPr>
        <p:spPr>
          <a:xfrm>
            <a:off x="8860780" y="4052887"/>
            <a:ext cx="275971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p:nvPr/>
        </p:nvSpPr>
        <p:spPr>
          <a:xfrm>
            <a:off x="571500" y="4662487"/>
            <a:ext cx="146893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15"/>
          <p:cNvSpPr/>
          <p:nvPr/>
        </p:nvSpPr>
        <p:spPr>
          <a:xfrm>
            <a:off x="2040433" y="4662487"/>
            <a:ext cx="189354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p:nvPr/>
        </p:nvSpPr>
        <p:spPr>
          <a:xfrm>
            <a:off x="3933973" y="4662487"/>
            <a:ext cx="294754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5"/>
          <p:cNvSpPr/>
          <p:nvPr/>
        </p:nvSpPr>
        <p:spPr>
          <a:xfrm>
            <a:off x="6881514" y="4662487"/>
            <a:ext cx="19792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 name="Google Shape;119;p15"/>
          <p:cNvSpPr/>
          <p:nvPr/>
        </p:nvSpPr>
        <p:spPr>
          <a:xfrm>
            <a:off x="8860780" y="4662487"/>
            <a:ext cx="275971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Core Metric: Startup 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6" name="Google Shape;126;p16" descr="image.png"/>
          <p:cNvPicPr preferRelativeResize="0"/>
          <p:nvPr/>
        </p:nvPicPr>
        <p:blipFill rotWithShape="1">
          <a:blip r:embed="rId4">
            <a:alphaModFix/>
          </a:blip>
          <a:srcRect/>
          <a:stretch/>
        </p:blipFill>
        <p:spPr>
          <a:xfrm>
            <a:off x="571500" y="2395537"/>
            <a:ext cx="5286375" cy="3019425"/>
          </a:xfrm>
          <a:prstGeom prst="rect">
            <a:avLst/>
          </a:prstGeom>
          <a:noFill/>
          <a:ln>
            <a:noFill/>
          </a:ln>
        </p:spPr>
      </p:pic>
      <p:pic>
        <p:nvPicPr>
          <p:cNvPr id="127" name="Google Shape;127;p16" descr="image.png"/>
          <p:cNvPicPr preferRelativeResize="0"/>
          <p:nvPr/>
        </p:nvPicPr>
        <p:blipFill rotWithShape="1">
          <a:blip r:embed="rId5">
            <a:alphaModFix/>
          </a:blip>
          <a:srcRect/>
          <a:stretch/>
        </p:blipFill>
        <p:spPr>
          <a:xfrm>
            <a:off x="6334125" y="2395537"/>
            <a:ext cx="5286375" cy="3019425"/>
          </a:xfrm>
          <a:prstGeom prst="rect">
            <a:avLst/>
          </a:prstGeom>
          <a:noFill/>
          <a:ln>
            <a:noFill/>
          </a:ln>
        </p:spPr>
      </p:pic>
      <p:sp>
        <p:nvSpPr>
          <p:cNvPr id="128" name="Google Shape;128;p16"/>
          <p:cNvSpPr txBox="1"/>
          <p:nvPr/>
        </p:nvSpPr>
        <p:spPr>
          <a:xfrm>
            <a:off x="962025" y="2786062"/>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The Frame Budget</a:t>
            </a:r>
            <a:endParaRPr/>
          </a:p>
        </p:txBody>
      </p:sp>
      <p:sp>
        <p:nvSpPr>
          <p:cNvPr id="129" name="Google Shape;129;p16"/>
          <p:cNvSpPr txBox="1"/>
          <p:nvPr/>
        </p:nvSpPr>
        <p:spPr>
          <a:xfrm>
            <a:off x="962025" y="3414712"/>
            <a:ext cx="45053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The non-negotiable deadline to produce one frame. This deadline shrinks as device refresh rates increase.</a:t>
            </a:r>
            <a:endParaRPr/>
          </a:p>
        </p:txBody>
      </p:sp>
      <p:sp>
        <p:nvSpPr>
          <p:cNvPr id="130" name="Google Shape;130;p16"/>
          <p:cNvSpPr txBox="1"/>
          <p:nvPr/>
        </p:nvSpPr>
        <p:spPr>
          <a:xfrm>
            <a:off x="6724650" y="2786062"/>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Understanding Jank</a:t>
            </a:r>
            <a:endParaRPr/>
          </a:p>
        </p:txBody>
      </p:sp>
      <p:sp>
        <p:nvSpPr>
          <p:cNvPr id="131" name="Google Shape;131;p16"/>
          <p:cNvSpPr txBox="1"/>
          <p:nvPr/>
        </p:nvSpPr>
        <p:spPr>
          <a:xfrm>
            <a:off x="6724650" y="3414712"/>
            <a:ext cx="45053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Jank is the "visual hiccup" from missing the frame budget. It's caused by </a:t>
            </a:r>
            <a:r>
              <a:rPr lang="en-US" sz="1350" b="1" i="0" u="none" strike="noStrike" cap="none">
                <a:solidFill>
                  <a:srgbClr val="CBD5E1"/>
                </a:solidFill>
                <a:latin typeface="Lato"/>
                <a:ea typeface="Lato"/>
                <a:cs typeface="Lato"/>
                <a:sym typeface="Lato"/>
              </a:rPr>
              <a:t>Frame Time Variance</a:t>
            </a:r>
            <a:r>
              <a:rPr lang="en-US" sz="1350" b="0" i="0" u="none" strike="noStrike" cap="none">
                <a:solidFill>
                  <a:srgbClr val="CBD5E1"/>
                </a:solidFill>
                <a:latin typeface="Lato"/>
                <a:ea typeface="Lato"/>
                <a:cs typeface="Lato"/>
                <a:sym typeface="Lato"/>
              </a:rPr>
              <a:t>, not low average FPS.</a:t>
            </a:r>
            <a:endParaRPr/>
          </a:p>
        </p:txBody>
      </p:sp>
      <p:sp>
        <p:nvSpPr>
          <p:cNvPr id="132" name="Google Shape;132;p16"/>
          <p:cNvSpPr txBox="1"/>
          <p:nvPr/>
        </p:nvSpPr>
        <p:spPr>
          <a:xfrm>
            <a:off x="6724650" y="4100512"/>
            <a:ext cx="45053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A game with a </a:t>
            </a:r>
            <a:r>
              <a:rPr lang="en-US" sz="1350" b="1" i="0" u="none" strike="noStrike" cap="none">
                <a:solidFill>
                  <a:srgbClr val="CBD5E1"/>
                </a:solidFill>
                <a:latin typeface="Lato"/>
                <a:ea typeface="Lato"/>
                <a:cs typeface="Lato"/>
                <a:sym typeface="Lato"/>
              </a:rPr>
              <a:t>consistent 30 FPS</a:t>
            </a:r>
            <a:r>
              <a:rPr lang="en-US" sz="1350" b="0" i="0" u="none" strike="noStrike" cap="none">
                <a:solidFill>
                  <a:srgbClr val="CBD5E1"/>
                </a:solidFill>
                <a:latin typeface="Lato"/>
                <a:ea typeface="Lato"/>
                <a:cs typeface="Lato"/>
                <a:sym typeface="Lato"/>
              </a:rPr>
              <a:t> (33ms) feels smoother than an app with </a:t>
            </a:r>
            <a:r>
              <a:rPr lang="en-US" sz="1350" b="1" i="0" u="none" strike="noStrike" cap="none">
                <a:solidFill>
                  <a:srgbClr val="CBD5E1"/>
                </a:solidFill>
                <a:latin typeface="Lato"/>
                <a:ea typeface="Lato"/>
                <a:cs typeface="Lato"/>
                <a:sym typeface="Lato"/>
              </a:rPr>
              <a:t>55 FPS average</a:t>
            </a:r>
            <a:r>
              <a:rPr lang="en-US" sz="1350" b="0" i="0" u="none" strike="noStrike" cap="none">
                <a:solidFill>
                  <a:srgbClr val="CBD5E1"/>
                </a:solidFill>
                <a:latin typeface="Lato"/>
                <a:ea typeface="Lato"/>
                <a:cs typeface="Lato"/>
                <a:sym typeface="Lato"/>
              </a:rPr>
              <a:t> but spikes of 100ms+.</a:t>
            </a:r>
            <a:endParaRPr/>
          </a:p>
        </p:txBody>
      </p:sp>
      <p:sp>
        <p:nvSpPr>
          <p:cNvPr id="133" name="Google Shape;133;p16"/>
          <p:cNvSpPr txBox="1"/>
          <p:nvPr/>
        </p:nvSpPr>
        <p:spPr>
          <a:xfrm>
            <a:off x="1247775" y="410051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Lato"/>
                <a:ea typeface="Lato"/>
                <a:cs typeface="Lato"/>
                <a:sym typeface="Lato"/>
              </a:rPr>
              <a:t>•</a:t>
            </a:r>
            <a:endParaRPr/>
          </a:p>
        </p:txBody>
      </p:sp>
      <p:sp>
        <p:nvSpPr>
          <p:cNvPr id="134" name="Google Shape;134;p16"/>
          <p:cNvSpPr txBox="1"/>
          <p:nvPr/>
        </p:nvSpPr>
        <p:spPr>
          <a:xfrm>
            <a:off x="1343025" y="4100512"/>
            <a:ext cx="412432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60Hz:</a:t>
            </a:r>
            <a:r>
              <a:rPr lang="en-US" sz="1350" b="0" i="0" u="none" strike="noStrike" cap="none">
                <a:solidFill>
                  <a:srgbClr val="CBD5E1"/>
                </a:solidFill>
                <a:latin typeface="Lato"/>
                <a:ea typeface="Lato"/>
                <a:cs typeface="Lato"/>
                <a:sym typeface="Lato"/>
              </a:rPr>
              <a:t> 1000ms / 60 = </a:t>
            </a:r>
            <a:r>
              <a:rPr lang="en-US" sz="1350" b="1" i="0" u="none" strike="noStrike" cap="none">
                <a:solidFill>
                  <a:srgbClr val="CBD5E1"/>
                </a:solidFill>
                <a:latin typeface="Lato"/>
                <a:ea typeface="Lato"/>
                <a:cs typeface="Lato"/>
                <a:sym typeface="Lato"/>
              </a:rPr>
              <a:t>16.67ms</a:t>
            </a:r>
            <a:endParaRPr/>
          </a:p>
        </p:txBody>
      </p:sp>
      <p:sp>
        <p:nvSpPr>
          <p:cNvPr id="135" name="Google Shape;135;p16"/>
          <p:cNvSpPr txBox="1"/>
          <p:nvPr/>
        </p:nvSpPr>
        <p:spPr>
          <a:xfrm>
            <a:off x="1247775" y="435768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Lato"/>
                <a:ea typeface="Lato"/>
                <a:cs typeface="Lato"/>
                <a:sym typeface="Lato"/>
              </a:rPr>
              <a:t>•</a:t>
            </a:r>
            <a:endParaRPr/>
          </a:p>
        </p:txBody>
      </p:sp>
      <p:sp>
        <p:nvSpPr>
          <p:cNvPr id="136" name="Google Shape;136;p16"/>
          <p:cNvSpPr txBox="1"/>
          <p:nvPr/>
        </p:nvSpPr>
        <p:spPr>
          <a:xfrm>
            <a:off x="1343025" y="4357687"/>
            <a:ext cx="412432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90Hz:</a:t>
            </a:r>
            <a:r>
              <a:rPr lang="en-US" sz="1350" b="0" i="0" u="none" strike="noStrike" cap="none">
                <a:solidFill>
                  <a:srgbClr val="CBD5E1"/>
                </a:solidFill>
                <a:latin typeface="Lato"/>
                <a:ea typeface="Lato"/>
                <a:cs typeface="Lato"/>
                <a:sym typeface="Lato"/>
              </a:rPr>
              <a:t> 1000ms / 90 = </a:t>
            </a:r>
            <a:r>
              <a:rPr lang="en-US" sz="1350" b="1" i="0" u="none" strike="noStrike" cap="none">
                <a:solidFill>
                  <a:srgbClr val="CBD5E1"/>
                </a:solidFill>
                <a:latin typeface="Lato"/>
                <a:ea typeface="Lato"/>
                <a:cs typeface="Lato"/>
                <a:sym typeface="Lato"/>
              </a:rPr>
              <a:t>11.1ms</a:t>
            </a:r>
            <a:endParaRPr/>
          </a:p>
        </p:txBody>
      </p:sp>
      <p:sp>
        <p:nvSpPr>
          <p:cNvPr id="137" name="Google Shape;137;p16"/>
          <p:cNvSpPr txBox="1"/>
          <p:nvPr/>
        </p:nvSpPr>
        <p:spPr>
          <a:xfrm>
            <a:off x="1247775" y="461486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Lato"/>
                <a:ea typeface="Lato"/>
                <a:cs typeface="Lato"/>
                <a:sym typeface="Lato"/>
              </a:rPr>
              <a:t>•</a:t>
            </a:r>
            <a:endParaRPr/>
          </a:p>
        </p:txBody>
      </p:sp>
      <p:sp>
        <p:nvSpPr>
          <p:cNvPr id="138" name="Google Shape;138;p16"/>
          <p:cNvSpPr txBox="1"/>
          <p:nvPr/>
        </p:nvSpPr>
        <p:spPr>
          <a:xfrm>
            <a:off x="1343025" y="4614862"/>
            <a:ext cx="412432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120Hz:</a:t>
            </a:r>
            <a:r>
              <a:rPr lang="en-US" sz="1350" b="0" i="0" u="none" strike="noStrike" cap="none">
                <a:solidFill>
                  <a:srgbClr val="CBD5E1"/>
                </a:solidFill>
                <a:latin typeface="Lato"/>
                <a:ea typeface="Lato"/>
                <a:cs typeface="Lato"/>
                <a:sym typeface="Lato"/>
              </a:rPr>
              <a:t> 1000ms / 120 = </a:t>
            </a:r>
            <a:r>
              <a:rPr lang="en-US" sz="1350" b="1" i="0" u="none" strike="noStrike" cap="none">
                <a:solidFill>
                  <a:srgbClr val="CBD5E1"/>
                </a:solidFill>
                <a:latin typeface="Lato"/>
                <a:ea typeface="Lato"/>
                <a:cs typeface="Lato"/>
                <a:sym typeface="Lato"/>
              </a:rPr>
              <a:t>8.3ms</a:t>
            </a:r>
            <a:endParaRPr/>
          </a:p>
        </p:txBody>
      </p:sp>
      <p:sp>
        <p:nvSpPr>
          <p:cNvPr id="139" name="Google Shape;139;p1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Core Metric: Rendering &amp; Jank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43"/>
        <p:cNvGrpSpPr/>
        <p:nvPr/>
      </p:nvGrpSpPr>
      <p:grpSpPr>
        <a:xfrm>
          <a:off x="0" y="0"/>
          <a:ext cx="0" cy="0"/>
          <a:chOff x="0" y="0"/>
          <a:chExt cx="0" cy="0"/>
        </a:xfrm>
      </p:grpSpPr>
      <p:pic>
        <p:nvPicPr>
          <p:cNvPr id="144" name="Google Shape;14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5" name="Google Shape;145;p17"/>
          <p:cNvSpPr/>
          <p:nvPr/>
        </p:nvSpPr>
        <p:spPr>
          <a:xfrm>
            <a:off x="5619750" y="2566987"/>
            <a:ext cx="952500" cy="47625"/>
          </a:xfrm>
          <a:prstGeom prst="rect">
            <a:avLst/>
          </a:prstGeom>
          <a:solidFill>
            <a:srgbClr val="40C4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7"/>
          <p:cNvSpPr txBox="1"/>
          <p:nvPr/>
        </p:nvSpPr>
        <p:spPr>
          <a:xfrm>
            <a:off x="3675697" y="2900362"/>
            <a:ext cx="4840605"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8FAFC"/>
                </a:solidFill>
                <a:latin typeface="Poppins"/>
                <a:ea typeface="Poppins"/>
                <a:cs typeface="Poppins"/>
                <a:sym typeface="Poppins"/>
              </a:rPr>
              <a:t>The Silent Drain</a:t>
            </a:r>
            <a:endParaRPr/>
          </a:p>
        </p:txBody>
      </p:sp>
      <p:sp>
        <p:nvSpPr>
          <p:cNvPr id="147" name="Google Shape;147;p17"/>
          <p:cNvSpPr txBox="1"/>
          <p:nvPr/>
        </p:nvSpPr>
        <p:spPr>
          <a:xfrm>
            <a:off x="2762250" y="3948112"/>
            <a:ext cx="6667500"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CBD5E1"/>
                </a:solidFill>
                <a:latin typeface="Lato"/>
                <a:ea typeface="Lato"/>
                <a:cs typeface="Lato"/>
                <a:sym typeface="Lato"/>
              </a:rPr>
              <a:t>Module 2: Understanding Energy Consumption. Apps seen as "battery hogs" are uninstalled 2.5x more frequently.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51"/>
        <p:cNvGrpSpPr/>
        <p:nvPr/>
      </p:nvGrpSpPr>
      <p:grpSpPr>
        <a:xfrm>
          <a:off x="0" y="0"/>
          <a:ext cx="0" cy="0"/>
          <a:chOff x="0" y="0"/>
          <a:chExt cx="0" cy="0"/>
        </a:xfrm>
      </p:grpSpPr>
      <p:pic>
        <p:nvPicPr>
          <p:cNvPr id="152" name="Google Shape;15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3" name="Google Shape;153;p18" descr="image.png"/>
          <p:cNvPicPr preferRelativeResize="0"/>
          <p:nvPr/>
        </p:nvPicPr>
        <p:blipFill rotWithShape="1">
          <a:blip r:embed="rId4">
            <a:alphaModFix/>
          </a:blip>
          <a:srcRect/>
          <a:stretch/>
        </p:blipFill>
        <p:spPr>
          <a:xfrm>
            <a:off x="571500" y="2333625"/>
            <a:ext cx="3429000" cy="3143250"/>
          </a:xfrm>
          <a:prstGeom prst="rect">
            <a:avLst/>
          </a:prstGeom>
          <a:noFill/>
          <a:ln>
            <a:noFill/>
          </a:ln>
        </p:spPr>
      </p:pic>
      <p:pic>
        <p:nvPicPr>
          <p:cNvPr id="154" name="Google Shape;154;p18" descr="image.png"/>
          <p:cNvPicPr preferRelativeResize="0"/>
          <p:nvPr/>
        </p:nvPicPr>
        <p:blipFill rotWithShape="1">
          <a:blip r:embed="rId5">
            <a:alphaModFix/>
          </a:blip>
          <a:srcRect/>
          <a:stretch/>
        </p:blipFill>
        <p:spPr>
          <a:xfrm>
            <a:off x="4381500" y="2333625"/>
            <a:ext cx="3429000" cy="3143250"/>
          </a:xfrm>
          <a:prstGeom prst="rect">
            <a:avLst/>
          </a:prstGeom>
          <a:noFill/>
          <a:ln>
            <a:noFill/>
          </a:ln>
        </p:spPr>
      </p:pic>
      <p:pic>
        <p:nvPicPr>
          <p:cNvPr id="155" name="Google Shape;155;p18" descr="image.png"/>
          <p:cNvPicPr preferRelativeResize="0"/>
          <p:nvPr/>
        </p:nvPicPr>
        <p:blipFill rotWithShape="1">
          <a:blip r:embed="rId5">
            <a:alphaModFix/>
          </a:blip>
          <a:srcRect/>
          <a:stretch/>
        </p:blipFill>
        <p:spPr>
          <a:xfrm>
            <a:off x="8191500" y="2333625"/>
            <a:ext cx="3429000" cy="3143250"/>
          </a:xfrm>
          <a:prstGeom prst="rect">
            <a:avLst/>
          </a:prstGeom>
          <a:noFill/>
          <a:ln>
            <a:noFill/>
          </a:ln>
        </p:spPr>
      </p:pic>
      <p:sp>
        <p:nvSpPr>
          <p:cNvPr id="156" name="Google Shape;156;p18"/>
          <p:cNvSpPr txBox="1"/>
          <p:nvPr/>
        </p:nvSpPr>
        <p:spPr>
          <a:xfrm>
            <a:off x="1390888" y="3362325"/>
            <a:ext cx="1790223"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8FAFC"/>
                </a:solidFill>
                <a:latin typeface="Poppins"/>
                <a:ea typeface="Poppins"/>
                <a:cs typeface="Poppins"/>
                <a:sym typeface="Poppins"/>
              </a:rPr>
              <a:t>The Screen</a:t>
            </a:r>
            <a:endParaRPr/>
          </a:p>
        </p:txBody>
      </p:sp>
      <p:sp>
        <p:nvSpPr>
          <p:cNvPr id="157" name="Google Shape;157;p18"/>
          <p:cNvSpPr txBox="1"/>
          <p:nvPr/>
        </p:nvSpPr>
        <p:spPr>
          <a:xfrm>
            <a:off x="866775" y="4114800"/>
            <a:ext cx="2838450" cy="914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200" b="1" i="0" u="none" strike="noStrike" cap="none">
                <a:solidFill>
                  <a:srgbClr val="CBD5E1"/>
                </a:solidFill>
                <a:latin typeface="Lato"/>
                <a:ea typeface="Lato"/>
                <a:cs typeface="Lato"/>
                <a:sym typeface="Lato"/>
              </a:rPr>
              <a:t>OLED:</a:t>
            </a:r>
            <a:r>
              <a:rPr lang="en-US" sz="1200" b="0" i="0" u="none" strike="noStrike" cap="none">
                <a:solidFill>
                  <a:srgbClr val="CBD5E1"/>
                </a:solidFill>
                <a:latin typeface="Lato"/>
                <a:ea typeface="Lato"/>
                <a:cs typeface="Lato"/>
                <a:sym typeface="Lato"/>
              </a:rPr>
              <a:t> Black pixels are "off" (0 power). Dark Mode saves massive energy.</a:t>
            </a:r>
            <a:br>
              <a:rPr lang="en-US" sz="1800" b="0" i="0" u="none" strike="noStrike" cap="none">
                <a:solidFill>
                  <a:schemeClr val="dk1"/>
                </a:solidFill>
                <a:latin typeface="Calibri"/>
                <a:ea typeface="Calibri"/>
                <a:cs typeface="Calibri"/>
                <a:sym typeface="Calibri"/>
              </a:rPr>
            </a:br>
            <a:r>
              <a:rPr lang="en-US" sz="1200" b="1" i="0" u="none" strike="noStrike" cap="none">
                <a:solidFill>
                  <a:srgbClr val="CBD5E1"/>
                </a:solidFill>
                <a:latin typeface="Lato"/>
                <a:ea typeface="Lato"/>
                <a:cs typeface="Lato"/>
                <a:sym typeface="Lato"/>
              </a:rPr>
              <a:t>LCD:</a:t>
            </a:r>
            <a:r>
              <a:rPr lang="en-US" sz="1200" b="0" i="0" u="none" strike="noStrike" cap="none">
                <a:solidFill>
                  <a:srgbClr val="CBD5E1"/>
                </a:solidFill>
                <a:latin typeface="Lato"/>
                <a:ea typeface="Lato"/>
                <a:cs typeface="Lato"/>
                <a:sym typeface="Lato"/>
              </a:rPr>
              <a:t> Backlight is always on. Dark Mode provides no battery benefit.</a:t>
            </a:r>
            <a:endParaRPr/>
          </a:p>
        </p:txBody>
      </p:sp>
      <p:sp>
        <p:nvSpPr>
          <p:cNvPr id="158" name="Google Shape;158;p18"/>
          <p:cNvSpPr txBox="1"/>
          <p:nvPr/>
        </p:nvSpPr>
        <p:spPr>
          <a:xfrm>
            <a:off x="4845843" y="3362325"/>
            <a:ext cx="2500312"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8FAFC"/>
                </a:solidFill>
                <a:latin typeface="Poppins"/>
                <a:ea typeface="Poppins"/>
                <a:cs typeface="Poppins"/>
                <a:sym typeface="Poppins"/>
              </a:rPr>
              <a:t>CPU / GPU Load</a:t>
            </a:r>
            <a:endParaRPr/>
          </a:p>
        </p:txBody>
      </p:sp>
      <p:sp>
        <p:nvSpPr>
          <p:cNvPr id="159" name="Google Shape;159;p18"/>
          <p:cNvSpPr txBox="1"/>
          <p:nvPr/>
        </p:nvSpPr>
        <p:spPr>
          <a:xfrm>
            <a:off x="4676775" y="4114800"/>
            <a:ext cx="2838450"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CBD5E1"/>
                </a:solidFill>
                <a:latin typeface="Lato"/>
                <a:ea typeface="Lato"/>
                <a:cs typeface="Lato"/>
                <a:sym typeface="Lato"/>
              </a:rPr>
              <a:t>Inefficient code causes high CPU load, which generates heat. The OS throttles the CPU to cool it, which then causes jank. An energy problem becomes a speed problem.</a:t>
            </a:r>
            <a:endParaRPr/>
          </a:p>
        </p:txBody>
      </p:sp>
      <p:sp>
        <p:nvSpPr>
          <p:cNvPr id="160" name="Google Shape;160;p18"/>
          <p:cNvSpPr txBox="1"/>
          <p:nvPr/>
        </p:nvSpPr>
        <p:spPr>
          <a:xfrm>
            <a:off x="8700849" y="3362325"/>
            <a:ext cx="2410301"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8FAFC"/>
                </a:solidFill>
                <a:latin typeface="Poppins"/>
                <a:ea typeface="Poppins"/>
                <a:cs typeface="Poppins"/>
                <a:sym typeface="Poppins"/>
              </a:rPr>
              <a:t>Network Radio</a:t>
            </a:r>
            <a:endParaRPr/>
          </a:p>
        </p:txBody>
      </p:sp>
      <p:sp>
        <p:nvSpPr>
          <p:cNvPr id="161" name="Google Shape;161;p18"/>
          <p:cNvSpPr txBox="1"/>
          <p:nvPr/>
        </p:nvSpPr>
        <p:spPr>
          <a:xfrm>
            <a:off x="8486775" y="4114800"/>
            <a:ext cx="2838450"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CBD5E1"/>
                </a:solidFill>
                <a:latin typeface="Lato"/>
                <a:ea typeface="Lato"/>
                <a:cs typeface="Lato"/>
                <a:sym typeface="Lato"/>
              </a:rPr>
              <a:t>The "Energy Tail": The radio stays in high-power mode for 5-10 seconds *after* a request. "Chatty" apps with frequent small packets never let the radio sleep.</a:t>
            </a:r>
            <a:endParaRPr/>
          </a:p>
        </p:txBody>
      </p:sp>
      <p:pic>
        <p:nvPicPr>
          <p:cNvPr id="162" name="Google Shape;162;p18" descr="image.png"/>
          <p:cNvPicPr preferRelativeResize="0"/>
          <p:nvPr/>
        </p:nvPicPr>
        <p:blipFill rotWithShape="1">
          <a:blip r:embed="rId6">
            <a:alphaModFix/>
          </a:blip>
          <a:srcRect/>
          <a:stretch/>
        </p:blipFill>
        <p:spPr>
          <a:xfrm>
            <a:off x="2114550" y="2676525"/>
            <a:ext cx="342900" cy="457200"/>
          </a:xfrm>
          <a:prstGeom prst="rect">
            <a:avLst/>
          </a:prstGeom>
          <a:noFill/>
          <a:ln>
            <a:noFill/>
          </a:ln>
        </p:spPr>
      </p:pic>
      <p:pic>
        <p:nvPicPr>
          <p:cNvPr id="163" name="Google Shape;163;p18" descr="image.png"/>
          <p:cNvPicPr preferRelativeResize="0"/>
          <p:nvPr/>
        </p:nvPicPr>
        <p:blipFill rotWithShape="1">
          <a:blip r:embed="rId7">
            <a:alphaModFix/>
          </a:blip>
          <a:srcRect/>
          <a:stretch/>
        </p:blipFill>
        <p:spPr>
          <a:xfrm>
            <a:off x="5867400" y="2676525"/>
            <a:ext cx="457200" cy="457200"/>
          </a:xfrm>
          <a:prstGeom prst="rect">
            <a:avLst/>
          </a:prstGeom>
          <a:noFill/>
          <a:ln>
            <a:noFill/>
          </a:ln>
        </p:spPr>
      </p:pic>
      <p:pic>
        <p:nvPicPr>
          <p:cNvPr id="164" name="Google Shape;164;p18" descr="image.png"/>
          <p:cNvPicPr preferRelativeResize="0"/>
          <p:nvPr/>
        </p:nvPicPr>
        <p:blipFill rotWithShape="1">
          <a:blip r:embed="rId8">
            <a:alphaModFix/>
          </a:blip>
          <a:srcRect/>
          <a:stretch/>
        </p:blipFill>
        <p:spPr>
          <a:xfrm>
            <a:off x="9620250" y="2676525"/>
            <a:ext cx="571500" cy="457200"/>
          </a:xfrm>
          <a:prstGeom prst="rect">
            <a:avLst/>
          </a:prstGeom>
          <a:noFill/>
          <a:ln>
            <a:noFill/>
          </a:ln>
        </p:spPr>
      </p:pic>
      <p:sp>
        <p:nvSpPr>
          <p:cNvPr id="165" name="Google Shape;165;p1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Primary Energy Drivers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69"/>
        <p:cNvGrpSpPr/>
        <p:nvPr/>
      </p:nvGrpSpPr>
      <p:grpSpPr>
        <a:xfrm>
          <a:off x="0" y="0"/>
          <a:ext cx="0" cy="0"/>
          <a:chOff x="0" y="0"/>
          <a:chExt cx="0" cy="0"/>
        </a:xfrm>
      </p:grpSpPr>
      <p:pic>
        <p:nvPicPr>
          <p:cNvPr id="170" name="Google Shape;17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1" name="Google Shape;171;p19"/>
          <p:cNvSpPr/>
          <p:nvPr/>
        </p:nvSpPr>
        <p:spPr>
          <a:xfrm>
            <a:off x="5619750" y="2724150"/>
            <a:ext cx="952500" cy="47625"/>
          </a:xfrm>
          <a:prstGeom prst="rect">
            <a:avLst/>
          </a:prstGeom>
          <a:solidFill>
            <a:srgbClr val="40C4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9"/>
          <p:cNvSpPr txBox="1"/>
          <p:nvPr/>
        </p:nvSpPr>
        <p:spPr>
          <a:xfrm>
            <a:off x="2825591" y="3057525"/>
            <a:ext cx="6540817"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8FAFC"/>
                </a:solidFill>
                <a:latin typeface="Poppins"/>
                <a:ea typeface="Poppins"/>
                <a:cs typeface="Poppins"/>
                <a:sym typeface="Poppins"/>
              </a:rPr>
              <a:t>Flutter's Architecture</a:t>
            </a:r>
            <a:endParaRPr/>
          </a:p>
        </p:txBody>
      </p:sp>
      <p:sp>
        <p:nvSpPr>
          <p:cNvPr id="173" name="Google Shape;173;p19"/>
          <p:cNvSpPr txBox="1"/>
          <p:nvPr/>
        </p:nvSpPr>
        <p:spPr>
          <a:xfrm>
            <a:off x="4019550" y="4105275"/>
            <a:ext cx="41529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CBD5E1"/>
                </a:solidFill>
                <a:latin typeface="Lato"/>
                <a:ea typeface="Lato"/>
                <a:cs typeface="Lato"/>
                <a:sym typeface="Lato"/>
              </a:rPr>
              <a:t>Module 3: How Flutter Changes the Equation.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77"/>
        <p:cNvGrpSpPr/>
        <p:nvPr/>
      </p:nvGrpSpPr>
      <p:grpSpPr>
        <a:xfrm>
          <a:off x="0" y="0"/>
          <a:ext cx="0" cy="0"/>
          <a:chOff x="0" y="0"/>
          <a:chExt cx="0" cy="0"/>
        </a:xfrm>
      </p:grpSpPr>
      <p:pic>
        <p:nvPicPr>
          <p:cNvPr id="178" name="Google Shape;17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9" name="Google Shape;179;p20" descr="image.png"/>
          <p:cNvPicPr preferRelativeResize="0"/>
          <p:nvPr/>
        </p:nvPicPr>
        <p:blipFill rotWithShape="1">
          <a:blip r:embed="rId4">
            <a:alphaModFix/>
          </a:blip>
          <a:srcRect/>
          <a:stretch/>
        </p:blipFill>
        <p:spPr>
          <a:xfrm>
            <a:off x="571500" y="2238375"/>
            <a:ext cx="5286375" cy="3333750"/>
          </a:xfrm>
          <a:prstGeom prst="rect">
            <a:avLst/>
          </a:prstGeom>
          <a:noFill/>
          <a:ln>
            <a:noFill/>
          </a:ln>
        </p:spPr>
      </p:pic>
      <p:sp>
        <p:nvSpPr>
          <p:cNvPr id="180" name="Google Shape;180;p20"/>
          <p:cNvSpPr txBox="1"/>
          <p:nvPr/>
        </p:nvSpPr>
        <p:spPr>
          <a:xfrm>
            <a:off x="6334125" y="2562225"/>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No Native Widgets</a:t>
            </a:r>
            <a:endParaRPr/>
          </a:p>
        </p:txBody>
      </p:sp>
      <p:sp>
        <p:nvSpPr>
          <p:cNvPr id="181" name="Google Shape;181;p20"/>
          <p:cNvSpPr txBox="1"/>
          <p:nvPr/>
        </p:nvSpPr>
        <p:spPr>
          <a:xfrm>
            <a:off x="6334125" y="3190875"/>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Flutter does not act as a "bridge" to native platform widgets (like React Native). It ships its own rendering engine (Skia/Impeller) and paints every single pixel directly to the screen.</a:t>
            </a:r>
            <a:endParaRPr/>
          </a:p>
        </p:txBody>
      </p:sp>
      <p:sp>
        <p:nvSpPr>
          <p:cNvPr id="182" name="Google Shape;182;p20"/>
          <p:cNvSpPr txBox="1"/>
          <p:nvPr/>
        </p:nvSpPr>
        <p:spPr>
          <a:xfrm>
            <a:off x="6334125" y="4133850"/>
            <a:ext cx="52863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Pro:</a:t>
            </a:r>
            <a:r>
              <a:rPr lang="en-US" sz="1350" b="0" i="0" u="none" strike="noStrike" cap="none">
                <a:solidFill>
                  <a:srgbClr val="CBD5E1"/>
                </a:solidFill>
                <a:latin typeface="Lato"/>
                <a:ea typeface="Lato"/>
                <a:cs typeface="Lato"/>
                <a:sym typeface="Lato"/>
              </a:rPr>
              <a:t> Pixel-perfect UI consistency and AOT-compiled native speed.</a:t>
            </a:r>
            <a:endParaRPr/>
          </a:p>
        </p:txBody>
      </p:sp>
      <p:sp>
        <p:nvSpPr>
          <p:cNvPr id="183" name="Google Shape;183;p20"/>
          <p:cNvSpPr txBox="1"/>
          <p:nvPr/>
        </p:nvSpPr>
        <p:spPr>
          <a:xfrm>
            <a:off x="6334125" y="4562475"/>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Con:</a:t>
            </a:r>
            <a:r>
              <a:rPr lang="en-US" sz="1350" b="0" i="0" u="none" strike="noStrike" cap="none">
                <a:solidFill>
                  <a:srgbClr val="CBD5E1"/>
                </a:solidFill>
                <a:latin typeface="Lato"/>
                <a:ea typeface="Lato"/>
                <a:cs typeface="Lato"/>
                <a:sym typeface="Lato"/>
              </a:rPr>
              <a:t> Flutter is 100% responsible for the performance of its own widget set.</a:t>
            </a:r>
            <a:endParaRPr/>
          </a:p>
        </p:txBody>
      </p:sp>
      <p:pic>
        <p:nvPicPr>
          <p:cNvPr id="184" name="Google Shape;184;p20" descr="image.png"/>
          <p:cNvPicPr preferRelativeResize="0"/>
          <p:nvPr/>
        </p:nvPicPr>
        <p:blipFill rotWithShape="1">
          <a:blip r:embed="rId5">
            <a:alphaModFix/>
          </a:blip>
          <a:srcRect/>
          <a:stretch/>
        </p:blipFill>
        <p:spPr>
          <a:xfrm>
            <a:off x="581025" y="2247900"/>
            <a:ext cx="5267325" cy="3314700"/>
          </a:xfrm>
          <a:prstGeom prst="rect">
            <a:avLst/>
          </a:prstGeom>
          <a:noFill/>
          <a:ln>
            <a:noFill/>
          </a:ln>
        </p:spPr>
      </p:pic>
      <p:sp>
        <p:nvSpPr>
          <p:cNvPr id="185" name="Google Shape;185;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Flutter "Owns the Pixels"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89"/>
        <p:cNvGrpSpPr/>
        <p:nvPr/>
      </p:nvGrpSpPr>
      <p:grpSpPr>
        <a:xfrm>
          <a:off x="0" y="0"/>
          <a:ext cx="0" cy="0"/>
          <a:chOff x="0" y="0"/>
          <a:chExt cx="0" cy="0"/>
        </a:xfrm>
      </p:grpSpPr>
      <p:pic>
        <p:nvPicPr>
          <p:cNvPr id="190" name="Google Shape;19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1" name="Google Shape;191;p21" descr="image.png"/>
          <p:cNvPicPr preferRelativeResize="0"/>
          <p:nvPr/>
        </p:nvPicPr>
        <p:blipFill rotWithShape="1">
          <a:blip r:embed="rId4">
            <a:alphaModFix/>
          </a:blip>
          <a:srcRect/>
          <a:stretch/>
        </p:blipFill>
        <p:spPr>
          <a:xfrm>
            <a:off x="571500" y="2009775"/>
            <a:ext cx="5286375" cy="3790950"/>
          </a:xfrm>
          <a:prstGeom prst="rect">
            <a:avLst/>
          </a:prstGeom>
          <a:noFill/>
          <a:ln>
            <a:noFill/>
          </a:ln>
        </p:spPr>
      </p:pic>
      <p:pic>
        <p:nvPicPr>
          <p:cNvPr id="192" name="Google Shape;192;p21" descr="image.png"/>
          <p:cNvPicPr preferRelativeResize="0"/>
          <p:nvPr/>
        </p:nvPicPr>
        <p:blipFill rotWithShape="1">
          <a:blip r:embed="rId5">
            <a:alphaModFix/>
          </a:blip>
          <a:srcRect/>
          <a:stretch/>
        </p:blipFill>
        <p:spPr>
          <a:xfrm>
            <a:off x="6334125" y="2009775"/>
            <a:ext cx="5286375" cy="3790950"/>
          </a:xfrm>
          <a:prstGeom prst="rect">
            <a:avLst/>
          </a:prstGeom>
          <a:noFill/>
          <a:ln>
            <a:noFill/>
          </a:ln>
        </p:spPr>
      </p:pic>
      <p:sp>
        <p:nvSpPr>
          <p:cNvPr id="193" name="Google Shape;193;p21"/>
          <p:cNvSpPr txBox="1"/>
          <p:nvPr/>
        </p:nvSpPr>
        <p:spPr>
          <a:xfrm>
            <a:off x="962025" y="2400300"/>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The Three Trees</a:t>
            </a:r>
            <a:endParaRPr/>
          </a:p>
        </p:txBody>
      </p:sp>
      <p:sp>
        <p:nvSpPr>
          <p:cNvPr id="194" name="Google Shape;194;p21"/>
          <p:cNvSpPr txBox="1"/>
          <p:nvPr/>
        </p:nvSpPr>
        <p:spPr>
          <a:xfrm>
            <a:off x="962025" y="3028950"/>
            <a:ext cx="45053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Flutter's optimization strategy is to separate configuration from work:</a:t>
            </a:r>
            <a:endParaRPr/>
          </a:p>
        </p:txBody>
      </p:sp>
      <p:sp>
        <p:nvSpPr>
          <p:cNvPr id="195" name="Google Shape;195;p21"/>
          <p:cNvSpPr txBox="1"/>
          <p:nvPr/>
        </p:nvSpPr>
        <p:spPr>
          <a:xfrm>
            <a:off x="6724650" y="2400300"/>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Engine: Skia vs. Impeller</a:t>
            </a:r>
            <a:endParaRPr/>
          </a:p>
        </p:txBody>
      </p:sp>
      <p:sp>
        <p:nvSpPr>
          <p:cNvPr id="196" name="Google Shape;196;p21"/>
          <p:cNvSpPr txBox="1"/>
          <p:nvPr/>
        </p:nvSpPr>
        <p:spPr>
          <a:xfrm>
            <a:off x="6724650" y="3028950"/>
            <a:ext cx="450532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Skia (Old):</a:t>
            </a:r>
            <a:r>
              <a:rPr lang="en-US" sz="1350" b="0" i="0" u="none" strike="noStrike" cap="none">
                <a:solidFill>
                  <a:srgbClr val="CBD5E1"/>
                </a:solidFill>
                <a:latin typeface="Lato"/>
                <a:ea typeface="Lato"/>
                <a:cs typeface="Lato"/>
                <a:sym typeface="Lato"/>
              </a:rPr>
              <a:t> Powerful, but suffered from </a:t>
            </a:r>
            <a:r>
              <a:rPr lang="en-US" sz="1350" b="1" i="0" u="none" strike="noStrike" cap="none">
                <a:solidFill>
                  <a:srgbClr val="CBD5E1"/>
                </a:solidFill>
                <a:latin typeface="Lato"/>
                <a:ea typeface="Lato"/>
                <a:cs typeface="Lato"/>
                <a:sym typeface="Lato"/>
              </a:rPr>
              <a:t>runtime shader compilation</a:t>
            </a:r>
            <a:r>
              <a:rPr lang="en-US" sz="1350" b="0" i="0" u="none" strike="noStrike" cap="none">
                <a:solidFill>
                  <a:srgbClr val="CBD5E1"/>
                </a:solidFill>
                <a:latin typeface="Lato"/>
                <a:ea typeface="Lato"/>
                <a:cs typeface="Lato"/>
                <a:sym typeface="Lato"/>
              </a:rPr>
              <a:t>. This was the cause of "first-run jank" (e.g., the first time a blur effect appeared).</a:t>
            </a:r>
            <a:endParaRPr/>
          </a:p>
        </p:txBody>
      </p:sp>
      <p:sp>
        <p:nvSpPr>
          <p:cNvPr id="197" name="Google Shape;197;p21"/>
          <p:cNvSpPr txBox="1"/>
          <p:nvPr/>
        </p:nvSpPr>
        <p:spPr>
          <a:xfrm>
            <a:off x="6724650" y="3971925"/>
            <a:ext cx="450532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Impeller (New):</a:t>
            </a:r>
            <a:r>
              <a:rPr lang="en-US" sz="1350" b="0" i="0" u="none" strike="noStrike" cap="none">
                <a:solidFill>
                  <a:srgbClr val="CBD5E1"/>
                </a:solidFill>
                <a:latin typeface="Lato"/>
                <a:ea typeface="Lato"/>
                <a:cs typeface="Lato"/>
                <a:sym typeface="Lato"/>
              </a:rPr>
              <a:t> Built for Flutter. Has </a:t>
            </a:r>
            <a:r>
              <a:rPr lang="en-US" sz="1350" b="1" i="0" u="none" strike="noStrike" cap="none">
                <a:solidFill>
                  <a:srgbClr val="CBD5E1"/>
                </a:solidFill>
                <a:latin typeface="Lato"/>
                <a:ea typeface="Lato"/>
                <a:cs typeface="Lato"/>
                <a:sym typeface="Lato"/>
              </a:rPr>
              <a:t>no runtime shader compilation</a:t>
            </a:r>
            <a:r>
              <a:rPr lang="en-US" sz="1350" b="0" i="0" u="none" strike="noStrike" cap="none">
                <a:solidFill>
                  <a:srgbClr val="CBD5E1"/>
                </a:solidFill>
                <a:latin typeface="Lato"/>
                <a:ea typeface="Lato"/>
                <a:cs typeface="Lato"/>
                <a:sym typeface="Lato"/>
              </a:rPr>
              <a:t>. All shaders are pre-compiled at build time, guaranteeing predictable performance.</a:t>
            </a:r>
            <a:endParaRPr/>
          </a:p>
        </p:txBody>
      </p:sp>
      <p:sp>
        <p:nvSpPr>
          <p:cNvPr id="198" name="Google Shape;198;p21"/>
          <p:cNvSpPr txBox="1"/>
          <p:nvPr/>
        </p:nvSpPr>
        <p:spPr>
          <a:xfrm>
            <a:off x="1247775" y="37147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Lato"/>
                <a:ea typeface="Lato"/>
                <a:cs typeface="Lato"/>
                <a:sym typeface="Lato"/>
              </a:rPr>
              <a:t>•</a:t>
            </a:r>
            <a:endParaRPr/>
          </a:p>
        </p:txBody>
      </p:sp>
      <p:sp>
        <p:nvSpPr>
          <p:cNvPr id="199" name="Google Shape;199;p21"/>
          <p:cNvSpPr txBox="1"/>
          <p:nvPr/>
        </p:nvSpPr>
        <p:spPr>
          <a:xfrm>
            <a:off x="1343025" y="3714750"/>
            <a:ext cx="4124325"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1. Widget Tree:</a:t>
            </a:r>
            <a:r>
              <a:rPr lang="en-US" sz="1350" b="0" i="0" u="none" strike="noStrike" cap="none">
                <a:solidFill>
                  <a:srgbClr val="CBD5E1"/>
                </a:solidFill>
                <a:latin typeface="Lato"/>
                <a:ea typeface="Lato"/>
                <a:cs typeface="Lato"/>
                <a:sym typeface="Lato"/>
              </a:rPr>
              <a:t> The blueprint. Immutable and cheap to rebuild.</a:t>
            </a:r>
            <a:endParaRPr/>
          </a:p>
        </p:txBody>
      </p:sp>
      <p:sp>
        <p:nvSpPr>
          <p:cNvPr id="200" name="Google Shape;200;p21"/>
          <p:cNvSpPr txBox="1"/>
          <p:nvPr/>
        </p:nvSpPr>
        <p:spPr>
          <a:xfrm>
            <a:off x="1247775" y="422910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Lato"/>
                <a:ea typeface="Lato"/>
                <a:cs typeface="Lato"/>
                <a:sym typeface="Lato"/>
              </a:rPr>
              <a:t>•</a:t>
            </a:r>
            <a:endParaRPr/>
          </a:p>
        </p:txBody>
      </p:sp>
      <p:sp>
        <p:nvSpPr>
          <p:cNvPr id="201" name="Google Shape;201;p21"/>
          <p:cNvSpPr txBox="1"/>
          <p:nvPr/>
        </p:nvSpPr>
        <p:spPr>
          <a:xfrm>
            <a:off x="1343025" y="4229100"/>
            <a:ext cx="4124325"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2. Element Tree:</a:t>
            </a:r>
            <a:r>
              <a:rPr lang="en-US" sz="1350" b="0" i="0" u="none" strike="noStrike" cap="none">
                <a:solidFill>
                  <a:srgbClr val="CBD5E1"/>
                </a:solidFill>
                <a:latin typeface="Lato"/>
                <a:ea typeface="Lato"/>
                <a:cs typeface="Lato"/>
                <a:sym typeface="Lato"/>
              </a:rPr>
              <a:t> The mediator. Holds state and compares widget trees.</a:t>
            </a:r>
            <a:endParaRPr/>
          </a:p>
        </p:txBody>
      </p:sp>
      <p:sp>
        <p:nvSpPr>
          <p:cNvPr id="202" name="Google Shape;202;p21"/>
          <p:cNvSpPr txBox="1"/>
          <p:nvPr/>
        </p:nvSpPr>
        <p:spPr>
          <a:xfrm>
            <a:off x="1247775" y="47434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Lato"/>
                <a:ea typeface="Lato"/>
                <a:cs typeface="Lato"/>
                <a:sym typeface="Lato"/>
              </a:rPr>
              <a:t>•</a:t>
            </a:r>
            <a:endParaRPr/>
          </a:p>
        </p:txBody>
      </p:sp>
      <p:sp>
        <p:nvSpPr>
          <p:cNvPr id="203" name="Google Shape;203;p21"/>
          <p:cNvSpPr txBox="1"/>
          <p:nvPr/>
        </p:nvSpPr>
        <p:spPr>
          <a:xfrm>
            <a:off x="1343025" y="4743450"/>
            <a:ext cx="4124325"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3. Render Tree:</a:t>
            </a:r>
            <a:r>
              <a:rPr lang="en-US" sz="1350" b="0" i="0" u="none" strike="noStrike" cap="none">
                <a:solidFill>
                  <a:srgbClr val="CBD5E1"/>
                </a:solidFill>
                <a:latin typeface="Lato"/>
                <a:ea typeface="Lato"/>
                <a:cs typeface="Lato"/>
                <a:sym typeface="Lato"/>
              </a:rPr>
              <a:t> The worker. Does layout and painting. Very expensive to touch.</a:t>
            </a:r>
            <a:endParaRPr/>
          </a:p>
        </p:txBody>
      </p:sp>
      <p:sp>
        <p:nvSpPr>
          <p:cNvPr id="204" name="Google Shape;204;p2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Flutter's Rendering Pipeline &amp; Engine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208"/>
        <p:cNvGrpSpPr/>
        <p:nvPr/>
      </p:nvGrpSpPr>
      <p:grpSpPr>
        <a:xfrm>
          <a:off x="0" y="0"/>
          <a:ext cx="0" cy="0"/>
          <a:chOff x="0" y="0"/>
          <a:chExt cx="0" cy="0"/>
        </a:xfrm>
      </p:grpSpPr>
      <p:pic>
        <p:nvPicPr>
          <p:cNvPr id="209" name="Google Shape;20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0" name="Google Shape;210;p22"/>
          <p:cNvSpPr/>
          <p:nvPr/>
        </p:nvSpPr>
        <p:spPr>
          <a:xfrm>
            <a:off x="5619750" y="2724150"/>
            <a:ext cx="952500" cy="47625"/>
          </a:xfrm>
          <a:prstGeom prst="rect">
            <a:avLst/>
          </a:prstGeom>
          <a:solidFill>
            <a:srgbClr val="40C4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2"/>
          <p:cNvSpPr txBox="1"/>
          <p:nvPr/>
        </p:nvSpPr>
        <p:spPr>
          <a:xfrm>
            <a:off x="3095625" y="3057525"/>
            <a:ext cx="6000750"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8FAFC"/>
                </a:solidFill>
                <a:latin typeface="Poppins"/>
                <a:ea typeface="Poppins"/>
                <a:cs typeface="Poppins"/>
                <a:sym typeface="Poppins"/>
              </a:rPr>
              <a:t>Bottlenecks &amp; Fixes</a:t>
            </a:r>
            <a:endParaRPr/>
          </a:p>
        </p:txBody>
      </p:sp>
      <p:sp>
        <p:nvSpPr>
          <p:cNvPr id="212" name="Google Shape;212;p22"/>
          <p:cNvSpPr txBox="1"/>
          <p:nvPr/>
        </p:nvSpPr>
        <p:spPr>
          <a:xfrm>
            <a:off x="3509962" y="4105275"/>
            <a:ext cx="5172075"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CBD5E1"/>
                </a:solidFill>
                <a:latin typeface="Lato"/>
                <a:ea typeface="Lato"/>
                <a:cs typeface="Lato"/>
                <a:sym typeface="Lato"/>
              </a:rPr>
              <a:t>Modules 4 &amp; 5: Diagnosing and Fixing Common Problems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216"/>
        <p:cNvGrpSpPr/>
        <p:nvPr/>
      </p:nvGrpSpPr>
      <p:grpSpPr>
        <a:xfrm>
          <a:off x="0" y="0"/>
          <a:ext cx="0" cy="0"/>
          <a:chOff x="0" y="0"/>
          <a:chExt cx="0" cy="0"/>
        </a:xfrm>
      </p:grpSpPr>
      <p:pic>
        <p:nvPicPr>
          <p:cNvPr id="217" name="Google Shape;21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8" name="Google Shape;218;p23" descr="image.png"/>
          <p:cNvPicPr preferRelativeResize="0"/>
          <p:nvPr/>
        </p:nvPicPr>
        <p:blipFill rotWithShape="1">
          <a:blip r:embed="rId4">
            <a:alphaModFix/>
          </a:blip>
          <a:srcRect/>
          <a:stretch/>
        </p:blipFill>
        <p:spPr>
          <a:xfrm>
            <a:off x="571500" y="2238375"/>
            <a:ext cx="5286375" cy="3333750"/>
          </a:xfrm>
          <a:prstGeom prst="rect">
            <a:avLst/>
          </a:prstGeom>
          <a:noFill/>
          <a:ln>
            <a:noFill/>
          </a:ln>
        </p:spPr>
      </p:pic>
      <p:sp>
        <p:nvSpPr>
          <p:cNvPr id="219" name="Google Shape;219;p23"/>
          <p:cNvSpPr txBox="1"/>
          <p:nvPr/>
        </p:nvSpPr>
        <p:spPr>
          <a:xfrm>
            <a:off x="6334125" y="2562225"/>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Stop Rebuilding Everything!</a:t>
            </a:r>
            <a:endParaRPr/>
          </a:p>
        </p:txBody>
      </p:sp>
      <p:sp>
        <p:nvSpPr>
          <p:cNvPr id="220" name="Google Shape;220;p23"/>
          <p:cNvSpPr txBox="1"/>
          <p:nvPr/>
        </p:nvSpPr>
        <p:spPr>
          <a:xfrm>
            <a:off x="6334125" y="3190875"/>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Problem:</a:t>
            </a:r>
            <a:r>
              <a:rPr lang="en-US" sz="1350" b="0" i="0" u="none" strike="noStrike" cap="none">
                <a:solidFill>
                  <a:srgbClr val="CBD5E1"/>
                </a:solidFill>
                <a:latin typeface="Lato"/>
                <a:ea typeface="Lato"/>
                <a:cs typeface="Lato"/>
                <a:sym typeface="Lato"/>
              </a:rPr>
              <a:t> Calling `setState()` high in the widget tree (e.g., on the whole screen) forces Flutter to rebuild the *entire* UI for one tiny change.</a:t>
            </a:r>
            <a:endParaRPr/>
          </a:p>
        </p:txBody>
      </p:sp>
      <p:sp>
        <p:nvSpPr>
          <p:cNvPr id="221" name="Google Shape;221;p23"/>
          <p:cNvSpPr txBox="1"/>
          <p:nvPr/>
        </p:nvSpPr>
        <p:spPr>
          <a:xfrm>
            <a:off x="6334125" y="4142494"/>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a:solidFill>
                  <a:srgbClr val="CBD5E1"/>
                </a:solidFill>
                <a:latin typeface="Lato"/>
                <a:ea typeface="Lato"/>
                <a:cs typeface="Lato"/>
                <a:sym typeface="Lato"/>
              </a:rPr>
              <a:t>Fix 1 (State):</a:t>
            </a:r>
            <a:r>
              <a:rPr lang="en-US" sz="1350" b="0" i="0" u="none" strike="noStrike" cap="none" dirty="0">
                <a:solidFill>
                  <a:srgbClr val="CBD5E1"/>
                </a:solidFill>
                <a:latin typeface="Lato"/>
                <a:ea typeface="Lato"/>
                <a:cs typeface="Lato"/>
                <a:sym typeface="Lato"/>
              </a:rPr>
              <a:t> Use a state management solution (like Provider or Bloc) to rebuild *only* the specific widget that needs to change.</a:t>
            </a:r>
            <a:endParaRPr dirty="0"/>
          </a:p>
        </p:txBody>
      </p:sp>
      <p:sp>
        <p:nvSpPr>
          <p:cNvPr id="222" name="Google Shape;222;p23"/>
          <p:cNvSpPr txBox="1"/>
          <p:nvPr/>
        </p:nvSpPr>
        <p:spPr>
          <a:xfrm>
            <a:off x="6334125" y="4828294"/>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Fix 2 (Code):</a:t>
            </a:r>
            <a:r>
              <a:rPr lang="en-US" sz="1350" b="0" i="0" u="none" strike="noStrike" cap="none">
                <a:solidFill>
                  <a:srgbClr val="CBD5E1"/>
                </a:solidFill>
                <a:latin typeface="Lato"/>
                <a:ea typeface="Lato"/>
                <a:cs typeface="Lato"/>
                <a:sym typeface="Lato"/>
              </a:rPr>
              <a:t> Use `const` constructors. This is the easiest win. It tells Flutter to "short-circuit" the rebuild, skipping the entire widget subtree.</a:t>
            </a:r>
            <a:endParaRPr/>
          </a:p>
        </p:txBody>
      </p:sp>
      <p:pic>
        <p:nvPicPr>
          <p:cNvPr id="223" name="Google Shape;223;p23" descr="image.png"/>
          <p:cNvPicPr preferRelativeResize="0"/>
          <p:nvPr/>
        </p:nvPicPr>
        <p:blipFill rotWithShape="1">
          <a:blip r:embed="rId5">
            <a:alphaModFix/>
          </a:blip>
          <a:srcRect/>
          <a:stretch/>
        </p:blipFill>
        <p:spPr>
          <a:xfrm>
            <a:off x="581025" y="2247900"/>
            <a:ext cx="5267325" cy="3314700"/>
          </a:xfrm>
          <a:prstGeom prst="rect">
            <a:avLst/>
          </a:prstGeom>
          <a:noFill/>
          <a:ln>
            <a:noFill/>
          </a:ln>
        </p:spPr>
      </p:pic>
      <p:sp>
        <p:nvSpPr>
          <p:cNvPr id="224" name="Google Shape;224;p23"/>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Bottleneck: `setState()` &amp; `const`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228"/>
        <p:cNvGrpSpPr/>
        <p:nvPr/>
      </p:nvGrpSpPr>
      <p:grpSpPr>
        <a:xfrm>
          <a:off x="0" y="0"/>
          <a:ext cx="0" cy="0"/>
          <a:chOff x="0" y="0"/>
          <a:chExt cx="0" cy="0"/>
        </a:xfrm>
      </p:grpSpPr>
      <p:pic>
        <p:nvPicPr>
          <p:cNvPr id="229" name="Google Shape;229;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0" name="Google Shape;230;p24" descr="image.png"/>
          <p:cNvPicPr preferRelativeResize="0"/>
          <p:nvPr/>
        </p:nvPicPr>
        <p:blipFill rotWithShape="1">
          <a:blip r:embed="rId4">
            <a:alphaModFix/>
          </a:blip>
          <a:srcRect/>
          <a:stretch/>
        </p:blipFill>
        <p:spPr>
          <a:xfrm>
            <a:off x="571500" y="1728787"/>
            <a:ext cx="5286375" cy="4352925"/>
          </a:xfrm>
          <a:prstGeom prst="rect">
            <a:avLst/>
          </a:prstGeom>
          <a:noFill/>
          <a:ln>
            <a:noFill/>
          </a:ln>
        </p:spPr>
      </p:pic>
      <p:pic>
        <p:nvPicPr>
          <p:cNvPr id="231" name="Google Shape;231;p24" descr="image.png"/>
          <p:cNvPicPr preferRelativeResize="0"/>
          <p:nvPr/>
        </p:nvPicPr>
        <p:blipFill rotWithShape="1">
          <a:blip r:embed="rId5">
            <a:alphaModFix/>
          </a:blip>
          <a:srcRect/>
          <a:stretch/>
        </p:blipFill>
        <p:spPr>
          <a:xfrm>
            <a:off x="6334125" y="1728787"/>
            <a:ext cx="5286375" cy="4352925"/>
          </a:xfrm>
          <a:prstGeom prst="rect">
            <a:avLst/>
          </a:prstGeom>
          <a:noFill/>
          <a:ln>
            <a:noFill/>
          </a:ln>
        </p:spPr>
      </p:pic>
      <p:sp>
        <p:nvSpPr>
          <p:cNvPr id="232" name="Google Shape;232;p24"/>
          <p:cNvSpPr txBox="1"/>
          <p:nvPr/>
        </p:nvSpPr>
        <p:spPr>
          <a:xfrm>
            <a:off x="962025" y="2119312"/>
            <a:ext cx="4730591"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`ListView` vs. `ListView.builder`</a:t>
            </a:r>
            <a:endParaRPr/>
          </a:p>
        </p:txBody>
      </p:sp>
      <p:sp>
        <p:nvSpPr>
          <p:cNvPr id="233" name="Google Shape;233;p24"/>
          <p:cNvSpPr txBox="1"/>
          <p:nvPr/>
        </p:nvSpPr>
        <p:spPr>
          <a:xfrm>
            <a:off x="962025" y="3205162"/>
            <a:ext cx="4505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Bad:</a:t>
            </a:r>
            <a:r>
              <a:rPr lang="en-US" sz="1350" b="0" i="0" u="none" strike="noStrike" cap="none">
                <a:solidFill>
                  <a:srgbClr val="CBD5E1"/>
                </a:solidFill>
                <a:latin typeface="Lato"/>
                <a:ea typeface="Lato"/>
                <a:cs typeface="Lato"/>
                <a:sym typeface="Lato"/>
              </a:rPr>
              <a:t> `ListView(children: [ ... 1000 items ... ])`</a:t>
            </a:r>
            <a:endParaRPr/>
          </a:p>
        </p:txBody>
      </p:sp>
      <p:sp>
        <p:nvSpPr>
          <p:cNvPr id="234" name="Google Shape;234;p24"/>
          <p:cNvSpPr txBox="1"/>
          <p:nvPr/>
        </p:nvSpPr>
        <p:spPr>
          <a:xfrm>
            <a:off x="962025" y="3633787"/>
            <a:ext cx="45053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This builds ALL 1,000 items at once, even those off-screen. It causes a long app freeze and massive memory bloat.</a:t>
            </a:r>
            <a:endParaRPr/>
          </a:p>
        </p:txBody>
      </p:sp>
      <p:sp>
        <p:nvSpPr>
          <p:cNvPr id="235" name="Google Shape;235;p24"/>
          <p:cNvSpPr txBox="1"/>
          <p:nvPr/>
        </p:nvSpPr>
        <p:spPr>
          <a:xfrm>
            <a:off x="962025" y="4319587"/>
            <a:ext cx="4505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Good:</a:t>
            </a:r>
            <a:r>
              <a:rPr lang="en-US" sz="1350" b="0" i="0" u="none" strike="noStrike" cap="none">
                <a:solidFill>
                  <a:srgbClr val="CBD5E1"/>
                </a:solidFill>
                <a:latin typeface="Lato"/>
                <a:ea typeface="Lato"/>
                <a:cs typeface="Lato"/>
                <a:sym typeface="Lato"/>
              </a:rPr>
              <a:t> `ListView.builder()`</a:t>
            </a:r>
            <a:endParaRPr/>
          </a:p>
        </p:txBody>
      </p:sp>
      <p:sp>
        <p:nvSpPr>
          <p:cNvPr id="236" name="Google Shape;236;p24"/>
          <p:cNvSpPr txBox="1"/>
          <p:nvPr/>
        </p:nvSpPr>
        <p:spPr>
          <a:xfrm>
            <a:off x="962025" y="4748212"/>
            <a:ext cx="450532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This </a:t>
            </a:r>
            <a:r>
              <a:rPr lang="en-US" sz="1350" b="1" i="0" u="none" strike="noStrike" cap="none">
                <a:solidFill>
                  <a:srgbClr val="CBD5E1"/>
                </a:solidFill>
                <a:latin typeface="Lato"/>
                <a:ea typeface="Lato"/>
                <a:cs typeface="Lato"/>
                <a:sym typeface="Lato"/>
              </a:rPr>
              <a:t>lazy loads</a:t>
            </a:r>
            <a:r>
              <a:rPr lang="en-US" sz="1350" b="0" i="0" u="none" strike="noStrike" cap="none">
                <a:solidFill>
                  <a:srgbClr val="CBD5E1"/>
                </a:solidFill>
                <a:latin typeface="Lato"/>
                <a:ea typeface="Lato"/>
                <a:cs typeface="Lato"/>
                <a:sym typeface="Lato"/>
              </a:rPr>
              <a:t> items, building them only as they are about to scroll onto the screen. This keeps CPU and memory usage low and constant.</a:t>
            </a:r>
            <a:endParaRPr/>
          </a:p>
        </p:txBody>
      </p:sp>
      <p:sp>
        <p:nvSpPr>
          <p:cNvPr id="237" name="Google Shape;237;p24"/>
          <p:cNvSpPr txBox="1"/>
          <p:nvPr/>
        </p:nvSpPr>
        <p:spPr>
          <a:xfrm>
            <a:off x="6724650" y="2119312"/>
            <a:ext cx="4730591"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Offload Work with `compute()`</a:t>
            </a:r>
            <a:endParaRPr/>
          </a:p>
        </p:txBody>
      </p:sp>
      <p:sp>
        <p:nvSpPr>
          <p:cNvPr id="238" name="Google Shape;238;p24"/>
          <p:cNvSpPr txBox="1"/>
          <p:nvPr/>
        </p:nvSpPr>
        <p:spPr>
          <a:xfrm>
            <a:off x="6724650" y="3205162"/>
            <a:ext cx="450532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Problem:</a:t>
            </a:r>
            <a:r>
              <a:rPr lang="en-US" sz="1350" b="0" i="0" u="none" strike="noStrike" cap="none">
                <a:solidFill>
                  <a:srgbClr val="CBD5E1"/>
                </a:solidFill>
                <a:latin typeface="Lato"/>
                <a:ea typeface="Lato"/>
                <a:cs typeface="Lato"/>
                <a:sym typeface="Lato"/>
              </a:rPr>
              <a:t> Running heavy, synchronous work (like parsing a large JSON file or running a complex algorithm) on the main UI thread will </a:t>
            </a:r>
            <a:r>
              <a:rPr lang="en-US" sz="1350" b="1" i="0" u="none" strike="noStrike" cap="none">
                <a:solidFill>
                  <a:srgbClr val="CBD5E1"/>
                </a:solidFill>
                <a:latin typeface="Lato"/>
                <a:ea typeface="Lato"/>
                <a:cs typeface="Lato"/>
                <a:sym typeface="Lato"/>
              </a:rPr>
              <a:t>freeze the app</a:t>
            </a:r>
            <a:r>
              <a:rPr lang="en-US" sz="1350" b="0" i="0" u="none" strike="noStrike" cap="none">
                <a:solidFill>
                  <a:srgbClr val="CBD5E1"/>
                </a:solidFill>
                <a:latin typeface="Lato"/>
                <a:ea typeface="Lato"/>
                <a:cs typeface="Lato"/>
                <a:sym typeface="Lato"/>
              </a:rPr>
              <a:t>.</a:t>
            </a:r>
            <a:endParaRPr/>
          </a:p>
        </p:txBody>
      </p:sp>
      <p:sp>
        <p:nvSpPr>
          <p:cNvPr id="239" name="Google Shape;239;p24"/>
          <p:cNvSpPr txBox="1"/>
          <p:nvPr/>
        </p:nvSpPr>
        <p:spPr>
          <a:xfrm>
            <a:off x="6724650" y="4148137"/>
            <a:ext cx="4505325"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Fix:</a:t>
            </a:r>
            <a:r>
              <a:rPr lang="en-US" sz="1350" b="0" i="0" u="none" strike="noStrike" cap="none">
                <a:solidFill>
                  <a:srgbClr val="CBD5E1"/>
                </a:solidFill>
                <a:latin typeface="Lato"/>
                <a:ea typeface="Lato"/>
                <a:cs typeface="Lato"/>
                <a:sym typeface="Lato"/>
              </a:rPr>
              <a:t> Use `compute()` (Isolates). This spawns a new isolate (like a thread, but no shared memory) to do the heavy work, keeping the main UI thread free to render frames 60x per second.</a:t>
            </a:r>
            <a:endParaRPr/>
          </a:p>
        </p:txBody>
      </p:sp>
      <p:sp>
        <p:nvSpPr>
          <p:cNvPr id="240" name="Google Shape;240;p2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Bottleneck: Lists &amp; Heavy Work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244"/>
        <p:cNvGrpSpPr/>
        <p:nvPr/>
      </p:nvGrpSpPr>
      <p:grpSpPr>
        <a:xfrm>
          <a:off x="0" y="0"/>
          <a:ext cx="0" cy="0"/>
          <a:chOff x="0" y="0"/>
          <a:chExt cx="0" cy="0"/>
        </a:xfrm>
      </p:grpSpPr>
      <p:pic>
        <p:nvPicPr>
          <p:cNvPr id="245" name="Google Shape;245;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6" name="Google Shape;246;p25"/>
          <p:cNvSpPr txBox="1"/>
          <p:nvPr/>
        </p:nvSpPr>
        <p:spPr>
          <a:xfrm>
            <a:off x="1809750" y="2238375"/>
            <a:ext cx="8572500" cy="5905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F8FAFC"/>
                </a:solidFill>
                <a:latin typeface="Lato"/>
                <a:ea typeface="Lato"/>
                <a:cs typeface="Lato"/>
                <a:sym typeface="Lato"/>
              </a:rPr>
              <a:t>Opacity and ClipRRect are not cheap. They are a primary cause of jank, especially in animations or ListViews.</a:t>
            </a:r>
            <a:endParaRPr/>
          </a:p>
        </p:txBody>
      </p:sp>
      <p:sp>
        <p:nvSpPr>
          <p:cNvPr id="247" name="Google Shape;247;p25"/>
          <p:cNvSpPr txBox="1"/>
          <p:nvPr/>
        </p:nvSpPr>
        <p:spPr>
          <a:xfrm>
            <a:off x="2190750" y="3067050"/>
            <a:ext cx="8191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ACC15"/>
                </a:solidFill>
                <a:latin typeface="Lato"/>
                <a:ea typeface="Lato"/>
                <a:cs typeface="Lato"/>
                <a:sym typeface="Lato"/>
              </a:rPr>
              <a:t>They trigger a "saveLayer" operation.</a:t>
            </a:r>
            <a:r>
              <a:rPr lang="en-US" sz="1350" b="0" i="0" u="none" strike="noStrike" cap="none">
                <a:solidFill>
                  <a:srgbClr val="CBD5E1"/>
                </a:solidFill>
                <a:latin typeface="Lato"/>
                <a:ea typeface="Lato"/>
                <a:cs typeface="Lato"/>
                <a:sym typeface="Lato"/>
              </a:rPr>
              <a:t> This is an extremely GPU-intensive, multi-step process:</a:t>
            </a:r>
            <a:endParaRPr/>
          </a:p>
        </p:txBody>
      </p:sp>
      <p:sp>
        <p:nvSpPr>
          <p:cNvPr id="248" name="Google Shape;248;p25"/>
          <p:cNvSpPr txBox="1"/>
          <p:nvPr/>
        </p:nvSpPr>
        <p:spPr>
          <a:xfrm>
            <a:off x="2190750" y="3514725"/>
            <a:ext cx="8191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The engine must allocate a </a:t>
            </a:r>
            <a:r>
              <a:rPr lang="en-US" sz="1350" b="1" i="0" u="none" strike="noStrike" cap="none">
                <a:solidFill>
                  <a:srgbClr val="FACC15"/>
                </a:solidFill>
                <a:latin typeface="Lato"/>
                <a:ea typeface="Lato"/>
                <a:cs typeface="Lato"/>
                <a:sym typeface="Lato"/>
              </a:rPr>
              <a:t>new off-screen buffer</a:t>
            </a:r>
            <a:r>
              <a:rPr lang="en-US" sz="1350" b="0" i="0" u="none" strike="noStrike" cap="none">
                <a:solidFill>
                  <a:srgbClr val="CBD5E1"/>
                </a:solidFill>
                <a:latin typeface="Lato"/>
                <a:ea typeface="Lato"/>
                <a:cs typeface="Lato"/>
                <a:sym typeface="Lato"/>
              </a:rPr>
              <a:t> in GPU memory.</a:t>
            </a:r>
            <a:endParaRPr/>
          </a:p>
        </p:txBody>
      </p:sp>
      <p:sp>
        <p:nvSpPr>
          <p:cNvPr id="249" name="Google Shape;249;p25"/>
          <p:cNvSpPr txBox="1"/>
          <p:nvPr/>
        </p:nvSpPr>
        <p:spPr>
          <a:xfrm>
            <a:off x="2190750" y="3962400"/>
            <a:ext cx="8191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It must render the </a:t>
            </a:r>
            <a:r>
              <a:rPr lang="en-US" sz="1350" b="1" i="0" u="none" strike="noStrike" cap="none">
                <a:solidFill>
                  <a:srgbClr val="FACC15"/>
                </a:solidFill>
                <a:latin typeface="Lato"/>
                <a:ea typeface="Lato"/>
                <a:cs typeface="Lato"/>
                <a:sym typeface="Lato"/>
              </a:rPr>
              <a:t>entire child subtree</a:t>
            </a:r>
            <a:r>
              <a:rPr lang="en-US" sz="1350" b="0" i="0" u="none" strike="noStrike" cap="none">
                <a:solidFill>
                  <a:srgbClr val="CBD5E1"/>
                </a:solidFill>
                <a:latin typeface="Lato"/>
                <a:ea typeface="Lato"/>
                <a:cs typeface="Lato"/>
                <a:sym typeface="Lato"/>
              </a:rPr>
              <a:t> into this new buffer.</a:t>
            </a:r>
            <a:endParaRPr/>
          </a:p>
        </p:txBody>
      </p:sp>
      <p:sp>
        <p:nvSpPr>
          <p:cNvPr id="250" name="Google Shape;250;p25"/>
          <p:cNvSpPr txBox="1"/>
          <p:nvPr/>
        </p:nvSpPr>
        <p:spPr>
          <a:xfrm>
            <a:off x="2190750" y="4410075"/>
            <a:ext cx="8191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It then applies the opacity or clip to the buffer as a single texture.</a:t>
            </a:r>
            <a:endParaRPr/>
          </a:p>
        </p:txBody>
      </p:sp>
      <p:sp>
        <p:nvSpPr>
          <p:cNvPr id="251" name="Google Shape;251;p25"/>
          <p:cNvSpPr txBox="1"/>
          <p:nvPr/>
        </p:nvSpPr>
        <p:spPr>
          <a:xfrm>
            <a:off x="2190750" y="4857750"/>
            <a:ext cx="8191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Finally, it composites this buffer back onto the main screen.</a:t>
            </a:r>
            <a:endParaRPr/>
          </a:p>
        </p:txBody>
      </p:sp>
      <p:sp>
        <p:nvSpPr>
          <p:cNvPr id="252" name="Google Shape;252;p25"/>
          <p:cNvSpPr txBox="1"/>
          <p:nvPr/>
        </p:nvSpPr>
        <p:spPr>
          <a:xfrm>
            <a:off x="2190750" y="5305425"/>
            <a:ext cx="8191500" cy="266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ACC15"/>
                </a:solidFill>
                <a:latin typeface="Lato"/>
                <a:ea typeface="Lato"/>
                <a:cs typeface="Lato"/>
                <a:sym typeface="Lato"/>
              </a:rPr>
              <a:t>This is a major bottleneck.</a:t>
            </a:r>
            <a:r>
              <a:rPr lang="en-US" sz="1350" b="0" i="0" u="none" strike="noStrike" cap="none">
                <a:solidFill>
                  <a:srgbClr val="CBD5E1"/>
                </a:solidFill>
                <a:latin typeface="Lato"/>
                <a:ea typeface="Lato"/>
                <a:cs typeface="Lato"/>
                <a:sym typeface="Lato"/>
              </a:rPr>
              <a:t> Use FadeInImage or other, more efficient methods when possible.</a:t>
            </a:r>
            <a:endParaRPr/>
          </a:p>
        </p:txBody>
      </p:sp>
      <p:pic>
        <p:nvPicPr>
          <p:cNvPr id="253" name="Google Shape;253;p25" descr="image.png"/>
          <p:cNvPicPr preferRelativeResize="0"/>
          <p:nvPr/>
        </p:nvPicPr>
        <p:blipFill rotWithShape="1">
          <a:blip r:embed="rId4">
            <a:alphaModFix/>
          </a:blip>
          <a:srcRect/>
          <a:stretch/>
        </p:blipFill>
        <p:spPr>
          <a:xfrm>
            <a:off x="1809750" y="3114675"/>
            <a:ext cx="228600" cy="228600"/>
          </a:xfrm>
          <a:prstGeom prst="rect">
            <a:avLst/>
          </a:prstGeom>
          <a:noFill/>
          <a:ln>
            <a:noFill/>
          </a:ln>
        </p:spPr>
      </p:pic>
      <p:pic>
        <p:nvPicPr>
          <p:cNvPr id="254" name="Google Shape;254;p25" descr="image.png"/>
          <p:cNvPicPr preferRelativeResize="0"/>
          <p:nvPr/>
        </p:nvPicPr>
        <p:blipFill rotWithShape="1">
          <a:blip r:embed="rId5">
            <a:alphaModFix/>
          </a:blip>
          <a:srcRect/>
          <a:stretch/>
        </p:blipFill>
        <p:spPr>
          <a:xfrm>
            <a:off x="1809750" y="3562350"/>
            <a:ext cx="114300" cy="228600"/>
          </a:xfrm>
          <a:prstGeom prst="rect">
            <a:avLst/>
          </a:prstGeom>
          <a:noFill/>
          <a:ln>
            <a:noFill/>
          </a:ln>
        </p:spPr>
      </p:pic>
      <p:pic>
        <p:nvPicPr>
          <p:cNvPr id="255" name="Google Shape;255;p25" descr="image.png"/>
          <p:cNvPicPr preferRelativeResize="0"/>
          <p:nvPr/>
        </p:nvPicPr>
        <p:blipFill rotWithShape="1">
          <a:blip r:embed="rId6">
            <a:alphaModFix/>
          </a:blip>
          <a:srcRect/>
          <a:stretch/>
        </p:blipFill>
        <p:spPr>
          <a:xfrm>
            <a:off x="1809750" y="4010025"/>
            <a:ext cx="152400" cy="228600"/>
          </a:xfrm>
          <a:prstGeom prst="rect">
            <a:avLst/>
          </a:prstGeom>
          <a:noFill/>
          <a:ln>
            <a:noFill/>
          </a:ln>
        </p:spPr>
      </p:pic>
      <p:pic>
        <p:nvPicPr>
          <p:cNvPr id="256" name="Google Shape;256;p25" descr="image.png"/>
          <p:cNvPicPr preferRelativeResize="0"/>
          <p:nvPr/>
        </p:nvPicPr>
        <p:blipFill rotWithShape="1">
          <a:blip r:embed="rId7">
            <a:alphaModFix/>
          </a:blip>
          <a:srcRect/>
          <a:stretch/>
        </p:blipFill>
        <p:spPr>
          <a:xfrm>
            <a:off x="1809750" y="4457700"/>
            <a:ext cx="142875" cy="228600"/>
          </a:xfrm>
          <a:prstGeom prst="rect">
            <a:avLst/>
          </a:prstGeom>
          <a:noFill/>
          <a:ln>
            <a:noFill/>
          </a:ln>
        </p:spPr>
      </p:pic>
      <p:pic>
        <p:nvPicPr>
          <p:cNvPr id="257" name="Google Shape;257;p25" descr="image.png"/>
          <p:cNvPicPr preferRelativeResize="0"/>
          <p:nvPr/>
        </p:nvPicPr>
        <p:blipFill rotWithShape="1">
          <a:blip r:embed="rId8">
            <a:alphaModFix/>
          </a:blip>
          <a:srcRect/>
          <a:stretch/>
        </p:blipFill>
        <p:spPr>
          <a:xfrm>
            <a:off x="1809750" y="4905375"/>
            <a:ext cx="171450" cy="228600"/>
          </a:xfrm>
          <a:prstGeom prst="rect">
            <a:avLst/>
          </a:prstGeom>
          <a:noFill/>
          <a:ln>
            <a:noFill/>
          </a:ln>
        </p:spPr>
      </p:pic>
      <p:pic>
        <p:nvPicPr>
          <p:cNvPr id="258" name="Google Shape;258;p25" descr="image.png"/>
          <p:cNvPicPr preferRelativeResize="0"/>
          <p:nvPr/>
        </p:nvPicPr>
        <p:blipFill rotWithShape="1">
          <a:blip r:embed="rId9">
            <a:alphaModFix/>
          </a:blip>
          <a:srcRect/>
          <a:stretch/>
        </p:blipFill>
        <p:spPr>
          <a:xfrm>
            <a:off x="1809750" y="5353050"/>
            <a:ext cx="228600" cy="228600"/>
          </a:xfrm>
          <a:prstGeom prst="rect">
            <a:avLst/>
          </a:prstGeom>
          <a:noFill/>
          <a:ln>
            <a:noFill/>
          </a:ln>
        </p:spPr>
      </p:pic>
      <p:sp>
        <p:nvSpPr>
          <p:cNvPr id="259" name="Google Shape;259;p2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Bottleneck: Deceptively Expensive Widgets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263"/>
        <p:cNvGrpSpPr/>
        <p:nvPr/>
      </p:nvGrpSpPr>
      <p:grpSpPr>
        <a:xfrm>
          <a:off x="0" y="0"/>
          <a:ext cx="0" cy="0"/>
          <a:chOff x="0" y="0"/>
          <a:chExt cx="0" cy="0"/>
        </a:xfrm>
      </p:grpSpPr>
      <p:pic>
        <p:nvPicPr>
          <p:cNvPr id="264" name="Google Shape;264;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5" name="Google Shape;265;p26" descr="image.png"/>
          <p:cNvPicPr preferRelativeResize="0"/>
          <p:nvPr/>
        </p:nvPicPr>
        <p:blipFill rotWithShape="1">
          <a:blip r:embed="rId4">
            <a:alphaModFix/>
          </a:blip>
          <a:srcRect/>
          <a:stretch/>
        </p:blipFill>
        <p:spPr>
          <a:xfrm>
            <a:off x="571500" y="2238375"/>
            <a:ext cx="5286375" cy="3333750"/>
          </a:xfrm>
          <a:prstGeom prst="rect">
            <a:avLst/>
          </a:prstGeom>
          <a:noFill/>
          <a:ln>
            <a:noFill/>
          </a:ln>
        </p:spPr>
      </p:pic>
      <p:sp>
        <p:nvSpPr>
          <p:cNvPr id="266" name="Google Shape;266;p26"/>
          <p:cNvSpPr txBox="1"/>
          <p:nvPr/>
        </p:nvSpPr>
        <p:spPr>
          <a:xfrm>
            <a:off x="6334125" y="1852612"/>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40C4FF"/>
                </a:solidFill>
                <a:latin typeface="Poppins"/>
                <a:ea typeface="Poppins"/>
                <a:cs typeface="Poppins"/>
                <a:sym typeface="Poppins"/>
              </a:rPr>
              <a:t>How to Find the Bottleneck</a:t>
            </a:r>
            <a:endParaRPr/>
          </a:p>
        </p:txBody>
      </p:sp>
      <p:sp>
        <p:nvSpPr>
          <p:cNvPr id="267" name="Google Shape;267;p26"/>
          <p:cNvSpPr txBox="1"/>
          <p:nvPr/>
        </p:nvSpPr>
        <p:spPr>
          <a:xfrm>
            <a:off x="6334125" y="2481262"/>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1. ALWAYS run in Profile Mode</a:t>
            </a:r>
            <a:r>
              <a:rPr lang="en-US" sz="1350" b="0" i="0" u="none" strike="noStrike" cap="none">
                <a:solidFill>
                  <a:srgbClr val="CBD5E1"/>
                </a:solidFill>
                <a:latin typeface="Lato"/>
                <a:ea typeface="Lato"/>
                <a:cs typeface="Lato"/>
                <a:sym typeface="Lato"/>
              </a:rPr>
              <a:t> (`flutter run --profile`). Debug mode performance is not representative.</a:t>
            </a:r>
            <a:endParaRPr/>
          </a:p>
        </p:txBody>
      </p:sp>
      <p:sp>
        <p:nvSpPr>
          <p:cNvPr id="268" name="Google Shape;268;p26"/>
          <p:cNvSpPr txBox="1"/>
          <p:nvPr/>
        </p:nvSpPr>
        <p:spPr>
          <a:xfrm>
            <a:off x="6334125" y="3167062"/>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CBD5E1"/>
                </a:solidFill>
                <a:latin typeface="Lato"/>
                <a:ea typeface="Lato"/>
                <a:cs typeface="Lato"/>
                <a:sym typeface="Lato"/>
              </a:rPr>
              <a:t>2. Look at the Performance Chart.</a:t>
            </a:r>
            <a:r>
              <a:rPr lang="en-US" sz="1350" b="0" i="0" u="none" strike="noStrike" cap="none">
                <a:solidFill>
                  <a:srgbClr val="CBD5E1"/>
                </a:solidFill>
                <a:latin typeface="Lato"/>
                <a:ea typeface="Lato"/>
                <a:cs typeface="Lato"/>
                <a:sym typeface="Lato"/>
              </a:rPr>
              <a:t> A red bar is a janky frame. The bar's color tells you why:</a:t>
            </a:r>
            <a:endParaRPr/>
          </a:p>
        </p:txBody>
      </p:sp>
      <p:sp>
        <p:nvSpPr>
          <p:cNvPr id="269" name="Google Shape;269;p26"/>
          <p:cNvSpPr txBox="1"/>
          <p:nvPr/>
        </p:nvSpPr>
        <p:spPr>
          <a:xfrm>
            <a:off x="6334125" y="3871912"/>
            <a:ext cx="52863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40C4FF"/>
                </a:solidFill>
                <a:latin typeface="Lato"/>
                <a:ea typeface="Lato"/>
                <a:cs typeface="Lato"/>
                <a:sym typeface="Lato"/>
              </a:rPr>
              <a:t>Blue Bar (UI Thread) = Your Dart code is slow.</a:t>
            </a:r>
            <a:endParaRPr/>
          </a:p>
        </p:txBody>
      </p:sp>
      <p:sp>
        <p:nvSpPr>
          <p:cNvPr id="270" name="Google Shape;270;p26"/>
          <p:cNvSpPr txBox="1"/>
          <p:nvPr/>
        </p:nvSpPr>
        <p:spPr>
          <a:xfrm>
            <a:off x="6524625" y="4348162"/>
            <a:ext cx="50958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(e.g., an inefficient `build()` method, a bad `setState()` call).</a:t>
            </a:r>
            <a:endParaRPr/>
          </a:p>
        </p:txBody>
      </p:sp>
      <p:sp>
        <p:nvSpPr>
          <p:cNvPr id="271" name="Google Shape;271;p26"/>
          <p:cNvSpPr txBox="1"/>
          <p:nvPr/>
        </p:nvSpPr>
        <p:spPr>
          <a:xfrm>
            <a:off x="6334125" y="4795837"/>
            <a:ext cx="52863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4D399"/>
                </a:solidFill>
                <a:latin typeface="Lato"/>
                <a:ea typeface="Lato"/>
                <a:cs typeface="Lato"/>
                <a:sym typeface="Lato"/>
              </a:rPr>
              <a:t>Green Bar (Raster Thread) = The GPU is slow.</a:t>
            </a:r>
            <a:endParaRPr/>
          </a:p>
        </p:txBody>
      </p:sp>
      <p:sp>
        <p:nvSpPr>
          <p:cNvPr id="272" name="Google Shape;272;p26"/>
          <p:cNvSpPr txBox="1"/>
          <p:nvPr/>
        </p:nvSpPr>
        <p:spPr>
          <a:xfrm>
            <a:off x="6524625" y="5272087"/>
            <a:ext cx="50958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(e.g., you used an `Opacity` or `ClipRRect`, causing an expensive `saveLayer()`).</a:t>
            </a:r>
            <a:endParaRPr/>
          </a:p>
        </p:txBody>
      </p:sp>
      <p:pic>
        <p:nvPicPr>
          <p:cNvPr id="273" name="Google Shape;273;p26" descr="image.png"/>
          <p:cNvPicPr preferRelativeResize="0"/>
          <p:nvPr/>
        </p:nvPicPr>
        <p:blipFill rotWithShape="1">
          <a:blip r:embed="rId5">
            <a:alphaModFix/>
          </a:blip>
          <a:srcRect/>
          <a:stretch/>
        </p:blipFill>
        <p:spPr>
          <a:xfrm>
            <a:off x="581025" y="2247900"/>
            <a:ext cx="5267325" cy="3314700"/>
          </a:xfrm>
          <a:prstGeom prst="rect">
            <a:avLst/>
          </a:prstGeom>
          <a:noFill/>
          <a:ln>
            <a:noFill/>
          </a:ln>
        </p:spPr>
      </p:pic>
      <p:sp>
        <p:nvSpPr>
          <p:cNvPr id="274" name="Google Shape;274;p2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40C4FF"/>
                </a:solidFill>
                <a:latin typeface="Poppins"/>
                <a:ea typeface="Poppins"/>
                <a:cs typeface="Poppins"/>
                <a:sym typeface="Poppins"/>
              </a:rPr>
              <a:t>The Analyst's Toolkit: Flutter DevTools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txBox="1"/>
          <p:nvPr/>
        </p:nvSpPr>
        <p:spPr>
          <a:xfrm>
            <a:off x="295275" y="2601109"/>
            <a:ext cx="11601450" cy="91409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dirty="0">
                <a:solidFill>
                  <a:srgbClr val="F8FAFC"/>
                </a:solidFill>
                <a:latin typeface="Inter"/>
                <a:ea typeface="Inter"/>
                <a:cs typeface="Inter"/>
                <a:sym typeface="Inter"/>
              </a:rPr>
              <a:t>JIT vs AOT compilation</a:t>
            </a:r>
            <a:endParaRPr dirty="0"/>
          </a:p>
        </p:txBody>
      </p:sp>
      <p:sp>
        <p:nvSpPr>
          <p:cNvPr id="87" name="Google Shape;87;p13"/>
          <p:cNvSpPr txBox="1"/>
          <p:nvPr/>
        </p:nvSpPr>
        <p:spPr>
          <a:xfrm>
            <a:off x="295275" y="3450620"/>
            <a:ext cx="11601450" cy="4667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0" i="0" u="none" strike="noStrike" cap="none" dirty="0">
                <a:solidFill>
                  <a:srgbClr val="F8FAFC"/>
                </a:solidFill>
                <a:latin typeface="Inter Light"/>
                <a:ea typeface="Inter Light"/>
                <a:cs typeface="Inter Light"/>
                <a:sym typeface="Inter Light"/>
              </a:rPr>
              <a:t>in Mobile Runtime Environments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B98182C3-4303-FA0D-6107-57C840A222D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71500" y="1695450"/>
            <a:ext cx="3492549" cy="4333875"/>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4349799" y="1695450"/>
            <a:ext cx="3492549" cy="4333875"/>
          </a:xfrm>
          <a:prstGeom prst="rect">
            <a:avLst/>
          </a:prstGeom>
          <a:noFill/>
          <a:ln>
            <a:noFill/>
          </a:ln>
        </p:spPr>
      </p:pic>
      <p:pic>
        <p:nvPicPr>
          <p:cNvPr id="96" name="Google Shape;96;p14" descr="image.png"/>
          <p:cNvPicPr preferRelativeResize="0"/>
          <p:nvPr/>
        </p:nvPicPr>
        <p:blipFill rotWithShape="1">
          <a:blip r:embed="rId6">
            <a:alphaModFix/>
          </a:blip>
          <a:srcRect/>
          <a:stretch/>
        </p:blipFill>
        <p:spPr>
          <a:xfrm>
            <a:off x="8128099" y="1695450"/>
            <a:ext cx="3492549" cy="4333875"/>
          </a:xfrm>
          <a:prstGeom prst="rect">
            <a:avLst/>
          </a:prstGeom>
          <a:noFill/>
          <a:ln>
            <a:noFill/>
          </a:ln>
        </p:spPr>
      </p:pic>
      <p:sp>
        <p:nvSpPr>
          <p:cNvPr id="97" name="Google Shape;97;p14"/>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The Compilation Spectrum</a:t>
            </a:r>
            <a:endParaRPr/>
          </a:p>
        </p:txBody>
      </p:sp>
      <p:sp>
        <p:nvSpPr>
          <p:cNvPr id="98" name="Google Shape;98;p14"/>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9" name="Google Shape;99;p14" descr="image.png"/>
          <p:cNvPicPr preferRelativeResize="0"/>
          <p:nvPr/>
        </p:nvPicPr>
        <p:blipFill rotWithShape="1">
          <a:blip r:embed="rId7">
            <a:alphaModFix/>
          </a:blip>
          <a:srcRect/>
          <a:stretch/>
        </p:blipFill>
        <p:spPr>
          <a:xfrm>
            <a:off x="866775" y="1990725"/>
            <a:ext cx="571500" cy="571500"/>
          </a:xfrm>
          <a:prstGeom prst="rect">
            <a:avLst/>
          </a:prstGeom>
          <a:noFill/>
          <a:ln>
            <a:noFill/>
          </a:ln>
        </p:spPr>
      </p:pic>
      <p:sp>
        <p:nvSpPr>
          <p:cNvPr id="100" name="Google Shape;100;p14"/>
          <p:cNvSpPr txBox="1"/>
          <p:nvPr/>
        </p:nvSpPr>
        <p:spPr>
          <a:xfrm>
            <a:off x="866775" y="2752725"/>
            <a:ext cx="3047099"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Interpretation</a:t>
            </a:r>
            <a:endParaRPr/>
          </a:p>
        </p:txBody>
      </p:sp>
      <p:sp>
        <p:nvSpPr>
          <p:cNvPr id="101" name="Google Shape;101;p14"/>
          <p:cNvSpPr txBox="1"/>
          <p:nvPr/>
        </p:nvSpPr>
        <p:spPr>
          <a:xfrm>
            <a:off x="866775" y="3333750"/>
            <a:ext cx="290199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Fetch-Decode-Execute:</a:t>
            </a:r>
            <a:r>
              <a:rPr lang="en-US" sz="1500" b="0" i="0" u="none" strike="noStrike" cap="none">
                <a:solidFill>
                  <a:srgbClr val="94A3B8"/>
                </a:solidFill>
                <a:latin typeface="Inter"/>
                <a:ea typeface="Inter"/>
                <a:cs typeface="Inter"/>
                <a:sym typeface="Inter"/>
              </a:rPr>
              <a:t> Reads source or bytecode instruction by instruction. No compilation latency, but high runtime CPU overhead.</a:t>
            </a:r>
            <a:endParaRPr/>
          </a:p>
        </p:txBody>
      </p:sp>
      <p:sp>
        <p:nvSpPr>
          <p:cNvPr id="102" name="Google Shape;102;p14"/>
          <p:cNvSpPr txBox="1"/>
          <p:nvPr/>
        </p:nvSpPr>
        <p:spPr>
          <a:xfrm>
            <a:off x="866775" y="5238750"/>
            <a:ext cx="2901999"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chemeClr val="dk1"/>
                </a:solidFill>
                <a:latin typeface="Inter"/>
                <a:ea typeface="Inter"/>
                <a:cs typeface="Inter"/>
                <a:sym typeface="Inter"/>
              </a:rPr>
              <a:t>Zero startup time, High portability.</a:t>
            </a:r>
            <a:endParaRPr/>
          </a:p>
        </p:txBody>
      </p:sp>
      <p:pic>
        <p:nvPicPr>
          <p:cNvPr id="103" name="Google Shape;103;p14" descr="image.png"/>
          <p:cNvPicPr preferRelativeResize="0"/>
          <p:nvPr/>
        </p:nvPicPr>
        <p:blipFill rotWithShape="1">
          <a:blip r:embed="rId8">
            <a:alphaModFix/>
          </a:blip>
          <a:srcRect/>
          <a:stretch/>
        </p:blipFill>
        <p:spPr>
          <a:xfrm>
            <a:off x="4645074" y="1990725"/>
            <a:ext cx="571500" cy="571500"/>
          </a:xfrm>
          <a:prstGeom prst="rect">
            <a:avLst/>
          </a:prstGeom>
          <a:noFill/>
          <a:ln>
            <a:noFill/>
          </a:ln>
        </p:spPr>
      </p:pic>
      <p:sp>
        <p:nvSpPr>
          <p:cNvPr id="104" name="Google Shape;104;p14"/>
          <p:cNvSpPr txBox="1"/>
          <p:nvPr/>
        </p:nvSpPr>
        <p:spPr>
          <a:xfrm>
            <a:off x="4645074" y="2752725"/>
            <a:ext cx="3047099"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JIT (Just-In-Time)</a:t>
            </a:r>
            <a:endParaRPr/>
          </a:p>
        </p:txBody>
      </p:sp>
      <p:sp>
        <p:nvSpPr>
          <p:cNvPr id="105" name="Google Shape;105;p14"/>
          <p:cNvSpPr txBox="1"/>
          <p:nvPr/>
        </p:nvSpPr>
        <p:spPr>
          <a:xfrm>
            <a:off x="4645074" y="3333750"/>
            <a:ext cx="290199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Hybrid Model:</a:t>
            </a:r>
            <a:r>
              <a:rPr lang="en-US" sz="1500" b="0" i="0" u="none" strike="noStrike" cap="none">
                <a:solidFill>
                  <a:srgbClr val="94A3B8"/>
                </a:solidFill>
                <a:latin typeface="Inter"/>
                <a:ea typeface="Inter"/>
                <a:cs typeface="Inter"/>
                <a:sym typeface="Inter"/>
              </a:rPr>
              <a:t> Compiles "hot" code paths during execution. Uses runtime profiling for speculative optimizations.</a:t>
            </a:r>
            <a:endParaRPr/>
          </a:p>
        </p:txBody>
      </p:sp>
      <p:sp>
        <p:nvSpPr>
          <p:cNvPr id="106" name="Google Shape;106;p14"/>
          <p:cNvSpPr txBox="1"/>
          <p:nvPr/>
        </p:nvSpPr>
        <p:spPr>
          <a:xfrm>
            <a:off x="4645074" y="4933950"/>
            <a:ext cx="2901999"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chemeClr val="dk1"/>
                </a:solidFill>
                <a:latin typeface="Inter"/>
                <a:ea typeface="Inter"/>
                <a:cs typeface="Inter"/>
                <a:sym typeface="Inter"/>
              </a:rPr>
              <a:t>Adaptive performance, High memory use.</a:t>
            </a:r>
            <a:endParaRPr/>
          </a:p>
        </p:txBody>
      </p:sp>
      <p:pic>
        <p:nvPicPr>
          <p:cNvPr id="107" name="Google Shape;107;p14" descr="image.png"/>
          <p:cNvPicPr preferRelativeResize="0"/>
          <p:nvPr/>
        </p:nvPicPr>
        <p:blipFill rotWithShape="1">
          <a:blip r:embed="rId9">
            <a:alphaModFix/>
          </a:blip>
          <a:srcRect/>
          <a:stretch/>
        </p:blipFill>
        <p:spPr>
          <a:xfrm>
            <a:off x="8423374" y="1990725"/>
            <a:ext cx="571500" cy="571500"/>
          </a:xfrm>
          <a:prstGeom prst="rect">
            <a:avLst/>
          </a:prstGeom>
          <a:noFill/>
          <a:ln>
            <a:noFill/>
          </a:ln>
        </p:spPr>
      </p:pic>
      <p:sp>
        <p:nvSpPr>
          <p:cNvPr id="108" name="Google Shape;108;p14"/>
          <p:cNvSpPr txBox="1"/>
          <p:nvPr/>
        </p:nvSpPr>
        <p:spPr>
          <a:xfrm>
            <a:off x="8423374" y="2752725"/>
            <a:ext cx="3047099"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AOT (Ahead-Of-Time)</a:t>
            </a:r>
            <a:endParaRPr/>
          </a:p>
        </p:txBody>
      </p:sp>
      <p:sp>
        <p:nvSpPr>
          <p:cNvPr id="109" name="Google Shape;109;p14"/>
          <p:cNvSpPr txBox="1"/>
          <p:nvPr/>
        </p:nvSpPr>
        <p:spPr>
          <a:xfrm>
            <a:off x="8423374" y="3333750"/>
            <a:ext cx="290199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Static Compilation:</a:t>
            </a:r>
            <a:r>
              <a:rPr lang="en-US" sz="1500" b="0" i="0" u="none" strike="noStrike" cap="none">
                <a:solidFill>
                  <a:srgbClr val="94A3B8"/>
                </a:solidFill>
                <a:latin typeface="Inter"/>
                <a:ea typeface="Inter"/>
                <a:cs typeface="Inter"/>
                <a:sym typeface="Inter"/>
              </a:rPr>
              <a:t> Translates to machine code before execution (build/install time). Analysis must be conservative.</a:t>
            </a:r>
            <a:endParaRPr/>
          </a:p>
        </p:txBody>
      </p:sp>
      <p:sp>
        <p:nvSpPr>
          <p:cNvPr id="110" name="Google Shape;110;p14"/>
          <p:cNvSpPr txBox="1"/>
          <p:nvPr/>
        </p:nvSpPr>
        <p:spPr>
          <a:xfrm>
            <a:off x="8423374" y="4933950"/>
            <a:ext cx="2901999"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chemeClr val="dk1"/>
                </a:solidFill>
                <a:latin typeface="Inter"/>
                <a:ea typeface="Inter"/>
                <a:cs typeface="Inter"/>
                <a:sym typeface="Inter"/>
              </a:rPr>
              <a:t>Fast startup, Low runtime overhead.</a:t>
            </a:r>
            <a:endParaRPr/>
          </a:p>
        </p:txBody>
      </p:sp>
      <p:pic>
        <p:nvPicPr>
          <p:cNvPr id="111" name="Google Shape;111;p14" descr="image.png"/>
          <p:cNvPicPr preferRelativeResize="0"/>
          <p:nvPr/>
        </p:nvPicPr>
        <p:blipFill rotWithShape="1">
          <a:blip r:embed="rId10">
            <a:alphaModFix/>
          </a:blip>
          <a:srcRect/>
          <a:stretch/>
        </p:blipFill>
        <p:spPr>
          <a:xfrm>
            <a:off x="981075" y="2124075"/>
            <a:ext cx="342900" cy="304800"/>
          </a:xfrm>
          <a:prstGeom prst="rect">
            <a:avLst/>
          </a:prstGeom>
          <a:noFill/>
          <a:ln>
            <a:noFill/>
          </a:ln>
        </p:spPr>
      </p:pic>
      <p:pic>
        <p:nvPicPr>
          <p:cNvPr id="112" name="Google Shape;112;p14" descr="image.png"/>
          <p:cNvPicPr preferRelativeResize="0"/>
          <p:nvPr/>
        </p:nvPicPr>
        <p:blipFill rotWithShape="1">
          <a:blip r:embed="rId11">
            <a:alphaModFix/>
          </a:blip>
          <a:srcRect/>
          <a:stretch/>
        </p:blipFill>
        <p:spPr>
          <a:xfrm>
            <a:off x="4797474" y="2124075"/>
            <a:ext cx="266700" cy="304800"/>
          </a:xfrm>
          <a:prstGeom prst="rect">
            <a:avLst/>
          </a:prstGeom>
          <a:noFill/>
          <a:ln>
            <a:noFill/>
          </a:ln>
        </p:spPr>
      </p:pic>
      <p:pic>
        <p:nvPicPr>
          <p:cNvPr id="113" name="Google Shape;113;p14" descr="image.png"/>
          <p:cNvPicPr preferRelativeResize="0"/>
          <p:nvPr/>
        </p:nvPicPr>
        <p:blipFill rotWithShape="1">
          <a:blip r:embed="rId12">
            <a:alphaModFix/>
          </a:blip>
          <a:srcRect/>
          <a:stretch/>
        </p:blipFill>
        <p:spPr>
          <a:xfrm>
            <a:off x="8556724" y="2124075"/>
            <a:ext cx="304800" cy="304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30C95E7C-BA60-2770-4693-2912AEDA181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15" descr="image.png"/>
          <p:cNvPicPr preferRelativeResize="0"/>
          <p:nvPr/>
        </p:nvPicPr>
        <p:blipFill rotWithShape="1">
          <a:blip r:embed="rId4">
            <a:alphaModFix/>
          </a:blip>
          <a:srcRect/>
          <a:stretch/>
        </p:blipFill>
        <p:spPr>
          <a:xfrm>
            <a:off x="571500" y="1834604"/>
            <a:ext cx="3429000" cy="2874466"/>
          </a:xfrm>
          <a:prstGeom prst="rect">
            <a:avLst/>
          </a:prstGeom>
          <a:noFill/>
          <a:ln>
            <a:noFill/>
          </a:ln>
        </p:spPr>
      </p:pic>
      <p:pic>
        <p:nvPicPr>
          <p:cNvPr id="119" name="Google Shape;119;p15" descr="image.png"/>
          <p:cNvPicPr preferRelativeResize="0"/>
          <p:nvPr/>
        </p:nvPicPr>
        <p:blipFill rotWithShape="1">
          <a:blip r:embed="rId5">
            <a:alphaModFix/>
          </a:blip>
          <a:srcRect/>
          <a:stretch/>
        </p:blipFill>
        <p:spPr>
          <a:xfrm>
            <a:off x="4381500" y="1834604"/>
            <a:ext cx="3429000" cy="2874466"/>
          </a:xfrm>
          <a:prstGeom prst="rect">
            <a:avLst/>
          </a:prstGeom>
          <a:noFill/>
          <a:ln>
            <a:noFill/>
          </a:ln>
        </p:spPr>
      </p:pic>
      <p:pic>
        <p:nvPicPr>
          <p:cNvPr id="120" name="Google Shape;120;p15" descr="image.png"/>
          <p:cNvPicPr preferRelativeResize="0"/>
          <p:nvPr/>
        </p:nvPicPr>
        <p:blipFill rotWithShape="1">
          <a:blip r:embed="rId5">
            <a:alphaModFix/>
          </a:blip>
          <a:srcRect/>
          <a:stretch/>
        </p:blipFill>
        <p:spPr>
          <a:xfrm>
            <a:off x="8191500" y="1834604"/>
            <a:ext cx="3429000" cy="2874466"/>
          </a:xfrm>
          <a:prstGeom prst="rect">
            <a:avLst/>
          </a:prstGeom>
          <a:noFill/>
          <a:ln>
            <a:noFill/>
          </a:ln>
        </p:spPr>
      </p:pic>
      <p:sp>
        <p:nvSpPr>
          <p:cNvPr id="121" name="Google Shape;121;p15"/>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The "Iron Triangle" of Compilation</a:t>
            </a:r>
            <a:endParaRPr/>
          </a:p>
        </p:txBody>
      </p:sp>
      <p:sp>
        <p:nvSpPr>
          <p:cNvPr id="122" name="Google Shape;122;p15"/>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15"/>
          <p:cNvSpPr txBox="1"/>
          <p:nvPr/>
        </p:nvSpPr>
        <p:spPr>
          <a:xfrm>
            <a:off x="2286000" y="5090070"/>
            <a:ext cx="76200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94A3B8"/>
                </a:solidFill>
                <a:latin typeface="Inter"/>
                <a:ea typeface="Inter"/>
                <a:cs typeface="Inter"/>
                <a:sym typeface="Inter"/>
              </a:rPr>
              <a:t>"Improving one metric often degrades the others. Mobile architectures must navigate this triangle under strict constraints."</a:t>
            </a:r>
            <a:endParaRPr/>
          </a:p>
        </p:txBody>
      </p:sp>
      <p:sp>
        <p:nvSpPr>
          <p:cNvPr id="124" name="Google Shape;124;p15"/>
          <p:cNvSpPr txBox="1"/>
          <p:nvPr/>
        </p:nvSpPr>
        <p:spPr>
          <a:xfrm>
            <a:off x="762000" y="2253704"/>
            <a:ext cx="3048000" cy="800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34D399"/>
                </a:solidFill>
                <a:latin typeface="JetBrains Mono"/>
                <a:ea typeface="JetBrains Mono"/>
                <a:cs typeface="JetBrains Mono"/>
                <a:sym typeface="JetBrains Mono"/>
              </a:rPr>
              <a:t>1</a:t>
            </a:r>
            <a:endParaRPr/>
          </a:p>
        </p:txBody>
      </p:sp>
      <p:sp>
        <p:nvSpPr>
          <p:cNvPr id="125" name="Google Shape;125;p15"/>
          <p:cNvSpPr txBox="1"/>
          <p:nvPr/>
        </p:nvSpPr>
        <p:spPr>
          <a:xfrm>
            <a:off x="762000" y="3149054"/>
            <a:ext cx="30480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8FAFC"/>
                </a:solidFill>
                <a:latin typeface="Inter SemiBold"/>
                <a:ea typeface="Inter SemiBold"/>
                <a:cs typeface="Inter SemiBold"/>
                <a:sym typeface="Inter SemiBold"/>
              </a:rPr>
              <a:t>Startup Latency</a:t>
            </a:r>
            <a:endParaRPr/>
          </a:p>
        </p:txBody>
      </p:sp>
      <p:sp>
        <p:nvSpPr>
          <p:cNvPr id="126" name="Google Shape;126;p15"/>
          <p:cNvSpPr txBox="1"/>
          <p:nvPr/>
        </p:nvSpPr>
        <p:spPr>
          <a:xfrm>
            <a:off x="762000" y="3444329"/>
            <a:ext cx="3048000" cy="731341"/>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0" i="0" u="none" strike="noStrike" cap="none">
                <a:solidFill>
                  <a:srgbClr val="94A3B8"/>
                </a:solidFill>
                <a:latin typeface="Inter"/>
                <a:ea typeface="Inter"/>
                <a:cs typeface="Inter"/>
                <a:sym typeface="Inter"/>
              </a:rPr>
              <a:t>Time from icon tap to responsiveness. </a:t>
            </a:r>
            <a:br>
              <a:rPr lang="en-US" sz="1800" b="0" i="0" u="none" strike="noStrike" cap="none">
                <a:solidFill>
                  <a:schemeClr val="dk1"/>
                </a:solidFill>
                <a:latin typeface="Calibri"/>
                <a:ea typeface="Calibri"/>
                <a:cs typeface="Calibri"/>
                <a:sym typeface="Calibri"/>
              </a:rPr>
            </a:br>
            <a:r>
              <a:rPr lang="en-US" sz="1200" b="0" i="0" u="none" strike="noStrike" cap="none">
                <a:solidFill>
                  <a:schemeClr val="dk1"/>
                </a:solidFill>
                <a:latin typeface="Inter"/>
                <a:ea typeface="Inter"/>
                <a:cs typeface="Inter"/>
                <a:sym typeface="Inter"/>
              </a:rPr>
              <a:t>AOT wins here</a:t>
            </a:r>
            <a:r>
              <a:rPr lang="en-US" sz="1200" b="0" i="0" u="none" strike="noStrike" cap="none">
                <a:solidFill>
                  <a:srgbClr val="94A3B8"/>
                </a:solidFill>
                <a:latin typeface="Inter"/>
                <a:ea typeface="Inter"/>
                <a:cs typeface="Inter"/>
                <a:sym typeface="Inter"/>
              </a:rPr>
              <a:t> (no compilation at runtime).</a:t>
            </a:r>
            <a:endParaRPr/>
          </a:p>
        </p:txBody>
      </p:sp>
      <p:sp>
        <p:nvSpPr>
          <p:cNvPr id="127" name="Google Shape;127;p15"/>
          <p:cNvSpPr txBox="1"/>
          <p:nvPr/>
        </p:nvSpPr>
        <p:spPr>
          <a:xfrm>
            <a:off x="4572000" y="2253704"/>
            <a:ext cx="3048000" cy="800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34D399"/>
                </a:solidFill>
                <a:latin typeface="JetBrains Mono"/>
                <a:ea typeface="JetBrains Mono"/>
                <a:cs typeface="JetBrains Mono"/>
                <a:sym typeface="JetBrains Mono"/>
              </a:rPr>
              <a:t>2</a:t>
            </a:r>
            <a:endParaRPr/>
          </a:p>
        </p:txBody>
      </p:sp>
      <p:sp>
        <p:nvSpPr>
          <p:cNvPr id="128" name="Google Shape;128;p15"/>
          <p:cNvSpPr txBox="1"/>
          <p:nvPr/>
        </p:nvSpPr>
        <p:spPr>
          <a:xfrm>
            <a:off x="4572000" y="3149054"/>
            <a:ext cx="30480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8FAFC"/>
                </a:solidFill>
                <a:latin typeface="Inter SemiBold"/>
                <a:ea typeface="Inter SemiBold"/>
                <a:cs typeface="Inter SemiBold"/>
                <a:sym typeface="Inter SemiBold"/>
              </a:rPr>
              <a:t>Peak Throughput</a:t>
            </a:r>
            <a:endParaRPr/>
          </a:p>
        </p:txBody>
      </p:sp>
      <p:sp>
        <p:nvSpPr>
          <p:cNvPr id="129" name="Google Shape;129;p15"/>
          <p:cNvSpPr txBox="1"/>
          <p:nvPr/>
        </p:nvSpPr>
        <p:spPr>
          <a:xfrm>
            <a:off x="4572000" y="3444329"/>
            <a:ext cx="3048000" cy="731341"/>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0" i="0" u="none" strike="noStrike" cap="none">
                <a:solidFill>
                  <a:srgbClr val="94A3B8"/>
                </a:solidFill>
                <a:latin typeface="Inter"/>
                <a:ea typeface="Inter"/>
                <a:cs typeface="Inter"/>
                <a:sym typeface="Inter"/>
              </a:rPr>
              <a:t>Max execution speed at steady state. </a:t>
            </a:r>
            <a:br>
              <a:rPr lang="en-US" sz="1800" b="0" i="0" u="none" strike="noStrike" cap="none">
                <a:solidFill>
                  <a:schemeClr val="dk1"/>
                </a:solidFill>
                <a:latin typeface="Calibri"/>
                <a:ea typeface="Calibri"/>
                <a:cs typeface="Calibri"/>
                <a:sym typeface="Calibri"/>
              </a:rPr>
            </a:br>
            <a:r>
              <a:rPr lang="en-US" sz="1200" b="0" i="0" u="none" strike="noStrike" cap="none">
                <a:solidFill>
                  <a:schemeClr val="dk1"/>
                </a:solidFill>
                <a:latin typeface="Inter"/>
                <a:ea typeface="Inter"/>
                <a:cs typeface="Inter"/>
                <a:sym typeface="Inter"/>
              </a:rPr>
              <a:t>JIT wins here</a:t>
            </a:r>
            <a:r>
              <a:rPr lang="en-US" sz="1200" b="0" i="0" u="none" strike="noStrike" cap="none">
                <a:solidFill>
                  <a:srgbClr val="94A3B8"/>
                </a:solidFill>
                <a:latin typeface="Inter"/>
                <a:ea typeface="Inter"/>
                <a:cs typeface="Inter"/>
                <a:sym typeface="Inter"/>
              </a:rPr>
              <a:t> (profile-guided optimization).</a:t>
            </a:r>
            <a:endParaRPr/>
          </a:p>
        </p:txBody>
      </p:sp>
      <p:sp>
        <p:nvSpPr>
          <p:cNvPr id="130" name="Google Shape;130;p15"/>
          <p:cNvSpPr txBox="1"/>
          <p:nvPr/>
        </p:nvSpPr>
        <p:spPr>
          <a:xfrm>
            <a:off x="8382000" y="2253704"/>
            <a:ext cx="3048000" cy="800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34D399"/>
                </a:solidFill>
                <a:latin typeface="JetBrains Mono"/>
                <a:ea typeface="JetBrains Mono"/>
                <a:cs typeface="JetBrains Mono"/>
                <a:sym typeface="JetBrains Mono"/>
              </a:rPr>
              <a:t>3</a:t>
            </a:r>
            <a:endParaRPr/>
          </a:p>
        </p:txBody>
      </p:sp>
      <p:sp>
        <p:nvSpPr>
          <p:cNvPr id="131" name="Google Shape;131;p15"/>
          <p:cNvSpPr txBox="1"/>
          <p:nvPr/>
        </p:nvSpPr>
        <p:spPr>
          <a:xfrm>
            <a:off x="8382000" y="3149054"/>
            <a:ext cx="30480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8FAFC"/>
                </a:solidFill>
                <a:latin typeface="Inter SemiBold"/>
                <a:ea typeface="Inter SemiBold"/>
                <a:cs typeface="Inter SemiBold"/>
                <a:sym typeface="Inter SemiBold"/>
              </a:rPr>
              <a:t>Memory Footprint</a:t>
            </a:r>
            <a:endParaRPr/>
          </a:p>
        </p:txBody>
      </p:sp>
      <p:sp>
        <p:nvSpPr>
          <p:cNvPr id="132" name="Google Shape;132;p15"/>
          <p:cNvSpPr txBox="1"/>
          <p:nvPr/>
        </p:nvSpPr>
        <p:spPr>
          <a:xfrm>
            <a:off x="8382000" y="3444329"/>
            <a:ext cx="3048000"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0" i="0" u="none" strike="noStrike" cap="none">
                <a:solidFill>
                  <a:srgbClr val="94A3B8"/>
                </a:solidFill>
                <a:latin typeface="Inter"/>
                <a:ea typeface="Inter"/>
                <a:cs typeface="Inter"/>
                <a:sym typeface="Inter"/>
              </a:rPr>
              <a:t>RAM consumed by runtime &amp; code. </a:t>
            </a:r>
            <a:br>
              <a:rPr lang="en-US" sz="1800" b="0" i="0" u="none" strike="noStrike" cap="none">
                <a:solidFill>
                  <a:schemeClr val="dk1"/>
                </a:solidFill>
                <a:latin typeface="Calibri"/>
                <a:ea typeface="Calibri"/>
                <a:cs typeface="Calibri"/>
                <a:sym typeface="Calibri"/>
              </a:rPr>
            </a:br>
            <a:r>
              <a:rPr lang="en-US" sz="1200" b="0" i="0" u="none" strike="noStrike" cap="none">
                <a:solidFill>
                  <a:schemeClr val="dk1"/>
                </a:solidFill>
                <a:latin typeface="Inter"/>
                <a:ea typeface="Inter"/>
                <a:cs typeface="Inter"/>
                <a:sym typeface="Inter"/>
              </a:rPr>
              <a:t>AOT is leaner</a:t>
            </a:r>
            <a:r>
              <a:rPr lang="en-US" sz="1200" b="0" i="0" u="none" strike="noStrike" cap="none">
                <a:solidFill>
                  <a:srgbClr val="94A3B8"/>
                </a:solidFill>
                <a:latin typeface="Inter"/>
                <a:ea typeface="Inter"/>
                <a:cs typeface="Inter"/>
                <a:sym typeface="Inter"/>
              </a:rPr>
              <a:t> (no compiler in 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33BD67D9-D824-1F6C-C977-D4F5305B2A5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7" name="Google Shape;137;p16" descr="image.png"/>
          <p:cNvPicPr preferRelativeResize="0"/>
          <p:nvPr/>
        </p:nvPicPr>
        <p:blipFill rotWithShape="1">
          <a:blip r:embed="rId4">
            <a:alphaModFix/>
          </a:blip>
          <a:srcRect/>
          <a:stretch/>
        </p:blipFill>
        <p:spPr>
          <a:xfrm>
            <a:off x="571500" y="1438275"/>
            <a:ext cx="5238750" cy="4848225"/>
          </a:xfrm>
          <a:prstGeom prst="rect">
            <a:avLst/>
          </a:prstGeom>
          <a:noFill/>
          <a:ln>
            <a:noFill/>
          </a:ln>
        </p:spPr>
      </p:pic>
      <p:pic>
        <p:nvPicPr>
          <p:cNvPr id="138" name="Google Shape;138;p16" descr="image.png"/>
          <p:cNvPicPr preferRelativeResize="0"/>
          <p:nvPr/>
        </p:nvPicPr>
        <p:blipFill rotWithShape="1">
          <a:blip r:embed="rId5">
            <a:alphaModFix/>
          </a:blip>
          <a:srcRect/>
          <a:stretch/>
        </p:blipFill>
        <p:spPr>
          <a:xfrm>
            <a:off x="6381750" y="1438275"/>
            <a:ext cx="5238750" cy="4848225"/>
          </a:xfrm>
          <a:prstGeom prst="rect">
            <a:avLst/>
          </a:prstGeom>
          <a:noFill/>
          <a:ln>
            <a:noFill/>
          </a:ln>
        </p:spPr>
      </p:pic>
      <p:sp>
        <p:nvSpPr>
          <p:cNvPr id="139" name="Google Shape;139;p16"/>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JIT vs. AOT Comparison</a:t>
            </a:r>
            <a:endParaRPr/>
          </a:p>
        </p:txBody>
      </p:sp>
      <p:sp>
        <p:nvSpPr>
          <p:cNvPr id="140" name="Google Shape;140;p16"/>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6"/>
          <p:cNvSpPr txBox="1"/>
          <p:nvPr/>
        </p:nvSpPr>
        <p:spPr>
          <a:xfrm>
            <a:off x="962025" y="1828800"/>
            <a:ext cx="4680585" cy="276225"/>
          </a:xfrm>
          <a:prstGeom prst="rect">
            <a:avLst/>
          </a:prstGeom>
          <a:noFill/>
          <a:ln>
            <a:noFill/>
          </a:ln>
        </p:spPr>
        <p:txBody>
          <a:bodyPr spcFirstLastPara="1" wrap="square" lIns="376525"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Just-In-Time (JIT)</a:t>
            </a:r>
            <a:endParaRPr/>
          </a:p>
        </p:txBody>
      </p:sp>
      <p:sp>
        <p:nvSpPr>
          <p:cNvPr id="142" name="Google Shape;142;p16"/>
          <p:cNvSpPr txBox="1"/>
          <p:nvPr/>
        </p:nvSpPr>
        <p:spPr>
          <a:xfrm>
            <a:off x="6772275" y="1828800"/>
            <a:ext cx="4680585" cy="276225"/>
          </a:xfrm>
          <a:prstGeom prst="rect">
            <a:avLst/>
          </a:prstGeom>
          <a:noFill/>
          <a:ln>
            <a:noFill/>
          </a:ln>
        </p:spPr>
        <p:txBody>
          <a:bodyPr spcFirstLastPara="1" wrap="square" lIns="319375"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Ahead-Of-Time (AOT)</a:t>
            </a:r>
            <a:endParaRPr/>
          </a:p>
        </p:txBody>
      </p:sp>
      <p:pic>
        <p:nvPicPr>
          <p:cNvPr id="143" name="Google Shape;143;p16" descr="image.png"/>
          <p:cNvPicPr preferRelativeResize="0"/>
          <p:nvPr/>
        </p:nvPicPr>
        <p:blipFill rotWithShape="1">
          <a:blip r:embed="rId6">
            <a:alphaModFix/>
          </a:blip>
          <a:srcRect/>
          <a:stretch/>
        </p:blipFill>
        <p:spPr>
          <a:xfrm>
            <a:off x="962025" y="1847850"/>
            <a:ext cx="281285" cy="228600"/>
          </a:xfrm>
          <a:prstGeom prst="rect">
            <a:avLst/>
          </a:prstGeom>
          <a:noFill/>
          <a:ln>
            <a:noFill/>
          </a:ln>
        </p:spPr>
      </p:pic>
      <p:sp>
        <p:nvSpPr>
          <p:cNvPr id="144" name="Google Shape;144;p16"/>
          <p:cNvSpPr txBox="1"/>
          <p:nvPr/>
        </p:nvSpPr>
        <p:spPr>
          <a:xfrm>
            <a:off x="1190625" y="23717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Mechanism:</a:t>
            </a:r>
            <a:r>
              <a:rPr lang="en-US" sz="1500" b="0" i="0" u="none" strike="noStrike" cap="none">
                <a:solidFill>
                  <a:srgbClr val="94A3B8"/>
                </a:solidFill>
                <a:latin typeface="Inter"/>
                <a:ea typeface="Inter"/>
                <a:cs typeface="Inter"/>
                <a:sym typeface="Inter"/>
              </a:rPr>
              <a:t> Translates "hot" bytecode to native code during execution.</a:t>
            </a:r>
            <a:endParaRPr/>
          </a:p>
        </p:txBody>
      </p:sp>
      <p:sp>
        <p:nvSpPr>
          <p:cNvPr id="145" name="Google Shape;145;p16"/>
          <p:cNvSpPr txBox="1"/>
          <p:nvPr/>
        </p:nvSpPr>
        <p:spPr>
          <a:xfrm>
            <a:off x="1190625" y="31337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Pros:</a:t>
            </a:r>
            <a:r>
              <a:rPr lang="en-US" sz="1500" b="0" i="0" u="none" strike="noStrike" cap="none">
                <a:solidFill>
                  <a:srgbClr val="94A3B8"/>
                </a:solidFill>
                <a:latin typeface="Inter"/>
                <a:ea typeface="Inter"/>
                <a:cs typeface="Inter"/>
                <a:sym typeface="Inter"/>
              </a:rPr>
              <a:t> Adaptive optimization based on real data (PGO), smaller install size (bytecode).</a:t>
            </a:r>
            <a:endParaRPr/>
          </a:p>
        </p:txBody>
      </p:sp>
      <p:sp>
        <p:nvSpPr>
          <p:cNvPr id="146" name="Google Shape;146;p16"/>
          <p:cNvSpPr txBox="1"/>
          <p:nvPr/>
        </p:nvSpPr>
        <p:spPr>
          <a:xfrm>
            <a:off x="1190625" y="3895725"/>
            <a:ext cx="4229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Cons:</a:t>
            </a:r>
            <a:r>
              <a:rPr lang="en-US" sz="1500" b="0" i="0" u="none" strike="noStrike" cap="none">
                <a:solidFill>
                  <a:srgbClr val="94A3B8"/>
                </a:solidFill>
                <a:latin typeface="Inter"/>
                <a:ea typeface="Inter"/>
                <a:cs typeface="Inter"/>
                <a:sym typeface="Inter"/>
              </a:rPr>
              <a:t> High CPU usage during warmup (battery drain), stutter/jank, requires executable memory (security risk).</a:t>
            </a:r>
            <a:endParaRPr/>
          </a:p>
        </p:txBody>
      </p:sp>
      <p:sp>
        <p:nvSpPr>
          <p:cNvPr id="147" name="Google Shape;147;p16"/>
          <p:cNvSpPr txBox="1"/>
          <p:nvPr/>
        </p:nvSpPr>
        <p:spPr>
          <a:xfrm>
            <a:off x="1190625" y="49625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Ideal For:</a:t>
            </a:r>
            <a:r>
              <a:rPr lang="en-US" sz="1500" b="0" i="0" u="none" strike="noStrike" cap="none">
                <a:solidFill>
                  <a:srgbClr val="94A3B8"/>
                </a:solidFill>
                <a:latin typeface="Inter"/>
                <a:ea typeface="Inter"/>
                <a:cs typeface="Inter"/>
                <a:sym typeface="Inter"/>
              </a:rPr>
              <a:t> Long-running server processes, dynamic scripting.</a:t>
            </a:r>
            <a:endParaRPr/>
          </a:p>
        </p:txBody>
      </p:sp>
      <p:pic>
        <p:nvPicPr>
          <p:cNvPr id="148" name="Google Shape;148;p16" descr="image.png"/>
          <p:cNvPicPr preferRelativeResize="0"/>
          <p:nvPr/>
        </p:nvPicPr>
        <p:blipFill rotWithShape="1">
          <a:blip r:embed="rId7">
            <a:alphaModFix/>
          </a:blip>
          <a:srcRect/>
          <a:stretch/>
        </p:blipFill>
        <p:spPr>
          <a:xfrm>
            <a:off x="6772275" y="1847850"/>
            <a:ext cx="224135" cy="228600"/>
          </a:xfrm>
          <a:prstGeom prst="rect">
            <a:avLst/>
          </a:prstGeom>
          <a:noFill/>
          <a:ln>
            <a:noFill/>
          </a:ln>
        </p:spPr>
      </p:pic>
      <p:sp>
        <p:nvSpPr>
          <p:cNvPr id="149" name="Google Shape;149;p16"/>
          <p:cNvSpPr txBox="1"/>
          <p:nvPr/>
        </p:nvSpPr>
        <p:spPr>
          <a:xfrm>
            <a:off x="7000875" y="23717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Mechanism:</a:t>
            </a:r>
            <a:r>
              <a:rPr lang="en-US" sz="1500" b="0" i="0" u="none" strike="noStrike" cap="none">
                <a:solidFill>
                  <a:srgbClr val="94A3B8"/>
                </a:solidFill>
                <a:latin typeface="Inter"/>
                <a:ea typeface="Inter"/>
                <a:cs typeface="Inter"/>
                <a:sym typeface="Inter"/>
              </a:rPr>
              <a:t> Compiles to native binary before launch (build or install time).</a:t>
            </a:r>
            <a:endParaRPr/>
          </a:p>
        </p:txBody>
      </p:sp>
      <p:sp>
        <p:nvSpPr>
          <p:cNvPr id="150" name="Google Shape;150;p16"/>
          <p:cNvSpPr txBox="1"/>
          <p:nvPr/>
        </p:nvSpPr>
        <p:spPr>
          <a:xfrm>
            <a:off x="7000875" y="3133725"/>
            <a:ext cx="4229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Pros:</a:t>
            </a:r>
            <a:r>
              <a:rPr lang="en-US" sz="1500" b="0" i="0" u="none" strike="noStrike" cap="none">
                <a:solidFill>
                  <a:srgbClr val="94A3B8"/>
                </a:solidFill>
                <a:latin typeface="Inter"/>
                <a:ea typeface="Inter"/>
                <a:cs typeface="Inter"/>
                <a:sym typeface="Inter"/>
              </a:rPr>
              <a:t> Instant startup, consistent performance, lower RAM usage, better security ($W \oplus X$).</a:t>
            </a:r>
            <a:endParaRPr/>
          </a:p>
        </p:txBody>
      </p:sp>
      <p:sp>
        <p:nvSpPr>
          <p:cNvPr id="151" name="Google Shape;151;p16"/>
          <p:cNvSpPr txBox="1"/>
          <p:nvPr/>
        </p:nvSpPr>
        <p:spPr>
          <a:xfrm>
            <a:off x="7000875" y="42005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Cons:</a:t>
            </a:r>
            <a:r>
              <a:rPr lang="en-US" sz="1500" b="0" i="0" u="none" strike="noStrike" cap="none">
                <a:solidFill>
                  <a:srgbClr val="94A3B8"/>
                </a:solidFill>
                <a:latin typeface="Inter"/>
                <a:ea typeface="Inter"/>
                <a:cs typeface="Inter"/>
                <a:sym typeface="Inter"/>
              </a:rPr>
              <a:t> Cannot adapt to runtime conditions, larger binary size on disk, rigid optimization.</a:t>
            </a:r>
            <a:endParaRPr/>
          </a:p>
        </p:txBody>
      </p:sp>
      <p:sp>
        <p:nvSpPr>
          <p:cNvPr id="152" name="Google Shape;152;p16"/>
          <p:cNvSpPr txBox="1"/>
          <p:nvPr/>
        </p:nvSpPr>
        <p:spPr>
          <a:xfrm>
            <a:off x="7000875" y="49625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Ideal For:</a:t>
            </a:r>
            <a:r>
              <a:rPr lang="en-US" sz="1500" b="0" i="0" u="none" strike="noStrike" cap="none">
                <a:solidFill>
                  <a:srgbClr val="94A3B8"/>
                </a:solidFill>
                <a:latin typeface="Inter"/>
                <a:ea typeface="Inter"/>
                <a:cs typeface="Inter"/>
                <a:sym typeface="Inter"/>
              </a:rPr>
              <a:t> Mobile apps requiring instant response (iOS model).</a:t>
            </a:r>
            <a:endParaRPr/>
          </a:p>
        </p:txBody>
      </p:sp>
      <p:sp>
        <p:nvSpPr>
          <p:cNvPr id="153" name="Google Shape;153;p16"/>
          <p:cNvSpPr txBox="1"/>
          <p:nvPr/>
        </p:nvSpPr>
        <p:spPr>
          <a:xfrm>
            <a:off x="962025" y="2371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54" name="Google Shape;154;p16"/>
          <p:cNvSpPr txBox="1"/>
          <p:nvPr/>
        </p:nvSpPr>
        <p:spPr>
          <a:xfrm>
            <a:off x="962025" y="3133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55" name="Google Shape;155;p16"/>
          <p:cNvSpPr txBox="1"/>
          <p:nvPr/>
        </p:nvSpPr>
        <p:spPr>
          <a:xfrm>
            <a:off x="962025" y="3895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56" name="Google Shape;156;p16"/>
          <p:cNvSpPr txBox="1"/>
          <p:nvPr/>
        </p:nvSpPr>
        <p:spPr>
          <a:xfrm>
            <a:off x="962025" y="49625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57" name="Google Shape;157;p16"/>
          <p:cNvSpPr txBox="1"/>
          <p:nvPr/>
        </p:nvSpPr>
        <p:spPr>
          <a:xfrm>
            <a:off x="6772275" y="2371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58" name="Google Shape;158;p16"/>
          <p:cNvSpPr txBox="1"/>
          <p:nvPr/>
        </p:nvSpPr>
        <p:spPr>
          <a:xfrm>
            <a:off x="6772275" y="3133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59" name="Google Shape;159;p16"/>
          <p:cNvSpPr txBox="1"/>
          <p:nvPr/>
        </p:nvSpPr>
        <p:spPr>
          <a:xfrm>
            <a:off x="6772275" y="42005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160" name="Google Shape;160;p16"/>
          <p:cNvSpPr txBox="1"/>
          <p:nvPr/>
        </p:nvSpPr>
        <p:spPr>
          <a:xfrm>
            <a:off x="6772275" y="49625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2936DEF1-B7F9-8A01-E8C6-B42BEB099A7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5" name="Google Shape;165;p17"/>
          <p:cNvSpPr txBox="1"/>
          <p:nvPr/>
        </p:nvSpPr>
        <p:spPr>
          <a:xfrm>
            <a:off x="762000" y="762000"/>
            <a:ext cx="5000625" cy="971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Constraint 1: Energy Budget</a:t>
            </a:r>
            <a:endParaRPr/>
          </a:p>
        </p:txBody>
      </p:sp>
      <p:sp>
        <p:nvSpPr>
          <p:cNvPr id="166" name="Google Shape;166;p17"/>
          <p:cNvSpPr/>
          <p:nvPr/>
        </p:nvSpPr>
        <p:spPr>
          <a:xfrm>
            <a:off x="571500" y="762000"/>
            <a:ext cx="47625" cy="971550"/>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7" name="Google Shape;167;p17"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168" name="Google Shape;168;p17"/>
          <p:cNvSpPr txBox="1"/>
          <p:nvPr/>
        </p:nvSpPr>
        <p:spPr>
          <a:xfrm>
            <a:off x="571500" y="2114550"/>
            <a:ext cx="52006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The Double Tax of JIT</a:t>
            </a:r>
            <a:endParaRPr/>
          </a:p>
        </p:txBody>
      </p:sp>
      <p:sp>
        <p:nvSpPr>
          <p:cNvPr id="169" name="Google Shape;169;p17"/>
          <p:cNvSpPr txBox="1"/>
          <p:nvPr/>
        </p:nvSpPr>
        <p:spPr>
          <a:xfrm>
            <a:off x="571500" y="26955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Mobile processors are constrained by finite battery life. JIT introduces a "double tax":</a:t>
            </a:r>
            <a:endParaRPr/>
          </a:p>
        </p:txBody>
      </p:sp>
      <p:sp>
        <p:nvSpPr>
          <p:cNvPr id="170" name="Google Shape;170;p17"/>
          <p:cNvSpPr txBox="1"/>
          <p:nvPr/>
        </p:nvSpPr>
        <p:spPr>
          <a:xfrm>
            <a:off x="571500" y="4676775"/>
            <a:ext cx="52006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Race to Idle</a:t>
            </a:r>
            <a:endParaRPr/>
          </a:p>
        </p:txBody>
      </p:sp>
      <p:sp>
        <p:nvSpPr>
          <p:cNvPr id="171" name="Google Shape;171;p17"/>
          <p:cNvSpPr txBox="1"/>
          <p:nvPr/>
        </p:nvSpPr>
        <p:spPr>
          <a:xfrm>
            <a:off x="571500" y="5257800"/>
            <a:ext cx="4953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CPUs are most efficient when they finish tasks quickly and sleep. JIT keeps the CPU active longer for compilation, hurting the "Race to Idle" strategy for short bursty tasks (like checking a notification).</a:t>
            </a:r>
            <a:endParaRPr/>
          </a:p>
        </p:txBody>
      </p:sp>
      <p:sp>
        <p:nvSpPr>
          <p:cNvPr id="172" name="Google Shape;172;p17"/>
          <p:cNvSpPr txBox="1"/>
          <p:nvPr/>
        </p:nvSpPr>
        <p:spPr>
          <a:xfrm>
            <a:off x="628649" y="3686175"/>
            <a:ext cx="239029"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94A3B8"/>
                </a:solidFill>
                <a:latin typeface="Inter"/>
                <a:ea typeface="Inter"/>
                <a:cs typeface="Inter"/>
                <a:sym typeface="Inter"/>
              </a:rPr>
              <a:t>1.</a:t>
            </a:r>
            <a:endParaRPr dirty="0"/>
          </a:p>
        </p:txBody>
      </p:sp>
      <p:sp>
        <p:nvSpPr>
          <p:cNvPr id="173" name="Google Shape;173;p17"/>
          <p:cNvSpPr txBox="1"/>
          <p:nvPr/>
        </p:nvSpPr>
        <p:spPr>
          <a:xfrm>
            <a:off x="762000" y="3686175"/>
            <a:ext cx="4762500" cy="304800"/>
          </a:xfrm>
          <a:prstGeom prst="rect">
            <a:avLst/>
          </a:prstGeom>
          <a:noFill/>
          <a:ln>
            <a:noFill/>
          </a:ln>
        </p:spPr>
        <p:txBody>
          <a:bodyPr spcFirstLastPara="1" wrap="square" lIns="13335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Energy spent </a:t>
            </a:r>
            <a:r>
              <a:rPr lang="en-US" sz="1500" b="0" i="0" u="none" strike="noStrike" cap="none">
                <a:solidFill>
                  <a:srgbClr val="F8FAFC"/>
                </a:solidFill>
                <a:latin typeface="Inter SemiBold"/>
                <a:ea typeface="Inter SemiBold"/>
                <a:cs typeface="Inter SemiBold"/>
                <a:sym typeface="Inter SemiBold"/>
              </a:rPr>
              <a:t>compiling</a:t>
            </a:r>
            <a:r>
              <a:rPr lang="en-US" sz="1500" b="0" i="0" u="none" strike="noStrike" cap="none">
                <a:solidFill>
                  <a:srgbClr val="94A3B8"/>
                </a:solidFill>
                <a:latin typeface="Inter"/>
                <a:ea typeface="Inter"/>
                <a:cs typeface="Inter"/>
                <a:sym typeface="Inter"/>
              </a:rPr>
              <a:t> the code.</a:t>
            </a:r>
            <a:endParaRPr/>
          </a:p>
        </p:txBody>
      </p:sp>
      <p:sp>
        <p:nvSpPr>
          <p:cNvPr id="174" name="Google Shape;174;p17"/>
          <p:cNvSpPr txBox="1"/>
          <p:nvPr/>
        </p:nvSpPr>
        <p:spPr>
          <a:xfrm>
            <a:off x="628649" y="4181475"/>
            <a:ext cx="239029"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dirty="0">
                <a:solidFill>
                  <a:srgbClr val="94A3B8"/>
                </a:solidFill>
                <a:latin typeface="Inter"/>
                <a:ea typeface="Inter"/>
                <a:cs typeface="Inter"/>
                <a:sym typeface="Inter"/>
              </a:rPr>
              <a:t>2</a:t>
            </a:r>
            <a:r>
              <a:rPr lang="en-US" sz="1500" b="0" i="0" u="none" strike="noStrike" cap="none" dirty="0">
                <a:solidFill>
                  <a:srgbClr val="94A3B8"/>
                </a:solidFill>
                <a:latin typeface="Inter"/>
                <a:ea typeface="Inter"/>
                <a:cs typeface="Inter"/>
                <a:sym typeface="Inter"/>
              </a:rPr>
              <a:t>.</a:t>
            </a:r>
            <a:endParaRPr dirty="0"/>
          </a:p>
        </p:txBody>
      </p:sp>
      <p:sp>
        <p:nvSpPr>
          <p:cNvPr id="175" name="Google Shape;175;p17"/>
          <p:cNvSpPr txBox="1"/>
          <p:nvPr/>
        </p:nvSpPr>
        <p:spPr>
          <a:xfrm>
            <a:off x="762000" y="4086225"/>
            <a:ext cx="4762500" cy="3048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Energy spent </a:t>
            </a:r>
            <a:r>
              <a:rPr lang="en-US" sz="1500" b="0" i="0" u="none" strike="noStrike" cap="none">
                <a:solidFill>
                  <a:srgbClr val="F8FAFC"/>
                </a:solidFill>
                <a:latin typeface="Inter SemiBold"/>
                <a:ea typeface="Inter SemiBold"/>
                <a:cs typeface="Inter SemiBold"/>
                <a:sym typeface="Inter SemiBold"/>
              </a:rPr>
              <a:t>executing</a:t>
            </a:r>
            <a:r>
              <a:rPr lang="en-US" sz="1500" b="0" i="0" u="none" strike="noStrike" cap="none">
                <a:solidFill>
                  <a:srgbClr val="94A3B8"/>
                </a:solidFill>
                <a:latin typeface="Inter"/>
                <a:ea typeface="Inter"/>
                <a:cs typeface="Inter"/>
                <a:sym typeface="Inter"/>
              </a:rPr>
              <a:t> the code.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F7F27A4A-7F0C-2FAE-4336-D45B7885BD8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0" name="Google Shape;180;p18"/>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Android's Architectural Evolution</a:t>
            </a:r>
            <a:endParaRPr/>
          </a:p>
        </p:txBody>
      </p:sp>
      <p:sp>
        <p:nvSpPr>
          <p:cNvPr id="181" name="Google Shape;181;p18"/>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8"/>
          <p:cNvSpPr txBox="1"/>
          <p:nvPr/>
        </p:nvSpPr>
        <p:spPr>
          <a:xfrm>
            <a:off x="571500" y="2344191"/>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From pure interpretation to a sophisticated hybrid model.</a:t>
            </a:r>
            <a:endParaRPr/>
          </a:p>
        </p:txBody>
      </p:sp>
      <p:sp>
        <p:nvSpPr>
          <p:cNvPr id="183" name="Google Shape;183;p18"/>
          <p:cNvSpPr/>
          <p:nvPr/>
        </p:nvSpPr>
        <p:spPr>
          <a:xfrm>
            <a:off x="571500" y="3506241"/>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8"/>
          <p:cNvSpPr txBox="1"/>
          <p:nvPr/>
        </p:nvSpPr>
        <p:spPr>
          <a:xfrm>
            <a:off x="510733" y="3772941"/>
            <a:ext cx="2552193"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38BDF8"/>
                </a:solidFill>
                <a:latin typeface="Inter"/>
                <a:ea typeface="Inter"/>
                <a:cs typeface="Inter"/>
                <a:sym typeface="Inter"/>
              </a:rPr>
              <a:t>Dalvik (Trace JIT)</a:t>
            </a:r>
            <a:endParaRPr/>
          </a:p>
        </p:txBody>
      </p:sp>
      <p:sp>
        <p:nvSpPr>
          <p:cNvPr id="185" name="Google Shape;185;p18"/>
          <p:cNvSpPr txBox="1"/>
          <p:nvPr/>
        </p:nvSpPr>
        <p:spPr>
          <a:xfrm>
            <a:off x="571500" y="4192041"/>
            <a:ext cx="243066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Android 2.2 - 4.4</a:t>
            </a:r>
            <a:endParaRPr/>
          </a:p>
        </p:txBody>
      </p:sp>
      <p:sp>
        <p:nvSpPr>
          <p:cNvPr id="186" name="Google Shape;186;p18"/>
          <p:cNvSpPr txBox="1"/>
          <p:nvPr/>
        </p:nvSpPr>
        <p:spPr>
          <a:xfrm>
            <a:off x="571500" y="4687341"/>
            <a:ext cx="243066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Space-constrained Trace JIT. Caused UI jank during compilation.</a:t>
            </a:r>
            <a:endParaRPr/>
          </a:p>
        </p:txBody>
      </p:sp>
      <p:sp>
        <p:nvSpPr>
          <p:cNvPr id="187" name="Google Shape;187;p18"/>
          <p:cNvSpPr txBox="1"/>
          <p:nvPr/>
        </p:nvSpPr>
        <p:spPr>
          <a:xfrm>
            <a:off x="3383413" y="3772941"/>
            <a:ext cx="2552193"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38BDF8"/>
                </a:solidFill>
                <a:latin typeface="Inter"/>
                <a:ea typeface="Inter"/>
                <a:cs typeface="Inter"/>
                <a:sym typeface="Inter"/>
              </a:rPr>
              <a:t>Early ART (Pure AOT)</a:t>
            </a:r>
            <a:endParaRPr/>
          </a:p>
        </p:txBody>
      </p:sp>
      <p:sp>
        <p:nvSpPr>
          <p:cNvPr id="188" name="Google Shape;188;p18"/>
          <p:cNvSpPr txBox="1"/>
          <p:nvPr/>
        </p:nvSpPr>
        <p:spPr>
          <a:xfrm>
            <a:off x="3444180" y="4192041"/>
            <a:ext cx="243066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Android 5.0 - 6.0</a:t>
            </a:r>
            <a:endParaRPr/>
          </a:p>
        </p:txBody>
      </p:sp>
      <p:sp>
        <p:nvSpPr>
          <p:cNvPr id="189" name="Google Shape;189;p18"/>
          <p:cNvSpPr txBox="1"/>
          <p:nvPr/>
        </p:nvSpPr>
        <p:spPr>
          <a:xfrm>
            <a:off x="3444180" y="4687341"/>
            <a:ext cx="243066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Install-time compilation. Fast execution but slow updates &amp; massive app sizes.</a:t>
            </a:r>
            <a:endParaRPr/>
          </a:p>
        </p:txBody>
      </p:sp>
      <p:sp>
        <p:nvSpPr>
          <p:cNvPr id="190" name="Google Shape;190;p18"/>
          <p:cNvSpPr txBox="1"/>
          <p:nvPr/>
        </p:nvSpPr>
        <p:spPr>
          <a:xfrm>
            <a:off x="6256094" y="3772941"/>
            <a:ext cx="2552193"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38BDF8"/>
                </a:solidFill>
                <a:latin typeface="Inter"/>
                <a:ea typeface="Inter"/>
                <a:cs typeface="Inter"/>
                <a:sym typeface="Inter"/>
              </a:rPr>
              <a:t>Modern ART (Hybrid)</a:t>
            </a:r>
            <a:endParaRPr/>
          </a:p>
        </p:txBody>
      </p:sp>
      <p:sp>
        <p:nvSpPr>
          <p:cNvPr id="191" name="Google Shape;191;p18"/>
          <p:cNvSpPr txBox="1"/>
          <p:nvPr/>
        </p:nvSpPr>
        <p:spPr>
          <a:xfrm>
            <a:off x="6316860" y="4192041"/>
            <a:ext cx="243066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Android 7.0+</a:t>
            </a:r>
            <a:endParaRPr/>
          </a:p>
        </p:txBody>
      </p:sp>
      <p:sp>
        <p:nvSpPr>
          <p:cNvPr id="192" name="Google Shape;192;p18"/>
          <p:cNvSpPr txBox="1"/>
          <p:nvPr/>
        </p:nvSpPr>
        <p:spPr>
          <a:xfrm>
            <a:off x="6316860" y="4687341"/>
            <a:ext cx="243066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Interpreter + JIT + Background AOT (Profile Guided).</a:t>
            </a:r>
            <a:endParaRPr/>
          </a:p>
        </p:txBody>
      </p:sp>
      <p:sp>
        <p:nvSpPr>
          <p:cNvPr id="193" name="Google Shape;193;p18"/>
          <p:cNvSpPr txBox="1"/>
          <p:nvPr/>
        </p:nvSpPr>
        <p:spPr>
          <a:xfrm>
            <a:off x="9128774" y="3772941"/>
            <a:ext cx="2552193"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38BDF8"/>
                </a:solidFill>
                <a:latin typeface="Inter"/>
                <a:ea typeface="Inter"/>
                <a:cs typeface="Inter"/>
                <a:sym typeface="Inter"/>
              </a:rPr>
              <a:t>Cloud Profiles</a:t>
            </a:r>
            <a:endParaRPr/>
          </a:p>
        </p:txBody>
      </p:sp>
      <p:sp>
        <p:nvSpPr>
          <p:cNvPr id="194" name="Google Shape;194;p18"/>
          <p:cNvSpPr txBox="1"/>
          <p:nvPr/>
        </p:nvSpPr>
        <p:spPr>
          <a:xfrm>
            <a:off x="9189541" y="4192041"/>
            <a:ext cx="243066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Android 9+</a:t>
            </a:r>
            <a:endParaRPr/>
          </a:p>
        </p:txBody>
      </p:sp>
      <p:sp>
        <p:nvSpPr>
          <p:cNvPr id="195" name="Google Shape;195;p18"/>
          <p:cNvSpPr txBox="1"/>
          <p:nvPr/>
        </p:nvSpPr>
        <p:spPr>
          <a:xfrm>
            <a:off x="9189541" y="4687341"/>
            <a:ext cx="243066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Aggregated usage data enables AOT performance from first launch.</a:t>
            </a:r>
            <a:endParaRPr/>
          </a:p>
        </p:txBody>
      </p:sp>
      <p:sp>
        <p:nvSpPr>
          <p:cNvPr id="196" name="Google Shape;196;p18"/>
          <p:cNvSpPr/>
          <p:nvPr/>
        </p:nvSpPr>
        <p:spPr>
          <a:xfrm>
            <a:off x="1691580" y="5571083"/>
            <a:ext cx="190500" cy="190500"/>
          </a:xfrm>
          <a:prstGeom prst="roundRect">
            <a:avLst>
              <a:gd name="adj" fmla="val 50000"/>
            </a:avLst>
          </a:prstGeom>
          <a:solidFill>
            <a:srgbClr val="0F172A"/>
          </a:solidFill>
          <a:ln w="38100"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18"/>
          <p:cNvSpPr/>
          <p:nvPr/>
        </p:nvSpPr>
        <p:spPr>
          <a:xfrm>
            <a:off x="4564260" y="5571083"/>
            <a:ext cx="190500" cy="190500"/>
          </a:xfrm>
          <a:prstGeom prst="roundRect">
            <a:avLst>
              <a:gd name="adj" fmla="val 50000"/>
            </a:avLst>
          </a:prstGeom>
          <a:solidFill>
            <a:srgbClr val="0F172A"/>
          </a:solidFill>
          <a:ln w="38100"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8" name="Google Shape;198;p18"/>
          <p:cNvSpPr/>
          <p:nvPr/>
        </p:nvSpPr>
        <p:spPr>
          <a:xfrm>
            <a:off x="7436941" y="5571083"/>
            <a:ext cx="190500" cy="190500"/>
          </a:xfrm>
          <a:prstGeom prst="roundRect">
            <a:avLst>
              <a:gd name="adj" fmla="val 50000"/>
            </a:avLst>
          </a:prstGeom>
          <a:solidFill>
            <a:srgbClr val="0F172A"/>
          </a:solidFill>
          <a:ln w="38100"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18"/>
          <p:cNvSpPr/>
          <p:nvPr/>
        </p:nvSpPr>
        <p:spPr>
          <a:xfrm>
            <a:off x="10309621" y="5571083"/>
            <a:ext cx="190500" cy="190500"/>
          </a:xfrm>
          <a:prstGeom prst="roundRect">
            <a:avLst>
              <a:gd name="adj" fmla="val 50000"/>
            </a:avLst>
          </a:prstGeom>
          <a:solidFill>
            <a:srgbClr val="0F172A"/>
          </a:solidFill>
          <a:ln w="38100"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D823BE30-B17D-4810-E73E-C71077557F0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4" name="Google Shape;204;p19" descr="image.png"/>
          <p:cNvPicPr preferRelativeResize="0"/>
          <p:nvPr/>
        </p:nvPicPr>
        <p:blipFill rotWithShape="1">
          <a:blip r:embed="rId4">
            <a:alphaModFix/>
          </a:blip>
          <a:srcRect/>
          <a:stretch/>
        </p:blipFill>
        <p:spPr>
          <a:xfrm>
            <a:off x="571500" y="2419350"/>
            <a:ext cx="2547937" cy="2886075"/>
          </a:xfrm>
          <a:prstGeom prst="rect">
            <a:avLst/>
          </a:prstGeom>
          <a:noFill/>
          <a:ln>
            <a:noFill/>
          </a:ln>
        </p:spPr>
      </p:pic>
      <p:pic>
        <p:nvPicPr>
          <p:cNvPr id="205" name="Google Shape;205;p19" descr="image.png"/>
          <p:cNvPicPr preferRelativeResize="0"/>
          <p:nvPr/>
        </p:nvPicPr>
        <p:blipFill rotWithShape="1">
          <a:blip r:embed="rId5">
            <a:alphaModFix/>
          </a:blip>
          <a:srcRect/>
          <a:stretch/>
        </p:blipFill>
        <p:spPr>
          <a:xfrm>
            <a:off x="3405187" y="2419350"/>
            <a:ext cx="2547937" cy="2886075"/>
          </a:xfrm>
          <a:prstGeom prst="rect">
            <a:avLst/>
          </a:prstGeom>
          <a:noFill/>
          <a:ln>
            <a:noFill/>
          </a:ln>
        </p:spPr>
      </p:pic>
      <p:pic>
        <p:nvPicPr>
          <p:cNvPr id="206" name="Google Shape;206;p19" descr="image.png"/>
          <p:cNvPicPr preferRelativeResize="0"/>
          <p:nvPr/>
        </p:nvPicPr>
        <p:blipFill rotWithShape="1">
          <a:blip r:embed="rId6">
            <a:alphaModFix/>
          </a:blip>
          <a:srcRect/>
          <a:stretch/>
        </p:blipFill>
        <p:spPr>
          <a:xfrm>
            <a:off x="6238875" y="2419350"/>
            <a:ext cx="2547937" cy="2886075"/>
          </a:xfrm>
          <a:prstGeom prst="rect">
            <a:avLst/>
          </a:prstGeom>
          <a:noFill/>
          <a:ln>
            <a:noFill/>
          </a:ln>
        </p:spPr>
      </p:pic>
      <p:pic>
        <p:nvPicPr>
          <p:cNvPr id="207" name="Google Shape;207;p19" descr="image.png"/>
          <p:cNvPicPr preferRelativeResize="0"/>
          <p:nvPr/>
        </p:nvPicPr>
        <p:blipFill rotWithShape="1">
          <a:blip r:embed="rId7">
            <a:alphaModFix/>
          </a:blip>
          <a:srcRect/>
          <a:stretch/>
        </p:blipFill>
        <p:spPr>
          <a:xfrm>
            <a:off x="9072562" y="2419350"/>
            <a:ext cx="2547937" cy="2886075"/>
          </a:xfrm>
          <a:prstGeom prst="rect">
            <a:avLst/>
          </a:prstGeom>
          <a:noFill/>
          <a:ln>
            <a:noFill/>
          </a:ln>
        </p:spPr>
      </p:pic>
      <p:sp>
        <p:nvSpPr>
          <p:cNvPr id="208" name="Google Shape;208;p19"/>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The Hybrid Lifecycle (Modern ART)</a:t>
            </a:r>
            <a:endParaRPr/>
          </a:p>
        </p:txBody>
      </p:sp>
      <p:sp>
        <p:nvSpPr>
          <p:cNvPr id="209" name="Google Shape;209;p19"/>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19"/>
          <p:cNvSpPr txBox="1"/>
          <p:nvPr/>
        </p:nvSpPr>
        <p:spPr>
          <a:xfrm>
            <a:off x="866775" y="2714625"/>
            <a:ext cx="205525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1. Interpretation</a:t>
            </a:r>
            <a:endParaRPr/>
          </a:p>
        </p:txBody>
      </p:sp>
      <p:sp>
        <p:nvSpPr>
          <p:cNvPr id="211" name="Google Shape;211;p19"/>
          <p:cNvSpPr txBox="1"/>
          <p:nvPr/>
        </p:nvSpPr>
        <p:spPr>
          <a:xfrm>
            <a:off x="866775" y="3295650"/>
            <a:ext cx="1957387"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App launches instantly in the Interpreter. Zero compilation wait time.</a:t>
            </a:r>
            <a:endParaRPr/>
          </a:p>
        </p:txBody>
      </p:sp>
      <p:sp>
        <p:nvSpPr>
          <p:cNvPr id="212" name="Google Shape;212;p19"/>
          <p:cNvSpPr txBox="1"/>
          <p:nvPr/>
        </p:nvSpPr>
        <p:spPr>
          <a:xfrm>
            <a:off x="3700462" y="2714625"/>
            <a:ext cx="205525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2. JIT Profiling</a:t>
            </a:r>
            <a:endParaRPr/>
          </a:p>
        </p:txBody>
      </p:sp>
      <p:sp>
        <p:nvSpPr>
          <p:cNvPr id="213" name="Google Shape;213;p19"/>
          <p:cNvSpPr txBox="1"/>
          <p:nvPr/>
        </p:nvSpPr>
        <p:spPr>
          <a:xfrm>
            <a:off x="3700462" y="3295650"/>
            <a:ext cx="1957387"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Hot methods are identified during run. JIT compiles them for current session speed.</a:t>
            </a:r>
            <a:endParaRPr/>
          </a:p>
        </p:txBody>
      </p:sp>
      <p:sp>
        <p:nvSpPr>
          <p:cNvPr id="214" name="Google Shape;214;p19"/>
          <p:cNvSpPr txBox="1"/>
          <p:nvPr/>
        </p:nvSpPr>
        <p:spPr>
          <a:xfrm>
            <a:off x="6534150" y="2714625"/>
            <a:ext cx="205525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3. Idle AOT</a:t>
            </a:r>
            <a:endParaRPr/>
          </a:p>
        </p:txBody>
      </p:sp>
      <p:sp>
        <p:nvSpPr>
          <p:cNvPr id="215" name="Google Shape;215;p19"/>
          <p:cNvSpPr txBox="1"/>
          <p:nvPr/>
        </p:nvSpPr>
        <p:spPr>
          <a:xfrm>
            <a:off x="6534150" y="3295650"/>
            <a:ext cx="1957387"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When device is </a:t>
            </a:r>
            <a:r>
              <a:rPr lang="en-US" sz="1500" b="0" i="0" u="none" strike="noStrike" cap="none">
                <a:solidFill>
                  <a:srgbClr val="F8FAFC"/>
                </a:solidFill>
                <a:latin typeface="Inter SemiBold"/>
                <a:ea typeface="Inter SemiBold"/>
                <a:cs typeface="Inter SemiBold"/>
                <a:sym typeface="Inter SemiBold"/>
              </a:rPr>
              <a:t>idle &amp; charging</a:t>
            </a:r>
            <a:r>
              <a:rPr lang="en-US" sz="1500" b="0" i="0" u="none" strike="noStrike" cap="none">
                <a:solidFill>
                  <a:srgbClr val="94A3B8"/>
                </a:solidFill>
                <a:latin typeface="Inter"/>
                <a:ea typeface="Inter"/>
                <a:cs typeface="Inter"/>
                <a:sym typeface="Inter"/>
              </a:rPr>
              <a:t>, daemon compiles hot paths to native code.</a:t>
            </a:r>
            <a:endParaRPr/>
          </a:p>
        </p:txBody>
      </p:sp>
      <p:sp>
        <p:nvSpPr>
          <p:cNvPr id="216" name="Google Shape;216;p19"/>
          <p:cNvSpPr txBox="1"/>
          <p:nvPr/>
        </p:nvSpPr>
        <p:spPr>
          <a:xfrm>
            <a:off x="9367837" y="2714625"/>
            <a:ext cx="205525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4. Next Launch</a:t>
            </a:r>
            <a:endParaRPr/>
          </a:p>
        </p:txBody>
      </p:sp>
      <p:sp>
        <p:nvSpPr>
          <p:cNvPr id="217" name="Google Shape;217;p19"/>
          <p:cNvSpPr txBox="1"/>
          <p:nvPr/>
        </p:nvSpPr>
        <p:spPr>
          <a:xfrm>
            <a:off x="9367837" y="3295650"/>
            <a:ext cx="1957387"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App loads pre-compiled native code for hot paths. Fast start + High speed.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4CD09E21-1B20-C269-97E7-81058E380B6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2" name="Google Shape;222;p20"/>
          <p:cNvSpPr txBox="1"/>
          <p:nvPr/>
        </p:nvSpPr>
        <p:spPr>
          <a:xfrm>
            <a:off x="762000" y="762000"/>
            <a:ext cx="5000625" cy="971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Constraint 2: Security ($W \oplus X$)</a:t>
            </a:r>
            <a:endParaRPr/>
          </a:p>
        </p:txBody>
      </p:sp>
      <p:sp>
        <p:nvSpPr>
          <p:cNvPr id="223" name="Google Shape;223;p20"/>
          <p:cNvSpPr/>
          <p:nvPr/>
        </p:nvSpPr>
        <p:spPr>
          <a:xfrm>
            <a:off x="571500" y="762000"/>
            <a:ext cx="47625" cy="971550"/>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4" name="Google Shape;224;p20"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225" name="Google Shape;225;p20"/>
          <p:cNvSpPr txBox="1"/>
          <p:nvPr/>
        </p:nvSpPr>
        <p:spPr>
          <a:xfrm>
            <a:off x="571500" y="2114550"/>
            <a:ext cx="52006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Write XOR Execute</a:t>
            </a:r>
            <a:endParaRPr/>
          </a:p>
        </p:txBody>
      </p:sp>
      <p:sp>
        <p:nvSpPr>
          <p:cNvPr id="226" name="Google Shape;226;p20"/>
          <p:cNvSpPr txBox="1"/>
          <p:nvPr/>
        </p:nvSpPr>
        <p:spPr>
          <a:xfrm>
            <a:off x="571500" y="269557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 fundamental security principle: Memory can be </a:t>
            </a:r>
            <a:r>
              <a:rPr lang="en-US" sz="1500" b="0" i="0" u="none" strike="noStrike" cap="none">
                <a:solidFill>
                  <a:srgbClr val="F8FAFC"/>
                </a:solidFill>
                <a:latin typeface="Inter SemiBold"/>
                <a:ea typeface="Inter SemiBold"/>
                <a:cs typeface="Inter SemiBold"/>
                <a:sym typeface="Inter SemiBold"/>
              </a:rPr>
              <a:t>Writable</a:t>
            </a:r>
            <a:r>
              <a:rPr lang="en-US" sz="1500" b="0" i="0" u="none" strike="noStrike" cap="none">
                <a:solidFill>
                  <a:srgbClr val="94A3B8"/>
                </a:solidFill>
                <a:latin typeface="Inter"/>
                <a:ea typeface="Inter"/>
                <a:cs typeface="Inter"/>
                <a:sym typeface="Inter"/>
              </a:rPr>
              <a:t> (to generate code) or </a:t>
            </a:r>
            <a:r>
              <a:rPr lang="en-US" sz="1500" b="0" i="0" u="none" strike="noStrike" cap="none">
                <a:solidFill>
                  <a:srgbClr val="F8FAFC"/>
                </a:solidFill>
                <a:latin typeface="Inter SemiBold"/>
                <a:ea typeface="Inter SemiBold"/>
                <a:cs typeface="Inter SemiBold"/>
                <a:sym typeface="Inter SemiBold"/>
              </a:rPr>
              <a:t>Executable</a:t>
            </a:r>
            <a:r>
              <a:rPr lang="en-US" sz="1500" b="0" i="0" u="none" strike="noStrike" cap="none">
                <a:solidFill>
                  <a:srgbClr val="94A3B8"/>
                </a:solidFill>
                <a:latin typeface="Inter"/>
                <a:ea typeface="Inter"/>
                <a:cs typeface="Inter"/>
                <a:sym typeface="Inter"/>
              </a:rPr>
              <a:t> (to run it), but never both.</a:t>
            </a:r>
            <a:endParaRPr/>
          </a:p>
        </p:txBody>
      </p:sp>
      <p:sp>
        <p:nvSpPr>
          <p:cNvPr id="227" name="Google Shape;227;p20"/>
          <p:cNvSpPr txBox="1"/>
          <p:nvPr/>
        </p:nvSpPr>
        <p:spPr>
          <a:xfrm>
            <a:off x="571500" y="3990975"/>
            <a:ext cx="52006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The iOS "Walled Garden"</a:t>
            </a:r>
            <a:endParaRPr/>
          </a:p>
        </p:txBody>
      </p:sp>
      <p:sp>
        <p:nvSpPr>
          <p:cNvPr id="228" name="Google Shape;228;p20"/>
          <p:cNvSpPr txBox="1"/>
          <p:nvPr/>
        </p:nvSpPr>
        <p:spPr>
          <a:xfrm>
            <a:off x="571500" y="4572000"/>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iOS strictly enforces this. JIT requires flipping memory permissions, which is forbidden for consumer apps to prevent code injection attacks.</a:t>
            </a:r>
            <a:endParaRPr/>
          </a:p>
        </p:txBody>
      </p:sp>
      <p:sp>
        <p:nvSpPr>
          <p:cNvPr id="229" name="Google Shape;229;p20"/>
          <p:cNvSpPr txBox="1"/>
          <p:nvPr/>
        </p:nvSpPr>
        <p:spPr>
          <a:xfrm>
            <a:off x="571500" y="5867400"/>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Result:</a:t>
            </a:r>
            <a:r>
              <a:rPr lang="en-US" sz="1500" b="0" i="0" u="none" strike="noStrike" cap="none">
                <a:solidFill>
                  <a:srgbClr val="94A3B8"/>
                </a:solidFill>
                <a:latin typeface="Inter"/>
                <a:ea typeface="Inter"/>
                <a:cs typeface="Inter"/>
                <a:sym typeface="Inter"/>
              </a:rPr>
              <a:t> Mandatory AOT. All iOS apps are native machine code. (Exception: Safari's JavaScriptCore has special entitlements).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D0EDD86B-BFC6-CC5F-5878-E6C7A516EE3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4" name="Google Shape;234;p21" descr="image.png"/>
          <p:cNvPicPr preferRelativeResize="0"/>
          <p:nvPr/>
        </p:nvPicPr>
        <p:blipFill rotWithShape="1">
          <a:blip r:embed="rId4">
            <a:alphaModFix/>
          </a:blip>
          <a:srcRect/>
          <a:stretch/>
        </p:blipFill>
        <p:spPr>
          <a:xfrm>
            <a:off x="571500" y="1438275"/>
            <a:ext cx="5238750" cy="4848225"/>
          </a:xfrm>
          <a:prstGeom prst="rect">
            <a:avLst/>
          </a:prstGeom>
          <a:noFill/>
          <a:ln>
            <a:noFill/>
          </a:ln>
        </p:spPr>
      </p:pic>
      <p:pic>
        <p:nvPicPr>
          <p:cNvPr id="235" name="Google Shape;235;p21" descr="image.png"/>
          <p:cNvPicPr preferRelativeResize="0"/>
          <p:nvPr/>
        </p:nvPicPr>
        <p:blipFill rotWithShape="1">
          <a:blip r:embed="rId5">
            <a:alphaModFix/>
          </a:blip>
          <a:srcRect/>
          <a:stretch/>
        </p:blipFill>
        <p:spPr>
          <a:xfrm>
            <a:off x="6381750" y="1438275"/>
            <a:ext cx="5238750" cy="4848225"/>
          </a:xfrm>
          <a:prstGeom prst="rect">
            <a:avLst/>
          </a:prstGeom>
          <a:noFill/>
          <a:ln>
            <a:noFill/>
          </a:ln>
        </p:spPr>
      </p:pic>
      <p:sp>
        <p:nvSpPr>
          <p:cNvPr id="236" name="Google Shape;236;p21"/>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Cross-Platform Approaches</a:t>
            </a:r>
            <a:endParaRPr/>
          </a:p>
        </p:txBody>
      </p:sp>
      <p:sp>
        <p:nvSpPr>
          <p:cNvPr id="237" name="Google Shape;237;p21"/>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1"/>
          <p:cNvSpPr txBox="1"/>
          <p:nvPr/>
        </p:nvSpPr>
        <p:spPr>
          <a:xfrm>
            <a:off x="962025" y="1828800"/>
            <a:ext cx="4680585" cy="276225"/>
          </a:xfrm>
          <a:prstGeom prst="rect">
            <a:avLst/>
          </a:prstGeom>
          <a:noFill/>
          <a:ln>
            <a:noFill/>
          </a:ln>
        </p:spPr>
        <p:txBody>
          <a:bodyPr spcFirstLastPara="1" wrap="square" lIns="224125"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 React Native</a:t>
            </a:r>
            <a:endParaRPr/>
          </a:p>
        </p:txBody>
      </p:sp>
      <p:sp>
        <p:nvSpPr>
          <p:cNvPr id="239" name="Google Shape;239;p21"/>
          <p:cNvSpPr txBox="1"/>
          <p:nvPr/>
        </p:nvSpPr>
        <p:spPr>
          <a:xfrm>
            <a:off x="6772275" y="1828800"/>
            <a:ext cx="4680585" cy="276225"/>
          </a:xfrm>
          <a:prstGeom prst="rect">
            <a:avLst/>
          </a:prstGeom>
          <a:noFill/>
          <a:ln>
            <a:noFill/>
          </a:ln>
        </p:spPr>
        <p:txBody>
          <a:bodyPr spcFirstLastPara="1" wrap="square" lIns="25270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Flutter</a:t>
            </a:r>
            <a:endParaRPr/>
          </a:p>
        </p:txBody>
      </p:sp>
      <p:pic>
        <p:nvPicPr>
          <p:cNvPr id="240" name="Google Shape;240;p21" descr="image.png"/>
          <p:cNvPicPr preferRelativeResize="0"/>
          <p:nvPr/>
        </p:nvPicPr>
        <p:blipFill rotWithShape="1">
          <a:blip r:embed="rId6">
            <a:alphaModFix/>
          </a:blip>
          <a:srcRect/>
          <a:stretch/>
        </p:blipFill>
        <p:spPr>
          <a:xfrm>
            <a:off x="962025" y="1847850"/>
            <a:ext cx="224135" cy="228600"/>
          </a:xfrm>
          <a:prstGeom prst="rect">
            <a:avLst/>
          </a:prstGeom>
          <a:noFill/>
          <a:ln>
            <a:noFill/>
          </a:ln>
        </p:spPr>
      </p:pic>
      <p:sp>
        <p:nvSpPr>
          <p:cNvPr id="241" name="Google Shape;241;p21"/>
          <p:cNvSpPr txBox="1"/>
          <p:nvPr/>
        </p:nvSpPr>
        <p:spPr>
          <a:xfrm>
            <a:off x="1190625" y="23717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Legacy:</a:t>
            </a:r>
            <a:r>
              <a:rPr lang="en-US" sz="1500" b="0" i="0" u="none" strike="noStrike" cap="none">
                <a:solidFill>
                  <a:srgbClr val="94A3B8"/>
                </a:solidFill>
                <a:latin typeface="Inter"/>
                <a:ea typeface="Inter"/>
                <a:cs typeface="Inter"/>
                <a:sym typeface="Inter"/>
              </a:rPr>
              <a:t> Used a "Bridge" to serialize JSON between JS and Native UI. High overhead.</a:t>
            </a:r>
            <a:endParaRPr/>
          </a:p>
        </p:txBody>
      </p:sp>
      <p:sp>
        <p:nvSpPr>
          <p:cNvPr id="242" name="Google Shape;242;p21"/>
          <p:cNvSpPr txBox="1"/>
          <p:nvPr/>
        </p:nvSpPr>
        <p:spPr>
          <a:xfrm>
            <a:off x="1190625" y="3133725"/>
            <a:ext cx="4229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Modern (Hermes):</a:t>
            </a:r>
            <a:r>
              <a:rPr lang="en-US" sz="1500" b="0" i="0" u="none" strike="noStrike" cap="none">
                <a:solidFill>
                  <a:srgbClr val="94A3B8"/>
                </a:solidFill>
                <a:latin typeface="Inter"/>
                <a:ea typeface="Inter"/>
                <a:cs typeface="Inter"/>
                <a:sym typeface="Inter"/>
              </a:rPr>
              <a:t> Uses </a:t>
            </a:r>
            <a:r>
              <a:rPr lang="en-US" sz="1500" b="0" i="0" u="none" strike="noStrike" cap="none">
                <a:solidFill>
                  <a:srgbClr val="F8FAFC"/>
                </a:solidFill>
                <a:latin typeface="Inter SemiBold"/>
                <a:ea typeface="Inter SemiBold"/>
                <a:cs typeface="Inter SemiBold"/>
                <a:sym typeface="Inter SemiBold"/>
              </a:rPr>
              <a:t>Bytecode AOT</a:t>
            </a:r>
            <a:r>
              <a:rPr lang="en-US" sz="1500" b="0" i="0" u="none" strike="noStrike" cap="none">
                <a:solidFill>
                  <a:srgbClr val="94A3B8"/>
                </a:solidFill>
                <a:latin typeface="Inter"/>
                <a:ea typeface="Inter"/>
                <a:cs typeface="Inter"/>
                <a:sym typeface="Inter"/>
              </a:rPr>
              <a:t>. JS is pre-compiled to bytecode, reducing parse time and TTI.</a:t>
            </a:r>
            <a:endParaRPr/>
          </a:p>
        </p:txBody>
      </p:sp>
      <p:sp>
        <p:nvSpPr>
          <p:cNvPr id="243" name="Google Shape;243;p21"/>
          <p:cNvSpPr txBox="1"/>
          <p:nvPr/>
        </p:nvSpPr>
        <p:spPr>
          <a:xfrm>
            <a:off x="1190625" y="4200525"/>
            <a:ext cx="42291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JSI:</a:t>
            </a:r>
            <a:r>
              <a:rPr lang="en-US" sz="1500" b="0" i="0" u="none" strike="noStrike" cap="none">
                <a:solidFill>
                  <a:srgbClr val="94A3B8"/>
                </a:solidFill>
                <a:latin typeface="Inter"/>
                <a:ea typeface="Inter"/>
                <a:cs typeface="Inter"/>
                <a:sym typeface="Inter"/>
              </a:rPr>
              <a:t> New interface allows direct C++ calls, bypassing the bridge.</a:t>
            </a:r>
            <a:endParaRPr/>
          </a:p>
        </p:txBody>
      </p:sp>
      <p:pic>
        <p:nvPicPr>
          <p:cNvPr id="244" name="Google Shape;244;p21" descr="image.png"/>
          <p:cNvPicPr preferRelativeResize="0"/>
          <p:nvPr/>
        </p:nvPicPr>
        <p:blipFill rotWithShape="1">
          <a:blip r:embed="rId7">
            <a:alphaModFix/>
          </a:blip>
          <a:srcRect/>
          <a:stretch/>
        </p:blipFill>
        <p:spPr>
          <a:xfrm>
            <a:off x="6772275" y="1847850"/>
            <a:ext cx="252710" cy="228600"/>
          </a:xfrm>
          <a:prstGeom prst="rect">
            <a:avLst/>
          </a:prstGeom>
          <a:noFill/>
          <a:ln>
            <a:noFill/>
          </a:ln>
        </p:spPr>
      </p:pic>
      <p:sp>
        <p:nvSpPr>
          <p:cNvPr id="245" name="Google Shape;245;p21"/>
          <p:cNvSpPr txBox="1"/>
          <p:nvPr/>
        </p:nvSpPr>
        <p:spPr>
          <a:xfrm>
            <a:off x="7000875" y="2371725"/>
            <a:ext cx="4229100" cy="1724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Dual Mode Strategy:</a:t>
            </a:r>
            <a:endParaRPr/>
          </a:p>
        </p:txBody>
      </p:sp>
      <p:sp>
        <p:nvSpPr>
          <p:cNvPr id="246" name="Google Shape;246;p21"/>
          <p:cNvSpPr txBox="1"/>
          <p:nvPr/>
        </p:nvSpPr>
        <p:spPr>
          <a:xfrm>
            <a:off x="7000875" y="4248150"/>
            <a:ext cx="4229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Benefit:</a:t>
            </a:r>
            <a:r>
              <a:rPr lang="en-US" sz="1500" b="0" i="0" u="none" strike="noStrike" cap="none">
                <a:solidFill>
                  <a:srgbClr val="94A3B8"/>
                </a:solidFill>
                <a:latin typeface="Inter"/>
                <a:ea typeface="Inter"/>
                <a:cs typeface="Inter"/>
                <a:sym typeface="Inter"/>
              </a:rPr>
              <a:t> Near-native performance (60/120 FPS) with no interpreter overhead in production.</a:t>
            </a:r>
            <a:endParaRPr/>
          </a:p>
        </p:txBody>
      </p:sp>
      <p:sp>
        <p:nvSpPr>
          <p:cNvPr id="247" name="Google Shape;247;p21"/>
          <p:cNvSpPr txBox="1"/>
          <p:nvPr/>
        </p:nvSpPr>
        <p:spPr>
          <a:xfrm>
            <a:off x="962025" y="2371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248" name="Google Shape;248;p21"/>
          <p:cNvSpPr txBox="1"/>
          <p:nvPr/>
        </p:nvSpPr>
        <p:spPr>
          <a:xfrm>
            <a:off x="962025" y="3133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249" name="Google Shape;249;p21"/>
          <p:cNvSpPr txBox="1"/>
          <p:nvPr/>
        </p:nvSpPr>
        <p:spPr>
          <a:xfrm>
            <a:off x="962025" y="42005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250" name="Google Shape;250;p21"/>
          <p:cNvSpPr txBox="1"/>
          <p:nvPr/>
        </p:nvSpPr>
        <p:spPr>
          <a:xfrm>
            <a:off x="6772275" y="23717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251" name="Google Shape;251;p21"/>
          <p:cNvSpPr txBox="1"/>
          <p:nvPr/>
        </p:nvSpPr>
        <p:spPr>
          <a:xfrm>
            <a:off x="6772275" y="4248150"/>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252" name="Google Shape;252;p21"/>
          <p:cNvSpPr txBox="1"/>
          <p:nvPr/>
        </p:nvSpPr>
        <p:spPr>
          <a:xfrm>
            <a:off x="7229475" y="2724150"/>
            <a:ext cx="4000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94A3B8"/>
                </a:solidFill>
                <a:latin typeface="Inter"/>
                <a:ea typeface="Inter"/>
                <a:cs typeface="Inter"/>
                <a:sym typeface="Inter"/>
              </a:rPr>
              <a:t>Debug:</a:t>
            </a:r>
            <a:r>
              <a:rPr lang="en-US" sz="1500" b="0" i="0" u="none" strike="noStrike" cap="none">
                <a:solidFill>
                  <a:srgbClr val="94A3B8"/>
                </a:solidFill>
                <a:latin typeface="Inter"/>
                <a:ea typeface="Inter"/>
                <a:cs typeface="Inter"/>
                <a:sym typeface="Inter"/>
              </a:rPr>
              <a:t> Uses </a:t>
            </a:r>
            <a:r>
              <a:rPr lang="en-US" sz="1500" b="0" i="0" u="none" strike="noStrike" cap="none">
                <a:solidFill>
                  <a:srgbClr val="F8FAFC"/>
                </a:solidFill>
                <a:latin typeface="Inter SemiBold"/>
                <a:ea typeface="Inter SemiBold"/>
                <a:cs typeface="Inter SemiBold"/>
                <a:sym typeface="Inter SemiBold"/>
              </a:rPr>
              <a:t>JIT</a:t>
            </a:r>
            <a:r>
              <a:rPr lang="en-US" sz="1500" b="0" i="0" u="none" strike="noStrike" cap="none">
                <a:solidFill>
                  <a:srgbClr val="94A3B8"/>
                </a:solidFill>
                <a:latin typeface="Inter"/>
                <a:ea typeface="Inter"/>
                <a:cs typeface="Inter"/>
                <a:sym typeface="Inter"/>
              </a:rPr>
              <a:t> for "Hot Reload" and fast dev cycle.</a:t>
            </a:r>
            <a:endParaRPr/>
          </a:p>
        </p:txBody>
      </p:sp>
      <p:sp>
        <p:nvSpPr>
          <p:cNvPr id="253" name="Google Shape;253;p21"/>
          <p:cNvSpPr txBox="1"/>
          <p:nvPr/>
        </p:nvSpPr>
        <p:spPr>
          <a:xfrm>
            <a:off x="7229475" y="3486150"/>
            <a:ext cx="4000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94A3B8"/>
                </a:solidFill>
                <a:latin typeface="Inter"/>
                <a:ea typeface="Inter"/>
                <a:cs typeface="Inter"/>
                <a:sym typeface="Inter"/>
              </a:rPr>
              <a:t>Release:</a:t>
            </a:r>
            <a:r>
              <a:rPr lang="en-US" sz="1500" b="0" i="0" u="none" strike="noStrike" cap="none">
                <a:solidFill>
                  <a:srgbClr val="94A3B8"/>
                </a:solidFill>
                <a:latin typeface="Inter"/>
                <a:ea typeface="Inter"/>
                <a:cs typeface="Inter"/>
                <a:sym typeface="Inter"/>
              </a:rPr>
              <a:t> Compiles to </a:t>
            </a:r>
            <a:r>
              <a:rPr lang="en-US" sz="1500" b="0" i="0" u="none" strike="noStrike" cap="none">
                <a:solidFill>
                  <a:srgbClr val="F8FAFC"/>
                </a:solidFill>
                <a:latin typeface="Inter SemiBold"/>
                <a:ea typeface="Inter SemiBold"/>
                <a:cs typeface="Inter SemiBold"/>
                <a:sym typeface="Inter SemiBold"/>
              </a:rPr>
              <a:t>Pure AOT</a:t>
            </a:r>
            <a:r>
              <a:rPr lang="en-US" sz="1500" b="0" i="0" u="none" strike="noStrike" cap="none">
                <a:solidFill>
                  <a:srgbClr val="94A3B8"/>
                </a:solidFill>
                <a:latin typeface="Inter"/>
                <a:ea typeface="Inter"/>
                <a:cs typeface="Inter"/>
                <a:sym typeface="Inter"/>
              </a:rPr>
              <a:t> native machine code.</a:t>
            </a:r>
            <a:endParaRPr/>
          </a:p>
        </p:txBody>
      </p:sp>
      <p:sp>
        <p:nvSpPr>
          <p:cNvPr id="254" name="Google Shape;254;p21"/>
          <p:cNvSpPr txBox="1"/>
          <p:nvPr/>
        </p:nvSpPr>
        <p:spPr>
          <a:xfrm>
            <a:off x="7000875" y="2724150"/>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
        <p:nvSpPr>
          <p:cNvPr id="255" name="Google Shape;255;p21"/>
          <p:cNvSpPr txBox="1"/>
          <p:nvPr/>
        </p:nvSpPr>
        <p:spPr>
          <a:xfrm>
            <a:off x="7000875" y="3486150"/>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4D399"/>
                </a:solidFill>
                <a:latin typeface="Inter"/>
                <a:ea typeface="Inter"/>
                <a:cs typeface="Inter"/>
                <a:sym typeface="Inter"/>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990ABA22-3934-ED1F-B5C1-E22E4864F36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0" name="Google Shape;260;p22"/>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Advanced Runtime Optimizations</a:t>
            </a:r>
            <a:endParaRPr/>
          </a:p>
        </p:txBody>
      </p:sp>
      <p:sp>
        <p:nvSpPr>
          <p:cNvPr id="261" name="Google Shape;261;p22"/>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2"/>
          <p:cNvSpPr txBox="1"/>
          <p:nvPr/>
        </p:nvSpPr>
        <p:spPr>
          <a:xfrm>
            <a:off x="571500" y="1438275"/>
            <a:ext cx="550068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Inline Caching (IC)</a:t>
            </a:r>
            <a:endParaRPr/>
          </a:p>
        </p:txBody>
      </p:sp>
      <p:sp>
        <p:nvSpPr>
          <p:cNvPr id="263" name="Google Shape;263;p22"/>
          <p:cNvSpPr txBox="1"/>
          <p:nvPr/>
        </p:nvSpPr>
        <p:spPr>
          <a:xfrm>
            <a:off x="571500" y="1905000"/>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Dynamic languages don't know object shapes (e.g., memory offset of `obj.x`).</a:t>
            </a:r>
            <a:endParaRPr/>
          </a:p>
        </p:txBody>
      </p:sp>
      <p:sp>
        <p:nvSpPr>
          <p:cNvPr id="264" name="Google Shape;264;p22"/>
          <p:cNvSpPr txBox="1"/>
          <p:nvPr/>
        </p:nvSpPr>
        <p:spPr>
          <a:xfrm>
            <a:off x="571500" y="2705100"/>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Optimization:</a:t>
            </a:r>
            <a:r>
              <a:rPr lang="en-US" sz="1500" b="0" i="0" u="none" strike="noStrike" cap="none">
                <a:solidFill>
                  <a:srgbClr val="94A3B8"/>
                </a:solidFill>
                <a:latin typeface="Inter"/>
                <a:ea typeface="Inter"/>
                <a:cs typeface="Inter"/>
                <a:sym typeface="Inter"/>
              </a:rPr>
              <a:t> The runtime caches the lookup result at the call site. "Monomorphic" calls (always same type) become single-instruction checks.</a:t>
            </a:r>
            <a:endParaRPr/>
          </a:p>
        </p:txBody>
      </p:sp>
      <p:sp>
        <p:nvSpPr>
          <p:cNvPr id="265" name="Google Shape;265;p22"/>
          <p:cNvSpPr txBox="1"/>
          <p:nvPr/>
        </p:nvSpPr>
        <p:spPr>
          <a:xfrm>
            <a:off x="571500" y="3810000"/>
            <a:ext cx="5238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94A3B8"/>
                </a:solidFill>
                <a:latin typeface="Inter"/>
                <a:ea typeface="Inter"/>
                <a:cs typeface="Inter"/>
                <a:sym typeface="Inter"/>
              </a:rPr>
              <a:t>Critical for V8/JS performance.</a:t>
            </a:r>
            <a:endParaRPr/>
          </a:p>
        </p:txBody>
      </p:sp>
      <p:sp>
        <p:nvSpPr>
          <p:cNvPr id="266" name="Google Shape;266;p22"/>
          <p:cNvSpPr txBox="1"/>
          <p:nvPr/>
        </p:nvSpPr>
        <p:spPr>
          <a:xfrm>
            <a:off x="6381750" y="1438275"/>
            <a:ext cx="550068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On-Stack Replacement (OSR)</a:t>
            </a:r>
            <a:endParaRPr/>
          </a:p>
        </p:txBody>
      </p:sp>
      <p:sp>
        <p:nvSpPr>
          <p:cNvPr id="267" name="Google Shape;267;p22"/>
          <p:cNvSpPr txBox="1"/>
          <p:nvPr/>
        </p:nvSpPr>
        <p:spPr>
          <a:xfrm>
            <a:off x="6381750" y="1905000"/>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What if a loop runs forever inside a method that hasn't finished?</a:t>
            </a:r>
            <a:endParaRPr/>
          </a:p>
        </p:txBody>
      </p:sp>
      <p:sp>
        <p:nvSpPr>
          <p:cNvPr id="268" name="Google Shape;268;p22"/>
          <p:cNvSpPr txBox="1"/>
          <p:nvPr/>
        </p:nvSpPr>
        <p:spPr>
          <a:xfrm>
            <a:off x="6381750" y="2705100"/>
            <a:ext cx="5238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8FAFC"/>
                </a:solidFill>
                <a:latin typeface="Inter SemiBold"/>
                <a:ea typeface="Inter SemiBold"/>
                <a:cs typeface="Inter SemiBold"/>
                <a:sym typeface="Inter SemiBold"/>
              </a:rPr>
              <a:t>Optimization:</a:t>
            </a:r>
            <a:r>
              <a:rPr lang="en-US" sz="1500" b="0" i="0" u="none" strike="noStrike" cap="none">
                <a:solidFill>
                  <a:srgbClr val="94A3B8"/>
                </a:solidFill>
                <a:latin typeface="Inter"/>
                <a:ea typeface="Inter"/>
                <a:cs typeface="Inter"/>
                <a:sym typeface="Inter"/>
              </a:rPr>
              <a:t> OSR allows the runtime to switch from Interpreter to Compiled Code </a:t>
            </a:r>
            <a:r>
              <a:rPr lang="en-US" sz="1500" b="0" i="1" u="none" strike="noStrike" cap="none">
                <a:solidFill>
                  <a:srgbClr val="94A3B8"/>
                </a:solidFill>
                <a:latin typeface="Inter"/>
                <a:ea typeface="Inter"/>
                <a:cs typeface="Inter"/>
                <a:sym typeface="Inter"/>
              </a:rPr>
              <a:t>in the middle of execution</a:t>
            </a:r>
            <a:r>
              <a:rPr lang="en-US" sz="1500" b="0" i="0" u="none" strike="noStrike" cap="none">
                <a:solidFill>
                  <a:srgbClr val="94A3B8"/>
                </a:solidFill>
                <a:latin typeface="Inter"/>
                <a:ea typeface="Inter"/>
                <a:cs typeface="Inter"/>
                <a:sym typeface="Inter"/>
              </a:rPr>
              <a:t>. It maps stack frames from one state to the other seamlessly.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5EE18D00-AF14-05EF-D4B6-B0063050588E}"/>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4" name="Google Shape;274;p23"/>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Data: Startup Latency Impact</a:t>
            </a:r>
            <a:endParaRPr/>
          </a:p>
        </p:txBody>
      </p:sp>
      <p:sp>
        <p:nvSpPr>
          <p:cNvPr id="275" name="Google Shape;275;p23"/>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3"/>
          <p:cNvSpPr txBox="1"/>
          <p:nvPr/>
        </p:nvSpPr>
        <p:spPr>
          <a:xfrm>
            <a:off x="571500" y="5614987"/>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AOT and Interpretation significantly outperform JIT in startup because they avoid initial compilation overhead.</a:t>
            </a:r>
            <a:endParaRPr/>
          </a:p>
        </p:txBody>
      </p:sp>
      <p:pic>
        <p:nvPicPr>
          <p:cNvPr id="3" name="Picture 2">
            <a:extLst>
              <a:ext uri="{FF2B5EF4-FFF2-40B4-BE49-F238E27FC236}">
                <a16:creationId xmlns:a16="http://schemas.microsoft.com/office/drawing/2014/main" id="{34D76552-20EB-1CDF-F996-1716D8487835}"/>
              </a:ext>
            </a:extLst>
          </p:cNvPr>
          <p:cNvPicPr>
            <a:picLocks noChangeAspect="1"/>
          </p:cNvPicPr>
          <p:nvPr/>
        </p:nvPicPr>
        <p:blipFill>
          <a:blip r:embed="rId4"/>
          <a:stretch>
            <a:fillRect/>
          </a:stretch>
        </p:blipFill>
        <p:spPr>
          <a:xfrm>
            <a:off x="762000" y="2415746"/>
            <a:ext cx="10326567" cy="202650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 name="Google Shape;245;p25" descr="image.png">
            <a:extLst>
              <a:ext uri="{FF2B5EF4-FFF2-40B4-BE49-F238E27FC236}">
                <a16:creationId xmlns:a16="http://schemas.microsoft.com/office/drawing/2014/main" id="{EDBDF45A-AD8E-42DC-B352-111E25E2B83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1" name="Google Shape;291;p25" descr="image.png"/>
          <p:cNvPicPr preferRelativeResize="0"/>
          <p:nvPr/>
        </p:nvPicPr>
        <p:blipFill rotWithShape="1">
          <a:blip r:embed="rId4">
            <a:alphaModFix/>
          </a:blip>
          <a:srcRect/>
          <a:stretch/>
        </p:blipFill>
        <p:spPr>
          <a:xfrm>
            <a:off x="571500" y="2038350"/>
            <a:ext cx="3492549" cy="3648075"/>
          </a:xfrm>
          <a:prstGeom prst="rect">
            <a:avLst/>
          </a:prstGeom>
          <a:noFill/>
          <a:ln>
            <a:noFill/>
          </a:ln>
        </p:spPr>
      </p:pic>
      <p:pic>
        <p:nvPicPr>
          <p:cNvPr id="292" name="Google Shape;292;p25" descr="image.png"/>
          <p:cNvPicPr preferRelativeResize="0"/>
          <p:nvPr/>
        </p:nvPicPr>
        <p:blipFill rotWithShape="1">
          <a:blip r:embed="rId5">
            <a:alphaModFix/>
          </a:blip>
          <a:srcRect/>
          <a:stretch/>
        </p:blipFill>
        <p:spPr>
          <a:xfrm>
            <a:off x="4349799" y="2038350"/>
            <a:ext cx="3492549" cy="3648075"/>
          </a:xfrm>
          <a:prstGeom prst="rect">
            <a:avLst/>
          </a:prstGeom>
          <a:noFill/>
          <a:ln>
            <a:noFill/>
          </a:ln>
        </p:spPr>
      </p:pic>
      <p:pic>
        <p:nvPicPr>
          <p:cNvPr id="293" name="Google Shape;293;p25" descr="image.png"/>
          <p:cNvPicPr preferRelativeResize="0"/>
          <p:nvPr/>
        </p:nvPicPr>
        <p:blipFill rotWithShape="1">
          <a:blip r:embed="rId6">
            <a:alphaModFix/>
          </a:blip>
          <a:srcRect/>
          <a:stretch/>
        </p:blipFill>
        <p:spPr>
          <a:xfrm>
            <a:off x="8128099" y="2038350"/>
            <a:ext cx="3492549" cy="3648075"/>
          </a:xfrm>
          <a:prstGeom prst="rect">
            <a:avLst/>
          </a:prstGeom>
          <a:noFill/>
          <a:ln>
            <a:noFill/>
          </a:ln>
        </p:spPr>
      </p:pic>
      <p:sp>
        <p:nvSpPr>
          <p:cNvPr id="294" name="Google Shape;294;p25"/>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Inter"/>
                <a:ea typeface="Inter"/>
                <a:cs typeface="Inter"/>
                <a:sym typeface="Inter"/>
              </a:rPr>
              <a:t>Conclusion</a:t>
            </a:r>
            <a:endParaRPr/>
          </a:p>
        </p:txBody>
      </p:sp>
      <p:sp>
        <p:nvSpPr>
          <p:cNvPr id="295" name="Google Shape;295;p25"/>
          <p:cNvSpPr/>
          <p:nvPr/>
        </p:nvSpPr>
        <p:spPr>
          <a:xfrm>
            <a:off x="571500" y="571500"/>
            <a:ext cx="47625" cy="485775"/>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6" name="Google Shape;296;p25" descr="image.png"/>
          <p:cNvPicPr preferRelativeResize="0"/>
          <p:nvPr/>
        </p:nvPicPr>
        <p:blipFill rotWithShape="1">
          <a:blip r:embed="rId7">
            <a:alphaModFix/>
          </a:blip>
          <a:srcRect/>
          <a:stretch/>
        </p:blipFill>
        <p:spPr>
          <a:xfrm>
            <a:off x="866775" y="2333625"/>
            <a:ext cx="571500" cy="571500"/>
          </a:xfrm>
          <a:prstGeom prst="rect">
            <a:avLst/>
          </a:prstGeom>
          <a:noFill/>
          <a:ln>
            <a:noFill/>
          </a:ln>
        </p:spPr>
      </p:pic>
      <p:sp>
        <p:nvSpPr>
          <p:cNvPr id="297" name="Google Shape;297;p25"/>
          <p:cNvSpPr txBox="1"/>
          <p:nvPr/>
        </p:nvSpPr>
        <p:spPr>
          <a:xfrm>
            <a:off x="866775" y="3095625"/>
            <a:ext cx="3047099"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Convergence</a:t>
            </a:r>
            <a:endParaRPr/>
          </a:p>
        </p:txBody>
      </p:sp>
      <p:sp>
        <p:nvSpPr>
          <p:cNvPr id="298" name="Google Shape;298;p25"/>
          <p:cNvSpPr txBox="1"/>
          <p:nvPr/>
        </p:nvSpPr>
        <p:spPr>
          <a:xfrm>
            <a:off x="866775" y="3676650"/>
            <a:ext cx="290199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Pure JIT and Pure AOT are both insufficient. The industry has converged on </a:t>
            </a:r>
            <a:r>
              <a:rPr lang="en-US" sz="1500" b="0" i="0" u="none" strike="noStrike" cap="none">
                <a:solidFill>
                  <a:srgbClr val="F8FAFC"/>
                </a:solidFill>
                <a:latin typeface="Inter SemiBold"/>
                <a:ea typeface="Inter SemiBold"/>
                <a:cs typeface="Inter SemiBold"/>
                <a:sym typeface="Inter SemiBold"/>
              </a:rPr>
              <a:t>Hybrid Models</a:t>
            </a:r>
            <a:r>
              <a:rPr lang="en-US" sz="1500" b="0" i="0" u="none" strike="noStrike" cap="none">
                <a:solidFill>
                  <a:srgbClr val="94A3B8"/>
                </a:solidFill>
                <a:latin typeface="Inter"/>
                <a:ea typeface="Inter"/>
                <a:cs typeface="Inter"/>
                <a:sym typeface="Inter"/>
              </a:rPr>
              <a:t> (Android) or </a:t>
            </a:r>
            <a:r>
              <a:rPr lang="en-US" sz="1500" b="0" i="0" u="none" strike="noStrike" cap="none">
                <a:solidFill>
                  <a:srgbClr val="F8FAFC"/>
                </a:solidFill>
                <a:latin typeface="Inter SemiBold"/>
                <a:ea typeface="Inter SemiBold"/>
                <a:cs typeface="Inter SemiBold"/>
                <a:sym typeface="Inter SemiBold"/>
              </a:rPr>
              <a:t>AOT + Cloud/Bitcode</a:t>
            </a:r>
            <a:r>
              <a:rPr lang="en-US" sz="1500" b="0" i="0" u="none" strike="noStrike" cap="none">
                <a:solidFill>
                  <a:srgbClr val="94A3B8"/>
                </a:solidFill>
                <a:latin typeface="Inter"/>
                <a:ea typeface="Inter"/>
                <a:cs typeface="Inter"/>
                <a:sym typeface="Inter"/>
              </a:rPr>
              <a:t> (iOS).</a:t>
            </a:r>
            <a:endParaRPr/>
          </a:p>
        </p:txBody>
      </p:sp>
      <p:pic>
        <p:nvPicPr>
          <p:cNvPr id="299" name="Google Shape;299;p25" descr="image.png"/>
          <p:cNvPicPr preferRelativeResize="0"/>
          <p:nvPr/>
        </p:nvPicPr>
        <p:blipFill rotWithShape="1">
          <a:blip r:embed="rId8">
            <a:alphaModFix/>
          </a:blip>
          <a:srcRect/>
          <a:stretch/>
        </p:blipFill>
        <p:spPr>
          <a:xfrm>
            <a:off x="4645074" y="2333625"/>
            <a:ext cx="571500" cy="571500"/>
          </a:xfrm>
          <a:prstGeom prst="rect">
            <a:avLst/>
          </a:prstGeom>
          <a:noFill/>
          <a:ln>
            <a:noFill/>
          </a:ln>
        </p:spPr>
      </p:pic>
      <p:sp>
        <p:nvSpPr>
          <p:cNvPr id="300" name="Google Shape;300;p25"/>
          <p:cNvSpPr txBox="1"/>
          <p:nvPr/>
        </p:nvSpPr>
        <p:spPr>
          <a:xfrm>
            <a:off x="4645074" y="3095625"/>
            <a:ext cx="3047099"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Security Drivers</a:t>
            </a:r>
            <a:endParaRPr/>
          </a:p>
        </p:txBody>
      </p:sp>
      <p:sp>
        <p:nvSpPr>
          <p:cNvPr id="301" name="Google Shape;301;p25"/>
          <p:cNvSpPr txBox="1"/>
          <p:nvPr/>
        </p:nvSpPr>
        <p:spPr>
          <a:xfrm>
            <a:off x="4645074" y="3676650"/>
            <a:ext cx="290199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OS security policies ($W \oplus X$) effectively mandate AOT for strictly sandbosed environments, pushing JIT to privileged system processes.</a:t>
            </a:r>
            <a:endParaRPr/>
          </a:p>
        </p:txBody>
      </p:sp>
      <p:pic>
        <p:nvPicPr>
          <p:cNvPr id="302" name="Google Shape;302;p25" descr="image.png"/>
          <p:cNvPicPr preferRelativeResize="0"/>
          <p:nvPr/>
        </p:nvPicPr>
        <p:blipFill rotWithShape="1">
          <a:blip r:embed="rId9">
            <a:alphaModFix/>
          </a:blip>
          <a:srcRect/>
          <a:stretch/>
        </p:blipFill>
        <p:spPr>
          <a:xfrm>
            <a:off x="8423374" y="2333625"/>
            <a:ext cx="571500" cy="571500"/>
          </a:xfrm>
          <a:prstGeom prst="rect">
            <a:avLst/>
          </a:prstGeom>
          <a:noFill/>
          <a:ln>
            <a:noFill/>
          </a:ln>
        </p:spPr>
      </p:pic>
      <p:sp>
        <p:nvSpPr>
          <p:cNvPr id="303" name="Google Shape;303;p25"/>
          <p:cNvSpPr txBox="1"/>
          <p:nvPr/>
        </p:nvSpPr>
        <p:spPr>
          <a:xfrm>
            <a:off x="8423374" y="3095625"/>
            <a:ext cx="3047099"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Inter"/>
                <a:ea typeface="Inter"/>
                <a:cs typeface="Inter"/>
                <a:sym typeface="Inter"/>
              </a:rPr>
              <a:t>Optimization</a:t>
            </a:r>
            <a:endParaRPr/>
          </a:p>
        </p:txBody>
      </p:sp>
      <p:sp>
        <p:nvSpPr>
          <p:cNvPr id="304" name="Google Shape;304;p25"/>
          <p:cNvSpPr txBox="1"/>
          <p:nvPr/>
        </p:nvSpPr>
        <p:spPr>
          <a:xfrm>
            <a:off x="8423374" y="3676650"/>
            <a:ext cx="290199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Future optimizations will focus on hiding the cost of abstraction through cloud-assisted profiling and smarter hybrid lifecycles.</a:t>
            </a:r>
            <a:endParaRPr/>
          </a:p>
        </p:txBody>
      </p:sp>
      <p:pic>
        <p:nvPicPr>
          <p:cNvPr id="305" name="Google Shape;305;p25" descr="image.png"/>
          <p:cNvPicPr preferRelativeResize="0"/>
          <p:nvPr/>
        </p:nvPicPr>
        <p:blipFill rotWithShape="1">
          <a:blip r:embed="rId10">
            <a:alphaModFix/>
          </a:blip>
          <a:srcRect/>
          <a:stretch/>
        </p:blipFill>
        <p:spPr>
          <a:xfrm>
            <a:off x="962025" y="2466975"/>
            <a:ext cx="381000" cy="304800"/>
          </a:xfrm>
          <a:prstGeom prst="rect">
            <a:avLst/>
          </a:prstGeom>
          <a:noFill/>
          <a:ln>
            <a:noFill/>
          </a:ln>
        </p:spPr>
      </p:pic>
      <p:pic>
        <p:nvPicPr>
          <p:cNvPr id="306" name="Google Shape;306;p25" descr="image.png"/>
          <p:cNvPicPr preferRelativeResize="0"/>
          <p:nvPr/>
        </p:nvPicPr>
        <p:blipFill rotWithShape="1">
          <a:blip r:embed="rId11">
            <a:alphaModFix/>
          </a:blip>
          <a:srcRect/>
          <a:stretch/>
        </p:blipFill>
        <p:spPr>
          <a:xfrm>
            <a:off x="4778424" y="2466975"/>
            <a:ext cx="304800" cy="304800"/>
          </a:xfrm>
          <a:prstGeom prst="rect">
            <a:avLst/>
          </a:prstGeom>
          <a:noFill/>
          <a:ln>
            <a:noFill/>
          </a:ln>
        </p:spPr>
      </p:pic>
      <p:pic>
        <p:nvPicPr>
          <p:cNvPr id="307" name="Google Shape;307;p25" descr="image.png"/>
          <p:cNvPicPr preferRelativeResize="0"/>
          <p:nvPr/>
        </p:nvPicPr>
        <p:blipFill rotWithShape="1">
          <a:blip r:embed="rId12">
            <a:alphaModFix/>
          </a:blip>
          <a:srcRect/>
          <a:stretch/>
        </p:blipFill>
        <p:spPr>
          <a:xfrm>
            <a:off x="8518624" y="2466975"/>
            <a:ext cx="381000" cy="304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930479" y="2263229"/>
            <a:ext cx="8331041"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FFFFFF"/>
                </a:solidFill>
                <a:latin typeface="Merriweather"/>
                <a:ea typeface="Merriweather"/>
                <a:cs typeface="Merriweather"/>
                <a:sym typeface="Merriweather"/>
              </a:rPr>
              <a:t>The Cost of Tree Mutations</a:t>
            </a:r>
            <a:endParaRPr/>
          </a:p>
        </p:txBody>
      </p:sp>
      <p:sp>
        <p:nvSpPr>
          <p:cNvPr id="86" name="Google Shape;86;p13"/>
          <p:cNvSpPr/>
          <p:nvPr/>
        </p:nvSpPr>
        <p:spPr>
          <a:xfrm>
            <a:off x="5619750" y="3310979"/>
            <a:ext cx="952500" cy="381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2128837" y="3634829"/>
            <a:ext cx="7934325" cy="886397"/>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94A3B8"/>
                </a:solidFill>
                <a:latin typeface="DM Sans"/>
                <a:ea typeface="DM Sans"/>
                <a:cs typeface="DM Sans"/>
                <a:sym typeface="DM Sans"/>
              </a:rPr>
              <a:t>Architectural Analysis of</a:t>
            </a:r>
            <a:br>
              <a:rPr lang="en-US" sz="1800" b="0" i="0" u="none" strike="noStrike" cap="none" dirty="0">
                <a:solidFill>
                  <a:schemeClr val="dk1"/>
                </a:solidFill>
                <a:latin typeface="Calibri"/>
                <a:ea typeface="Calibri"/>
                <a:cs typeface="Calibri"/>
                <a:sym typeface="Calibri"/>
              </a:rPr>
            </a:br>
            <a:r>
              <a:rPr lang="en-US" sz="1800" b="0" i="0" u="none" strike="noStrike" cap="none" dirty="0">
                <a:solidFill>
                  <a:srgbClr val="94A3B8"/>
                </a:solidFill>
                <a:latin typeface="DM Sans"/>
                <a:ea typeface="DM Sans"/>
                <a:cs typeface="DM Sans"/>
                <a:sym typeface="DM Sans"/>
              </a:rPr>
              <a:t> Widget and </a:t>
            </a:r>
            <a:r>
              <a:rPr lang="en-US" sz="1800" b="0" i="0" u="none" strike="noStrike" cap="none" dirty="0" err="1">
                <a:solidFill>
                  <a:srgbClr val="94A3B8"/>
                </a:solidFill>
                <a:latin typeface="DM Sans"/>
                <a:ea typeface="DM Sans"/>
                <a:cs typeface="DM Sans"/>
                <a:sym typeface="DM Sans"/>
              </a:rPr>
              <a:t>RenderObject</a:t>
            </a:r>
            <a:r>
              <a:rPr lang="en-US" sz="1800" b="0" i="0" u="none" strike="noStrike" cap="none" dirty="0">
                <a:solidFill>
                  <a:srgbClr val="94A3B8"/>
                </a:solidFill>
                <a:latin typeface="DM Sans"/>
                <a:ea typeface="DM Sans"/>
                <a:cs typeface="DM Sans"/>
                <a:sym typeface="DM Sans"/>
              </a:rPr>
              <a:t> Dynamics in Flutter</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1724025"/>
            <a:ext cx="5238750" cy="4562475"/>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6381750" y="1724025"/>
            <a:ext cx="5238750" cy="4562475"/>
          </a:xfrm>
          <a:prstGeom prst="rect">
            <a:avLst/>
          </a:prstGeom>
          <a:noFill/>
          <a:ln>
            <a:noFill/>
          </a:ln>
        </p:spPr>
      </p:pic>
      <p:sp>
        <p:nvSpPr>
          <p:cNvPr id="95" name="Google Shape;95;p14"/>
          <p:cNvSpPr txBox="1"/>
          <p:nvPr/>
        </p:nvSpPr>
        <p:spPr>
          <a:xfrm>
            <a:off x="962025" y="2114550"/>
            <a:ext cx="468058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4ADE80"/>
                </a:solidFill>
                <a:latin typeface="Merriweather"/>
                <a:ea typeface="Merriweather"/>
                <a:cs typeface="Merriweather"/>
                <a:sym typeface="Merriweather"/>
              </a:rPr>
              <a:t>The Widget Wager</a:t>
            </a:r>
            <a:endParaRPr/>
          </a:p>
        </p:txBody>
      </p:sp>
      <p:sp>
        <p:nvSpPr>
          <p:cNvPr id="96" name="Google Shape;96;p14"/>
          <p:cNvSpPr txBox="1"/>
          <p:nvPr/>
        </p:nvSpPr>
        <p:spPr>
          <a:xfrm>
            <a:off x="962025" y="2609850"/>
            <a:ext cx="44577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Goal:</a:t>
            </a:r>
            <a:r>
              <a:rPr lang="en-US" sz="1200" b="0" i="0" u="none" strike="noStrike" cap="none">
                <a:solidFill>
                  <a:srgbClr val="CBD5E1"/>
                </a:solidFill>
                <a:latin typeface="DM Sans"/>
                <a:ea typeface="DM Sans"/>
                <a:cs typeface="DM Sans"/>
                <a:sym typeface="DM Sans"/>
              </a:rPr>
              <a:t> Aggressive Composability.</a:t>
            </a:r>
            <a:endParaRPr/>
          </a:p>
        </p:txBody>
      </p:sp>
      <p:sp>
        <p:nvSpPr>
          <p:cNvPr id="97" name="Google Shape;97;p14"/>
          <p:cNvSpPr txBox="1"/>
          <p:nvPr/>
        </p:nvSpPr>
        <p:spPr>
          <a:xfrm>
            <a:off x="962025" y="3006030"/>
            <a:ext cx="44577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The system accepts the computational cost of allocating thousands of short-lived objects to purchase efficiency in the kernel space.</a:t>
            </a:r>
            <a:endParaRPr/>
          </a:p>
        </p:txBody>
      </p:sp>
      <p:sp>
        <p:nvSpPr>
          <p:cNvPr id="98" name="Google Shape;98;p14"/>
          <p:cNvSpPr txBox="1"/>
          <p:nvPr/>
        </p:nvSpPr>
        <p:spPr>
          <a:xfrm>
            <a:off x="962025" y="3889771"/>
            <a:ext cx="44577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1" u="none" strike="noStrike" cap="none">
                <a:solidFill>
                  <a:srgbClr val="CBD5E1"/>
                </a:solidFill>
                <a:latin typeface="DM Sans"/>
                <a:ea typeface="DM Sans"/>
                <a:cs typeface="DM Sans"/>
                <a:sym typeface="DM Sans"/>
              </a:rPr>
              <a:t>"Rebuilding widgets is cheap."</a:t>
            </a:r>
            <a:endParaRPr/>
          </a:p>
        </p:txBody>
      </p:sp>
      <p:sp>
        <p:nvSpPr>
          <p:cNvPr id="99" name="Google Shape;99;p14"/>
          <p:cNvSpPr txBox="1"/>
          <p:nvPr/>
        </p:nvSpPr>
        <p:spPr>
          <a:xfrm>
            <a:off x="6772275" y="2114550"/>
            <a:ext cx="468058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7171"/>
                </a:solidFill>
                <a:latin typeface="Merriweather"/>
                <a:ea typeface="Merriweather"/>
                <a:cs typeface="Merriweather"/>
                <a:sym typeface="Merriweather"/>
              </a:rPr>
              <a:t>The Rendering Reality</a:t>
            </a:r>
            <a:endParaRPr/>
          </a:p>
        </p:txBody>
      </p:sp>
      <p:sp>
        <p:nvSpPr>
          <p:cNvPr id="100" name="Google Shape;100;p14"/>
          <p:cNvSpPr txBox="1"/>
          <p:nvPr/>
        </p:nvSpPr>
        <p:spPr>
          <a:xfrm>
            <a:off x="6772275" y="2609850"/>
            <a:ext cx="44577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Constraint:</a:t>
            </a:r>
            <a:r>
              <a:rPr lang="en-US" sz="1200" b="0" i="0" u="none" strike="noStrike" cap="none">
                <a:solidFill>
                  <a:srgbClr val="CBD5E1"/>
                </a:solidFill>
                <a:latin typeface="DM Sans"/>
                <a:ea typeface="DM Sans"/>
                <a:cs typeface="DM Sans"/>
                <a:sym typeface="DM Sans"/>
              </a:rPr>
              <a:t> Physics of Layout &amp; Paint.</a:t>
            </a:r>
            <a:endParaRPr/>
          </a:p>
        </p:txBody>
      </p:sp>
      <p:sp>
        <p:nvSpPr>
          <p:cNvPr id="101" name="Google Shape;101;p14"/>
          <p:cNvSpPr txBox="1"/>
          <p:nvPr/>
        </p:nvSpPr>
        <p:spPr>
          <a:xfrm>
            <a:off x="6772275" y="3006030"/>
            <a:ext cx="44577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Mutating the underlying layout and painting state involves expensive tree traversals ($O(N)$) and memory bus synchronization.</a:t>
            </a:r>
            <a:endParaRPr/>
          </a:p>
        </p:txBody>
      </p:sp>
      <p:sp>
        <p:nvSpPr>
          <p:cNvPr id="102" name="Google Shape;102;p14"/>
          <p:cNvSpPr txBox="1"/>
          <p:nvPr/>
        </p:nvSpPr>
        <p:spPr>
          <a:xfrm>
            <a:off x="6772275" y="3889771"/>
            <a:ext cx="44577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1" u="none" strike="noStrike" cap="none">
                <a:solidFill>
                  <a:srgbClr val="CBD5E1"/>
                </a:solidFill>
                <a:latin typeface="DM Sans"/>
                <a:ea typeface="DM Sans"/>
                <a:cs typeface="DM Sans"/>
                <a:sym typeface="DM Sans"/>
              </a:rPr>
              <a:t>"Rebuilding render objects is expensive."</a:t>
            </a:r>
            <a:endParaRPr/>
          </a:p>
        </p:txBody>
      </p:sp>
      <p:sp>
        <p:nvSpPr>
          <p:cNvPr id="103" name="Google Shape;103;p14"/>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The Economics of Rendering</a:t>
            </a:r>
            <a:endParaRPr/>
          </a:p>
        </p:txBody>
      </p:sp>
      <p:sp>
        <p:nvSpPr>
          <p:cNvPr id="104" name="Google Shape;104;p14"/>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571500" y="1724025"/>
            <a:ext cx="3492549" cy="4562475"/>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4349799" y="1724025"/>
            <a:ext cx="3492549" cy="4562475"/>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8128099" y="1724025"/>
            <a:ext cx="3492549" cy="4562475"/>
          </a:xfrm>
          <a:prstGeom prst="rect">
            <a:avLst/>
          </a:prstGeom>
          <a:noFill/>
          <a:ln>
            <a:noFill/>
          </a:ln>
        </p:spPr>
      </p:pic>
      <p:sp>
        <p:nvSpPr>
          <p:cNvPr id="113" name="Google Shape;113;p15"/>
          <p:cNvSpPr txBox="1"/>
          <p:nvPr/>
        </p:nvSpPr>
        <p:spPr>
          <a:xfrm>
            <a:off x="1472594" y="2809875"/>
            <a:ext cx="1690211"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Widget Tree</a:t>
            </a:r>
            <a:endParaRPr/>
          </a:p>
        </p:txBody>
      </p:sp>
      <p:sp>
        <p:nvSpPr>
          <p:cNvPr id="114" name="Google Shape;114;p15"/>
          <p:cNvSpPr txBox="1"/>
          <p:nvPr/>
        </p:nvSpPr>
        <p:spPr>
          <a:xfrm>
            <a:off x="866775" y="3448050"/>
            <a:ext cx="2901999"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The declarative blueprint. Immutable configurations. Rebuilt frequently (60fps).</a:t>
            </a:r>
            <a:endParaRPr/>
          </a:p>
        </p:txBody>
      </p:sp>
      <p:sp>
        <p:nvSpPr>
          <p:cNvPr id="115" name="Google Shape;115;p15"/>
          <p:cNvSpPr txBox="1"/>
          <p:nvPr/>
        </p:nvSpPr>
        <p:spPr>
          <a:xfrm>
            <a:off x="5170884" y="2809875"/>
            <a:ext cx="1850231"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Element Tree</a:t>
            </a:r>
            <a:endParaRPr/>
          </a:p>
        </p:txBody>
      </p:sp>
      <p:sp>
        <p:nvSpPr>
          <p:cNvPr id="116" name="Google Shape;116;p15"/>
          <p:cNvSpPr txBox="1"/>
          <p:nvPr/>
        </p:nvSpPr>
        <p:spPr>
          <a:xfrm>
            <a:off x="4645074" y="3448050"/>
            <a:ext cx="2901999"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The persistent nervous system. Manages lifecycle and bridges the gap. Performs "diffing".</a:t>
            </a:r>
            <a:endParaRPr/>
          </a:p>
        </p:txBody>
      </p:sp>
      <p:sp>
        <p:nvSpPr>
          <p:cNvPr id="117" name="Google Shape;117;p15"/>
          <p:cNvSpPr txBox="1"/>
          <p:nvPr/>
        </p:nvSpPr>
        <p:spPr>
          <a:xfrm>
            <a:off x="8594139" y="2809875"/>
            <a:ext cx="2560320"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RenderObject Tree</a:t>
            </a:r>
            <a:endParaRPr/>
          </a:p>
        </p:txBody>
      </p:sp>
      <p:sp>
        <p:nvSpPr>
          <p:cNvPr id="118" name="Google Shape;118;p15"/>
          <p:cNvSpPr txBox="1"/>
          <p:nvPr/>
        </p:nvSpPr>
        <p:spPr>
          <a:xfrm>
            <a:off x="8423374" y="3448050"/>
            <a:ext cx="2901999"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The heavy machinery. Handles layout, painting, and hit-testing. Long-lived and mutable.</a:t>
            </a:r>
            <a:endParaRPr/>
          </a:p>
        </p:txBody>
      </p:sp>
      <p:pic>
        <p:nvPicPr>
          <p:cNvPr id="119" name="Google Shape;119;p15" descr="image.png"/>
          <p:cNvPicPr preferRelativeResize="0"/>
          <p:nvPr/>
        </p:nvPicPr>
        <p:blipFill rotWithShape="1">
          <a:blip r:embed="rId7">
            <a:alphaModFix/>
          </a:blip>
          <a:srcRect/>
          <a:stretch/>
        </p:blipFill>
        <p:spPr>
          <a:xfrm>
            <a:off x="2146250" y="2076450"/>
            <a:ext cx="342900" cy="457200"/>
          </a:xfrm>
          <a:prstGeom prst="rect">
            <a:avLst/>
          </a:prstGeom>
          <a:noFill/>
          <a:ln>
            <a:noFill/>
          </a:ln>
        </p:spPr>
      </p:pic>
      <p:pic>
        <p:nvPicPr>
          <p:cNvPr id="120" name="Google Shape;120;p15" descr="image.png"/>
          <p:cNvPicPr preferRelativeResize="0"/>
          <p:nvPr/>
        </p:nvPicPr>
        <p:blipFill rotWithShape="1">
          <a:blip r:embed="rId8">
            <a:alphaModFix/>
          </a:blip>
          <a:srcRect/>
          <a:stretch/>
        </p:blipFill>
        <p:spPr>
          <a:xfrm>
            <a:off x="5810250" y="2076450"/>
            <a:ext cx="571500" cy="457200"/>
          </a:xfrm>
          <a:prstGeom prst="rect">
            <a:avLst/>
          </a:prstGeom>
          <a:noFill/>
          <a:ln>
            <a:noFill/>
          </a:ln>
        </p:spPr>
      </p:pic>
      <p:pic>
        <p:nvPicPr>
          <p:cNvPr id="121" name="Google Shape;121;p15" descr="image.png"/>
          <p:cNvPicPr preferRelativeResize="0"/>
          <p:nvPr/>
        </p:nvPicPr>
        <p:blipFill rotWithShape="1">
          <a:blip r:embed="rId9">
            <a:alphaModFix/>
          </a:blip>
          <a:srcRect/>
          <a:stretch/>
        </p:blipFill>
        <p:spPr>
          <a:xfrm>
            <a:off x="9588549" y="2076450"/>
            <a:ext cx="571500" cy="457200"/>
          </a:xfrm>
          <a:prstGeom prst="rect">
            <a:avLst/>
          </a:prstGeom>
          <a:noFill/>
          <a:ln>
            <a:noFill/>
          </a:ln>
        </p:spPr>
      </p:pic>
      <p:sp>
        <p:nvSpPr>
          <p:cNvPr id="122" name="Google Shape;122;p15"/>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The Three Trees Architecture</a:t>
            </a:r>
            <a:endParaRPr/>
          </a:p>
        </p:txBody>
      </p:sp>
      <p:sp>
        <p:nvSpPr>
          <p:cNvPr id="123" name="Google Shape;123;p15"/>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alphaModFix/>
          </a:blip>
          <a:srcRect/>
          <a:stretch/>
        </p:blipFill>
        <p:spPr>
          <a:xfrm>
            <a:off x="6381750" y="2100262"/>
            <a:ext cx="5238750" cy="3810000"/>
          </a:xfrm>
          <a:prstGeom prst="rect">
            <a:avLst/>
          </a:prstGeom>
          <a:noFill/>
          <a:ln>
            <a:noFill/>
          </a:ln>
        </p:spPr>
      </p:pic>
      <p:sp>
        <p:nvSpPr>
          <p:cNvPr id="130" name="Google Shape;130;p16"/>
          <p:cNvSpPr txBox="1"/>
          <p:nvPr/>
        </p:nvSpPr>
        <p:spPr>
          <a:xfrm>
            <a:off x="571500" y="2621458"/>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Blueprint of the UI</a:t>
            </a:r>
            <a:endParaRPr/>
          </a:p>
        </p:txBody>
      </p:sp>
      <p:sp>
        <p:nvSpPr>
          <p:cNvPr id="131" name="Google Shape;131;p16"/>
          <p:cNvSpPr txBox="1"/>
          <p:nvPr/>
        </p:nvSpPr>
        <p:spPr>
          <a:xfrm>
            <a:off x="571500" y="3116758"/>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Widgets are strictly </a:t>
            </a:r>
            <a:r>
              <a:rPr lang="en-US" sz="1200" b="1" i="0" u="none" strike="noStrike" cap="none">
                <a:solidFill>
                  <a:srgbClr val="CBD5E1"/>
                </a:solidFill>
                <a:latin typeface="DM Sans"/>
                <a:ea typeface="DM Sans"/>
                <a:cs typeface="DM Sans"/>
                <a:sym typeface="DM Sans"/>
              </a:rPr>
              <a:t>immutable</a:t>
            </a:r>
            <a:r>
              <a:rPr lang="en-US" sz="1200" b="0" i="0" u="none" strike="noStrike" cap="none">
                <a:solidFill>
                  <a:srgbClr val="CBD5E1"/>
                </a:solidFill>
                <a:latin typeface="DM Sans"/>
                <a:ea typeface="DM Sans"/>
                <a:cs typeface="DM Sans"/>
                <a:sym typeface="DM Sans"/>
              </a:rPr>
              <a:t> configuration objects. They contain no state and perform no execution.</a:t>
            </a:r>
            <a:endParaRPr/>
          </a:p>
        </p:txBody>
      </p:sp>
      <p:sp>
        <p:nvSpPr>
          <p:cNvPr id="132" name="Google Shape;132;p16"/>
          <p:cNvSpPr txBox="1"/>
          <p:nvPr/>
        </p:nvSpPr>
        <p:spPr>
          <a:xfrm>
            <a:off x="571500" y="4109144"/>
            <a:ext cx="523875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Cost Function:</a:t>
            </a:r>
            <a:r>
              <a:rPr lang="en-US" sz="1200" b="0" i="0" u="none" strike="noStrike" cap="none">
                <a:solidFill>
                  <a:srgbClr val="CBD5E1"/>
                </a:solidFill>
                <a:latin typeface="DM Sans"/>
                <a:ea typeface="DM Sans"/>
                <a:cs typeface="DM Sans"/>
                <a:sym typeface="DM Sans"/>
              </a:rPr>
              <a:t> Allocation.</a:t>
            </a:r>
            <a:endParaRPr/>
          </a:p>
        </p:txBody>
      </p:sp>
      <p:sp>
        <p:nvSpPr>
          <p:cNvPr id="133" name="Google Shape;133;p16"/>
          <p:cNvSpPr txBox="1"/>
          <p:nvPr/>
        </p:nvSpPr>
        <p:spPr>
          <a:xfrm>
            <a:off x="571500" y="4505325"/>
            <a:ext cx="523875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Because Dart uses a generational garbage collector, allocating and discarding these objects is computationally trivial ($O(1)$). They act as "config files" for the heavier elements below.</a:t>
            </a:r>
            <a:endParaRPr/>
          </a:p>
        </p:txBody>
      </p:sp>
      <p:pic>
        <p:nvPicPr>
          <p:cNvPr id="134" name="Google Shape;134;p16" descr="image.png"/>
          <p:cNvPicPr preferRelativeResize="0"/>
          <p:nvPr/>
        </p:nvPicPr>
        <p:blipFill rotWithShape="1">
          <a:blip r:embed="rId5">
            <a:alphaModFix/>
          </a:blip>
          <a:srcRect/>
          <a:stretch/>
        </p:blipFill>
        <p:spPr>
          <a:xfrm>
            <a:off x="6381750" y="2100262"/>
            <a:ext cx="5238750" cy="3810000"/>
          </a:xfrm>
          <a:prstGeom prst="rect">
            <a:avLst/>
          </a:prstGeom>
          <a:noFill/>
          <a:ln>
            <a:noFill/>
          </a:ln>
        </p:spPr>
      </p:pic>
      <p:sp>
        <p:nvSpPr>
          <p:cNvPr id="135" name="Google Shape;135;p16"/>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1. The Widget Tree</a:t>
            </a:r>
            <a:endParaRPr/>
          </a:p>
        </p:txBody>
      </p:sp>
      <p:sp>
        <p:nvSpPr>
          <p:cNvPr id="136" name="Google Shape;136;p16"/>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2" name="Google Shape;142;p17"/>
          <p:cNvSpPr txBox="1"/>
          <p:nvPr/>
        </p:nvSpPr>
        <p:spPr>
          <a:xfrm>
            <a:off x="762000" y="762000"/>
            <a:ext cx="4800600" cy="11525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2. Element Tree &amp; Reconciliation</a:t>
            </a:r>
            <a:endParaRPr/>
          </a:p>
        </p:txBody>
      </p:sp>
      <p:sp>
        <p:nvSpPr>
          <p:cNvPr id="143" name="Google Shape;143;p17"/>
          <p:cNvSpPr/>
          <p:nvPr/>
        </p:nvSpPr>
        <p:spPr>
          <a:xfrm>
            <a:off x="762000" y="2095500"/>
            <a:ext cx="4572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17"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145" name="Google Shape;145;p17"/>
          <p:cNvSpPr txBox="1"/>
          <p:nvPr/>
        </p:nvSpPr>
        <p:spPr>
          <a:xfrm>
            <a:off x="762000" y="2486025"/>
            <a:ext cx="4800600"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The Diffing Algorithm</a:t>
            </a:r>
            <a:endParaRPr/>
          </a:p>
        </p:txBody>
      </p:sp>
      <p:sp>
        <p:nvSpPr>
          <p:cNvPr id="146" name="Google Shape;146;p17"/>
          <p:cNvSpPr txBox="1"/>
          <p:nvPr/>
        </p:nvSpPr>
        <p:spPr>
          <a:xfrm>
            <a:off x="762000" y="3124200"/>
            <a:ext cx="4572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Elements persist across frames. When a new Widget tree is built, the Element tree runs a linear scan ($O(N)$) to reconcile changes.</a:t>
            </a:r>
            <a:endParaRPr/>
          </a:p>
        </p:txBody>
      </p:sp>
      <p:sp>
        <p:nvSpPr>
          <p:cNvPr id="147" name="Google Shape;147;p17"/>
          <p:cNvSpPr txBox="1"/>
          <p:nvPr/>
        </p:nvSpPr>
        <p:spPr>
          <a:xfrm>
            <a:off x="762000" y="4360366"/>
            <a:ext cx="4572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Success Path:</a:t>
            </a:r>
            <a:r>
              <a:rPr lang="en-US" sz="1200" b="0" i="0" u="none" strike="noStrike" cap="none">
                <a:solidFill>
                  <a:srgbClr val="CBD5E1"/>
                </a:solidFill>
                <a:latin typeface="DM Sans"/>
                <a:ea typeface="DM Sans"/>
                <a:cs typeface="DM Sans"/>
                <a:sym typeface="DM Sans"/>
              </a:rPr>
              <a:t> `canUpdate` returns true (Same Key &amp; RuntimeType). Element updates its reference. RenderObject is reused.</a:t>
            </a:r>
            <a:endParaRPr/>
          </a:p>
        </p:txBody>
      </p:sp>
      <p:sp>
        <p:nvSpPr>
          <p:cNvPr id="148" name="Google Shape;148;p17"/>
          <p:cNvSpPr txBox="1"/>
          <p:nvPr/>
        </p:nvSpPr>
        <p:spPr>
          <a:xfrm>
            <a:off x="762000" y="5396507"/>
            <a:ext cx="4572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Failure Path:</a:t>
            </a:r>
            <a:r>
              <a:rPr lang="en-US" sz="1200" b="0" i="0" u="none" strike="noStrike" cap="none">
                <a:solidFill>
                  <a:srgbClr val="CBD5E1"/>
                </a:solidFill>
                <a:latin typeface="DM Sans"/>
                <a:ea typeface="DM Sans"/>
                <a:cs typeface="DM Sans"/>
                <a:sym typeface="DM Sans"/>
              </a:rPr>
              <a:t> `canUpdate` returns false. Old Element/RenderObject are destroyed. New ones are inflated (Expensive).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571500" y="2100262"/>
            <a:ext cx="5238750" cy="3810000"/>
          </a:xfrm>
          <a:prstGeom prst="rect">
            <a:avLst/>
          </a:prstGeom>
          <a:noFill/>
          <a:ln>
            <a:noFill/>
          </a:ln>
        </p:spPr>
      </p:pic>
      <p:pic>
        <p:nvPicPr>
          <p:cNvPr id="155" name="Google Shape;155;p18" descr="image.png"/>
          <p:cNvPicPr preferRelativeResize="0"/>
          <p:nvPr/>
        </p:nvPicPr>
        <p:blipFill rotWithShape="1">
          <a:blip r:embed="rId5">
            <a:alphaModFix/>
          </a:blip>
          <a:srcRect/>
          <a:stretch/>
        </p:blipFill>
        <p:spPr>
          <a:xfrm>
            <a:off x="571500" y="2100262"/>
            <a:ext cx="5238750" cy="3810000"/>
          </a:xfrm>
          <a:prstGeom prst="rect">
            <a:avLst/>
          </a:prstGeom>
          <a:noFill/>
          <a:ln>
            <a:noFill/>
          </a:ln>
        </p:spPr>
      </p:pic>
      <p:sp>
        <p:nvSpPr>
          <p:cNvPr id="156" name="Google Shape;156;p18"/>
          <p:cNvSpPr txBox="1"/>
          <p:nvPr/>
        </p:nvSpPr>
        <p:spPr>
          <a:xfrm>
            <a:off x="6381750" y="1940718"/>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The Heavy Machinery</a:t>
            </a:r>
            <a:endParaRPr/>
          </a:p>
        </p:txBody>
      </p:sp>
      <p:sp>
        <p:nvSpPr>
          <p:cNvPr id="157" name="Google Shape;157;p18"/>
          <p:cNvSpPr txBox="1"/>
          <p:nvPr/>
        </p:nvSpPr>
        <p:spPr>
          <a:xfrm>
            <a:off x="6762750" y="2436018"/>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Layout:</a:t>
            </a:r>
            <a:r>
              <a:rPr lang="en-US" sz="1650" b="0" i="0" u="none" strike="noStrike" cap="none">
                <a:solidFill>
                  <a:srgbClr val="CBD5E1"/>
                </a:solidFill>
                <a:latin typeface="DM Sans"/>
                <a:ea typeface="DM Sans"/>
                <a:cs typeface="DM Sans"/>
                <a:sym typeface="DM Sans"/>
              </a:rPr>
              <a:t> Calculates geometry (Size, Position). Changes here can ripple up and down the tree.</a:t>
            </a:r>
            <a:endParaRPr/>
          </a:p>
        </p:txBody>
      </p:sp>
      <p:sp>
        <p:nvSpPr>
          <p:cNvPr id="158" name="Google Shape;158;p18"/>
          <p:cNvSpPr txBox="1"/>
          <p:nvPr/>
        </p:nvSpPr>
        <p:spPr>
          <a:xfrm>
            <a:off x="6762750" y="3344465"/>
            <a:ext cx="48577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Painting:</a:t>
            </a:r>
            <a:r>
              <a:rPr lang="en-US" sz="1650" b="0" i="0" u="none" strike="noStrike" cap="none">
                <a:solidFill>
                  <a:srgbClr val="CBD5E1"/>
                </a:solidFill>
                <a:latin typeface="DM Sans"/>
                <a:ea typeface="DM Sans"/>
                <a:cs typeface="DM Sans"/>
                <a:sym typeface="DM Sans"/>
              </a:rPr>
              <a:t> Issues draw commands to layers.</a:t>
            </a:r>
            <a:endParaRPr/>
          </a:p>
        </p:txBody>
      </p:sp>
      <p:sp>
        <p:nvSpPr>
          <p:cNvPr id="159" name="Google Shape;159;p18"/>
          <p:cNvSpPr txBox="1"/>
          <p:nvPr/>
        </p:nvSpPr>
        <p:spPr>
          <a:xfrm>
            <a:off x="6762750" y="3917751"/>
            <a:ext cx="48577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Compositing:</a:t>
            </a:r>
            <a:r>
              <a:rPr lang="en-US" sz="1650" b="0" i="0" u="none" strike="noStrike" cap="none">
                <a:solidFill>
                  <a:srgbClr val="CBD5E1"/>
                </a:solidFill>
                <a:latin typeface="DM Sans"/>
                <a:ea typeface="DM Sans"/>
                <a:cs typeface="DM Sans"/>
                <a:sym typeface="DM Sans"/>
              </a:rPr>
              <a:t> Stacks layers for the GPU.</a:t>
            </a:r>
            <a:endParaRPr/>
          </a:p>
        </p:txBody>
      </p:sp>
      <p:sp>
        <p:nvSpPr>
          <p:cNvPr id="160" name="Google Shape;160;p18"/>
          <p:cNvSpPr txBox="1"/>
          <p:nvPr/>
        </p:nvSpPr>
        <p:spPr>
          <a:xfrm>
            <a:off x="6762750" y="4491037"/>
            <a:ext cx="4857750" cy="13406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Persistence:</a:t>
            </a:r>
            <a:r>
              <a:rPr lang="en-US" sz="1650" b="0" i="0" u="none" strike="noStrike" cap="none">
                <a:solidFill>
                  <a:srgbClr val="CBD5E1"/>
                </a:solidFill>
                <a:latin typeface="DM Sans"/>
                <a:ea typeface="DM Sans"/>
                <a:cs typeface="DM Sans"/>
                <a:sym typeface="DM Sans"/>
              </a:rPr>
              <a:t> These objects are expensive to instantiate and initialize. The goal of the framework is to keep them alive as long as possible.</a:t>
            </a:r>
            <a:endParaRPr/>
          </a:p>
        </p:txBody>
      </p:sp>
      <p:sp>
        <p:nvSpPr>
          <p:cNvPr id="161" name="Google Shape;161;p18"/>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3. The RenderObject Tree</a:t>
            </a:r>
            <a:endParaRPr/>
          </a:p>
        </p:txBody>
      </p:sp>
      <p:sp>
        <p:nvSpPr>
          <p:cNvPr id="162" name="Google Shape;162;p18"/>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3" name="Google Shape;163;p18" descr="image.png"/>
          <p:cNvPicPr preferRelativeResize="0"/>
          <p:nvPr/>
        </p:nvPicPr>
        <p:blipFill rotWithShape="1">
          <a:blip r:embed="rId6">
            <a:alphaModFix/>
          </a:blip>
          <a:srcRect/>
          <a:stretch/>
        </p:blipFill>
        <p:spPr>
          <a:xfrm>
            <a:off x="6381750" y="2436018"/>
            <a:ext cx="209550" cy="219075"/>
          </a:xfrm>
          <a:prstGeom prst="rect">
            <a:avLst/>
          </a:prstGeom>
          <a:noFill/>
          <a:ln>
            <a:noFill/>
          </a:ln>
        </p:spPr>
      </p:pic>
      <p:pic>
        <p:nvPicPr>
          <p:cNvPr id="164" name="Google Shape;164;p18" descr="image.png"/>
          <p:cNvPicPr preferRelativeResize="0"/>
          <p:nvPr/>
        </p:nvPicPr>
        <p:blipFill rotWithShape="1">
          <a:blip r:embed="rId6">
            <a:alphaModFix/>
          </a:blip>
          <a:srcRect/>
          <a:stretch/>
        </p:blipFill>
        <p:spPr>
          <a:xfrm>
            <a:off x="6381750" y="3344465"/>
            <a:ext cx="209550" cy="219075"/>
          </a:xfrm>
          <a:prstGeom prst="rect">
            <a:avLst/>
          </a:prstGeom>
          <a:noFill/>
          <a:ln>
            <a:noFill/>
          </a:ln>
        </p:spPr>
      </p:pic>
      <p:pic>
        <p:nvPicPr>
          <p:cNvPr id="165" name="Google Shape;165;p18" descr="image.png"/>
          <p:cNvPicPr preferRelativeResize="0"/>
          <p:nvPr/>
        </p:nvPicPr>
        <p:blipFill rotWithShape="1">
          <a:blip r:embed="rId6">
            <a:alphaModFix/>
          </a:blip>
          <a:srcRect/>
          <a:stretch/>
        </p:blipFill>
        <p:spPr>
          <a:xfrm>
            <a:off x="6381750" y="3917751"/>
            <a:ext cx="209550" cy="219075"/>
          </a:xfrm>
          <a:prstGeom prst="rect">
            <a:avLst/>
          </a:prstGeom>
          <a:noFill/>
          <a:ln>
            <a:noFill/>
          </a:ln>
        </p:spPr>
      </p:pic>
      <p:pic>
        <p:nvPicPr>
          <p:cNvPr id="166" name="Google Shape;166;p18" descr="image.png"/>
          <p:cNvPicPr preferRelativeResize="0"/>
          <p:nvPr/>
        </p:nvPicPr>
        <p:blipFill rotWithShape="1">
          <a:blip r:embed="rId6">
            <a:alphaModFix/>
          </a:blip>
          <a:srcRect/>
          <a:stretch/>
        </p:blipFill>
        <p:spPr>
          <a:xfrm>
            <a:off x="6381750" y="4491037"/>
            <a:ext cx="209550" cy="219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2" name="Google Shape;172;p19" descr="image.png"/>
          <p:cNvPicPr preferRelativeResize="0"/>
          <p:nvPr/>
        </p:nvPicPr>
        <p:blipFill rotWithShape="1">
          <a:blip r:embed="rId4">
            <a:alphaModFix/>
          </a:blip>
          <a:srcRect/>
          <a:stretch/>
        </p:blipFill>
        <p:spPr>
          <a:xfrm>
            <a:off x="6381750" y="2100262"/>
            <a:ext cx="5238750" cy="3810000"/>
          </a:xfrm>
          <a:prstGeom prst="rect">
            <a:avLst/>
          </a:prstGeom>
          <a:noFill/>
          <a:ln>
            <a:noFill/>
          </a:ln>
        </p:spPr>
      </p:pic>
      <p:sp>
        <p:nvSpPr>
          <p:cNvPr id="173" name="Google Shape;173;p19"/>
          <p:cNvSpPr txBox="1"/>
          <p:nvPr/>
        </p:nvSpPr>
        <p:spPr>
          <a:xfrm>
            <a:off x="571500" y="2499568"/>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Avoiding the Performance Trap</a:t>
            </a:r>
            <a:endParaRPr/>
          </a:p>
        </p:txBody>
      </p:sp>
      <p:sp>
        <p:nvSpPr>
          <p:cNvPr id="174" name="Google Shape;174;p19"/>
          <p:cNvSpPr txBox="1"/>
          <p:nvPr/>
        </p:nvSpPr>
        <p:spPr>
          <a:xfrm>
            <a:off x="571500" y="2994868"/>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In lists or collections, changing order without Keys confuses the diffing algorithm.</a:t>
            </a:r>
            <a:endParaRPr/>
          </a:p>
        </p:txBody>
      </p:sp>
      <p:sp>
        <p:nvSpPr>
          <p:cNvPr id="175" name="Google Shape;175;p19"/>
          <p:cNvSpPr txBox="1"/>
          <p:nvPr/>
        </p:nvSpPr>
        <p:spPr>
          <a:xfrm>
            <a:off x="571500" y="3987254"/>
            <a:ext cx="523875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Without Keys:</a:t>
            </a:r>
            <a:r>
              <a:rPr lang="en-US" sz="1200" b="0" i="0" u="none" strike="noStrike" cap="none">
                <a:solidFill>
                  <a:srgbClr val="CBD5E1"/>
                </a:solidFill>
                <a:latin typeface="DM Sans"/>
                <a:ea typeface="DM Sans"/>
                <a:cs typeface="DM Sans"/>
                <a:sym typeface="DM Sans"/>
              </a:rPr>
              <a:t> Flutter matches by position. If types match, it overwrites the state. If types differ, it destroys and recreates RenderObjects unnecessarily.</a:t>
            </a:r>
            <a:endParaRPr/>
          </a:p>
        </p:txBody>
      </p:sp>
      <p:sp>
        <p:nvSpPr>
          <p:cNvPr id="176" name="Google Shape;176;p19"/>
          <p:cNvSpPr txBox="1"/>
          <p:nvPr/>
        </p:nvSpPr>
        <p:spPr>
          <a:xfrm>
            <a:off x="571500" y="4870995"/>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With Keys:</a:t>
            </a:r>
            <a:r>
              <a:rPr lang="en-US" sz="1200" b="0" i="0" u="none" strike="noStrike" cap="none">
                <a:solidFill>
                  <a:srgbClr val="CBD5E1"/>
                </a:solidFill>
                <a:latin typeface="DM Sans"/>
                <a:ea typeface="DM Sans"/>
                <a:cs typeface="DM Sans"/>
                <a:sym typeface="DM Sans"/>
              </a:rPr>
              <a:t> Flutter identifies the move. It physically moves the RenderObject in memory, preserving its state and internal caches.</a:t>
            </a:r>
            <a:endParaRPr/>
          </a:p>
        </p:txBody>
      </p:sp>
      <p:pic>
        <p:nvPicPr>
          <p:cNvPr id="177" name="Google Shape;177;p19" descr="image.png"/>
          <p:cNvPicPr preferRelativeResize="0"/>
          <p:nvPr/>
        </p:nvPicPr>
        <p:blipFill rotWithShape="1">
          <a:blip r:embed="rId5">
            <a:alphaModFix/>
          </a:blip>
          <a:srcRect/>
          <a:stretch/>
        </p:blipFill>
        <p:spPr>
          <a:xfrm>
            <a:off x="6381750" y="2100262"/>
            <a:ext cx="5238750" cy="3810000"/>
          </a:xfrm>
          <a:prstGeom prst="rect">
            <a:avLst/>
          </a:prstGeom>
          <a:noFill/>
          <a:ln>
            <a:noFill/>
          </a:ln>
        </p:spPr>
      </p:pic>
      <p:sp>
        <p:nvSpPr>
          <p:cNvPr id="178" name="Google Shape;178;p19"/>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The Role of Keys</a:t>
            </a:r>
            <a:endParaRPr/>
          </a:p>
        </p:txBody>
      </p:sp>
      <p:sp>
        <p:nvSpPr>
          <p:cNvPr id="179" name="Google Shape;179;p19"/>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5" name="Google Shape;185;p20" descr="image.png"/>
          <p:cNvPicPr preferRelativeResize="0"/>
          <p:nvPr/>
        </p:nvPicPr>
        <p:blipFill rotWithShape="1">
          <a:blip r:embed="rId4">
            <a:alphaModFix/>
          </a:blip>
          <a:srcRect/>
          <a:stretch/>
        </p:blipFill>
        <p:spPr>
          <a:xfrm>
            <a:off x="571500" y="2100262"/>
            <a:ext cx="5238750" cy="3810000"/>
          </a:xfrm>
          <a:prstGeom prst="rect">
            <a:avLst/>
          </a:prstGeom>
          <a:noFill/>
          <a:ln>
            <a:noFill/>
          </a:ln>
        </p:spPr>
      </p:pic>
      <p:pic>
        <p:nvPicPr>
          <p:cNvPr id="186" name="Google Shape;186;p20" descr="image.png"/>
          <p:cNvPicPr preferRelativeResize="0"/>
          <p:nvPr/>
        </p:nvPicPr>
        <p:blipFill rotWithShape="1">
          <a:blip r:embed="rId5">
            <a:alphaModFix/>
          </a:blip>
          <a:srcRect/>
          <a:stretch/>
        </p:blipFill>
        <p:spPr>
          <a:xfrm>
            <a:off x="571500" y="2100262"/>
            <a:ext cx="5238750" cy="3810000"/>
          </a:xfrm>
          <a:prstGeom prst="rect">
            <a:avLst/>
          </a:prstGeom>
          <a:noFill/>
          <a:ln>
            <a:noFill/>
          </a:ln>
        </p:spPr>
      </p:pic>
      <p:sp>
        <p:nvSpPr>
          <p:cNvPr id="187" name="Google Shape;187;p20"/>
          <p:cNvSpPr txBox="1"/>
          <p:nvPr/>
        </p:nvSpPr>
        <p:spPr>
          <a:xfrm>
            <a:off x="6381750" y="2074961"/>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"Heavy Artillery"</a:t>
            </a:r>
            <a:endParaRPr/>
          </a:p>
        </p:txBody>
      </p:sp>
      <p:sp>
        <p:nvSpPr>
          <p:cNvPr id="188" name="Google Shape;188;p20"/>
          <p:cNvSpPr txBox="1"/>
          <p:nvPr/>
        </p:nvSpPr>
        <p:spPr>
          <a:xfrm>
            <a:off x="6381750" y="2570261"/>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GlobalKeys allow reparenting (moving a widget to a totally different parent), but at a steep price.</a:t>
            </a:r>
            <a:endParaRPr/>
          </a:p>
        </p:txBody>
      </p:sp>
      <p:sp>
        <p:nvSpPr>
          <p:cNvPr id="189" name="Google Shape;189;p20"/>
          <p:cNvSpPr txBox="1"/>
          <p:nvPr/>
        </p:nvSpPr>
        <p:spPr>
          <a:xfrm>
            <a:off x="6762750" y="3210222"/>
            <a:ext cx="4857750"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a:solidFill>
                  <a:srgbClr val="CBD5E1"/>
                </a:solidFill>
                <a:latin typeface="DM Sans"/>
                <a:ea typeface="DM Sans"/>
                <a:cs typeface="DM Sans"/>
                <a:sym typeface="DM Sans"/>
              </a:rPr>
              <a:t>Tree Surgery:</a:t>
            </a:r>
            <a:r>
              <a:rPr lang="en-US" sz="1650" b="0" i="0" u="none" strike="noStrike" cap="none" dirty="0">
                <a:solidFill>
                  <a:srgbClr val="CBD5E1"/>
                </a:solidFill>
                <a:latin typeface="DM Sans"/>
                <a:ea typeface="DM Sans"/>
                <a:cs typeface="DM Sans"/>
                <a:sym typeface="DM Sans"/>
              </a:rPr>
              <a:t> The Element must be detached and re-attached (O(N) search + attach).</a:t>
            </a:r>
            <a:endParaRPr dirty="0"/>
          </a:p>
        </p:txBody>
      </p:sp>
      <p:sp>
        <p:nvSpPr>
          <p:cNvPr id="190" name="Google Shape;190;p20"/>
          <p:cNvSpPr txBox="1"/>
          <p:nvPr/>
        </p:nvSpPr>
        <p:spPr>
          <a:xfrm>
            <a:off x="6762750" y="4118669"/>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Invalidation:</a:t>
            </a:r>
            <a:r>
              <a:rPr lang="en-US" sz="1650" b="0" i="0" u="none" strike="noStrike" cap="none">
                <a:solidFill>
                  <a:srgbClr val="CBD5E1"/>
                </a:solidFill>
                <a:latin typeface="DM Sans"/>
                <a:ea typeface="DM Sans"/>
                <a:cs typeface="DM Sans"/>
                <a:sym typeface="DM Sans"/>
              </a:rPr>
              <a:t> Triggers a full layout and paint invalidation in both the old and new locations.</a:t>
            </a:r>
            <a:endParaRPr/>
          </a:p>
        </p:txBody>
      </p:sp>
      <p:sp>
        <p:nvSpPr>
          <p:cNvPr id="191" name="Google Shape;191;p20"/>
          <p:cNvSpPr txBox="1"/>
          <p:nvPr/>
        </p:nvSpPr>
        <p:spPr>
          <a:xfrm>
            <a:off x="6762750" y="5027116"/>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Inheritance Check:</a:t>
            </a:r>
            <a:r>
              <a:rPr lang="en-US" sz="1650" b="0" i="0" u="none" strike="noStrike" cap="none">
                <a:solidFill>
                  <a:srgbClr val="CBD5E1"/>
                </a:solidFill>
                <a:latin typeface="DM Sans"/>
                <a:ea typeface="DM Sans"/>
                <a:cs typeface="DM Sans"/>
                <a:sym typeface="DM Sans"/>
              </a:rPr>
              <a:t> All InheritedWidget dependencies must be re-resolved.</a:t>
            </a:r>
            <a:endParaRPr/>
          </a:p>
        </p:txBody>
      </p:sp>
      <p:sp>
        <p:nvSpPr>
          <p:cNvPr id="192" name="Google Shape;192;p20"/>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The High Cost of GlobalKeys</a:t>
            </a:r>
            <a:endParaRPr/>
          </a:p>
        </p:txBody>
      </p:sp>
      <p:sp>
        <p:nvSpPr>
          <p:cNvPr id="193" name="Google Shape;193;p20"/>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4" name="Google Shape;194;p20" descr="image.png"/>
          <p:cNvPicPr preferRelativeResize="0"/>
          <p:nvPr/>
        </p:nvPicPr>
        <p:blipFill rotWithShape="1">
          <a:blip r:embed="rId6">
            <a:alphaModFix/>
          </a:blip>
          <a:srcRect/>
          <a:stretch/>
        </p:blipFill>
        <p:spPr>
          <a:xfrm>
            <a:off x="6381750" y="3210222"/>
            <a:ext cx="209550" cy="219075"/>
          </a:xfrm>
          <a:prstGeom prst="rect">
            <a:avLst/>
          </a:prstGeom>
          <a:noFill/>
          <a:ln>
            <a:noFill/>
          </a:ln>
        </p:spPr>
      </p:pic>
      <p:pic>
        <p:nvPicPr>
          <p:cNvPr id="195" name="Google Shape;195;p20" descr="image.png"/>
          <p:cNvPicPr preferRelativeResize="0"/>
          <p:nvPr/>
        </p:nvPicPr>
        <p:blipFill rotWithShape="1">
          <a:blip r:embed="rId6">
            <a:alphaModFix/>
          </a:blip>
          <a:srcRect/>
          <a:stretch/>
        </p:blipFill>
        <p:spPr>
          <a:xfrm>
            <a:off x="6381750" y="4118669"/>
            <a:ext cx="209550" cy="219075"/>
          </a:xfrm>
          <a:prstGeom prst="rect">
            <a:avLst/>
          </a:prstGeom>
          <a:noFill/>
          <a:ln>
            <a:noFill/>
          </a:ln>
        </p:spPr>
      </p:pic>
      <p:pic>
        <p:nvPicPr>
          <p:cNvPr id="196" name="Google Shape;196;p20" descr="image.png"/>
          <p:cNvPicPr preferRelativeResize="0"/>
          <p:nvPr/>
        </p:nvPicPr>
        <p:blipFill rotWithShape="1">
          <a:blip r:embed="rId6">
            <a:alphaModFix/>
          </a:blip>
          <a:srcRect/>
          <a:stretch/>
        </p:blipFill>
        <p:spPr>
          <a:xfrm>
            <a:off x="6381750" y="5027116"/>
            <a:ext cx="209550" cy="219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2" name="Google Shape;202;p21" descr="image.png"/>
          <p:cNvPicPr preferRelativeResize="0"/>
          <p:nvPr/>
        </p:nvPicPr>
        <p:blipFill rotWithShape="1">
          <a:blip r:embed="rId4">
            <a:alphaModFix/>
          </a:blip>
          <a:srcRect/>
          <a:stretch/>
        </p:blipFill>
        <p:spPr>
          <a:xfrm>
            <a:off x="6381750" y="2100262"/>
            <a:ext cx="5238750" cy="3810000"/>
          </a:xfrm>
          <a:prstGeom prst="rect">
            <a:avLst/>
          </a:prstGeom>
          <a:noFill/>
          <a:ln>
            <a:noFill/>
          </a:ln>
        </p:spPr>
      </p:pic>
      <p:sp>
        <p:nvSpPr>
          <p:cNvPr id="203" name="Google Shape;203;p21"/>
          <p:cNvSpPr txBox="1"/>
          <p:nvPr/>
        </p:nvSpPr>
        <p:spPr>
          <a:xfrm>
            <a:off x="571500" y="2743348"/>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Constraints Down, Sizes Up</a:t>
            </a:r>
            <a:endParaRPr/>
          </a:p>
        </p:txBody>
      </p:sp>
      <p:sp>
        <p:nvSpPr>
          <p:cNvPr id="204" name="Google Shape;204;p21"/>
          <p:cNvSpPr txBox="1"/>
          <p:nvPr/>
        </p:nvSpPr>
        <p:spPr>
          <a:xfrm>
            <a:off x="571500" y="3238648"/>
            <a:ext cx="523875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Standard layout is a single-pass $O(N)$ depth-first traversal.</a:t>
            </a:r>
            <a:endParaRPr/>
          </a:p>
        </p:txBody>
      </p:sp>
      <p:sp>
        <p:nvSpPr>
          <p:cNvPr id="205" name="Google Shape;205;p21"/>
          <p:cNvSpPr txBox="1"/>
          <p:nvPr/>
        </p:nvSpPr>
        <p:spPr>
          <a:xfrm>
            <a:off x="571500" y="3987254"/>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Relayout Boundaries:</a:t>
            </a:r>
            <a:r>
              <a:rPr lang="en-US" sz="1200" b="0" i="0" u="none" strike="noStrike" cap="none">
                <a:solidFill>
                  <a:srgbClr val="CBD5E1"/>
                </a:solidFill>
                <a:latin typeface="DM Sans"/>
                <a:ea typeface="DM Sans"/>
                <a:cs typeface="DM Sans"/>
                <a:sym typeface="DM Sans"/>
              </a:rPr>
              <a:t> RenderObjects that decouple child layout from parent layout. They act as firewalls, stopping the propagation of dirty flags.</a:t>
            </a:r>
            <a:endParaRPr/>
          </a:p>
        </p:txBody>
      </p:sp>
      <p:sp>
        <p:nvSpPr>
          <p:cNvPr id="206" name="Google Shape;206;p21"/>
          <p:cNvSpPr txBox="1"/>
          <p:nvPr/>
        </p:nvSpPr>
        <p:spPr>
          <a:xfrm>
            <a:off x="571500" y="4627215"/>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The Trap:</a:t>
            </a:r>
            <a:r>
              <a:rPr lang="en-US" sz="1200" b="0" i="0" u="none" strike="noStrike" cap="none">
                <a:solidFill>
                  <a:srgbClr val="CBD5E1"/>
                </a:solidFill>
                <a:latin typeface="DM Sans"/>
                <a:ea typeface="DM Sans"/>
                <a:cs typeface="DM Sans"/>
                <a:sym typeface="DM Sans"/>
              </a:rPr>
              <a:t> Intrinsic Sizing (e.g., `IntrinsicWidth`). Violates single-pass rule. Can cause $O(N^2)$ complexity in nested scenarios.</a:t>
            </a:r>
            <a:endParaRPr/>
          </a:p>
        </p:txBody>
      </p:sp>
      <p:pic>
        <p:nvPicPr>
          <p:cNvPr id="207" name="Google Shape;207;p21" descr="image.png"/>
          <p:cNvPicPr preferRelativeResize="0"/>
          <p:nvPr/>
        </p:nvPicPr>
        <p:blipFill rotWithShape="1">
          <a:blip r:embed="rId5">
            <a:alphaModFix/>
          </a:blip>
          <a:srcRect/>
          <a:stretch/>
        </p:blipFill>
        <p:spPr>
          <a:xfrm>
            <a:off x="6381750" y="2100262"/>
            <a:ext cx="5238750" cy="3810000"/>
          </a:xfrm>
          <a:prstGeom prst="rect">
            <a:avLst/>
          </a:prstGeom>
          <a:noFill/>
          <a:ln>
            <a:noFill/>
          </a:ln>
        </p:spPr>
      </p:pic>
      <p:sp>
        <p:nvSpPr>
          <p:cNvPr id="208" name="Google Shape;208;p21"/>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Layout Dynamics</a:t>
            </a:r>
            <a:endParaRPr/>
          </a:p>
        </p:txBody>
      </p:sp>
      <p:sp>
        <p:nvSpPr>
          <p:cNvPr id="209" name="Google Shape;209;p21"/>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5" name="Google Shape;215;p22" descr="image.png"/>
          <p:cNvPicPr preferRelativeResize="0"/>
          <p:nvPr/>
        </p:nvPicPr>
        <p:blipFill rotWithShape="1">
          <a:blip r:embed="rId4">
            <a:alphaModFix/>
          </a:blip>
          <a:srcRect/>
          <a:stretch/>
        </p:blipFill>
        <p:spPr>
          <a:xfrm>
            <a:off x="6381750" y="2819400"/>
            <a:ext cx="5238750" cy="1247923"/>
          </a:xfrm>
          <a:prstGeom prst="rect">
            <a:avLst/>
          </a:prstGeom>
          <a:noFill/>
          <a:ln>
            <a:noFill/>
          </a:ln>
        </p:spPr>
      </p:pic>
      <p:sp>
        <p:nvSpPr>
          <p:cNvPr id="216" name="Google Shape;216;p22"/>
          <p:cNvSpPr txBox="1"/>
          <p:nvPr/>
        </p:nvSpPr>
        <p:spPr>
          <a:xfrm>
            <a:off x="571500" y="3239541"/>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Isolation vs. Memory</a:t>
            </a:r>
            <a:endParaRPr/>
          </a:p>
        </p:txBody>
      </p:sp>
      <p:sp>
        <p:nvSpPr>
          <p:cNvPr id="217" name="Google Shape;217;p22"/>
          <p:cNvSpPr txBox="1"/>
          <p:nvPr/>
        </p:nvSpPr>
        <p:spPr>
          <a:xfrm>
            <a:off x="571500" y="3734841"/>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`RepaintBoundary` creates a separate layer in the compositor. This stops paint invalidation from spreading.</a:t>
            </a:r>
            <a:endParaRPr/>
          </a:p>
        </p:txBody>
      </p:sp>
      <p:sp>
        <p:nvSpPr>
          <p:cNvPr id="218" name="Google Shape;218;p22"/>
          <p:cNvSpPr txBox="1"/>
          <p:nvPr/>
        </p:nvSpPr>
        <p:spPr>
          <a:xfrm>
            <a:off x="571500" y="4374802"/>
            <a:ext cx="523875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However, it consumes Video RAM (VRAM) to store the rasterized texture.</a:t>
            </a:r>
            <a:endParaRPr/>
          </a:p>
        </p:txBody>
      </p:sp>
      <p:sp>
        <p:nvSpPr>
          <p:cNvPr id="219" name="Google Shape;219;p22"/>
          <p:cNvSpPr txBox="1"/>
          <p:nvPr/>
        </p:nvSpPr>
        <p:spPr>
          <a:xfrm>
            <a:off x="6381750" y="2533650"/>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Merriweather"/>
                <a:ea typeface="Merriweather"/>
                <a:cs typeface="Merriweather"/>
                <a:sym typeface="Merriweather"/>
              </a:rPr>
              <a:t>The VRAM Formula</a:t>
            </a:r>
            <a:endParaRPr/>
          </a:p>
        </p:txBody>
      </p:sp>
      <p:sp>
        <p:nvSpPr>
          <p:cNvPr id="220" name="Google Shape;220;p22"/>
          <p:cNvSpPr txBox="1"/>
          <p:nvPr/>
        </p:nvSpPr>
        <p:spPr>
          <a:xfrm>
            <a:off x="6381750" y="4038748"/>
            <a:ext cx="523875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94A3B8"/>
                </a:solidFill>
                <a:latin typeface="DM Sans"/>
                <a:ea typeface="DM Sans"/>
                <a:cs typeface="DM Sans"/>
                <a:sym typeface="DM Sans"/>
              </a:rPr>
              <a:t>(4 bytes for RGBA)</a:t>
            </a:r>
            <a:endParaRPr/>
          </a:p>
        </p:txBody>
      </p:sp>
      <p:sp>
        <p:nvSpPr>
          <p:cNvPr id="221" name="Google Shape;221;p22"/>
          <p:cNvSpPr txBox="1"/>
          <p:nvPr/>
        </p:nvSpPr>
        <p:spPr>
          <a:xfrm>
            <a:off x="6381750" y="4836914"/>
            <a:ext cx="52387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CBD5E1"/>
                </a:solidFill>
                <a:latin typeface="DM Sans"/>
                <a:ea typeface="DM Sans"/>
                <a:cs typeface="DM Sans"/>
                <a:sym typeface="DM Sans"/>
              </a:rPr>
              <a:t>Anti-Pattern:</a:t>
            </a:r>
            <a:r>
              <a:rPr lang="en-US" sz="1200" b="0" i="0" u="none" strike="noStrike" cap="none">
                <a:solidFill>
                  <a:srgbClr val="CBD5E1"/>
                </a:solidFill>
                <a:latin typeface="DM Sans"/>
                <a:ea typeface="DM Sans"/>
                <a:cs typeface="DM Sans"/>
                <a:sym typeface="DM Sans"/>
              </a:rPr>
              <a:t> Wrapping every item in a scrolling list. This "shatters" the layer tree and explodes VRAM usage.</a:t>
            </a:r>
            <a:endParaRPr/>
          </a:p>
        </p:txBody>
      </p:sp>
      <p:pic>
        <p:nvPicPr>
          <p:cNvPr id="222" name="Google Shape;222;p22" descr="image.png"/>
          <p:cNvPicPr preferRelativeResize="0"/>
          <p:nvPr/>
        </p:nvPicPr>
        <p:blipFill rotWithShape="1">
          <a:blip r:embed="rId5">
            <a:alphaModFix/>
          </a:blip>
          <a:srcRect/>
          <a:stretch/>
        </p:blipFill>
        <p:spPr>
          <a:xfrm>
            <a:off x="6381750" y="3314700"/>
            <a:ext cx="5238750" cy="257323"/>
          </a:xfrm>
          <a:prstGeom prst="rect">
            <a:avLst/>
          </a:prstGeom>
          <a:noFill/>
          <a:ln>
            <a:noFill/>
          </a:ln>
        </p:spPr>
      </p:pic>
      <p:sp>
        <p:nvSpPr>
          <p:cNvPr id="223" name="Google Shape;223;p22"/>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RepaintBoundaries &amp; VRAM</a:t>
            </a:r>
            <a:endParaRPr/>
          </a:p>
        </p:txBody>
      </p:sp>
      <p:sp>
        <p:nvSpPr>
          <p:cNvPr id="224" name="Google Shape;224;p22"/>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0" name="Google Shape;230;p23"/>
          <p:cNvSpPr txBox="1"/>
          <p:nvPr/>
        </p:nvSpPr>
        <p:spPr>
          <a:xfrm>
            <a:off x="571500" y="2001291"/>
            <a:ext cx="110490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DM Sans"/>
                <a:ea typeface="DM Sans"/>
                <a:cs typeface="DM Sans"/>
                <a:sym typeface="DM Sans"/>
              </a:rPr>
              <a:t>The engine (C++) decides when to rasterize vectors to bitmaps based on `isComplex` and `willChange` hints.</a:t>
            </a:r>
            <a:endParaRPr/>
          </a:p>
        </p:txBody>
      </p:sp>
      <p:graphicFrame>
        <p:nvGraphicFramePr>
          <p:cNvPr id="231" name="Google Shape;231;p23"/>
          <p:cNvGraphicFramePr/>
          <p:nvPr/>
        </p:nvGraphicFramePr>
        <p:xfrm>
          <a:off x="571500" y="2435572"/>
          <a:ext cx="11049000" cy="3726100"/>
        </p:xfrm>
        <a:graphic>
          <a:graphicData uri="http://schemas.openxmlformats.org/drawingml/2006/table">
            <a:tbl>
              <a:tblPr firstRow="1" bandRow="1">
                <a:noFill/>
              </a:tblPr>
              <a:tblGrid>
                <a:gridCol w="2209800">
                  <a:extLst>
                    <a:ext uri="{9D8B030D-6E8A-4147-A177-3AD203B41FA5}">
                      <a16:colId xmlns:a16="http://schemas.microsoft.com/office/drawing/2014/main" val="20000"/>
                    </a:ext>
                  </a:extLst>
                </a:gridCol>
                <a:gridCol w="4476150">
                  <a:extLst>
                    <a:ext uri="{9D8B030D-6E8A-4147-A177-3AD203B41FA5}">
                      <a16:colId xmlns:a16="http://schemas.microsoft.com/office/drawing/2014/main" val="20001"/>
                    </a:ext>
                  </a:extLst>
                </a:gridCol>
                <a:gridCol w="4363050">
                  <a:extLst>
                    <a:ext uri="{9D8B030D-6E8A-4147-A177-3AD203B41FA5}">
                      <a16:colId xmlns:a16="http://schemas.microsoft.com/office/drawing/2014/main" val="20002"/>
                    </a:ext>
                  </a:extLst>
                </a:gridCol>
              </a:tblGrid>
              <a:tr h="931525">
                <a:tc>
                  <a:txBody>
                    <a:bodyPr/>
                    <a:lstStyle/>
                    <a:p>
                      <a:pPr marL="0" marR="0" lvl="0" indent="0" algn="l" rtl="0">
                        <a:spcBef>
                          <a:spcPts val="0"/>
                        </a:spcBef>
                        <a:spcAft>
                          <a:spcPts val="0"/>
                        </a:spcAft>
                        <a:buNone/>
                      </a:pPr>
                      <a:r>
                        <a:rPr lang="en-US" sz="1650" b="1" i="0" u="none" strike="noStrike" cap="none">
                          <a:solidFill>
                            <a:srgbClr val="38BDF8"/>
                          </a:solidFill>
                          <a:latin typeface="DM Sans"/>
                          <a:ea typeface="DM Sans"/>
                          <a:cs typeface="DM Sans"/>
                          <a:sym typeface="DM Sans"/>
                        </a:rPr>
                        <a:t>Feature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8BDF8"/>
                          </a:solidFill>
                          <a:latin typeface="DM Sans"/>
                          <a:ea typeface="DM Sans"/>
                          <a:cs typeface="DM Sans"/>
                          <a:sym typeface="DM Sans"/>
                        </a:rPr>
                        <a:t>Skia (Legacy)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38BDF8"/>
                          </a:solidFill>
                          <a:latin typeface="DM Sans"/>
                          <a:ea typeface="DM Sans"/>
                          <a:cs typeface="DM Sans"/>
                          <a:sym typeface="DM Sans"/>
                        </a:rPr>
                        <a:t>Impeller (Modern)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931525">
                <a:tc>
                  <a:txBody>
                    <a:bodyPr/>
                    <a:lstStyle/>
                    <a:p>
                      <a:pPr marL="0" marR="0" lvl="0" indent="0" algn="l" rtl="0">
                        <a:spcBef>
                          <a:spcPts val="0"/>
                        </a:spcBef>
                        <a:spcAft>
                          <a:spcPts val="0"/>
                        </a:spcAft>
                        <a:buNone/>
                      </a:pPr>
                      <a:r>
                        <a:rPr lang="en-US" sz="1500" b="1" i="0" u="none" strike="noStrike" cap="none">
                          <a:solidFill>
                            <a:srgbClr val="CBD5E1"/>
                          </a:solidFill>
                          <a:latin typeface="DM Sans"/>
                          <a:ea typeface="DM Sans"/>
                          <a:cs typeface="DM Sans"/>
                          <a:sym typeface="DM Sans"/>
                        </a:rPr>
                        <a:t>Shaders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DM Sans"/>
                          <a:ea typeface="DM Sans"/>
                          <a:cs typeface="DM Sans"/>
                          <a:sym typeface="DM Sans"/>
                        </a:rPr>
                        <a:t>Runtime Compilation (JIT). Causes "Jank" on first run.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DM Sans"/>
                          <a:ea typeface="DM Sans"/>
                          <a:cs typeface="DM Sans"/>
                          <a:sym typeface="DM Sans"/>
                        </a:rPr>
                        <a:t>Ahead-of-Time (AOT) Compilation. Pre-compiled shaders.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31525">
                <a:tc>
                  <a:txBody>
                    <a:bodyPr/>
                    <a:lstStyle/>
                    <a:p>
                      <a:pPr marL="0" marR="0" lvl="0" indent="0" algn="l" rtl="0">
                        <a:spcBef>
                          <a:spcPts val="0"/>
                        </a:spcBef>
                        <a:spcAft>
                          <a:spcPts val="0"/>
                        </a:spcAft>
                        <a:buNone/>
                      </a:pPr>
                      <a:r>
                        <a:rPr lang="en-US" sz="1500" b="1" i="0" u="none" strike="noStrike" cap="none">
                          <a:solidFill>
                            <a:srgbClr val="CBD5E1"/>
                          </a:solidFill>
                          <a:latin typeface="DM Sans"/>
                          <a:ea typeface="DM Sans"/>
                          <a:cs typeface="DM Sans"/>
                          <a:sym typeface="DM Sans"/>
                        </a:rPr>
                        <a:t>Caching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DM Sans"/>
                          <a:ea typeface="DM Sans"/>
                          <a:cs typeface="DM Sans"/>
                          <a:sym typeface="DM Sans"/>
                        </a:rPr>
                        <a:t>Heavy reliance on Raster Cache to avoid expensive draw calls.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DM Sans"/>
                          <a:ea typeface="DM Sans"/>
                          <a:cs typeface="DM Sans"/>
                          <a:sym typeface="DM Sans"/>
                        </a:rPr>
                        <a:t>Uses "Entity Pass" and UBOs. Less penalty for cache misses.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31525">
                <a:tc>
                  <a:txBody>
                    <a:bodyPr/>
                    <a:lstStyle/>
                    <a:p>
                      <a:pPr marL="0" marR="0" lvl="0" indent="0" algn="l" rtl="0">
                        <a:spcBef>
                          <a:spcPts val="0"/>
                        </a:spcBef>
                        <a:spcAft>
                          <a:spcPts val="0"/>
                        </a:spcAft>
                        <a:buNone/>
                      </a:pPr>
                      <a:r>
                        <a:rPr lang="en-US" sz="1500" b="1" i="0" u="none" strike="noStrike" cap="none">
                          <a:solidFill>
                            <a:srgbClr val="CBD5E1"/>
                          </a:solidFill>
                          <a:latin typeface="DM Sans"/>
                          <a:ea typeface="DM Sans"/>
                          <a:cs typeface="DM Sans"/>
                          <a:sym typeface="DM Sans"/>
                        </a:rPr>
                        <a:t>Performance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DM Sans"/>
                          <a:ea typeface="DM Sans"/>
                          <a:cs typeface="DM Sans"/>
                          <a:sym typeface="DM Sans"/>
                        </a:rPr>
                        <a:t>Vulnerable to shader compilation stutter.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DM Sans"/>
                          <a:ea typeface="DM Sans"/>
                          <a:cs typeface="DM Sans"/>
                          <a:sym typeface="DM Sans"/>
                        </a:rPr>
                        <a:t>Predictable performance, takes advantage of Metal/Vulkan.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2" name="Google Shape;232;p23"/>
          <p:cNvSpPr/>
          <p:nvPr/>
        </p:nvSpPr>
        <p:spPr>
          <a:xfrm>
            <a:off x="571500" y="3146970"/>
            <a:ext cx="2209800"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3"/>
          <p:cNvSpPr/>
          <p:nvPr/>
        </p:nvSpPr>
        <p:spPr>
          <a:xfrm>
            <a:off x="2781300" y="3146970"/>
            <a:ext cx="4476154"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23"/>
          <p:cNvSpPr/>
          <p:nvPr/>
        </p:nvSpPr>
        <p:spPr>
          <a:xfrm>
            <a:off x="7257454" y="3146970"/>
            <a:ext cx="4363045"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5" name="Google Shape;235;p23"/>
          <p:cNvSpPr/>
          <p:nvPr/>
        </p:nvSpPr>
        <p:spPr>
          <a:xfrm>
            <a:off x="571500" y="4147095"/>
            <a:ext cx="2209800"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23"/>
          <p:cNvSpPr/>
          <p:nvPr/>
        </p:nvSpPr>
        <p:spPr>
          <a:xfrm>
            <a:off x="2781300" y="4147095"/>
            <a:ext cx="4476154"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3"/>
          <p:cNvSpPr/>
          <p:nvPr/>
        </p:nvSpPr>
        <p:spPr>
          <a:xfrm>
            <a:off x="7257454" y="4147095"/>
            <a:ext cx="4363045"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3"/>
          <p:cNvSpPr/>
          <p:nvPr/>
        </p:nvSpPr>
        <p:spPr>
          <a:xfrm>
            <a:off x="571500" y="5147220"/>
            <a:ext cx="2209800"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23"/>
          <p:cNvSpPr/>
          <p:nvPr/>
        </p:nvSpPr>
        <p:spPr>
          <a:xfrm>
            <a:off x="2781300" y="5147220"/>
            <a:ext cx="4476154"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3"/>
          <p:cNvSpPr/>
          <p:nvPr/>
        </p:nvSpPr>
        <p:spPr>
          <a:xfrm>
            <a:off x="7257454" y="5147220"/>
            <a:ext cx="4363045"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3"/>
          <p:cNvSpPr/>
          <p:nvPr/>
        </p:nvSpPr>
        <p:spPr>
          <a:xfrm>
            <a:off x="571500" y="6147345"/>
            <a:ext cx="2209800"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23"/>
          <p:cNvSpPr/>
          <p:nvPr/>
        </p:nvSpPr>
        <p:spPr>
          <a:xfrm>
            <a:off x="2781300" y="6147345"/>
            <a:ext cx="4476154"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3"/>
          <p:cNvSpPr/>
          <p:nvPr/>
        </p:nvSpPr>
        <p:spPr>
          <a:xfrm>
            <a:off x="7257454" y="6147345"/>
            <a:ext cx="4363045" cy="9525"/>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3"/>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Raster Cache &amp; Engines</a:t>
            </a:r>
            <a:endParaRPr/>
          </a:p>
        </p:txBody>
      </p:sp>
      <p:sp>
        <p:nvSpPr>
          <p:cNvPr id="245" name="Google Shape;245;p23"/>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4" descr="image.png"/>
          <p:cNvPicPr preferRelativeResize="0"/>
          <p:nvPr/>
        </p:nvPicPr>
        <p:blipFill rotWithShape="1">
          <a:blip r:embed="rId3">
            <a:alphaModFix/>
          </a:blip>
          <a:srcRect/>
          <a:stretch/>
        </p:blipFill>
        <p:spPr>
          <a:xfrm>
            <a:off x="-19050" y="0"/>
            <a:ext cx="12192000" cy="6858000"/>
          </a:xfrm>
          <a:prstGeom prst="rect">
            <a:avLst/>
          </a:prstGeom>
          <a:noFill/>
          <a:ln>
            <a:noFill/>
          </a:ln>
        </p:spPr>
      </p:pic>
      <p:sp>
        <p:nvSpPr>
          <p:cNvPr id="271" name="Google Shape;271;p24"/>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rgbClr val="FFFFFF"/>
                </a:solidFill>
                <a:latin typeface="Merriweather Light"/>
                <a:ea typeface="Merriweather Light"/>
                <a:cs typeface="Merriweather Light"/>
                <a:sym typeface="Merriweather Light"/>
              </a:rPr>
              <a:t>Algorithmic Cost Matrix</a:t>
            </a:r>
            <a:endParaRPr dirty="0"/>
          </a:p>
        </p:txBody>
      </p:sp>
      <p:sp>
        <p:nvSpPr>
          <p:cNvPr id="272" name="Google Shape;272;p24"/>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7E8C14B2-23B4-334A-5766-B9EFC8C0A7B9}"/>
              </a:ext>
            </a:extLst>
          </p:cNvPr>
          <p:cNvGraphicFramePr>
            <a:graphicFrameLocks noGrp="1"/>
          </p:cNvGraphicFramePr>
          <p:nvPr>
            <p:extLst>
              <p:ext uri="{D42A27DB-BD31-4B8C-83A1-F6EECF244321}">
                <p14:modId xmlns:p14="http://schemas.microsoft.com/office/powerpoint/2010/main" val="2358108486"/>
              </p:ext>
            </p:extLst>
          </p:nvPr>
        </p:nvGraphicFramePr>
        <p:xfrm>
          <a:off x="571499" y="2227142"/>
          <a:ext cx="11049000" cy="3848821"/>
        </p:xfrm>
        <a:graphic>
          <a:graphicData uri="http://schemas.openxmlformats.org/drawingml/2006/table">
            <a:tbl>
              <a:tblPr/>
              <a:tblGrid>
                <a:gridCol w="3683000">
                  <a:extLst>
                    <a:ext uri="{9D8B030D-6E8A-4147-A177-3AD203B41FA5}">
                      <a16:colId xmlns:a16="http://schemas.microsoft.com/office/drawing/2014/main" val="3542204534"/>
                    </a:ext>
                  </a:extLst>
                </a:gridCol>
                <a:gridCol w="3683000">
                  <a:extLst>
                    <a:ext uri="{9D8B030D-6E8A-4147-A177-3AD203B41FA5}">
                      <a16:colId xmlns:a16="http://schemas.microsoft.com/office/drawing/2014/main" val="1662652667"/>
                    </a:ext>
                  </a:extLst>
                </a:gridCol>
                <a:gridCol w="3683000">
                  <a:extLst>
                    <a:ext uri="{9D8B030D-6E8A-4147-A177-3AD203B41FA5}">
                      <a16:colId xmlns:a16="http://schemas.microsoft.com/office/drawing/2014/main" val="3403154160"/>
                    </a:ext>
                  </a:extLst>
                </a:gridCol>
              </a:tblGrid>
              <a:tr h="542087">
                <a:tc>
                  <a:txBody>
                    <a:bodyPr/>
                    <a:lstStyle/>
                    <a:p>
                      <a:pPr>
                        <a:buNone/>
                      </a:pPr>
                      <a:r>
                        <a:rPr lang="en-US" b="1" dirty="0">
                          <a:solidFill>
                            <a:schemeClr val="bg1"/>
                          </a:solidFill>
                          <a:effectLst/>
                          <a:latin typeface="Google Sans Text"/>
                        </a:rPr>
                        <a:t>Operation</a:t>
                      </a:r>
                      <a:endParaRPr lang="en-US" dirty="0">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solidFill>
                            <a:schemeClr val="bg1"/>
                          </a:solidFill>
                          <a:effectLst/>
                          <a:latin typeface="Google Sans Text"/>
                        </a:rPr>
                        <a:t>Complexity</a:t>
                      </a:r>
                      <a:endParaRPr lang="en-US">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solidFill>
                            <a:schemeClr val="bg1"/>
                          </a:solidFill>
                          <a:effectLst/>
                          <a:latin typeface="Google Sans Text"/>
                        </a:rPr>
                        <a:t>Determinants of Cost</a:t>
                      </a:r>
                      <a:endParaRPr lang="en-US">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23824311"/>
                  </a:ext>
                </a:extLst>
              </a:tr>
              <a:tr h="921549">
                <a:tc>
                  <a:txBody>
                    <a:bodyPr/>
                    <a:lstStyle/>
                    <a:p>
                      <a:pPr>
                        <a:buNone/>
                      </a:pPr>
                      <a:r>
                        <a:rPr lang="en-US" b="1">
                          <a:solidFill>
                            <a:schemeClr val="bg1"/>
                          </a:solidFill>
                          <a:effectLst/>
                          <a:latin typeface="Google Sans Text"/>
                        </a:rPr>
                        <a:t>Widget Construction</a:t>
                      </a:r>
                      <a:endParaRPr lang="en-US">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solidFill>
                            <a:schemeClr val="bg1"/>
                          </a:solidFill>
                          <a:effectLst/>
                          <a:latin typeface="Google Sans Text"/>
                        </a:rPr>
                        <a:t>O(1)</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a:solidFill>
                            <a:schemeClr val="bg1"/>
                          </a:solidFill>
                          <a:effectLst/>
                          <a:latin typeface="Google Sans Text"/>
                        </a:rPr>
                        <a:t>Allocating in Eden Space (Bump pointer). Trivial.</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96643367"/>
                  </a:ext>
                </a:extLst>
              </a:tr>
              <a:tr h="542087">
                <a:tc>
                  <a:txBody>
                    <a:bodyPr/>
                    <a:lstStyle/>
                    <a:p>
                      <a:pPr>
                        <a:buNone/>
                      </a:pPr>
                      <a:r>
                        <a:rPr lang="en-US" b="1">
                          <a:solidFill>
                            <a:schemeClr val="bg1"/>
                          </a:solidFill>
                          <a:effectLst/>
                          <a:latin typeface="Google Sans Text"/>
                        </a:rPr>
                        <a:t>Tree Reconciliation</a:t>
                      </a:r>
                      <a:endParaRPr lang="en-US">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solidFill>
                            <a:schemeClr val="bg1"/>
                          </a:solidFill>
                          <a:effectLst/>
                          <a:latin typeface="Google Sans Text"/>
                        </a:rPr>
                        <a:t>O(N)</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a:solidFill>
                            <a:schemeClr val="bg1"/>
                          </a:solidFill>
                          <a:effectLst/>
                          <a:latin typeface="Google Sans Text"/>
                        </a:rPr>
                        <a:t>Linear scan. Optimized by Keys.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54205469"/>
                  </a:ext>
                </a:extLst>
              </a:tr>
              <a:tr h="921549">
                <a:tc>
                  <a:txBody>
                    <a:bodyPr/>
                    <a:lstStyle/>
                    <a:p>
                      <a:pPr>
                        <a:buNone/>
                      </a:pPr>
                      <a:r>
                        <a:rPr lang="en-US" b="1">
                          <a:solidFill>
                            <a:schemeClr val="bg1"/>
                          </a:solidFill>
                          <a:effectLst/>
                          <a:latin typeface="Google Sans Text"/>
                        </a:rPr>
                        <a:t>GlobalKey Reparenting</a:t>
                      </a:r>
                      <a:endParaRPr lang="en-US">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solidFill>
                            <a:schemeClr val="bg1"/>
                          </a:solidFill>
                          <a:effectLst/>
                          <a:latin typeface="Google Sans Text"/>
                        </a:rPr>
                        <a:t>O(N) + O(H)</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a:solidFill>
                            <a:schemeClr val="bg1"/>
                          </a:solidFill>
                          <a:effectLst/>
                          <a:latin typeface="Google Sans Text"/>
                        </a:rPr>
                        <a:t>Search + Tree Surgery + Layout Invalidation.</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37889766"/>
                  </a:ext>
                </a:extLst>
              </a:tr>
              <a:tr h="921549">
                <a:tc>
                  <a:txBody>
                    <a:bodyPr/>
                    <a:lstStyle/>
                    <a:p>
                      <a:pPr>
                        <a:buNone/>
                      </a:pPr>
                      <a:r>
                        <a:rPr lang="en-US" b="1">
                          <a:solidFill>
                            <a:schemeClr val="bg1"/>
                          </a:solidFill>
                          <a:effectLst/>
                          <a:latin typeface="Google Sans Text"/>
                        </a:rPr>
                        <a:t>Intrinsic Sizing</a:t>
                      </a:r>
                      <a:endParaRPr lang="en-US">
                        <a:solidFill>
                          <a:schemeClr val="bg1"/>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solidFill>
                            <a:schemeClr val="bg1"/>
                          </a:solidFill>
                          <a:effectLst/>
                          <a:latin typeface="Google Sans Text"/>
                        </a:rPr>
                        <a:t>O(N^2)</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solidFill>
                            <a:schemeClr val="bg1"/>
                          </a:solidFill>
                          <a:effectLst/>
                          <a:latin typeface="Google Sans Text"/>
                        </a:rPr>
                        <a:t>Multi-pass layout. Exponential in nested scenarios.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90745909"/>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8" name="Google Shape;278;p25"/>
          <p:cNvSpPr txBox="1"/>
          <p:nvPr/>
        </p:nvSpPr>
        <p:spPr>
          <a:xfrm>
            <a:off x="952500" y="2599729"/>
            <a:ext cx="106680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Use `const` Constructors:</a:t>
            </a:r>
            <a:r>
              <a:rPr lang="en-US" sz="1650" b="0" i="0" u="none" strike="noStrike" cap="none">
                <a:solidFill>
                  <a:srgbClr val="CBD5E1"/>
                </a:solidFill>
                <a:latin typeface="DM Sans"/>
                <a:ea typeface="DM Sans"/>
                <a:cs typeface="DM Sans"/>
                <a:sym typeface="DM Sans"/>
              </a:rPr>
              <a:t> Enables canonicalization. If a widget is const, `updateChild` short-circuits the entire subtree diffing.</a:t>
            </a:r>
            <a:endParaRPr/>
          </a:p>
        </p:txBody>
      </p:sp>
      <p:sp>
        <p:nvSpPr>
          <p:cNvPr id="279" name="Google Shape;279;p25"/>
          <p:cNvSpPr txBox="1"/>
          <p:nvPr/>
        </p:nvSpPr>
        <p:spPr>
          <a:xfrm>
            <a:off x="952500" y="3508176"/>
            <a:ext cx="106680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Manage Keys Properly:</a:t>
            </a:r>
            <a:r>
              <a:rPr lang="en-US" sz="1650" b="0" i="0" u="none" strike="noStrike" cap="none">
                <a:solidFill>
                  <a:srgbClr val="CBD5E1"/>
                </a:solidFill>
                <a:latin typeface="DM Sans"/>
                <a:ea typeface="DM Sans"/>
                <a:cs typeface="DM Sans"/>
                <a:sym typeface="DM Sans"/>
              </a:rPr>
              <a:t> Use Keys for collections that reorder. Avoid `UniqueKey` unless destruction is explicitly desired.</a:t>
            </a:r>
            <a:endParaRPr/>
          </a:p>
        </p:txBody>
      </p:sp>
      <p:sp>
        <p:nvSpPr>
          <p:cNvPr id="280" name="Google Shape;280;p25"/>
          <p:cNvSpPr txBox="1"/>
          <p:nvPr/>
        </p:nvSpPr>
        <p:spPr>
          <a:xfrm>
            <a:off x="952500" y="4416623"/>
            <a:ext cx="106680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Profile with Flame Chart:</a:t>
            </a:r>
            <a:r>
              <a:rPr lang="en-US" sz="1650" b="0" i="0" u="none" strike="noStrike" cap="none">
                <a:solidFill>
                  <a:srgbClr val="CBD5E1"/>
                </a:solidFill>
                <a:latin typeface="DM Sans"/>
                <a:ea typeface="DM Sans"/>
                <a:cs typeface="DM Sans"/>
                <a:sym typeface="DM Sans"/>
              </a:rPr>
              <a:t> Look for deep stacks in `performLayout` or `updateChild` to identify thrashing.</a:t>
            </a:r>
            <a:endParaRPr/>
          </a:p>
        </p:txBody>
      </p:sp>
      <p:sp>
        <p:nvSpPr>
          <p:cNvPr id="281" name="Google Shape;281;p25"/>
          <p:cNvSpPr txBox="1"/>
          <p:nvPr/>
        </p:nvSpPr>
        <p:spPr>
          <a:xfrm>
            <a:off x="952500" y="4989909"/>
            <a:ext cx="106680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DM Sans"/>
                <a:ea typeface="DM Sans"/>
                <a:cs typeface="DM Sans"/>
                <a:sym typeface="DM Sans"/>
              </a:rPr>
              <a:t>Isolate Turbulence:</a:t>
            </a:r>
            <a:r>
              <a:rPr lang="en-US" sz="1650" b="0" i="0" u="none" strike="noStrike" cap="none">
                <a:solidFill>
                  <a:srgbClr val="CBD5E1"/>
                </a:solidFill>
                <a:latin typeface="DM Sans"/>
                <a:ea typeface="DM Sans"/>
                <a:cs typeface="DM Sans"/>
                <a:sym typeface="DM Sans"/>
              </a:rPr>
              <a:t> Apply `RepaintBoundary` only to leaf nodes that animate (e.g., spinners), not entire lists.</a:t>
            </a:r>
            <a:endParaRPr/>
          </a:p>
        </p:txBody>
      </p:sp>
      <p:sp>
        <p:nvSpPr>
          <p:cNvPr id="282" name="Google Shape;282;p25"/>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Merriweather Light"/>
                <a:ea typeface="Merriweather Light"/>
                <a:cs typeface="Merriweather Light"/>
                <a:sym typeface="Merriweather Light"/>
              </a:rPr>
              <a:t>Optimization Best Practices</a:t>
            </a:r>
            <a:endParaRPr/>
          </a:p>
        </p:txBody>
      </p:sp>
      <p:sp>
        <p:nvSpPr>
          <p:cNvPr id="283" name="Google Shape;283;p25"/>
          <p:cNvSpPr/>
          <p:nvPr/>
        </p:nvSpPr>
        <p:spPr>
          <a:xfrm>
            <a:off x="571500" y="1333500"/>
            <a:ext cx="110490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4" name="Google Shape;284;p25" descr="image.png"/>
          <p:cNvPicPr preferRelativeResize="0"/>
          <p:nvPr/>
        </p:nvPicPr>
        <p:blipFill rotWithShape="1">
          <a:blip r:embed="rId4">
            <a:alphaModFix/>
          </a:blip>
          <a:srcRect/>
          <a:stretch/>
        </p:blipFill>
        <p:spPr>
          <a:xfrm>
            <a:off x="571500" y="2599729"/>
            <a:ext cx="209550" cy="219075"/>
          </a:xfrm>
          <a:prstGeom prst="rect">
            <a:avLst/>
          </a:prstGeom>
          <a:noFill/>
          <a:ln>
            <a:noFill/>
          </a:ln>
        </p:spPr>
      </p:pic>
      <p:pic>
        <p:nvPicPr>
          <p:cNvPr id="285" name="Google Shape;285;p25" descr="image.png"/>
          <p:cNvPicPr preferRelativeResize="0"/>
          <p:nvPr/>
        </p:nvPicPr>
        <p:blipFill rotWithShape="1">
          <a:blip r:embed="rId4">
            <a:alphaModFix/>
          </a:blip>
          <a:srcRect/>
          <a:stretch/>
        </p:blipFill>
        <p:spPr>
          <a:xfrm>
            <a:off x="571500" y="3508176"/>
            <a:ext cx="209550" cy="219075"/>
          </a:xfrm>
          <a:prstGeom prst="rect">
            <a:avLst/>
          </a:prstGeom>
          <a:noFill/>
          <a:ln>
            <a:noFill/>
          </a:ln>
        </p:spPr>
      </p:pic>
      <p:pic>
        <p:nvPicPr>
          <p:cNvPr id="286" name="Google Shape;286;p25" descr="image.png"/>
          <p:cNvPicPr preferRelativeResize="0"/>
          <p:nvPr/>
        </p:nvPicPr>
        <p:blipFill rotWithShape="1">
          <a:blip r:embed="rId4">
            <a:alphaModFix/>
          </a:blip>
          <a:srcRect/>
          <a:stretch/>
        </p:blipFill>
        <p:spPr>
          <a:xfrm>
            <a:off x="571500" y="4416623"/>
            <a:ext cx="209550" cy="219075"/>
          </a:xfrm>
          <a:prstGeom prst="rect">
            <a:avLst/>
          </a:prstGeom>
          <a:noFill/>
          <a:ln>
            <a:noFill/>
          </a:ln>
        </p:spPr>
      </p:pic>
      <p:pic>
        <p:nvPicPr>
          <p:cNvPr id="287" name="Google Shape;287;p25" descr="image.png"/>
          <p:cNvPicPr preferRelativeResize="0"/>
          <p:nvPr/>
        </p:nvPicPr>
        <p:blipFill rotWithShape="1">
          <a:blip r:embed="rId4">
            <a:alphaModFix/>
          </a:blip>
          <a:srcRect/>
          <a:stretch/>
        </p:blipFill>
        <p:spPr>
          <a:xfrm>
            <a:off x="571500" y="4989909"/>
            <a:ext cx="209550" cy="2190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3034</Words>
  <Application>Microsoft Macintosh PowerPoint</Application>
  <PresentationFormat>Widescreen</PresentationFormat>
  <Paragraphs>305</Paragraphs>
  <Slides>39</Slides>
  <Notes>39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39</vt:i4>
      </vt:variant>
    </vt:vector>
  </HeadingPairs>
  <TitlesOfParts>
    <vt:vector size="52" baseType="lpstr">
      <vt:lpstr>Google Sans Text</vt:lpstr>
      <vt:lpstr>Inter</vt:lpstr>
      <vt:lpstr>Lato</vt:lpstr>
      <vt:lpstr>Poppins</vt:lpstr>
      <vt:lpstr>Arial</vt:lpstr>
      <vt:lpstr>DM Sans</vt:lpstr>
      <vt:lpstr>Inter SemiBold</vt:lpstr>
      <vt:lpstr>Inter Light</vt:lpstr>
      <vt:lpstr>Merriweather</vt:lpstr>
      <vt:lpstr>Merriweather Light</vt:lpstr>
      <vt:lpstr>JetBrains Mono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Stefan Dinu Rusu | Tazz, IT</cp:lastModifiedBy>
  <cp:revision>8</cp:revision>
  <dcterms:modified xsi:type="dcterms:W3CDTF">2025-12-12T06:20:50Z</dcterms:modified>
</cp:coreProperties>
</file>