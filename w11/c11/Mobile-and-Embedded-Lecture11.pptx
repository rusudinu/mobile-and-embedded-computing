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Poppins" pitchFamily="2" charset="77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0E8B36A-3B13-4662-8145-97AE537BE04F}">
  <a:tblStyle styleId="{20E8B36A-3B13-4662-8145-97AE537BE04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1566862"/>
            <a:ext cx="11601450" cy="302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Performance and Energy Consumption in Mobile Applications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809750" y="4786312"/>
            <a:ext cx="8572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0C4FF"/>
                </a:solidFill>
                <a:latin typeface="Lato"/>
                <a:ea typeface="Lato"/>
                <a:cs typeface="Lato"/>
                <a:sym typeface="Lato"/>
              </a:rPr>
              <a:t>A Flutter Perspective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00325"/>
            <a:ext cx="5286375" cy="2609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600325"/>
            <a:ext cx="5286375" cy="260985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962025" y="2990850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1. Speed (Responsiveness)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62025" y="3619500"/>
            <a:ext cx="450532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The app's ability to react to user input and deliver content. This includes startup latency, smoothness of scrolling and animations, and the responsiveness of UI elements.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724650" y="2990850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2. Efficiency (Resource Use)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724650" y="3619500"/>
            <a:ext cx="4505325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The app's consumption of finite system resources. This includes memory (RAM) footprint, disk storage size, and, critically, its impact on battery life through energy consumption.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What is Mobile Performance?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04" name="Google Shape;104;p15"/>
          <p:cNvGraphicFramePr/>
          <p:nvPr>
            <p:extLst>
              <p:ext uri="{D42A27DB-BD31-4B8C-83A1-F6EECF244321}">
                <p14:modId xmlns:p14="http://schemas.microsoft.com/office/powerpoint/2010/main" val="2212111798"/>
              </p:ext>
            </p:extLst>
          </p:nvPr>
        </p:nvGraphicFramePr>
        <p:xfrm>
          <a:off x="571500" y="2276475"/>
          <a:ext cx="11049025" cy="3257525"/>
        </p:xfrm>
        <a:graphic>
          <a:graphicData uri="http://schemas.openxmlformats.org/drawingml/2006/table">
            <a:tbl>
              <a:tblPr firstRow="1" bandRow="1">
                <a:noFill/>
                <a:tableStyleId>{20E8B36A-3B13-4662-8145-97AE537BE04F}</a:tableStyleId>
              </a:tblPr>
              <a:tblGrid>
                <a:gridCol w="1468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3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7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9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4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Start Type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chemeClr val="tx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System State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Process Status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Ideal Goal (Eng)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Android Vitals (Penalty)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4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Cold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App not in memory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 created, runtime initialized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&lt; 500ms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&gt; 5s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4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Warm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 in memory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 reused, UI recreated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(Not specified)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&gt; 2s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4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Hot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App &amp; UI in memory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App brought to foreground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(Not specified)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&gt; 1.5s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5" name="Google Shape;105;p15"/>
          <p:cNvSpPr/>
          <p:nvPr/>
        </p:nvSpPr>
        <p:spPr>
          <a:xfrm>
            <a:off x="571500" y="3186112"/>
            <a:ext cx="14689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5"/>
          <p:cNvSpPr/>
          <p:nvPr/>
        </p:nvSpPr>
        <p:spPr>
          <a:xfrm>
            <a:off x="2040433" y="3186112"/>
            <a:ext cx="189354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5"/>
          <p:cNvSpPr/>
          <p:nvPr/>
        </p:nvSpPr>
        <p:spPr>
          <a:xfrm>
            <a:off x="3933973" y="3186112"/>
            <a:ext cx="294754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6881514" y="3186112"/>
            <a:ext cx="197926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5"/>
          <p:cNvSpPr/>
          <p:nvPr/>
        </p:nvSpPr>
        <p:spPr>
          <a:xfrm>
            <a:off x="8860780" y="3186112"/>
            <a:ext cx="275971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5"/>
          <p:cNvSpPr/>
          <p:nvPr/>
        </p:nvSpPr>
        <p:spPr>
          <a:xfrm>
            <a:off x="571500" y="4052887"/>
            <a:ext cx="14689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2040433" y="4052887"/>
            <a:ext cx="189354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3933973" y="4052887"/>
            <a:ext cx="294754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6881514" y="4052887"/>
            <a:ext cx="197926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8860780" y="4052887"/>
            <a:ext cx="275971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571500" y="4662487"/>
            <a:ext cx="14689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2040433" y="4662487"/>
            <a:ext cx="189354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3933973" y="4662487"/>
            <a:ext cx="294754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/>
          <p:nvPr/>
        </p:nvSpPr>
        <p:spPr>
          <a:xfrm>
            <a:off x="6881514" y="4662487"/>
            <a:ext cx="197926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/>
          <p:nvPr/>
        </p:nvSpPr>
        <p:spPr>
          <a:xfrm>
            <a:off x="8860780" y="4662487"/>
            <a:ext cx="2759719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Core Metric: Startup Time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5537"/>
            <a:ext cx="5286375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395537"/>
            <a:ext cx="5286375" cy="30194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962025" y="2786062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The Frame Budget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962025" y="3414712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The non-negotiable deadline to produce one frame. This deadline shrinks as device refresh rates increase.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724650" y="2786062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Understanding Jank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6724650" y="3414712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Jank is the "visual hiccup" from missing the frame budget. It's caused by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Frame Time Variance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, not low average FPS.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6724650" y="4100512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 game with a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consistent 30 FPS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(33ms) feels smoother than an app with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55 FPS average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but spikes of 100ms+.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1247775" y="41005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1343025" y="4100512"/>
            <a:ext cx="4124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60Hz: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1000ms / 60 =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16.67ms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1247775" y="4357687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1343025" y="4357687"/>
            <a:ext cx="4124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90Hz: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1000ms / 90 =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11.1ms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1247775" y="461486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1343025" y="4614862"/>
            <a:ext cx="4124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120Hz: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1000ms / 120 =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8.3ms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Core Metric: Rendering &amp; Jank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/>
          <p:nvPr/>
        </p:nvSpPr>
        <p:spPr>
          <a:xfrm>
            <a:off x="5619750" y="2566987"/>
            <a:ext cx="952500" cy="47625"/>
          </a:xfrm>
          <a:prstGeom prst="rect">
            <a:avLst/>
          </a:prstGeom>
          <a:solidFill>
            <a:srgbClr val="40C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3675697" y="2900362"/>
            <a:ext cx="484060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The Silent Drain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2762250" y="3948112"/>
            <a:ext cx="666750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Module 2: Understanding Energy Consumption. Apps seen as "battery hogs" are uninstalled 2.5x more frequently.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33625"/>
            <a:ext cx="3429000" cy="314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333625"/>
            <a:ext cx="3429000" cy="314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2333625"/>
            <a:ext cx="3429000" cy="314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1390888" y="3362325"/>
            <a:ext cx="179022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The Screen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866775" y="4114800"/>
            <a:ext cx="2838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OLED: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Black pixels are "off" (0 power). Dark Mode saves massive energy.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LCD: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Backlight is always on. Dark Mode provides no battery benefit.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4845843" y="3362325"/>
            <a:ext cx="250031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CPU / GPU Load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4676775" y="4114800"/>
            <a:ext cx="2838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Inefficient code causes high CPU load, which generates heat. The OS throttles the CPU to cool it, which then causes jank. An energy problem becomes a speed problem.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8700849" y="3362325"/>
            <a:ext cx="241030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Network Radio</a:t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8486775" y="4114800"/>
            <a:ext cx="2838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The "Energy Tail": The radio stays in high-power mode for 5-10 seconds *after* a request. "Chatty" apps with frequent small packets never let the radio sleep.</a:t>
            </a:r>
            <a:endParaRPr/>
          </a:p>
        </p:txBody>
      </p:sp>
      <p:pic>
        <p:nvPicPr>
          <p:cNvPr id="162" name="Google Shape;162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14550" y="2676525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67400" y="267652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20250" y="2676525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Primary Energy Drivers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/>
          <p:nvPr/>
        </p:nvSpPr>
        <p:spPr>
          <a:xfrm>
            <a:off x="5619750" y="2724150"/>
            <a:ext cx="952500" cy="47625"/>
          </a:xfrm>
          <a:prstGeom prst="rect">
            <a:avLst/>
          </a:prstGeom>
          <a:solidFill>
            <a:srgbClr val="40C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2825591" y="3057525"/>
            <a:ext cx="6540817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Flutter's Architecture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4019550" y="4105275"/>
            <a:ext cx="41529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Module 3: How Flutter Changes the Equation.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38375"/>
            <a:ext cx="52863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0"/>
          <p:cNvSpPr txBox="1"/>
          <p:nvPr/>
        </p:nvSpPr>
        <p:spPr>
          <a:xfrm>
            <a:off x="6334125" y="256222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No Native Widgets</a:t>
            </a:r>
            <a:endParaRPr/>
          </a:p>
        </p:txBody>
      </p:sp>
      <p:sp>
        <p:nvSpPr>
          <p:cNvPr id="181" name="Google Shape;181;p20"/>
          <p:cNvSpPr txBox="1"/>
          <p:nvPr/>
        </p:nvSpPr>
        <p:spPr>
          <a:xfrm>
            <a:off x="6334125" y="3190875"/>
            <a:ext cx="528637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Flutter does not act as a "bridge" to native platform widgets (like React Native). It ships its own rendering engine (Skia/Impeller) and paints every single pixel directly to the screen.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6334125" y="4133850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Pro: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Pixel-perfect UI consistency and AOT-compiled native speed.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6334125" y="4562475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Con: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Flutter is 100% responsible for the performance of its own widget set.</a:t>
            </a:r>
            <a:endParaRPr/>
          </a:p>
        </p:txBody>
      </p:sp>
      <p:pic>
        <p:nvPicPr>
          <p:cNvPr id="184" name="Google Shape;184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47900"/>
            <a:ext cx="5267325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0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Flutter "Owns the Pixels"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09775"/>
            <a:ext cx="5286375" cy="379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009775"/>
            <a:ext cx="528637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1"/>
          <p:cNvSpPr txBox="1"/>
          <p:nvPr/>
        </p:nvSpPr>
        <p:spPr>
          <a:xfrm>
            <a:off x="962025" y="2400300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The Three Trees</a:t>
            </a:r>
            <a:endParaRPr/>
          </a:p>
        </p:txBody>
      </p:sp>
      <p:sp>
        <p:nvSpPr>
          <p:cNvPr id="194" name="Google Shape;194;p21"/>
          <p:cNvSpPr txBox="1"/>
          <p:nvPr/>
        </p:nvSpPr>
        <p:spPr>
          <a:xfrm>
            <a:off x="962025" y="3028950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Flutter's optimization strategy is to separate configuration from work:</a:t>
            </a:r>
            <a:endParaRPr/>
          </a:p>
        </p:txBody>
      </p:sp>
      <p:sp>
        <p:nvSpPr>
          <p:cNvPr id="195" name="Google Shape;195;p21"/>
          <p:cNvSpPr txBox="1"/>
          <p:nvPr/>
        </p:nvSpPr>
        <p:spPr>
          <a:xfrm>
            <a:off x="6724650" y="2400300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Engine: Skia vs. Impeller</a:t>
            </a:r>
            <a:endParaRPr/>
          </a:p>
        </p:txBody>
      </p:sp>
      <p:sp>
        <p:nvSpPr>
          <p:cNvPr id="196" name="Google Shape;196;p21"/>
          <p:cNvSpPr txBox="1"/>
          <p:nvPr/>
        </p:nvSpPr>
        <p:spPr>
          <a:xfrm>
            <a:off x="6724650" y="3028950"/>
            <a:ext cx="450532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Skia (Old):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Powerful, but suffered from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runtime shader compilation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 This was the cause of "first-run jank" (e.g., the first time a blur effect appeared).</a:t>
            </a:r>
            <a:endParaRPr/>
          </a:p>
        </p:txBody>
      </p:sp>
      <p:sp>
        <p:nvSpPr>
          <p:cNvPr id="197" name="Google Shape;197;p21"/>
          <p:cNvSpPr txBox="1"/>
          <p:nvPr/>
        </p:nvSpPr>
        <p:spPr>
          <a:xfrm>
            <a:off x="6724650" y="3971925"/>
            <a:ext cx="450532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Impeller (New):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Built for Flutter. Has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no runtime shader compilation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 All shaders are pre-compiled at build time, guaranteeing predictable performance.</a:t>
            </a:r>
            <a:endParaRPr/>
          </a:p>
        </p:txBody>
      </p:sp>
      <p:sp>
        <p:nvSpPr>
          <p:cNvPr id="198" name="Google Shape;198;p21"/>
          <p:cNvSpPr txBox="1"/>
          <p:nvPr/>
        </p:nvSpPr>
        <p:spPr>
          <a:xfrm>
            <a:off x="1247775" y="3714750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99" name="Google Shape;199;p21"/>
          <p:cNvSpPr txBox="1"/>
          <p:nvPr/>
        </p:nvSpPr>
        <p:spPr>
          <a:xfrm>
            <a:off x="1343025" y="3714750"/>
            <a:ext cx="4124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1. Widget Tree: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The blueprint. Immutable and cheap to rebuild.</a:t>
            </a:r>
            <a:endParaRPr/>
          </a:p>
        </p:txBody>
      </p:sp>
      <p:sp>
        <p:nvSpPr>
          <p:cNvPr id="200" name="Google Shape;200;p21"/>
          <p:cNvSpPr txBox="1"/>
          <p:nvPr/>
        </p:nvSpPr>
        <p:spPr>
          <a:xfrm>
            <a:off x="1247775" y="4229100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1343025" y="4229100"/>
            <a:ext cx="4124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2. Element Tree: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The mediator. Holds state and compares widget trees.</a:t>
            </a:r>
            <a:endParaRPr/>
          </a:p>
        </p:txBody>
      </p:sp>
      <p:sp>
        <p:nvSpPr>
          <p:cNvPr id="202" name="Google Shape;202;p21"/>
          <p:cNvSpPr txBox="1"/>
          <p:nvPr/>
        </p:nvSpPr>
        <p:spPr>
          <a:xfrm>
            <a:off x="1247775" y="4743450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1343025" y="4743450"/>
            <a:ext cx="4124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3. Render Tree: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The worker. Does layout and painting. Very expensive to touch.</a:t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Flutter's Rendering Pipeline &amp; Engine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2"/>
          <p:cNvSpPr/>
          <p:nvPr/>
        </p:nvSpPr>
        <p:spPr>
          <a:xfrm>
            <a:off x="5619750" y="2724150"/>
            <a:ext cx="952500" cy="47625"/>
          </a:xfrm>
          <a:prstGeom prst="rect">
            <a:avLst/>
          </a:prstGeom>
          <a:solidFill>
            <a:srgbClr val="40C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2"/>
          <p:cNvSpPr txBox="1"/>
          <p:nvPr/>
        </p:nvSpPr>
        <p:spPr>
          <a:xfrm>
            <a:off x="3095625" y="3057525"/>
            <a:ext cx="60007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Bottlenecks &amp; Fixes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3509962" y="4105275"/>
            <a:ext cx="51720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Modules 4 &amp; 5: Diagnosing and Fixing Common Problems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38375"/>
            <a:ext cx="52863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3"/>
          <p:cNvSpPr txBox="1"/>
          <p:nvPr/>
        </p:nvSpPr>
        <p:spPr>
          <a:xfrm>
            <a:off x="6334125" y="2562225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Stop Rebuilding Everything!</a:t>
            </a:r>
            <a:endParaRPr/>
          </a:p>
        </p:txBody>
      </p:sp>
      <p:sp>
        <p:nvSpPr>
          <p:cNvPr id="220" name="Google Shape;220;p23"/>
          <p:cNvSpPr txBox="1"/>
          <p:nvPr/>
        </p:nvSpPr>
        <p:spPr>
          <a:xfrm>
            <a:off x="6334125" y="3190875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Problem: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Calling `setState()` high in the widget tree (e.g., on the whole screen) forces Flutter to rebuild the *entire* UI for one tiny change.</a:t>
            </a:r>
            <a:endParaRPr/>
          </a:p>
        </p:txBody>
      </p:sp>
      <p:sp>
        <p:nvSpPr>
          <p:cNvPr id="221" name="Google Shape;221;p23"/>
          <p:cNvSpPr txBox="1"/>
          <p:nvPr/>
        </p:nvSpPr>
        <p:spPr>
          <a:xfrm>
            <a:off x="6334125" y="4142494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Fix 1 (State):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Use a state management solution (like Provider or Bloc) to rebuild *only* the specific widget that needs to change.</a:t>
            </a:r>
            <a:endParaRPr dirty="0"/>
          </a:p>
        </p:txBody>
      </p:sp>
      <p:sp>
        <p:nvSpPr>
          <p:cNvPr id="222" name="Google Shape;222;p23"/>
          <p:cNvSpPr txBox="1"/>
          <p:nvPr/>
        </p:nvSpPr>
        <p:spPr>
          <a:xfrm>
            <a:off x="6334125" y="4828294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Fix 2 (Code):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Use `const` constructors. This is the easiest win. It tells Flutter to "short-circuit" the rebuild, skipping the entire widget subtree.</a:t>
            </a:r>
            <a:endParaRPr/>
          </a:p>
        </p:txBody>
      </p:sp>
      <p:pic>
        <p:nvPicPr>
          <p:cNvPr id="223" name="Google Shape;223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47900"/>
            <a:ext cx="5267325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3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Bottleneck: `setState()` &amp; `const`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28787"/>
            <a:ext cx="5286375" cy="435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728787"/>
            <a:ext cx="5286375" cy="4352925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4"/>
          <p:cNvSpPr txBox="1"/>
          <p:nvPr/>
        </p:nvSpPr>
        <p:spPr>
          <a:xfrm>
            <a:off x="962025" y="2119312"/>
            <a:ext cx="4730591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`ListView` vs. `ListView.builder`</a:t>
            </a:r>
            <a:endParaRPr/>
          </a:p>
        </p:txBody>
      </p:sp>
      <p:sp>
        <p:nvSpPr>
          <p:cNvPr id="233" name="Google Shape;233;p24"/>
          <p:cNvSpPr txBox="1"/>
          <p:nvPr/>
        </p:nvSpPr>
        <p:spPr>
          <a:xfrm>
            <a:off x="962025" y="3205162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Bad: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`ListView(children: [ ... 1000 items ... ])`</a:t>
            </a:r>
            <a:endParaRPr/>
          </a:p>
        </p:txBody>
      </p:sp>
      <p:sp>
        <p:nvSpPr>
          <p:cNvPr id="234" name="Google Shape;234;p24"/>
          <p:cNvSpPr txBox="1"/>
          <p:nvPr/>
        </p:nvSpPr>
        <p:spPr>
          <a:xfrm>
            <a:off x="962025" y="3633787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This builds ALL 1,000 items at once, even those off-screen. It causes a long app freeze and massive memory bloat.</a:t>
            </a:r>
            <a:endParaRPr/>
          </a:p>
        </p:txBody>
      </p:sp>
      <p:sp>
        <p:nvSpPr>
          <p:cNvPr id="235" name="Google Shape;235;p24"/>
          <p:cNvSpPr txBox="1"/>
          <p:nvPr/>
        </p:nvSpPr>
        <p:spPr>
          <a:xfrm>
            <a:off x="962025" y="4319587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Good: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`ListView.builder()`</a:t>
            </a:r>
            <a:endParaRPr/>
          </a:p>
        </p:txBody>
      </p:sp>
      <p:sp>
        <p:nvSpPr>
          <p:cNvPr id="236" name="Google Shape;236;p24"/>
          <p:cNvSpPr txBox="1"/>
          <p:nvPr/>
        </p:nvSpPr>
        <p:spPr>
          <a:xfrm>
            <a:off x="962025" y="4748212"/>
            <a:ext cx="450532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This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lazy loads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items, building them only as they are about to scroll onto the screen. This keeps CPU and memory usage low and constant.</a:t>
            </a:r>
            <a:endParaRPr/>
          </a:p>
        </p:txBody>
      </p:sp>
      <p:sp>
        <p:nvSpPr>
          <p:cNvPr id="237" name="Google Shape;237;p24"/>
          <p:cNvSpPr txBox="1"/>
          <p:nvPr/>
        </p:nvSpPr>
        <p:spPr>
          <a:xfrm>
            <a:off x="6724650" y="2119312"/>
            <a:ext cx="4730591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Offload Work with `compute()`</a:t>
            </a:r>
            <a:endParaRPr/>
          </a:p>
        </p:txBody>
      </p:sp>
      <p:sp>
        <p:nvSpPr>
          <p:cNvPr id="238" name="Google Shape;238;p24"/>
          <p:cNvSpPr txBox="1"/>
          <p:nvPr/>
        </p:nvSpPr>
        <p:spPr>
          <a:xfrm>
            <a:off x="6724650" y="3205162"/>
            <a:ext cx="450532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Problem: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Running heavy, synchronous work (like parsing a large JSON file or running a complex algorithm) on the main UI thread will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freeze the app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39" name="Google Shape;239;p24"/>
          <p:cNvSpPr txBox="1"/>
          <p:nvPr/>
        </p:nvSpPr>
        <p:spPr>
          <a:xfrm>
            <a:off x="6724650" y="4148137"/>
            <a:ext cx="4505325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Fix: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Use `compute()` (Isolates). This spawns a new isolate (like a thread, but no shared memory) to do the heavy work, keeping the main UI thread free to render frames 60x per second.</a:t>
            </a:r>
            <a:endParaRPr/>
          </a:p>
        </p:txBody>
      </p:sp>
      <p:sp>
        <p:nvSpPr>
          <p:cNvPr id="240" name="Google Shape;240;p2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Bottleneck: Lists &amp; Heavy Work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5"/>
          <p:cNvSpPr txBox="1"/>
          <p:nvPr/>
        </p:nvSpPr>
        <p:spPr>
          <a:xfrm>
            <a:off x="1809750" y="2238375"/>
            <a:ext cx="857250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Opacity and ClipRRect are not cheap. They are a primary cause of jank, especially in animations or ListViews.</a:t>
            </a:r>
            <a:endParaRPr/>
          </a:p>
        </p:txBody>
      </p:sp>
      <p:sp>
        <p:nvSpPr>
          <p:cNvPr id="247" name="Google Shape;247;p25"/>
          <p:cNvSpPr txBox="1"/>
          <p:nvPr/>
        </p:nvSpPr>
        <p:spPr>
          <a:xfrm>
            <a:off x="2190750" y="3067050"/>
            <a:ext cx="8191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ACC15"/>
                </a:solidFill>
                <a:latin typeface="Lato"/>
                <a:ea typeface="Lato"/>
                <a:cs typeface="Lato"/>
                <a:sym typeface="Lato"/>
              </a:rPr>
              <a:t>They trigger a "saveLayer" operation.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This is an extremely GPU-intensive, multi-step process:</a:t>
            </a:r>
            <a:endParaRPr/>
          </a:p>
        </p:txBody>
      </p:sp>
      <p:sp>
        <p:nvSpPr>
          <p:cNvPr id="248" name="Google Shape;248;p25"/>
          <p:cNvSpPr txBox="1"/>
          <p:nvPr/>
        </p:nvSpPr>
        <p:spPr>
          <a:xfrm>
            <a:off x="2190750" y="3514725"/>
            <a:ext cx="8191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The engine must allocate a </a:t>
            </a:r>
            <a:r>
              <a:rPr lang="en-US" sz="1350" b="1" i="0" u="none" strike="noStrike" cap="none">
                <a:solidFill>
                  <a:srgbClr val="FACC15"/>
                </a:solidFill>
                <a:latin typeface="Lato"/>
                <a:ea typeface="Lato"/>
                <a:cs typeface="Lato"/>
                <a:sym typeface="Lato"/>
              </a:rPr>
              <a:t>new off-screen buffer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in GPU memory.</a:t>
            </a:r>
            <a:endParaRPr/>
          </a:p>
        </p:txBody>
      </p:sp>
      <p:sp>
        <p:nvSpPr>
          <p:cNvPr id="249" name="Google Shape;249;p25"/>
          <p:cNvSpPr txBox="1"/>
          <p:nvPr/>
        </p:nvSpPr>
        <p:spPr>
          <a:xfrm>
            <a:off x="2190750" y="3962400"/>
            <a:ext cx="8191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It must render the </a:t>
            </a:r>
            <a:r>
              <a:rPr lang="en-US" sz="1350" b="1" i="0" u="none" strike="noStrike" cap="none">
                <a:solidFill>
                  <a:srgbClr val="FACC15"/>
                </a:solidFill>
                <a:latin typeface="Lato"/>
                <a:ea typeface="Lato"/>
                <a:cs typeface="Lato"/>
                <a:sym typeface="Lato"/>
              </a:rPr>
              <a:t>entire child subtree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into this new buffer.</a:t>
            </a:r>
            <a:endParaRPr/>
          </a:p>
        </p:txBody>
      </p:sp>
      <p:sp>
        <p:nvSpPr>
          <p:cNvPr id="250" name="Google Shape;250;p25"/>
          <p:cNvSpPr txBox="1"/>
          <p:nvPr/>
        </p:nvSpPr>
        <p:spPr>
          <a:xfrm>
            <a:off x="2190750" y="4410075"/>
            <a:ext cx="8191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It then applies the opacity or clip to the buffer as a single texture.</a:t>
            </a:r>
            <a:endParaRPr/>
          </a:p>
        </p:txBody>
      </p:sp>
      <p:sp>
        <p:nvSpPr>
          <p:cNvPr id="251" name="Google Shape;251;p25"/>
          <p:cNvSpPr txBox="1"/>
          <p:nvPr/>
        </p:nvSpPr>
        <p:spPr>
          <a:xfrm>
            <a:off x="2190750" y="4857750"/>
            <a:ext cx="8191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Finally, it composites this buffer back onto the main screen.</a:t>
            </a:r>
            <a:endParaRPr/>
          </a:p>
        </p:txBody>
      </p:sp>
      <p:sp>
        <p:nvSpPr>
          <p:cNvPr id="252" name="Google Shape;252;p25"/>
          <p:cNvSpPr txBox="1"/>
          <p:nvPr/>
        </p:nvSpPr>
        <p:spPr>
          <a:xfrm>
            <a:off x="2190750" y="5305425"/>
            <a:ext cx="8191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ACC15"/>
                </a:solidFill>
                <a:latin typeface="Lato"/>
                <a:ea typeface="Lato"/>
                <a:cs typeface="Lato"/>
                <a:sym typeface="Lato"/>
              </a:rPr>
              <a:t>This is a major bottleneck.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Use FadeInImage or other, more efficient methods when possible.</a:t>
            </a:r>
            <a:endParaRPr/>
          </a:p>
        </p:txBody>
      </p:sp>
      <p:pic>
        <p:nvPicPr>
          <p:cNvPr id="253" name="Google Shape;253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114675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3562350"/>
            <a:ext cx="1143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09750" y="4010025"/>
            <a:ext cx="1524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809750" y="4457700"/>
            <a:ext cx="1428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09750" y="4905375"/>
            <a:ext cx="1714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809750" y="535305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Bottleneck: Deceptively Expensive Widgets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38375"/>
            <a:ext cx="52863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6"/>
          <p:cNvSpPr txBox="1"/>
          <p:nvPr/>
        </p:nvSpPr>
        <p:spPr>
          <a:xfrm>
            <a:off x="6334125" y="1852612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How to Find the Bottleneck</a:t>
            </a:r>
            <a:endParaRPr/>
          </a:p>
        </p:txBody>
      </p:sp>
      <p:sp>
        <p:nvSpPr>
          <p:cNvPr id="267" name="Google Shape;267;p26"/>
          <p:cNvSpPr txBox="1"/>
          <p:nvPr/>
        </p:nvSpPr>
        <p:spPr>
          <a:xfrm>
            <a:off x="6334125" y="2481262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1. ALWAYS run in Profile Mode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(`flutter run --profile`). Debug mode performance is not representative.</a:t>
            </a:r>
            <a:endParaRPr/>
          </a:p>
        </p:txBody>
      </p:sp>
      <p:sp>
        <p:nvSpPr>
          <p:cNvPr id="268" name="Google Shape;268;p26"/>
          <p:cNvSpPr txBox="1"/>
          <p:nvPr/>
        </p:nvSpPr>
        <p:spPr>
          <a:xfrm>
            <a:off x="6334125" y="3167062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2. Look at the Performance Chart.</a:t>
            </a: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A red bar is a janky frame. The bar's color tells you why:</a:t>
            </a:r>
            <a:endParaRPr/>
          </a:p>
        </p:txBody>
      </p:sp>
      <p:sp>
        <p:nvSpPr>
          <p:cNvPr id="269" name="Google Shape;269;p26"/>
          <p:cNvSpPr txBox="1"/>
          <p:nvPr/>
        </p:nvSpPr>
        <p:spPr>
          <a:xfrm>
            <a:off x="6334125" y="3871912"/>
            <a:ext cx="5286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0C4FF"/>
                </a:solidFill>
                <a:latin typeface="Lato"/>
                <a:ea typeface="Lato"/>
                <a:cs typeface="Lato"/>
                <a:sym typeface="Lato"/>
              </a:rPr>
              <a:t>Blue Bar (UI Thread) = Your Dart code is slow.</a:t>
            </a:r>
            <a:endParaRPr/>
          </a:p>
        </p:txBody>
      </p:sp>
      <p:sp>
        <p:nvSpPr>
          <p:cNvPr id="270" name="Google Shape;270;p26"/>
          <p:cNvSpPr txBox="1"/>
          <p:nvPr/>
        </p:nvSpPr>
        <p:spPr>
          <a:xfrm>
            <a:off x="6524625" y="4348162"/>
            <a:ext cx="50958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(e.g., an inefficient `build()` method, a bad `setState()` call).</a:t>
            </a:r>
            <a:endParaRPr/>
          </a:p>
        </p:txBody>
      </p:sp>
      <p:sp>
        <p:nvSpPr>
          <p:cNvPr id="271" name="Google Shape;271;p26"/>
          <p:cNvSpPr txBox="1"/>
          <p:nvPr/>
        </p:nvSpPr>
        <p:spPr>
          <a:xfrm>
            <a:off x="6334125" y="4795837"/>
            <a:ext cx="5286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4D399"/>
                </a:solidFill>
                <a:latin typeface="Lato"/>
                <a:ea typeface="Lato"/>
                <a:cs typeface="Lato"/>
                <a:sym typeface="Lato"/>
              </a:rPr>
              <a:t>Green Bar (Raster Thread) = The GPU is slow.</a:t>
            </a:r>
            <a:endParaRPr/>
          </a:p>
        </p:txBody>
      </p:sp>
      <p:sp>
        <p:nvSpPr>
          <p:cNvPr id="272" name="Google Shape;272;p26"/>
          <p:cNvSpPr txBox="1"/>
          <p:nvPr/>
        </p:nvSpPr>
        <p:spPr>
          <a:xfrm>
            <a:off x="6524625" y="5272087"/>
            <a:ext cx="50958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(e.g., you used an `Opacity` or `ClipRRect`, causing an expensive `saveLayer()`).</a:t>
            </a:r>
            <a:endParaRPr/>
          </a:p>
        </p:txBody>
      </p:sp>
      <p:pic>
        <p:nvPicPr>
          <p:cNvPr id="273" name="Google Shape;273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47900"/>
            <a:ext cx="5267325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40C4FF"/>
                </a:solidFill>
                <a:latin typeface="Poppins"/>
                <a:ea typeface="Poppins"/>
                <a:cs typeface="Poppins"/>
                <a:sym typeface="Poppins"/>
              </a:rPr>
              <a:t>The Analyst's Toolkit: Flutter DevTools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1131</Words>
  <Application>Microsoft Macintosh PowerPoint</Application>
  <PresentationFormat>Widescreen</PresentationFormat>
  <Paragraphs>100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Poppins</vt:lpstr>
      <vt:lpstr>Lato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Stefan Dinu Rusu | Tazz, IT</cp:lastModifiedBy>
  <cp:revision>2</cp:revision>
  <dcterms:modified xsi:type="dcterms:W3CDTF">2025-11-15T12:36:51Z</dcterms:modified>
</cp:coreProperties>
</file>