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80" r:id="rId21"/>
    <p:sldId id="279" r:id="rId22"/>
    <p:sldId id="277" r:id="rId23"/>
    <p:sldId id="278" r:id="rId24"/>
    <p:sldId id="281" r:id="rId25"/>
    <p:sldId id="282" r:id="rId26"/>
    <p:sldId id="283" r:id="rId27"/>
    <p:sldId id="2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5"/>
    <p:restoredTop sz="94635"/>
  </p:normalViewPr>
  <p:slideViewPr>
    <p:cSldViewPr snapToGrid="0">
      <p:cViewPr varScale="1">
        <p:scale>
          <a:sx n="108" d="100"/>
          <a:sy n="108" d="100"/>
        </p:scale>
        <p:origin x="21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0371143B-AF2A-7623-D854-12A3B2D6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>
            <a:extLst>
              <a:ext uri="{FF2B5EF4-FFF2-40B4-BE49-F238E27FC236}">
                <a16:creationId xmlns:a16="http://schemas.microsoft.com/office/drawing/2014/main" id="{7066D226-24B7-BC71-4361-98BBF6A7F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403AA4E9-1C75-7F56-9E19-2D69013E2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52084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2DDAC597-D030-64A6-0A47-EEC63BD8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>
            <a:extLst>
              <a:ext uri="{FF2B5EF4-FFF2-40B4-BE49-F238E27FC236}">
                <a16:creationId xmlns:a16="http://schemas.microsoft.com/office/drawing/2014/main" id="{B8CD389D-46FB-289A-EB11-D511F08FA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C28CD24A-0F38-538A-3578-96EA05027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337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D68AFBC3-E639-97FD-9C1B-14A0F68A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>
            <a:extLst>
              <a:ext uri="{FF2B5EF4-FFF2-40B4-BE49-F238E27FC236}">
                <a16:creationId xmlns:a16="http://schemas.microsoft.com/office/drawing/2014/main" id="{BDCE861F-EC38-5E0C-D96D-9BAD17933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8242B0FD-DDEF-5637-2AFD-BE0B62EB8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7307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E53F2527-A7B8-7BD4-892E-21A96B74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>
            <a:extLst>
              <a:ext uri="{FF2B5EF4-FFF2-40B4-BE49-F238E27FC236}">
                <a16:creationId xmlns:a16="http://schemas.microsoft.com/office/drawing/2014/main" id="{E6250051-C3D5-37C2-151D-4379D9447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C5C02F71-5C5D-5909-6966-84271EF5E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93709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B859295D-057F-CC79-5E45-074FDD49B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>
            <a:extLst>
              <a:ext uri="{FF2B5EF4-FFF2-40B4-BE49-F238E27FC236}">
                <a16:creationId xmlns:a16="http://schemas.microsoft.com/office/drawing/2014/main" id="{22C68B35-6FB0-5E9A-0C11-0B689996E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BDF96FD5-7E2E-B0AA-B4F3-9395DBA44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3804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92D0EBF3-F326-70A4-5D17-7DCD994D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>
            <a:extLst>
              <a:ext uri="{FF2B5EF4-FFF2-40B4-BE49-F238E27FC236}">
                <a16:creationId xmlns:a16="http://schemas.microsoft.com/office/drawing/2014/main" id="{60054FAC-9319-652E-109C-92303E6D6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25BDB7F3-BA1F-5070-0A75-C82911C46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2964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D99E49EE-5E49-35E9-F8F8-8BFFA62F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>
            <a:extLst>
              <a:ext uri="{FF2B5EF4-FFF2-40B4-BE49-F238E27FC236}">
                <a16:creationId xmlns:a16="http://schemas.microsoft.com/office/drawing/2014/main" id="{F8C69FDF-23D6-E2FA-E122-D1413C050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054E5297-9D8A-12D5-BC69-8CBACA49C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3391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BF413744-7E22-E6E8-3E54-B3DE8CEE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>
            <a:extLst>
              <a:ext uri="{FF2B5EF4-FFF2-40B4-BE49-F238E27FC236}">
                <a16:creationId xmlns:a16="http://schemas.microsoft.com/office/drawing/2014/main" id="{6A0CCDE6-54AA-64CC-DD77-F6DC6D8C3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:notes">
            <a:extLst>
              <a:ext uri="{FF2B5EF4-FFF2-40B4-BE49-F238E27FC236}">
                <a16:creationId xmlns:a16="http://schemas.microsoft.com/office/drawing/2014/main" id="{A88E6BB0-1EEF-A82D-E59B-858F23124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13685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1;p14" descr="image.png">
            <a:extLst>
              <a:ext uri="{FF2B5EF4-FFF2-40B4-BE49-F238E27FC236}">
                <a16:creationId xmlns:a16="http://schemas.microsoft.com/office/drawing/2014/main" id="{D1224FB2-3E94-8444-0BDC-545AA34E030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Lecture 5. </a:t>
            </a:r>
            <a:r>
              <a:rPr lang="en-US" dirty="0" err="1">
                <a:solidFill>
                  <a:schemeClr val="bg1"/>
                </a:solidFill>
              </a:rPr>
              <a:t>GraphQL</a:t>
            </a:r>
            <a:r>
              <a:rPr lang="en-US" dirty="0">
                <a:solidFill>
                  <a:schemeClr val="bg1"/>
                </a:solidFill>
              </a:rPr>
              <a:t> &amp; REST, Observability for Mobile applications (Events, Crashlytics, Performance Monitoring)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033157" y="2429066"/>
            <a:ext cx="2125683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Section 1</a:t>
            </a:r>
            <a:endParaRPr dirty="0"/>
          </a:p>
        </p:txBody>
      </p:sp>
      <p:sp>
        <p:nvSpPr>
          <p:cNvPr id="93" name="Google Shape;93;p14"/>
          <p:cNvSpPr/>
          <p:nvPr/>
        </p:nvSpPr>
        <p:spPr>
          <a:xfrm>
            <a:off x="5619749" y="3024375"/>
            <a:ext cx="952500" cy="476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0470" y="3214687"/>
            <a:ext cx="847105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Mobile API Communication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714500" y="2861485"/>
            <a:ext cx="9144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Data Source:</a:t>
            </a:r>
            <a:r>
              <a:rPr lang="en-US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Apps are often containers; the data lives on remote servers.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1714500" y="3356785"/>
            <a:ext cx="9144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Functionality:</a:t>
            </a:r>
            <a:r>
              <a:rPr lang="en-US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Enable complex features like login, payments, and social feeds.</a:t>
            </a:r>
            <a:endParaRPr dirty="0"/>
          </a:p>
        </p:txBody>
      </p:sp>
      <p:sp>
        <p:nvSpPr>
          <p:cNvPr id="103" name="Google Shape;103;p15"/>
          <p:cNvSpPr txBox="1"/>
          <p:nvPr/>
        </p:nvSpPr>
        <p:spPr>
          <a:xfrm>
            <a:off x="1714500" y="3852085"/>
            <a:ext cx="9144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Synchronization:</a:t>
            </a:r>
            <a:r>
              <a:rPr lang="en-US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Keep user data consistent across multiple devices (phone, tablet, web).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714500" y="4347385"/>
            <a:ext cx="9144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Separation of Concerns:</a:t>
            </a:r>
            <a:r>
              <a:rPr lang="en-US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Decouples the client (app) from the backend (server).</a:t>
            </a:r>
            <a:endParaRPr/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9622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4575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4481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Why APIs are Critical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7900"/>
            <a:ext cx="5286375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47900"/>
            <a:ext cx="52863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962025" y="26384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62025" y="32861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RE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presentational </a:t>
            </a:r>
            <a:r>
              <a:rPr lang="en-US" sz="135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tate </a:t>
            </a:r>
            <a:r>
              <a:rPr lang="en-US" sz="135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ransfer. A stateless, client-server architectural style.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62025" y="397192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It is not a protocol, but a set of constraints.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724650" y="26384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Core Concepts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724650" y="328612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Uses standard HTTP methods to act on "Resources" identified by URLs.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24650" y="39719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GET /users/123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POST /users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PUT /users/123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DELETE /users/123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REST API Fundamentals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8837"/>
            <a:ext cx="53340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28837"/>
            <a:ext cx="53340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2908458" y="3138487"/>
            <a:ext cx="66008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Pros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190625" y="3910012"/>
            <a:ext cx="45148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Simplicity: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Easy to understand, built on standard HTTP.</a:t>
            </a:r>
            <a:endParaRPr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1190625" y="4449525"/>
            <a:ext cx="4210493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Caching: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Standard HTTP caching is effective.</a:t>
            </a:r>
            <a:endParaRPr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1190625" y="4957762"/>
            <a:ext cx="4348938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Mature: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Decades of tooling and support.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8548449" y="3138487"/>
            <a:ext cx="81010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Cons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24649" y="3917875"/>
            <a:ext cx="44577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Over-fetching: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Getting more data than the screen needs.</a:t>
            </a:r>
            <a:endParaRPr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6581775" y="4433887"/>
            <a:ext cx="47434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Under-fetching: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Needing multiple API calls for one screen (e.g., user + posts).</a:t>
            </a:r>
            <a:endParaRPr dirty="0"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9900" y="24431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24900" y="24431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REST in Mobile: Pros &amp; Cons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Introduction to GraphQL</a:t>
            </a:r>
            <a:endParaRPr/>
          </a:p>
        </p:txBody>
      </p:sp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1695450"/>
            <a:ext cx="528637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240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query language</a:t>
            </a:r>
            <a:r>
              <a:rPr lang="en-US" sz="24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for your API, not an architecture. Developed by Facebook to solve mobile data-fetching issues.</a:t>
            </a:r>
            <a:endParaRPr sz="2400" dirty="0"/>
          </a:p>
        </p:txBody>
      </p:sp>
      <p:sp>
        <p:nvSpPr>
          <p:cNvPr id="149" name="Google Shape;149;p18"/>
          <p:cNvSpPr txBox="1"/>
          <p:nvPr/>
        </p:nvSpPr>
        <p:spPr>
          <a:xfrm>
            <a:off x="571499" y="4020693"/>
            <a:ext cx="528637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Allows the client to ask for </a:t>
            </a:r>
            <a:r>
              <a:rPr lang="en-US" sz="2400" b="0" i="1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exactly</a:t>
            </a:r>
            <a:r>
              <a:rPr lang="en-US" sz="24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what it needs and get </a:t>
            </a:r>
            <a:r>
              <a:rPr lang="en-US" sz="2400" b="0" i="1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exactly</a:t>
            </a:r>
            <a:r>
              <a:rPr lang="en-US" sz="24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that in a single request.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1630918" y="3405187"/>
            <a:ext cx="131016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Schema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6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The "contract." A strongly-typed definition of all data available on the API (types, fields, relationships).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635942" y="3405187"/>
            <a:ext cx="92011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Query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67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 read-only operation to fetch data. The query's shape mirrors the JSON response's shape.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205912" y="3405187"/>
            <a:ext cx="14001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Mutation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48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 write operation to modify data (create, update, delete). Defined in the schema just like queries.</a:t>
            </a:r>
            <a:endParaRPr/>
          </a:p>
        </p:txBody>
      </p:sp>
      <p:pic>
        <p:nvPicPr>
          <p:cNvPr id="164" name="Google Shape;16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4550" y="27098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GraphQL Core Concepts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0"/>
          <p:cNvGraphicFramePr/>
          <p:nvPr/>
        </p:nvGraphicFramePr>
        <p:xfrm>
          <a:off x="571500" y="2266950"/>
          <a:ext cx="11049000" cy="32766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6B6D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GraphQL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Endpoint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Multiple endpoints (/users, /posts)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Single endpoint (e.g., /graphql)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Fetching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Fixed data structure (defined by server)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Flexible data shape (defined by client)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Shape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Prone to over/under-fetching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Precise data in one request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Schema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Loosely defined (e.g., OpenAPI)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Strongly typed (Schema Definition Language)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Protocol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Uses all HTTP verbs (GET, POST, PUT...)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E5E7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Typically uses POST for all operations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571500" y="2824162"/>
            <a:ext cx="186392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435423" y="2824162"/>
            <a:ext cx="44707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906220" y="2824162"/>
            <a:ext cx="47142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1500" y="3367087"/>
            <a:ext cx="186392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435423" y="3367087"/>
            <a:ext cx="44707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906220" y="3367087"/>
            <a:ext cx="47142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1500" y="3910012"/>
            <a:ext cx="186392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435423" y="3910012"/>
            <a:ext cx="44707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906220" y="3910012"/>
            <a:ext cx="47142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1500" y="4452937"/>
            <a:ext cx="186392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435423" y="4452937"/>
            <a:ext cx="44707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6906220" y="4452937"/>
            <a:ext cx="47142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1500" y="4995862"/>
            <a:ext cx="1863923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435423" y="4995862"/>
            <a:ext cx="4470796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906220" y="4995862"/>
            <a:ext cx="47142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GraphQL vs. REST: Head-to-Head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5037"/>
            <a:ext cx="5286375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05037"/>
            <a:ext cx="5286375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962025" y="259556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Use REST when...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62025" y="3243262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...simplicity is key.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962025" y="3671887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...you have simple, well-defined resources.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962025" y="4100512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...caching is a top priority (HTTP caching works perfectly).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962025" y="4529137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...you are integrating with many 3rd-party APIs.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24650" y="259556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Use GraphQL when...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724650" y="3243262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...you have complex data relationships (e.g., social feeds).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24650" y="3671887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...mobile bandwidth is a major concern (reduces payload).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24650" y="4100512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...your app needs to fetch data from multiple sources.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24650" y="452913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...you have multiple clients (iOS, Android, Web) with different data needs.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When to Use...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160333" y="2309939"/>
            <a:ext cx="187133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Section 2</a:t>
            </a:r>
            <a:endParaRPr dirty="0"/>
          </a:p>
        </p:txBody>
      </p:sp>
      <p:sp>
        <p:nvSpPr>
          <p:cNvPr id="214" name="Google Shape;214;p22"/>
          <p:cNvSpPr/>
          <p:nvPr/>
        </p:nvSpPr>
        <p:spPr>
          <a:xfrm>
            <a:off x="5619750" y="2881312"/>
            <a:ext cx="952500" cy="476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2185511" y="3214687"/>
            <a:ext cx="782097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Mobile App Observability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714500" y="2569130"/>
            <a:ext cx="914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More than monitoring:</a:t>
            </a:r>
            <a:r>
              <a:rPr lang="en-US" sz="16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Monitoring tells you *if* something is broken. Observability helps you understand *why*.</a:t>
            </a:r>
            <a:endParaRPr sz="1600" dirty="0"/>
          </a:p>
        </p:txBody>
      </p:sp>
      <p:sp>
        <p:nvSpPr>
          <p:cNvPr id="223" name="Google Shape;223;p23"/>
          <p:cNvSpPr txBox="1"/>
          <p:nvPr/>
        </p:nvSpPr>
        <p:spPr>
          <a:xfrm>
            <a:off x="1714500" y="3271837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Three Pillars:</a:t>
            </a:r>
            <a:r>
              <a:rPr lang="en-US" sz="16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Traditionally Logs, Metrics, and Traces.</a:t>
            </a:r>
            <a:endParaRPr sz="1600"/>
          </a:p>
        </p:txBody>
      </p:sp>
      <p:sp>
        <p:nvSpPr>
          <p:cNvPr id="224" name="Google Shape;224;p23"/>
          <p:cNvSpPr txBox="1"/>
          <p:nvPr/>
        </p:nvSpPr>
        <p:spPr>
          <a:xfrm>
            <a:off x="1714500" y="3767137"/>
            <a:ext cx="9144000" cy="1112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For Mobile:</a:t>
            </a:r>
            <a:r>
              <a:rPr lang="en-US" sz="16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We adapt this to our "Big 3": </a:t>
            </a:r>
            <a:b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1. Events</a:t>
            </a:r>
            <a:r>
              <a:rPr lang="en-US" sz="16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(User Behavior) </a:t>
            </a:r>
            <a:b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2. Crashes</a:t>
            </a:r>
            <a:r>
              <a:rPr lang="en-US" sz="16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(Stability) </a:t>
            </a:r>
            <a:b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3. Performance</a:t>
            </a:r>
            <a:r>
              <a:rPr lang="en-US" sz="16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(Speed)</a:t>
            </a:r>
            <a:endParaRPr sz="1600"/>
          </a:p>
        </p:txBody>
      </p:sp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8241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31946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81476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What is Mobile Observability?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The Firebase Toolkit</a:t>
            </a:r>
            <a:endParaRPr/>
          </a:p>
        </p:txBody>
      </p:sp>
      <p:pic>
        <p:nvPicPr>
          <p:cNvPr id="235" name="Google Shape;23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571500" y="1695450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Google's mobile platform that provides a suite of tools for building, releasing, and monitoring apps.</a:t>
            </a:r>
            <a:endParaRPr dirty="0"/>
          </a:p>
        </p:txBody>
      </p:sp>
      <p:sp>
        <p:nvSpPr>
          <p:cNvPr id="237" name="Google Shape;237;p24"/>
          <p:cNvSpPr txBox="1"/>
          <p:nvPr/>
        </p:nvSpPr>
        <p:spPr>
          <a:xfrm>
            <a:off x="571500" y="3918215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We focus on its observability products, which work together to give a complete picture of app health.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1714500" y="291465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What it is:</a:t>
            </a:r>
            <a:r>
              <a:rPr lang="en-US" sz="16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Tracks user behavior and app usage by logging "Events".</a:t>
            </a:r>
            <a:endParaRPr sz="1600" dirty="0"/>
          </a:p>
        </p:txBody>
      </p:sp>
      <p:sp>
        <p:nvSpPr>
          <p:cNvPr id="244" name="Google Shape;244;p25"/>
          <p:cNvSpPr txBox="1"/>
          <p:nvPr/>
        </p:nvSpPr>
        <p:spPr>
          <a:xfrm>
            <a:off x="1714500" y="340995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Automatic Events:</a:t>
            </a:r>
            <a:r>
              <a:rPr lang="en-US" sz="16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Captures screen_view, app_remove, first_open automatically.</a:t>
            </a:r>
            <a:endParaRPr sz="1600"/>
          </a:p>
        </p:txBody>
      </p:sp>
      <p:sp>
        <p:nvSpPr>
          <p:cNvPr id="245" name="Google Shape;245;p25"/>
          <p:cNvSpPr txBox="1"/>
          <p:nvPr/>
        </p:nvSpPr>
        <p:spPr>
          <a:xfrm>
            <a:off x="1714500" y="390525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Custom Events:</a:t>
            </a:r>
            <a:r>
              <a:rPr lang="en-US" sz="16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You log events that matter to your app (e.g., purchase_complete, share_image).</a:t>
            </a:r>
            <a:endParaRPr sz="1600"/>
          </a:p>
        </p:txBody>
      </p:sp>
      <p:sp>
        <p:nvSpPr>
          <p:cNvPr id="246" name="Google Shape;246;p25"/>
          <p:cNvSpPr txBox="1"/>
          <p:nvPr/>
        </p:nvSpPr>
        <p:spPr>
          <a:xfrm>
            <a:off x="1714500" y="440055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The "Why":</a:t>
            </a:r>
            <a:r>
              <a:rPr lang="en-US" sz="16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Understand user funnels, feature adoption, and engagement.</a:t>
            </a:r>
            <a:endParaRPr sz="1600"/>
          </a:p>
        </p:txBody>
      </p:sp>
      <p:pic>
        <p:nvPicPr>
          <p:cNvPr id="247" name="Google Shape;24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9622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4575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448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1. Firebase Analytics (Events)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571500" y="254793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1. Get the FirebaseAnalytics instance: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571500" y="3871912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2. Log your custom event with a Bundle:</a:t>
            </a:r>
            <a:endParaRPr/>
          </a:p>
        </p:txBody>
      </p:sp>
      <p:pic>
        <p:nvPicPr>
          <p:cNvPr id="260" name="Google Shape;26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Implementing Firebase Events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 txBox="1"/>
          <p:nvPr/>
        </p:nvSpPr>
        <p:spPr>
          <a:xfrm>
            <a:off x="571500" y="305276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99.9%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571500" y="44815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Goal: Crash-Free Users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6334125" y="303371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Find, Fix, and Prioritize Crashes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6334125" y="36623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Real-time crash reporting that automatically captures and groups crashes (Java/Kotlin &amp; NDK).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6334125" y="4348162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Provides actionable insights: stack traces, device info, and OS version.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2. Firebase Crashlytics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8"/>
          <p:cNvSpPr txBox="1"/>
          <p:nvPr/>
        </p:nvSpPr>
        <p:spPr>
          <a:xfrm>
            <a:off x="1714500" y="2528887"/>
            <a:ext cx="9144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Integration: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Add the Gradle dependency. It works out-of-the-box.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1714500" y="3024187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Custom Logs: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Add "breadcrumb" context to reports.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Crashlytics.log("User at checkout screen");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1714500" y="3776662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Custom Keys: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Set user state (e.g., premium/free).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Crashlytics.setCustomKey("user_tier", "premium");</a:t>
            </a:r>
            <a:endParaRPr/>
          </a:p>
        </p:txBody>
      </p:sp>
      <p:sp>
        <p:nvSpPr>
          <p:cNvPr id="281" name="Google Shape;281;p28"/>
          <p:cNvSpPr txBox="1"/>
          <p:nvPr/>
        </p:nvSpPr>
        <p:spPr>
          <a:xfrm>
            <a:off x="1714500" y="4529137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9FAFB"/>
                </a:solidFill>
                <a:latin typeface="Lato"/>
                <a:ea typeface="Lato"/>
                <a:cs typeface="Lato"/>
                <a:sym typeface="Lato"/>
              </a:rPr>
              <a:t>Test Crash: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Verify your setup.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throw new RuntimeException("Test Crash");</a:t>
            </a:r>
            <a:endParaRPr/>
          </a:p>
        </p:txBody>
      </p:sp>
      <p:pic>
        <p:nvPicPr>
          <p:cNvPr id="282" name="Google Shape;28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5765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07181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8242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5767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Setting Up Crashlytics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/>
        </p:nvSpPr>
        <p:spPr>
          <a:xfrm>
            <a:off x="1340881" y="3405187"/>
            <a:ext cx="18902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App Startup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86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Measures "cold," "warm," and "hot" app start times. A critical first impression.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4700825" y="3405187"/>
            <a:ext cx="27903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Network Requests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467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Automatically monitors HTTP/S requests. Tracks success rate, payload size, and response time.</a:t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8710850" y="3405187"/>
            <a:ext cx="23902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Custom Traces</a:t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848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Manually trace specific code blocks (e.g., "image_processing") to find bottlenecks.</a:t>
            </a:r>
            <a:endParaRPr/>
          </a:p>
        </p:txBody>
      </p:sp>
      <p:pic>
        <p:nvPicPr>
          <p:cNvPr id="301" name="Google Shape;30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7098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975" y="27098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3. Firebase Performance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/>
        </p:nvSpPr>
        <p:spPr>
          <a:xfrm>
            <a:off x="2319337" y="4929187"/>
            <a:ext cx="7553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The /feed/global and /images/upload endpoints are clear bottlenecks that need investigation.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Performance Deep Dive: Network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5A725F5F-8E4E-983A-69EB-EDFE8355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2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5508D-BE29-DF63-034D-BF07C3270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791" y="4709"/>
            <a:ext cx="9274628" cy="6863226"/>
          </a:xfrm>
          <a:prstGeom prst="rect">
            <a:avLst/>
          </a:prstGeom>
          <a:ln>
            <a:noFill/>
          </a:ln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51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018FF57D-2F94-1AB5-C480-D80EA09C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1ECD20-18B3-7F15-7081-C8C6E5224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425194"/>
            <a:ext cx="10905066" cy="4007611"/>
          </a:xfrm>
          <a:prstGeom prst="rect">
            <a:avLst/>
          </a:prstGeom>
          <a:ln>
            <a:noFill/>
          </a:ln>
        </p:spPr>
      </p:pic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88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BDCC8F69-5AC3-66C0-0EDD-B1EBEF11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B9958A-6BD0-2E4B-7A1F-9716BB067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2343BC-4DBD-6734-F97D-3E9739BF9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4069BF-666A-0EC2-B8F1-61EDFC5A8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5D9B84-CE32-C3A0-F2DF-B2B6CBB8D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C1068E-F7B2-3B6F-069D-709F9E7D6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700C609-E563-9246-F658-65C6D9594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B58698-AC2F-A071-915D-E04F29F1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811783"/>
            <a:ext cx="10905066" cy="5234432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BDAF94C-8403-36D4-A80A-0259513AD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18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E8481D5A-9326-A617-A869-87ABC63F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D2F56-3124-DF3C-FCCF-C691FCDD3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68" y="643467"/>
            <a:ext cx="9482663" cy="5571065"/>
          </a:xfrm>
          <a:prstGeom prst="rect">
            <a:avLst/>
          </a:prstGeom>
          <a:ln>
            <a:noFill/>
          </a:ln>
        </p:spPr>
      </p:pic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58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886FF056-3B90-28BF-663B-CBB31F4A2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D4364-9626-8BD3-21E8-F91CA6456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806871"/>
            <a:ext cx="10905066" cy="3244257"/>
          </a:xfrm>
          <a:prstGeom prst="rect">
            <a:avLst/>
          </a:prstGeom>
          <a:ln>
            <a:noFill/>
          </a:ln>
        </p:spPr>
      </p:pic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53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225D9C6E-39C6-20FB-E09B-F4A20C07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8A4A4B-66D6-5DFC-A5FC-8D1D12DB0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344" y="643467"/>
            <a:ext cx="8637312" cy="5571065"/>
          </a:xfrm>
          <a:prstGeom prst="rect">
            <a:avLst/>
          </a:prstGeom>
          <a:ln>
            <a:noFill/>
          </a:ln>
        </p:spPr>
      </p:pic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4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C1301348-AFF6-7DEA-62CB-2D54CA4E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Isosceles Triangle 10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AAD7C-A10D-5FB8-3176-A3728D586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67" y="643467"/>
            <a:ext cx="10175466" cy="5571065"/>
          </a:xfrm>
          <a:prstGeom prst="rect">
            <a:avLst/>
          </a:prstGeom>
          <a:ln>
            <a:noFill/>
          </a:ln>
        </p:spPr>
      </p:pic>
      <p:sp>
        <p:nvSpPr>
          <p:cNvPr id="104" name="Isosceles Triangle 10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27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8">
          <a:extLst>
            <a:ext uri="{FF2B5EF4-FFF2-40B4-BE49-F238E27FC236}">
              <a16:creationId xmlns:a16="http://schemas.microsoft.com/office/drawing/2014/main" id="{602F778F-236F-066E-DBB6-9E395B0A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9" name="Isosceles Triangle 1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7C7D92-A3D9-E8A1-CDC3-2F1CD77FA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95" y="643467"/>
            <a:ext cx="9688810" cy="5571065"/>
          </a:xfrm>
          <a:prstGeom prst="rect">
            <a:avLst/>
          </a:prstGeom>
          <a:ln>
            <a:noFill/>
          </a:ln>
        </p:spPr>
      </p:pic>
      <p:sp>
        <p:nvSpPr>
          <p:cNvPr id="121" name="Isosceles Triangle 1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0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 txBox="1"/>
          <p:nvPr/>
        </p:nvSpPr>
        <p:spPr>
          <a:xfrm>
            <a:off x="1735931" y="3405187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1. Event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866775" y="4176712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User clicks "Buy". (Analytics logs begin_checkout).</a:t>
            </a:r>
            <a:endParaRPr/>
          </a:p>
        </p:txBody>
      </p:sp>
      <p:sp>
        <p:nvSpPr>
          <p:cNvPr id="323" name="Google Shape;323;p31"/>
          <p:cNvSpPr txBox="1"/>
          <p:nvPr/>
        </p:nvSpPr>
        <p:spPr>
          <a:xfrm>
            <a:off x="4920853" y="3405187"/>
            <a:ext cx="23502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2. Performance</a:t>
            </a:r>
            <a:endParaRPr/>
          </a:p>
        </p:txBody>
      </p:sp>
      <p:sp>
        <p:nvSpPr>
          <p:cNvPr id="324" name="Google Shape;324;p31"/>
          <p:cNvSpPr txBox="1"/>
          <p:nvPr/>
        </p:nvSpPr>
        <p:spPr>
          <a:xfrm>
            <a:off x="467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checkout_trace starts. Network call to /payment is </a:t>
            </a:r>
            <a:r>
              <a:rPr lang="en-US" sz="135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slow (5.2s)</a:t>
            </a: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 (Performance alerts).</a:t>
            </a:r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9275921" y="3405187"/>
            <a:ext cx="126015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3. Crash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848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App crashes due to an unexpected null response from the slow /payment API. (Crashlytics reports).</a:t>
            </a:r>
            <a:endParaRPr/>
          </a:p>
        </p:txBody>
      </p:sp>
      <p:pic>
        <p:nvPicPr>
          <p:cNvPr id="327" name="Google Shape;327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3125" y="2709862"/>
            <a:ext cx="285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Real life example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5846</TotalTime>
  <Words>1008</Words>
  <Application>Microsoft Macintosh PowerPoint</Application>
  <PresentationFormat>Widescreen</PresentationFormat>
  <Paragraphs>108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Lato</vt:lpstr>
      <vt:lpstr>Poppins</vt:lpstr>
      <vt:lpstr>Office Theme</vt:lpstr>
      <vt:lpstr>Mobile and Embedded Computing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49</cp:revision>
  <dcterms:created xsi:type="dcterms:W3CDTF">2025-09-15T16:44:45Z</dcterms:created>
  <dcterms:modified xsi:type="dcterms:W3CDTF">2025-11-09T08:52:23Z</dcterms:modified>
</cp:coreProperties>
</file>